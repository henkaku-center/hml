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9"/>
  </p:notesMasterIdLst>
  <p:sldIdLst>
    <p:sldId id="257" r:id="rId2"/>
    <p:sldId id="814" r:id="rId3"/>
    <p:sldId id="259" r:id="rId4"/>
    <p:sldId id="857" r:id="rId5"/>
    <p:sldId id="849" r:id="rId6"/>
    <p:sldId id="347" r:id="rId7"/>
    <p:sldId id="850" r:id="rId8"/>
    <p:sldId id="851" r:id="rId9"/>
    <p:sldId id="852" r:id="rId10"/>
    <p:sldId id="351" r:id="rId11"/>
    <p:sldId id="352" r:id="rId12"/>
    <p:sldId id="353" r:id="rId13"/>
    <p:sldId id="354" r:id="rId14"/>
    <p:sldId id="854" r:id="rId15"/>
    <p:sldId id="372" r:id="rId16"/>
    <p:sldId id="356" r:id="rId17"/>
    <p:sldId id="357" r:id="rId18"/>
    <p:sldId id="855" r:id="rId19"/>
    <p:sldId id="360" r:id="rId20"/>
    <p:sldId id="856" r:id="rId21"/>
    <p:sldId id="362" r:id="rId22"/>
    <p:sldId id="363" r:id="rId23"/>
    <p:sldId id="364" r:id="rId24"/>
    <p:sldId id="365" r:id="rId25"/>
    <p:sldId id="366" r:id="rId26"/>
    <p:sldId id="367" r:id="rId27"/>
    <p:sldId id="858" r:id="rId28"/>
    <p:sldId id="815" r:id="rId29"/>
    <p:sldId id="817" r:id="rId30"/>
    <p:sldId id="818" r:id="rId31"/>
    <p:sldId id="350" r:id="rId32"/>
    <p:sldId id="349" r:id="rId33"/>
    <p:sldId id="820" r:id="rId34"/>
    <p:sldId id="822" r:id="rId35"/>
    <p:sldId id="819" r:id="rId36"/>
    <p:sldId id="823" r:id="rId37"/>
    <p:sldId id="293" r:id="rId38"/>
    <p:sldId id="824" r:id="rId39"/>
    <p:sldId id="826" r:id="rId40"/>
    <p:sldId id="359" r:id="rId41"/>
    <p:sldId id="390" r:id="rId42"/>
    <p:sldId id="391" r:id="rId43"/>
    <p:sldId id="392" r:id="rId44"/>
    <p:sldId id="405" r:id="rId45"/>
    <p:sldId id="413" r:id="rId46"/>
    <p:sldId id="414" r:id="rId47"/>
    <p:sldId id="415" r:id="rId48"/>
    <p:sldId id="416" r:id="rId49"/>
    <p:sldId id="417" r:id="rId50"/>
    <p:sldId id="418" r:id="rId51"/>
    <p:sldId id="408" r:id="rId52"/>
    <p:sldId id="407" r:id="rId53"/>
    <p:sldId id="827" r:id="rId54"/>
    <p:sldId id="828" r:id="rId55"/>
    <p:sldId id="420" r:id="rId56"/>
    <p:sldId id="421" r:id="rId57"/>
    <p:sldId id="382" r:id="rId58"/>
    <p:sldId id="422" r:id="rId59"/>
    <p:sldId id="829" r:id="rId60"/>
    <p:sldId id="830" r:id="rId61"/>
    <p:sldId id="831" r:id="rId62"/>
    <p:sldId id="832" r:id="rId63"/>
    <p:sldId id="833" r:id="rId64"/>
    <p:sldId id="834" r:id="rId65"/>
    <p:sldId id="419" r:id="rId66"/>
    <p:sldId id="835" r:id="rId67"/>
    <p:sldId id="836" r:id="rId68"/>
    <p:sldId id="837" r:id="rId69"/>
    <p:sldId id="838" r:id="rId70"/>
    <p:sldId id="355" r:id="rId71"/>
    <p:sldId id="424" r:id="rId72"/>
    <p:sldId id="292" r:id="rId73"/>
    <p:sldId id="839" r:id="rId74"/>
    <p:sldId id="840" r:id="rId75"/>
    <p:sldId id="841" r:id="rId76"/>
    <p:sldId id="842" r:id="rId77"/>
    <p:sldId id="291" r:id="rId78"/>
    <p:sldId id="843" r:id="rId79"/>
    <p:sldId id="844" r:id="rId80"/>
    <p:sldId id="845" r:id="rId81"/>
    <p:sldId id="303" r:id="rId82"/>
    <p:sldId id="304" r:id="rId83"/>
    <p:sldId id="305" r:id="rId84"/>
    <p:sldId id="256" r:id="rId85"/>
    <p:sldId id="423" r:id="rId86"/>
    <p:sldId id="345" r:id="rId87"/>
    <p:sldId id="346" r:id="rId88"/>
    <p:sldId id="846" r:id="rId89"/>
    <p:sldId id="825" r:id="rId90"/>
    <p:sldId id="295" r:id="rId91"/>
    <p:sldId id="296" r:id="rId92"/>
    <p:sldId id="297" r:id="rId93"/>
    <p:sldId id="298" r:id="rId94"/>
    <p:sldId id="294" r:id="rId95"/>
    <p:sldId id="263" r:id="rId96"/>
    <p:sldId id="847" r:id="rId97"/>
    <p:sldId id="848" r:id="rId98"/>
    <p:sldId id="341" r:id="rId99"/>
    <p:sldId id="348" r:id="rId100"/>
    <p:sldId id="821" r:id="rId101"/>
    <p:sldId id="264" r:id="rId102"/>
    <p:sldId id="265" r:id="rId103"/>
    <p:sldId id="266" r:id="rId104"/>
    <p:sldId id="267" r:id="rId105"/>
    <p:sldId id="268" r:id="rId106"/>
    <p:sldId id="269" r:id="rId107"/>
    <p:sldId id="270" r:id="rId108"/>
    <p:sldId id="271" r:id="rId109"/>
    <p:sldId id="272" r:id="rId110"/>
    <p:sldId id="273" r:id="rId111"/>
    <p:sldId id="274" r:id="rId112"/>
    <p:sldId id="275" r:id="rId113"/>
    <p:sldId id="276" r:id="rId114"/>
    <p:sldId id="277" r:id="rId115"/>
    <p:sldId id="278" r:id="rId116"/>
    <p:sldId id="279" r:id="rId117"/>
    <p:sldId id="280" r:id="rId118"/>
    <p:sldId id="281" r:id="rId119"/>
    <p:sldId id="282" r:id="rId120"/>
    <p:sldId id="283" r:id="rId121"/>
    <p:sldId id="284" r:id="rId122"/>
    <p:sldId id="285" r:id="rId123"/>
    <p:sldId id="286" r:id="rId124"/>
    <p:sldId id="287" r:id="rId125"/>
    <p:sldId id="288" r:id="rId126"/>
    <p:sldId id="289" r:id="rId127"/>
    <p:sldId id="290" r:id="rId1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06" autoAdjust="0"/>
    <p:restoredTop sz="69967" autoAdjust="0"/>
  </p:normalViewPr>
  <p:slideViewPr>
    <p:cSldViewPr snapToGrid="0" snapToObjects="1">
      <p:cViewPr varScale="1">
        <p:scale>
          <a:sx n="77" d="100"/>
          <a:sy n="77" d="100"/>
        </p:scale>
        <p:origin x="736" y="60"/>
      </p:cViewPr>
      <p:guideLst>
        <p:guide orient="horz" pos="2160"/>
        <p:guide pos="2880"/>
      </p:guideLst>
    </p:cSldViewPr>
  </p:slid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08.599"/>
    </inkml:context>
    <inkml:brush xml:id="br0">
      <inkml:brushProperty name="width" value="0.2" units="cm"/>
      <inkml:brushProperty name="height" value="0.2" units="cm"/>
    </inkml:brush>
  </inkml:definitions>
  <inkml:trace contextRef="#ctx0" brushRef="#br0">1 1271 8754 0 0,'14'-7'340'0'0,"0"0"1"0"0,1 1-1 0 0,30-9 1 0 0,-9 4-180 0 0,325-88 1047 0 0,252-38 1911 0 0,-307 67-1529 0 0,607-159-446 0 0,-427 103-766 0 0,158-21 755 0 0,-445 112-525 0 0,256-11 1 0 0,648-6 201 0 0,-575 22-810 0 0,-453 27 0 0 0,296-6 0 0 0,-192 8 0 0 0,217-3 0 0 0,-130-2-10 0 0,574-23-52 0 0,-331 7 170 0 0,-389 18-80 0 0,326-8 589 0 0,-30 11-9 0 0,-248-2-550 0 0,355-11 20 0 0,86-20 59 0 0,312-12 166 0 0,-423 34-91 0 0,572-23 384 0 0,-467 16-303 0 0,169 43-36 0 0,-52 0-23 0 0,-343-24-177 0 0,966 10-39 0 0,-45-4 287 0 0,-1120-7-293 0 0,-142 1-12 0 0,768 14 11 0 0,-392 21 204 0 0,281 10 71 0 0,-462-50-366 0 0,233-35 0 0 0,-384 30-635 0 0,1 3-1 0 0,-1 4 1 0 0,1 4-1 0 0,0 3 1 0 0,101 18-1 0 0,-109-7-4462 0 0,-2 0-1554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1.793"/>
    </inkml:context>
    <inkml:brush xml:id="br0">
      <inkml:brushProperty name="width" value="0.2" units="cm"/>
      <inkml:brushProperty name="height" value="0.2" units="cm"/>
      <inkml:brushProperty name="color" value="#E71224"/>
    </inkml:brush>
  </inkml:definitions>
  <inkml:trace contextRef="#ctx0" brushRef="#br0">140 367 1376 0 0,'-3'3'909'0'0,"2"-3"-779"0"0,0 0 0 0 0,1 1 0 0 0,-1-1 0 0 0,1 0-1 0 0,-1 0 1 0 0,0 0 0 0 0,1 0 0 0 0,-1 0 0 0 0,0 0 0 0 0,1 0-1 0 0,-1 0 1 0 0,-8-3 1818 0 0,8 1-1818 0 0,-3-1-824 0 0,4 3 692 0 0,0 0 1 0 0,0-1-1 0 0,0 1 0 0 0,0 0 0 0 0,0-1 1 0 0,0 1-1 0 0,0 0 0 0 0,0-1 1 0 0,0 1-1 0 0,0 0 0 0 0,0-1 1 0 0,0 1-1 0 0,0 0 0 0 0,0-1 0 0 0,0 1 1 0 0,0 0-1 0 0,0-1 0 0 0,0 1 1 0 0,0 0-1 0 0,0-1 0 0 0,1 1 1 0 0,-1 0-1 0 0,0-1 0 0 0,0 1 0 0 0,0 0 1 0 0,1 0-1 0 0,-1-1 0 0 0,0 1 1 0 0,0 0-1 0 0,1 0 0 0 0,-1-1 1 0 0,1 1-1 0 0,11-12-1293 0 0,-10 10 1118 0 0,4-4 272 0 0,0 0-1 0 0,1 0 0 0 0,0 0 0 0 0,0 1 1 0 0,0 0-1 0 0,1 1 0 0 0,-1-1 0 0 0,10-3 1 0 0,-15 8-149 0 0,-1 0 0 0 0,0-1 0 0 0,0 1 0 0 0,1 0 0 0 0,-1 0 0 0 0,0 0 0 0 0,1 0 0 0 0,-1 0 0 0 0,0 0 0 0 0,1 0 0 0 0,-1 0 1 0 0,2 1-1 0 0,-2-1 2 0 0,-1 0 0 0 0,1 0 0 0 0,-1 1 1 0 0,0-1-1 0 0,1 0 0 0 0,-1 0 0 0 0,0 1 0 0 0,1-1 1 0 0,-1 0-1 0 0,0 1 0 0 0,1-1 0 0 0,-1 0 1 0 0,0 1-1 0 0,1-1 0 0 0,-1 1 0 0 0,0-1 1 0 0,0 0-1 0 0,0 1 0 0 0,1-1 0 0 0,-1 1 0 0 0,0-1 1 0 0,0 1-1 0 0,0 0 0 0 0,0 1 101 0 0,0 0 0 0 0,0 0 0 0 0,-1-1 0 0 0,1 1 0 0 0,0 0 0 0 0,-1 0 0 0 0,0 0 0 0 0,1-1 0 0 0,-1 1 0 0 0,0 0 1 0 0,0-1-1 0 0,0 1 0 0 0,0-1 0 0 0,0 1 0 0 0,-2 2 0 0 0,-8 8 1716 0 0,-26 21 1 0 0,29-26-2022 0 0,-1 0 0 0 0,0-1 0 0 0,0 0 0 0 0,-1-1 0 0 0,0 0 1 0 0,0-1-1 0 0,-12 5 0 0 0,15-8 325 0 0,0 1 0 0 0,-1-1-1 0 0,1-1 1 0 0,-1 1 0 0 0,1-1 0 0 0,-8-1-1 0 0,14 1 25 0 0,-1 0-1 0 0,1 0 1 0 0,0-1-1 0 0,-1 1 1 0 0,1 0-1 0 0,0-1 1 0 0,0 1-1 0 0,-1-1 0 0 0,1 1 1 0 0,0-1-1 0 0,0 0 1 0 0,0 1-1 0 0,0-1 1 0 0,0 0-1 0 0,0 0 1 0 0,-2-1-1 0 0,3 0-16 0 0,-1 1 1 0 0,1 0-1 0 0,0 0 1 0 0,-1 0-1 0 0,1 0 0 0 0,0 0 1 0 0,0 0-1 0 0,0 0 0 0 0,0 0 1 0 0,0 0-1 0 0,0 0 0 0 0,0 0 1 0 0,0 0-1 0 0,0-1 1 0 0,1 1-1 0 0,-1 0 0 0 0,0 0 1 0 0,1 0-1 0 0,-1 0 0 0 0,1 0 1 0 0,-1 0-1 0 0,1 0 0 0 0,0 1 1 0 0,0-3-1 0 0,13-15-397 0 0,0 0 1 0 0,1 1-1 0 0,1 0 0 0 0,1 2 0 0 0,28-23 1 0 0,-6 7-176 0 0,-33 25 672 0 0,0 1 1 0 0,1 1 0 0 0,0-1 0 0 0,0 1-1 0 0,15-7 1 0 0,-20 10-156 0 0,0 1 1 0 0,0-1-1 0 0,0 0 0 0 0,0 1 0 0 0,0-1 0 0 0,0 1 1 0 0,0 0-1 0 0,0-1 0 0 0,0 1 0 0 0,0 0 0 0 0,0 0 1 0 0,0 0-1 0 0,0 1 0 0 0,0-1 0 0 0,0 0 0 0 0,0 1 1 0 0,0-1-1 0 0,0 1 0 0 0,0 0 0 0 0,-1 0 0 0 0,1 0 0 0 0,0 0 1 0 0,0 0-1 0 0,-1 0 0 0 0,1 0 0 0 0,0 0 0 0 0,-1 1 1 0 0,1-1-1 0 0,1 3 0 0 0,-2-3-74 0 0,-1 0 0 0 0,1 1 0 0 0,0-1 0 0 0,-1 1-1 0 0,1-1 1 0 0,-1 1 0 0 0,1 0 0 0 0,-1-1 0 0 0,0 1 0 0 0,0-1 0 0 0,0 1-1 0 0,0 0 1 0 0,0-1 0 0 0,0 1 0 0 0,0 0 0 0 0,0-1 0 0 0,-1 1 0 0 0,1-1-1 0 0,-1 1 1 0 0,1-1 0 0 0,-1 1 0 0 0,0-1 0 0 0,1 1 0 0 0,-1-1 0 0 0,0 1-1 0 0,0-1 1 0 0,0 0 0 0 0,0 0 0 0 0,-2 2 0 0 0,-4 6 254 0 0,-1-1 1 0 0,0 0-1 0 0,-11 8 1 0 0,9-7-19 0 0,6-6-164 0 0,-7 8 86 0 0,-1-1-1 0 0,1-1 1 0 0,-2 1-1 0 0,1-2 1 0 0,-1 0 0 0 0,-1 0-1 0 0,-17 7 1 0 0,30-15-49 0 0,-1 1 0 0 0,1-1 1 0 0,0 1-1 0 0,0-1 0 0 0,0 0 0 0 0,0 0 1 0 0,-1 1-1 0 0,1-1 0 0 0,0 0 0 0 0,0 0 1 0 0,0 0-1 0 0,-1 0 0 0 0,1 0 1 0 0,0 0-1 0 0,0 0 0 0 0,-1-1 0 0 0,1 1 1 0 0,0 0-1 0 0,0-1 0 0 0,0 1 0 0 0,0-1 1 0 0,0 1-1 0 0,-1-1 0 0 0,1 0 1 0 0,0 1-1 0 0,0-1 0 0 0,1 0 0 0 0,-1 0 1 0 0,0 1-1 0 0,-1-3 0 0 0,1 2 31 0 0,1-1-1 0 0,0 0 1 0 0,-1 1-1 0 0,1-1 1 0 0,0 0 0 0 0,0 1-1 0 0,0-1 1 0 0,0 0-1 0 0,0 0 1 0 0,1 1-1 0 0,-1-1 1 0 0,0 0-1 0 0,1 1 1 0 0,0-1 0 0 0,-1 1-1 0 0,1-1 1 0 0,0 1-1 0 0,-1-1 1 0 0,1 1-1 0 0,0-1 1 0 0,2-1 0 0 0,15-21-161 0 0,1 0 0 0 0,1 2 0 0 0,1 0 0 0 0,1 1 1 0 0,38-28-1 0 0,-56 46 54 0 0,0 0 0 0 0,1 1-1 0 0,0 0 1 0 0,9-4 0 0 0,-13 5 13 0 0,1 1 0 0 0,-1-1 0 0 0,0 1 0 0 0,1 0 0 0 0,-1 0 0 0 0,0-1 0 0 0,1 1-1 0 0,-1 0 1 0 0,0 0 0 0 0,1 0 0 0 0,-1 0 0 0 0,1 1 0 0 0,-1-1 0 0 0,0 0 0 0 0,1 0 0 0 0,-1 1-1 0 0,0-1 1 0 0,1 1 0 0 0,-1-1 0 0 0,0 1 0 0 0,0 0 0 0 0,3 1 0 0 0,-4-1-42 0 0,0 0 0 0 0,0 0 0 0 0,1-1 0 0 0,-1 1 0 0 0,0 0 0 0 0,0 0 0 0 0,0 0 0 0 0,0 0 0 0 0,0 0 0 0 0,0 0 0 0 0,0 0 0 0 0,0 0 0 0 0,-1-1 0 0 0,1 1 0 0 0,0 0 0 0 0,0 0 0 0 0,-1 0 0 0 0,1 0 0 0 0,0-1 0 0 0,-1 1 0 0 0,1 0 0 0 0,-2 1 0 0 0,-12 21 54 0 0,11-19 7 0 0,-4 7-43 0 0,3-3-181 0 0,-1 0-1 0 0,-1 0 1 0 0,0 0-1 0 0,0-1 1 0 0,-7 7-1 0 0,10-12 272 0 0,1 0-1 0 0,-1 0 1 0 0,0-1-1 0 0,0 1 0 0 0,0-1 1 0 0,0 1-1 0 0,0-1 1 0 0,0 0-1 0 0,0 0 0 0 0,0 0 1 0 0,0 0-1 0 0,-1-1 1 0 0,1 0-1 0 0,0 1 0 0 0,-1-1 1 0 0,1 0-1 0 0,0 0 1 0 0,-5-2-1 0 0,-2 1 511 0 0,1 0 1 0 0,-1-1-1 0 0,1-1 0 0 0,0 0 1 0 0,0 0-1 0 0,0-1 0 0 0,1 0 0 0 0,-13-7 1 0 0,17 8-542 0 0,0 0 1 0 0,1 0 0 0 0,0 0 0 0 0,0 0-1 0 0,-1 0 1 0 0,2-1 0 0 0,-1 1-1 0 0,0-1 1 0 0,1 0 0 0 0,0 1 0 0 0,0-1-1 0 0,0 0 1 0 0,0-1 0 0 0,1 1-1 0 0,-1 0 1 0 0,1 0 0 0 0,0-1 0 0 0,0 1-1 0 0,1-1 1 0 0,-1-4 0 0 0,1 0-190 0 0,1 0 0 0 0,0 0 1 0 0,0 0-1 0 0,1 0 0 0 0,0 1 1 0 0,1-1-1 0 0,-1 1 1 0 0,2-1-1 0 0,-1 1 0 0 0,1 0 1 0 0,1 0-1 0 0,-1 1 0 0 0,1-1 1 0 0,0 1-1 0 0,1 0 0 0 0,0 0 1 0 0,0 1-1 0 0,1 0 1 0 0,-1 0-1 0 0,1 0 0 0 0,12-6 1 0 0,-18 11 163 0 0,0 0 1 0 0,0 0 0 0 0,0 1 0 0 0,0-1 0 0 0,0 1-1 0 0,1-1 1 0 0,-1 1 0 0 0,0-1 0 0 0,0 1 0 0 0,1 0-1 0 0,-1 0 1 0 0,0-1 0 0 0,0 1 0 0 0,1 0 0 0 0,-1 0-1 0 0,0 0 1 0 0,1 0 0 0 0,-1 1 0 0 0,0-1 0 0 0,1 0-1 0 0,-1 0 1 0 0,0 1 0 0 0,0-1 0 0 0,0 1 0 0 0,1-1-1 0 0,-1 1 1 0 0,0 0 0 0 0,0-1 0 0 0,0 1 0 0 0,0 0-1 0 0,0 0 1 0 0,0 0 0 0 0,0 0 0 0 0,0 0-1 0 0,0 0 1 0 0,-1 0 0 0 0,1 0 0 0 0,0 0 0 0 0,0 0-1 0 0,-1 0 1 0 0,1 0 0 0 0,-1 0 0 0 0,1 1 0 0 0,0 1-1 0 0,2 7-154 0 0,0 1-1 0 0,-1-1 1 0 0,0 1-1 0 0,1 15 0 0 0,-1-14 127 0 0,-2-6-19 0 0,1-1 0 0 0,-1 0 0 0 0,0 1 0 0 0,0-1-1 0 0,0 0 1 0 0,-1 1 0 0 0,0-1 0 0 0,0 0-1 0 0,0 0 1 0 0,-1 0 0 0 0,0 0 0 0 0,0 0-1 0 0,0 0 1 0 0,-4 7 0 0 0,1-6-124 0 0,1-1 1 0 0,-1 1-1 0 0,0-1 1 0 0,0 0-1 0 0,0 0 1 0 0,-1-1 0 0 0,0 1-1 0 0,0-1 1 0 0,0 0-1 0 0,-9 3 1 0 0,-14 8-343 0 0,14-8 493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5.412"/>
    </inkml:context>
    <inkml:brush xml:id="br0">
      <inkml:brushProperty name="width" value="0.2" units="cm"/>
      <inkml:brushProperty name="height" value="0.2" units="cm"/>
      <inkml:brushProperty name="color" value="#E71224"/>
    </inkml:brush>
  </inkml:definitions>
  <inkml:trace contextRef="#ctx0" brushRef="#br0">324 173 3225 0 0,'-2'-2'29'0'0,"0"1"0"0"0,0 0 1 0 0,0-1-1 0 0,0 1 0 0 0,0 0 1 0 0,-1 0-1 0 0,1 0 1 0 0,0 0-1 0 0,-1 1 0 0 0,1-1 1 0 0,0 0-1 0 0,-1 1 0 0 0,1 0 1 0 0,-1 0-1 0 0,1-1 0 0 0,0 1 1 0 0,-1 1-1 0 0,1-1 0 0 0,-1 0 1 0 0,1 1-1 0 0,0-1 0 0 0,-1 1 1 0 0,-2 1-1 0 0,-2 0 181 0 0,0 1 0 0 0,-1 0-1 0 0,1 1 1 0 0,0-1 0 0 0,-11 10 0 0 0,13-10-170 0 0,0 0 1 0 0,-1 0-1 0 0,1 0 1 0 0,-1 0-1 0 0,0-1 0 0 0,1 0 1 0 0,-1-1-1 0 0,0 1 1 0 0,0-1-1 0 0,-12 1 1 0 0,15-1 138 0 0,-1-1 0 0 0,0 0 0 0 0,0 0 0 0 0,1-1 0 0 0,-1 1 0 0 0,0-1 0 0 0,0 0 0 0 0,1 0 0 0 0,-1 0 0 0 0,1 0 0 0 0,-1 0 0 0 0,1-1 0 0 0,-1 0 0 0 0,1 0 0 0 0,0 0 0 0 0,0 0 0 0 0,0 0 0 0 0,-5-5 0 0 0,7 5-147 0 0,0 1-1 0 0,1-1 1 0 0,-1 1 0 0 0,0-1-1 0 0,1 0 1 0 0,-1 1 0 0 0,1-1-1 0 0,-1 0 1 0 0,1 1 0 0 0,0-1-1 0 0,0 0 1 0 0,0 0 0 0 0,0 1 0 0 0,0-1-1 0 0,0 0 1 0 0,0 0 0 0 0,1 1-1 0 0,-1-1 1 0 0,0 0 0 0 0,1 1-1 0 0,0-1 1 0 0,-1 0 0 0 0,1 1-1 0 0,0-1 1 0 0,0 1 0 0 0,0-1-1 0 0,0 1 1 0 0,0-1 0 0 0,2-1 0 0 0,3-5-509 0 0,1-1 1 0 0,1 1-1 0 0,10-9 1 0 0,-18 17 457 0 0,59-47-1586 0 0,-55 43 1659 0 0,1 1 0 0 0,0 0 0 0 0,0 0 0 0 0,0 1-1 0 0,0-1 1 0 0,0 1 0 0 0,1 0 0 0 0,-1 1 0 0 0,1-1 0 0 0,10 0 0 0 0,-13 2-44 0 0,0 0 0 0 0,-1 0 0 0 0,1 1 0 0 0,0-1-1 0 0,-1 1 1 0 0,1 0 0 0 0,-1-1 0 0 0,1 1 0 0 0,-1 1 0 0 0,1-1 0 0 0,-1 0 0 0 0,0 0-1 0 0,1 1 1 0 0,-1 0 0 0 0,0-1 0 0 0,0 1 0 0 0,0 0 0 0 0,0 0 0 0 0,-1 0-1 0 0,1 0 1 0 0,0 0 0 0 0,-1 1 0 0 0,1-1 0 0 0,-1 0 0 0 0,0 1 0 0 0,0-1-1 0 0,0 1 1 0 0,0-1 0 0 0,0 1 0 0 0,-1-1 0 0 0,1 1 0 0 0,-1 3 0 0 0,1-1 19 0 0,0-1 0 0 0,-1 1 0 0 0,0-1 1 0 0,0 1-1 0 0,0-1 0 0 0,0 1 1 0 0,-1-1-1 0 0,0 1 0 0 0,0-1 0 0 0,0 1 1 0 0,-1-1-1 0 0,1 0 0 0 0,-1 1 0 0 0,0-1 1 0 0,0 0-1 0 0,0 0 0 0 0,-1-1 0 0 0,-3 6 1 0 0,-3-1 199 0 0,-1 0 1 0 0,1 0-1 0 0,-2-1 0 0 0,1-1 1 0 0,0 0-1 0 0,-1 0 1 0 0,0-1-1 0 0,-1-1 1 0 0,-14 5-1 0 0,16-6-41 0 0,0 0 1 0 0,0-1-1 0 0,0-1 0 0 0,-1 0 0 0 0,1 0 0 0 0,0-1 1 0 0,0 0-1 0 0,-1-1 0 0 0,1 0 0 0 0,0-1 0 0 0,-14-3 1 0 0,22 5-192 0 0,1-1 0 0 0,0 1 0 0 0,0 0 1 0 0,0-1-1 0 0,0 1 0 0 0,0-1 0 0 0,0 1 0 0 0,0-1 1 0 0,0 0-1 0 0,0 1 0 0 0,0-1 0 0 0,0 0 1 0 0,1 0-1 0 0,-1 0 0 0 0,0 1 0 0 0,0-1 1 0 0,1 0-1 0 0,-1 0 0 0 0,0 0 0 0 0,1 0 0 0 0,-1 0 1 0 0,1 0-1 0 0,0 0 0 0 0,-1 0 0 0 0,1-1 1 0 0,-1-1-1 0 0,1 1-12 0 0,1-1-1 0 0,-1 1 1 0 0,0-1 0 0 0,1 1 0 0 0,0-1-1 0 0,-1 1 1 0 0,1 0 0 0 0,0-1 0 0 0,0 1-1 0 0,0 0 1 0 0,3-4 0 0 0,4-6-95 0 0,1 2 1 0 0,0-1-1 0 0,13-12 1 0 0,-21 23 106 0 0,18-19-421 0 0,47-42-901 0 0,-58 54 1034 0 0,1 1 1 0 0,-1 0-1 0 0,1 1 1 0 0,0 0 0 0 0,1 0-1 0 0,13-4 1 0 0,-22 8 312 0 0,1 1 1 0 0,-1-1-1 0 0,1 1 1 0 0,-1-1-1 0 0,1 1 1 0 0,0 0-1 0 0,-1 0 1 0 0,1-1-1 0 0,0 1 1 0 0,-1 0-1 0 0,1 1 1 0 0,-1-1-1 0 0,1 0 1 0 0,0 0-1 0 0,-1 1 1 0 0,1-1-1 0 0,-1 1 1 0 0,1-1-1 0 0,-1 1 1 0 0,1 0-1 0 0,-1-1 1 0 0,1 1-1 0 0,-1 0 1 0 0,0 0-1 0 0,1 0 1 0 0,-1 0-1 0 0,0 0 1 0 0,0 0-1 0 0,0 1 1 0 0,0-1-1 0 0,0 0 1 0 0,0 1-1 0 0,0-1 1 0 0,0 0-1 0 0,0 2 1 0 0,0 0 84 0 0,0 0 0 0 0,0 1 0 0 0,0-1 1 0 0,-1 0-1 0 0,1 0 0 0 0,-1 0 0 0 0,0 0 0 0 0,0 0 0 0 0,0 0 1 0 0,-1 1-1 0 0,1-1 0 0 0,-1 0 0 0 0,1 0 0 0 0,-1 0 0 0 0,0 0 1 0 0,0 0-1 0 0,-2 4 0 0 0,-10 12-128 0 0,0 0-1 0 0,-1-1 1 0 0,-1-1 0 0 0,-1 0-1 0 0,-31 26 1 0 0,-1 2-11 0 0,39-37-296 0 0,7-6 45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7.223"/>
    </inkml:context>
    <inkml:brush xml:id="br0">
      <inkml:brushProperty name="width" value="0.2" units="cm"/>
      <inkml:brushProperty name="height" value="0.2" units="cm"/>
      <inkml:brushProperty name="color" value="#E71224"/>
    </inkml:brush>
  </inkml:definitions>
  <inkml:trace contextRef="#ctx0" brushRef="#br0">80 109 4609 0 0,'4'-3'1807'0'0,"1"14"-4277"0"0,-4-10 2546 0 0,-1 0-1 0 0,0-1 0 0 0,1 1 1 0 0,-1 0-1 0 0,0-1 0 0 0,1 1 1 0 0,-1-1-1 0 0,1 1 1 0 0,-1 0-1 0 0,1-1 0 0 0,-1 1 1 0 0,1-1-1 0 0,-1 0 0 0 0,1 1 1 0 0,0-1-1 0 0,-1 1 1 0 0,1-1-1 0 0,0 0 0 0 0,-1 0 1 0 0,1 1-1 0 0,0-1 0 0 0,-1 0 1 0 0,1 0-1 0 0,1 0 1 0 0,-2 0-54 0 0,0 0 1 0 0,1 0 0 0 0,-1 0 0 0 0,0 0-1 0 0,0 0 1 0 0,1 1 0 0 0,-1-1 0 0 0,0 0-1 0 0,0 0 1 0 0,1 0 0 0 0,-1 0 0 0 0,0 0-1 0 0,0 0 1 0 0,0 0 0 0 0,1 0 0 0 0,-1 0 0 0 0,0 1-1 0 0,0-1 1 0 0,0 0 0 0 0,1 0 0 0 0,-1 0-1 0 0,0 0 1 0 0,0 1 0 0 0,0-1 0 0 0,0 0-1 0 0,0 0 1 0 0,1 0 0 0 0,-1 1 0 0 0,0-1-1 0 0,0 0 1 0 0,0 0 0 0 0,0 1 0 0 0,0-1 0 0 0,0 0-1 0 0,0 0 1 0 0,0 1 0 0 0,0-1 0 0 0,0 0-1 0 0,0 0 1 0 0,0 1 0 0 0,-9 8 1252 0 0,-15 5 912 0 0,7-5-1697 0 0,14-7-580 0 0,1 0-1 0 0,-1-1 0 0 0,1 1 1 0 0,-1-1-1 0 0,0 0 0 0 0,1 1 1 0 0,-1-1-1 0 0,0 0 0 0 0,0-1 1 0 0,0 1-1 0 0,0 0 1 0 0,1-1-1 0 0,-1 0 0 0 0,0 1 1 0 0,-4-1-1 0 0,6-1 181 0 0,0 0 1 0 0,1 0-1 0 0,-1 1 0 0 0,0-1 1 0 0,0 0-1 0 0,0 0 1 0 0,1 0-1 0 0,-1 0 0 0 0,0 0 1 0 0,1 0-1 0 0,-1 0 0 0 0,1 0 1 0 0,-1 0-1 0 0,1 0 0 0 0,-1 0 1 0 0,1 0-1 0 0,0 0 1 0 0,0 0-1 0 0,-1 0 0 0 0,1 0 1 0 0,0 0-1 0 0,0-1 0 0 0,0 1 1 0 0,0 0-1 0 0,0 0 0 0 0,1-2 1 0 0,5-31 1485 0 0,-2 25-1642 0 0,0 1 0 0 0,0-1 0 0 0,1 1 0 0 0,0-1 0 0 0,0 1 1 0 0,1 1-1 0 0,0-1 0 0 0,0 1 0 0 0,1 0 0 0 0,15-12 0 0 0,-19 17 84 0 0,0-1 0 0 0,0 1-1 0 0,0 0 1 0 0,0 1 0 0 0,0-1-1 0 0,1 0 1 0 0,-1 1-1 0 0,0 0 1 0 0,1-1 0 0 0,-1 2-1 0 0,1-1 1 0 0,0 0 0 0 0,-1 1-1 0 0,1-1 1 0 0,0 1-1 0 0,-1 0 1 0 0,1 0 0 0 0,0 1-1 0 0,-1-1 1 0 0,1 1 0 0 0,0-1-1 0 0,-1 1 1 0 0,1 0-1 0 0,-1 1 1 0 0,0-1 0 0 0,1 1-1 0 0,-1-1 1 0 0,0 1 0 0 0,0 0-1 0 0,0 0 1 0 0,4 4-1 0 0,-3-3-17 0 0,-1 0 0 0 0,1 1 0 0 0,-1-1 1 0 0,0 1-1 0 0,0 0 0 0 0,0 0 0 0 0,0 0 0 0 0,-1 0 0 0 0,0 1 0 0 0,0-1 0 0 0,0 0 0 0 0,0 1 0 0 0,-1 0 0 0 0,0-1 0 0 0,0 1 0 0 0,1 8 0 0 0,-2-10 26 0 0,0 0-1 0 0,0 1 1 0 0,-1-1 0 0 0,1 0 0 0 0,-1 0 0 0 0,0 0 0 0 0,0 0 0 0 0,0 0 0 0 0,0 0 0 0 0,-1 0 0 0 0,1 0 0 0 0,-1 0 0 0 0,0 0 0 0 0,0-1 0 0 0,0 1-1 0 0,0-1 1 0 0,0 1 0 0 0,0-1 0 0 0,-1 0 0 0 0,1 0 0 0 0,-1 0 0 0 0,1 0 0 0 0,-1 0 0 0 0,0-1 0 0 0,0 1 0 0 0,-3 0 0 0 0,2 0 130 0 0,0-1 0 0 0,-1 0 0 0 0,1 0 0 0 0,-1 0 0 0 0,1 0 0 0 0,-1-1 1 0 0,1 0-1 0 0,-1 0 0 0 0,1 0 0 0 0,-1 0 0 0 0,1-1 0 0 0,-1 0 0 0 0,1 0 1 0 0,-1 0-1 0 0,1 0 0 0 0,0-1 0 0 0,0 1 0 0 0,0-1 0 0 0,0 0 0 0 0,0-1 1 0 0,0 1-1 0 0,0-1 0 0 0,-5-4 0 0 0,4 3-157 0 0,0 0 0 0 0,1 0-1 0 0,0-1 1 0 0,0 1 0 0 0,0-1 0 0 0,0 0 0 0 0,1 0 0 0 0,0 0-1 0 0,0 0 1 0 0,0 0 0 0 0,1-1 0 0 0,-1 1 0 0 0,1-1-1 0 0,1 0 1 0 0,-1 0 0 0 0,1 0 0 0 0,-1-9 0 0 0,2 14-48 0 0,0 0 0 0 0,0 1 0 0 0,0-1 0 0 0,0 1 0 0 0,0-1-1 0 0,0 0 1 0 0,0 1 0 0 0,0-1 0 0 0,0 1 0 0 0,1-1 0 0 0,-1 0 0 0 0,0 1 0 0 0,0-1 0 0 0,1 1 0 0 0,-1-1 0 0 0,0 1 0 0 0,1-1 0 0 0,-1 1 0 0 0,1-1 0 0 0,-1 1 0 0 0,1-1 0 0 0,-1 1 0 0 0,0 0 0 0 0,1-1 0 0 0,-1 1 0 0 0,1 0-1 0 0,0-1 1 0 0,1 0-1 0 0,0 1-1 0 0,-1 0 1 0 0,1 0-1 0 0,0-1 1 0 0,-1 1-1 0 0,1 0 1 0 0,-1 0-1 0 0,1 0 1 0 0,0 1-1 0 0,2 0 1 0 0,6 1 21 0 0,0 1 1 0 0,16 8-1 0 0,-19-8-34 0 0,32 11-250 0 0,0-1 0 0 0,42 7 0 0 0,-61-16-30 0 0,12 8-547 0 0,-31-12 799 0 0,0 0 0 0 0,0 1 0 0 0,-1-1 0 0 0,1 1 1 0 0,0-1-1 0 0,0 1 0 0 0,0-1 0 0 0,-1 1 0 0 0,1 0 0 0 0,0-1 0 0 0,0 1 0 0 0,-1 0 0 0 0,1 0 0 0 0,-1-1 0 0 0,1 1 1 0 0,-1 0-1 0 0,1 0 0 0 0,-1 0 0 0 0,1 0 0 0 0,-1-1 0 0 0,0 1 0 0 0,0 0 0 0 0,1 0 0 0 0,-1 0 0 0 0,0 0 0 0 0,0 0 0 0 0,0 0 1 0 0,0 0-1 0 0,0 0 0 0 0,0 0 0 0 0,0 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30.117"/>
    </inkml:context>
    <inkml:brush xml:id="br0">
      <inkml:brushProperty name="width" value="0.2" units="cm"/>
      <inkml:brushProperty name="height" value="0.2" units="cm"/>
      <inkml:brushProperty name="color" value="#E71224"/>
    </inkml:brush>
  </inkml:definitions>
  <inkml:trace contextRef="#ctx0" brushRef="#br0">177 217 4145 0 0,'-17'1'5084'0'0,"14"-1"-4693"0"0,-2-1-1077 0 0,3 1 387 0 0,0 0 0 0 0,0 1 0 0 0,0 0 0 0 0,0-1 0 0 0,0 1 0 0 0,0 0 0 0 0,1 0 0 0 0,-1 0 0 0 0,0 0 0 0 0,0 0 0 0 0,-2 3 0 0 0,-12 5-822 0 0,12-8 1462 0 0,0 0-1 0 0,0 0 1 0 0,-1-1 0 0 0,1 0-1 0 0,0 0 1 0 0,-1 0 0 0 0,1 0 0 0 0,0-1-1 0 0,0 1 1 0 0,0-1 0 0 0,-1 0-1 0 0,1-1 1 0 0,0 1 0 0 0,0-1 0 0 0,0 1-1 0 0,1-1 1 0 0,-1 0 0 0 0,-6-5-1 0 0,8 5-284 0 0,-1 1 0 0 0,1-1 1 0 0,1 0-1 0 0,-1 0 0 0 0,0 0 0 0 0,0 0 0 0 0,1 0 0 0 0,-1 0 0 0 0,1 0 0 0 0,0 0 0 0 0,-1-1 0 0 0,1 1 0 0 0,0 0 0 0 0,0-1 0 0 0,1 1 0 0 0,-1-1 0 0 0,0 1 0 0 0,1-1 0 0 0,0 1 0 0 0,-1-1 0 0 0,1 0 0 0 0,0 1 0 0 0,0-1 0 0 0,1 1 0 0 0,-1-1 0 0 0,0 0 0 0 0,1 1 0 0 0,0-1 0 0 0,-1 1 0 0 0,1-1 0 0 0,2-3 0 0 0,2-1-56 0 0,0-1 1 0 0,0 1-1 0 0,0 0 0 0 0,1 0 1 0 0,0 0-1 0 0,1 1 1 0 0,0 0-1 0 0,7-5 1 0 0,1 0 0 0 0,1 1 0 0 0,32-16 1 0 0,-44 24-30 0 0,0 1 1 0 0,1 0-1 0 0,0 0 1 0 0,-1 0-1 0 0,1 0 1 0 0,0 0-1 0 0,-1 1 0 0 0,1 0 1 0 0,0 0-1 0 0,-1 0 1 0 0,1 1-1 0 0,0 0 1 0 0,-1 0-1 0 0,1 0 1 0 0,-1 0-1 0 0,1 1 1 0 0,-1-1-1 0 0,1 1 1 0 0,4 3-1 0 0,-6-3 12 0 0,1 0-1 0 0,-1 1 0 0 0,1-1 0 0 0,-1 1 1 0 0,0-1-1 0 0,0 1 0 0 0,0 0 1 0 0,0 0-1 0 0,-1 1 0 0 0,1-1 0 0 0,-1 0 1 0 0,0 1-1 0 0,0 0 0 0 0,0-1 1 0 0,0 1-1 0 0,-1 0 0 0 0,1 0 0 0 0,-1 0 1 0 0,0 0-1 0 0,0 0 0 0 0,-1 0 1 0 0,1 6-1 0 0,-1-8 104 0 0,0 0 0 0 0,0 0-1 0 0,0-1 1 0 0,0 1 0 0 0,0 0 0 0 0,-1-1 0 0 0,1 1 0 0 0,-1 0 0 0 0,1-1 0 0 0,-1 1 0 0 0,1 0-1 0 0,-1-1 1 0 0,0 1 0 0 0,0-1 0 0 0,0 1 0 0 0,0-1 0 0 0,0 1 0 0 0,0-1 0 0 0,0 0 0 0 0,-1 0-1 0 0,1 1 1 0 0,0-1 0 0 0,-2 1 0 0 0,0-1 28 0 0,0 0 1 0 0,0 1-1 0 0,0-2 0 0 0,0 1 0 0 0,0 0 1 0 0,-1 0-1 0 0,1-1 0 0 0,0 0 0 0 0,0 1 1 0 0,0-1-1 0 0,-6-1 0 0 0,-4-1 51 0 0,0 0 0 0 0,0-1 0 0 0,0-1 0 0 0,0 0 0 0 0,-11-6-1 0 0,3 1-26 0 0,9 5-189 0 0,1 0 0 0 0,1-1 1 0 0,-1-1-1 0 0,1 0 0 0 0,0 0 1 0 0,-10-8-1 0 0,20 13 32 0 0,-1 1-1 0 0,1-1 1 0 0,0 1 0 0 0,0-1 0 0 0,0 1-1 0 0,0-1 1 0 0,0 1 0 0 0,0-1 0 0 0,0 1-1 0 0,0-1 1 0 0,0 1 0 0 0,0-1-1 0 0,0 1 1 0 0,0-1 0 0 0,0 1 0 0 0,0-1-1 0 0,0 1 1 0 0,1-1 0 0 0,-1 1-1 0 0,0-1 1 0 0,0 1 0 0 0,1 0 0 0 0,-1-1-1 0 0,0 1 1 0 0,0-1 0 0 0,1 1 0 0 0,-1 0-1 0 0,1-1 1 0 0,-1 1 0 0 0,0 0-1 0 0,1-1 1 0 0,15-13 47 0 0,-15 13-48 0 0,8-6-189 0 0,0 1 0 0 0,0-1-1 0 0,1 2 1 0 0,-1-1 0 0 0,1 1-1 0 0,0 1 1 0 0,1 0 0 0 0,12-3-1 0 0,-20 6 125 0 0,1 0 0 0 0,0 0 0 0 0,-1 1 0 0 0,1 0 0 0 0,0 0 0 0 0,-1 0 0 0 0,1 0 0 0 0,0 0 0 0 0,-1 1 0 0 0,1-1 0 0 0,0 1 0 0 0,-1 0-1 0 0,1 0 1 0 0,-1 1 0 0 0,0-1 0 0 0,1 1 0 0 0,-1-1 0 0 0,0 1 0 0 0,0 0 0 0 0,0 0 0 0 0,0 1 0 0 0,0-1 0 0 0,0 0 0 0 0,-1 1 0 0 0,1 0 0 0 0,-1 0-1 0 0,0 0 1 0 0,3 4 0 0 0,-1 0 182 0 0,1 0-1 0 0,-1 0 0 0 0,-1 1 1 0 0,0-1-1 0 0,0 1 0 0 0,0 0 1 0 0,-1 0-1 0 0,0 0 1 0 0,1 14-1 0 0,-3-21-83 0 0,0 0 0 0 0,0 0 0 0 0,0 0 0 0 0,0 0 0 0 0,0 0 0 0 0,0 0 1 0 0,-1 0-1 0 0,1 0 0 0 0,0 0 0 0 0,-1 0 0 0 0,1 0 0 0 0,-1 0 0 0 0,1 0 0 0 0,-1 0 0 0 0,0 0 0 0 0,1 0 0 0 0,-1 0 0 0 0,0 0 1 0 0,1-1-1 0 0,-1 1 0 0 0,-2 1 0 0 0,1-1 56 0 0,0 0 0 0 0,0 0 0 0 0,0 0 0 0 0,-1 0 0 0 0,1 0 0 0 0,0-1 0 0 0,-1 1 0 0 0,1-1 0 0 0,-4 0 0 0 0,-5 1 343 0 0,1-2 0 0 0,-1 0 0 0 0,-14-3-1 0 0,22 4-318 0 0,-27-8 849 0 0,29 7-994 0 0,1 1-1 0 0,-1 0 0 0 0,0 0 0 0 0,1 0 0 0 0,-1 0 1 0 0,0 0-1 0 0,1-1 0 0 0,-1 1 0 0 0,1 0 1 0 0,-1 0-1 0 0,1-1 0 0 0,-1 1 0 0 0,1-1 1 0 0,-1 1-1 0 0,1 0 0 0 0,-1-1 0 0 0,1 1 0 0 0,-1-1 1 0 0,1 1-1 0 0,-1-1 0 0 0,1 1 0 0 0,0-1 1 0 0,0 1-1 0 0,-1-1 0 0 0,1 0 0 0 0,0 1 1 0 0,0-1-1 0 0,-1 1 0 0 0,1-1 0 0 0,0 0 0 0 0,0 1 1 0 0,0-1-1 0 0,0 0 0 0 0,0 1 0 0 0,0-1 1 0 0,0 0-1 0 0,0 1 0 0 0,0-1 0 0 0,0 1 0 0 0,0-1 1 0 0,1 0-1 0 0,-1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32.500"/>
    </inkml:context>
    <inkml:brush xml:id="br0">
      <inkml:brushProperty name="width" value="0.2" units="cm"/>
      <inkml:brushProperty name="height" value="0.2" units="cm"/>
      <inkml:brushProperty name="color" value="#E71224"/>
    </inkml:brush>
  </inkml:definitions>
  <inkml:trace contextRef="#ctx0" brushRef="#br0">161 205 3225 0 0,'14'-21'4589'0'0,"-9"18"-4261"0"0,-4 3-289 0 0,1 0 1 0 0,0 0-1 0 0,-1 0 1 0 0,1 0-1 0 0,0 1 0 0 0,-1-1 1 0 0,1 0-1 0 0,0 1 0 0 0,-1-1 1 0 0,1 1-1 0 0,0 0 0 0 0,-1-1 1 0 0,1 1-1 0 0,1 2 1 0 0,-1-3-236 0 0,-1 1 0 0 0,0-1 1 0 0,1 1-1 0 0,-1 0 0 0 0,0 0 1 0 0,0-1-1 0 0,1 1 0 0 0,-1 0 1 0 0,0 0-1 0 0,0 0 0 0 0,0 1 1 0 0,0-1-1 0 0,0 0 1 0 0,-1 0-1 0 0,2 3 0 0 0,-1-3 110 0 0,-1 0-1 0 0,0 0 0 0 0,0 0 1 0 0,0 0-1 0 0,-1 0 0 0 0,1 0 1 0 0,0 0-1 0 0,0 0 0 0 0,0 0 0 0 0,-1 0 1 0 0,1 1-1 0 0,-1-1 0 0 0,1-1 1 0 0,-1 1-1 0 0,1 0 0 0 0,-1 0 1 0 0,1 0-1 0 0,-1 0 0 0 0,0 0 1 0 0,0 0-1 0 0,1-1 0 0 0,-1 1 1 0 0,-1 0-1 0 0,-5 5 601 0 0,0-1 0 0 0,0 0-1 0 0,-1-1 1 0 0,0 0 0 0 0,0 0 0 0 0,0-1 0 0 0,0 0-1 0 0,0 0 1 0 0,-1-1 0 0 0,1 0 0 0 0,-12 1-1 0 0,15-3-394 0 0,1 0 1 0 0,-1 0-1 0 0,1 0 0 0 0,-1-1 0 0 0,1 0 0 0 0,-1 1 0 0 0,1-1 0 0 0,0-1 0 0 0,0 1 0 0 0,-1-1 0 0 0,1 0 0 0 0,0 0 0 0 0,0 0 0 0 0,0 0 0 0 0,1-1 0 0 0,-1 1 0 0 0,1-1 0 0 0,-1 0 1 0 0,1 0-1 0 0,0-1 0 0 0,-5-5 0 0 0,6 7-100 0 0,1-1-1 0 0,-1 1 1 0 0,0-1 0 0 0,1 0 0 0 0,0 0 0 0 0,-1 1 0 0 0,1-1 0 0 0,0 0 0 0 0,1 0-1 0 0,-1 0 1 0 0,0 0 0 0 0,1 0 0 0 0,0 0 0 0 0,-1-1 0 0 0,1 1 0 0 0,1 0 0 0 0,-1 0-1 0 0,0 0 1 0 0,1 0 0 0 0,-1 0 0 0 0,1 0 0 0 0,0 0 0 0 0,0 0 0 0 0,0 0 0 0 0,0 0-1 0 0,1 1 1 0 0,-1-1 0 0 0,1 0 0 0 0,0 1 0 0 0,0-1 0 0 0,3-3 0 0 0,8-7-8 0 0,0-1 1 0 0,1 1-1 0 0,1 1 1 0 0,0 1-1 0 0,1 0 1 0 0,0 1-1 0 0,33-16 1 0 0,-46 26-28 0 0,0-1 0 0 0,0 0 0 0 0,0 0 0 0 0,0 1 0 0 0,0 0 0 0 0,0 0 1 0 0,0 0-1 0 0,0 0 0 0 0,0 0 0 0 0,0 0 0 0 0,0 1 0 0 0,0-1 0 0 0,-1 1 0 0 0,1 0 1 0 0,0 0-1 0 0,0 0 0 0 0,0 0 0 0 0,-1 1 0 0 0,1-1 0 0 0,0 1 0 0 0,-1 0 0 0 0,0-1 1 0 0,3 4-1 0 0,1-1-64 0 0,-1 2 0 0 0,0-1 0 0 0,-1 1 1 0 0,1 0-1 0 0,-1 0 0 0 0,0 0 0 0 0,0 0 1 0 0,4 10-1 0 0,-8-14 83 0 0,1 0-1 0 0,0 0 1 0 0,0 0 0 0 0,-1 0 0 0 0,0 0 0 0 0,1 0 0 0 0,-1 0-1 0 0,0 0 1 0 0,0 1 0 0 0,0-1 0 0 0,0 0 0 0 0,0 0-1 0 0,0 0 1 0 0,-1 0 0 0 0,1 0 0 0 0,-1 0 0 0 0,1 0-1 0 0,-1 0 1 0 0,0 0 0 0 0,-1 2 0 0 0,0-1 81 0 0,0 0 1 0 0,0 0-1 0 0,-1 0 0 0 0,1-1 1 0 0,-1 1-1 0 0,0-1 1 0 0,0 1-1 0 0,0-1 0 0 0,0 0 1 0 0,-6 3-1 0 0,2-1 124 0 0,0-1 1 0 0,0 0-1 0 0,0-1 1 0 0,-1 0-1 0 0,1 0 0 0 0,-1 0 1 0 0,1-1-1 0 0,-1 0 0 0 0,0 0 1 0 0,-11-1-1 0 0,7-2 40 0 0,0 0 0 0 0,0-1-1 0 0,1-1 1 0 0,-1 1 0 0 0,-12-8 0 0 0,18 9-180 0 0,1-1 0 0 0,0 1 0 0 0,0-1 0 0 0,0-1 0 0 0,0 1 1 0 0,1-1-1 0 0,-1 0 0 0 0,1 0 0 0 0,0 0 0 0 0,0-1 0 0 0,1 1 1 0 0,-6-9-1 0 0,8 12-92 0 0,1-1 0 0 0,-1 1 0 0 0,1-1-1 0 0,-1 1 1 0 0,1-1 0 0 0,-1 1 0 0 0,1-1 0 0 0,0 1 0 0 0,0 0 0 0 0,0-1 0 0 0,0 1 0 0 0,0-1 0 0 0,0 1 0 0 0,1-1 0 0 0,-1 1-1 0 0,0-1 1 0 0,1 1 0 0 0,-1-1 0 0 0,2-1 0 0 0,0-1-76 0 0,0 1 0 0 0,0 0-1 0 0,0 0 1 0 0,0 0 0 0 0,1 0-1 0 0,-1 1 1 0 0,6-5 0 0 0,5-2-476 0 0,-1 0-1 0 0,28-12 1 0 0,-36 19 463 0 0,2-1 3 0 0,-1 0 1 0 0,1 1 0 0 0,-1 0-1 0 0,1 0 1 0 0,0 0-1 0 0,0 1 1 0 0,0-1 0 0 0,0 2-1 0 0,0-1 1 0 0,7 0-1 0 0,-9 2 50 0 0,0 0-1 0 0,0-1 0 0 0,1 1 1 0 0,-1 1-1 0 0,-1-1 1 0 0,1 1-1 0 0,0-1 0 0 0,0 1 1 0 0,-1 0-1 0 0,1 0 0 0 0,-1 1 1 0 0,1-1-1 0 0,-1 1 0 0 0,0 0 1 0 0,5 5-1 0 0,-3-3-76 0 0,-1 0 0 0 0,0 1 0 0 0,0 0-1 0 0,0 0 1 0 0,0 0 0 0 0,-1 0 0 0 0,0 1 0 0 0,0 0 0 0 0,-1-1 0 0 0,0 1 0 0 0,0 0-1 0 0,-1 0 1 0 0,1 0 0 0 0,-2 0 0 0 0,1 9 0 0 0,-1-9 319 0 0,0-1 0 0 0,-1 0 0 0 0,0 0 0 0 0,0 0 1 0 0,0 0-1 0 0,-1 0 0 0 0,0 0 0 0 0,0 0 0 0 0,0 0 0 0 0,-1-1 0 0 0,0 1 0 0 0,0-1 1 0 0,-1 0-1 0 0,1 0 0 0 0,-1 0 0 0 0,0 0 0 0 0,-9 8 0 0 0,12-12-195 0 0,-1 0 1 0 0,1 0-1 0 0,-1 0 0 0 0,1 1 0 0 0,-1-1 1 0 0,0-1-1 0 0,1 1 0 0 0,-1 0 0 0 0,0 0 0 0 0,1-1 1 0 0,-1 1-1 0 0,0-1 0 0 0,0 1 0 0 0,0-1 1 0 0,0 0-1 0 0,0 1 0 0 0,1-1 0 0 0,-1 0 1 0 0,0 0-1 0 0,0-1 0 0 0,0 1 0 0 0,0 0 0 0 0,0-1 1 0 0,1 1-1 0 0,-1-1 0 0 0,0 1 0 0 0,0-1 1 0 0,1 0-1 0 0,-1 0 0 0 0,0 0 0 0 0,1 0 1 0 0,-3-2-1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0.126"/>
    </inkml:context>
    <inkml:brush xml:id="br0">
      <inkml:brushProperty name="width" value="0.2" units="cm"/>
      <inkml:brushProperty name="height" value="0.2" units="cm"/>
      <inkml:brushProperty name="color" value="#E71224"/>
    </inkml:brush>
  </inkml:definitions>
  <inkml:trace contextRef="#ctx0" brushRef="#br0">176 188 3681 0 0,'-22'-54'6961'0'0,"19"53"-6695"0"0,-15 1-2802 0 0,-20 10 923 0 0,20-5 2080 0 0,-32 5 1 0 0,49-9-361 0 0,0-1 0 0 0,1 0 0 0 0,-1 0 0 0 0,0 0 0 0 0,1 0 0 0 0,-1 0 0 0 0,0 0 0 0 0,0 0 0 0 0,1 0 0 0 0,-1 0 0 0 0,0 0-1 0 0,0 0 1 0 0,1 0 0 0 0,-1-1 0 0 0,0 1 0 0 0,1 0 0 0 0,-1-1 0 0 0,0 1 0 0 0,1 0 0 0 0,-1-1 0 0 0,1 1 0 0 0,-1-1 0 0 0,0 1 0 0 0,1-1 0 0 0,-1 1 0 0 0,1-1 0 0 0,0 1 0 0 0,-1-1 0 0 0,1 1 0 0 0,-1-1 0 0 0,1 0 0 0 0,-1 0 0 0 0,1-1-24 0 0,0 0-1 0 0,0 0 1 0 0,0 0-1 0 0,0 0 1 0 0,0 0-1 0 0,0 1 1 0 0,0-1-1 0 0,0 0 1 0 0,1 0 0 0 0,-1 0-1 0 0,2-3 1 0 0,2-5-111 0 0,1 1 0 0 0,0 0 1 0 0,10-15-1 0 0,-12 19-8 0 0,1 0 0 0 0,0 1 0 0 0,1-1 0 0 0,-1 1 0 0 0,1 0 0 0 0,-1 0 0 0 0,1 1 0 0 0,8-5 0 0 0,-12 7 24 0 0,0 1-1 0 0,1-1 1 0 0,-1 1 0 0 0,0-1 0 0 0,1 1-1 0 0,-1-1 1 0 0,1 1 0 0 0,-1 0 0 0 0,0 0 0 0 0,1 0-1 0 0,-1 0 1 0 0,1 0 0 0 0,-1 0 0 0 0,0 0-1 0 0,1 0 1 0 0,-1 1 0 0 0,1-1 0 0 0,-1 0-1 0 0,0 1 1 0 0,1-1 0 0 0,-1 1 0 0 0,0-1-1 0 0,1 1 1 0 0,-1 0 0 0 0,0 0 0 0 0,0 0-1 0 0,0-1 1 0 0,0 1 0 0 0,0 0 0 0 0,0 0 0 0 0,0 0-1 0 0,0 1 1 0 0,0-1 0 0 0,0 0 0 0 0,0 0-1 0 0,-1 0 1 0 0,1 1 0 0 0,-1-1 0 0 0,2 3-1 0 0,0 0-142 0 0,0 1-1 0 0,0-1 0 0 0,-1 1 0 0 0,1 0 0 0 0,-1-1 0 0 0,0 1 1 0 0,0 0-1 0 0,-1 0 0 0 0,0 0 0 0 0,1 0 0 0 0,-2 0 0 0 0,1-1 1 0 0,0 1-1 0 0,-1 0 0 0 0,-1 5 0 0 0,0-6 278 0 0,0 0 0 0 0,1 0 0 0 0,-1-1 0 0 0,0 1 0 0 0,-1-1 0 0 0,1 0 0 0 0,-1 0 0 0 0,1 1 0 0 0,-1-1 0 0 0,0-1 0 0 0,0 1 0 0 0,0 0 0 0 0,0-1 0 0 0,-1 0 0 0 0,1 0-1 0 0,-1 0 1 0 0,1 0 0 0 0,-6 2 0 0 0,5-2-10 0 0,0-1 0 0 0,0 0 0 0 0,-1 1 0 0 0,1-1 0 0 0,0 0-1 0 0,-1-1 1 0 0,1 1 0 0 0,0-1 0 0 0,-1 0 0 0 0,1 0 0 0 0,0 0 0 0 0,-6-2-1 0 0,8 2-72 0 0,1-1 0 0 0,0 1 0 0 0,0-1 0 0 0,-1 1 0 0 0,1-1-1 0 0,0 1 1 0 0,0-1 0 0 0,0 0 0 0 0,0 0 0 0 0,0 0-1 0 0,0 1 1 0 0,0-1 0 0 0,0 0 0 0 0,0 0 0 0 0,0 0 0 0 0,0-1-1 0 0,0 0 1 0 0,0 0 34 0 0,0 0 0 0 0,1-1 1 0 0,-1 1-1 0 0,1 0 0 0 0,-1 0 0 0 0,1 0 0 0 0,0 0 0 0 0,0-1 0 0 0,0 1 1 0 0,0 0-1 0 0,1 0 0 0 0,-1 0 0 0 0,1-5 0 0 0,2-1-16 0 0,0-1 0 0 0,0 0 0 0 0,1 1-1 0 0,0 0 1 0 0,0 0 0 0 0,7-10 0 0 0,-6 11-484 0 0,0 1 1 0 0,1-1-1 0 0,-1 1 1 0 0,1-1-1 0 0,0 2 0 0 0,1-1 1 0 0,-1 1-1 0 0,1 0 1 0 0,0 0-1 0 0,0 1 1 0 0,14-6-1 0 0,-20 9 381 0 0,0 1 1 0 0,0-1-1 0 0,0 1 0 0 0,0 0 1 0 0,1 0-1 0 0,-1-1 0 0 0,0 1 1 0 0,0 0-1 0 0,1 0 0 0 0,-1 0 0 0 0,0 0 1 0 0,0 0-1 0 0,1 1 0 0 0,-1-1 1 0 0,0 0-1 0 0,0 1 0 0 0,0-1 1 0 0,1 0-1 0 0,-1 1 0 0 0,0 0 1 0 0,0-1-1 0 0,0 1 0 0 0,0 0 0 0 0,0-1 1 0 0,0 1-1 0 0,0 0 0 0 0,0 0 1 0 0,0 0-1 0 0,-1 0 0 0 0,1 0 1 0 0,0 0-1 0 0,0 0 0 0 0,-1 0 1 0 0,1 0-1 0 0,-1 0 0 0 0,1 0 1 0 0,-1 0-1 0 0,1 1 0 0 0,-1-1 0 0 0,0 0 1 0 0,1 0-1 0 0,-1 2 0 0 0,2 8 211 0 0,-1-1-1 0 0,0 0 0 0 0,0 0 0 0 0,-2 12 0 0 0,1-12-278 0 0,-1 9 194 0 0,0-14-164 0 0,1 0-1 0 0,-1 0 1 0 0,1 0 0 0 0,0 0-1 0 0,1 1 1 0 0,-1-1-1 0 0,1 0 1 0 0,0 0 0 0 0,2 6-1 0 0,-1-11-302 0 0,-2 0 365 0 0,0 0 1 0 0,0 0-1 0 0,0 0 1 0 0,0 0-1 0 0,0 0 1 0 0,0 0-1 0 0,1 0 1 0 0,2-12-1783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4.019"/>
    </inkml:context>
    <inkml:brush xml:id="br0">
      <inkml:brushProperty name="width" value="0.2" units="cm"/>
      <inkml:brushProperty name="height" value="0.2" units="cm"/>
      <inkml:brushProperty name="color" value="#E71224"/>
    </inkml:brush>
  </inkml:definitions>
  <inkml:trace contextRef="#ctx0" brushRef="#br0">91 117 2304 0 0,'5'-26'659'0'0,"-2"-17"5100"0"0,-3 43-5837 0 0,-1-1 1 0 0,0 1-1 0 0,1 0 1 0 0,-1-1-1 0 0,1 1 1 0 0,-1 0-1 0 0,0 0 0 0 0,1 0 1 0 0,-1-1-1 0 0,0 1 1 0 0,1 0-1 0 0,-1 0 1 0 0,0 0-1 0 0,0 0 1 0 0,1 0-1 0 0,-1 0 1 0 0,0 1-1 0 0,1-1 0 0 0,-1 0 1 0 0,0 0-1 0 0,1 0 1 0 0,-1 1-1 0 0,0-1 1 0 0,-21 8-3973 0 0,12-7 4814 0 0,10-1-741 0 0,0 0 0 0 0,0 0 24 0 0,0-1-24 0 0,0 1 24 0 0,0 0-24 0 0,0 0 0 0 0,6-10 1290 0 0,12-9-209 0 0,-15 16-1052 0 0,1 0-1 0 0,0 1 0 0 0,0-1 0 0 0,1 1 0 0 0,-1 0 1 0 0,0 0-1 0 0,1 0 0 0 0,-1 0 0 0 0,1 1 1 0 0,0 0-1 0 0,-1 0 0 0 0,1 0 0 0 0,0 1 0 0 0,0 0 1 0 0,-1-1-1 0 0,8 2 0 0 0,-11-1-120 0 0,0 0 0 0 0,0 1 0 0 0,0-1-1 0 0,-1 0 1 0 0,1 0 0 0 0,0 1 0 0 0,-1-1-1 0 0,1 0 1 0 0,0 1 0 0 0,-1-1 0 0 0,1 0 0 0 0,0 1-1 0 0,-1-1 1 0 0,1 1 0 0 0,-1 0 0 0 0,1-1-1 0 0,-1 1 1 0 0,1-1 0 0 0,-1 1 0 0 0,1 0-1 0 0,-1-1 1 0 0,1 1 0 0 0,-1 0 0 0 0,0-1 0 0 0,0 1-1 0 0,1 0 1 0 0,-1 0 0 0 0,0-1 0 0 0,0 1-1 0 0,0 0 1 0 0,0 0 0 0 0,0-1 0 0 0,0 1 0 0 0,0 0-1 0 0,0 0 1 0 0,0 0 0 0 0,0-1 0 0 0,0 1-1 0 0,0 0 1 0 0,-1 0 0 0 0,1-1 0 0 0,0 1 0 0 0,0 0-1 0 0,-2 1 1 0 0,1 2 121 0 0,-1-1 0 0 0,0 1 0 0 0,0 0 0 0 0,0-1 0 0 0,0 1 0 0 0,-6 5 0 0 0,5-5 401 0 0,-1-1 0 0 0,1 0 0 0 0,-1 0-1 0 0,1 0 1 0 0,-1 0 0 0 0,0-1 0 0 0,0 1 0 0 0,-1-1 0 0 0,1 0 0 0 0,0 0-1 0 0,-7 1 1 0 0,8-2-237 0 0,0-1 0 0 0,0 0-1 0 0,0 1 1 0 0,0-1 0 0 0,0 0 0 0 0,0-1-1 0 0,-4 0 1 0 0,-25-11-2188 0 0,31 12 1841 0 0,-2-2-204 0 0,0 1-1 0 0,0 0 1 0 0,1-1-1 0 0,-1 0 1 0 0,0 1 0 0 0,1-1-1 0 0,-1 0 1 0 0,1 0-1 0 0,0-1 1 0 0,-1 1 0 0 0,1 0-1 0 0,0-1 1 0 0,-2-3-1 0 0,6 5 113 0 0,1 0 0 0 0,-1 1 0 0 0,1-1 0 0 0,-1 1-1 0 0,1 0 1 0 0,-1-1 0 0 0,0 1 0 0 0,1 0 0 0 0,-1 1 0 0 0,5 0-1 0 0,-4-1 28 0 0,77 1-827 0 0,-57-3 1023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5.105"/>
    </inkml:context>
    <inkml:brush xml:id="br0">
      <inkml:brushProperty name="width" value="0.2" units="cm"/>
      <inkml:brushProperty name="height" value="0.2" units="cm"/>
      <inkml:brushProperty name="color" value="#E71224"/>
    </inkml:brush>
  </inkml:definitions>
  <inkml:trace contextRef="#ctx0" brushRef="#br0">114 138 7834 0 0,'-3'1'-224'0'0,"-1"-1"1"0"0,1 0 0 0 0,0 0 0 0 0,-1-1 0 0 0,1 1 0 0 0,0-1-1 0 0,-1 1 1 0 0,1-1 0 0 0,0 0 0 0 0,0-1 0 0 0,-1 1-1 0 0,1 0 1 0 0,-3-3 0 0 0,6 3 229 0 0,0 1-1 0 0,0 0 1 0 0,0-1 0 0 0,0 1-1 0 0,0-1 1 0 0,0 1 0 0 0,0-1 0 0 0,0 1-1 0 0,0-1 1 0 0,1 1 0 0 0,-1 0-1 0 0,0-1 1 0 0,0 1 0 0 0,1-1-1 0 0,-1 1 1 0 0,0 0 0 0 0,0-1-1 0 0,1 1 1 0 0,-1 0 0 0 0,0-1 0 0 0,1 1-1 0 0,-1 0 1 0 0,1 0 0 0 0,-1-1-1 0 0,0 1 1 0 0,1 0 0 0 0,0 0-1 0 0,14-11 2828 0 0,-13 10-2668 0 0,21-11 1818 0 0,-12 7-2214 0 0,1 1-1 0 0,0 0 0 0 0,0 1 0 0 0,0 0 0 0 0,0 1 1 0 0,0 0-1 0 0,14 0 0 0 0,-26 2 271 0 0,0 0 0 0 0,1 0 1 0 0,-1 0-1 0 0,1 0 0 0 0,-1 0 0 0 0,0 0 0 0 0,1 0 0 0 0,-1 0 1 0 0,1 0-1 0 0,-1 0 0 0 0,0 0 0 0 0,1 0 0 0 0,-1 0 1 0 0,1 0-1 0 0,-1 0 0 0 0,0 0 0 0 0,1 1 0 0 0,-1-1 0 0 0,0 0 1 0 0,1 0-1 0 0,-1 0 0 0 0,0 1 0 0 0,1-1 0 0 0,-1 0 1 0 0,0 0-1 0 0,1 1 0 0 0,-1-1 0 0 0,0 0 0 0 0,0 0 0 0 0,1 1 1 0 0,-1-1-1 0 0,0 0 0 0 0,0 1 0 0 0,0-1 0 0 0,1 1 0 0 0,-9 11 636 0 0,-19 9-33 0 0,16-15-334 0 0,0-1 0 0 0,0 0 0 0 0,0-1 0 0 0,-1 0 0 0 0,1 0 1 0 0,-25 3-1 0 0,32-6-196 0 0,1-1 0 0 0,-1 0 0 0 0,0 1 0 0 0,1-1 0 0 0,-1 0 0 0 0,0-1 0 0 0,0 1 1 0 0,1-1-1 0 0,-1 0 0 0 0,0 0 0 0 0,1 0 0 0 0,-1 0 0 0 0,1 0 0 0 0,0-1 0 0 0,-1 0 1 0 0,1 0-1 0 0,0 0 0 0 0,0 0 0 0 0,0 0 0 0 0,0 0 0 0 0,0-1 0 0 0,0 0 1 0 0,1 1-1 0 0,0-1 0 0 0,-1 0 0 0 0,-2-6 0 0 0,4 8-113 0 0,1 0 0 0 0,-1-1 0 0 0,1 1-1 0 0,-1-1 1 0 0,1 1 0 0 0,0-1 0 0 0,0 1 0 0 0,0-1 0 0 0,0 0-1 0 0,0 1 1 0 0,0-1 0 0 0,0 1 0 0 0,0-1 0 0 0,0 1 0 0 0,1-1-1 0 0,-1 1 1 0 0,1-1 0 0 0,-1 1 0 0 0,1 0 0 0 0,0-1 0 0 0,-1 1-1 0 0,1-1 1 0 0,0 1 0 0 0,0 0 0 0 0,0 0 0 0 0,0 0 0 0 0,0-1-1 0 0,0 1 1 0 0,0 0 0 0 0,1 0 0 0 0,1-1 0 0 0,6-5-61 0 0,0 1 1 0 0,1 1 0 0 0,14-8-1 0 0,-13 8 42 0 0,-6 2 23 0 0,0 1-1 0 0,0-1 0 0 0,0 1 0 0 0,0 0 1 0 0,1 1-1 0 0,-1-1 0 0 0,1 1 1 0 0,-1 0-1 0 0,1 0 0 0 0,-1 1 0 0 0,1 0 1 0 0,8 0-1 0 0,-9 1-3 0 0,-1 0 0 0 0,1 1 1 0 0,-1-1-1 0 0,1 1 0 0 0,-1 0 0 0 0,0 0 1 0 0,0 1-1 0 0,0-1 0 0 0,0 1 0 0 0,0 0 1 0 0,0 0-1 0 0,-1 0 0 0 0,0 0 0 0 0,1 1 0 0 0,2 3 1 0 0,1 2-271 0 0,0 0 1 0 0,-1 0-1 0 0,0 1 1 0 0,-1-1-1 0 0,0 1 1 0 0,0 0-1 0 0,5 18 1 0 0,-9-26 264 0 0,-1 1-1 0 0,1-1 1 0 0,0 1 0 0 0,-1-1-1 0 0,1 1 1 0 0,-1-1 0 0 0,0 1 0 0 0,0 0-1 0 0,0-1 1 0 0,0 1 0 0 0,-1-1-1 0 0,1 1 1 0 0,-1-1 0 0 0,1 1-1 0 0,-1-1 1 0 0,0 1 0 0 0,0-1-1 0 0,0 1 1 0 0,0-1 0 0 0,0 0-1 0 0,-1 0 1 0 0,1 0 0 0 0,-1 1 0 0 0,1-1-1 0 0,-1-1 1 0 0,0 1 0 0 0,0 0-1 0 0,0 0 1 0 0,0-1 0 0 0,0 1-1 0 0,0-1 1 0 0,0 1 0 0 0,0-1-1 0 0,-1 0 1 0 0,1 0 0 0 0,-1 0-1 0 0,1 0 1 0 0,-3 0 0 0 0,1 0 140 0 0,1-1 1 0 0,-1 0-1 0 0,0 1 0 0 0,1-1 1 0 0,-1-1-1 0 0,1 1 0 0 0,-1 0 1 0 0,0-1-1 0 0,1 0 1 0 0,-1 0-1 0 0,1 0 0 0 0,0 0 1 0 0,-1 0-1 0 0,1-1 1 0 0,0 0-1 0 0,-4-2 0 0 0,-7-3-458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6.076"/>
    </inkml:context>
    <inkml:brush xml:id="br0">
      <inkml:brushProperty name="width" value="0.2" units="cm"/>
      <inkml:brushProperty name="height" value="0.2" units="cm"/>
      <inkml:brushProperty name="color" value="#E71224"/>
    </inkml:brush>
  </inkml:definitions>
  <inkml:trace contextRef="#ctx0" brushRef="#br0">112 215 920 0 0,'1'-23'3776'0'0,"0"17"-3044"0"0,0 0 1 0 0,-1 0 0 0 0,0 0-1 0 0,0 0 1 0 0,0 0-1 0 0,-1 0 1 0 0,0 0-1 0 0,-2-8 1 0 0,2 13-737 0 0,0-1 1 0 0,0 1-1 0 0,0 0 0 0 0,1 0 0 0 0,-1-1 1 0 0,1 1-1 0 0,-1 0 0 0 0,1-1 0 0 0,-1 1 1 0 0,1-1-1 0 0,0 1 0 0 0,0-1 0 0 0,-1 1 1 0 0,1 0-1 0 0,0-1 0 0 0,0 1 0 0 0,1-1 1 0 0,-1 1-1 0 0,0-1 0 0 0,0 1 0 0 0,1-1 1 0 0,-1 1-1 0 0,1 0 0 0 0,-1-1 0 0 0,1 1 1 0 0,0 0-1 0 0,-1-1 0 0 0,1 1 0 0 0,0 0 1 0 0,0 0-1 0 0,0 0 0 0 0,0 0 0 0 0,0 0 1 0 0,0 0-1 0 0,0 0 0 0 0,3-2 0 0 0,-4 6 94 0 0,1 0 0 0 0,-1 0-1 0 0,0 0 1 0 0,0 0 0 0 0,0 0-1 0 0,0 0 1 0 0,0 0 0 0 0,0-1-1 0 0,-1 1 1 0 0,0 0 0 0 0,1 0-1 0 0,-2 3 1 0 0,1-4-32 0 0,-1 0 0 0 0,1 0-1 0 0,0 0 1 0 0,-1 0 0 0 0,1 0 0 0 0,-1-1-1 0 0,0 1 1 0 0,1 0 0 0 0,-1-1 0 0 0,0 1 0 0 0,0-1-1 0 0,0 0 1 0 0,0 0 0 0 0,0 0 0 0 0,-1 1-1 0 0,1-2 1 0 0,0 1 0 0 0,0 0 0 0 0,-1 0 0 0 0,1-1-1 0 0,-1 0 1 0 0,1 1 0 0 0,0-1 0 0 0,-1 0-1 0 0,1 0 1 0 0,-1 0 0 0 0,1 0 0 0 0,0-1 0 0 0,-1 1-1 0 0,1-1 1 0 0,-3 0 0 0 0,3 0 41 0 0,-1 1 0 0 0,1-1 1 0 0,-1 0-1 0 0,1 0 0 0 0,0 0 0 0 0,-1 0 0 0 0,1 0 1 0 0,0 0-1 0 0,0-1 0 0 0,0 1 0 0 0,0-1 1 0 0,0 0-1 0 0,0 1 0 0 0,1-1 0 0 0,-1 0 1 0 0,0 0-1 0 0,1 0 0 0 0,-1 0 0 0 0,1 0 0 0 0,0-1 1 0 0,0 1-1 0 0,0 0 0 0 0,0-1 0 0 0,0 1 1 0 0,0 0-1 0 0,1-1 0 0 0,-1 1 0 0 0,1-1 1 0 0,0 1-1 0 0,-1-4 0 0 0,2 2-102 0 0,0 0 0 0 0,1 0 0 0 0,-1 0 0 0 0,1 0 0 0 0,-1 0 0 0 0,1 0 0 0 0,0 0 0 0 0,0 0 0 0 0,1 1 0 0 0,-1-1 0 0 0,1 1 0 0 0,0 0 0 0 0,0 0 0 0 0,0 0 0 0 0,0 0 0 0 0,1 0 0 0 0,-1 1 1 0 0,1-1-1 0 0,5-2 0 0 0,-5 3-52 0 0,0-1 0 0 0,1 1 0 0 0,-1 0 0 0 0,1 0 0 0 0,-1 0 0 0 0,1 1 0 0 0,0-1 0 0 0,0 1 0 0 0,0 0 0 0 0,0 1 0 0 0,0-1 0 0 0,0 1 0 0 0,0 0 0 0 0,0 0 0 0 0,0 1 0 0 0,7 1 0 0 0,-8 0-52 0 0,-1-1 0 0 0,0 1 0 0 0,1 0 0 0 0,-1 0 0 0 0,0 0 0 0 0,0 1 0 0 0,0-1 1 0 0,-1 1-1 0 0,1 0 0 0 0,0 0 0 0 0,-1 0 0 0 0,0 0 0 0 0,0 0 0 0 0,0 0 0 0 0,0 0 0 0 0,0 1 0 0 0,-1-1 0 0 0,1 1 0 0 0,-1-1 0 0 0,0 1 0 0 0,1 7 0 0 0,-1-6-60 0 0,0 1 0 0 0,0 0 1 0 0,-1 0-1 0 0,1 0 1 0 0,-1 0-1 0 0,-1-1 0 0 0,1 1 1 0 0,-1 0-1 0 0,0 0 1 0 0,-1 0-1 0 0,1-1 0 0 0,-1 1 1 0 0,-3 7-1 0 0,2-8 343 0 0,1-1-1 0 0,-1 1 1 0 0,0-1 0 0 0,-1 0-1 0 0,1 0 1 0 0,-1 0 0 0 0,0 0-1 0 0,0-1 1 0 0,-8 7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7.526"/>
    </inkml:context>
    <inkml:brush xml:id="br0">
      <inkml:brushProperty name="width" value="0.2" units="cm"/>
      <inkml:brushProperty name="height" value="0.2" units="cm"/>
      <inkml:brushProperty name="color" value="#E71224"/>
    </inkml:brush>
  </inkml:definitions>
  <inkml:trace contextRef="#ctx0" brushRef="#br0">167 198 920 0 0,'-35'-24'9683'0'0,"35"23"-9548"0"0,1 0-125 0 0,-1 0 0 0 0,1 0 0 0 0,0-1 0 0 0,0 1 0 0 0,-1 0 0 0 0,1 0 0 0 0,0 0-1 0 0,0 0 1 0 0,0 0 0 0 0,0 0 0 0 0,2-1 0 0 0,52-33 2474 0 0,-17 16-5887 0 0,-38 31 1938 0 0,-7 6 2331 0 0,4-14-596 0 0,0 1-1 0 0,0-1 0 0 0,-1 0 0 0 0,0 0 0 0 0,1-1 1 0 0,-2 1-1 0 0,1-1 0 0 0,0 0 0 0 0,0 0 0 0 0,-1 0 1 0 0,0 0-1 0 0,0-1 0 0 0,1 0 0 0 0,-1 0 0 0 0,-1 0 1 0 0,1-1-1 0 0,0 0 0 0 0,0 0 0 0 0,0 0 0 0 0,-11 0 1 0 0,10-1-78 0 0,0 0 0 0 0,0 0 0 0 0,0-1 0 0 0,0 0 0 0 0,0 0 0 0 0,0 0 0 0 0,0-1 0 0 0,0 0 0 0 0,0 0 0 0 0,1 0 0 0 0,-1-1 0 0 0,1 0 0 0 0,0 0 0 0 0,0 0 0 0 0,0-1 0 0 0,0 0 0 0 0,0 0 0 0 0,-5-6 0 0 0,9 8-187 0 0,-1 1 0 0 0,1-1 0 0 0,0 1 0 0 0,0-1 0 0 0,0 0 0 0 0,0 1 0 0 0,0-1 0 0 0,0 0 0 0 0,0 0 0 0 0,1 0 0 0 0,-1 0 0 0 0,1 0-1 0 0,-1 0 1 0 0,1 0 0 0 0,0 0 0 0 0,0 0 0 0 0,-1 0 0 0 0,2 0 0 0 0,-1 0 0 0 0,0 0 0 0 0,1-3 0 0 0,0 1-67 0 0,1 1 1 0 0,-1 0-1 0 0,1 0 1 0 0,0-1-1 0 0,0 1 1 0 0,0 1-1 0 0,0-1 1 0 0,1 0-1 0 0,-1 0 1 0 0,1 1-1 0 0,3-3 1 0 0,8-5-391 0 0,0 1 1 0 0,0 0 0 0 0,1 1 0 0 0,16-6-1 0 0,-27 12 427 0 0,1 0 0 0 0,-1 0 0 0 0,1 1 0 0 0,0-1 0 0 0,-1 1 0 0 0,1 0 0 0 0,0 0 0 0 0,0 1 0 0 0,0 0 0 0 0,0 0 0 0 0,0 0 0 0 0,0 0 0 0 0,-1 1 0 0 0,1-1 0 0 0,0 1 0 0 0,8 3 0 0 0,-7-1 59 0 0,-1 0 1 0 0,0 0-1 0 0,0 0 0 0 0,0 1 1 0 0,0 0-1 0 0,0 0 1 0 0,-1 0-1 0 0,0 0 0 0 0,0 1 1 0 0,0 0-1 0 0,0 0 1 0 0,-1 0-1 0 0,4 6 0 0 0,-1 0-149 0 0,-1 0-1 0 0,1 1 1 0 0,4 15-1 0 0,-9-23 138 0 0,0 0 1 0 0,0 0-1 0 0,0 0 0 0 0,0 0 0 0 0,-1 1 0 0 0,1-1 0 0 0,-1 0 0 0 0,0 0 1 0 0,-1 0-1 0 0,1 0 0 0 0,-1 1 0 0 0,1-1 0 0 0,-3 6 0 0 0,2-8 9 0 0,0-1-1 0 0,0 0 0 0 0,0 0 0 0 0,0 0 0 0 0,-1 1 0 0 0,1-1 1 0 0,0 0-1 0 0,0 0 0 0 0,-1-1 0 0 0,1 1 0 0 0,-1 0 1 0 0,1 0-1 0 0,0-1 0 0 0,-1 1 0 0 0,0-1 0 0 0,1 1 0 0 0,-1-1 1 0 0,1 0-1 0 0,-1 1 0 0 0,1-1 0 0 0,-1 0 0 0 0,0 0 1 0 0,1 0-1 0 0,-1 0 0 0 0,-2-1 0 0 0,-46-8 808 0 0,41 7-704 0 0,-16-3 179 0 0,1-1 1 0 0,-1-1-1 0 0,2-1 1 0 0,-1-1 0 0 0,1-1-1 0 0,-37-23 1 0 0,91 38-5546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59.351"/>
    </inkml:context>
    <inkml:brush xml:id="br0">
      <inkml:brushProperty name="width" value="0.05292" units="cm"/>
      <inkml:brushProperty name="height" value="0.05292" units="cm"/>
      <inkml:brushProperty name="color" value="#00A0D7"/>
    </inkml:brush>
  </inkml:definitions>
  <inkml:trace contextRef="#ctx0" brushRef="#br0">1 9770 3681 0 0,'8'-14'-64'0'0,"1"0"-1"0"0,0 1 1 0 0,16-17 0 0 0,6-9-22 0 0,4-12-1030 0 0,19-25 1224 0 0,-17 31-429 0 0,189-213 1931 0 0,-186 213-1505 0 0,-1-2-1 0 0,-2-1 0 0 0,-3-2 0 0 0,-1-1 1 0 0,29-65-1 0 0,-45 85 559 0 0,2 0 0 0 0,36-44-1 0 0,52-48 1493 0 0,-47 58-1850 0 0,43-67-552 0 0,1 1-951 0 0,37-8-30 0 0,-47 50 1244 0 0,-46 37 329 0 0,74-108-1 0 0,-50 61-428 0 0,121-196-117 0 0,-151 231 1188 0 0,59-70 1 0 0,-14 21-225 0 0,-41 44-835 0 0,45-95 0 0 0,-54 93-4 0 0,69-100 0 0 0,-63 110-70 0 0,-2-2 0 0 0,39-81 0 0 0,92-165 2692 0 0,-126 241-2374 0 0,2 3 0 0 0,76-79 0 0 0,-61 73-957 0 0,-3-3-1 0 0,-4-2 0 0 0,51-90 0 0 0,-79 124 940 0 0,1 1 0 0 0,2 1 0 0 0,2 2 0 0 0,66-60 0 0 0,-26 25-98 0 0,116-150 0 0 0,-139 160-111 0 0,107-104 445 0 0,-102 114 152 0 0,61-78 1 0 0,-101 111-483 0 0,112-141 584 0 0,-88 116-368 0 0,66-58 0 0 0,-31 38-199 0 0,94-106 0 0 0,165-193-149 0 0,-168 189 219 0 0,-54 55-533 0 0,20-9-15 0 0,98-112-432 0 0,-162 160 1449 0 0,4 3 1 0 0,132-113-1 0 0,-97 101-557 0 0,6-6-237 0 0,138-91-1 0 0,51-32-139 0 0,-258 187 336 0 0,78-45 1 0 0,53-13-5 0 0,5-4-499 0 0,6-1 193 0 0,50-32-7 0 0,-157 82 654 0 0,2 4 1 0 0,115-43-1 0 0,-28 17-377 0 0,76-28-458 0 0,-138 57-66 0 0,167-87 0 0 0,-196 87 1218 0 0,98-36 0 0 0,86-14 764 0 0,-248 84-1431 0 0,138-42 15 0 0,104-36-754 0 0,-82 21 100 0 0,131-50 587 0 0,-181 63 1080 0 0,193-50 1 0 0,119 5-674 0 0,-343 74-360 0 0,131-20 0 0 0,-74 22 0 0 0,227-15 0 0 0,-216 32 26 0 0,238 1 76 0 0,-116-8-102 0 0,-138 1 0 0 0,181-18 0 0 0,-250 17 0 0 0,258-7 882 0 0,-238 13-725 0 0,181 7 29 0 0,-106 0-260 0 0,167 15-490 0 0,-149-7 198 0 0,-36-4 174 0 0,284 59 0 0 0,-221-11 232 0 0,-63-16-16 0 0,-128-36-32 0 0,315 77-224 0 0,7 5 210 0 0,-265-62 126 0 0,-1 4 1 0 0,90 49-1 0 0,-112-46 19 0 0,87 70-1 0 0,-18-12 20 0 0,-5-4 73 0 0,-3 5 0 0 0,168 170 0 0 0,-226-196-149 0 0,73 103 0 0 0,-80-96-145 0 0,80 83 0 0 0,39 6-187 0 0,-11-13 78 0 0,152 166-20 0 0,-188-182 240 0 0,26 26 392 0 0,50 14 93 0 0,-7-6-482 0 0,141 113-35 0 0,-237-198 28 0 0,130 136 1 0 0,-38-32 32 0 0,7 10 46 0 0,50 43-102 0 0,-230-225 1 0 0,73 62 334 0 0,103 113 1 0 0,-113-103-127 0 0,108 90 0 0 0,-123-114-214 0 0,-2 3 0 0 0,57 77 0 0 0,-28-32 0 0 0,102 90 0 0 0,-29-34 0 0 0,-56-47-36 0 0,94 104-56 0 0,-62-38 460 0 0,-8-8 735 0 0,-28-58-503 0 0,-36-44-452 0 0,89 130 1 0 0,306 440-149 0 0,-314-426 78 0 0,-98-138 427 0 0,108 130 0 0 0,-54-89-133 0 0,92 140 0 0 0,-97-122-517 0 0,1 0-734 0 0,-39-43-4505 0 0,-32-46-842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2:52.183"/>
    </inkml:context>
    <inkml:brush xml:id="br0">
      <inkml:brushProperty name="width" value="0.2" units="cm"/>
      <inkml:brushProperty name="height" value="0.2" units="cm"/>
      <inkml:brushProperty name="color" value="#AB008B"/>
    </inkml:brush>
  </inkml:definitions>
  <inkml:trace contextRef="#ctx0" brushRef="#br0">0 10450 456 0 0,'175'-63'624'0'0,"-168"61"-418"0"0,0 1 0 0 0,-1 0-1 0 0,2 1 1 0 0,-1 0 0 0 0,0 0 0 0 0,0 0-1 0 0,10 2 1 0 0,-10 0 19 0 0,0-1 1 0 0,0-1 0 0 0,0 0-1 0 0,0 0 1 0 0,0 0-1 0 0,1-1 1 0 0,12-2-1 0 0,0-6-97 0 0,1 0 1 0 0,-1 0-1 0 0,-1-2 0 0 0,0-1 0 0 0,28-22 0 0 0,-26 18-57 0 0,1 1 0 0 0,0 2 0 0 0,37-18 0 0 0,8 7 1284 0 0,102-22 1 0 0,11-2-1283 0 0,119-45 2485 0 0,-257 79-2131 0 0,0-1 0 0 0,59-32 0 0 0,72-55 532 0 0,-75 33-702 0 0,126-113-1 0 0,-148 116-203 0 0,32-16 95 0 0,-74 58-70 0 0,-1-1-1 0 0,0-2 1 0 0,-3-1 0 0 0,32-36-1 0 0,159-171 212 0 0,-59 68-650 0 0,-132 129 577 0 0,-2-1 0 0 0,-1-2 1 0 0,37-77-1 0 0,-10 17 891 0 0,142-286-2546 0 0,-184 361 1408 0 0,45-102 44 0 0,47-153 0 0 0,-85 220-68 0 0,1-4 76 0 0,16-94 0 0 0,-2-17 245 0 0,0 1-520 0 0,-23 107 873 0 0,-4-1-1 0 0,-4-133 1 0 0,-7 143-685 0 0,2 0 0 0 0,2-1-1 0 0,15-97 1 0 0,61-162 1042 0 0,-55 244-1124 0 0,22-154 1 0 0,-20-81 1257 0 0,-3 57 753 0 0,0-52-1639 0 0,-26-68 156 0 0,-31 3 438 0 0,30 305-810 0 0,3-1 0 0 0,3 1 1 0 0,7-68-1 0 0,-1 14-12 0 0,-6 38-43 0 0,4-53 41 0 0,-1 118 12 0 0,0 1 1 0 0,2-1 0 0 0,-1 1-1 0 0,2 0 1 0 0,0 0 0 0 0,12-23-1 0 0,24-31-207 0 0,3 1 0 0 0,85-97-1 0 0,-57 75 79 0 0,80-116 101 0 0,-54 71 372 0 0,-82 114-311 0 0,1 1 0 0 0,2 0 0 0 0,0 1-1 0 0,1 1 1 0 0,0 1 0 0 0,29-18 0 0 0,-17 15-282 0 0,2 2 1 0 0,0 1 0 0 0,65-21 0 0 0,-98 37 231 0 0,84-27-217 0 0,-2-3 0 0 0,107-58 0 0 0,-103 39 508 0 0,3 4 0 0 0,105-40 0 0 0,-121 58-280 0 0,41-13 0 0 0,-96 35 0 0 0,0 1 0 0 0,0 1 0 0 0,1 1 0 0 0,20 0 0 0 0,-22 3-14 0 0,-1 1 0 0 0,1 1 0 0 0,0 0 0 0 0,-1 2 0 0 0,0 0 0 0 0,1 1 0 0 0,20 9 0 0 0,115 61-440 0 0,-77-34 228 0 0,-16-14 226 0 0,-31-14-25 0 0,-1 0 1 0 0,32 22 0 0 0,-55-31 29 0 0,0 0-1 0 0,0 1 1 0 0,0 0 0 0 0,0 0-1 0 0,-1 0 1 0 0,0 0 0 0 0,0 1-1 0 0,0 0 1 0 0,-1 0 0 0 0,1 0-1 0 0,-2 0 1 0 0,5 13 0 0 0,0 7 84 0 0,0 0 0 0 0,2 29 1 0 0,-6-28-86 0 0,9 28 0 0 0,-8-38 38 0 0,-1-1 0 0 0,-1 1 0 0 0,0-1 0 0 0,-1 1-1 0 0,-1 0 1 0 0,-1-1 0 0 0,-3 23 0 0 0,2-22 111 0 0,2-9-119 0 0,-1-1 0 0 0,2 1-1 0 0,-1 0 1 0 0,1 0 0 0 0,0-1-1 0 0,0 1 1 0 0,6 13 0 0 0,0-3-40 0 0,16 30 0 0 0,-12-29-35 0 0,10 29 0 0 0,-18-38 39 0 0,-1 1 0 0 0,0 0 0 0 0,0 0 0 0 0,-2 0 0 0 0,1 0 0 0 0,-1 0 0 0 0,-1 0 0 0 0,-3 19 0 0 0,2-18 14 0 0,1-1-1 0 0,0 1 1 0 0,1-1-1 0 0,0 1 1 0 0,1 0 0 0 0,0-1-1 0 0,5 22 1 0 0,34 66-87 0 0,-26-69 72 0 0,-2 0-1 0 0,11 41 1 0 0,-15-28 8 0 0,-2 1 0 0 0,-2 0 0 0 0,-2 55 1 0 0,-2-48 33 0 0,14 100-1 0 0,39 182-201 0 0,-50-314 150 0 0,6 29-89 0 0,3-1 1 0 0,25 67-1 0 0,-16-53-121 0 0,-13-36 200 0 0,-2 0-1 0 0,-1 0 1 0 0,3 34-1 0 0,-3 79 63 0 0,-5-96-128 0 0,2 1 1 0 0,1-1-1 0 0,18 82 1 0 0,25 11-280 0 0,-30-95 372 0 0,-2 1 0 0 0,-2 0 1 0 0,13 77-1 0 0,-20 1-151 0 0,-6-88 87 0 0,2 0 0 0 0,2 0-1 0 0,0-1 1 0 0,14 54 0 0 0,14 10-15 0 0,22 75-106 0 0,-51-156 181 0 0,1 1 0 0 0,-2-1 0 0 0,0 1 0 0 0,-1 0 0 0 0,0 0 0 0 0,-3 15 0 0 0,-18 82 0 0 0,13-82 0 0 0,2 1 0 0 0,1 0 0 0 0,-1 37 0 0 0,10-21 234 0 0,-3-36-144 0 0,0 0 0 0 0,-1-1 0 0 0,1 1 0 0 0,-2 0 0 0 0,1 0 0 0 0,-5 17 0 0 0,-2-5-94 0 0,-17 38 0 0 0,-1-2-267 0 0,23-46 250 0 0,-1-1 0 0 0,1 1 0 0 0,1 0 0 0 0,0 0-1 0 0,1 1 1 0 0,0-1 0 0 0,1 0 0 0 0,4 19-1 0 0,-2-10-11 0 0,0 37 0 0 0,-5 35-67 0 0,18 167 0 0 0,-13-242 88 0 0,1 1-1 0 0,1-1 1 0 0,8 18-1 0 0,-8-23-8 0 0,0 0 1 0 0,-1 0-1 0 0,-1 0 0 0 0,0 0 0 0 0,-1 1 1 0 0,0-1-1 0 0,-1 19 0 0 0,-2 2 22 0 0,1-1-1 0 0,1 1 1 0 0,10 51 0 0 0,-10-77 37 0 0,-1 1 1 0 0,0-1 0 0 0,0 0 0 0 0,-1 1 0 0 0,0-1 0 0 0,0 0-1 0 0,-1 1 1 0 0,0-1 0 0 0,-4 11 0 0 0,-7 31 133 0 0,12-48-164 0 0,1 0 1 0 0,0 0-1 0 0,0-1 1 0 0,0 1-1 0 0,0 0 1 0 0,0-1-1 0 0,0 1 1 0 0,0 0-1 0 0,1 0 0 0 0,-1-1 1 0 0,1 1-1 0 0,-1 0 1 0 0,1-1-1 0 0,-1 1 1 0 0,1-1-1 0 0,0 1 1 0 0,0-1-1 0 0,0 1 1 0 0,1 1-1 0 0,1 0 48 0 0,0 0 1 0 0,1-1-1 0 0,-1 1 0 0 0,1-1 1 0 0,7 4-1 0 0,-9-5-39 0 0,1 0 1 0 0,-1 0-1 0 0,0 0 1 0 0,0 1-1 0 0,1-1 1 0 0,-1 0-1 0 0,0 1 0 0 0,0-1 1 0 0,0 1-1 0 0,-1 0 1 0 0,1 0-1 0 0,0 0 1 0 0,-1 0-1 0 0,1 0 0 0 0,-1 0 1 0 0,1 0-1 0 0,-1 0 1 0 0,0 1-1 0 0,0-1 1 0 0,0 1-1 0 0,0-1 0 0 0,-1 0 1 0 0,1 4-1 0 0,-2 41-28 0 0,0-41 9 0 0,0 1 0 0 0,1-1-1 0 0,0 1 1 0 0,0-1-1 0 0,0 1 1 0 0,1-1-1 0 0,0 1 1 0 0,0-1 0 0 0,1 1-1 0 0,0-1 1 0 0,4 9-1 0 0,63 123 3 0 0,-65-133-22 0 0,-1 0-1 0 0,1-1 1 0 0,0 1 0 0 0,1-1-1 0 0,-1 0 1 0 0,0 0 0 0 0,1 0-1 0 0,0 0 1 0 0,0-1-1 0 0,0 0 1 0 0,1 0 0 0 0,-1-1-1 0 0,12 5 1 0 0,18 10-73 0 0,-30-13 87 0 0,1 1 0 0 0,-1 0 0 0 0,0 0 0 0 0,0 1 0 0 0,-1-1 0 0 0,0 1 1 0 0,0 0-1 0 0,5 9 0 0 0,5 8 90 0 0,69 80-152 0 0,-17-25-55 0 0,-5 2-347 0 0,3-3 0 0 0,4-3 0 0 0,112 94 0 0 0,-97-91 268 0 0,-62-56 197 0 0,0-1 0 0 0,2 0-1 0 0,0-2 1 0 0,38 24 0 0 0,-43-32 85 0 0,51 25 187 0 0,-61-32-145 0 0,0 0 0 0 0,0 0 0 0 0,1-1 0 0 0,-1 0 0 0 0,0-1 0 0 0,17 2 0 0 0,-18-4-77 0 0,0 0 0 0 0,-1 0 0 0 0,1 0 0 0 0,-1-1 0 0 0,8-3 0 0 0,26-5-100 0 0,-25 9 166 0 0,139-18 63 0 0,-121 13-224 0 0,-1-1 0 0 0,53-19 0 0 0,-39 11-37 0 0,-32 11 30 0 0,-1 0 0 0 0,0 0 0 0 0,22-12 0 0 0,46-36-441 0 0,-40 36 422 0 0,-32 14-17 0 0,0-1-1 0 0,-1 0 0 0 0,13-7 1 0 0,-18 8 50 0 0,5-2-89 0 0,-1 0 0 0 0,0 0-1 0 0,1 0 1 0 0,0 1-1 0 0,0 0 1 0 0,0 0 0 0 0,0 1-1 0 0,11-2 1 0 0,-12 2 127 0 0,0 0 1 0 0,0 0-1 0 0,0-1 0 0 0,-1 0 1 0 0,1-1-1 0 0,-1 1 0 0 0,0-1 0 0 0,0-1 1 0 0,0 1-1 0 0,0-1 0 0 0,-1 0 1 0 0,1 0-1 0 0,4-7 0 0 0,-8 10-46 0 0,68-73-1323 0 0,-22 24-1494 0 0,-35 36 3485 0 0,-1 0-1 0 0,0-1 0 0 0,-1 0 1 0 0,-1-1-1 0 0,-1 0 1 0 0,9-22-1 0 0,-13 22-428 0 0,0 1 0 0 0,-1 0-1 0 0,-1-1 1 0 0,0 0 0 0 0,-2 0 0 0 0,0 0 0 0 0,0 0-1 0 0,-2 0 1 0 0,-3-22 0 0 0,2 4-77 0 0,2 0 0 0 0,2 0-1 0 0,6-37 1 0 0,2-35-744 0 0,-11 68 869 0 0,-1 1-1 0 0,-8-40 1 0 0,4 36 76 0 0,-1-53-1 0 0,9 58-238 0 0,2-1 0 0 0,13-57-1 0 0,-9 55 20 0 0,-1 0-1 0 0,1-41 0 0 0,-8-66 924 0 0,7-110-449 0 0,-6 243-563 0 0,31-451 774 0 0,-5 144-406 0 0,-4 104-137 0 0,-14 137-171 0 0,4 0 0 0 0,28-99 0 0 0,-28 127 58 0 0,-5 15-138 0 0,2-1 0 0 0,1 2 0 0 0,2-1 0 0 0,30-57 0 0 0,127-246-94 0 0,-155 308 150 0 0,106-198 367 0 0,-18 86-463 0 0,-61 88 57 0 0,-14 18 11 0 0,1 1 0 0 0,2 1 1 0 0,67-59-1 0 0,-62 65 40 0 0,108-81-178 0 0,-125 99 224 0 0,1 0 1 0 0,0 1-1 0 0,0 1 0 0 0,1 1 1 0 0,43-12-1 0 0,-52 18-188 0 0,-1 1 0 0 0,1 1 0 0 0,0 0 0 0 0,-1 0-1 0 0,1 1 1 0 0,0 0 0 0 0,0 1 0 0 0,-1 1 0 0 0,1 0 0 0 0,-1 0 0 0 0,13 5 0 0 0,-15-4 71 0 0,-1 1 1 0 0,1 0 0 0 0,-1 0 0 0 0,0 1-1 0 0,0 0 1 0 0,-1 0 0 0 0,1 1 0 0 0,-1 0-1 0 0,0 0 1 0 0,-1 1 0 0 0,0 0 0 0 0,0 0-1 0 0,0 1 1 0 0,6 11 0 0 0,-3-5 6 0 0,1 0 1 0 0,0 0 0 0 0,1-1 0 0 0,0 0-1 0 0,1-1 1 0 0,25 20 0 0 0,-1-6-36 0 0,54 29 0 0 0,-69-42 46 0 0,-2 0 1 0 0,1 2-1 0 0,19 19 1 0 0,50 56-26 0 0,-59-58 18 0 0,6 8-172 0 0,-2 1-1 0 0,32 52 0 0 0,48 95 154 0 0,-77-124 41 0 0,-19-38 74 0 0,1 0 1 0 0,42 45-1 0 0,-40-50-131 0 0,-2 1 0 0 0,0 1 0 0 0,27 46 0 0 0,-36-49 66 0 0,-2 0 0 0 0,-1 0 1 0 0,-1 1-1 0 0,0 0 0 0 0,3 27 1 0 0,12 46 49 0 0,8-17-70 0 0,-22-60 0 0 0,0 0 0 0 0,-1 0 0 0 0,0 0 0 0 0,-2 1 0 0 0,0 0 0 0 0,-1-1 0 0 0,2 37 0 0 0,-11-2 31 0 0,4-37-6 0 0,0 0 0 0 0,1 0 0 0 0,1 18 0 0 0,0-28-21 0 0,1-1 0 0 0,-1 0 0 0 0,1 1 0 0 0,0-1-1 0 0,1 0 1 0 0,-1 0 0 0 0,1 0 0 0 0,0 0-1 0 0,0 0 1 0 0,0 0 0 0 0,0 0 0 0 0,1-1-1 0 0,-1 1 1 0 0,1-1 0 0 0,4 5 0 0 0,24 18 53 0 0,-25-22-35 0 0,0 1 0 0 0,0-1 0 0 0,0 1 0 0 0,-1 1-1 0 0,0-1 1 0 0,0 1 0 0 0,0 0 0 0 0,-1 0 0 0 0,0 0 0 0 0,0 1 0 0 0,6 13 0 0 0,11 40 36 0 0,53 104 0 0 0,-45-113-111 0 0,50 99-66 0 0,-69-127 15 0 0,-1 1 0 0 0,-1 0 0 0 0,-1 1 0 0 0,6 42 0 0 0,-8-30-2 0 0,12 47 1 0 0,-13-70 106 0 0,1 1-1 0 0,1-1 1 0 0,0 0 0 0 0,0-1 0 0 0,2 0-1 0 0,9 15 1 0 0,9 8 94 0 0,23 44 0 0 0,-42-66-88 0 0,0 0 0 0 0,-1 0 0 0 0,-1 0 0 0 0,0 1 0 0 0,-1 0 0 0 0,-1 0 0 0 0,2 16 0 0 0,-1 31 0 0 0,-3-38 20 0 0,1 0-1 0 0,0 0 0 0 0,2-1 1 0 0,1 1-1 0 0,0-1 0 0 0,14 33 1 0 0,-3-17-27 0 0,-1 1 0 0 0,-2 1 0 0 0,12 63 0 0 0,-20-81-42 0 0,15 38 0 0 0,-11-36 4 0 0,6 29 0 0 0,-10-35-35 0 0,0-1 0 0 0,1 1 0 0 0,1-1 1 0 0,1 0-1 0 0,1-1 0 0 0,0 0 0 0 0,1 0 1 0 0,1-1-1 0 0,1 0 0 0 0,17 18 0 0 0,-18-21 5 0 0,51 55 72 0 0,-53-60-16 0 0,0 0 0 0 0,1-1 1 0 0,0 0-1 0 0,0 0 0 0 0,19 8 1 0 0,47 26 163 0 0,-61-31-135 0 0,1-1 0 0 0,1 0 0 0 0,-1-1 0 0 0,1-1 0 0 0,33 9 0 0 0,-1-6-238 0 0,82 20 32 0 0,-78-17 203 0 0,1-3 1 0 0,90 7 0 0 0,-94-16-106 0 0,-1-3 0 0 0,64-10 0 0 0,8 0 6 0 0,8 11 115 0 0,-31 2-24 0 0,110-24-400 0 0,-94 8 249 0 0,-86 13 166 0 0,1 2-1 0 0,39 4 0 0 0,-47-2-33 0 0,-1 0-1 0 0,1-1 1 0 0,0-2-1 0 0,0 0 1 0 0,0-1 0 0 0,23-6-1 0 0,22-11-330 0 0,93-23-852 0 0,-128 35 1353 0 0,0-3-1 0 0,0 0 1 0 0,-2-2 0 0 0,46-25-1 0 0,-70 35-147 0 0,59-27 1082 0 0,28-14-1270 0 0,-72 28 308 0 0,0 0-1 0 0,-1-1 0 0 0,-1 0 1 0 0,-1-2-1 0 0,16-20 1 0 0,-22 26-200 0 0,0-2 72 0 0,0-1 0 0 0,-1 0 1 0 0,0 0-1 0 0,9-22 0 0 0,25-69 1048 0 0,-29 65-1222 0 0,29-53 0 0 0,-29 64 375 0 0,-1-1 1 0 0,-1 0 0 0 0,13-53 0 0 0,15-104 327 0 0,-24 102-691 0 0,12-90 888 0 0,12-47-610 0 0,45-85 267 0 0,-40 124-792 0 0,-4 12 776 0 0,-21 95-352 0 0,-3 0 0 0 0,-4-1 0 0 0,8-120 0 0 0,22-171-247 0 0,43-121 265 0 0,-63 353 142 0 0,76-326-78 0 0,-51 292-264 0 0,32-210-1 0 0,-57 254 119 0 0,6 1 1 0 0,6 1-1 0 0,50-119 0 0 0,53-191 217 0 0,-76 219-339 0 0,87-413 290 0 0,-147 611-120 0 0,80-397 140 0 0,-64 340-123 0 0,4 1 0 0 0,3 1 0 0 0,51-100 0 0 0,-26 74-18 0 0,85-146 197 0 0,-77 145-495 0 0,-37 60 391 0 0,1 1 0 0 0,34-41 0 0 0,-48 70-71 0 0,0 1 0 0 0,0 1 0 0 0,1 0 0 0 0,-1 0 0 0 0,21-11-1 0 0,59-26-85 0 0,-35 19-63 0 0,-25 11 215 0 0,4-2-158 0 0,0 0-1 0 0,49-15 0 0 0,-67 29 95 0 0,1 0-1 0 0,-1 2 1 0 0,1-1 0 0 0,-1 2-1 0 0,31 3 1 0 0,24-2-340 0 0,-57-1 321 0 0,0 0 0 0 0,1 1 1 0 0,-1 0-1 0 0,0 1 0 0 0,0 1 1 0 0,0 0-1 0 0,0 0 1 0 0,-1 2-1 0 0,1-1 0 0 0,12 8 1 0 0,21 8-18 0 0,-25-12 16 0 0,39 23 0 0 0,-53-27-4 0 0,0 1 1 0 0,0 0-1 0 0,-1 1 1 0 0,0-1 0 0 0,0 1-1 0 0,0 1 1 0 0,-1-1 0 0 0,0 1-1 0 0,5 8 1 0 0,25 47-57 0 0,37 58 239 0 0,-41-73-147 0 0,-2 1 0 0 0,-1 2 0 0 0,-4 1 0 0 0,-1 1 0 0 0,29 100 0 0 0,-35-102-153 0 0,2-1 0 0 0,3 0 0 0 0,45 74 0 0 0,-37-73 84 0 0,-3 2-1 0 0,33 90 1 0 0,11 38-22 0 0,-9-23 536 0 0,94 320-1216 0 0,-142-432 772 0 0,62 231 153 0 0,-68-239-219 0 0,-3 1 1 0 0,-1 0-1 0 0,-1 0 1 0 0,-2 0-1 0 0,-7 56 1 0 0,-56 316 588 0 0,-74 214-675 0 0,86-426 481 0 0,41-155-574 0 0,2-1-1 0 0,2 1 1 0 0,0 67-1 0 0,18 130 10 0 0,-1-3-258 0 0,-3-56 333 0 0,-5-149 114 0 0,1-1-1 0 0,2 1 1 0 0,18 48-1 0 0,-5-22 30 0 0,-3 1 0 0 0,-2 1 0 0 0,-3 1 0 0 0,-2 0 1 0 0,-3 0-1 0 0,-2 79 0 0 0,-3-89-57 0 0,2-1-1 0 0,15 76 1 0 0,35 95-25 0 0,-28-124 550 0 0,5 39-992 0 0,-16-65 570 0 0,2 0 0 0 0,36 89 0 0 0,6-32-112 0 0,24 59-384 0 0,36 114 151 0 0,-15-87 114 0 0,-6-10 36 0 0,-36-78 159 0 0,116 178-1 0 0,-145-257 105 0 0,1 0 0 0 0,3-3-1 0 0,1-1 1 0 0,2-1 0 0 0,2-3 0 0 0,1-1-1 0 0,3-2 1 0 0,66 40 0 0 0,-64-47-132 0 0,63 38 0 0 0,150 67 0 0 0,-173-96-36 0 0,179 51 0 0 0,-142-57 76 0 0,125 49 0 0 0,-207-66-72 0 0,0-2 1 0 0,72 12-1 0 0,92-1 91 0 0,-86-12 185 0 0,130 8 15 0 0,-25-3-174 0 0,172 18-367 0 0,221 27-654 0 0,-568-55-692 0 0,-5-1-5528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3:54.510"/>
    </inkml:context>
    <inkml:brush xml:id="br0">
      <inkml:brushProperty name="width" value="0.06174" units="cm"/>
      <inkml:brushProperty name="height" value="0.06174" units="cm"/>
      <inkml:brushProperty name="color" value="#849398"/>
    </inkml:brush>
  </inkml:definitions>
  <inkml:trace contextRef="#ctx0" brushRef="#br0">0 4597 1376 0 0,'27'3'1323'0'0,"-9"-3"-1309"0"0,-1-1-1 0 0,0 0 0 0 0,0-1 0 0 0,24-7 1 0 0,-26 5-12 0 0,1 1 1 0 0,-1 0 0 0 0,1 1-1 0 0,-1 1 1 0 0,1 0 0 0 0,16 2 0 0 0,33 8 317 0 0,65-1 1 0 0,-108-8-232 0 0,0-1 1 0 0,0-1-1 0 0,0-1 0 0 0,-1-1 1 0 0,1-1-1 0 0,37-14 1 0 0,26-17-194 0 0,-38 15 9 0 0,0 2 1 0 0,60-15 0 0 0,-67 24 664 0 0,0 0-1 0 0,-2-3 1 0 0,1-1 0 0 0,37-21-1 0 0,-30 9-228 0 0,-14 7 298 0 0,36-14 0 0 0,-59 29-553 0 0,0 0 0 0 0,1 1 0 0 0,-1 1 0 0 0,1-1 0 0 0,0 1 0 0 0,0 1 0 0 0,0 0 0 0 0,17 1 0 0 0,19 7-35 0 0,-39-6-38 0 0,0 1 1 0 0,0-1 0 0 0,0 0 0 0 0,0 0 0 0 0,0-1-1 0 0,0 0 1 0 0,0 0 0 0 0,1-1 0 0 0,-1 1-1 0 0,0-2 1 0 0,11-2 0 0 0,-9 0 178 0 0,1 1 0 0 0,-1 1 0 0 0,0 0 0 0 0,1 0 0 0 0,-1 1 0 0 0,1 0 0 0 0,12 0 0 0 0,-7 1-72 0 0,0-1 0 0 0,0 0 0 0 0,-1-2 0 0 0,1 1 0 0 0,-1-2 0 0 0,15-5 0 0 0,111-27 489 0 0,-1 1-1 0 0,-115 25-506 0 0,0-1 0 0 0,40-24 1 0 0,-45 24-22 0 0,0 0 0 0 0,0 1 0 0 0,1 1 0 0 0,40-12 0 0 0,-55 19-82 0 0,26-4-38 0 0,0-3-1 0 0,0 0 0 0 0,30-15 0 0 0,-37 14 64 0 0,-15 6 149 0 0,0 0 0 0 0,0 0-1 0 0,0-1 1 0 0,0 0-1 0 0,-1 0 1 0 0,9-8-1 0 0,-3-4-47 0 0,-1 0 1 0 0,0-1-1 0 0,-2-1 0 0 0,0 0 1 0 0,14-34-1 0 0,-24 52-125 0 0,58-143 792 0 0,-20 37-684 0 0,-30 79 112 0 0,0 1 1 0 0,2 0-1 0 0,1 0 0 0 0,1 1 1 0 0,17-25-1 0 0,-21 38-356 0 0,13-16-98 0 0,-2-1-1 0 0,-1 0 0 0 0,22-51 0 0 0,37-75 1611 0 0,-68 138-1386 0 0,0-1-1 0 0,-1 0 0 0 0,-1 0 0 0 0,-1-1 0 0 0,-1 0 1 0 0,-1 0-1 0 0,0 0 0 0 0,2-37 0 0 0,-5 25 148 0 0,-2 1 0 0 0,-1-1-1 0 0,-1 1 1 0 0,-2 0 0 0 0,-11-45-1 0 0,13 67-42 0 0,0 0 0 0 0,1 0 0 0 0,1 0-1 0 0,-1 0 1 0 0,1 0 0 0 0,0 0 0 0 0,3-12-1 0 0,17-64-69 0 0,-14 64-54 0 0,-1-1-1 0 0,5-41 1 0 0,-6 30 60 0 0,0 0 0 0 0,3 1 1 0 0,0 0-1 0 0,21-54 0 0 0,-25 74-2 0 0,0-1 0 0 0,-1 1 0 0 0,0-1 0 0 0,0 0 0 0 0,-2 0 0 0 0,1 0 0 0 0,-2 0 0 0 0,-3-23 1 0 0,3 29 50 0 0,-1-41 124 0 0,5-62 0 0 0,-1 64-204 0 0,-1 6 65 0 0,1 0 0 0 0,3 0 0 0 0,1 0 0 0 0,14-49 0 0 0,-12 57 4 0 0,-1 0-1 0 0,-2-1 1 0 0,2-36-1 0 0,-5 37 4 0 0,1 1-1 0 0,2-1 1 0 0,13-43-1 0 0,-1 31-54 0 0,1 0 0 0 0,2 2 0 0 0,28-43 0 0 0,-30 61-48 0 0,0 1-1 0 0,2 0 0 0 0,1 2 0 0 0,31-26 1 0 0,-36 33 43 0 0,-12 9 2 0 0,1 1 0 0 0,0 0 0 0 0,0 0 0 0 0,0 1-1 0 0,0-1 1 0 0,0 1 0 0 0,1 0 0 0 0,0 1 0 0 0,-1-1-1 0 0,1 1 1 0 0,0 0 0 0 0,0 0 0 0 0,0 1 0 0 0,8-1-1 0 0,12-2-47 0 0,-20 2 33 0 0,0 1 1 0 0,1 0-1 0 0,-1 0 1 0 0,11 1 0 0 0,-15 0 11 0 0,0 1 0 0 0,0-1 1 0 0,1 1-1 0 0,-1-1 1 0 0,0 1-1 0 0,0 0 0 0 0,0-1 1 0 0,0 1-1 0 0,0 0 0 0 0,-1 1 1 0 0,1-1-1 0 0,0 0 1 0 0,0 0-1 0 0,-1 1 0 0 0,1-1 1 0 0,-1 1-1 0 0,3 2 1 0 0,1 1-27 0 0,-1-1 0 0 0,1 0 1 0 0,0 0-1 0 0,0 0 0 0 0,0-1 1 0 0,0 1-1 0 0,1-1 1 0 0,0-1-1 0 0,-1 1 0 0 0,1-1 1 0 0,0 0-1 0 0,0 0 0 0 0,0-1 1 0 0,9 1-1 0 0,-9-1 23 0 0,-1 0 1 0 0,1 0-1 0 0,0 1 0 0 0,0 0 0 0 0,0 0 0 0 0,-1 0 0 0 0,1 1 0 0 0,-1-1 1 0 0,0 1-1 0 0,1 1 0 0 0,-1-1 0 0 0,-1 1 0 0 0,1-1 0 0 0,0 2 0 0 0,5 5 1 0 0,-8-6-7 0 0,1-1 1 0 0,-1 0 0 0 0,1 0 0 0 0,0-1 0 0 0,0 1 0 0 0,0-1-1 0 0,1 1 1 0 0,-1-1 0 0 0,1 0 0 0 0,-1 0 0 0 0,7 2 0 0 0,1 0 13 0 0,0-1 0 0 0,19 3-1 0 0,-22-5-8 0 0,1 0-1 0 0,-1 1 0 0 0,0 0 1 0 0,0 1-1 0 0,0 0 0 0 0,12 6 1 0 0,-17-8-1 0 0,-1 0 0 0 0,-1 1 1 0 0,1 0-1 0 0,0-1 0 0 0,0 1 1 0 0,-1 0-1 0 0,1 0 0 0 0,0 0 1 0 0,-1 0-1 0 0,0 0 0 0 0,0 0 1 0 0,1 0-1 0 0,-1 0 0 0 0,-1 1 1 0 0,2 2-1 0 0,5 40 166 0 0,-7-38-151 0 0,1 0 0 0 0,0-1 1 0 0,0 1-1 0 0,0-1 0 0 0,1 1 0 0 0,3 7 0 0 0,1-2-22 0 0,-1 1 1 0 0,0 0-1 0 0,-1 0 0 0 0,-1 1 1 0 0,0-1-1 0 0,-1 1 0 0 0,2 25 1 0 0,-4-33 2 0 0,1-1 1 0 0,0 1-1 0 0,0 0 1 0 0,0-1 0 0 0,1 1-1 0 0,-1-1 1 0 0,1 0 0 0 0,1 1-1 0 0,-1-1 1 0 0,5 6-1 0 0,1 0 8 0 0,1 0 0 0 0,17 18 0 0 0,-4-7-5 0 0,-13-11-4 0 0,-1 2 0 0 0,0-1 0 0 0,0 1 0 0 0,-2 0 0 0 0,1 1 0 0 0,-2-1 0 0 0,0 1 0 0 0,0 1 0 0 0,2 16 0 0 0,2 0 0 0 0,-6-24-5 0 0,0-1 0 0 0,0 0 0 0 0,0 1 1 0 0,1-1-1 0 0,0-1 0 0 0,1 1 0 0 0,-1 0 0 0 0,1-1 1 0 0,0 0-1 0 0,0 0 0 0 0,0-1 0 0 0,1 1 1 0 0,8 4-1 0 0,15 14-8 0 0,-25-19 12 0 0,-1 0 1 0 0,0 0 0 0 0,0 0 0 0 0,0 1 0 0 0,-1-1-1 0 0,1 1 1 0 0,-1-1 0 0 0,0 1 0 0 0,-1 0-1 0 0,1 0 1 0 0,1 8 0 0 0,-1-6 2 0 0,-1-1 0 0 0,1 0 0 0 0,1 1 0 0 0,-1-1-1 0 0,1 0 1 0 0,4 6 0 0 0,-4-8 0 0 0,-1 1 0 0 0,0-1 0 0 0,0 1-1 0 0,0-1 1 0 0,0 1 0 0 0,-1 0 0 0 0,1 0-1 0 0,-1 0 1 0 0,-1-1 0 0 0,1 1 0 0 0,-1 0-1 0 0,0 0 1 0 0,0 0 0 0 0,0 0 0 0 0,-2 10 0 0 0,-2 5 5 0 0,-2 1 0 0 0,-10 29 0 0 0,2-11-3 0 0,10-22-8 0 0,0-1 0 0 0,1 0 0 0 0,1 1 0 0 0,0 0 0 0 0,2 0 0 0 0,0-1 0 0 0,0 1 0 0 0,2 0 0 0 0,0 0 0 0 0,1-1 0 0 0,0 0 0 0 0,2 1 0 0 0,0-1 0 0 0,0-1 0 0 0,12 22 0 0 0,-6-13-19 0 0,0 0 1 0 0,8 29 0 0 0,-10-27-33 0 0,17 35 0 0 0,-22-52 46 0 0,1 0 1 0 0,1 0-1 0 0,0-1 1 0 0,0 0-1 0 0,1 0 0 0 0,-1-1 1 0 0,14 11-1 0 0,-5-6-28 0 0,0 1 1 0 0,-1 1-1 0 0,-1 0 0 0 0,0 0 0 0 0,-1 2 1 0 0,-1-1-1 0 0,0 2 0 0 0,14 27 0 0 0,11 15 38 0 0,-25-43-2 0 0,16 33 0 0 0,-24-43 3 0 0,0 0 0 0 0,-1 1 0 0 0,0 0-1 0 0,0-1 1 0 0,-1 1 0 0 0,0 0-1 0 0,0 0 1 0 0,-1 0 0 0 0,0 8-1 0 0,-4 16 205 0 0,3-27-205 0 0,0 0 0 0 0,0 0 0 0 0,1 0-1 0 0,-1 0 1 0 0,1 0 0 0 0,0 0-1 0 0,0 0 1 0 0,1 1 0 0 0,-1-1 0 0 0,1 0-1 0 0,0 0 1 0 0,0 0 0 0 0,0 0-1 0 0,0-1 1 0 0,3 6 0 0 0,-2-7-12 0 0,-1 1 1 0 0,1 0-1 0 0,-1-1 1 0 0,0 1-1 0 0,0 0 1 0 0,0 0-1 0 0,0 0 1 0 0,0 0-1 0 0,-1 0 1 0 0,1 0-1 0 0,-1 0 1 0 0,0 0-1 0 0,1 0 1 0 0,-2 0-1 0 0,1 0 1 0 0,0 0-1 0 0,-1 0 1 0 0,1 0-1 0 0,-1 0 1 0 0,0 0-1 0 0,0 0 1 0 0,0 0-1 0 0,0-1 0 0 0,0 1 1 0 0,-3 3-1 0 0,2 0-48 0 0,1 1 0 0 0,-1 0 0 0 0,1 0-1 0 0,0 0 1 0 0,1 0 0 0 0,0 0-1 0 0,0-1 1 0 0,0 1 0 0 0,1 0 0 0 0,0 0-1 0 0,0 0 1 0 0,4 12 0 0 0,-2-15 46 0 0,0 1 0 0 0,1-1 0 0 0,-1 0 0 0 0,1 0 0 0 0,0 0 1 0 0,0 0-1 0 0,7 4 0 0 0,17 19-282 0 0,-24-22 269 0 0,-1 0 1 0 0,1-1-1 0 0,0 1 0 0 0,0-1 0 0 0,1 0 1 0 0,-1 0-1 0 0,1 0 0 0 0,0-1 0 0 0,0 1 1 0 0,0-1-1 0 0,1 0 0 0 0,-1-1 0 0 0,1 1 1 0 0,-1-1-1 0 0,1 0 0 0 0,0-1 0 0 0,0 1 0 0 0,0-1 1 0 0,0-1-1 0 0,0 1 0 0 0,12-1 0 0 0,-2 1-55 0 0,1 1 0 0 0,0 0 0 0 0,-1 2 0 0 0,1 0 0 0 0,-1 0-1 0 0,0 2 1 0 0,28 13 0 0 0,-42-19 72 0 0,-1 0 0 0 0,1 1-1 0 0,-1-1 1 0 0,1 0 0 0 0,0 0 0 0 0,-1 0-1 0 0,1-1 1 0 0,-1 1 0 0 0,1 0 0 0 0,-1-1-1 0 0,1 1 1 0 0,-1-1 0 0 0,1 1 0 0 0,-1-1 0 0 0,1 0-1 0 0,-1 1 1 0 0,0-1 0 0 0,1 0 0 0 0,-1 0-1 0 0,0 0 1 0 0,0 0 0 0 0,2-2 0 0 0,29-31-331 0 0,-22 23 266 0 0,7-8-355 0 0,-9 10 383 0 0,0 0 1 0 0,1 0 0 0 0,0 1 0 0 0,0 0 0 0 0,14-8 0 0 0,-22 15 61 0 0,0 0-1 0 0,1-1 0 0 0,-1 1 0 0 0,0 0 0 0 0,0-1 0 0 0,1 1 1 0 0,-1-1-1 0 0,0 1 0 0 0,-1-1 0 0 0,1 0 0 0 0,0 1 0 0 0,0-1 1 0 0,-1 0-1 0 0,1 1 0 0 0,-1-1 0 0 0,1-3 0 0 0,3-37 161 0 0,-2 14-223 0 0,4 3 181 0 0,-2 0 1 0 0,0 0-1 0 0,-2 0 1 0 0,-1 0-1 0 0,-1 0 0 0 0,-1 0 1 0 0,-6-35-1 0 0,1 23 219 0 0,-2-65 0 0 0,8 75-625 0 0,-2 1 0 0 0,0-1 0 0 0,-2 1 0 0 0,-1 0 0 0 0,-10-31 0 0 0,10 44 378 0 0,2-1 0 0 0,-1 0 0 0 0,1 0-1 0 0,1 0 1 0 0,0-27 0 0 0,9-68 135 0 0,-3 74-347 0 0,-1-56 1 0 0,-5 75 164 0 0,0 0 1 0 0,-1 0 0 0 0,-8-24 0 0 0,6 25 187 0 0,1-1 1 0 0,0 1 0 0 0,-2-29-1 0 0,5 7-74 0 0,2 11 37 0 0,-2 0 0 0 0,-1-1 0 0 0,-2 1 0 0 0,0 0 0 0 0,-1 1 0 0 0,-13-36 0 0 0,14 51-218 0 0,0-1 0 0 0,1 1 0 0 0,0-1 0 0 0,1 0-1 0 0,0 1 1 0 0,1-1 0 0 0,0 0 0 0 0,0 0 0 0 0,2 0-1 0 0,-1 0 1 0 0,1 0 0 0 0,1 0 0 0 0,0 0 0 0 0,5-17 0 0 0,-5 24 11 0 0,-1-1 0 0 0,0 0 0 0 0,0 0 0 0 0,0 1 0 0 0,0-1 0 0 0,-1 0 0 0 0,0 0 0 0 0,0 0 0 0 0,0 0 0 0 0,0 0 0 0 0,-1 1 0 0 0,-2-9 1 0 0,3 10 12 0 0,-1-1 0 0 0,1 1 0 0 0,0 0 1 0 0,0 0-1 0 0,0-1 0 0 0,1 1 1 0 0,-1 0-1 0 0,1 0 0 0 0,0-1 0 0 0,0 1 1 0 0,0 0-1 0 0,3-6 0 0 0,23-39-166 0 0,-9 17 219 0 0,-10 18-14 0 0,1 0 0 0 0,0 0 0 0 0,0 1-1 0 0,16-16 1 0 0,-14 17-6 0 0,-1 0 0 0 0,0-1-1 0 0,-1 0 1 0 0,11-19 0 0 0,-19 26-27 0 0,1 1 0 0 0,0 0 0 0 0,0 1-1 0 0,1-1 1 0 0,-1 0 0 0 0,1 1 0 0 0,0-1 0 0 0,0 1 0 0 0,0 0 0 0 0,0 0 0 0 0,0 0 0 0 0,7-4 0 0 0,14-10-97 0 0,-16 11 35 0 0,0 0-1 0 0,0 0 1 0 0,1 1-1 0 0,12-6 1 0 0,-19 11 38 0 0,0 0 0 0 0,0 0 0 0 0,0 0 1 0 0,0 1-1 0 0,0-1 0 0 0,0 0 1 0 0,0 1-1 0 0,0 0 0 0 0,0-1 0 0 0,0 1 1 0 0,0 0-1 0 0,0 0 0 0 0,0 0 0 0 0,0 0 1 0 0,-1 0-1 0 0,1 0 0 0 0,0 1 0 0 0,-1-1 1 0 0,3 3-1 0 0,17 10-30 0 0,21-3-32 0 0,-33-9 29 0 0,0 0 1 0 0,-1 0 0 0 0,1 1 0 0 0,13 6-1 0 0,-19-7 30 0 0,-1 0-1 0 0,1 0 0 0 0,0 0 0 0 0,-1 0 1 0 0,1 1-1 0 0,-1-1 0 0 0,1 1 0 0 0,-1-1 1 0 0,0 1-1 0 0,0 0 0 0 0,0 0 0 0 0,-1 0 1 0 0,1 0-1 0 0,-1 0 0 0 0,1 0 0 0 0,0 4 1 0 0,10 40-14 0 0,-10-34 10 0 0,1-1 0 0 0,1 1 1 0 0,0-1-1 0 0,1 0 0 0 0,0 0 0 0 0,7 12 1 0 0,-7-16 4 0 0,-1-1 0 0 0,0 1 0 0 0,0 0 0 0 0,-1 1 0 0 0,0-1 1 0 0,-1 0-1 0 0,3 17 0 0 0,-3-2-33 0 0,-1 38 0 0 0,-1-35 11 0 0,1-15 0 0 0,1 0 0 0 0,0 1 1 0 0,0-1-1 0 0,1 0 0 0 0,0 0 0 0 0,1 0 1 0 0,8 14-1 0 0,-7-13 5 0 0,0 1-1 0 0,0-1 1 0 0,-1 1 0 0 0,0 0 0 0 0,1 17-1 0 0,-3-11 22 0 0,0-1 0 0 0,9 32 0 0 0,-9-42 0 0 0,1 0 0 0 0,1 0 0 0 0,-1-1 0 0 0,1 1 0 0 0,0-1 0 0 0,1 0 0 0 0,0 0 0 0 0,9 10 0 0 0,-9-12 0 0 0,3 4 0 0 0,1 0 0 0 0,-1 0 0 0 0,-1 1 0 0 0,0 0 0 0 0,0 1 0 0 0,8 17 0 0 0,-14-26 3 0 0,-1 0-1 0 0,1 0 0 0 0,0 0 0 0 0,0 0 0 0 0,0 0 0 0 0,0 0 1 0 0,1 0-1 0 0,-1 0 0 0 0,0 0 0 0 0,1-1 0 0 0,0 1 0 0 0,-1-1 0 0 0,1 1 1 0 0,0-1-1 0 0,-1 0 0 0 0,1 1 0 0 0,0-1 0 0 0,0 0 0 0 0,0 0 0 0 0,0 0 1 0 0,0-1-1 0 0,1 1 0 0 0,-1 0 0 0 0,0-1 0 0 0,0 1 0 0 0,0-1 0 0 0,4 0 1 0 0,11 4 15 0 0,-17-4-15 0 0,1 0 0 0 0,-1 0 0 0 0,0 0-1 0 0,0 0 1 0 0,0 0 0 0 0,1 0 0 0 0,-1 1 0 0 0,0-1 0 0 0,0 0-1 0 0,0 0 1 0 0,1 0 0 0 0,-1 0 0 0 0,0 0 0 0 0,0 1-1 0 0,0-1 1 0 0,0 0 0 0 0,1 0 0 0 0,-1 0 0 0 0,0 0 0 0 0,0 1-1 0 0,0-1 1 0 0,0 0 0 0 0,0 0 0 0 0,0 1 0 0 0,0-1 0 0 0,0 0-1 0 0,1 0 1 0 0,-1 0 0 0 0,0 1 0 0 0,0-1 0 0 0,0 0-1 0 0,0 0 1 0 0,0 1 0 0 0,0-1 0 0 0,0 0 0 0 0,0 0 0 0 0,-1 1-1 0 0,1-1 1 0 0,0 0 0 0 0,0 0 0 0 0,0 0 0 0 0,0 1 0 0 0,-9 12 235 0 0,8-11-210 0 0,-1 0 0 0 0,0-1 0 0 0,0 1 0 0 0,1 0 1 0 0,-1-1-1 0 0,0 0 0 0 0,0 1 0 0 0,0-1 0 0 0,0 0 0 0 0,-1 0 0 0 0,-3 1 1 0 0,8-2-23 0 0,-1 0 0 0 0,1 0 1 0 0,-1 0-1 0 0,1-1 1 0 0,-1 1-1 0 0,1-1 0 0 0,-1 1 1 0 0,1-1-1 0 0,-1 1 1 0 0,0-1-1 0 0,1 0 0 0 0,-1 0 1 0 0,0 1-1 0 0,0-1 1 0 0,1 0-1 0 0,-1 0 0 0 0,0 0 1 0 0,0 0-1 0 0,1-3 1 0 0,1 1 11 0 0,-1-1 0 0 0,0 1 1 0 0,0-1-1 0 0,0 0 0 0 0,-1 0 0 0 0,3-7 1 0 0,0-1-30 0 0,1 0 1 0 0,0 1-1 0 0,0 0 0 0 0,2 0 1 0 0,12-18-1 0 0,-12 20 2 0 0,-1-1 0 0 0,0 0 0 0 0,0 0 0 0 0,-1 0 0 0 0,0-1 0 0 0,0 1 0 0 0,2-14 0 0 0,17-166-68 0 0,-8 48-6 0 0,-15 134 76 0 0,3-11-12 0 0,-2 1 1 0 0,0 0 0 0 0,-1-1 0 0 0,0 1 0 0 0,-5-34 0 0 0,4 39 62 0 0,0 0 0 0 0,0-1 0 0 0,2 1 1 0 0,-1 0-1 0 0,2 0 0 0 0,-1 0 0 0 0,8-19 1 0 0,-1 0-43 0 0,-5 16-55 0 0,1-1 3 0 0,4-33-1 0 0,-9 45 72 0 0,0-1 0 0 0,0 0-1 0 0,0 0 1 0 0,-1 0 0 0 0,1 0 0 0 0,-1 1 0 0 0,-1-1 0 0 0,1 0 0 0 0,-4-8-1 0 0,4 12-5 0 0,0 0-1 0 0,1 0 0 0 0,-1-1 0 0 0,1 1 1 0 0,0-1-1 0 0,0 1 0 0 0,-1 0 0 0 0,2-1 0 0 0,-1 1 1 0 0,0 0-1 0 0,0-1 0 0 0,1 1 0 0 0,-1 0 1 0 0,1-1-1 0 0,0 1 0 0 0,-1 0 0 0 0,1 0 0 0 0,3-4 1 0 0,1-4-32 0 0,1 1 0 0 0,14-16 0 0 0,-2 2-87 0 0,-17 27 85 0 0,0 1-1 0 0,0 0 0 0 0,0-1 0 0 0,0 0 0 0 0,1 1 0 0 0,3 6 1 0 0,-2-8-16 0 0,1 0 0 0 0,0 0 0 0 0,0-1 1 0 0,0 1-1 0 0,0-1 0 0 0,0 0 0 0 0,0 0 1 0 0,1-1-1 0 0,-1 1 0 0 0,0-1 1 0 0,1 0-1 0 0,0 0 0 0 0,7 1 0 0 0,-5-1 17 0 0,-1 0 0 0 0,1 1 1 0 0,-1-1-1 0 0,1 2 0 0 0,7 2 0 0 0,-12-3 17 0 0,1-1 0 0 0,-1 1 1 0 0,0-1-1 0 0,0 1 0 0 0,0 0 0 0 0,0 0 0 0 0,-1 0 1 0 0,1 0-1 0 0,0 0 0 0 0,-1 0 0 0 0,0 0 0 0 0,1 0 1 0 0,-1 1-1 0 0,0-1 0 0 0,0 0 0 0 0,0 1 0 0 0,1 4 1 0 0,4 41 42 0 0,-6-41-23 0 0,1 0-1 0 0,0 1 0 0 0,0-1 1 0 0,0 0-1 0 0,4 11 1 0 0,-3-15-16 0 0,-1-1 1 0 0,1 1 0 0 0,0 0-1 0 0,-1-1 1 0 0,1 1 0 0 0,0-1-1 0 0,0 1 1 0 0,1-1 0 0 0,-1 0 0 0 0,1 0-1 0 0,-1 0 1 0 0,1 0 0 0 0,-1 0-1 0 0,1-1 1 0 0,0 1 0 0 0,5 1 0 0 0,4 1 8 0 0,1-1 1 0 0,-1 0-1 0 0,1 0 1 0 0,0-2 0 0 0,0 0-1 0 0,0 0 1 0 0,13-2-1 0 0,-15 1 4 0 0,0-1-1 0 0,0 2 1 0 0,0-1 0 0 0,0 2-1 0 0,0-1 1 0 0,0 1-1 0 0,0 1 1 0 0,-1 0-1 0 0,20 9 1 0 0,-27-11-10 0 0,1 1 0 0 0,-1 0 0 0 0,0 1 0 0 0,0-1 0 0 0,-1 0 1 0 0,1 1-1 0 0,0 0 0 0 0,-1-1 0 0 0,1 1 0 0 0,-1 0 0 0 0,0 0 0 0 0,0 1 0 0 0,0-1 1 0 0,-1 0-1 0 0,1 1 0 0 0,-1-1 0 0 0,0 1 0 0 0,0-1 0 0 0,0 1 0 0 0,1 7 1 0 0,-2 2 33 0 0,0 0 0 0 0,0 0 0 0 0,-1 0 0 0 0,-6 22 0 0 0,5-24-23 0 0,0 0 0 0 0,0 0 0 0 0,1 0 0 0 0,1 1 0 0 0,0-1 0 0 0,2 16 0 0 0,-1-21-26 0 0,1 0 0 0 0,0 0 0 0 0,1 0 0 0 0,-1 0 0 0 0,1 0 0 0 0,1-1 0 0 0,-1 1 0 0 0,1-1 0 0 0,0 0 0 0 0,6 6 0 0 0,7 6-80 0 0,29 22 0 0 0,9 9 6 0 0,-31-20 91 0 0,-2 0 0 0 0,0 2 0 0 0,-2 0 0 0 0,-1 1 0 0 0,-2 1 0 0 0,-1 1 0 0 0,20 58 0 0 0,-26-67-8 0 0,1-1 0 0 0,2 0 0 0 0,26 37 0 0 0,-20-32 0 0 0,-15-21 0 0 0,0 0 1 0 0,0 0-1 0 0,-1 1 1 0 0,0 0-1 0 0,0-1 1 0 0,-1 1-1 0 0,0 0 1 0 0,0 0-1 0 0,-1 1 1 0 0,0-1-1 0 0,0 0 1 0 0,-1 12-1 0 0,-3 8-34 0 0,0 0-1 0 0,-10 36 0 0 0,7-34 31 0 0,-5 44 0 0 0,8-48-1 0 0,-1 0-1 0 0,-1 0 1 0 0,-14 39-1 0 0,4-14 508 0 0,12-39-453 0 0,1 1 0 0 0,1-1 0 0 0,-1 1 0 0 0,2-1 0 0 0,0 1 0 0 0,2 15-1 0 0,16 75-232 0 0,-11-67-4 0 0,-5-30 192 0 0,-1 0 0 0 0,1 0 1 0 0,0 0-1 0 0,1 0 0 0 0,-1-1 1 0 0,1 1-1 0 0,0 0 0 0 0,1-1 1 0 0,-1 0-1 0 0,1 0 0 0 0,0 0 1 0 0,0 0-1 0 0,1-1 0 0 0,5 5 1 0 0,5 2-32 0 0,0-1 0 0 0,1 0 0 0 0,24 10 0 0 0,18 12 19 0 0,-47-27-23 0 0,0 0 0 0 0,0 0 0 0 0,0-1-1 0 0,1 0 1 0 0,-1-1 0 0 0,1 0 0 0 0,0-1 0 0 0,0 0-1 0 0,0-1 1 0 0,13-1 0 0 0,17-1-127 0 0,63-9 0 0 0,-12-5 504 0 0,53-5-88 0 0,-94 11-646 0 0,-44 7 431 0 0,0 0 0 0 0,1 0-1 0 0,-1 1 1 0 0,1 0 0 0 0,0 0 0 0 0,-1 1 0 0 0,1 0 0 0 0,15 3 0 0 0,1 8-372 0 0,-23-10 338 0 0,0 1-1 0 0,0-1 0 0 0,0 0 0 0 0,1 0 1 0 0,-1 0-1 0 0,0 0 0 0 0,1-1 0 0 0,-1 1 1 0 0,1 0-1 0 0,-1-1 0 0 0,0 0 0 0 0,1 0 1 0 0,-1 1-1 0 0,1-2 0 0 0,-1 1 0 0 0,1 0 0 0 0,3-1 1 0 0,32-10 128 0 0,-32 8-163 0 0,0 1 0 0 0,0 0 0 0 0,0 0 0 0 0,0 1 0 0 0,0-1 0 0 0,1 1 0 0 0,-1 1 0 0 0,0-1 0 0 0,1 1 0 0 0,-1 0-1 0 0,0 1 1 0 0,12 2 0 0 0,-8-2 37 0 0,0 0 0 0 0,0 0-1 0 0,0-1 1 0 0,0 0 0 0 0,0-1-1 0 0,0 0 1 0 0,19-5-1 0 0,12-1-15 0 0,-30 7 20 0 0,-1-1 0 0 0,1 2-1 0 0,-1-1 1 0 0,1 2-1 0 0,-1-1 1 0 0,15 5 0 0 0,-9-2 21 0 0,1-2-45 0 0,0 0-1 0 0,0-2 1 0 0,0 0-1 0 0,0 0 1 0 0,0-2-1 0 0,0 0 1 0 0,18-5-1 0 0,-10 2 108 0 0,1 2 0 0 0,26-1-1 0 0,-9 2-113 0 0,0-3 0 0 0,45-9 0 0 0,-45 6-162 0 0,-1 2-1 0 0,48-1 0 0 0,-65 5 254 0 0,0-1 0 0 0,-1-1 0 0 0,0-1 0 0 0,0-1 0 0 0,0-1 0 0 0,33-15-1 0 0,7-1 24 0 0,-20-10 142 0 0,-1 13-349 0 0,58-37 0 0 0,-90 50 166 0 0,-4 2-55 0 0,1 0 0 0 0,-1 1 0 0 0,1-1 1 0 0,0 1-1 0 0,0 1 0 0 0,0 0 1 0 0,0 0-1 0 0,0 0 0 0 0,1 1 0 0 0,9-1 1 0 0,-13 2-22 0 0,0-1 0 0 0,0 1 1 0 0,-1-1-1 0 0,1 0 0 0 0,-1 0 1 0 0,1 0-1 0 0,-1-1 0 0 0,0 0 1 0 0,0 0-1 0 0,0 0 0 0 0,0 0 1 0 0,-1 0-1 0 0,1-1 0 0 0,3-4 1 0 0,-4 3 30 0 0,0-1 0 0 0,-1 1 0 0 0,1-1 0 0 0,-1 0 0 0 0,0 0 0 0 0,-1 0 0 0 0,1 1 0 0 0,-1-2 0 0 0,0 1-1 0 0,-1 0 1 0 0,1 0 0 0 0,-2-9 0 0 0,6-32 49 0 0,5-6-179 0 0,-2 0 1 0 0,0-63 0 0 0,-5 97 50 0 0,0-1 0 0 0,9-33 0 0 0,-6 33 30 0 0,-1 0 0 0 0,2-28 0 0 0,-5 18 70 0 0,-1 5 67 0 0,1 0-1 0 0,1 1 1 0 0,1-1 0 0 0,1 1 0 0 0,13-38 0 0 0,-8 38-226 0 0,-3 8 72 0 0,0-1 1 0 0,-2 0-1 0 0,1 0 0 0 0,-2 0 0 0 0,4-30 1 0 0,-5 24 241 0 0,7-30 0 0 0,-5 32-161 0 0,3-31-1 0 0,-8 44-2 0 0,1 0 0 0 0,-2 0 0 0 0,1 0-1 0 0,-1 0 1 0 0,0 1 0 0 0,-1-1 0 0 0,-4-13 0 0 0,1 3 6 0 0,2 0 0 0 0,-1-1 0 0 0,2 1 1 0 0,1-1-1 0 0,0 1 0 0 0,3-34 0 0 0,-1-26 283 0 0,-5 15-217 0 0,-1-83 160 0 0,13-63 80 0 0,-7 190-365 0 0,1 0 0 0 0,0 1 1 0 0,2-1-1 0 0,0 1 0 0 0,0 0 0 0 0,2 0 1 0 0,0 1-1 0 0,2 0 0 0 0,-1 0 0 0 0,2 0 0 0 0,17-24 1 0 0,-15 29 23 0 0,1 0 0 0 0,1 1 0 0 0,-1 1 0 0 0,1 0 0 0 0,20-11 0 0 0,4-3-52 0 0,-32 20 69 0 0,1 0 1 0 0,0 1-1 0 0,0 0 1 0 0,1 0-1 0 0,-1 0 1 0 0,0 1-1 0 0,1 0 1 0 0,-1 0-1 0 0,1 1 1 0 0,0 0-1 0 0,0 0 1 0 0,13 0-1 0 0,-16 1-9 0 0,0 1 0 0 0,1-1-1 0 0,-1 1 1 0 0,0 0 0 0 0,0 0-1 0 0,0 0 1 0 0,0 1 0 0 0,0-1-1 0 0,0 1 1 0 0,0 0 0 0 0,0 0 0 0 0,0 1-1 0 0,-1-1 1 0 0,1 1 0 0 0,-1-1-1 0 0,0 1 1 0 0,0 0 0 0 0,0 1-1 0 0,0-1 1 0 0,0 0 0 0 0,2 5-1 0 0,-1-2-3 0 0,1 0-1 0 0,-1-1 0 0 0,1 0 0 0 0,0 0 0 0 0,0-1 1 0 0,1 1-1 0 0,-1-1 0 0 0,1 0 0 0 0,0-1 0 0 0,0 1 1 0 0,0-1-1 0 0,1 0 0 0 0,-1-1 0 0 0,12 3 1 0 0,-7-1 0 0 0,-1 0 1 0 0,0 0-1 0 0,0 1 1 0 0,17 11-1 0 0,-24-12-2 0 0,1-1 1 0 0,-1 1-1 0 0,0 0 0 0 0,1 0 1 0 0,-2 0-1 0 0,1 0 1 0 0,0 1-1 0 0,-1-1 0 0 0,0 1 1 0 0,0 0-1 0 0,0-1 0 0 0,-1 1 1 0 0,2 10-1 0 0,-2-10 0 0 0,0 0 1 0 0,1 1-1 0 0,-1-1 0 0 0,1 0 1 0 0,0 0-1 0 0,1 0 0 0 0,-1 0 0 0 0,1-1 1 0 0,0 1-1 0 0,0-1 0 0 0,0 1 1 0 0,6 4-1 0 0,41 24 7 0 0,-40-27-6 0 0,0 0 0 0 0,0 0 0 0 0,-1 1-1 0 0,12 11 1 0 0,-18-15 8 0 0,-1 0-1 0 0,0 0 1 0 0,1 0-1 0 0,-1 0 0 0 0,0 0 1 0 0,-1 1-1 0 0,1-1 1 0 0,0 0-1 0 0,-1 1 0 0 0,0 0 1 0 0,0-1-1 0 0,0 1 1 0 0,0 0-1 0 0,-1-1 0 0 0,1 1 1 0 0,-1 0-1 0 0,0 6 1 0 0,-5 38-11 0 0,3-37 8 0 0,0 1 0 0 0,1-1-1 0 0,1 0 1 0 0,0 1 0 0 0,0-1 0 0 0,1 0 0 0 0,1 1 0 0 0,3 11 0 0 0,1 2-5 0 0,0 2 1 0 0,-2-1-1 0 0,-1 1 1 0 0,-1-1-1 0 0,-1 1 1 0 0,-6 51-1 0 0,5-72 5 0 0,-1 1 0 0 0,1-1-1 0 0,1 0 1 0 0,-1 1 0 0 0,1-1-1 0 0,0 0 1 0 0,0 0 0 0 0,1 1-1 0 0,0-1 1 0 0,0 0 0 0 0,0 0-1 0 0,1-1 1 0 0,0 1 0 0 0,0 0-1 0 0,1-1 1 0 0,-1 0 0 0 0,1 0-1 0 0,0 0 1 0 0,6 5 0 0 0,-7-6-5 0 0,-1 1 0 0 0,0-1 0 0 0,1 0 0 0 0,-2 1 0 0 0,1-1 0 0 0,0 1 1 0 0,-1 0-1 0 0,0 0 0 0 0,0-1 0 0 0,0 1 0 0 0,-1 0 0 0 0,1 0 0 0 0,-1 0 0 0 0,-1 0 1 0 0,0 7-1 0 0,1-5 3 0 0,-1 0 0 0 0,1-1 0 0 0,1 1 0 0 0,0 0 0 0 0,0 0 0 0 0,0 0 0 0 0,4 12 0 0 0,0-11-1 0 0,-1 1 0 0 0,1-1 0 0 0,1-1 0 0 0,0 1 0 0 0,9 9 0 0 0,-9-11-9 0 0,0 0 0 0 0,-1 1 0 0 0,0-1 0 0 0,0 1 0 0 0,-1 0 0 0 0,0 0 0 0 0,6 13 0 0 0,-5-9 24 0 0,1 10-30 0 0,-7-36 560 0 0,0 12-524 0 0,1 0-1 0 0,0 0 1 0 0,-1 0 0 0 0,1 0 0 0 0,1 0-1 0 0,-1 0 1 0 0,0-1 0 0 0,1 1 0 0 0,-1 0-1 0 0,1 0 1 0 0,0 0 0 0 0,0 0-1 0 0,2-3 1 0 0,7-13-55 0 0,1 0-129 0 0,0-1-1 0 0,-2 0 1 0 0,14-41-1 0 0,-16 38 164 0 0,2 0 0 0 0,16-31 0 0 0,7-18 0 0 0,-31 68 3 0 0,-1-1 0 0 0,1 1 0 0 0,-1 0 0 0 0,0 0 0 0 0,0 0 0 0 0,0-1 0 0 0,-1 1 0 0 0,0 0 0 0 0,1 0 0 0 0,-2 0 0 0 0,1 0 0 0 0,0 0 0 0 0,-3-5 0 0 0,1 2 2 0 0,1 0-1 0 0,0 1 0 0 0,1-1 1 0 0,-1-7-1 0 0,2 6-13 0 0,0 0-1 0 0,1 0 1 0 0,1 0 0 0 0,-1 0-1 0 0,1 0 1 0 0,0 1 0 0 0,1-1-1 0 0,0 1 1 0 0,6-11 0 0 0,-4 8-1 0 0,-1 0 0 0 0,0-1 1 0 0,5-18-1 0 0,-8 16 23 0 0,0 1 0 0 0,-1-1 1 0 0,0 1-1 0 0,-3-19 0 0 0,2 21-14 0 0,0 0 0 0 0,0-1 1 0 0,1 1-1 0 0,0 0 0 0 0,1 0 1 0 0,0 0-1 0 0,5-20 0 0 0,13-15-38 0 0,-14 35 134 0 0,-1 1 1 0 0,0-1 0 0 0,0 0 0 0 0,-1 0-1 0 0,0 0 1 0 0,1-13 0 0 0,-2 8-141 0 0,1 0 0 0 0,1 0 1 0 0,0 0-1 0 0,1 1 0 0 0,9-18 1 0 0,4-13-23 0 0,-6 1 67 0 0,-10 37 0 0 0,-1-1 0 0 0,2 0 0 0 0,-1 1 0 0 0,1-1 0 0 0,0 1 0 0 0,0 0 0 0 0,1 0 0 0 0,-1 0 0 0 0,2 0 0 0 0,7-9 0 0 0,-7 10 0 0 0,98-99 71 0 0,-80 84-49 0 0,0 1-1 0 0,47-29 1 0 0,-68 48-25 0 0,-1 1 1 0 0,0 0-1 0 0,0-1 1 0 0,0 1-1 0 0,0 0 0 0 0,0 0 1 0 0,0 0-1 0 0,0 0 1 0 0,1 0-1 0 0,-1 0 0 0 0,0 1 1 0 0,0-1-1 0 0,0 0 0 0 0,0 0 1 0 0,0 1-1 0 0,0-1 1 0 0,0 1-1 0 0,0-1 0 0 0,0 1 1 0 0,0-1-1 0 0,0 1 0 0 0,0 0 1 0 0,0-1-1 0 0,1 2 1 0 0,26 25-171 0 0,-17-16 211 0 0,-3-4-49 0 0,0-1-1 0 0,1-1 1 0 0,0 1 0 0 0,15 6-1 0 0,-13-7 0 0 0,-1 0 1 0 0,0 1-1 0 0,11 8 0 0 0,-17-10 6 0 0,0 0 0 0 0,-1 0 1 0 0,0 0-1 0 0,0 0 0 0 0,0 1 0 0 0,-1 0 0 0 0,1-1 0 0 0,-1 1 1 0 0,0 0-1 0 0,-1 0 0 0 0,1 0 0 0 0,1 8 0 0 0,-2-6 0 0 0,1-1-1 0 0,0 0 0 0 0,0 1 0 0 0,1-1 1 0 0,-1 0-1 0 0,1 0 0 0 0,1 0 1 0 0,3 5-1 0 0,39 35-72 0 0,-37-39 73 0 0,-1 0 0 0 0,0 1 0 0 0,0 0 1 0 0,-1 0-1 0 0,0 1 0 0 0,0 0 0 0 0,-1 0 0 0 0,9 19 0 0 0,-10-12 34 0 0,0 0 1 0 0,-2 1-1 0 0,0 0 1 0 0,0 0-1 0 0,-1 24 1 0 0,-2-25-51 0 0,1-1 1 0 0,1 1-1 0 0,0 0 1 0 0,1-1-1 0 0,1 0 1 0 0,10 29-1 0 0,-9-34 23 0 0,43 102 88 0 0,-42-97-76 0 0,-2 0 0 0 0,0 1 0 0 0,-1-1 0 0 0,-1 1 0 0 0,1 26 0 0 0,-3-32-18 0 0,0 0 1 0 0,0-1-1 0 0,1 1 0 0 0,0 0 1 0 0,0-1-1 0 0,1 1 0 0 0,1-1 0 0 0,-1 1 1 0 0,2-1-1 0 0,-1 0 0 0 0,1 0 1 0 0,1 0-1 0 0,-1-1 0 0 0,1 0 0 0 0,1 0 1 0 0,11 14-1 0 0,-12-17 14 0 0,-1-1 1 0 0,1 2-1 0 0,-1-1 1 0 0,-1 0-1 0 0,1 1 1 0 0,-1-1-1 0 0,0 1 1 0 0,3 8-1 0 0,-5-11-8 0 0,-1 0-1 0 0,1 0 0 0 0,-1 1 0 0 0,1-1 1 0 0,-1 0-1 0 0,0 1 0 0 0,-1-1 1 0 0,1 1-1 0 0,0-1 0 0 0,-1 0 0 0 0,0 0 1 0 0,0 1-1 0 0,0-1 0 0 0,0 0 1 0 0,0 0-1 0 0,-1 0 0 0 0,1 0 0 0 0,-3 3 1 0 0,-11 16 59 0 0,12-18-41 0 0,0 0-1 0 0,0 0 1 0 0,0 0-1 0 0,1 0 1 0 0,-1 1-1 0 0,1-1 1 0 0,0 1-1 0 0,1-1 1 0 0,-1 1-1 0 0,1 0 1 0 0,0-1 0 0 0,-1 11-1 0 0,-4 32 2 0 0,4-43-17 0 0,1 1 1 0 0,0-1-1 0 0,0 1 0 0 0,1 0 0 0 0,-1 0 0 0 0,1-1 0 0 0,0 1 1 0 0,0 0-1 0 0,1-1 0 0 0,-1 1 0 0 0,1 0 0 0 0,0-1 0 0 0,0 1 0 0 0,1 0 1 0 0,-1-1-1 0 0,1 0 0 0 0,0 1 0 0 0,3 3 0 0 0,6 9 40 0 0,0 1-1 0 0,14 30 1 0 0,-23-44-40 0 0,0 0 0 0 0,0 0 0 0 0,0 0 0 0 0,1 0 0 0 0,0 0 0 0 0,0-1 0 0 0,0 1 0 0 0,0-1 0 0 0,0 0 0 0 0,1 0 0 0 0,5 5 0 0 0,2-2 18 0 0,0 0 1 0 0,22 9-1 0 0,16 8 7 0 0,-45-21-21 0 0,-1 1-1 0 0,1 0 1 0 0,-1 0-1 0 0,0 0 1 0 0,0 0-1 0 0,0 1 1 0 0,-1-1-1 0 0,4 6 1 0 0,-4-6-2 0 0,0 0 1 0 0,0 1 0 0 0,0-1 0 0 0,0-1 0 0 0,1 1 0 0 0,-1 0 0 0 0,1 0 0 0 0,0-1 0 0 0,0 0 0 0 0,0 0 0 0 0,0 1 0 0 0,7 2 0 0 0,2-1 9 0 0,1-1 0 0 0,-1 0-1 0 0,15 1 1 0 0,-16-3-2 0 0,0 1 0 0 0,0 0 0 0 0,-1 1-1 0 0,1 0 1 0 0,13 6 0 0 0,0 5-13 0 0,-18-10 0 0 0,0-1 0 0 0,1 1 0 0 0,-1-1 0 0 0,1 0 0 0 0,-1-1 0 0 0,1 0 0 0 0,11 2 0 0 0,17 0 12 0 0,59-4-1 0 0,-61-1 53 0 0,0 2-1 0 0,43 5 1 0 0,-68-4 14 0 0,1 0 1 0 0,-1 1 0 0 0,0 0 0 0 0,9 4 0 0 0,-9-3-191 0 0,0 0 0 0 0,0-1 0 0 0,15 3 0 0 0,309 67-293 0 0,-125-27 326 0 0,-88-18-44 0 0,143 15-1 0 0,-203-40 90 0 0,113-11 0 0 0,28 1-55 0 0,-31 26 112 0 0,-106-10 6 0 0,83 2-1 0 0,-102-13-12 0 0,56-10 0 0 0,-56 6-12 0 0,56-2 0 0 0,-91 8 36 0 0,0-2-1 0 0,0 1 0 0 0,0-1 1 0 0,0 0-1 0 0,-1-1 1 0 0,1 0-1 0 0,13-7 1 0 0,-14 6-2 0 0,0 0 1 0 0,0 1-1 0 0,0 0 1 0 0,1 0 0 0 0,-1 1-1 0 0,1 0 1 0 0,15-1-1 0 0,-15 2-38 0 0,1 0 0 0 0,-1-1 0 0 0,1 0 0 0 0,-1 0 0 0 0,17-7 0 0 0,15-4 0 0 0,179-34 176 0 0,-177 36-141 0 0,0 1-47 0 0,47-17 0 0 0,-73 21 43 0 0,1 1 0 0 0,1 1 0 0 0,34-3 0 0 0,-36 6-3 0 0,-1-1 0 0 0,0-1 0 0 0,0-1 1 0 0,0 0-1 0 0,25-10 0 0 0,-26 7-28 0 0,0 0 0 0 0,1 1 0 0 0,-1 1 0 0 0,1 1 0 0 0,0 0 0 0 0,16-1 0 0 0,102-23 2 0 0,-114 23-12 0 0,-9 2-41 0 0,-2 1-5 0 0,-1 0 0 0 0,1 0 1 0 0,17-1-1 0 0,-27 3 94 0 0,5 1-215 0 0,18 0 132 0 0,0 0 0 0 0,1-1 0 0 0,-1-2 1 0 0,28-4-1 0 0,6-16-62 0 0,-54 20 112 0 0,1 0 0 0 0,0 0 0 0 0,-1 0 0 0 0,1-1 0 0 0,-1 1 0 0 0,0-1 0 0 0,0 1 0 0 0,0-1 0 0 0,2-4 0 0 0,6-7 9 0 0,21-13-218 0 0,-27 24 204 0 0,-1 1 0 0 0,1-1-1 0 0,-1 0 1 0 0,1 0 0 0 0,-1 0 0 0 0,0 0 0 0 0,0 0 0 0 0,-1-1 0 0 0,1 1 0 0 0,-1-1 0 0 0,1 0 0 0 0,-1 0 0 0 0,-1 0 0 0 0,1 0 0 0 0,0 0 0 0 0,1-7 0 0 0,-1 3-6 0 0,0 1 0 0 0,0-1 1 0 0,1 1-1 0 0,0 0 0 0 0,0 0 0 0 0,4-6 0 0 0,-3 6-3 0 0,0-1-1 0 0,0 1 0 0 0,-1-1 1 0 0,-1 0-1 0 0,3-9 0 0 0,-3 3 22 0 0,-1 1 0 0 0,-1-1 0 0 0,0 0 1 0 0,-1 0-1 0 0,-1 0 0 0 0,-3-13 0 0 0,2 10 0 0 0,1 0 0 0 0,1 0-1 0 0,0-23 1 0 0,11-31 151 0 0,-6 47-71 0 0,2-45 1 0 0,-5 55-109 0 0,1 0-1 0 0,0 0 1 0 0,1 1-1 0 0,0-1 0 0 0,10-22 1 0 0,-8 24 1 0 0,-1 1 1 0 0,-1-1-1 0 0,1 0 1 0 0,-2 0-1 0 0,0 0 0 0 0,0 0 1 0 0,-1-22-1 0 0,-2 25 39 0 0,1 1 1 0 0,0-1-1 0 0,0 0 0 0 0,1 0 0 0 0,0 1 1 0 0,1-1-1 0 0,-1 1 0 0 0,2-1 0 0 0,-1 1 1 0 0,7-13-1 0 0,0-11 241 0 0,-9 29-269 0 0,1-1 0 0 0,0 1 0 0 0,-1 0 0 0 0,1 0 1 0 0,0-1-1 0 0,1 1 0 0 0,-1 0 0 0 0,1 0 1 0 0,-1 0-1 0 0,1 1 0 0 0,0-1 0 0 0,0 0 0 0 0,0 1 1 0 0,0-1-1 0 0,4-3 0 0 0,58-57-39 0 0,-38 41-252 0 0,-20 17 333 0 0,0 1-1 0 0,-1-1 0 0 0,1-1 1 0 0,6-7-1 0 0,34-42 66 0 0,-25 31-58 0 0,17-27-1 0 0,-4 13-96 0 0,-27 31 56 0 0,0 0-1 0 0,-1-1 1 0 0,0 1-1 0 0,7-12 1 0 0,-5 6-3 0 0,1 0 0 0 0,0 0 0 0 0,1 1-1 0 0,0 0 1 0 0,1 1 0 0 0,0 0 0 0 0,1 1 0 0 0,0 1 0 0 0,0-1 0 0 0,19-9 0 0 0,-28 17-10 0 0,1 0-1 0 0,-1 1 0 0 0,1-1 1 0 0,0 1-1 0 0,0-1 1 0 0,0 1-1 0 0,0 1 0 0 0,0-1 1 0 0,0 0-1 0 0,0 1 1 0 0,0 0-1 0 0,0 0 0 0 0,0 0 1 0 0,6 1-1 0 0,15 0-27 0 0,-21-1 35 0 0,1-1 0 0 0,-1 1 0 0 0,1-1 0 0 0,-1 0 1 0 0,1-1-1 0 0,4-1 0 0 0,-6 1 2 0 0,-1 1 0 0 0,1 0 0 0 0,0 0 0 0 0,0 0 1 0 0,0 1-1 0 0,0-1 0 0 0,0 1 0 0 0,0 0 0 0 0,0-1 0 0 0,0 1 1 0 0,1 0-1 0 0,-1 1 0 0 0,0-1 0 0 0,0 1 0 0 0,5 1 0 0 0,-4-1-5 0 0,1 0-1 0 0,-1 0 1 0 0,1-1-1 0 0,0 1 0 0 0,6-1 1 0 0,-8 0 0 0 0,1 0 0 0 0,0 0 0 0 0,0 0 1 0 0,0 1-1 0 0,0 0 0 0 0,-1 0 0 0 0,7 2 0 0 0,-9-3 5 0 0,0 1 0 0 0,1 0 0 0 0,-1 0 0 0 0,0 0 0 0 0,0 0 0 0 0,0 1 0 0 0,0-1 0 0 0,0 0 0 0 0,0 0 0 0 0,2 3 0 0 0,-3-3 0 0 0,1 0 0 0 0,-1 0 0 0 0,1 0 0 0 0,0 0 0 0 0,-1 0 0 0 0,1 0 0 0 0,0 0 0 0 0,0 0 0 0 0,0-1 0 0 0,0 1 0 0 0,0 0 0 0 0,-1 0 0 0 0,1-1 0 0 0,1 1 0 0 0,-1-1 0 0 0,0 1 0 0 0,0-1 0 0 0,0 1 0 0 0,0-1 0 0 0,0 0 0 0 0,0 1 0 0 0,0-1 0 0 0,1 0 0 0 0,1 0 0 0 0,24 1 35 0 0,1-2 0 0 0,-1-1-1 0 0,0-1 1 0 0,0-1 0 0 0,27-9-1 0 0,-51 12-29 0 0,0-1 1 0 0,-1 0-1 0 0,1 0 0 0 0,-1-1 0 0 0,1 1 0 0 0,-1-1 0 0 0,0 1 1 0 0,0-1-1 0 0,0 1 0 0 0,0-1 0 0 0,-1 0 0 0 0,1 0 0 0 0,-1 0 1 0 0,0 0-1 0 0,0 0 0 0 0,1-5 0 0 0,10-17-13 0 0,23-20 13 0 0,-29 40 8 0 0,-1 0 0 0 0,0-1 0 0 0,-1 1-1 0 0,1-1 1 0 0,-1 0 0 0 0,0-1 0 0 0,-1 1 0 0 0,0-1-1 0 0,0 1 1 0 0,0-1 0 0 0,-1 0 0 0 0,0 0 0 0 0,2-13-1 0 0,-1 1-36 0 0,-1 0 0 0 0,12-36 0 0 0,-11 45 14 0 0,0 0 0 0 0,1 0-1 0 0,1 1 1 0 0,-1-1 0 0 0,2 1 0 0 0,11-17-1 0 0,55-41-53 0 0,-69 64 61 0 0,-1 0-1 0 0,2 1 0 0 0,-1-1 1 0 0,0 1-1 0 0,0 0 0 0 0,1 0 0 0 0,0 0 1 0 0,-1 1-1 0 0,1-1 0 0 0,0 1 1 0 0,-1 0-1 0 0,1 0 0 0 0,0 0 1 0 0,0 0-1 0 0,0 1 0 0 0,0-1 1 0 0,0 1-1 0 0,0 0 0 0 0,0 0 0 0 0,0 1 1 0 0,0-1-1 0 0,0 1 0 0 0,0 0 1 0 0,0 0-1 0 0,0 0 0 0 0,-1 1 1 0 0,1-1-1 0 0,0 1 0 0 0,-1 0 0 0 0,1 0 1 0 0,-1 0-1 0 0,0 0 0 0 0,0 1 1 0 0,0-1-1 0 0,0 1 0 0 0,0 0 1 0 0,0 0-1 0 0,-1 0 0 0 0,1 0 1 0 0,-1 1-1 0 0,0-1 0 0 0,0 1 0 0 0,0-1 1 0 0,0 1-1 0 0,-1-1 0 0 0,1 1 1 0 0,-1 0-1 0 0,0 0 0 0 0,0 0 1 0 0,-1 0-1 0 0,1 7 0 0 0,0 3-3 0 0,0 0 0 0 0,1 0 0 0 0,1 0 0 0 0,0-1 0 0 0,0 1 0 0 0,2-1-1 0 0,0 0 1 0 0,11 23 0 0 0,-12-25 7 0 0,0 0 0 0 0,-1 0 0 0 0,3 13 0 0 0,-6-18 0 0 0,1 0 0 0 0,0 0 0 0 0,1 0 0 0 0,-1 0 0 0 0,1 0 0 0 0,0 0 0 0 0,1 0 0 0 0,-1-1 0 0 0,1 0 0 0 0,0 1 0 0 0,1-1 0 0 0,-1 0 0 0 0,1 0 0 0 0,8 8 0 0 0,-5-8 0 0 0,0 0 0 0 0,-1 1 0 0 0,1 0 0 0 0,-1 1 0 0 0,-1 0 0 0 0,1-1 0 0 0,-1 2 0 0 0,0-1 0 0 0,4 9 0 0 0,-8-14 0 0 0,0 0 0 0 0,0 0 0 0 0,1-1 0 0 0,-1 1 0 0 0,1 0 0 0 0,-1-1 0 0 0,1 0 0 0 0,0 1 0 0 0,0-1 0 0 0,-1 0 0 0 0,1 0 0 0 0,0 0 0 0 0,0 0 0 0 0,0 0 0 0 0,0 0 0 0 0,0 0 0 0 0,0-1 0 0 0,1 1 0 0 0,-1-1 0 0 0,0 0 0 0 0,2 1 0 0 0,9-1 0 0 0,-1 1 0 0 0,21-3 0 0 0,-8 0 0 0 0,-20 1 0 0 0,0 1 0 0 0,0-1 0 0 0,0 0 0 0 0,0-1 0 0 0,8-3 0 0 0,17-4 0 0 0,-9 6 0 0 0,41 1 0 0 0,10-11-256 0 0,-70 13 255 0 0,1 0 0 0 0,-1 0 0 0 0,1 0-1 0 0,0 0 1 0 0,-1 1 0 0 0,1-1 0 0 0,-1 1 0 0 0,1 0-1 0 0,-1 0 1 0 0,1 0 0 0 0,-1 0 0 0 0,1 0 0 0 0,-1 0-1 0 0,0 0 1 0 0,0 1 0 0 0,0 0 0 0 0,0-1 0 0 0,0 1-1 0 0,3 2 1 0 0,-1 1 1 0 0,1-1 0 0 0,0-1 0 0 0,0 1 0 0 0,0-1 0 0 0,12 5 0 0 0,-14-7 0 0 0,0 1 0 0 0,1-1 0 0 0,-1 1 0 0 0,0 0 0 0 0,0 0 0 0 0,0 0 0 0 0,-1 0 0 0 0,1 0 0 0 0,0 0 0 0 0,-1 1 0 0 0,1-1 0 0 0,-1 1 0 0 0,0 0 0 0 0,2 4 0 0 0,1 7 29 0 0,-5-13-24 0 0,0 0-1 0 0,0 0 1 0 0,1 1 0 0 0,-1-1 0 0 0,1 0-1 0 0,-1 0 1 0 0,1 1 0 0 0,-1-1-1 0 0,1 0 1 0 0,0 0 0 0 0,0 0 0 0 0,-1 0-1 0 0,1 0 1 0 0,0 0 0 0 0,0 0 0 0 0,0 0-1 0 0,0 0 1 0 0,0-1 0 0 0,0 1-1 0 0,2 1 1 0 0,20 12-5 0 0,-17-11 0 0 0,-1 0 0 0 0,0 0 0 0 0,0 0 0 0 0,0 1 0 0 0,0 0 0 0 0,0 0 0 0 0,-1 0 0 0 0,1 1 0 0 0,-1-1 0 0 0,-1 1 0 0 0,1 0 0 0 0,3 6 0 0 0,1 4 0 0 0,1 0 0 0 0,0 0 0 0 0,0-1 0 0 0,2-1 0 0 0,0 1 0 0 0,0-2 0 0 0,1 1 0 0 0,1-2 0 0 0,0 0 0 0 0,1 0 0 0 0,0-1 0 0 0,20 10 0 0 0,177 93-218 0 0,-19-11 28 0 0,-171-92 197 0 0,0-1-1 0 0,40 12 1 0 0,-40-14 3 0 0,-1 0 0 0 0,1 1 0 0 0,26 14 0 0 0,-43-19-30 0 0,0 0 0 0 0,0 0 0 0 0,0 1 0 0 0,0-1 0 0 0,-1 1-1 0 0,1 0 1 0 0,-1 0 0 0 0,0 0 0 0 0,0 0 0 0 0,-1 0 0 0 0,1 1 0 0 0,-1-1 0 0 0,0 1 0 0 0,0 0-1 0 0,-1-1 1 0 0,1 1 0 0 0,-1 0 0 0 0,0 0 0 0 0,0 0 0 0 0,-1 0 0 0 0,0 0 0 0 0,1 0 0 0 0,-2 0-1 0 0,0 8 1 0 0,1-8-8 0 0,0 1-1 0 0,1-1 0 0 0,0 0 1 0 0,0 1-1 0 0,0-1 1 0 0,2 7-1 0 0,-1-7 38 0 0,0 0 0 0 0,-1 0 1 0 0,0 0-1 0 0,0 1 0 0 0,-1-1 0 0 0,1 0 1 0 0,-1 0-1 0 0,-1 7 0 0 0,-6 32 116 0 0,2 1 1 0 0,1 88-1 0 0,6-125-124 0 0,-1 1-1 0 0,2-1 1 0 0,-1 0-1 0 0,1 0 1 0 0,0-1 0 0 0,1 1-1 0 0,0-1 1 0 0,0 1-1 0 0,10 11 1 0 0,13 28 196 0 0,-13-16-182 0 0,-10-18-16 0 0,2-1 1 0 0,-1 0-1 0 0,14 20 1 0 0,-14-23 12 0 0,2-1 0 0 0,0 1 0 0 0,0-1 0 0 0,0 0 0 0 0,1-1 0 0 0,0 0-1 0 0,0 0 1 0 0,1 0 0 0 0,0-1 0 0 0,0-1 0 0 0,0 1 0 0 0,1-2 0 0 0,17 7 0 0 0,57 11 128 0 0,-58-16-145 0 0,40 14-1 0 0,125 61 6 0 0,-115-52-29 0 0,1-4 0 0 0,98 20-1 0 0,1 2 30 0 0,-22-4 0 0 0,37-16 26 0 0,-1-1 22 0 0,223 30 108 0 0,-270-43-29 0 0,176 41 0 0 0,577 113 245 0 0,-354-103-372 0 0,98 32-1549 0 0,-581-86 1314 0 0,-4-4 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17.576"/>
    </inkml:context>
    <inkml:brush xml:id="br0">
      <inkml:brushProperty name="width" value="0.2" units="cm"/>
      <inkml:brushProperty name="height" value="0.2" units="cm"/>
      <inkml:brushProperty name="color" value="#F6630D"/>
    </inkml:brush>
  </inkml:definitions>
  <inkml:trace contextRef="#ctx0" brushRef="#br0">254 2348 456 0 0,'2'-5'75'0'0,"-1"1"0"0"0,0-1 0 0 0,-1 0 1 0 0,1 1-1 0 0,-1-1 0 0 0,0 0 0 0 0,0 0 0 0 0,0 0 0 0 0,-1 1 0 0 0,1-1 0 0 0,-1 0 1 0 0,0 1-1 0 0,-1-1 0 0 0,-2-6 0 0 0,-3-18 328 0 0,2-17 120 0 0,5 32-300 0 0,-2 0 0 0 0,1 1 0 0 0,-5-15 0 0 0,-32-127 2939 0 0,33 129-2614 0 0,2-1 1 0 0,0 0-1 0 0,4-52 1 0 0,5 20 342 0 0,2-40-180 0 0,-7 86-813 0 0,-2-1 0 0 0,0 1 0 0 0,0-1-1 0 0,-1 1 1 0 0,-5-15 0 0 0,1 3 128 0 0,1 0 0 0 0,0 0 0 0 0,-1-48 0 0 0,9-77 716 0 0,0-2 1789 0 0,-6 127-1701 0 0,-8-41 0 0 0,-1-9 381 0 0,-12-260-677 0 0,22 319-296 0 0,0-1 1 0 0,-1 1 0 0 0,-10-30 0 0 0,9 33-186 0 0,0-1 0 0 0,0 0 0 0 0,2 0 0 0 0,-1-1 0 0 0,1-23 0 0 0,3 17-56 0 0,0-3-8 0 0,-2-32 0 0 0,1 50 9 0 0,-1 1 1 0 0,0-1 0 0 0,0 1 0 0 0,0 0 0 0 0,0-1-1 0 0,-1 1 1 0 0,0 0 0 0 0,0 0 0 0 0,-1 0 0 0 0,1 0-1 0 0,-6-7 1 0 0,-9 1 1035 0 0,16 8-955 0 0,0 0 0 0 0,-1 0 0 0 0,1 0-1 0 0,-1 0 1 0 0,1 0 0 0 0,-1 0 0 0 0,0 0 0 0 0,0 1 0 0 0,0-1 0 0 0,0 1 0 0 0,-1-1 0 0 0,1 1 0 0 0,-1 0 0 0 0,-2-2 0 0 0,4 3-72 0 0,0 0 0 0 0,0 0 0 0 0,1 0 0 0 0,-1 0 0 0 0,1-1 1 0 0,-1 1-1 0 0,1 0 0 0 0,-1 0 0 0 0,1 0 0 0 0,-1-1 0 0 0,1 1 0 0 0,0 0 0 0 0,0 0 0 0 0,0-1 0 0 0,0 1 0 0 0,0 0 1 0 0,0 0-1 0 0,0-1 0 0 0,0 1 0 0 0,0 0 0 0 0,1-3 0 0 0,9-31-98 0 0,-7 26 110 0 0,8-21 42 0 0,-7 22-87 0 0,-1-1 1 0 0,0 0 0 0 0,0 0 0 0 0,-1 0 0 0 0,2-16-1 0 0,-6 22-93 0 0,0-3 341 0 0,3 5-333 0 0,2 4 107 0 0,-1 0-1 0 0,0 0 1 0 0,0 1-1 0 0,-1-1 1 0 0,1 0-1 0 0,-1 1 1 0 0,1-1 0 0 0,-1 1-1 0 0,0 0 1 0 0,-1-1-1 0 0,1 1 1 0 0,-1 0-1 0 0,1-1 1 0 0,-1 1-1 0 0,0 4 1 0 0,0-1 3 0 0,1 7-3 0 0,1 11-61 0 0,6 31 1 0 0,-6-47 50 0 0,1 0 1 0 0,0-1 0 0 0,0 1-1 0 0,0-1 1 0 0,1 0 0 0 0,1 0-1 0 0,5 8 1 0 0,2 2 12 0 0,-1-1-1 0 0,-1 2 0 0 0,0-1 1 0 0,10 31-1 0 0,-16-37 1 0 0,-1 0 0 0 0,0 0 1 0 0,-1 1-1 0 0,0-1 0 0 0,-1 0 0 0 0,-1 1 0 0 0,0-1 0 0 0,-3 25 0 0 0,-2-12-19 0 0,-1-1-1 0 0,-14 35 1 0 0,11-35 75 0 0,1 1 0 0 0,-5 31 0 0 0,12-49 74 0 0,1 0 1 0 0,0 0-1 0 0,0 0 0 0 0,1 0 0 0 0,0 0 1 0 0,2 10-1 0 0,-1-9-64 0 0,0 1 0 0 0,-1 0 0 0 0,1 15-1 0 0,-5 0-119 0 0,0 0-1 0 0,-14 45 1 0 0,12-51 114 0 0,0 0-1 0 0,2 0 1 0 0,-1 0 0 0 0,2 1-1 0 0,1-1 1 0 0,1 27 0 0 0,0-21-7 0 0,0 0 1 0 0,-1 0-1 0 0,-5 28 1 0 0,2-23 2 0 0,0 43-1 0 0,5-63-8 0 0,-1 1 1 0 0,2 0-1 0 0,-1 0 0 0 0,1 0 0 0 0,0-1 1 0 0,1 1-1 0 0,0-1 0 0 0,6 11 1 0 0,-2-6-39 0 0,-2 0 0 0 0,1 0-1 0 0,-2 1 1 0 0,0 0 0 0 0,3 20 0 0 0,1 75 24 0 0,-8-88-31 0 0,1-9 9 0 0,1 0-1 0 0,-1 0 1 0 0,2-1 0 0 0,0 1 0 0 0,1-1 0 0 0,0 0 0 0 0,0 0 0 0 0,2 0 0 0 0,9 17-1 0 0,-7-13 17 0 0,-1 1 0 0 0,-1-1 0 0 0,0 1-1 0 0,-1 0 1 0 0,3 23 0 0 0,7 89 180 0 0,-11-77-177 0 0,-4-51-20 0 0,0 1-1 0 0,0 0 1 0 0,0-1 0 0 0,0 1 0 0 0,0 0 0 0 0,1-1-1 0 0,-1 1 1 0 0,1-1 0 0 0,-1 1 0 0 0,1-1 0 0 0,0 1-1 0 0,-1-1 1 0 0,1 1 0 0 0,0-1 0 0 0,0 0 0 0 0,0 1-1 0 0,0-1 1 0 0,0 0 0 0 0,0 0 0 0 0,0 0 0 0 0,2 2-1 0 0,1-2 18 0 0,-1 0-1 0 0,0 0 0 0 0,1-1 1 0 0,-1 1-1 0 0,0-1 0 0 0,1 1 1 0 0,-1-1-1 0 0,6-1 0 0 0,-7 1-22 0 0,-1 0 2 0 0,0 0-1 0 0,0 1 1 0 0,0-1 0 0 0,1 0 0 0 0,-1 0-1 0 0,0 0 1 0 0,0 1 0 0 0,0-1 0 0 0,0 1 0 0 0,0-1-1 0 0,-1 1 1 0 0,1-1 0 0 0,0 1 0 0 0,0-1-1 0 0,0 1 1 0 0,0 0 0 0 0,0-1 0 0 0,-1 1 0 0 0,1 0-1 0 0,0 0 1 0 0,0 1 0 0 0,1 1-3 0 0,-1-1 0 0 0,0 1 0 0 0,1 0 0 0 0,-1 0 0 0 0,0 0 1 0 0,0 0-1 0 0,0 4 0 0 0,1 5-6 0 0,-1 0 0 0 0,-1 21 1 0 0,0-32 4 0 0,-2 25-28 0 0,-1 0 1 0 0,-1 0 0 0 0,-1 0-1 0 0,-2-1 1 0 0,-15 40-1 0 0,27-66 206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19.628"/>
    </inkml:context>
    <inkml:brush xml:id="br0">
      <inkml:brushProperty name="width" value="0.2" units="cm"/>
      <inkml:brushProperty name="height" value="0.2" units="cm"/>
      <inkml:brushProperty name="color" value="#F6630D"/>
    </inkml:brush>
  </inkml:definitions>
  <inkml:trace contextRef="#ctx0" brushRef="#br0">6 1 6913 0 0,'-1'1'26'0'0,"0"1"0"0"0,1 0-1 0 0,-1 0 1 0 0,0-1 0 0 0,1 1-1 0 0,-1 0 1 0 0,1 0 0 0 0,0-1-1 0 0,0 1 1 0 0,0 0-1 0 0,0 0 1 0 0,0 0 0 0 0,0 0-1 0 0,0-1 1 0 0,0 1 0 0 0,1 0-1 0 0,-1 0 1 0 0,1-1-1 0 0,-1 1 1 0 0,1 0 0 0 0,0 0-1 0 0,-1-1 1 0 0,1 1 0 0 0,0-1-1 0 0,0 1 1 0 0,0-1-1 0 0,0 1 1 0 0,3 1 0 0 0,6 13 1079 0 0,-6-7-917 0 0,-1-1 0 0 0,0 1 1 0 0,0-1-1 0 0,-1 1 0 0 0,0 0 1 0 0,0 0-1 0 0,-1 0 0 0 0,-1 0 0 0 0,1 0 1 0 0,-1 0-1 0 0,-1 0 0 0 0,-2 14 1 0 0,1 2-237 0 0,3-17 67 0 0,-1-1 0 0 0,1 1 0 0 0,0-1-1 0 0,1 1 1 0 0,0-1 0 0 0,5 14 0 0 0,6 23 602 0 0,-9-17-296 0 0,-2 0 1 0 0,0 1 0 0 0,-1-1-1 0 0,-2 0 1 0 0,-1 1 0 0 0,-1-1-1 0 0,-2 0 1 0 0,0 0 0 0 0,-13 37-1 0 0,14-52-208 0 0,-11 37 466 0 0,14-46-497 0 0,0 1-1 0 0,1 0 1 0 0,-1 0-1 0 0,1 0 1 0 0,0-1-1 0 0,0 1 1 0 0,0 0-1 0 0,1 0 1 0 0,-1 0-1 0 0,3 5 1 0 0,-1-6 54 0 0,0-1 0 0 0,1 1-1 0 0,0-1 1 0 0,-1 0 0 0 0,1 0 0 0 0,0 0 0 0 0,0-1 0 0 0,0 1 0 0 0,0-1 0 0 0,0 1 0 0 0,0-1 0 0 0,5 1 0 0 0,10 6 353 0 0,-12-5-459 0 0,-1 1 0 0 0,0 0 1 0 0,-1 0-1 0 0,1 0 0 0 0,-1 1 0 0 0,0-1 0 0 0,0 1 1 0 0,0 0-1 0 0,-1 0 0 0 0,1 1 0 0 0,-1-1 0 0 0,0 1 0 0 0,-1-1 1 0 0,0 1-1 0 0,0 0 0 0 0,0 0 0 0 0,0 0 0 0 0,0 9 0 0 0,2 12-326 0 0,-2 0 0 0 0,-2 54 0 0 0,0-42-20 0 0,-1-34 482 0 0,1-1-1 0 0,0 1 1 0 0,1 0 0 0 0,-1 0-1 0 0,1 0 1 0 0,0-1-1 0 0,0 1 1 0 0,0 0 0 0 0,1-1-1 0 0,0 1 1 0 0,4 7-1 0 0,3 8 60 0 0,0 1 0 0 0,0 0 0 0 0,-2 0 0 0 0,5 24 0 0 0,11 91 779 0 0,-23-129-1003 0 0,0 0 1 0 0,-1 0-1 0 0,1 0 1 0 0,-1 0-1 0 0,-1 0 0 0 0,0 0 1 0 0,0 0-1 0 0,0 0 1 0 0,-1-1-1 0 0,1 1 1 0 0,-6 7-1 0 0,3-5 6 0 0,1 0-1 0 0,0 1 0 0 0,1-1 1 0 0,0 1-1 0 0,-2 9 1 0 0,-1 48 28 0 0,5-41-26 0 0,-2 0 1 0 0,-8 36 0 0 0,10-58-4 0 0,0 0-1 0 0,0 1 1 0 0,0-1 0 0 0,0 0-1 0 0,1 1 1 0 0,0-1 0 0 0,0 1 0 0 0,0-1-1 0 0,1 1 1 0 0,-1-1 0 0 0,1 0 0 0 0,0 1-1 0 0,3 7 1 0 0,8 30-54 0 0,-2 0-1 0 0,-2 1 1 0 0,-2 0 0 0 0,1 61 0 0 0,-7-99 10 0 0,1 0 0 0 0,0 0 0 0 0,0-1 0 0 0,0 1 0 0 0,1 0 0 0 0,0 0 0 0 0,0-1 1 0 0,0 1-1 0 0,6 8 0 0 0,9 24-196 0 0,6 81-364 0 0,-23-118 583 0 0,1 1 1 0 0,-1 0 0 0 0,0 0-1 0 0,0 0 1 0 0,1-1 0 0 0,-1 1-1 0 0,0 0 1 0 0,1 0 0 0 0,-1-1-1 0 0,0 1 1 0 0,1 0 0 0 0,-1-1-1 0 0,1 1 1 0 0,0-1 0 0 0,-1 1-1 0 0,1 0 1 0 0,-1-1 0 0 0,1 1-1 0 0,1 0 1 0 0,-2-1-9 0 0,1 0-1 0 0,-1 0 1 0 0,1 0-1 0 0,0 0 1 0 0,-1 0 0 0 0,1 0-1 0 0,-1 0 1 0 0,1 0 0 0 0,-1 0-1 0 0,1 0 1 0 0,0-1-1 0 0,-1 1 1 0 0,1 0 0 0 0,-1 0-1 0 0,1-1 1 0 0,-1 1 0 0 0,1 0-1 0 0,-1 0 1 0 0,1-1-1 0 0,0 0 1 0 0,2-1-126 0 0,-1-1 1 0 0,1 0-1 0 0,0 0 0 0 0,-1 0 0 0 0,0-1 0 0 0,3-4 1 0 0,7-18-1697 0 0,0-6-4814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1.251"/>
    </inkml:context>
    <inkml:brush xml:id="br0">
      <inkml:brushProperty name="width" value="0.2" units="cm"/>
      <inkml:brushProperty name="height" value="0.2" units="cm"/>
      <inkml:brushProperty name="color" value="#F6630D"/>
    </inkml:brush>
  </inkml:definitions>
  <inkml:trace contextRef="#ctx0" brushRef="#br0">2 0 8290 0 0,'6'94'2525'0'0,"-3"-68"-2726"0"0,-1 1-1 0 0,-2-1 1 0 0,-2 38 0 0 0,-2-41 129 0 0,1-4 432 0 0,-1 35 0 0 0,5-47-52 0 0,-1 1-1 0 0,1-1 0 0 0,0 0 0 0 0,1 1 0 0 0,-1-1 0 0 0,2 0 0 0 0,-1 0 0 0 0,4 8 0 0 0,13 25 825 0 0,-2 1 0 0 0,12 43 0 0 0,-23-63-1229 0 0,-1 0 1 0 0,-2 0 0 0 0,0 1-1 0 0,-1 0 1 0 0,-1-1 0 0 0,-2 26-1 0 0,-3-23-10 0 0,3-18 168 0 0,0 0 1 0 0,0 0 0 0 0,0 0 0 0 0,1 0-1 0 0,-1 0 1 0 0,2 0 0 0 0,-1 0 0 0 0,1 0 0 0 0,-1 0-1 0 0,2 0 1 0 0,2 9 0 0 0,2-4 251 0 0,0 1 0 0 0,-1-1-1 0 0,-1 1 1 0 0,1 0 0 0 0,-2 0 0 0 0,0 1 0 0 0,0-1 0 0 0,-1 1-1 0 0,-1-1 1 0 0,0 1 0 0 0,-1 13 0 0 0,-3 14-787 0 0,-1-1 0 0 0,-12 46 1 0 0,7-40 22 0 0,9-45 466 0 0,0 1 1 0 0,0-1-1 0 0,0 1 0 0 0,0-1 1 0 0,0 1-1 0 0,-1-1 1 0 0,1 1-1 0 0,0-1 1 0 0,0 1-1 0 0,0-1 1 0 0,0 1-1 0 0,1-1 0 0 0,-1 1 1 0 0,0-1-1 0 0,0 1 1 0 0,0 0-1 0 0,0-1 1 0 0,0 1-1 0 0,1-1 1 0 0,-1 0-1 0 0,0 1 0 0 0,0-1 1 0 0,1 1-1 0 0,-1-1 1 0 0,0 1-1 0 0,1-1 1 0 0,-1 0-1 0 0,1 1 1 0 0,0 0-1 0 0,15 1 1659 0 0,-14-3-1592 0 0,0 1 0 0 0,0 0-1 0 0,0 0 1 0 0,0 1 0 0 0,0-1-1 0 0,-1 0 1 0 0,1 1 0 0 0,0-1 0 0 0,0 1-1 0 0,0-1 1 0 0,2 2 0 0 0,7 7-171 0 0,-1 0 1 0 0,0 1 0 0 0,0 0 0 0 0,-1 0 0 0 0,-1 1-1 0 0,0 0 1 0 0,0 0 0 0 0,9 20 0 0 0,18 24-1523 0 0,-32-51 1553 0 0,0-1-1 0 0,0 1 1 0 0,1-1-1 0 0,0 0 1 0 0,-1 0-1 0 0,7 4 1 0 0,-7-6 205 0 0,-1 1-1 0 0,1-1 1 0 0,-1 1-1 0 0,0-1 1 0 0,1 1 0 0 0,-1 0-1 0 0,0 0 1 0 0,0 0 0 0 0,0 0-1 0 0,-1 1 1 0 0,1-1-1 0 0,0 0 1 0 0,-1 1 0 0 0,0-1-1 0 0,1 1 1 0 0,-1 0-1 0 0,0-1 1 0 0,1 6 0 0 0,4 23 40 0 0,-1 1 1 0 0,-2 0 0 0 0,-1 0 0 0 0,-5 62 0 0 0,-2-70-89 0 0,-9 30 1 0 0,-4 18-22 0 0,-14 55-100 0 0,20-85 19 0 0,-9 53-1 0 0,21-93 1 0 0,-1 0 1 0 0,1 0 0 0 0,0 0 0 0 0,-1 0 0 0 0,1-1 0 0 0,0 1 0 0 0,0 0 0 0 0,0 0 0 0 0,1 0 0 0 0,-1 0 0 0 0,0 0 0 0 0,1 0 0 0 0,-1-1-1 0 0,1 1 1 0 0,0 0 0 0 0,-1 0 0 0 0,1-1 0 0 0,0 1 0 0 0,0 0 0 0 0,0-1 0 0 0,0 1 0 0 0,1-1 0 0 0,-1 1 0 0 0,2 0 0 0 0,-1-1-23 0 0,0 0 1 0 0,0 0 0 0 0,1 0 0 0 0,-1 0 0 0 0,0-1-1 0 0,1 0 1 0 0,-1 1 0 0 0,0-1 0 0 0,1 0-1 0 0,-1 0 1 0 0,1 0 0 0 0,-1 0 0 0 0,0-1 0 0 0,1 1-1 0 0,-1 0 1 0 0,0-1 0 0 0,1 0 0 0 0,3-1-1 0 0,1-2-219 0 0,1 1-1 0 0,-1-1 0 0 0,0-1 0 0 0,-1 1 0 0 0,1-1 1 0 0,-1 0-1 0 0,0 0 0 0 0,0-1 0 0 0,0 0 0 0 0,-1 0 1 0 0,0-1-1 0 0,0 1 0 0 0,5-11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2.812"/>
    </inkml:context>
    <inkml:brush xml:id="br0">
      <inkml:brushProperty name="width" value="0.2" units="cm"/>
      <inkml:brushProperty name="height" value="0.2" units="cm"/>
      <inkml:brushProperty name="color" value="#F6630D"/>
    </inkml:brush>
  </inkml:definitions>
  <inkml:trace contextRef="#ctx0" brushRef="#br0">194 2250 6913 0 0,'-3'-19'-1763'0'0,"-2"3"2186"0"0,0-5-71 0 0,2 0 1 0 0,0 0-1 0 0,-1-35 0 0 0,2 8 876 0 0,-59-324 3451 0 0,55 340-4333 0 0,1-1 0 0 0,2 0 0 0 0,2-58 0 0 0,19-100 1388 0 0,0-6-51 0 0,-18 146-1475 0 0,-2 1 0 0 0,-12-71 0 0 0,-32-96 394 0 0,28 124 26 0 0,-8-121-1 0 0,26 211-623 0 0,-6-144 463 0 0,-5-39 1342 0 0,5 169-2156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4.302"/>
    </inkml:context>
    <inkml:brush xml:id="br0">
      <inkml:brushProperty name="width" value="0.2" units="cm"/>
      <inkml:brushProperty name="height" value="0.2" units="cm"/>
      <inkml:brushProperty name="color" value="#F6630D"/>
    </inkml:brush>
  </inkml:definitions>
  <inkml:trace contextRef="#ctx0" brushRef="#br0">49 2287 3225 0 0,'38'-66'-2017'0'0,"-48"31"2881"0"0,6 7 503 0 0,1 0 0 0 0,1 0 0 0 0,3-35 0 0 0,-1-12 2089 0 0,1-34-2382 0 0,5 0 0 0 0,21-118 1 0 0,6-65 1942 0 0,-31 236-2657 0 0,-1 1 0 0 0,-4-1 0 0 0,-11-72 0 0 0,-9 6-388 0 0,6 37-15 0 0,-10-125-1 0 0,27-122 1236 0 0,1 277-814 0 0,-1 51-358 0 0,1-12 208 0 0,-4-31 0 0 0,3 43-216 0 0,-1 0-1 0 0,0 0 0 0 0,0 0 1 0 0,0 0-1 0 0,0 0 1 0 0,-1 1-1 0 0,1-1 1 0 0,-1 1-1 0 0,0-1 0 0 0,0 1 1 0 0,0-1-1 0 0,-1 1 1 0 0,-4-5-1 0 0,6 7-44 0 0,1 1 0 0 0,-1-1-1 0 0,0 1 1 0 0,0-1 0 0 0,0 1 0 0 0,0-1-1 0 0,0 1 1 0 0,0 0 0 0 0,0 0 0 0 0,-1-1-1 0 0,1 1 1 0 0,0 0 0 0 0,0 0 0 0 0,0 0-1 0 0,0 0 1 0 0,0 0 0 0 0,0 0 0 0 0,0 0-1 0 0,0 1 1 0 0,0-1 0 0 0,0 0 0 0 0,0 1-1 0 0,0-1 1 0 0,-2 1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6.267"/>
    </inkml:context>
    <inkml:brush xml:id="br0">
      <inkml:brushProperty name="width" value="0.2" units="cm"/>
      <inkml:brushProperty name="height" value="0.2" units="cm"/>
      <inkml:brushProperty name="color" value="#F6630D"/>
    </inkml:brush>
  </inkml:definitions>
  <inkml:trace contextRef="#ctx0" brushRef="#br0">123 2375 920 0 0,'2'-28'1236'0'0,"-2"27"-1228"0"0,1-3-19 0 0,-1-1 1 0 0,0 1 0 0 0,0 0-1 0 0,0 0 1 0 0,0 0 0 0 0,-2-6-1 0 0,2 8 87 0 0,-1 1-1 0 0,0-1 1 0 0,1 1-1 0 0,-1-1 1 0 0,0 1-1 0 0,0-1 1 0 0,0 1-1 0 0,-1 0 1 0 0,1-1-1 0 0,0 1 1 0 0,0 0-1 0 0,-1 0 1 0 0,1 0-1 0 0,-1 0 1 0 0,1 0-1 0 0,-1 0 1 0 0,-2-1-1 0 0,2 1 118 0 0,1 0-1 0 0,-1-1 1 0 0,1 1-1 0 0,0 0 0 0 0,-1-1 1 0 0,1 1-1 0 0,0-1 1 0 0,0 1-1 0 0,0-1 1 0 0,0 0-1 0 0,0 0 1 0 0,0 1-1 0 0,0-1 1 0 0,1 0-1 0 0,-1 0 1 0 0,1 0-1 0 0,-1 0 1 0 0,1 0-1 0 0,0 1 1 0 0,0-1-1 0 0,-1-3 1 0 0,4-50 1578 0 0,-1 36-989 0 0,9-79 1886 0 0,-6 68-2176 0 0,-1-1 0 0 0,-2 0 1 0 0,-1-34-1 0 0,-5 36-495 0 0,-12-48 0 0 0,8 47 221 0 0,-4-41 1 0 0,8-27 862 0 0,12-164 1 0 0,-1 159-199 0 0,-8-131 1 0 0,-4 195-769 0 0,-2 0 0 0 0,-22-69-1 0 0,-2-9 306 0 0,28 98-304 0 0,1 0 0 0 0,1-1 0 0 0,0 1 0 0 0,1 0 0 0 0,1 0 0 0 0,1-1 0 0 0,1 1 0 0 0,1 0 0 0 0,8-28 0 0 0,9-12 165 0 0,47-90 0 0 0,-43 98-474 0 0,-1-1 1 0 0,17-59 0 0 0,-40 105-238 0 0,1 1 0 0 0,-1-1 0 0 0,0 0 0 0 0,0 1 1 0 0,0-1-1 0 0,-1 0 0 0 0,0 1 0 0 0,0-1 0 0 0,0 0 1 0 0,-2-7-1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7.958"/>
    </inkml:context>
    <inkml:brush xml:id="br0">
      <inkml:brushProperty name="width" value="0.2" units="cm"/>
      <inkml:brushProperty name="height" value="0.2" units="cm"/>
      <inkml:brushProperty name="color" value="#F6630D"/>
    </inkml:brush>
  </inkml:definitions>
  <inkml:trace contextRef="#ctx0" brushRef="#br0">200 2023 4145 0 0,'-7'-25'1752'0'0,"6"17"-986"0"0,0 0 0 0 0,0 0 0 0 0,0 0 0 0 0,1 0 0 0 0,2-14 0 0 0,-1-15 950 0 0,-8-22-297 0 0,-24-93-1 0 0,19 104-1368 0 0,3 0-1 0 0,1-1 1 0 0,-2-63 0 0 0,21-69 874 0 0,1-14 819 0 0,-13 169-1586 0 0,0 0-1 0 0,-2 1 1 0 0,-1-1 0 0 0,-1 1-1 0 0,-13-39 1 0 0,-26-35 104 0 0,28 66 28 0 0,-14-41 0 0 0,26 61-233 0 0,1 0 0 0 0,0 0 0 0 0,0 0-1 0 0,2 0 1 0 0,0 0 0 0 0,1-27 0 0 0,4 5 124 0 0,1 0 1 0 0,2 1-1 0 0,2 0 0 0 0,1 0 1 0 0,20-45-1 0 0,88-154 594 0 0,-139 239-3768 0 0,-12 14 1438 0 0,28-17 1060 0 0,0 0 0 0 0,0-1 0 0 0,0 1 1 0 0,-11 2-1 0 0,15-5 414 0 0,1 1 0 0 0,-1-1 1 0 0,0 0-1 0 0,1 0 0 0 0,-1 0 0 0 0,1 0 0 0 0,-1 0 1 0 0,0 0-1 0 0,1 0 0 0 0,-1 0 0 0 0,1 0 1 0 0,-1 0-1 0 0,1 0 0 0 0,-1 0 0 0 0,0 0 1 0 0,1-1-1 0 0,-1 1 0 0 0,1 0 0 0 0,-1 0 1 0 0,1-1-1 0 0,-1 1 0 0 0,0-1 0 0 0,1 0 46 0 0,-1 0-1 0 0,1 1 1 0 0,0-1-1 0 0,0 0 0 0 0,-1 0 1 0 0,1 0-1 0 0,0 0 1 0 0,0 0-1 0 0,0 0 0 0 0,0 0 1 0 0,0 1-1 0 0,0-1 1 0 0,1 0-1 0 0,-1 0 0 0 0,0 0 1 0 0,0 0-1 0 0,1 0 1 0 0,-1 1-1 0 0,0-1 1 0 0,2-1-1 0 0,1-5-137 0 0,1 0-1 0 0,0 1 1 0 0,0-1-1 0 0,0 1 1 0 0,1 0 0 0 0,0 0-1 0 0,9-8 1 0 0,6-2-249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9.234"/>
    </inkml:context>
    <inkml:brush xml:id="br0">
      <inkml:brushProperty name="width" value="0.2" units="cm"/>
      <inkml:brushProperty name="height" value="0.2" units="cm"/>
      <inkml:brushProperty name="color" value="#F6630D"/>
    </inkml:brush>
  </inkml:definitions>
  <inkml:trace contextRef="#ctx0" brushRef="#br0">200 2216 4609 0 0,'-3'-1'-131'0'0,"0"-1"0"0"0,0 1 1 0 0,0 0-1 0 0,0-1 0 0 0,0 1 0 0 0,1-1 1 0 0,-1 0-1 0 0,0 0 0 0 0,1 0 0 0 0,0 0 1 0 0,-1 0-1 0 0,1-1 0 0 0,0 1 0 0 0,0-1 1 0 0,1 0-1 0 0,-1 1 0 0 0,-2-5 0 0 0,3 6 340 0 0,1-1-1 0 0,-1 0 0 0 0,0 1 1 0 0,0-1-1 0 0,1 0 1 0 0,-1 1-1 0 0,1-1 0 0 0,0 0 1 0 0,-1 0-1 0 0,1-3 1 0 0,0 3-75 0 0,3-15 85 0 0,-1-1 1 0 0,-1 1-1 0 0,-1-1 1 0 0,0 1-1 0 0,-2-1 1 0 0,1 1-1 0 0,-2 0 1 0 0,-5-19-1 0 0,-53-184 1866 0 0,52 172-254 0 0,2 0 0 0 0,-2-85 0 0 0,16-48 1213 0 0,-2 103-2129 0 0,-3-1 1 0 0,-10-88 0 0 0,-17 6-961 0 0,11 81-119 0 0,4-1 0 0 0,-1-93 0 0 0,44-209-847 0 0,-19 255-2057 0 0,-10 112 1166 0 0,13 58-5271 0 0,-7-17 4807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30.266"/>
    </inkml:context>
    <inkml:brush xml:id="br0">
      <inkml:brushProperty name="width" value="0.2" units="cm"/>
      <inkml:brushProperty name="height" value="0.2" units="cm"/>
      <inkml:brushProperty name="color" value="#F6630D"/>
    </inkml:brush>
  </inkml:definitions>
  <inkml:trace contextRef="#ctx0" brushRef="#br0">275 2145 1376 0 0,'-23'2'5747'0'0,"21"-3"-5497"0"0,0 0-49 0 0,1-1-1 0 0,0 1 1 0 0,-1 0-1 0 0,1-1 1 0 0,0 1-1 0 0,0-1 1 0 0,0 1 0 0 0,0-1-1 0 0,0 1 1 0 0,1-1-1 0 0,-1 0 1 0 0,-1-2-1 0 0,-1-8-33 0 0,1 0 0 0 0,0 1-1 0 0,0-20 1 0 0,1 18 120 0 0,-56-461 5271 0 0,45 399-4942 0 0,-44-289 1814 0 0,29-3-849 0 0,26 279-1649 0 0,-4-1 0 0 0,-17-88 0 0 0,8 108-712 0 0,-12-81-1684 0 0,24 130 1717 0 0,0-1 0 0 0,2 1 1 0 0,1 0-1 0 0,0 0 0 0 0,6-29 1 0 0,1 27-466 0 0,2 2-5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4/5/2025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a:t>
            </a:r>
          </a:p>
        </p:txBody>
      </p:sp>
      <p:sp>
        <p:nvSpPr>
          <p:cNvPr id="4" name="Slide Number Placeholder 3"/>
          <p:cNvSpPr>
            <a:spLocks noGrp="1"/>
          </p:cNvSpPr>
          <p:nvPr>
            <p:ph type="sldNum" sz="quarter" idx="5"/>
          </p:nvPr>
        </p:nvSpPr>
        <p:spPr/>
        <p:txBody>
          <a:bodyPr/>
          <a:lstStyle/>
          <a:p>
            <a:fld id="{D5C18A63-2409-0241-8255-D95D06F653A2}" type="slidenum">
              <a:rPr lang="en-US" smtClean="0"/>
              <a:t>2</a:t>
            </a:fld>
            <a:endParaRPr lang="en-US"/>
          </a:p>
        </p:txBody>
      </p:sp>
    </p:spTree>
    <p:extLst>
      <p:ext uri="{BB962C8B-B14F-4D97-AF65-F5344CB8AC3E}">
        <p14:creationId xmlns:p14="http://schemas.microsoft.com/office/powerpoint/2010/main" val="245761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a:t>
            </a:fld>
            <a:endParaRPr lang="en-US"/>
          </a:p>
        </p:txBody>
      </p:sp>
    </p:spTree>
    <p:extLst>
      <p:ext uri="{BB962C8B-B14F-4D97-AF65-F5344CB8AC3E}">
        <p14:creationId xmlns:p14="http://schemas.microsoft.com/office/powerpoint/2010/main" val="455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ECC5-B306-EB9E-7EAC-7DC860085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176E8-91CA-1D69-671F-788F55E0D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DF89F-507E-1309-00CC-E43E115230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727EB6-E8D2-EA0F-062D-98498A66E375}"/>
              </a:ext>
            </a:extLst>
          </p:cNvPr>
          <p:cNvSpPr>
            <a:spLocks noGrp="1"/>
          </p:cNvSpPr>
          <p:nvPr>
            <p:ph type="sldNum" sz="quarter" idx="5"/>
          </p:nvPr>
        </p:nvSpPr>
        <p:spPr/>
        <p:txBody>
          <a:bodyPr/>
          <a:lstStyle/>
          <a:p>
            <a:fld id="{D5C18A63-2409-0241-8255-D95D06F653A2}" type="slidenum">
              <a:rPr lang="en-US" smtClean="0"/>
              <a:t>4</a:t>
            </a:fld>
            <a:endParaRPr lang="en-US"/>
          </a:p>
        </p:txBody>
      </p:sp>
    </p:spTree>
    <p:extLst>
      <p:ext uri="{BB962C8B-B14F-4D97-AF65-F5344CB8AC3E}">
        <p14:creationId xmlns:p14="http://schemas.microsoft.com/office/powerpoint/2010/main" val="3269613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C48CD9-7FDE-9844-8A2D-BC17E9073A2C}" type="slidenum">
              <a:rPr lang="en-US"/>
              <a:pPr/>
              <a:t>5</a:t>
            </a:fld>
            <a:endParaRPr lang="en-US"/>
          </a:p>
        </p:txBody>
      </p:sp>
      <p:sp>
        <p:nvSpPr>
          <p:cNvPr id="4198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198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standard setup for the Bias-variance tradeoff is learning a function or mapping of input to output. So in this case, we are doing regression. We get a data set D which is comprised of n pairs of (</a:t>
            </a:r>
            <a:r>
              <a:rPr lang="en-US" dirty="0" err="1"/>
              <a:t>x,y</a:t>
            </a:r>
            <a:r>
              <a:rPr lang="en-US" dirty="0"/>
              <a:t>) values. Our model has some hypothesis space of possible functions g that map x values to y values. We’ll assume that our error or loss function is squared error. A learning algorithm uses the observed data D to pick a function g that minimizes the expected loss. That’s the same thing as the prediction error, which is written out as an integral below.  If this feels familiar, it should! It’s the same setup as we went over in statistical decision theory.</a:t>
            </a:r>
          </a:p>
        </p:txBody>
      </p:sp>
    </p:spTree>
    <p:extLst>
      <p:ext uri="{BB962C8B-B14F-4D97-AF65-F5344CB8AC3E}">
        <p14:creationId xmlns:p14="http://schemas.microsoft.com/office/powerpoint/2010/main" val="1061707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4ABBB-6528-A44F-BA7E-A28A44BF6574}" type="slidenum">
              <a:rPr lang="en-US"/>
              <a:pPr/>
              <a:t>6</a:t>
            </a:fld>
            <a:endParaRPr lang="en-US"/>
          </a:p>
        </p:txBody>
      </p:sp>
      <p:sp>
        <p:nvSpPr>
          <p:cNvPr id="4259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259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 common strategy for learning is to select the function g(x) that minimizes the training error. So we can pick a function g, evaluate it at every </a:t>
            </a:r>
            <a:r>
              <a:rPr lang="en-US" dirty="0" err="1"/>
              <a:t>x_i</a:t>
            </a:r>
            <a:r>
              <a:rPr lang="en-US" dirty="0"/>
              <a:t> to get its predicted </a:t>
            </a:r>
            <a:r>
              <a:rPr lang="en-US" dirty="0" err="1"/>
              <a:t>y_i</a:t>
            </a:r>
            <a:r>
              <a:rPr lang="en-US" dirty="0"/>
              <a:t>, take the squared difference as the error for that data point and average that up over all the n data points. </a:t>
            </a:r>
          </a:p>
          <a:p>
            <a:endParaRPr lang="en-US" dirty="0"/>
          </a:p>
          <a:p>
            <a:r>
              <a:rPr lang="en-US" dirty="0"/>
              <a:t>One way to define different learning algorithms is by the set of hypothesized functions available to them. So for example, linear regression is the set of lines – say varying the slope and intersect. Neural networks typically have a lot more parameters and nonlinear relations that the inputs get mapped through. This corresponds then to a very large set of potential functions to use.</a:t>
            </a:r>
          </a:p>
          <a:p>
            <a:endParaRPr lang="en-US" dirty="0"/>
          </a:p>
          <a:p>
            <a:endParaRPr lang="en-US" dirty="0"/>
          </a:p>
        </p:txBody>
      </p:sp>
    </p:spTree>
    <p:extLst>
      <p:ext uri="{BB962C8B-B14F-4D97-AF65-F5344CB8AC3E}">
        <p14:creationId xmlns:p14="http://schemas.microsoft.com/office/powerpoint/2010/main" val="3153266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F62862-F8EE-6C4C-9FE5-A0DD0F2C1DC0}" type="slidenum">
              <a:rPr lang="en-US"/>
              <a:pPr/>
              <a:t>7</a:t>
            </a:fld>
            <a:endParaRPr lang="en-US"/>
          </a:p>
        </p:txBody>
      </p:sp>
      <p:sp>
        <p:nvSpPr>
          <p:cNvPr id="42803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280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To show case how hypothesis spaces of different sizes learn from limited data amounts of data, we’ll explore three simple hypothesis spaces for regression. Linear functions with two adjustable parameters, quadratic ones with three adjustable parameters, and 8-th degree polynomials with 9 adjustable parameters. </a:t>
            </a:r>
          </a:p>
        </p:txBody>
      </p:sp>
    </p:spTree>
    <p:extLst>
      <p:ext uri="{BB962C8B-B14F-4D97-AF65-F5344CB8AC3E}">
        <p14:creationId xmlns:p14="http://schemas.microsoft.com/office/powerpoint/2010/main" val="1435013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97610D-09FC-FC4D-91AF-D28508FA50DB}" type="slidenum">
              <a:rPr lang="en-US"/>
              <a:pPr/>
              <a:t>8</a:t>
            </a:fld>
            <a:endParaRPr lang="en-US"/>
          </a:p>
        </p:txBody>
      </p:sp>
      <p:sp>
        <p:nvSpPr>
          <p:cNvPr id="4014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01411" name="Rectangle 3"/>
          <p:cNvSpPr>
            <a:spLocks noGrp="1" noChangeArrowheads="1"/>
          </p:cNvSpPr>
          <p:nvPr>
            <p:ph type="body" idx="1"/>
          </p:nvPr>
        </p:nvSpPr>
        <p:spPr/>
        <p:txBody>
          <a:bodyPr/>
          <a:lstStyle/>
          <a:p>
            <a:r>
              <a:rPr lang="en-US" dirty="0"/>
              <a:t>Now we have an example data set – 10 data points of x-y pairs. Let’s see how each of the learning algorithms fit these data.</a:t>
            </a:r>
          </a:p>
        </p:txBody>
      </p:sp>
    </p:spTree>
    <p:extLst>
      <p:ext uri="{BB962C8B-B14F-4D97-AF65-F5344CB8AC3E}">
        <p14:creationId xmlns:p14="http://schemas.microsoft.com/office/powerpoint/2010/main" val="1409177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674A8-7FD0-C449-9CA7-461152DD2B32}" type="slidenum">
              <a:rPr lang="en-US"/>
              <a:pPr/>
              <a:t>9</a:t>
            </a:fld>
            <a:endParaRPr lang="en-US"/>
          </a:p>
        </p:txBody>
      </p:sp>
      <p:sp>
        <p:nvSpPr>
          <p:cNvPr id="4300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00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best fitting line looks as follows. Not too shabby, but it also seems to miss the bit of curve to the data.</a:t>
            </a:r>
          </a:p>
        </p:txBody>
      </p:sp>
    </p:spTree>
    <p:extLst>
      <p:ext uri="{BB962C8B-B14F-4D97-AF65-F5344CB8AC3E}">
        <p14:creationId xmlns:p14="http://schemas.microsoft.com/office/powerpoint/2010/main" val="545449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5FF845-7683-254D-B151-2FEA15CEB6A3}" type="slidenum">
              <a:rPr lang="en-US"/>
              <a:pPr/>
              <a:t>10</a:t>
            </a:fld>
            <a:endParaRPr lang="en-US"/>
          </a:p>
        </p:txBody>
      </p:sp>
      <p:sp>
        <p:nvSpPr>
          <p:cNvPr id="4321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21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quadratic seems to fit the data quite nicely!</a:t>
            </a:r>
          </a:p>
        </p:txBody>
      </p:sp>
    </p:spTree>
    <p:extLst>
      <p:ext uri="{BB962C8B-B14F-4D97-AF65-F5344CB8AC3E}">
        <p14:creationId xmlns:p14="http://schemas.microsoft.com/office/powerpoint/2010/main" val="2105627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9E17DB-4E47-5B45-A24C-06AD303B061A}" type="slidenum">
              <a:rPr lang="en-US"/>
              <a:pPr/>
              <a:t>11</a:t>
            </a:fld>
            <a:endParaRPr lang="en-US"/>
          </a:p>
        </p:txBody>
      </p:sp>
      <p:sp>
        <p:nvSpPr>
          <p:cNvPr id="4341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41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the 8</a:t>
            </a:r>
            <a:r>
              <a:rPr lang="en-US" baseline="30000" dirty="0"/>
              <a:t>th</a:t>
            </a:r>
            <a:r>
              <a:rPr lang="en-US" dirty="0"/>
              <a:t> degree polynomial fits the data points even nicer! Almost no error at all.</a:t>
            </a:r>
          </a:p>
        </p:txBody>
      </p:sp>
    </p:spTree>
    <p:extLst>
      <p:ext uri="{BB962C8B-B14F-4D97-AF65-F5344CB8AC3E}">
        <p14:creationId xmlns:p14="http://schemas.microsoft.com/office/powerpoint/2010/main" val="3360489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3BCE18-6EE2-E047-B27E-C9A1B9419A0E}" type="slidenum">
              <a:rPr lang="en-US"/>
              <a:pPr/>
              <a:t>12</a:t>
            </a:fld>
            <a:endParaRPr lang="en-US"/>
          </a:p>
        </p:txBody>
      </p:sp>
      <p:sp>
        <p:nvSpPr>
          <p:cNvPr id="4362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62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So I superimposed the true function that was use to generate the points in black. You can see that it’s actually a quadratic. So if we looked at the prediction error of our algorithms, the 8</a:t>
            </a:r>
            <a:r>
              <a:rPr lang="en-US" baseline="30000" dirty="0"/>
              <a:t>th</a:t>
            </a:r>
            <a:r>
              <a:rPr lang="en-US" dirty="0"/>
              <a:t> degree polynomial is doing quite poorly. That is despite it being the best algorithm when we looked at training error. </a:t>
            </a:r>
          </a:p>
        </p:txBody>
      </p:sp>
    </p:spTree>
    <p:extLst>
      <p:ext uri="{BB962C8B-B14F-4D97-AF65-F5344CB8AC3E}">
        <p14:creationId xmlns:p14="http://schemas.microsoft.com/office/powerpoint/2010/main" val="3724468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8F1D84-F15E-0F48-A7EA-E6ABAC11D345}" type="slidenum">
              <a:rPr lang="en-US"/>
              <a:pPr/>
              <a:t>13</a:t>
            </a:fld>
            <a:endParaRPr lang="en-US"/>
          </a:p>
        </p:txBody>
      </p:sp>
      <p:sp>
        <p:nvSpPr>
          <p:cNvPr id="4382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82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dirty="0"/>
          </a:p>
        </p:txBody>
      </p:sp>
    </p:spTree>
    <p:extLst>
      <p:ext uri="{BB962C8B-B14F-4D97-AF65-F5344CB8AC3E}">
        <p14:creationId xmlns:p14="http://schemas.microsoft.com/office/powerpoint/2010/main" val="3944739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CD0E46-72C2-B747-A85F-85AB8609FDC5}" type="slidenum">
              <a:rPr lang="en-US"/>
              <a:pPr/>
              <a:t>14</a:t>
            </a:fld>
            <a:endParaRPr lang="en-US"/>
          </a:p>
        </p:txBody>
      </p:sp>
      <p:sp>
        <p:nvSpPr>
          <p:cNvPr id="4403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0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We can say more about this than simply having a lot of parameters relative to the number of data points is bad. To do so, we’re going to walk through a derivation  (with some hand waving). We start with some basic assumptions, that our data points are generated from some true function with some unbiased noise added to it. We’ll assume that this error is normally distributed, though a lot of these assumptions can be weakened and still get similar results.</a:t>
            </a:r>
          </a:p>
          <a:p>
            <a:endParaRPr lang="en-US" dirty="0"/>
          </a:p>
          <a:p>
            <a:r>
              <a:rPr lang="en-US" dirty="0"/>
              <a:t>What are we interested in? We’re interested in having a small prediction error. We’ll represent that as the expected squared error across different (</a:t>
            </a:r>
            <a:r>
              <a:rPr lang="en-US" dirty="0" err="1"/>
              <a:t>x,y</a:t>
            </a:r>
            <a:r>
              <a:rPr lang="en-US" dirty="0"/>
              <a:t>) values between the true y and the one learned by our learning algorithm. Next we do a typical trick in this area. We add and subtract in the true function. That’s just adding and subtracting by zero. But, we will group each of our terms with f(x) instead and expand the quadratic that way. So we treat (y-f(x)) as one term of our quadratic and f(x)-g(x) as the other.</a:t>
            </a:r>
          </a:p>
          <a:p>
            <a:endParaRPr lang="en-US" dirty="0"/>
          </a:p>
          <a:p>
            <a:r>
              <a:rPr lang="en-US" dirty="0"/>
              <a:t>Now, I put down the quadratic expansion as a reminder. We’ll treat y-f(x) as A and f(x) – g(x) as B.</a:t>
            </a:r>
          </a:p>
          <a:p>
            <a:endParaRPr lang="en-US" dirty="0"/>
          </a:p>
          <a:p>
            <a:r>
              <a:rPr lang="en-US" dirty="0"/>
              <a:t>That leaves us with these three terms. I can separate their expectations because they are just added together and expectations are linear. </a:t>
            </a:r>
          </a:p>
          <a:p>
            <a:endParaRPr lang="en-US" dirty="0"/>
          </a:p>
          <a:p>
            <a:r>
              <a:rPr lang="en-US" dirty="0"/>
              <a:t>Now I’m not going to go into great detail here, but the expected value of this middle term is actually zero. The reason is that the first term of the middle term is \epsilon and it is uncorrelated with the difference between the true function f(x) and the one selected by our learning algorithm. If that’s confusing for you, that’s ok. It’s worth just trusting me on that one then.</a:t>
            </a:r>
          </a:p>
        </p:txBody>
      </p:sp>
    </p:spTree>
    <p:extLst>
      <p:ext uri="{BB962C8B-B14F-4D97-AF65-F5344CB8AC3E}">
        <p14:creationId xmlns:p14="http://schemas.microsoft.com/office/powerpoint/2010/main" val="731789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CD0E46-72C2-B747-A85F-85AB8609FDC5}" type="slidenum">
              <a:rPr lang="en-US"/>
              <a:pPr/>
              <a:t>15</a:t>
            </a:fld>
            <a:endParaRPr lang="en-US"/>
          </a:p>
        </p:txBody>
      </p:sp>
      <p:sp>
        <p:nvSpPr>
          <p:cNvPr id="4403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0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so, we are now left with two terms. That first term is \epsilon^2 as y = f(x) + \epsilon. By definition, the expected value of \epsilon^2 is \sigma^2. That’s our irreducible error. We don’t have any control on it as it doesn’t depend on our learning algorithm. </a:t>
            </a:r>
          </a:p>
          <a:p>
            <a:endParaRPr lang="en-US" dirty="0"/>
          </a:p>
          <a:p>
            <a:r>
              <a:rPr lang="en-US" dirty="0"/>
              <a:t>So what we want to do to minimize prediction error is make the expected squared difference between the true function and the one our learning algorithm selects as small as possible. In some ways, this may feel like a lot of work for something we already knew, but we will see that it can help us get some insight.</a:t>
            </a:r>
          </a:p>
        </p:txBody>
      </p:sp>
    </p:spTree>
    <p:extLst>
      <p:ext uri="{BB962C8B-B14F-4D97-AF65-F5344CB8AC3E}">
        <p14:creationId xmlns:p14="http://schemas.microsoft.com/office/powerpoint/2010/main" val="3331771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596452-653B-C443-9705-CE16A4C32D6B}" type="slidenum">
              <a:rPr lang="en-US"/>
              <a:pPr/>
              <a:t>16</a:t>
            </a:fld>
            <a:endParaRPr lang="en-US"/>
          </a:p>
        </p:txBody>
      </p:sp>
      <p:sp>
        <p:nvSpPr>
          <p:cNvPr id="442370" name="Rectangle 1026"/>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2371" name="Rectangle 1027"/>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Although I’m not going into the details of the next steps of the derivation, by some similar logic, you can decompose the rest of the prediction error into these two terms. The first term is the difference between the true function and the expected function learned by the algorithm, all squared. We typically would like our learning algorithm to be expected to be the same as the true function. In statistics this term is called the bias, so with it being squared, it’s the bias squared.</a:t>
            </a:r>
          </a:p>
          <a:p>
            <a:endParaRPr lang="en-US" dirty="0"/>
          </a:p>
          <a:p>
            <a:r>
              <a:rPr lang="en-US" dirty="0"/>
              <a:t>The second term is the a bit different. It says across different data sets, how much should I expect the function selected by my learning algorithm to vary? This is the variance term. What’s fascinating about this is that one might have thought that only being expected to get the correct function would matter. That’s what the bias term includes and it is important. But we also have an equally important term for reducing prediction error – the amount of variability in the estimated function across training sets.</a:t>
            </a:r>
          </a:p>
        </p:txBody>
      </p:sp>
    </p:spTree>
    <p:extLst>
      <p:ext uri="{BB962C8B-B14F-4D97-AF65-F5344CB8AC3E}">
        <p14:creationId xmlns:p14="http://schemas.microsoft.com/office/powerpoint/2010/main" val="2269238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D456BA-E4E1-7E4B-9189-E84E8F1C23C3}" type="slidenum">
              <a:rPr lang="en-US"/>
              <a:pPr/>
              <a:t>17</a:t>
            </a:fld>
            <a:endParaRPr lang="en-US"/>
          </a:p>
        </p:txBody>
      </p:sp>
      <p:sp>
        <p:nvSpPr>
          <p:cNvPr id="44646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64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To make this a bit more intuitive, lets visualize this process by sampling according to the generative process, finding the function in each hypothesis space by minimizing the training error.</a:t>
            </a:r>
          </a:p>
          <a:p>
            <a:endParaRPr lang="en-US" dirty="0"/>
          </a:p>
          <a:p>
            <a:r>
              <a:rPr lang="en-US" dirty="0"/>
              <a:t>We will compare the expected learned function, the average of the learned function to the true one to see how much bias the learning method has. </a:t>
            </a:r>
          </a:p>
          <a:p>
            <a:endParaRPr lang="en-US" dirty="0"/>
          </a:p>
          <a:p>
            <a:r>
              <a:rPr lang="en-US" dirty="0"/>
              <a:t>We can also see how far g(x) varies from set to set to examine the amount of variance there is.</a:t>
            </a:r>
          </a:p>
        </p:txBody>
      </p:sp>
    </p:spTree>
    <p:extLst>
      <p:ext uri="{BB962C8B-B14F-4D97-AF65-F5344CB8AC3E}">
        <p14:creationId xmlns:p14="http://schemas.microsoft.com/office/powerpoint/2010/main" val="2298018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BA0C54-55E9-1A40-9892-8CF44290FC88}" type="slidenum">
              <a:rPr lang="en-US"/>
              <a:pPr/>
              <a:t>18</a:t>
            </a:fld>
            <a:endParaRPr lang="en-US"/>
          </a:p>
        </p:txBody>
      </p:sp>
      <p:sp>
        <p:nvSpPr>
          <p:cNvPr id="44851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85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Here is what it looks like when minimizing training error with a hypothesis space of linear functions. Each data set had 10 points. Each pink line is a learned g(x) for a data set and the red is their average. We can see that the red line is probably the closest one to the true function, but that there still is a good amount of error there. That’s to be expected – the true function is not possible to represent within the learning algorithm’s hypothesis space.</a:t>
            </a:r>
          </a:p>
        </p:txBody>
      </p:sp>
    </p:spTree>
    <p:extLst>
      <p:ext uri="{BB962C8B-B14F-4D97-AF65-F5344CB8AC3E}">
        <p14:creationId xmlns:p14="http://schemas.microsoft.com/office/powerpoint/2010/main" val="1250583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2F4863-F16B-A549-B7B8-F9B77588FC83}" type="slidenum">
              <a:rPr lang="en-US"/>
              <a:pPr/>
              <a:t>19</a:t>
            </a:fld>
            <a:endParaRPr lang="en-US"/>
          </a:p>
        </p:txBody>
      </p:sp>
      <p:sp>
        <p:nvSpPr>
          <p:cNvPr id="4505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05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Here is what it looks like when minimizing training error with a hypothesis space of quadratic functions. Each data set had 10 points. Each pink curve is a learned g(x) for a data set and the red is their average. The red curve is exactly on top of the black true function and so we can’t see it. We can see there’s very little variability around the true function too. So the bias and the variance are both low. It turns out that having a small hypothesis space that also includes the true function makes it a lot to easier to do well in minimize prediction error.</a:t>
            </a:r>
          </a:p>
        </p:txBody>
      </p:sp>
    </p:spTree>
    <p:extLst>
      <p:ext uri="{BB962C8B-B14F-4D97-AF65-F5344CB8AC3E}">
        <p14:creationId xmlns:p14="http://schemas.microsoft.com/office/powerpoint/2010/main" val="1054435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D08A05-A68F-F645-BAB6-C97F48897677}" type="slidenum">
              <a:rPr lang="en-US"/>
              <a:pPr/>
              <a:t>20</a:t>
            </a:fld>
            <a:endParaRPr lang="en-US"/>
          </a:p>
        </p:txBody>
      </p:sp>
      <p:sp>
        <p:nvSpPr>
          <p:cNvPr id="4526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26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Here is what it looks like when minimizing training error with a hypothesis space of 8</a:t>
            </a:r>
            <a:r>
              <a:rPr lang="en-US" baseline="30000" dirty="0"/>
              <a:t>th</a:t>
            </a:r>
            <a:r>
              <a:rPr lang="en-US" dirty="0"/>
              <a:t> degree polynomials functions. Each data set had 10 points. Each pink curve is a learned g(x) for a data set and the red is their average. Despite all the pink curves going all over the place, the average of all the learned 8-th degree polynomials curves, in red is actually pretty close to the true function plotted in black. So, the bias from this learning algorithm is still very small. That makes sense! The true function is within the hypothesis space of 8-th degree polynomials.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But the variance is astronomical. It’s the whole plot. It’s a lot larger than the variance for when we used lines. And so, the prediction error will be very large still.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597536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199FCA-450B-8947-B680-756CC54F9574}" type="slidenum">
              <a:rPr lang="en-US"/>
              <a:pPr/>
              <a:t>21</a:t>
            </a:fld>
            <a:endParaRPr lang="en-US"/>
          </a:p>
        </p:txBody>
      </p:sp>
      <p:sp>
        <p:nvSpPr>
          <p:cNvPr id="4546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46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In summary, when we use a quadratic function and generate data sets of 10 points each with Gaussian noise around each point and learn by minimizing training error, we get the following bias and variances</a:t>
            </a:r>
          </a:p>
        </p:txBody>
      </p:sp>
    </p:spTree>
    <p:extLst>
      <p:ext uri="{BB962C8B-B14F-4D97-AF65-F5344CB8AC3E}">
        <p14:creationId xmlns:p14="http://schemas.microsoft.com/office/powerpoint/2010/main" val="3875123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F6B68-75E7-2F4F-9556-51F08A03DD00}" type="slidenum">
              <a:rPr lang="en-US"/>
              <a:pPr/>
              <a:t>22</a:t>
            </a:fld>
            <a:endParaRPr lang="en-US"/>
          </a:p>
        </p:txBody>
      </p:sp>
      <p:sp>
        <p:nvSpPr>
          <p:cNvPr id="4567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67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Thus, although it might seem like it would be best to use the most flexible learning algorithm possible so we can capture any possible function, we will ultimately pay a cost in variance and end up doing poorly during prediction.</a:t>
            </a:r>
          </a:p>
          <a:p>
            <a:endParaRPr lang="en-US" dirty="0"/>
          </a:p>
          <a:p>
            <a:r>
              <a:rPr lang="en-US" dirty="0"/>
              <a:t>This is known as the bias-variance dilemma or tradeoff</a:t>
            </a:r>
          </a:p>
          <a:p>
            <a:endParaRPr lang="en-US" dirty="0"/>
          </a:p>
          <a:p>
            <a:r>
              <a:rPr lang="en-US" dirty="0"/>
              <a:t>I should note that this is an issue, but it is more of an issue when the number of parameters is similar to the amount of data. When we have a lot more data, say 100 data points per data set, </a:t>
            </a:r>
          </a:p>
        </p:txBody>
      </p:sp>
    </p:spTree>
    <p:extLst>
      <p:ext uri="{BB962C8B-B14F-4D97-AF65-F5344CB8AC3E}">
        <p14:creationId xmlns:p14="http://schemas.microsoft.com/office/powerpoint/2010/main" val="1157522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2A4EB6-FF84-B24D-AA69-C05217206B2B}" type="slidenum">
              <a:rPr lang="en-US"/>
              <a:pPr/>
              <a:t>23</a:t>
            </a:fld>
            <a:endParaRPr lang="en-US"/>
          </a:p>
        </p:txBody>
      </p:sp>
      <p:sp>
        <p:nvSpPr>
          <p:cNvPr id="4587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87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Using the space of quadratic functions does really well on both variance and bias</a:t>
            </a:r>
          </a:p>
        </p:txBody>
      </p:sp>
    </p:spTree>
    <p:extLst>
      <p:ext uri="{BB962C8B-B14F-4D97-AF65-F5344CB8AC3E}">
        <p14:creationId xmlns:p14="http://schemas.microsoft.com/office/powerpoint/2010/main" val="1465550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D8F354-8AEA-D941-8F9A-33766BEE540A}" type="slidenum">
              <a:rPr lang="en-US"/>
              <a:pPr/>
              <a:t>24</a:t>
            </a:fld>
            <a:endParaRPr lang="en-US"/>
          </a:p>
        </p:txBody>
      </p:sp>
      <p:sp>
        <p:nvSpPr>
          <p:cNvPr id="4608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08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so does the hypothesis space of 8-th degree polynomials.</a:t>
            </a:r>
          </a:p>
        </p:txBody>
      </p:sp>
    </p:spTree>
    <p:extLst>
      <p:ext uri="{BB962C8B-B14F-4D97-AF65-F5344CB8AC3E}">
        <p14:creationId xmlns:p14="http://schemas.microsoft.com/office/powerpoint/2010/main" val="924868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25</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So the moral is that having the most flexible general purpose learning mechanisms may not work well with small amounts of data without something to guide which hypotheses are better ahead of time. </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To make good predictions from small amounts of data, you need algorithms with bias that matches the problem being solved</a:t>
            </a:r>
          </a:p>
          <a:p>
            <a:endParaRPr lang="en-US" dirty="0"/>
          </a:p>
        </p:txBody>
      </p:sp>
    </p:spTree>
    <p:extLst>
      <p:ext uri="{BB962C8B-B14F-4D97-AF65-F5344CB8AC3E}">
        <p14:creationId xmlns:p14="http://schemas.microsoft.com/office/powerpoint/2010/main" val="3852878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26</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What does this mean for learning agents? Well, when we have the ability to comb through the entire internet worth of data, it might not be such a big deal to use a huge number of parameters. We’ve seen that deep learning methods can have a lot of success using large parameter sets. But it means that if we’re interested in how people act we should do so relative to the amount of data we believe they are exposed to. If we believe they are exposed to a limited amount of data, then we will need to look at how to constrain really flexible algorithms so that they can still be effective when learning from such small data sets too. </a:t>
            </a:r>
          </a:p>
        </p:txBody>
      </p:sp>
    </p:spTree>
    <p:extLst>
      <p:ext uri="{BB962C8B-B14F-4D97-AF65-F5344CB8AC3E}">
        <p14:creationId xmlns:p14="http://schemas.microsoft.com/office/powerpoint/2010/main" val="2824335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4879-5BAB-BA56-9650-3572220E7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16A8E-6461-F66F-2B08-80D4C3793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7435A-68F5-A58E-929C-FB93BADC7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FAB67-756B-42D7-F5A7-C6DFE5A5AA75}"/>
              </a:ext>
            </a:extLst>
          </p:cNvPr>
          <p:cNvSpPr>
            <a:spLocks noGrp="1"/>
          </p:cNvSpPr>
          <p:nvPr>
            <p:ph type="sldNum" sz="quarter" idx="5"/>
          </p:nvPr>
        </p:nvSpPr>
        <p:spPr/>
        <p:txBody>
          <a:bodyPr/>
          <a:lstStyle/>
          <a:p>
            <a:fld id="{D5C18A63-2409-0241-8255-D95D06F653A2}" type="slidenum">
              <a:rPr lang="en-US" smtClean="0"/>
              <a:t>27</a:t>
            </a:fld>
            <a:endParaRPr lang="en-US"/>
          </a:p>
        </p:txBody>
      </p:sp>
    </p:spTree>
    <p:extLst>
      <p:ext uri="{BB962C8B-B14F-4D97-AF65-F5344CB8AC3E}">
        <p14:creationId xmlns:p14="http://schemas.microsoft.com/office/powerpoint/2010/main" val="487291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are getting data points from some source, but we don’t’ really know too much about it. We see these data points here. There are different approaches we could take to estimating the distribution of these data. We could make strong assumptions about the nature of the data and assume they are all from a single gaussian distribution, like this blue curve. </a:t>
            </a:r>
          </a:p>
          <a:p>
            <a:endParaRPr lang="en-US" dirty="0"/>
          </a:p>
          <a:p>
            <a:r>
              <a:rPr lang="en-US" dirty="0"/>
              <a:t>Maybe we believe the data come from a mixture of three Gaussians and we fit those to these data. That would lead us to something like the purple curve. Alternatively we could think there are 9 Gaussians, one centered at each data point. We couldn’t easily estimate the variance then (we have fewer data points than parameters), but that’s ok, we could just assume some value and form a distribution like the gray one plotted above. That’s called a kernel density estimation technique.</a:t>
            </a:r>
          </a:p>
          <a:p>
            <a:endParaRPr lang="en-US" dirty="0"/>
          </a:p>
          <a:p>
            <a:r>
              <a:rPr lang="en-US" dirty="0"/>
              <a:t>Or we might not believe that there could be any variability in our data points and only expect them again precisely in the same form. That would lead us to something like the orange distribution where we sort of have a discrete distribution. That’s known as an empirical distribution function and is the assumption we use when we do something like bootstrapping.</a:t>
            </a:r>
          </a:p>
          <a:p>
            <a:endParaRPr lang="en-US" dirty="0"/>
          </a:p>
          <a:p>
            <a:r>
              <a:rPr lang="en-US" dirty="0"/>
              <a:t>All of these are reasonable probabilistic models for estimating a distribution. Some of them are limited to certain families of distributions, like in the case of the single Gaussian or mixture of 3 Gaussians. These are called parametric models. They work fine when they can adjust their parameters to capture the data because the data are within the family of distributions that is formed from varying the parameters in different ways.</a:t>
            </a:r>
          </a:p>
          <a:p>
            <a:endParaRPr lang="en-US" dirty="0"/>
          </a:p>
          <a:p>
            <a:r>
              <a:rPr lang="en-US" dirty="0"/>
              <a:t>The gray and orange models are different from the others. They are creating a new component to the distribution each time a new data point arrives. They might assume a small amount of variability around the observed data point is possible or simply believe that precisely the same data point will be observed again. These are more flexible. They can capture more distributions, but have f</a:t>
            </a:r>
          </a:p>
        </p:txBody>
      </p:sp>
      <p:sp>
        <p:nvSpPr>
          <p:cNvPr id="4" name="Slide Number Placeholder 3"/>
          <p:cNvSpPr>
            <a:spLocks noGrp="1"/>
          </p:cNvSpPr>
          <p:nvPr>
            <p:ph type="sldNum" sz="quarter" idx="5"/>
          </p:nvPr>
        </p:nvSpPr>
        <p:spPr/>
        <p:txBody>
          <a:bodyPr/>
          <a:lstStyle/>
          <a:p>
            <a:fld id="{D5C18A63-2409-0241-8255-D95D06F653A2}" type="slidenum">
              <a:rPr lang="en-US" smtClean="0"/>
              <a:t>28</a:t>
            </a:fld>
            <a:endParaRPr lang="en-US"/>
          </a:p>
        </p:txBody>
      </p:sp>
    </p:spTree>
    <p:extLst>
      <p:ext uri="{BB962C8B-B14F-4D97-AF65-F5344CB8AC3E}">
        <p14:creationId xmlns:p14="http://schemas.microsoft.com/office/powerpoint/2010/main" val="37457551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Nonparametric models still have parameters – in fact it might be more accurate to state that they have a massive number of parameters. Unlike their parametric counterparts which can only capture distributions within some family (say Gaussians with varied means or two Gaussians with varying means and variances), they have stronger guarantees in terms of converging to arbitrary families of distributions. This flexibility comes with a cost: they are mathematically much more difficult and approximation methods are more challenging.</a:t>
            </a:r>
          </a:p>
          <a:p>
            <a:endParaRPr lang="en-US" dirty="0"/>
          </a:p>
          <a:p>
            <a:r>
              <a:rPr lang="en-US" dirty="0"/>
              <a:t>Bayesian nonparametric models are both Bayesian and nonparametric. They are nonparametric in that they can encode any probability distributions using arbitrarily complex representations. I put a * there because if we were being really technical we would need to qualify that a bit more. Suffice it to say that they can capture many more distributions than being restricted to some family of distributions. For a finite set of data, different nonparametric methods form distributions that all capture the observed data to some extent. Bayesian nonparametric methods are also Bayesian in that in they have biases or priors that favor certain solutions over others. </a:t>
            </a:r>
          </a:p>
          <a:p>
            <a:endParaRPr lang="en-US" dirty="0"/>
          </a:p>
          <a:p>
            <a:r>
              <a:rPr lang="en-US" dirty="0"/>
              <a:t>They are Bayesian in that they are biased towards certain representations over others. For example, in the prior slide, we had two nonparametric distribution estimators: we had the gray kernel one that put little gaussians on every data point and also the orange one that put a stick on each distribution. A Bayesian nonparametric estimator allows one to favor one of these over the other and for that to potentially depend on the amount of data you’ve observed.</a:t>
            </a:r>
          </a:p>
          <a:p>
            <a:endParaRPr lang="en-US" dirty="0"/>
          </a:p>
          <a:p>
            <a:r>
              <a:rPr lang="en-US" dirty="0"/>
              <a:t>Most Bayesian nonparametric models are defined by the type of latent structure they are over. If you have one discrete latent property assigned per data point (whether that be a category, a place in a tree, or whatever), then you are usually in the family of Dirichlet process models. If you have multiple discrete properties per data point, which is usually what is used in feature representations, then you are using a Beta process. Both of these are actually built off of Poisson processes, which form the basis for Bayesian nonparametric models with discrete latent representations. </a:t>
            </a:r>
          </a:p>
          <a:p>
            <a:endParaRPr lang="en-US" dirty="0"/>
          </a:p>
          <a:p>
            <a:r>
              <a:rPr lang="en-US" dirty="0"/>
              <a:t>If we have continuous latent structure, then the corresponding Bayesian nonparametric process is a Gaussian process.</a:t>
            </a:r>
          </a:p>
        </p:txBody>
      </p:sp>
      <p:sp>
        <p:nvSpPr>
          <p:cNvPr id="4" name="Slide Number Placeholder 3"/>
          <p:cNvSpPr>
            <a:spLocks noGrp="1"/>
          </p:cNvSpPr>
          <p:nvPr>
            <p:ph type="sldNum" sz="quarter" idx="5"/>
          </p:nvPr>
        </p:nvSpPr>
        <p:spPr/>
        <p:txBody>
          <a:bodyPr/>
          <a:lstStyle/>
          <a:p>
            <a:fld id="{D5C18A63-2409-0241-8255-D95D06F653A2}" type="slidenum">
              <a:rPr lang="en-US" smtClean="0"/>
              <a:t>29</a:t>
            </a:fld>
            <a:endParaRPr lang="en-US"/>
          </a:p>
        </p:txBody>
      </p:sp>
    </p:spTree>
    <p:extLst>
      <p:ext uri="{BB962C8B-B14F-4D97-AF65-F5344CB8AC3E}">
        <p14:creationId xmlns:p14="http://schemas.microsoft.com/office/powerpoint/2010/main" val="38468681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motivate the Dirichlet process mixture model, we’ll return to the animal shelter example we discussed earlier in the semester. In it, we were representing different animals based on the size of their snouts. So, as a 1-d continuous value. Each animal’s snouts were assumed to be Gaussian distributed with their own mean and variance. We assumed there were 3 different types of animals and that each animal has its own Gaussian associated with it. We assumed that there was some distribution on the frequency of observing each animal and from there had the following generative process for the animal nose sizes. That allowed us to form a mixture distribution over snout sizes and given a snout size, predict which animal cluster/category it belongs to. </a:t>
            </a:r>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30</a:t>
            </a:fld>
            <a:endParaRPr lang="en-US"/>
          </a:p>
        </p:txBody>
      </p:sp>
    </p:spTree>
    <p:extLst>
      <p:ext uri="{BB962C8B-B14F-4D97-AF65-F5344CB8AC3E}">
        <p14:creationId xmlns:p14="http://schemas.microsoft.com/office/powerpoint/2010/main" val="1014923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EF347C-3C45-CF48-987F-DC0191B120D1}" type="slidenum">
              <a:rPr lang="en-US" altLang="x-none"/>
              <a:pPr/>
              <a:t>31</a:t>
            </a:fld>
            <a:endParaRPr lang="en-US" altLang="x-none"/>
          </a:p>
        </p:txBody>
      </p:sp>
      <p:sp>
        <p:nvSpPr>
          <p:cNvPr id="92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2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More generally, this is an example of a latent variable model where the observed data are generated by some latent unobserved structure. In this case, is the category or cluster that the animal belongs to. But what if we didn’t know what species there were? What if we were an alien that arrived on Earth and placed into the animal shelter. We wouldn’t know how many animal types or clusters there should be. How can we infer that along with which cluster each observed animal belongs to? </a:t>
            </a:r>
          </a:p>
          <a:p>
            <a:endParaRPr lang="en-US" altLang="x-none" dirty="0"/>
          </a:p>
          <a:p>
            <a:r>
              <a:rPr lang="en-US" altLang="x-none" dirty="0"/>
              <a:t>If we want to be Bayesian about it, and in the class we basically usually want to be Bayesian, we’ll want to put a probability distribution on </a:t>
            </a:r>
            <a:r>
              <a:rPr lang="en-US" altLang="x-none" dirty="0" err="1"/>
              <a:t>clusterings</a:t>
            </a:r>
            <a:r>
              <a:rPr lang="en-US" altLang="x-none" dirty="0"/>
              <a:t> that grows with the number of items we observe.</a:t>
            </a:r>
            <a:endParaRPr lang="x-none" altLang="x-none" dirty="0"/>
          </a:p>
        </p:txBody>
      </p:sp>
    </p:spTree>
    <p:extLst>
      <p:ext uri="{BB962C8B-B14F-4D97-AF65-F5344CB8AC3E}">
        <p14:creationId xmlns:p14="http://schemas.microsoft.com/office/powerpoint/2010/main" val="4267900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pick the number of clusters and the probability distribution over how items are clustered? </a:t>
            </a:r>
          </a:p>
          <a:p>
            <a:endParaRPr lang="en-US" dirty="0"/>
          </a:p>
          <a:p>
            <a:r>
              <a:rPr lang="en-US" dirty="0"/>
              <a:t>A bit on terminology. In statistics and combinatorics, this is usually referred to splitting the data into a partition, where the items are placed into K mutually exclusive sets that when combined together form the full data set again. </a:t>
            </a:r>
          </a:p>
          <a:p>
            <a:endParaRPr lang="en-US" dirty="0"/>
          </a:p>
          <a:p>
            <a:r>
              <a:rPr lang="en-US" dirty="0"/>
              <a:t>This is actually really tricky because the number of possible clusters for even a small number of items grows super exponentially. It’s given by the n-</a:t>
            </a:r>
            <a:r>
              <a:rPr lang="en-US" dirty="0" err="1"/>
              <a:t>th</a:t>
            </a:r>
            <a:r>
              <a:rPr lang="en-US" dirty="0"/>
              <a:t> Bell number and even with 10 items, there are over 100k ways of putting them into clusters!</a:t>
            </a:r>
          </a:p>
          <a:p>
            <a:endParaRPr lang="en-US" dirty="0"/>
          </a:p>
          <a:p>
            <a:r>
              <a:rPr lang="en-US" dirty="0"/>
              <a:t>One popular scheme for forming an exchangeable distribution over partitions is called the Chinese Restaurant Process. It has a single parameter \alpha. The name comes from two Berkeley statisticians, David Aldous and Jim Pitman, who loved going to dim sum restaurants in nearby Oakland. The restaurants are extremely large and feel like they have an infinite number of tables. Also, it seemed like they could always squeeze more people into a table no matter what. Inspired by these restaurants, they described a generative process for forming an exchangeable distribution on partitions that is defined sequentially. In the metaphor, customers are data points. The tables correspond to blocks or clusters. The arrangement of customers to tables defines a partition. It works as follows. The first customer comes in and sits and their own table. When the n-</a:t>
            </a:r>
            <a:r>
              <a:rPr lang="en-US" dirty="0" err="1"/>
              <a:t>th</a:t>
            </a:r>
            <a:r>
              <a:rPr lang="en-US" dirty="0"/>
              <a:t> customer comes in, they sit at each occupied table with probability proportional to the number of people sitting there. </a:t>
            </a:r>
          </a:p>
        </p:txBody>
      </p:sp>
      <p:sp>
        <p:nvSpPr>
          <p:cNvPr id="4" name="Slide Number Placeholder 3"/>
          <p:cNvSpPr>
            <a:spLocks noGrp="1"/>
          </p:cNvSpPr>
          <p:nvPr>
            <p:ph type="sldNum" sz="quarter" idx="5"/>
          </p:nvPr>
        </p:nvSpPr>
        <p:spPr/>
        <p:txBody>
          <a:bodyPr/>
          <a:lstStyle/>
          <a:p>
            <a:fld id="{D5C18A63-2409-0241-8255-D95D06F653A2}" type="slidenum">
              <a:rPr lang="en-US" smtClean="0"/>
              <a:t>32</a:t>
            </a:fld>
            <a:endParaRPr lang="en-US"/>
          </a:p>
        </p:txBody>
      </p:sp>
    </p:spTree>
    <p:extLst>
      <p:ext uri="{BB962C8B-B14F-4D97-AF65-F5344CB8AC3E}">
        <p14:creationId xmlns:p14="http://schemas.microsoft.com/office/powerpoint/2010/main" val="22222858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this procedure that was defined by the statisticians can be derived from the mixture model generative process we were working with before! </a:t>
            </a:r>
          </a:p>
          <a:p>
            <a:endParaRPr lang="en-US" dirty="0"/>
          </a:p>
          <a:p>
            <a:r>
              <a:rPr lang="en-US" dirty="0"/>
              <a:t>In general, we suppose there are N objects that belong to one of K clusters. For now, we’re not going to worry about the data distribution itself, we’re just worrying about how data points are assigned to clusters. We assume we do NOT know the mixture weights for our clusters. So we put a Dirichlet prior on them with parameter \alpha. The parameters for the Dirichlet distribution will depend on the number of clusters we have so far, so \alpha is more like the total amount of mass that the Dirichlet distribution has to distribute across the different clusters. It’s symmetric, so each of the parameter associated with each of our clusters is \alpha/K. The derivation for this model were covered in that intro tutorial I gave you with the Dirichlet-multinomial model. We don’t have time to go through this integral again, but if you work through it like we did in that tutorial, you end up with the following equation that is the ratio of normalizing constants for the Dirichlet distribution prior and the updated one based on the cluster assignments.</a:t>
            </a:r>
          </a:p>
          <a:p>
            <a:endParaRPr lang="en-US" dirty="0"/>
          </a:p>
          <a:p>
            <a:r>
              <a:rPr lang="en-US" dirty="0"/>
              <a:t>Now what is neat is you can take the infinite limit here. This takes a bit of care, which is why you have the * there, but the basic intuition is you separate those clusters that have at least one object in them from those that do not have any object associated with them. Since the number of objects is finite, you know that there’s only a finite number of clusters that have at least one object in them. I call these “used” clusters and it is denoted by K+. </a:t>
            </a:r>
          </a:p>
          <a:p>
            <a:endParaRPr lang="en-US" dirty="0"/>
          </a:p>
          <a:p>
            <a:r>
              <a:rPr lang="en-US" dirty="0"/>
              <a:t>Now it turns out this is equivalent to the CRP we defined earlier. It may not look that way here, but you can show they are identical. The intuition for it is as follows. </a:t>
            </a:r>
            <a:r>
              <a:rPr lang="en-US" dirty="0" err="1"/>
              <a:t>Everytime</a:t>
            </a:r>
            <a:r>
              <a:rPr lang="en-US" dirty="0"/>
              <a:t> you create a new table or cluster to use for a customer or data point, you multiply by \alpha. There are K+ of those, so that’s where \</a:t>
            </a:r>
            <a:r>
              <a:rPr lang="en-US" dirty="0" err="1"/>
              <a:t>alpha^K</a:t>
            </a:r>
            <a:r>
              <a:rPr lang="en-US" dirty="0"/>
              <a:t>+ comes from. Now every time we assign an item to an existing cluster, we get a term that is the number of items that had been in the cluster before it gets assigned (so that’s where the minus 1 comes from). We do that for each item that gets assigned to that cluster and so we get a factorial there. The ratio of gamma functions is the another way of writing the normalization term you get on each step of the process. That’s 1 for the first customer times 1/(1+\alpha) for the second customer times 1/(2+ \alpha) for the third all the way to 1/(N-1+\alpha) for the Nth customer. And voila, they are the same!</a:t>
            </a:r>
          </a:p>
          <a:p>
            <a:endParaRPr lang="en-US" dirty="0"/>
          </a:p>
        </p:txBody>
      </p:sp>
      <p:sp>
        <p:nvSpPr>
          <p:cNvPr id="4" name="Slide Number Placeholder 3"/>
          <p:cNvSpPr>
            <a:spLocks noGrp="1"/>
          </p:cNvSpPr>
          <p:nvPr>
            <p:ph type="sldNum" sz="quarter" idx="10"/>
          </p:nvPr>
        </p:nvSpPr>
        <p:spPr/>
        <p:txBody>
          <a:bodyPr/>
          <a:lstStyle/>
          <a:p>
            <a:fld id="{4859C510-E5B6-C94D-A16E-791A861FDCCA}" type="slidenum">
              <a:rPr lang="en-US" smtClean="0"/>
              <a:t>33</a:t>
            </a:fld>
            <a:endParaRPr lang="en-US"/>
          </a:p>
        </p:txBody>
      </p:sp>
    </p:spTree>
    <p:extLst>
      <p:ext uri="{BB962C8B-B14F-4D97-AF65-F5344CB8AC3E}">
        <p14:creationId xmlns:p14="http://schemas.microsoft.com/office/powerpoint/2010/main" val="6396664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34</a:t>
            </a:fld>
            <a:endParaRPr lang="en-US"/>
          </a:p>
        </p:txBody>
      </p:sp>
    </p:spTree>
    <p:extLst>
      <p:ext uri="{BB962C8B-B14F-4D97-AF65-F5344CB8AC3E}">
        <p14:creationId xmlns:p14="http://schemas.microsoft.com/office/powerpoint/2010/main" val="33203167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step back. What exactl</a:t>
            </a:r>
            <a:r>
              <a:rPr lang="en-US" baseline="0" dirty="0"/>
              <a:t>y is our goal?</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42</a:t>
            </a:fld>
            <a:endParaRPr lang="en-US"/>
          </a:p>
        </p:txBody>
      </p:sp>
    </p:spTree>
    <p:extLst>
      <p:ext uri="{BB962C8B-B14F-4D97-AF65-F5344CB8AC3E}">
        <p14:creationId xmlns:p14="http://schemas.microsoft.com/office/powerpoint/2010/main" val="1617788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Helvetica"/>
                <a:ea typeface="ＭＳ Ｐゴシック" charset="0"/>
                <a:cs typeface="Helvetica"/>
              </a:rPr>
              <a:t>How do we account for the mind using different representations to encode the same stimuli, depending on context?</a:t>
            </a:r>
          </a:p>
          <a:p>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43</a:t>
            </a:fld>
            <a:endParaRPr lang="en-US"/>
          </a:p>
        </p:txBody>
      </p:sp>
    </p:spTree>
    <p:extLst>
      <p:ext uri="{BB962C8B-B14F-4D97-AF65-F5344CB8AC3E}">
        <p14:creationId xmlns:p14="http://schemas.microsoft.com/office/powerpoint/2010/main" val="12218071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44</a:t>
            </a:fld>
            <a:endParaRPr lang="en-US"/>
          </a:p>
        </p:txBody>
      </p:sp>
    </p:spTree>
    <p:extLst>
      <p:ext uri="{BB962C8B-B14F-4D97-AF65-F5344CB8AC3E}">
        <p14:creationId xmlns:p14="http://schemas.microsoft.com/office/powerpoint/2010/main" val="21802758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45</a:t>
            </a:fld>
            <a:endParaRPr lang="en-US"/>
          </a:p>
        </p:txBody>
      </p:sp>
    </p:spTree>
    <p:extLst>
      <p:ext uri="{BB962C8B-B14F-4D97-AF65-F5344CB8AC3E}">
        <p14:creationId xmlns:p14="http://schemas.microsoft.com/office/powerpoint/2010/main" val="31630182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46</a:t>
            </a:fld>
            <a:endParaRPr lang="en-US"/>
          </a:p>
        </p:txBody>
      </p:sp>
    </p:spTree>
    <p:extLst>
      <p:ext uri="{BB962C8B-B14F-4D97-AF65-F5344CB8AC3E}">
        <p14:creationId xmlns:p14="http://schemas.microsoft.com/office/powerpoint/2010/main" val="2967215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a:t>
            </a:r>
            <a:r>
              <a:rPr lang="en-US"/>
              <a:t>, unseen, and CONTROL</a:t>
            </a:r>
          </a:p>
        </p:txBody>
      </p:sp>
      <p:sp>
        <p:nvSpPr>
          <p:cNvPr id="4" name="Slide Number Placeholder 3"/>
          <p:cNvSpPr>
            <a:spLocks noGrp="1"/>
          </p:cNvSpPr>
          <p:nvPr>
            <p:ph type="sldNum" sz="quarter" idx="10"/>
          </p:nvPr>
        </p:nvSpPr>
        <p:spPr/>
        <p:txBody>
          <a:bodyPr/>
          <a:lstStyle/>
          <a:p>
            <a:fld id="{9184BB18-312D-1E45-976C-12A3848813D9}" type="slidenum">
              <a:rPr lang="en-US" smtClean="0"/>
              <a:t>47</a:t>
            </a:fld>
            <a:endParaRPr lang="en-US"/>
          </a:p>
        </p:txBody>
      </p:sp>
    </p:spTree>
    <p:extLst>
      <p:ext uri="{BB962C8B-B14F-4D97-AF65-F5344CB8AC3E}">
        <p14:creationId xmlns:p14="http://schemas.microsoft.com/office/powerpoint/2010/main" val="4012465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a:t>
            </a:r>
            <a:r>
              <a:rPr lang="en-US"/>
              <a:t>, unseen, and CONTROL</a:t>
            </a:r>
          </a:p>
        </p:txBody>
      </p:sp>
      <p:sp>
        <p:nvSpPr>
          <p:cNvPr id="4" name="Slide Number Placeholder 3"/>
          <p:cNvSpPr>
            <a:spLocks noGrp="1"/>
          </p:cNvSpPr>
          <p:nvPr>
            <p:ph type="sldNum" sz="quarter" idx="10"/>
          </p:nvPr>
        </p:nvSpPr>
        <p:spPr/>
        <p:txBody>
          <a:bodyPr/>
          <a:lstStyle/>
          <a:p>
            <a:fld id="{9184BB18-312D-1E45-976C-12A3848813D9}" type="slidenum">
              <a:rPr lang="en-US" smtClean="0"/>
              <a:t>48</a:t>
            </a:fld>
            <a:endParaRPr lang="en-US"/>
          </a:p>
        </p:txBody>
      </p:sp>
    </p:spTree>
    <p:extLst>
      <p:ext uri="{BB962C8B-B14F-4D97-AF65-F5344CB8AC3E}">
        <p14:creationId xmlns:p14="http://schemas.microsoft.com/office/powerpoint/2010/main" val="24755893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Rot="1" noChangeAspect="1" noChangeArrowheads="1"/>
          </p:cNvSpPr>
          <p:nvPr>
            <p:ph type="sldImg"/>
          </p:nvPr>
        </p:nvSpPr>
        <p:spPr>
          <a:solidFill>
            <a:srgbClr val="FFFFFF"/>
          </a:solidFill>
          <a:ln/>
        </p:spPr>
      </p:sp>
      <p:sp>
        <p:nvSpPr>
          <p:cNvPr id="50178"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1372839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Rot="1" noChangeAspect="1" noChangeArrowheads="1"/>
          </p:cNvSpPr>
          <p:nvPr>
            <p:ph type="sldImg"/>
          </p:nvPr>
        </p:nvSpPr>
        <p:spPr>
          <a:solidFill>
            <a:srgbClr val="FFFFFF"/>
          </a:solidFill>
          <a:ln/>
        </p:spPr>
      </p:sp>
      <p:sp>
        <p:nvSpPr>
          <p:cNvPr id="52226"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2039588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Rot="1" noChangeAspect="1" noChangeArrowheads="1"/>
          </p:cNvSpPr>
          <p:nvPr>
            <p:ph type="sldImg"/>
          </p:nvPr>
        </p:nvSpPr>
        <p:spPr>
          <a:solidFill>
            <a:srgbClr val="FFFFFF"/>
          </a:solidFill>
          <a:ln/>
        </p:spPr>
      </p:sp>
      <p:sp>
        <p:nvSpPr>
          <p:cNvPr id="54274"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42825928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Rot="1" noChangeAspect="1" noChangeArrowheads="1"/>
          </p:cNvSpPr>
          <p:nvPr>
            <p:ph type="sldImg"/>
          </p:nvPr>
        </p:nvSpPr>
        <p:spPr>
          <a:solidFill>
            <a:srgbClr val="FFFFFF"/>
          </a:solidFill>
          <a:ln/>
        </p:spPr>
      </p:sp>
      <p:sp>
        <p:nvSpPr>
          <p:cNvPr id="54274"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1188531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Grp="1" noRot="1" noChangeAspect="1" noChangeArrowheads="1"/>
          </p:cNvSpPr>
          <p:nvPr>
            <p:ph type="sldImg"/>
          </p:nvPr>
        </p:nvSpPr>
        <p:spPr>
          <a:solidFill>
            <a:srgbClr val="FFFFFF"/>
          </a:solidFill>
          <a:ln/>
        </p:spPr>
      </p:sp>
      <p:sp>
        <p:nvSpPr>
          <p:cNvPr id="56322"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13971497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Helvetica"/>
                <a:cs typeface="Helvetica"/>
              </a:rPr>
              <a:t>Forming representations is an inductive problem, and, context dependent. Bayesian inference gives us the optimal solution:</a:t>
            </a:r>
          </a:p>
          <a:p>
            <a:endParaRPr lang="en-US" dirty="0"/>
          </a:p>
          <a:p>
            <a:endParaRPr lang="en-US" dirty="0"/>
          </a:p>
          <a:p>
            <a:r>
              <a:rPr lang="en-US" dirty="0"/>
              <a:t>Right now using matrix factorization, </a:t>
            </a:r>
          </a:p>
          <a:p>
            <a:r>
              <a:rPr lang="en-US" dirty="0"/>
              <a:t>BNP allows for the creation of symbolic units</a:t>
            </a:r>
            <a:r>
              <a:rPr lang="en-US" baseline="0" dirty="0"/>
              <a:t> from raw sensory input as needed to explain data.</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55</a:t>
            </a:fld>
            <a:endParaRPr lang="en-US"/>
          </a:p>
        </p:txBody>
      </p:sp>
    </p:spTree>
    <p:extLst>
      <p:ext uri="{BB962C8B-B14F-4D97-AF65-F5344CB8AC3E}">
        <p14:creationId xmlns:p14="http://schemas.microsoft.com/office/powerpoint/2010/main" val="28118272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Grp="1" noRot="1" noChangeAspect="1" noChangeArrowheads="1"/>
          </p:cNvSpPr>
          <p:nvPr>
            <p:ph type="sldImg"/>
          </p:nvPr>
        </p:nvSpPr>
        <p:spPr>
          <a:solidFill>
            <a:srgbClr val="FFFFFF"/>
          </a:solidFill>
          <a:ln/>
        </p:spPr>
      </p:sp>
      <p:sp>
        <p:nvSpPr>
          <p:cNvPr id="62466"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So, we are going to assume that all we are given is a set of images. To simplify the problem, we are going to assume that each of these images is a long string of binary pixels. So if the image was originally some 2-D representations, we are going to flatten it out into one dimension. And so the output we want is a set of features of to represent these objects, a vector of feature assignments for each image, and each feature</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corresponding image. We are also going to simplify the problem once more by assuming that feature ownership is binary (you either have it or you don</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t); however, our framework is general enough to be extended to these more complicated cases.</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40139722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Grp="1" noRot="1" noChangeAspect="1" noChangeArrowheads="1"/>
          </p:cNvSpPr>
          <p:nvPr>
            <p:ph type="sldImg"/>
          </p:nvPr>
        </p:nvSpPr>
        <p:spPr>
          <a:solidFill>
            <a:srgbClr val="FFFFFF"/>
          </a:solidFill>
          <a:ln/>
        </p:spPr>
      </p:sp>
      <p:sp>
        <p:nvSpPr>
          <p:cNvPr id="62466"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So, we are going to assume that all we are given is a set of images. To simplify the problem, we are going to assume that each of these images is a long string of binary pixels. So if the image was originally some 2-D representations, we are going to flatten it out into one dimension. And so the output we want is a set of features of to represent these objects, a vector of feature assignments for each image, and each feature</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corresponding image. We are also going to simplify the problem once more by assuming that feature ownership is binary (you either have it or you don</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t); however, our framework is general enough to be extended to these more complicated cases.</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32750539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go faster...</a:t>
            </a:r>
          </a:p>
        </p:txBody>
      </p:sp>
      <p:sp>
        <p:nvSpPr>
          <p:cNvPr id="4" name="Slide Number Placeholder 3"/>
          <p:cNvSpPr>
            <a:spLocks noGrp="1"/>
          </p:cNvSpPr>
          <p:nvPr>
            <p:ph type="sldNum" sz="quarter" idx="10"/>
          </p:nvPr>
        </p:nvSpPr>
        <p:spPr/>
        <p:txBody>
          <a:bodyPr/>
          <a:lstStyle/>
          <a:p>
            <a:fld id="{9184BB18-312D-1E45-976C-12A3848813D9}" type="slidenum">
              <a:rPr lang="en-US" smtClean="0"/>
              <a:t>61</a:t>
            </a:fld>
            <a:endParaRPr lang="en-US"/>
          </a:p>
        </p:txBody>
      </p:sp>
    </p:spTree>
    <p:extLst>
      <p:ext uri="{BB962C8B-B14F-4D97-AF65-F5344CB8AC3E}">
        <p14:creationId xmlns:p14="http://schemas.microsoft.com/office/powerpoint/2010/main" val="424303847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 Split</a:t>
            </a:r>
            <a:r>
              <a:rPr lang="en-US" baseline="0" dirty="0"/>
              <a:t> correlated and </a:t>
            </a:r>
            <a:r>
              <a:rPr lang="en-US" baseline="0" dirty="0" err="1"/>
              <a:t>idependent</a:t>
            </a:r>
            <a:r>
              <a:rPr lang="en-US" baseline="0" dirty="0"/>
              <a:t> into different slides</a:t>
            </a:r>
            <a:endParaRPr lang="en-US" dirty="0"/>
          </a:p>
          <a:p>
            <a:endParaRPr lang="en-US" dirty="0"/>
          </a:p>
          <a:p>
            <a:r>
              <a:rPr lang="en-US" dirty="0"/>
              <a:t>On individual test items:</a:t>
            </a:r>
          </a:p>
          <a:p>
            <a:r>
              <a:rPr lang="en-US" dirty="0"/>
              <a:t>IBP r</a:t>
            </a:r>
            <a:r>
              <a:rPr lang="en-US" baseline="0" dirty="0"/>
              <a:t> = 0.92ish; PCA r = 0.8ish; ICA r = 0.8ish Exemplar = 0.8ish prototype = 0.7ish</a:t>
            </a:r>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62</a:t>
            </a:fld>
            <a:endParaRPr lang="en-US"/>
          </a:p>
        </p:txBody>
      </p:sp>
    </p:spTree>
    <p:extLst>
      <p:ext uri="{BB962C8B-B14F-4D97-AF65-F5344CB8AC3E}">
        <p14:creationId xmlns:p14="http://schemas.microsoft.com/office/powerpoint/2010/main" val="5787865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DESCRIBE VISUAL SEARCH TASK, JUST GIVE RESULTS.</a:t>
            </a:r>
          </a:p>
        </p:txBody>
      </p:sp>
      <p:sp>
        <p:nvSpPr>
          <p:cNvPr id="4" name="Slide Number Placeholder 3"/>
          <p:cNvSpPr>
            <a:spLocks noGrp="1"/>
          </p:cNvSpPr>
          <p:nvPr>
            <p:ph type="sldNum" sz="quarter" idx="10"/>
          </p:nvPr>
        </p:nvSpPr>
        <p:spPr/>
        <p:txBody>
          <a:bodyPr/>
          <a:lstStyle/>
          <a:p>
            <a:fld id="{9184BB18-312D-1E45-976C-12A3848813D9}" type="slidenum">
              <a:rPr lang="en-US" smtClean="0"/>
              <a:t>64</a:t>
            </a:fld>
            <a:endParaRPr lang="en-US"/>
          </a:p>
        </p:txBody>
      </p:sp>
    </p:spTree>
    <p:extLst>
      <p:ext uri="{BB962C8B-B14F-4D97-AF65-F5344CB8AC3E}">
        <p14:creationId xmlns:p14="http://schemas.microsoft.com/office/powerpoint/2010/main" val="32068941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 Point out model broken</a:t>
            </a:r>
            <a:r>
              <a:rPr lang="en-US" baseline="0" dirty="0"/>
              <a:t> part</a:t>
            </a:r>
            <a:r>
              <a:rPr lang="en-US" dirty="0"/>
              <a:t>. Mention also learn types </a:t>
            </a:r>
            <a:r>
              <a:rPr lang="en-US"/>
              <a:t>of invariance.</a:t>
            </a:r>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80</a:t>
            </a:fld>
            <a:endParaRPr lang="en-US"/>
          </a:p>
        </p:txBody>
      </p:sp>
    </p:spTree>
    <p:extLst>
      <p:ext uri="{BB962C8B-B14F-4D97-AF65-F5344CB8AC3E}">
        <p14:creationId xmlns:p14="http://schemas.microsoft.com/office/powerpoint/2010/main" val="10454119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CHECK</a:t>
            </a:r>
            <a:r>
              <a:rPr lang="en-US" baseline="0" dirty="0"/>
              <a:t> TIME</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86</a:t>
            </a:fld>
            <a:endParaRPr lang="en-US"/>
          </a:p>
        </p:txBody>
      </p:sp>
    </p:spTree>
    <p:extLst>
      <p:ext uri="{BB962C8B-B14F-4D97-AF65-F5344CB8AC3E}">
        <p14:creationId xmlns:p14="http://schemas.microsoft.com/office/powerpoint/2010/main" val="7576743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87</a:t>
            </a:fld>
            <a:endParaRPr lang="en-US"/>
          </a:p>
        </p:txBody>
      </p:sp>
    </p:spTree>
    <p:extLst>
      <p:ext uri="{BB962C8B-B14F-4D97-AF65-F5344CB8AC3E}">
        <p14:creationId xmlns:p14="http://schemas.microsoft.com/office/powerpoint/2010/main" val="40797061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FAST CHECK</a:t>
            </a:r>
            <a:r>
              <a:rPr lang="en-US" baseline="0" dirty="0"/>
              <a:t> TIME</a:t>
            </a:r>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88</a:t>
            </a:fld>
            <a:endParaRPr lang="en-US"/>
          </a:p>
        </p:txBody>
      </p:sp>
    </p:spTree>
    <p:extLst>
      <p:ext uri="{BB962C8B-B14F-4D97-AF65-F5344CB8AC3E}">
        <p14:creationId xmlns:p14="http://schemas.microsoft.com/office/powerpoint/2010/main" val="25681963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90</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Formally, a collection of random variables</a:t>
            </a:r>
            <a:r>
              <a:rPr lang="en-US" baseline="0" dirty="0"/>
              <a:t> where any finite subset are Gaussian distributed</a:t>
            </a:r>
          </a:p>
          <a:p>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91</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Formally, a collection of random variables</a:t>
            </a:r>
            <a:r>
              <a:rPr lang="en-US" baseline="0" dirty="0"/>
              <a:t> where any finite subset are Gaussian distributed</a:t>
            </a:r>
          </a:p>
          <a:p>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92</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RQ = integrate over l^{-2} with Gamma prior</a:t>
            </a:r>
            <a:endParaRPr lang="en-US" baseline="0" dirty="0"/>
          </a:p>
          <a:p>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93</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RQ = integrate over l^{-2} with </a:t>
            </a:r>
            <a:r>
              <a:rPr lang="en-US"/>
              <a:t>Gamma prior</a:t>
            </a:r>
            <a:endParaRPr lang="en-US" baseline="0" dirty="0"/>
          </a:p>
          <a:p>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EF347C-3C45-CF48-987F-DC0191B120D1}" type="slidenum">
              <a:rPr lang="en-US" altLang="x-none"/>
              <a:pPr/>
              <a:t>98</a:t>
            </a:fld>
            <a:endParaRPr lang="en-US" altLang="x-none"/>
          </a:p>
        </p:txBody>
      </p:sp>
      <p:sp>
        <p:nvSpPr>
          <p:cNvPr id="92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2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x-none" altLang="x-none" dirty="0"/>
          </a:p>
        </p:txBody>
      </p:sp>
    </p:spTree>
    <p:extLst>
      <p:ext uri="{BB962C8B-B14F-4D97-AF65-F5344CB8AC3E}">
        <p14:creationId xmlns:p14="http://schemas.microsoft.com/office/powerpoint/2010/main" val="42298724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584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Calibri" charset="0"/>
              </a:rPr>
              <a:t>How do we formally specify the computational problem? One approach is to posit that the animal is building an internal model of the world. Classical conditioning procedures then cause the animal to modify its internal model to match the structure of the environment. Most tangibly, conditioned responses may represent predictions about the probability or magnitude of a US occurrence. </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713577F7-490C-1A45-882A-075E8A3B4952}" type="slidenum">
              <a:rPr lang="en-US">
                <a:latin typeface="Calibri" charset="0"/>
              </a:rPr>
              <a:pPr eaLnBrk="1" hangingPunct="1"/>
              <a:t>101</a:t>
            </a:fld>
            <a:endParaRPr lang="en-US">
              <a:latin typeface="Calibri" charset="0"/>
            </a:endParaRPr>
          </a:p>
        </p:txBody>
      </p:sp>
    </p:spTree>
    <p:extLst>
      <p:ext uri="{BB962C8B-B14F-4D97-AF65-F5344CB8AC3E}">
        <p14:creationId xmlns:p14="http://schemas.microsoft.com/office/powerpoint/2010/main" val="40484881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atin typeface="Calibri" charset="0"/>
              </a:rPr>
              <a:t>The question now is: what kind of internal model are animals building in their brains? I like this cartoon because it illustrates the vast range of internal models an animal could theoretically build.</a:t>
            </a:r>
          </a:p>
        </p:txBody>
      </p:sp>
      <p:sp>
        <p:nvSpPr>
          <p:cNvPr id="28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6CAA78AA-62F7-9E4D-973F-7BF5BB971904}" type="slidenum">
              <a:rPr lang="en-US">
                <a:latin typeface="Calibri" charset="0"/>
              </a:rPr>
              <a:pPr eaLnBrk="1" hangingPunct="1"/>
              <a:t>102</a:t>
            </a:fld>
            <a:endParaRPr lang="en-US">
              <a:latin typeface="Calibri" charset="0"/>
            </a:endParaRPr>
          </a:p>
        </p:txBody>
      </p:sp>
    </p:spTree>
    <p:extLst>
      <p:ext uri="{BB962C8B-B14F-4D97-AF65-F5344CB8AC3E}">
        <p14:creationId xmlns:p14="http://schemas.microsoft.com/office/powerpoint/2010/main" val="27703260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B7FF4C1C-AAAA-EE41-8E6A-D30B6FF3B481}" type="slidenum">
              <a:rPr lang="en-US">
                <a:latin typeface="Calibri" charset="0"/>
              </a:rPr>
              <a:pPr eaLnBrk="1" hangingPunct="1"/>
              <a:t>103</a:t>
            </a:fld>
            <a:endParaRPr lang="en-US">
              <a:latin typeface="Calibri" charset="0"/>
            </a:endParaRPr>
          </a:p>
        </p:txBody>
      </p:sp>
    </p:spTree>
    <p:extLst>
      <p:ext uri="{BB962C8B-B14F-4D97-AF65-F5344CB8AC3E}">
        <p14:creationId xmlns:p14="http://schemas.microsoft.com/office/powerpoint/2010/main" val="8247253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Calibri" charset="0"/>
              </a:rPr>
              <a:t>The point is that even in a simple classical conditioning experiment, many possible structures can be inferred.</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F7A4F924-A9C1-2540-8C93-126B42C93E6E}" type="slidenum">
              <a:rPr lang="en-US">
                <a:latin typeface="Calibri" charset="0"/>
              </a:rPr>
              <a:pPr eaLnBrk="1" hangingPunct="1"/>
              <a:t>104</a:t>
            </a:fld>
            <a:endParaRPr lang="en-US">
              <a:latin typeface="Calibri" charset="0"/>
            </a:endParaRPr>
          </a:p>
        </p:txBody>
      </p:sp>
    </p:spTree>
    <p:extLst>
      <p:ext uri="{BB962C8B-B14F-4D97-AF65-F5344CB8AC3E}">
        <p14:creationId xmlns:p14="http://schemas.microsoft.com/office/powerpoint/2010/main" val="18930983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348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6A439821-02AE-854A-B5C2-8511B8297860}" type="slidenum">
              <a:rPr lang="en-US">
                <a:latin typeface="Calibri" charset="0"/>
              </a:rPr>
              <a:pPr eaLnBrk="1" hangingPunct="1"/>
              <a:t>105</a:t>
            </a:fld>
            <a:endParaRPr lang="en-US">
              <a:latin typeface="Calibri" charset="0"/>
            </a:endParaRPr>
          </a:p>
        </p:txBody>
      </p:sp>
    </p:spTree>
    <p:extLst>
      <p:ext uri="{BB962C8B-B14F-4D97-AF65-F5344CB8AC3E}">
        <p14:creationId xmlns:p14="http://schemas.microsoft.com/office/powerpoint/2010/main" val="42642458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348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133F297-5DEF-E940-B965-46BB9C069A6C}" type="slidenum">
              <a:rPr lang="en-US">
                <a:latin typeface="Calibri" charset="0"/>
              </a:rPr>
              <a:pPr eaLnBrk="1" hangingPunct="1"/>
              <a:t>106</a:t>
            </a:fld>
            <a:endParaRPr lang="en-US">
              <a:latin typeface="Calibri" charset="0"/>
            </a:endParaRPr>
          </a:p>
        </p:txBody>
      </p:sp>
    </p:spTree>
    <p:extLst>
      <p:ext uri="{BB962C8B-B14F-4D97-AF65-F5344CB8AC3E}">
        <p14:creationId xmlns:p14="http://schemas.microsoft.com/office/powerpoint/2010/main" val="35030871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D320846E-AF45-6B4F-9A8B-5AC959D89CFC}" type="slidenum">
              <a:rPr lang="en-US">
                <a:latin typeface="Calibri" charset="0"/>
              </a:rPr>
              <a:pPr eaLnBrk="1" hangingPunct="1"/>
              <a:t>107</a:t>
            </a:fld>
            <a:endParaRPr lang="en-US">
              <a:latin typeface="Calibri" charset="0"/>
            </a:endParaRPr>
          </a:p>
        </p:txBody>
      </p:sp>
    </p:spTree>
    <p:extLst>
      <p:ext uri="{BB962C8B-B14F-4D97-AF65-F5344CB8AC3E}">
        <p14:creationId xmlns:p14="http://schemas.microsoft.com/office/powerpoint/2010/main" val="25817092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An internal model specified in this way leads directly to a mechanistic model of learning: the animal is dividing its observations into different groups (clusters) based on their statistics. The mechanism here is precisely Bayes</a:t>
            </a:r>
            <a:r>
              <a:rPr lang="ja-JP" altLang="en-US">
                <a:latin typeface="Calibri" charset="0"/>
              </a:rPr>
              <a:t>’</a:t>
            </a:r>
            <a:r>
              <a:rPr lang="en-US">
                <a:latin typeface="Calibri" charset="0"/>
              </a:rPr>
              <a:t> rule, which dictates how to take a generative model and invert it to recover the latent causes of one</a:t>
            </a:r>
            <a:r>
              <a:rPr lang="ja-JP" altLang="en-US">
                <a:latin typeface="Calibri" charset="0"/>
              </a:rPr>
              <a:t>’</a:t>
            </a:r>
            <a:r>
              <a:rPr lang="en-US">
                <a:latin typeface="Calibri" charset="0"/>
              </a:rPr>
              <a:t>s observations. Importantly, our model allows the animal to flexibly infer new latent causes when the statistics of its observations change.</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6F2B915D-34ED-3846-BA0F-C86FD8AA31D2}" type="slidenum">
              <a:rPr lang="en-US">
                <a:latin typeface="Calibri" charset="0"/>
              </a:rPr>
              <a:pPr eaLnBrk="1" hangingPunct="1"/>
              <a:t>108</a:t>
            </a:fld>
            <a:endParaRPr lang="en-US">
              <a:latin typeface="Calibri" charset="0"/>
            </a:endParaRPr>
          </a:p>
        </p:txBody>
      </p:sp>
    </p:spTree>
    <p:extLst>
      <p:ext uri="{BB962C8B-B14F-4D97-AF65-F5344CB8AC3E}">
        <p14:creationId xmlns:p14="http://schemas.microsoft.com/office/powerpoint/2010/main" val="30675301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Now I want to go over an example that is problematic for internal models that assume direct associations between CS and US.</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DFD8397E-A999-374E-85E9-C17901362BC9}" type="slidenum">
              <a:rPr lang="en-US">
                <a:latin typeface="Calibri" charset="0"/>
              </a:rPr>
              <a:pPr eaLnBrk="1" hangingPunct="1"/>
              <a:t>110</a:t>
            </a:fld>
            <a:endParaRPr lang="en-US">
              <a:latin typeface="Calibri" charset="0"/>
            </a:endParaRPr>
          </a:p>
        </p:txBody>
      </p:sp>
    </p:spTree>
    <p:extLst>
      <p:ext uri="{BB962C8B-B14F-4D97-AF65-F5344CB8AC3E}">
        <p14:creationId xmlns:p14="http://schemas.microsoft.com/office/powerpoint/2010/main" val="36037768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D8B614C7-9457-024D-A08C-44912992A8B0}" type="slidenum">
              <a:rPr lang="en-US">
                <a:latin typeface="Calibri" charset="0"/>
              </a:rPr>
              <a:pPr eaLnBrk="1" hangingPunct="1"/>
              <a:t>111</a:t>
            </a:fld>
            <a:endParaRPr lang="en-US">
              <a:latin typeface="Calibri" charset="0"/>
            </a:endParaRPr>
          </a:p>
        </p:txBody>
      </p:sp>
    </p:spTree>
    <p:extLst>
      <p:ext uri="{BB962C8B-B14F-4D97-AF65-F5344CB8AC3E}">
        <p14:creationId xmlns:p14="http://schemas.microsoft.com/office/powerpoint/2010/main" val="37465668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D3C1B35-7BC4-6B47-B783-F225C68C3D4E}" type="slidenum">
              <a:rPr lang="en-US">
                <a:latin typeface="Calibri" charset="0"/>
              </a:rPr>
              <a:pPr eaLnBrk="1" hangingPunct="1"/>
              <a:t>112</a:t>
            </a:fld>
            <a:endParaRPr lang="en-US">
              <a:latin typeface="Calibri" charset="0"/>
            </a:endParaRPr>
          </a:p>
        </p:txBody>
      </p:sp>
    </p:spTree>
    <p:extLst>
      <p:ext uri="{BB962C8B-B14F-4D97-AF65-F5344CB8AC3E}">
        <p14:creationId xmlns:p14="http://schemas.microsoft.com/office/powerpoint/2010/main" val="33073136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B458D9CF-0EB9-0E45-A67D-E1F6CBADCF07}" type="slidenum">
              <a:rPr lang="en-US">
                <a:latin typeface="Calibri" charset="0"/>
              </a:rPr>
              <a:pPr eaLnBrk="1" hangingPunct="1"/>
              <a:t>113</a:t>
            </a:fld>
            <a:endParaRPr lang="en-US">
              <a:latin typeface="Calibri" charset="0"/>
            </a:endParaRPr>
          </a:p>
        </p:txBody>
      </p:sp>
    </p:spTree>
    <p:extLst>
      <p:ext uri="{BB962C8B-B14F-4D97-AF65-F5344CB8AC3E}">
        <p14:creationId xmlns:p14="http://schemas.microsoft.com/office/powerpoint/2010/main" val="62250012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F82DBF0-1BC3-7841-9283-8664AC1DA20F}" type="slidenum">
              <a:rPr lang="en-US">
                <a:latin typeface="Calibri" charset="0"/>
              </a:rPr>
              <a:pPr eaLnBrk="1" hangingPunct="1"/>
              <a:t>114</a:t>
            </a:fld>
            <a:endParaRPr lang="en-US">
              <a:latin typeface="Calibri" charset="0"/>
            </a:endParaRPr>
          </a:p>
        </p:txBody>
      </p:sp>
    </p:spTree>
    <p:extLst>
      <p:ext uri="{BB962C8B-B14F-4D97-AF65-F5344CB8AC3E}">
        <p14:creationId xmlns:p14="http://schemas.microsoft.com/office/powerpoint/2010/main" val="33541363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8F50B411-8D36-894E-8C3C-E7EE591A7AB3}" type="slidenum">
              <a:rPr lang="en-US">
                <a:latin typeface="Calibri" charset="0"/>
              </a:rPr>
              <a:pPr eaLnBrk="1" hangingPunct="1"/>
              <a:t>115</a:t>
            </a:fld>
            <a:endParaRPr lang="en-US">
              <a:latin typeface="Calibri" charset="0"/>
            </a:endParaRPr>
          </a:p>
        </p:txBody>
      </p:sp>
    </p:spTree>
    <p:extLst>
      <p:ext uri="{BB962C8B-B14F-4D97-AF65-F5344CB8AC3E}">
        <p14:creationId xmlns:p14="http://schemas.microsoft.com/office/powerpoint/2010/main" val="28719302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atin typeface="Calibri" charset="0"/>
              </a:rPr>
              <a:t>We implemented an algorithm that implements Bayes</a:t>
            </a:r>
            <a:r>
              <a:rPr lang="ja-JP" altLang="en-US">
                <a:latin typeface="Calibri" charset="0"/>
              </a:rPr>
              <a:t>’</a:t>
            </a:r>
            <a:r>
              <a:rPr lang="en-US">
                <a:latin typeface="Calibri" charset="0"/>
              </a:rPr>
              <a:t> rule, and whose outputs are predictions about the probability of US occurrence. We took this probabiliistic prediction as a proxy for the conditonal response.</a:t>
            </a:r>
          </a:p>
        </p:txBody>
      </p:sp>
      <p:sp>
        <p:nvSpPr>
          <p:cNvPr id="4506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5B260D9-7164-AA4B-BC98-97316E2BFD7C}" type="slidenum">
              <a:rPr lang="en-US">
                <a:latin typeface="Calibri" charset="0"/>
              </a:rPr>
              <a:pPr eaLnBrk="1" hangingPunct="1"/>
              <a:t>116</a:t>
            </a:fld>
            <a:endParaRPr lang="en-US">
              <a:latin typeface="Calibri" charset="0"/>
            </a:endParaRPr>
          </a:p>
        </p:txBody>
      </p:sp>
    </p:spTree>
    <p:extLst>
      <p:ext uri="{BB962C8B-B14F-4D97-AF65-F5344CB8AC3E}">
        <p14:creationId xmlns:p14="http://schemas.microsoft.com/office/powerpoint/2010/main" val="22734483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6DBE3F4F-CAE9-C745-8812-DA00E3126772}" type="slidenum">
              <a:rPr lang="en-US">
                <a:latin typeface="Calibri" charset="0"/>
              </a:rPr>
              <a:pPr eaLnBrk="1" hangingPunct="1"/>
              <a:t>118</a:t>
            </a:fld>
            <a:endParaRPr lang="en-US">
              <a:latin typeface="Calibri" charset="0"/>
            </a:endParaRPr>
          </a:p>
        </p:txBody>
      </p:sp>
    </p:spTree>
    <p:extLst>
      <p:ext uri="{BB962C8B-B14F-4D97-AF65-F5344CB8AC3E}">
        <p14:creationId xmlns:p14="http://schemas.microsoft.com/office/powerpoint/2010/main" val="3374893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E045A4DF-1B70-194E-9C09-EBAFCAB93F92}" type="slidenum">
              <a:rPr lang="en-US">
                <a:latin typeface="Calibri" charset="0"/>
              </a:rPr>
              <a:pPr eaLnBrk="1" hangingPunct="1"/>
              <a:t>119</a:t>
            </a:fld>
            <a:endParaRPr lang="en-US">
              <a:latin typeface="Calibri" charset="0"/>
            </a:endParaRPr>
          </a:p>
        </p:txBody>
      </p:sp>
    </p:spTree>
    <p:extLst>
      <p:ext uri="{BB962C8B-B14F-4D97-AF65-F5344CB8AC3E}">
        <p14:creationId xmlns:p14="http://schemas.microsoft.com/office/powerpoint/2010/main" val="40561877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D29736E6-F336-E540-B67D-1C98DF5B4E15}" type="slidenum">
              <a:rPr lang="en-US">
                <a:latin typeface="Calibri" charset="0"/>
              </a:rPr>
              <a:pPr eaLnBrk="1" hangingPunct="1"/>
              <a:t>120</a:t>
            </a:fld>
            <a:endParaRPr lang="en-US">
              <a:latin typeface="Calibri" charset="0"/>
            </a:endParaRPr>
          </a:p>
        </p:txBody>
      </p:sp>
    </p:spTree>
    <p:extLst>
      <p:ext uri="{BB962C8B-B14F-4D97-AF65-F5344CB8AC3E}">
        <p14:creationId xmlns:p14="http://schemas.microsoft.com/office/powerpoint/2010/main" val="40458418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atin typeface="Calibri" charset="0"/>
            </a:endParaRP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6C9D49E2-1AD2-FF4B-A039-4644F157A955}" type="slidenum">
              <a:rPr lang="en-US">
                <a:latin typeface="Calibri" charset="0"/>
              </a:rPr>
              <a:pPr eaLnBrk="1" hangingPunct="1"/>
              <a:t>121</a:t>
            </a:fld>
            <a:endParaRPr lang="en-US">
              <a:latin typeface="Calibri" charset="0"/>
            </a:endParaRPr>
          </a:p>
        </p:txBody>
      </p:sp>
    </p:spTree>
    <p:extLst>
      <p:ext uri="{BB962C8B-B14F-4D97-AF65-F5344CB8AC3E}">
        <p14:creationId xmlns:p14="http://schemas.microsoft.com/office/powerpoint/2010/main" val="190774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Our model explains this finding by assuming that the animal infers that the pre-exposure and training phases in the </a:t>
            </a:r>
            <a:r>
              <a:rPr lang="ja-JP" altLang="en-US">
                <a:latin typeface="Calibri" charset="0"/>
              </a:rPr>
              <a:t>“</a:t>
            </a:r>
            <a:r>
              <a:rPr lang="en-US">
                <a:latin typeface="Calibri" charset="0"/>
              </a:rPr>
              <a:t>same</a:t>
            </a:r>
            <a:r>
              <a:rPr lang="ja-JP" altLang="en-US">
                <a:latin typeface="Calibri" charset="0"/>
              </a:rPr>
              <a:t>”</a:t>
            </a:r>
            <a:r>
              <a:rPr lang="en-US">
                <a:latin typeface="Calibri" charset="0"/>
              </a:rPr>
              <a:t> condition were generated by the same latent cause, and hence it will take more experience to override the no-US prediction learned in the pre-exposure phase. In contrast, in the </a:t>
            </a:r>
            <a:r>
              <a:rPr lang="ja-JP" altLang="en-US">
                <a:latin typeface="Calibri" charset="0"/>
              </a:rPr>
              <a:t>“</a:t>
            </a:r>
            <a:r>
              <a:rPr lang="en-US">
                <a:latin typeface="Calibri" charset="0"/>
              </a:rPr>
              <a:t>different</a:t>
            </a:r>
            <a:r>
              <a:rPr lang="ja-JP" altLang="en-US">
                <a:latin typeface="Calibri" charset="0"/>
              </a:rPr>
              <a:t>”</a:t>
            </a:r>
            <a:r>
              <a:rPr lang="en-US">
                <a:latin typeface="Calibri" charset="0"/>
              </a:rPr>
              <a:t> condition, the two phases are inferred to be generated by different latent causes, and hence the learning during the training phase is </a:t>
            </a:r>
            <a:r>
              <a:rPr lang="ja-JP" altLang="en-US">
                <a:latin typeface="Calibri" charset="0"/>
              </a:rPr>
              <a:t>“</a:t>
            </a:r>
            <a:r>
              <a:rPr lang="en-US">
                <a:latin typeface="Calibri" charset="0"/>
              </a:rPr>
              <a:t>protected</a:t>
            </a:r>
            <a:r>
              <a:rPr lang="ja-JP" altLang="en-US">
                <a:latin typeface="Calibri" charset="0"/>
              </a:rPr>
              <a:t>”</a:t>
            </a:r>
            <a:r>
              <a:rPr lang="en-US">
                <a:latin typeface="Calibri" charset="0"/>
              </a:rPr>
              <a:t> from the predictions learned in the pre-exposure phase.</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E7832BBE-182A-4543-8643-04A8A0477409}" type="slidenum">
              <a:rPr lang="en-US">
                <a:latin typeface="Calibri" charset="0"/>
              </a:rPr>
              <a:pPr eaLnBrk="1" hangingPunct="1"/>
              <a:t>122</a:t>
            </a:fld>
            <a:endParaRPr lang="en-US">
              <a:latin typeface="Calibri" charset="0"/>
            </a:endParaRPr>
          </a:p>
        </p:txBody>
      </p:sp>
    </p:spTree>
    <p:extLst>
      <p:ext uri="{BB962C8B-B14F-4D97-AF65-F5344CB8AC3E}">
        <p14:creationId xmlns:p14="http://schemas.microsoft.com/office/powerpoint/2010/main" val="17715736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Again, this relies on the animal</a:t>
            </a:r>
            <a:r>
              <a:rPr lang="ja-JP" altLang="en-US">
                <a:latin typeface="Calibri" charset="0"/>
              </a:rPr>
              <a:t>’</a:t>
            </a:r>
            <a:r>
              <a:rPr lang="en-US">
                <a:latin typeface="Calibri" charset="0"/>
              </a:rPr>
              <a:t>s ability to flexibly infer new clusters, so it predicts a role for the hippocampus.</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5B1BF18-93E1-2644-A5FD-7CF470C362F5}" type="slidenum">
              <a:rPr lang="en-US">
                <a:latin typeface="Calibri" charset="0"/>
              </a:rPr>
              <a:pPr eaLnBrk="1" hangingPunct="1"/>
              <a:t>123</a:t>
            </a:fld>
            <a:endParaRPr lang="en-US">
              <a:latin typeface="Calibri" charset="0"/>
            </a:endParaRPr>
          </a:p>
        </p:txBody>
      </p:sp>
    </p:spTree>
    <p:extLst>
      <p:ext uri="{BB962C8B-B14F-4D97-AF65-F5344CB8AC3E}">
        <p14:creationId xmlns:p14="http://schemas.microsoft.com/office/powerpoint/2010/main" val="6835167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ABA vs. ABB</a:t>
            </a:r>
          </a:p>
          <a:p>
            <a:pPr eaLnBrk="1" hangingPunct="1"/>
            <a:r>
              <a:rPr lang="en-US">
                <a:latin typeface="Calibri" charset="0"/>
              </a:rPr>
              <a:t>Only see renewal if extinction phase is performed when the animal can infer new clusters (~21)</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DC5B5350-A35F-8044-A41A-8B718DADEE0D}" type="slidenum">
              <a:rPr lang="en-US">
                <a:latin typeface="Calibri" charset="0"/>
              </a:rPr>
              <a:pPr eaLnBrk="1" hangingPunct="1"/>
              <a:t>124</a:t>
            </a:fld>
            <a:endParaRPr lang="en-US">
              <a:latin typeface="Calibri" charset="0"/>
            </a:endParaRPr>
          </a:p>
        </p:txBody>
      </p:sp>
    </p:spTree>
    <p:extLst>
      <p:ext uri="{BB962C8B-B14F-4D97-AF65-F5344CB8AC3E}">
        <p14:creationId xmlns:p14="http://schemas.microsoft.com/office/powerpoint/2010/main" val="200414481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ABA vs. ABB</a:t>
            </a:r>
          </a:p>
          <a:p>
            <a:pPr eaLnBrk="1" hangingPunct="1"/>
            <a:r>
              <a:rPr lang="en-US">
                <a:latin typeface="Calibri" charset="0"/>
              </a:rPr>
              <a:t>Only see renewal if extinction phase is performed when the animal can infer new clusters (~21)</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93F97C68-0DC4-154E-817F-0AD6EDA61D24}" type="slidenum">
              <a:rPr lang="en-US">
                <a:latin typeface="Calibri" charset="0"/>
              </a:rPr>
              <a:pPr eaLnBrk="1" hangingPunct="1"/>
              <a:t>125</a:t>
            </a:fld>
            <a:endParaRPr lang="en-US">
              <a:latin typeface="Calibri" charset="0"/>
            </a:endParaRPr>
          </a:p>
        </p:txBody>
      </p:sp>
    </p:spTree>
    <p:extLst>
      <p:ext uri="{BB962C8B-B14F-4D97-AF65-F5344CB8AC3E}">
        <p14:creationId xmlns:p14="http://schemas.microsoft.com/office/powerpoint/2010/main" val="183916120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atin typeface="Calibri" charset="0"/>
              </a:rPr>
              <a:t>Only see context-dependent LI when acquisition is performed when the animal can infer new clusters</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0E05FE9D-E86E-6B46-B715-9A3D0F43F07E}" type="slidenum">
              <a:rPr lang="en-US">
                <a:latin typeface="Calibri" charset="0"/>
              </a:rPr>
              <a:pPr eaLnBrk="1" hangingPunct="1"/>
              <a:t>126</a:t>
            </a:fld>
            <a:endParaRPr lang="en-US">
              <a:latin typeface="Calibri" charset="0"/>
            </a:endParaRPr>
          </a:p>
        </p:txBody>
      </p:sp>
    </p:spTree>
    <p:extLst>
      <p:ext uri="{BB962C8B-B14F-4D97-AF65-F5344CB8AC3E}">
        <p14:creationId xmlns:p14="http://schemas.microsoft.com/office/powerpoint/2010/main" val="95588644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dirty="0">
                <a:latin typeface="Calibri" charset="0"/>
              </a:rPr>
              <a:t>To summarize: I have argued that animals build an internal model of the world and use this model to make predictions about reinforcement, among other things. This has a mechanistic counterpart: using Bayes</a:t>
            </a:r>
            <a:r>
              <a:rPr lang="ja-JP" altLang="en-US" dirty="0">
                <a:latin typeface="Calibri" charset="0"/>
              </a:rPr>
              <a:t>’</a:t>
            </a:r>
            <a:r>
              <a:rPr lang="en-US" dirty="0">
                <a:latin typeface="Calibri" charset="0"/>
              </a:rPr>
              <a:t> rule to infer the latent causal structure of the world from observational data. One such source of data is context, which strongly constrains the animal</a:t>
            </a:r>
            <a:r>
              <a:rPr lang="ja-JP" altLang="en-US" dirty="0">
                <a:latin typeface="Calibri" charset="0"/>
              </a:rPr>
              <a:t>’</a:t>
            </a:r>
            <a:r>
              <a:rPr lang="en-US" dirty="0">
                <a:latin typeface="Calibri" charset="0"/>
              </a:rPr>
              <a:t>s inferences. Finally, an internal model would be unrealistically brittle if it </a:t>
            </a:r>
            <a:r>
              <a:rPr lang="en-US" dirty="0" err="1">
                <a:latin typeface="Calibri" charset="0"/>
              </a:rPr>
              <a:t>couldn</a:t>
            </a:r>
            <a:r>
              <a:rPr lang="ja-JP" altLang="en-US" dirty="0">
                <a:latin typeface="Calibri" charset="0"/>
              </a:rPr>
              <a:t>’</a:t>
            </a:r>
            <a:r>
              <a:rPr lang="en-US" dirty="0">
                <a:latin typeface="Calibri" charset="0"/>
              </a:rPr>
              <a:t>t infer new latent causes when the need arises; this played a crucial role in explaining most of these results, and I</a:t>
            </a:r>
            <a:r>
              <a:rPr lang="ja-JP" altLang="en-US" dirty="0">
                <a:latin typeface="Calibri" charset="0"/>
              </a:rPr>
              <a:t>’</a:t>
            </a:r>
            <a:r>
              <a:rPr lang="en-US" dirty="0" err="1">
                <a:latin typeface="Calibri" charset="0"/>
              </a:rPr>
              <a:t>ve</a:t>
            </a:r>
            <a:r>
              <a:rPr lang="en-US" dirty="0">
                <a:latin typeface="Calibri" charset="0"/>
              </a:rPr>
              <a:t> suggested that the hippocampus supports the ability to infer new latent causes.</a:t>
            </a:r>
          </a:p>
          <a:p>
            <a:pPr eaLnBrk="1" hangingPunct="1"/>
            <a:endParaRPr lang="en-US" dirty="0">
              <a:latin typeface="Calibri" charset="0"/>
            </a:endParaRPr>
          </a:p>
          <a:p>
            <a:pPr eaLnBrk="1" hangingPunct="1"/>
            <a:r>
              <a:rPr lang="en-US" dirty="0">
                <a:latin typeface="Calibri" charset="0"/>
              </a:rPr>
              <a:t>Needless to say, this model is incomplete and overly simplistic. However, my hope is that a normative approach will prove fruitful for developing, refining and testing experimentally these findings, which nicely complement the purely mechanistic models that have been dominant in animal learning theory.</a:t>
            </a:r>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FF2AA7C9-350C-D641-A885-84564EE3724B}" type="slidenum">
              <a:rPr lang="en-US">
                <a:latin typeface="Calibri" charset="0"/>
              </a:rPr>
              <a:pPr eaLnBrk="1" hangingPunct="1"/>
              <a:t>127</a:t>
            </a:fld>
            <a:endParaRPr lang="en-US">
              <a:latin typeface="Calibri" charset="0"/>
            </a:endParaRPr>
          </a:p>
        </p:txBody>
      </p:sp>
    </p:spTree>
    <p:extLst>
      <p:ext uri="{BB962C8B-B14F-4D97-AF65-F5344CB8AC3E}">
        <p14:creationId xmlns:p14="http://schemas.microsoft.com/office/powerpoint/2010/main" val="3944383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4/5/2025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4/5/2025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4/5/2025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xfrm>
            <a:off x="892969" y="1946672"/>
            <a:ext cx="7358063" cy="4018359"/>
          </a:xfrm>
          <a:prstGeom prst="rect">
            <a:avLst/>
          </a:prstGeom>
        </p:spPr>
        <p:txBody>
          <a:bodyPr/>
          <a:lstStyle>
            <a:lvl1pPr>
              <a:spcBef>
                <a:spcPts val="1687"/>
              </a:spcBef>
            </a:lvl1pPr>
            <a:lvl2pPr>
              <a:spcBef>
                <a:spcPts val="1687"/>
              </a:spcBef>
            </a:lvl2pPr>
            <a:lvl3pPr>
              <a:spcBef>
                <a:spcPts val="1687"/>
              </a:spcBef>
            </a:lvl3pPr>
            <a:lvl4pPr>
              <a:spcBef>
                <a:spcPts val="1687"/>
              </a:spcBef>
            </a:lvl4pPr>
            <a:lvl5pPr>
              <a:spcBef>
                <a:spcPts val="1687"/>
              </a:spcBef>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032078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lank copy 1">
    <p:spTree>
      <p:nvGrpSpPr>
        <p:cNvPr id="1" name=""/>
        <p:cNvGrpSpPr/>
        <p:nvPr/>
      </p:nvGrpSpPr>
      <p:grpSpPr>
        <a:xfrm>
          <a:off x="0" y="0"/>
          <a:ext cx="0" cy="0"/>
          <a:chOff x="0" y="0"/>
          <a:chExt cx="0" cy="0"/>
        </a:xfrm>
      </p:grpSpPr>
      <p:sp>
        <p:nvSpPr>
          <p:cNvPr id="30" name="Shape 30"/>
          <p:cNvSpPr>
            <a:spLocks noGrp="1"/>
          </p:cNvSpPr>
          <p:nvPr>
            <p:ph type="sldNum" sz="quarter" idx="2"/>
          </p:nvPr>
        </p:nvSpPr>
        <p:spPr>
          <a:xfrm>
            <a:off x="4418555" y="6540978"/>
            <a:ext cx="251672" cy="250068"/>
          </a:xfrm>
          <a:prstGeom prst="rect">
            <a:avLst/>
          </a:prstGeom>
          <a:ln w="12700">
            <a:miter lim="400000"/>
          </a:ln>
        </p:spPr>
        <p:txBody>
          <a:bodyPr wrap="none" lIns="38100" tIns="38100" rIns="38100" bIns="38100">
            <a:spAutoFit/>
          </a:bodyPr>
          <a:lstStyle>
            <a:lvl1pPr>
              <a:defRPr sz="1125">
                <a:latin typeface="Gill Sans"/>
                <a:ea typeface="Gill Sans"/>
                <a:cs typeface="Gill Sans"/>
                <a:sym typeface="Gill Sans"/>
              </a:defRPr>
            </a:lvl1pPr>
          </a:lstStyle>
          <a:p>
            <a:pPr lvl="0"/>
            <a:fld id="{86CB4B4D-7CA3-9044-876B-883B54F8677D}" type="slidenum">
              <a:t>‹#›</a:t>
            </a:fld>
            <a:endParaRPr/>
          </a:p>
        </p:txBody>
      </p:sp>
    </p:spTree>
    <p:extLst>
      <p:ext uri="{BB962C8B-B14F-4D97-AF65-F5344CB8AC3E}">
        <p14:creationId xmlns:p14="http://schemas.microsoft.com/office/powerpoint/2010/main" val="23136662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4/5/2025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oleObject" Target="../embeddings/oleObject4.bin"/><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4.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7.bin"/><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7.bin"/><Relationship Id="rId10" Type="http://schemas.openxmlformats.org/officeDocument/2006/relationships/image" Target="../media/image16.emf"/><Relationship Id="rId4" Type="http://schemas.openxmlformats.org/officeDocument/2006/relationships/image" Target="../media/image12.emf"/><Relationship Id="rId9"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11.bin"/><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1.png"/><Relationship Id="rId26" Type="http://schemas.openxmlformats.org/officeDocument/2006/relationships/image" Target="../media/image35.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39.png"/><Relationship Id="rId42" Type="http://schemas.openxmlformats.org/officeDocument/2006/relationships/image" Target="../media/image43.png"/><Relationship Id="rId47" Type="http://schemas.openxmlformats.org/officeDocument/2006/relationships/customXml" Target="../ink/ink23.xml"/><Relationship Id="rId7" Type="http://schemas.openxmlformats.org/officeDocument/2006/relationships/customXml" Target="../ink/ink3.xml"/><Relationship Id="rId2" Type="http://schemas.openxmlformats.org/officeDocument/2006/relationships/notesSlide" Target="../notesSlides/notesSlide28.xml"/><Relationship Id="rId16" Type="http://schemas.openxmlformats.org/officeDocument/2006/relationships/image" Target="../media/image30.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customXml" Target="../ink/ink5.xml"/><Relationship Id="rId24" Type="http://schemas.openxmlformats.org/officeDocument/2006/relationships/image" Target="../media/image34.png"/><Relationship Id="rId32" Type="http://schemas.openxmlformats.org/officeDocument/2006/relationships/image" Target="../media/image38.png"/><Relationship Id="rId37" Type="http://schemas.openxmlformats.org/officeDocument/2006/relationships/customXml" Target="../ink/ink18.xml"/><Relationship Id="rId40" Type="http://schemas.openxmlformats.org/officeDocument/2006/relationships/image" Target="../media/image42.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6.png"/><Relationship Id="rId36" Type="http://schemas.openxmlformats.org/officeDocument/2006/relationships/image" Target="../media/image40.png"/><Relationship Id="rId10" Type="http://schemas.openxmlformats.org/officeDocument/2006/relationships/image" Target="../media/image27.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44.png"/><Relationship Id="rId4" Type="http://schemas.openxmlformats.org/officeDocument/2006/relationships/image" Target="../media/image24.png"/><Relationship Id="rId9" Type="http://schemas.openxmlformats.org/officeDocument/2006/relationships/customXml" Target="../ink/ink4.xml"/><Relationship Id="rId14" Type="http://schemas.openxmlformats.org/officeDocument/2006/relationships/image" Target="../media/image29.png"/><Relationship Id="rId22" Type="http://schemas.openxmlformats.org/officeDocument/2006/relationships/image" Target="../media/image33.png"/><Relationship Id="rId27" Type="http://schemas.openxmlformats.org/officeDocument/2006/relationships/customXml" Target="../ink/ink13.xml"/><Relationship Id="rId30" Type="http://schemas.openxmlformats.org/officeDocument/2006/relationships/image" Target="../media/image37.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46.png"/><Relationship Id="rId8" Type="http://schemas.openxmlformats.org/officeDocument/2006/relationships/image" Target="../media/image26.png"/><Relationship Id="rId3" Type="http://schemas.openxmlformats.org/officeDocument/2006/relationships/customXml" Target="../ink/ink1.xml"/><Relationship Id="rId12" Type="http://schemas.openxmlformats.org/officeDocument/2006/relationships/image" Target="../media/image28.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41.png"/><Relationship Id="rId46" Type="http://schemas.openxmlformats.org/officeDocument/2006/relationships/image" Target="../media/image45.png"/><Relationship Id="rId20" Type="http://schemas.openxmlformats.org/officeDocument/2006/relationships/image" Target="../media/image32.png"/><Relationship Id="rId41" Type="http://schemas.openxmlformats.org/officeDocument/2006/relationships/customXml" Target="../ink/ink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notesSlide" Target="../notesSlides/notesSlide30.xml"/><Relationship Id="rId16"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jpe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jpeg"/><Relationship Id="rId9" Type="http://schemas.openxmlformats.org/officeDocument/2006/relationships/image" Target="../media/image53.png"/><Relationship Id="rId1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3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emf"/><Relationship Id="rId7" Type="http://schemas.openxmlformats.org/officeDocument/2006/relationships/image" Target="../media/image80.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png"/><Relationship Id="rId9" Type="http://schemas.openxmlformats.org/officeDocument/2006/relationships/image" Target="../media/image82.png"/></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99.jpeg"/><Relationship Id="rId4" Type="http://schemas.openxmlformats.org/officeDocument/2006/relationships/image" Target="../media/image98.jpeg"/></Relationships>
</file>

<file path=ppt/slides/_rels/slide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47.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0.png"/><Relationship Id="rId3" Type="http://schemas.openxmlformats.org/officeDocument/2006/relationships/image" Target="../media/image107.png"/><Relationship Id="rId21" Type="http://schemas.openxmlformats.org/officeDocument/2006/relationships/image" Target="../media/image125.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29.png"/><Relationship Id="rId2" Type="http://schemas.openxmlformats.org/officeDocument/2006/relationships/notesSlide" Target="../notesSlides/notesSlide40.xml"/><Relationship Id="rId16" Type="http://schemas.openxmlformats.org/officeDocument/2006/relationships/image" Target="../media/image120.png"/><Relationship Id="rId20" Type="http://schemas.openxmlformats.org/officeDocument/2006/relationships/image" Target="../media/image124.png"/><Relationship Id="rId29"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15.png"/><Relationship Id="rId24" Type="http://schemas.openxmlformats.org/officeDocument/2006/relationships/image" Target="../media/image128.png"/><Relationship Id="rId5" Type="http://schemas.openxmlformats.org/officeDocument/2006/relationships/image" Target="../media/image109.png"/><Relationship Id="rId15" Type="http://schemas.openxmlformats.org/officeDocument/2006/relationships/image" Target="../media/image119.png"/><Relationship Id="rId23" Type="http://schemas.openxmlformats.org/officeDocument/2006/relationships/image" Target="../media/image127.png"/><Relationship Id="rId28" Type="http://schemas.openxmlformats.org/officeDocument/2006/relationships/image" Target="../media/image132.png"/><Relationship Id="rId10" Type="http://schemas.openxmlformats.org/officeDocument/2006/relationships/image" Target="../media/image114.png"/><Relationship Id="rId19" Type="http://schemas.openxmlformats.org/officeDocument/2006/relationships/image" Target="../media/image123.png"/><Relationship Id="rId31" Type="http://schemas.openxmlformats.org/officeDocument/2006/relationships/image" Target="../media/image135.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 Id="rId22" Type="http://schemas.openxmlformats.org/officeDocument/2006/relationships/image" Target="../media/image126.png"/><Relationship Id="rId27" Type="http://schemas.openxmlformats.org/officeDocument/2006/relationships/image" Target="../media/image131.png"/><Relationship Id="rId30" Type="http://schemas.openxmlformats.org/officeDocument/2006/relationships/image" Target="../media/image134.png"/></Relationships>
</file>

<file path=ppt/slides/_rels/slide48.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1.png"/><Relationship Id="rId3" Type="http://schemas.openxmlformats.org/officeDocument/2006/relationships/image" Target="../media/image107.png"/><Relationship Id="rId21" Type="http://schemas.openxmlformats.org/officeDocument/2006/relationships/image" Target="../media/image127.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30.png"/><Relationship Id="rId2" Type="http://schemas.openxmlformats.org/officeDocument/2006/relationships/notesSlide" Target="../notesSlides/notesSlide41.xml"/><Relationship Id="rId16" Type="http://schemas.openxmlformats.org/officeDocument/2006/relationships/image" Target="../media/image120.png"/><Relationship Id="rId20" Type="http://schemas.openxmlformats.org/officeDocument/2006/relationships/image" Target="../media/image126.png"/><Relationship Id="rId29"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15.png"/><Relationship Id="rId24" Type="http://schemas.openxmlformats.org/officeDocument/2006/relationships/image" Target="../media/image129.png"/><Relationship Id="rId5" Type="http://schemas.openxmlformats.org/officeDocument/2006/relationships/image" Target="../media/image109.png"/><Relationship Id="rId15" Type="http://schemas.openxmlformats.org/officeDocument/2006/relationships/image" Target="../media/image119.png"/><Relationship Id="rId23" Type="http://schemas.openxmlformats.org/officeDocument/2006/relationships/image" Target="../media/image128.png"/><Relationship Id="rId28" Type="http://schemas.openxmlformats.org/officeDocument/2006/relationships/image" Target="../media/image133.png"/><Relationship Id="rId10" Type="http://schemas.openxmlformats.org/officeDocument/2006/relationships/image" Target="../media/image114.png"/><Relationship Id="rId19" Type="http://schemas.openxmlformats.org/officeDocument/2006/relationships/image" Target="../media/image125.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 Id="rId22" Type="http://schemas.openxmlformats.org/officeDocument/2006/relationships/image" Target="../media/image123.png"/><Relationship Id="rId27" Type="http://schemas.openxmlformats.org/officeDocument/2006/relationships/image" Target="../media/image132.png"/><Relationship Id="rId30" Type="http://schemas.openxmlformats.org/officeDocument/2006/relationships/image" Target="../media/image135.png"/></Relationships>
</file>

<file path=ppt/slides/_rels/slide4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3" Type="http://schemas.openxmlformats.org/officeDocument/2006/relationships/image" Target="../media/image137.png"/><Relationship Id="rId7" Type="http://schemas.openxmlformats.org/officeDocument/2006/relationships/image" Target="../media/image141.png"/><Relationship Id="rId12" Type="http://schemas.openxmlformats.org/officeDocument/2006/relationships/image" Target="../media/image14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40.png"/><Relationship Id="rId11" Type="http://schemas.openxmlformats.org/officeDocument/2006/relationships/image" Target="../media/image145.png"/><Relationship Id="rId5" Type="http://schemas.openxmlformats.org/officeDocument/2006/relationships/image" Target="../media/image139.png"/><Relationship Id="rId10" Type="http://schemas.openxmlformats.org/officeDocument/2006/relationships/image" Target="../media/image144.png"/><Relationship Id="rId4" Type="http://schemas.openxmlformats.org/officeDocument/2006/relationships/image" Target="../media/image138.png"/><Relationship Id="rId9" Type="http://schemas.openxmlformats.org/officeDocument/2006/relationships/image" Target="../media/image143.png"/></Relationships>
</file>

<file path=ppt/slides/_rels/slide5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7.png"/><Relationship Id="rId7" Type="http://schemas.openxmlformats.org/officeDocument/2006/relationships/image" Target="../media/image150.png"/><Relationship Id="rId12" Type="http://schemas.openxmlformats.org/officeDocument/2006/relationships/image" Target="../media/image14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41.png"/><Relationship Id="rId5" Type="http://schemas.openxmlformats.org/officeDocument/2006/relationships/image" Target="../media/image149.png"/><Relationship Id="rId10" Type="http://schemas.openxmlformats.org/officeDocument/2006/relationships/image" Target="../media/image140.png"/><Relationship Id="rId4" Type="http://schemas.openxmlformats.org/officeDocument/2006/relationships/image" Target="../media/image148.png"/><Relationship Id="rId9" Type="http://schemas.openxmlformats.org/officeDocument/2006/relationships/image" Target="../media/image139.png"/></Relationships>
</file>

<file path=ppt/slides/_rels/slide52.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0.png"/><Relationship Id="rId18" Type="http://schemas.openxmlformats.org/officeDocument/2006/relationships/image" Target="../media/image138.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39.png"/><Relationship Id="rId17" Type="http://schemas.openxmlformats.org/officeDocument/2006/relationships/image" Target="../media/image140.png"/><Relationship Id="rId2" Type="http://schemas.openxmlformats.org/officeDocument/2006/relationships/notesSlide" Target="../notesSlides/notesSlide45.xml"/><Relationship Id="rId16"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41.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42.png"/></Relationships>
</file>

<file path=ppt/slides/_rels/slide53.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10.png"/><Relationship Id="rId3" Type="http://schemas.openxmlformats.org/officeDocument/2006/relationships/image" Target="../media/image137.png"/><Relationship Id="rId7" Type="http://schemas.openxmlformats.org/officeDocument/2006/relationships/image" Target="../media/image135.png"/><Relationship Id="rId12" Type="http://schemas.openxmlformats.org/officeDocument/2006/relationships/image" Target="../media/image107.png"/><Relationship Id="rId2" Type="http://schemas.openxmlformats.org/officeDocument/2006/relationships/notesSlide" Target="../notesSlides/notesSlide46.xml"/><Relationship Id="rId16"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129.png"/><Relationship Id="rId11" Type="http://schemas.openxmlformats.org/officeDocument/2006/relationships/image" Target="../media/image163.png"/><Relationship Id="rId5" Type="http://schemas.openxmlformats.org/officeDocument/2006/relationships/image" Target="../media/image123.png"/><Relationship Id="rId15" Type="http://schemas.openxmlformats.org/officeDocument/2006/relationships/image" Target="../media/image108.png"/><Relationship Id="rId10" Type="http://schemas.openxmlformats.org/officeDocument/2006/relationships/image" Target="../media/image124.png"/><Relationship Id="rId4" Type="http://schemas.openxmlformats.org/officeDocument/2006/relationships/image" Target="../media/image126.png"/><Relationship Id="rId9" Type="http://schemas.openxmlformats.org/officeDocument/2006/relationships/image" Target="../media/image162.png"/><Relationship Id="rId14" Type="http://schemas.openxmlformats.org/officeDocument/2006/relationships/image" Target="../media/image112.png"/></Relationships>
</file>

<file path=ppt/slides/_rels/slide54.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2.png"/><Relationship Id="rId18" Type="http://schemas.openxmlformats.org/officeDocument/2006/relationships/image" Target="../media/image135.png"/><Relationship Id="rId3" Type="http://schemas.openxmlformats.org/officeDocument/2006/relationships/image" Target="../media/image125.png"/><Relationship Id="rId7" Type="http://schemas.openxmlformats.org/officeDocument/2006/relationships/image" Target="../media/image123.png"/><Relationship Id="rId12" Type="http://schemas.openxmlformats.org/officeDocument/2006/relationships/image" Target="../media/image131.png"/><Relationship Id="rId17" Type="http://schemas.openxmlformats.org/officeDocument/2006/relationships/image" Target="../media/image134.png"/><Relationship Id="rId2" Type="http://schemas.openxmlformats.org/officeDocument/2006/relationships/image" Target="../media/image165.png"/><Relationship Id="rId16"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0.png"/><Relationship Id="rId5" Type="http://schemas.openxmlformats.org/officeDocument/2006/relationships/image" Target="../media/image119.png"/><Relationship Id="rId15" Type="http://schemas.openxmlformats.org/officeDocument/2006/relationships/image" Target="../media/image118.png"/><Relationship Id="rId10" Type="http://schemas.openxmlformats.org/officeDocument/2006/relationships/image" Target="../media/image117.png"/><Relationship Id="rId4" Type="http://schemas.openxmlformats.org/officeDocument/2006/relationships/image" Target="../media/image126.png"/><Relationship Id="rId9" Type="http://schemas.openxmlformats.org/officeDocument/2006/relationships/image" Target="../media/image129.png"/><Relationship Id="rId14" Type="http://schemas.openxmlformats.org/officeDocument/2006/relationships/image" Target="../media/image133.png"/></Relationships>
</file>

<file path=ppt/slides/_rels/slide55.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69.png"/><Relationship Id="rId18" Type="http://schemas.openxmlformats.org/officeDocument/2006/relationships/image" Target="../media/image171.png"/><Relationship Id="rId3" Type="http://schemas.openxmlformats.org/officeDocument/2006/relationships/image" Target="../media/image166.png"/><Relationship Id="rId7" Type="http://schemas.openxmlformats.org/officeDocument/2006/relationships/image" Target="../media/image93.png"/><Relationship Id="rId12" Type="http://schemas.openxmlformats.org/officeDocument/2006/relationships/image" Target="../media/image168.png"/><Relationship Id="rId17" Type="http://schemas.openxmlformats.org/officeDocument/2006/relationships/image" Target="../media/image87.png"/><Relationship Id="rId2" Type="http://schemas.openxmlformats.org/officeDocument/2006/relationships/notesSlide" Target="../notesSlides/notesSlide47.xml"/><Relationship Id="rId16" Type="http://schemas.openxmlformats.org/officeDocument/2006/relationships/image" Target="../media/image86.png"/><Relationship Id="rId20" Type="http://schemas.openxmlformats.org/officeDocument/2006/relationships/image" Target="../media/image173.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67.png"/><Relationship Id="rId5" Type="http://schemas.openxmlformats.org/officeDocument/2006/relationships/image" Target="../media/image91.png"/><Relationship Id="rId15" Type="http://schemas.openxmlformats.org/officeDocument/2006/relationships/image" Target="../media/image88.png"/><Relationship Id="rId10" Type="http://schemas.openxmlformats.org/officeDocument/2006/relationships/image" Target="../media/image96.png"/><Relationship Id="rId19" Type="http://schemas.openxmlformats.org/officeDocument/2006/relationships/image" Target="../media/image172.png"/><Relationship Id="rId4" Type="http://schemas.openxmlformats.org/officeDocument/2006/relationships/image" Target="../media/image90.png"/><Relationship Id="rId9" Type="http://schemas.openxmlformats.org/officeDocument/2006/relationships/image" Target="../media/image94.png"/><Relationship Id="rId14" Type="http://schemas.openxmlformats.org/officeDocument/2006/relationships/image" Target="../media/image170.png"/></Relationships>
</file>

<file path=ppt/slides/_rels/slide56.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png"/><Relationship Id="rId10" Type="http://schemas.openxmlformats.org/officeDocument/2006/relationships/image" Target="../media/image174.png"/><Relationship Id="rId4" Type="http://schemas.openxmlformats.org/officeDocument/2006/relationships/image" Target="../media/image138.png"/><Relationship Id="rId9" Type="http://schemas.openxmlformats.org/officeDocument/2006/relationships/image" Target="../media/image143.png"/></Relationships>
</file>

<file path=ppt/slides/_rels/slide57.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_rels/slide58.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42.png"/><Relationship Id="rId3" Type="http://schemas.openxmlformats.org/officeDocument/2006/relationships/image" Target="../media/image182.png"/><Relationship Id="rId7" Type="http://schemas.openxmlformats.org/officeDocument/2006/relationships/image" Target="../media/image180.png"/><Relationship Id="rId12" Type="http://schemas.openxmlformats.org/officeDocument/2006/relationships/image" Target="../media/image141.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185.png"/><Relationship Id="rId11" Type="http://schemas.openxmlformats.org/officeDocument/2006/relationships/image" Target="../media/image140.png"/><Relationship Id="rId5" Type="http://schemas.openxmlformats.org/officeDocument/2006/relationships/image" Target="../media/image184.png"/><Relationship Id="rId15" Type="http://schemas.openxmlformats.org/officeDocument/2006/relationships/image" Target="../media/image188.png"/><Relationship Id="rId10" Type="http://schemas.openxmlformats.org/officeDocument/2006/relationships/image" Target="../media/image139.png"/><Relationship Id="rId4" Type="http://schemas.openxmlformats.org/officeDocument/2006/relationships/image" Target="../media/image183.png"/><Relationship Id="rId9" Type="http://schemas.openxmlformats.org/officeDocument/2006/relationships/image" Target="../media/image138.png"/><Relationship Id="rId14" Type="http://schemas.openxmlformats.org/officeDocument/2006/relationships/image" Target="../media/image187.png"/></Relationships>
</file>

<file path=ppt/slides/_rels/slide59.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3" Type="http://schemas.openxmlformats.org/officeDocument/2006/relationships/image" Target="../media/image190.png"/><Relationship Id="rId7" Type="http://schemas.openxmlformats.org/officeDocument/2006/relationships/image" Target="../media/image194.png"/><Relationship Id="rId12" Type="http://schemas.openxmlformats.org/officeDocument/2006/relationships/image" Target="../media/image199.png"/><Relationship Id="rId2" Type="http://schemas.openxmlformats.org/officeDocument/2006/relationships/image" Target="../media/image189.png"/><Relationship Id="rId1" Type="http://schemas.openxmlformats.org/officeDocument/2006/relationships/slideLayout" Target="../slideLayouts/slideLayout7.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0" Type="http://schemas.openxmlformats.org/officeDocument/2006/relationships/image" Target="../media/image197.png"/><Relationship Id="rId4" Type="http://schemas.openxmlformats.org/officeDocument/2006/relationships/image" Target="../media/image191.png"/><Relationship Id="rId9" Type="http://schemas.openxmlformats.org/officeDocument/2006/relationships/image" Target="../media/image196.png"/></Relationships>
</file>

<file path=ppt/slides/_rels/slide60.xml.rels><?xml version="1.0" encoding="UTF-8" standalone="yes"?>
<Relationships xmlns="http://schemas.openxmlformats.org/package/2006/relationships"><Relationship Id="rId13" Type="http://schemas.openxmlformats.org/officeDocument/2006/relationships/image" Target="../media/image133.png"/><Relationship Id="rId18" Type="http://schemas.openxmlformats.org/officeDocument/2006/relationships/image" Target="../media/image201.png"/><Relationship Id="rId26" Type="http://schemas.openxmlformats.org/officeDocument/2006/relationships/image" Target="../media/image111.png"/><Relationship Id="rId39" Type="http://schemas.openxmlformats.org/officeDocument/2006/relationships/image" Target="../media/image210.png"/><Relationship Id="rId21" Type="http://schemas.openxmlformats.org/officeDocument/2006/relationships/image" Target="../media/image204.png"/><Relationship Id="rId34" Type="http://schemas.openxmlformats.org/officeDocument/2006/relationships/image" Target="../media/image205.png"/><Relationship Id="rId7" Type="http://schemas.openxmlformats.org/officeDocument/2006/relationships/image" Target="../media/image128.png"/><Relationship Id="rId12" Type="http://schemas.openxmlformats.org/officeDocument/2006/relationships/image" Target="../media/image132.png"/><Relationship Id="rId17" Type="http://schemas.openxmlformats.org/officeDocument/2006/relationships/image" Target="../media/image135.png"/><Relationship Id="rId25" Type="http://schemas.openxmlformats.org/officeDocument/2006/relationships/image" Target="../media/image110.png"/><Relationship Id="rId33" Type="http://schemas.openxmlformats.org/officeDocument/2006/relationships/image" Target="../media/image122.png"/><Relationship Id="rId38" Type="http://schemas.openxmlformats.org/officeDocument/2006/relationships/image" Target="../media/image209.png"/><Relationship Id="rId2" Type="http://schemas.openxmlformats.org/officeDocument/2006/relationships/image" Target="../media/image125.png"/><Relationship Id="rId16" Type="http://schemas.openxmlformats.org/officeDocument/2006/relationships/image" Target="../media/image134.png"/><Relationship Id="rId20" Type="http://schemas.openxmlformats.org/officeDocument/2006/relationships/image" Target="../media/image203.png"/><Relationship Id="rId29"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31.png"/><Relationship Id="rId24" Type="http://schemas.openxmlformats.org/officeDocument/2006/relationships/image" Target="../media/image109.png"/><Relationship Id="rId32" Type="http://schemas.openxmlformats.org/officeDocument/2006/relationships/image" Target="../media/image121.png"/><Relationship Id="rId37" Type="http://schemas.openxmlformats.org/officeDocument/2006/relationships/image" Target="../media/image208.png"/><Relationship Id="rId5" Type="http://schemas.openxmlformats.org/officeDocument/2006/relationships/image" Target="../media/image127.png"/><Relationship Id="rId15" Type="http://schemas.openxmlformats.org/officeDocument/2006/relationships/image" Target="../media/image120.png"/><Relationship Id="rId23" Type="http://schemas.openxmlformats.org/officeDocument/2006/relationships/image" Target="../media/image108.png"/><Relationship Id="rId28" Type="http://schemas.openxmlformats.org/officeDocument/2006/relationships/image" Target="../media/image113.png"/><Relationship Id="rId36" Type="http://schemas.openxmlformats.org/officeDocument/2006/relationships/image" Target="../media/image207.png"/><Relationship Id="rId10" Type="http://schemas.openxmlformats.org/officeDocument/2006/relationships/image" Target="../media/image130.png"/><Relationship Id="rId19" Type="http://schemas.openxmlformats.org/officeDocument/2006/relationships/image" Target="../media/image202.png"/><Relationship Id="rId31" Type="http://schemas.openxmlformats.org/officeDocument/2006/relationships/image" Target="../media/image116.png"/><Relationship Id="rId4" Type="http://schemas.openxmlformats.org/officeDocument/2006/relationships/image" Target="../media/image119.png"/><Relationship Id="rId9" Type="http://schemas.openxmlformats.org/officeDocument/2006/relationships/image" Target="../media/image117.png"/><Relationship Id="rId14" Type="http://schemas.openxmlformats.org/officeDocument/2006/relationships/image" Target="../media/image118.png"/><Relationship Id="rId22" Type="http://schemas.openxmlformats.org/officeDocument/2006/relationships/image" Target="../media/image107.png"/><Relationship Id="rId27" Type="http://schemas.openxmlformats.org/officeDocument/2006/relationships/image" Target="../media/image112.png"/><Relationship Id="rId30" Type="http://schemas.openxmlformats.org/officeDocument/2006/relationships/image" Target="../media/image115.png"/><Relationship Id="rId35" Type="http://schemas.openxmlformats.org/officeDocument/2006/relationships/image" Target="../media/image206.png"/><Relationship Id="rId8" Type="http://schemas.openxmlformats.org/officeDocument/2006/relationships/image" Target="../media/image129.png"/><Relationship Id="rId3" Type="http://schemas.openxmlformats.org/officeDocument/2006/relationships/image" Target="../media/image126.png"/></Relationships>
</file>

<file path=ppt/slides/_rels/slide61.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18" Type="http://schemas.openxmlformats.org/officeDocument/2006/relationships/image" Target="../media/image216.png"/><Relationship Id="rId26" Type="http://schemas.openxmlformats.org/officeDocument/2006/relationships/image" Target="../media/image224.png"/><Relationship Id="rId3" Type="http://schemas.openxmlformats.org/officeDocument/2006/relationships/image" Target="../media/image201.png"/><Relationship Id="rId21" Type="http://schemas.openxmlformats.org/officeDocument/2006/relationships/image" Target="../media/image219.png"/><Relationship Id="rId7" Type="http://schemas.openxmlformats.org/officeDocument/2006/relationships/image" Target="../media/image205.png"/><Relationship Id="rId12" Type="http://schemas.openxmlformats.org/officeDocument/2006/relationships/image" Target="../media/image210.png"/><Relationship Id="rId17" Type="http://schemas.openxmlformats.org/officeDocument/2006/relationships/image" Target="../media/image215.png"/><Relationship Id="rId25" Type="http://schemas.openxmlformats.org/officeDocument/2006/relationships/image" Target="../media/image223.png"/><Relationship Id="rId2" Type="http://schemas.openxmlformats.org/officeDocument/2006/relationships/notesSlide" Target="../notesSlides/notesSlide50.xml"/><Relationship Id="rId16" Type="http://schemas.openxmlformats.org/officeDocument/2006/relationships/image" Target="../media/image214.png"/><Relationship Id="rId20" Type="http://schemas.openxmlformats.org/officeDocument/2006/relationships/image" Target="../media/image218.png"/><Relationship Id="rId29" Type="http://schemas.openxmlformats.org/officeDocument/2006/relationships/image" Target="../media/image227.png"/><Relationship Id="rId1" Type="http://schemas.openxmlformats.org/officeDocument/2006/relationships/slideLayout" Target="../slideLayouts/slideLayout2.xml"/><Relationship Id="rId6" Type="http://schemas.openxmlformats.org/officeDocument/2006/relationships/image" Target="../media/image204.png"/><Relationship Id="rId11" Type="http://schemas.openxmlformats.org/officeDocument/2006/relationships/image" Target="../media/image209.png"/><Relationship Id="rId24" Type="http://schemas.openxmlformats.org/officeDocument/2006/relationships/image" Target="../media/image222.png"/><Relationship Id="rId5" Type="http://schemas.openxmlformats.org/officeDocument/2006/relationships/image" Target="../media/image203.png"/><Relationship Id="rId15" Type="http://schemas.openxmlformats.org/officeDocument/2006/relationships/image" Target="../media/image213.png"/><Relationship Id="rId23" Type="http://schemas.openxmlformats.org/officeDocument/2006/relationships/image" Target="../media/image221.png"/><Relationship Id="rId28" Type="http://schemas.openxmlformats.org/officeDocument/2006/relationships/image" Target="../media/image226.png"/><Relationship Id="rId10" Type="http://schemas.openxmlformats.org/officeDocument/2006/relationships/image" Target="../media/image208.png"/><Relationship Id="rId19" Type="http://schemas.openxmlformats.org/officeDocument/2006/relationships/image" Target="../media/image217.png"/><Relationship Id="rId31" Type="http://schemas.openxmlformats.org/officeDocument/2006/relationships/image" Target="../media/image229.png"/><Relationship Id="rId4" Type="http://schemas.openxmlformats.org/officeDocument/2006/relationships/image" Target="../media/image202.png"/><Relationship Id="rId9" Type="http://schemas.openxmlformats.org/officeDocument/2006/relationships/image" Target="../media/image207.png"/><Relationship Id="rId14" Type="http://schemas.openxmlformats.org/officeDocument/2006/relationships/image" Target="../media/image212.png"/><Relationship Id="rId22" Type="http://schemas.openxmlformats.org/officeDocument/2006/relationships/image" Target="../media/image220.png"/><Relationship Id="rId27" Type="http://schemas.openxmlformats.org/officeDocument/2006/relationships/image" Target="../media/image225.png"/><Relationship Id="rId30" Type="http://schemas.openxmlformats.org/officeDocument/2006/relationships/image" Target="../media/image228.png"/></Relationships>
</file>

<file path=ppt/slides/_rels/slide62.xml.rels><?xml version="1.0" encoding="UTF-8" standalone="yes"?>
<Relationships xmlns="http://schemas.openxmlformats.org/package/2006/relationships"><Relationship Id="rId8" Type="http://schemas.openxmlformats.org/officeDocument/2006/relationships/image" Target="../media/image235.png"/><Relationship Id="rId13" Type="http://schemas.openxmlformats.org/officeDocument/2006/relationships/image" Target="../media/image240.png"/><Relationship Id="rId3" Type="http://schemas.openxmlformats.org/officeDocument/2006/relationships/image" Target="../media/image230.png"/><Relationship Id="rId7" Type="http://schemas.openxmlformats.org/officeDocument/2006/relationships/image" Target="../media/image234.png"/><Relationship Id="rId12" Type="http://schemas.openxmlformats.org/officeDocument/2006/relationships/image" Target="../media/image239.png"/><Relationship Id="rId17" Type="http://schemas.openxmlformats.org/officeDocument/2006/relationships/image" Target="../media/image244.png"/><Relationship Id="rId2" Type="http://schemas.openxmlformats.org/officeDocument/2006/relationships/notesSlide" Target="../notesSlides/notesSlide51.xml"/><Relationship Id="rId16" Type="http://schemas.openxmlformats.org/officeDocument/2006/relationships/image" Target="../media/image243.png"/><Relationship Id="rId1" Type="http://schemas.openxmlformats.org/officeDocument/2006/relationships/slideLayout" Target="../slideLayouts/slideLayout2.xml"/><Relationship Id="rId6" Type="http://schemas.openxmlformats.org/officeDocument/2006/relationships/image" Target="../media/image233.png"/><Relationship Id="rId11" Type="http://schemas.openxmlformats.org/officeDocument/2006/relationships/image" Target="../media/image238.png"/><Relationship Id="rId5" Type="http://schemas.openxmlformats.org/officeDocument/2006/relationships/image" Target="../media/image232.png"/><Relationship Id="rId15" Type="http://schemas.openxmlformats.org/officeDocument/2006/relationships/image" Target="../media/image242.png"/><Relationship Id="rId10" Type="http://schemas.openxmlformats.org/officeDocument/2006/relationships/image" Target="../media/image237.png"/><Relationship Id="rId4" Type="http://schemas.openxmlformats.org/officeDocument/2006/relationships/image" Target="../media/image231.png"/><Relationship Id="rId9" Type="http://schemas.openxmlformats.org/officeDocument/2006/relationships/image" Target="../media/image236.png"/><Relationship Id="rId14" Type="http://schemas.openxmlformats.org/officeDocument/2006/relationships/image" Target="../media/image241.png"/></Relationships>
</file>

<file path=ppt/slides/_rels/slide63.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102.png"/><Relationship Id="rId3" Type="http://schemas.openxmlformats.org/officeDocument/2006/relationships/image" Target="../media/image246.png"/><Relationship Id="rId7" Type="http://schemas.openxmlformats.org/officeDocument/2006/relationships/image" Target="../media/image101.png"/><Relationship Id="rId12" Type="http://schemas.openxmlformats.org/officeDocument/2006/relationships/image" Target="../media/image254.png"/><Relationship Id="rId2" Type="http://schemas.openxmlformats.org/officeDocument/2006/relationships/notesSlide" Target="../notesSlides/notesSlide52.xml"/><Relationship Id="rId16" Type="http://schemas.openxmlformats.org/officeDocument/2006/relationships/image" Target="../media/image257.png"/><Relationship Id="rId1" Type="http://schemas.openxmlformats.org/officeDocument/2006/relationships/slideLayout" Target="../slideLayouts/slideLayout2.xml"/><Relationship Id="rId6" Type="http://schemas.openxmlformats.org/officeDocument/2006/relationships/image" Target="../media/image249.png"/><Relationship Id="rId11" Type="http://schemas.openxmlformats.org/officeDocument/2006/relationships/image" Target="../media/image253.png"/><Relationship Id="rId5" Type="http://schemas.openxmlformats.org/officeDocument/2006/relationships/image" Target="../media/image248.png"/><Relationship Id="rId15" Type="http://schemas.openxmlformats.org/officeDocument/2006/relationships/image" Target="../media/image256.png"/><Relationship Id="rId10" Type="http://schemas.openxmlformats.org/officeDocument/2006/relationships/image" Target="../media/image252.png"/><Relationship Id="rId4" Type="http://schemas.openxmlformats.org/officeDocument/2006/relationships/image" Target="../media/image247.png"/><Relationship Id="rId9" Type="http://schemas.openxmlformats.org/officeDocument/2006/relationships/image" Target="../media/image251.png"/><Relationship Id="rId14" Type="http://schemas.openxmlformats.org/officeDocument/2006/relationships/image" Target="../media/image2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3" Type="http://schemas.openxmlformats.org/officeDocument/2006/relationships/image" Target="../media/image133.png"/><Relationship Id="rId18" Type="http://schemas.openxmlformats.org/officeDocument/2006/relationships/image" Target="../media/image107.png"/><Relationship Id="rId26" Type="http://schemas.openxmlformats.org/officeDocument/2006/relationships/image" Target="../media/image115.png"/><Relationship Id="rId39" Type="http://schemas.openxmlformats.org/officeDocument/2006/relationships/image" Target="../media/image204.png"/><Relationship Id="rId21" Type="http://schemas.openxmlformats.org/officeDocument/2006/relationships/image" Target="../media/image110.png"/><Relationship Id="rId34" Type="http://schemas.openxmlformats.org/officeDocument/2006/relationships/image" Target="../media/image209.png"/><Relationship Id="rId7" Type="http://schemas.openxmlformats.org/officeDocument/2006/relationships/image" Target="../media/image128.png"/><Relationship Id="rId12" Type="http://schemas.openxmlformats.org/officeDocument/2006/relationships/image" Target="../media/image132.png"/><Relationship Id="rId17" Type="http://schemas.openxmlformats.org/officeDocument/2006/relationships/image" Target="../media/image135.png"/><Relationship Id="rId25" Type="http://schemas.openxmlformats.org/officeDocument/2006/relationships/image" Target="../media/image114.png"/><Relationship Id="rId33" Type="http://schemas.openxmlformats.org/officeDocument/2006/relationships/image" Target="../media/image208.png"/><Relationship Id="rId38" Type="http://schemas.openxmlformats.org/officeDocument/2006/relationships/image" Target="../media/image203.png"/><Relationship Id="rId2" Type="http://schemas.openxmlformats.org/officeDocument/2006/relationships/image" Target="../media/image125.png"/><Relationship Id="rId16" Type="http://schemas.openxmlformats.org/officeDocument/2006/relationships/image" Target="../media/image134.png"/><Relationship Id="rId20" Type="http://schemas.openxmlformats.org/officeDocument/2006/relationships/image" Target="../media/image109.png"/><Relationship Id="rId29"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31.png"/><Relationship Id="rId24" Type="http://schemas.openxmlformats.org/officeDocument/2006/relationships/image" Target="../media/image113.png"/><Relationship Id="rId32" Type="http://schemas.openxmlformats.org/officeDocument/2006/relationships/image" Target="../media/image207.png"/><Relationship Id="rId37" Type="http://schemas.openxmlformats.org/officeDocument/2006/relationships/image" Target="../media/image202.png"/><Relationship Id="rId5" Type="http://schemas.openxmlformats.org/officeDocument/2006/relationships/image" Target="../media/image127.png"/><Relationship Id="rId15" Type="http://schemas.openxmlformats.org/officeDocument/2006/relationships/image" Target="../media/image120.png"/><Relationship Id="rId23" Type="http://schemas.openxmlformats.org/officeDocument/2006/relationships/image" Target="../media/image112.png"/><Relationship Id="rId28" Type="http://schemas.openxmlformats.org/officeDocument/2006/relationships/image" Target="../media/image121.png"/><Relationship Id="rId36" Type="http://schemas.openxmlformats.org/officeDocument/2006/relationships/image" Target="../media/image201.png"/><Relationship Id="rId10" Type="http://schemas.openxmlformats.org/officeDocument/2006/relationships/image" Target="../media/image130.png"/><Relationship Id="rId19" Type="http://schemas.openxmlformats.org/officeDocument/2006/relationships/image" Target="../media/image108.png"/><Relationship Id="rId31" Type="http://schemas.openxmlformats.org/officeDocument/2006/relationships/image" Target="../media/image206.png"/><Relationship Id="rId4" Type="http://schemas.openxmlformats.org/officeDocument/2006/relationships/image" Target="../media/image119.png"/><Relationship Id="rId9" Type="http://schemas.openxmlformats.org/officeDocument/2006/relationships/image" Target="../media/image117.png"/><Relationship Id="rId14" Type="http://schemas.openxmlformats.org/officeDocument/2006/relationships/image" Target="../media/image118.png"/><Relationship Id="rId22" Type="http://schemas.openxmlformats.org/officeDocument/2006/relationships/image" Target="../media/image111.png"/><Relationship Id="rId27" Type="http://schemas.openxmlformats.org/officeDocument/2006/relationships/image" Target="../media/image116.png"/><Relationship Id="rId30" Type="http://schemas.openxmlformats.org/officeDocument/2006/relationships/image" Target="../media/image205.png"/><Relationship Id="rId35" Type="http://schemas.openxmlformats.org/officeDocument/2006/relationships/image" Target="../media/image210.png"/><Relationship Id="rId8" Type="http://schemas.openxmlformats.org/officeDocument/2006/relationships/image" Target="../media/image129.png"/><Relationship Id="rId3" Type="http://schemas.openxmlformats.org/officeDocument/2006/relationships/image" Target="../media/image126.png"/></Relationships>
</file>

<file path=ppt/slides/_rels/slide67.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image" Target="../media/image212.png"/><Relationship Id="rId18" Type="http://schemas.openxmlformats.org/officeDocument/2006/relationships/image" Target="../media/image217.png"/><Relationship Id="rId26" Type="http://schemas.openxmlformats.org/officeDocument/2006/relationships/image" Target="../media/image225.png"/><Relationship Id="rId3" Type="http://schemas.openxmlformats.org/officeDocument/2006/relationships/image" Target="../media/image202.png"/><Relationship Id="rId21" Type="http://schemas.openxmlformats.org/officeDocument/2006/relationships/image" Target="../media/image220.png"/><Relationship Id="rId7" Type="http://schemas.openxmlformats.org/officeDocument/2006/relationships/image" Target="../media/image206.png"/><Relationship Id="rId12" Type="http://schemas.openxmlformats.org/officeDocument/2006/relationships/image" Target="../media/image211.png"/><Relationship Id="rId17" Type="http://schemas.openxmlformats.org/officeDocument/2006/relationships/image" Target="../media/image216.png"/><Relationship Id="rId25" Type="http://schemas.openxmlformats.org/officeDocument/2006/relationships/image" Target="../media/image224.png"/><Relationship Id="rId2" Type="http://schemas.openxmlformats.org/officeDocument/2006/relationships/image" Target="../media/image201.png"/><Relationship Id="rId16" Type="http://schemas.openxmlformats.org/officeDocument/2006/relationships/image" Target="../media/image215.png"/><Relationship Id="rId20" Type="http://schemas.openxmlformats.org/officeDocument/2006/relationships/image" Target="../media/image219.png"/><Relationship Id="rId29" Type="http://schemas.openxmlformats.org/officeDocument/2006/relationships/image" Target="../media/image228.png"/><Relationship Id="rId1" Type="http://schemas.openxmlformats.org/officeDocument/2006/relationships/slideLayout" Target="../slideLayouts/slideLayout2.xml"/><Relationship Id="rId6" Type="http://schemas.openxmlformats.org/officeDocument/2006/relationships/image" Target="../media/image205.png"/><Relationship Id="rId11" Type="http://schemas.openxmlformats.org/officeDocument/2006/relationships/image" Target="../media/image210.png"/><Relationship Id="rId24" Type="http://schemas.openxmlformats.org/officeDocument/2006/relationships/image" Target="../media/image223.png"/><Relationship Id="rId5" Type="http://schemas.openxmlformats.org/officeDocument/2006/relationships/image" Target="../media/image204.png"/><Relationship Id="rId15" Type="http://schemas.openxmlformats.org/officeDocument/2006/relationships/image" Target="../media/image214.png"/><Relationship Id="rId23" Type="http://schemas.openxmlformats.org/officeDocument/2006/relationships/image" Target="../media/image222.png"/><Relationship Id="rId28" Type="http://schemas.openxmlformats.org/officeDocument/2006/relationships/image" Target="../media/image227.png"/><Relationship Id="rId10" Type="http://schemas.openxmlformats.org/officeDocument/2006/relationships/image" Target="../media/image209.png"/><Relationship Id="rId19" Type="http://schemas.openxmlformats.org/officeDocument/2006/relationships/image" Target="../media/image218.png"/><Relationship Id="rId4" Type="http://schemas.openxmlformats.org/officeDocument/2006/relationships/image" Target="../media/image203.png"/><Relationship Id="rId9" Type="http://schemas.openxmlformats.org/officeDocument/2006/relationships/image" Target="../media/image208.png"/><Relationship Id="rId14" Type="http://schemas.openxmlformats.org/officeDocument/2006/relationships/image" Target="../media/image213.png"/><Relationship Id="rId22" Type="http://schemas.openxmlformats.org/officeDocument/2006/relationships/image" Target="../media/image221.png"/><Relationship Id="rId27" Type="http://schemas.openxmlformats.org/officeDocument/2006/relationships/image" Target="../media/image226.png"/><Relationship Id="rId30" Type="http://schemas.openxmlformats.org/officeDocument/2006/relationships/image" Target="../media/image229.png"/></Relationships>
</file>

<file path=ppt/slides/_rels/slide68.xml.rels><?xml version="1.0" encoding="UTF-8" standalone="yes"?>
<Relationships xmlns="http://schemas.openxmlformats.org/package/2006/relationships"><Relationship Id="rId8" Type="http://schemas.openxmlformats.org/officeDocument/2006/relationships/image" Target="../media/image236.png"/><Relationship Id="rId13" Type="http://schemas.openxmlformats.org/officeDocument/2006/relationships/image" Target="../media/image241.png"/><Relationship Id="rId3" Type="http://schemas.openxmlformats.org/officeDocument/2006/relationships/image" Target="../media/image231.png"/><Relationship Id="rId7" Type="http://schemas.openxmlformats.org/officeDocument/2006/relationships/image" Target="../media/image235.png"/><Relationship Id="rId12" Type="http://schemas.openxmlformats.org/officeDocument/2006/relationships/image" Target="../media/image240.png"/><Relationship Id="rId2" Type="http://schemas.openxmlformats.org/officeDocument/2006/relationships/image" Target="../media/image230.png"/><Relationship Id="rId16" Type="http://schemas.openxmlformats.org/officeDocument/2006/relationships/image" Target="../media/image244.png"/><Relationship Id="rId1" Type="http://schemas.openxmlformats.org/officeDocument/2006/relationships/slideLayout" Target="../slideLayouts/slideLayout2.xml"/><Relationship Id="rId6" Type="http://schemas.openxmlformats.org/officeDocument/2006/relationships/image" Target="../media/image234.png"/><Relationship Id="rId11" Type="http://schemas.openxmlformats.org/officeDocument/2006/relationships/image" Target="../media/image239.png"/><Relationship Id="rId5" Type="http://schemas.openxmlformats.org/officeDocument/2006/relationships/image" Target="../media/image233.png"/><Relationship Id="rId15" Type="http://schemas.openxmlformats.org/officeDocument/2006/relationships/image" Target="../media/image243.png"/><Relationship Id="rId10" Type="http://schemas.openxmlformats.org/officeDocument/2006/relationships/image" Target="../media/image238.png"/><Relationship Id="rId4" Type="http://schemas.openxmlformats.org/officeDocument/2006/relationships/image" Target="../media/image232.png"/><Relationship Id="rId9" Type="http://schemas.openxmlformats.org/officeDocument/2006/relationships/image" Target="../media/image237.png"/><Relationship Id="rId14" Type="http://schemas.openxmlformats.org/officeDocument/2006/relationships/image" Target="../media/image242.png"/></Relationships>
</file>

<file path=ppt/slides/_rels/slide69.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264.png"/><Relationship Id="rId13" Type="http://schemas.openxmlformats.org/officeDocument/2006/relationships/image" Target="../media/image269.png"/><Relationship Id="rId3" Type="http://schemas.openxmlformats.org/officeDocument/2006/relationships/image" Target="../media/image259.png"/><Relationship Id="rId7" Type="http://schemas.openxmlformats.org/officeDocument/2006/relationships/image" Target="../media/image263.png"/><Relationship Id="rId12" Type="http://schemas.openxmlformats.org/officeDocument/2006/relationships/image" Target="../media/image268.png"/><Relationship Id="rId2" Type="http://schemas.openxmlformats.org/officeDocument/2006/relationships/image" Target="../media/image258.png"/><Relationship Id="rId1" Type="http://schemas.openxmlformats.org/officeDocument/2006/relationships/slideLayout" Target="../slideLayouts/slideLayout2.xml"/><Relationship Id="rId6" Type="http://schemas.openxmlformats.org/officeDocument/2006/relationships/image" Target="../media/image262.png"/><Relationship Id="rId11" Type="http://schemas.openxmlformats.org/officeDocument/2006/relationships/image" Target="../media/image267.png"/><Relationship Id="rId5" Type="http://schemas.openxmlformats.org/officeDocument/2006/relationships/image" Target="../media/image261.png"/><Relationship Id="rId15" Type="http://schemas.openxmlformats.org/officeDocument/2006/relationships/image" Target="../media/image271.png"/><Relationship Id="rId10" Type="http://schemas.openxmlformats.org/officeDocument/2006/relationships/image" Target="../media/image266.png"/><Relationship Id="rId4" Type="http://schemas.openxmlformats.org/officeDocument/2006/relationships/image" Target="../media/image260.png"/><Relationship Id="rId9" Type="http://schemas.openxmlformats.org/officeDocument/2006/relationships/image" Target="../media/image265.png"/><Relationship Id="rId14" Type="http://schemas.openxmlformats.org/officeDocument/2006/relationships/image" Target="../media/image270.png"/></Relationships>
</file>

<file path=ppt/slides/_rels/slide71.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272.png"/><Relationship Id="rId1" Type="http://schemas.openxmlformats.org/officeDocument/2006/relationships/slideLayout" Target="../slideLayouts/slideLayout12.xml"/><Relationship Id="rId4" Type="http://schemas.openxmlformats.org/officeDocument/2006/relationships/image" Target="../media/image274.png"/></Relationships>
</file>

<file path=ppt/slides/_rels/slide72.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2.png"/><Relationship Id="rId1" Type="http://schemas.openxmlformats.org/officeDocument/2006/relationships/slideLayout" Target="../slideLayouts/slideLayout12.xml"/><Relationship Id="rId6" Type="http://schemas.openxmlformats.org/officeDocument/2006/relationships/image" Target="../media/image278.png"/><Relationship Id="rId5" Type="http://schemas.openxmlformats.org/officeDocument/2006/relationships/image" Target="../media/image277.png"/><Relationship Id="rId4" Type="http://schemas.openxmlformats.org/officeDocument/2006/relationships/image" Target="../media/image276.png"/></Relationships>
</file>

<file path=ppt/slides/_rels/slide73.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2.png"/><Relationship Id="rId1" Type="http://schemas.openxmlformats.org/officeDocument/2006/relationships/slideLayout" Target="../slideLayouts/slideLayout12.xml"/><Relationship Id="rId6" Type="http://schemas.openxmlformats.org/officeDocument/2006/relationships/image" Target="../media/image278.png"/><Relationship Id="rId5" Type="http://schemas.openxmlformats.org/officeDocument/2006/relationships/image" Target="../media/image277.png"/><Relationship Id="rId4" Type="http://schemas.openxmlformats.org/officeDocument/2006/relationships/image" Target="../media/image276.png"/></Relationships>
</file>

<file path=ppt/slides/_rels/slide7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287.png"/><Relationship Id="rId3" Type="http://schemas.openxmlformats.org/officeDocument/2006/relationships/image" Target="../media/image282.png"/><Relationship Id="rId7" Type="http://schemas.openxmlformats.org/officeDocument/2006/relationships/image" Target="../media/image286.png"/><Relationship Id="rId12" Type="http://schemas.openxmlformats.org/officeDocument/2006/relationships/image" Target="../media/image291.png"/><Relationship Id="rId2" Type="http://schemas.openxmlformats.org/officeDocument/2006/relationships/image" Target="../media/image281.png"/><Relationship Id="rId1" Type="http://schemas.openxmlformats.org/officeDocument/2006/relationships/slideLayout" Target="../slideLayouts/slideLayout2.xml"/><Relationship Id="rId6" Type="http://schemas.openxmlformats.org/officeDocument/2006/relationships/image" Target="../media/image285.png"/><Relationship Id="rId11" Type="http://schemas.openxmlformats.org/officeDocument/2006/relationships/image" Target="../media/image290.png"/><Relationship Id="rId5" Type="http://schemas.openxmlformats.org/officeDocument/2006/relationships/image" Target="../media/image284.png"/><Relationship Id="rId10" Type="http://schemas.openxmlformats.org/officeDocument/2006/relationships/image" Target="../media/image289.png"/><Relationship Id="rId4" Type="http://schemas.openxmlformats.org/officeDocument/2006/relationships/image" Target="../media/image283.png"/><Relationship Id="rId9" Type="http://schemas.openxmlformats.org/officeDocument/2006/relationships/image" Target="../media/image288.png"/></Relationships>
</file>

<file path=ppt/slides/_rels/slide77.xml.rels><?xml version="1.0" encoding="UTF-8" standalone="yes"?>
<Relationships xmlns="http://schemas.openxmlformats.org/package/2006/relationships"><Relationship Id="rId8" Type="http://schemas.openxmlformats.org/officeDocument/2006/relationships/image" Target="../media/image298.png"/><Relationship Id="rId3" Type="http://schemas.openxmlformats.org/officeDocument/2006/relationships/image" Target="../media/image293.png"/><Relationship Id="rId7" Type="http://schemas.openxmlformats.org/officeDocument/2006/relationships/image" Target="../media/image297.png"/><Relationship Id="rId2" Type="http://schemas.openxmlformats.org/officeDocument/2006/relationships/image" Target="../media/image292.png"/><Relationship Id="rId1" Type="http://schemas.openxmlformats.org/officeDocument/2006/relationships/slideLayout" Target="../slideLayouts/slideLayout2.xml"/><Relationship Id="rId6" Type="http://schemas.openxmlformats.org/officeDocument/2006/relationships/image" Target="../media/image296.png"/><Relationship Id="rId5" Type="http://schemas.openxmlformats.org/officeDocument/2006/relationships/image" Target="../media/image295.png"/><Relationship Id="rId4" Type="http://schemas.openxmlformats.org/officeDocument/2006/relationships/image" Target="../media/image294.png"/></Relationships>
</file>

<file path=ppt/slides/_rels/slide7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8.png"/><Relationship Id="rId7" Type="http://schemas.openxmlformats.org/officeDocument/2006/relationships/image" Target="../media/image91.png"/><Relationship Id="rId12" Type="http://schemas.openxmlformats.org/officeDocument/2006/relationships/image" Target="../media/image96.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7.png"/><Relationship Id="rId10" Type="http://schemas.openxmlformats.org/officeDocument/2006/relationships/image" Target="../media/image94.png"/><Relationship Id="rId4" Type="http://schemas.openxmlformats.org/officeDocument/2006/relationships/image" Target="../media/image86.png"/><Relationship Id="rId9" Type="http://schemas.openxmlformats.org/officeDocument/2006/relationships/image" Target="../media/image93.png"/></Relationships>
</file>

<file path=ppt/slides/_rels/slide79.xml.rels><?xml version="1.0" encoding="UTF-8" standalone="yes"?>
<Relationships xmlns="http://schemas.openxmlformats.org/package/2006/relationships"><Relationship Id="rId8" Type="http://schemas.openxmlformats.org/officeDocument/2006/relationships/image" Target="../media/image305.png"/><Relationship Id="rId13" Type="http://schemas.openxmlformats.org/officeDocument/2006/relationships/image" Target="../media/image310.png"/><Relationship Id="rId3" Type="http://schemas.openxmlformats.org/officeDocument/2006/relationships/image" Target="../media/image300.png"/><Relationship Id="rId7" Type="http://schemas.openxmlformats.org/officeDocument/2006/relationships/image" Target="../media/image304.png"/><Relationship Id="rId12" Type="http://schemas.openxmlformats.org/officeDocument/2006/relationships/image" Target="../media/image309.png"/><Relationship Id="rId2" Type="http://schemas.openxmlformats.org/officeDocument/2006/relationships/image" Target="../media/image299.png"/><Relationship Id="rId16" Type="http://schemas.openxmlformats.org/officeDocument/2006/relationships/image" Target="../media/image313.png"/><Relationship Id="rId1" Type="http://schemas.openxmlformats.org/officeDocument/2006/relationships/slideLayout" Target="../slideLayouts/slideLayout2.xml"/><Relationship Id="rId6" Type="http://schemas.openxmlformats.org/officeDocument/2006/relationships/image" Target="../media/image303.png"/><Relationship Id="rId11" Type="http://schemas.openxmlformats.org/officeDocument/2006/relationships/image" Target="../media/image308.png"/><Relationship Id="rId5" Type="http://schemas.openxmlformats.org/officeDocument/2006/relationships/image" Target="../media/image302.png"/><Relationship Id="rId15" Type="http://schemas.openxmlformats.org/officeDocument/2006/relationships/image" Target="../media/image312.png"/><Relationship Id="rId10" Type="http://schemas.openxmlformats.org/officeDocument/2006/relationships/image" Target="../media/image307.png"/><Relationship Id="rId4" Type="http://schemas.openxmlformats.org/officeDocument/2006/relationships/image" Target="../media/image301.png"/><Relationship Id="rId9" Type="http://schemas.openxmlformats.org/officeDocument/2006/relationships/image" Target="../media/image306.png"/><Relationship Id="rId14" Type="http://schemas.openxmlformats.org/officeDocument/2006/relationships/image" Target="../media/image311.png"/></Relationships>
</file>

<file path=ppt/slides/_rels/slide80.xml.rels><?xml version="1.0" encoding="UTF-8" standalone="yes"?>
<Relationships xmlns="http://schemas.openxmlformats.org/package/2006/relationships"><Relationship Id="rId8" Type="http://schemas.openxmlformats.org/officeDocument/2006/relationships/image" Target="../media/image307.png"/><Relationship Id="rId3" Type="http://schemas.openxmlformats.org/officeDocument/2006/relationships/image" Target="../media/image314.png"/><Relationship Id="rId7" Type="http://schemas.openxmlformats.org/officeDocument/2006/relationships/image" Target="../media/image305.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302.png"/><Relationship Id="rId5" Type="http://schemas.openxmlformats.org/officeDocument/2006/relationships/image" Target="../media/image301.png"/><Relationship Id="rId10" Type="http://schemas.openxmlformats.org/officeDocument/2006/relationships/image" Target="../media/image309.png"/><Relationship Id="rId4" Type="http://schemas.openxmlformats.org/officeDocument/2006/relationships/image" Target="../media/image299.png"/><Relationship Id="rId9" Type="http://schemas.openxmlformats.org/officeDocument/2006/relationships/image" Target="../media/image3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316.png"/><Relationship Id="rId2" Type="http://schemas.openxmlformats.org/officeDocument/2006/relationships/image" Target="../media/image315.png"/><Relationship Id="rId1" Type="http://schemas.openxmlformats.org/officeDocument/2006/relationships/slideLayout" Target="../slideLayouts/slideLayout13.xml"/><Relationship Id="rId6" Type="http://schemas.openxmlformats.org/officeDocument/2006/relationships/image" Target="../media/image319.png"/><Relationship Id="rId5" Type="http://schemas.openxmlformats.org/officeDocument/2006/relationships/image" Target="../media/image318.png"/><Relationship Id="rId4" Type="http://schemas.openxmlformats.org/officeDocument/2006/relationships/image" Target="../media/image31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20.png"/><Relationship Id="rId1" Type="http://schemas.openxmlformats.org/officeDocument/2006/relationships/slideLayout" Target="../slideLayouts/slideLayout13.xml"/><Relationship Id="rId6" Type="http://schemas.openxmlformats.org/officeDocument/2006/relationships/image" Target="../media/image324.png"/><Relationship Id="rId5" Type="http://schemas.openxmlformats.org/officeDocument/2006/relationships/image" Target="../media/image323.png"/><Relationship Id="rId4" Type="http://schemas.openxmlformats.org/officeDocument/2006/relationships/image" Target="../media/image322.png"/></Relationships>
</file>

<file path=ppt/slides/_rels/slide86.xml.rels><?xml version="1.0" encoding="UTF-8" standalone="yes"?>
<Relationships xmlns="http://schemas.openxmlformats.org/package/2006/relationships"><Relationship Id="rId3" Type="http://schemas.openxmlformats.org/officeDocument/2006/relationships/image" Target="../media/image325.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26.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27.e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28.emf"/><Relationship Id="rId7" Type="http://schemas.openxmlformats.org/officeDocument/2006/relationships/image" Target="../media/image332.emf"/><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331.emf"/><Relationship Id="rId5" Type="http://schemas.openxmlformats.org/officeDocument/2006/relationships/image" Target="../media/image330.emf"/><Relationship Id="rId4" Type="http://schemas.openxmlformats.org/officeDocument/2006/relationships/image" Target="../media/image329.emf"/></Relationships>
</file>

<file path=ppt/slides/_rels/slide91.xml.rels><?xml version="1.0" encoding="UTF-8" standalone="yes"?>
<Relationships xmlns="http://schemas.openxmlformats.org/package/2006/relationships"><Relationship Id="rId3" Type="http://schemas.openxmlformats.org/officeDocument/2006/relationships/image" Target="../media/image33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34.emf"/><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35.png"/></Relationships>
</file>

<file path=ppt/slides/_rels/slide93.xml.rels><?xml version="1.0" encoding="UTF-8" standalone="yes"?>
<Relationships xmlns="http://schemas.openxmlformats.org/package/2006/relationships"><Relationship Id="rId3" Type="http://schemas.openxmlformats.org/officeDocument/2006/relationships/image" Target="../media/image336.emf"/><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37.png"/></Relationships>
</file>

<file path=ppt/slides/_rels/slide94.xml.rels><?xml version="1.0" encoding="UTF-8" standalone="yes"?>
<Relationships xmlns="http://schemas.openxmlformats.org/package/2006/relationships"><Relationship Id="rId2" Type="http://schemas.openxmlformats.org/officeDocument/2006/relationships/hyperlink" Target="https://chi-feng.github.io/gp-demo/"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9.xml.rels><?xml version="1.0" encoding="UTF-8" standalone="yes"?>
<Relationships xmlns="http://schemas.openxmlformats.org/package/2006/relationships"><Relationship Id="rId2" Type="http://schemas.openxmlformats.org/officeDocument/2006/relationships/image" Target="../media/image33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39.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10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343.jpeg"/><Relationship Id="rId5" Type="http://schemas.openxmlformats.org/officeDocument/2006/relationships/image" Target="../media/image342.jpeg"/><Relationship Id="rId4" Type="http://schemas.openxmlformats.org/officeDocument/2006/relationships/image" Target="../media/image341.png"/></Relationships>
</file>

<file path=ppt/slides/_rels/slide102.xml.rels><?xml version="1.0" encoding="UTF-8" standalone="yes"?>
<Relationships xmlns="http://schemas.openxmlformats.org/package/2006/relationships"><Relationship Id="rId3" Type="http://schemas.openxmlformats.org/officeDocument/2006/relationships/image" Target="../media/image34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346.jpeg"/><Relationship Id="rId4" Type="http://schemas.openxmlformats.org/officeDocument/2006/relationships/image" Target="../media/image342.jpeg"/></Relationships>
</file>

<file path=ppt/slides/_rels/slide106.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346.jpeg"/><Relationship Id="rId4" Type="http://schemas.openxmlformats.org/officeDocument/2006/relationships/image" Target="../media/image342.jpeg"/></Relationships>
</file>

<file path=ppt/slides/_rels/slide107.xml.rels><?xml version="1.0" encoding="UTF-8" standalone="yes"?>
<Relationships xmlns="http://schemas.openxmlformats.org/package/2006/relationships"><Relationship Id="rId8" Type="http://schemas.openxmlformats.org/officeDocument/2006/relationships/image" Target="../media/image349.jpeg"/><Relationship Id="rId3" Type="http://schemas.openxmlformats.org/officeDocument/2006/relationships/image" Target="../media/image347.jpeg"/><Relationship Id="rId7" Type="http://schemas.openxmlformats.org/officeDocument/2006/relationships/image" Target="../media/image348.jpe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346.jpeg"/><Relationship Id="rId5" Type="http://schemas.openxmlformats.org/officeDocument/2006/relationships/image" Target="../media/image342.jpeg"/><Relationship Id="rId4" Type="http://schemas.openxmlformats.org/officeDocument/2006/relationships/image" Target="../media/image341.png"/></Relationships>
</file>

<file path=ppt/slides/_rels/slide108.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350.jpeg"/><Relationship Id="rId4" Type="http://schemas.openxmlformats.org/officeDocument/2006/relationships/image" Target="../media/image342.jpeg"/></Relationships>
</file>

<file path=ppt/slides/_rels/slide109.xml.rels><?xml version="1.0" encoding="UTF-8" standalone="yes"?>
<Relationships xmlns="http://schemas.openxmlformats.org/package/2006/relationships"><Relationship Id="rId3" Type="http://schemas.openxmlformats.org/officeDocument/2006/relationships/image" Target="../media/image342.jpeg"/><Relationship Id="rId2" Type="http://schemas.openxmlformats.org/officeDocument/2006/relationships/image" Target="../media/image341.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110.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353.png"/><Relationship Id="rId5" Type="http://schemas.openxmlformats.org/officeDocument/2006/relationships/image" Target="../media/image352.png"/><Relationship Id="rId4" Type="http://schemas.openxmlformats.org/officeDocument/2006/relationships/image" Target="../media/image351.png"/></Relationships>
</file>

<file path=ppt/slides/_rels/slide111.xml.rels><?xml version="1.0" encoding="UTF-8" standalone="yes"?>
<Relationships xmlns="http://schemas.openxmlformats.org/package/2006/relationships"><Relationship Id="rId8" Type="http://schemas.openxmlformats.org/officeDocument/2006/relationships/image" Target="../media/image351.png"/><Relationship Id="rId3" Type="http://schemas.openxmlformats.org/officeDocument/2006/relationships/image" Target="../media/image354.png"/><Relationship Id="rId7" Type="http://schemas.openxmlformats.org/officeDocument/2006/relationships/image" Target="../media/image345.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357.png"/><Relationship Id="rId5" Type="http://schemas.openxmlformats.org/officeDocument/2006/relationships/image" Target="../media/image356.png"/><Relationship Id="rId4" Type="http://schemas.openxmlformats.org/officeDocument/2006/relationships/image" Target="../media/image355.png"/></Relationships>
</file>

<file path=ppt/slides/_rels/slide112.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51.png"/></Relationships>
</file>

<file path=ppt/slides/_rels/slide114.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352.png"/><Relationship Id="rId4" Type="http://schemas.openxmlformats.org/officeDocument/2006/relationships/image" Target="../media/image351.png"/></Relationships>
</file>

<file path=ppt/slides/_rels/slide115.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352.png"/><Relationship Id="rId4" Type="http://schemas.openxmlformats.org/officeDocument/2006/relationships/image" Target="../media/image351.png"/></Relationships>
</file>

<file path=ppt/slides/_rels/slide116.xml.rels><?xml version="1.0" encoding="UTF-8" standalone="yes"?>
<Relationships xmlns="http://schemas.openxmlformats.org/package/2006/relationships"><Relationship Id="rId3" Type="http://schemas.openxmlformats.org/officeDocument/2006/relationships/image" Target="../media/image35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59.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361.png"/><Relationship Id="rId4" Type="http://schemas.openxmlformats.org/officeDocument/2006/relationships/image" Target="../media/image351.png"/></Relationships>
</file>

<file path=ppt/slides/_rels/slide122.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6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6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6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59.jpeg"/><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345.png"/><Relationship Id="rId5" Type="http://schemas.openxmlformats.org/officeDocument/2006/relationships/image" Target="../media/image342.jpeg"/><Relationship Id="rId4" Type="http://schemas.openxmlformats.org/officeDocument/2006/relationships/image" Target="../media/image3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793" y="1721194"/>
            <a:ext cx="9146399" cy="1470025"/>
          </a:xfrm>
        </p:spPr>
        <p:txBody>
          <a:bodyPr>
            <a:normAutofit/>
          </a:bodyPr>
          <a:lstStyle/>
          <a:p>
            <a:r>
              <a:rPr lang="en-US" dirty="0"/>
              <a:t>Introduction to Bayesian </a:t>
            </a:r>
            <a:r>
              <a:rPr lang="en-US" dirty="0" err="1"/>
              <a:t>Nonparametrics</a:t>
            </a:r>
            <a:endParaRPr lang="en-US" dirty="0"/>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 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April 10,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879-2F59-F57D-C952-CCC9C5E93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1DFBB-0B27-555B-6B8F-57B705D3B739}"/>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dirty="0"/>
              <a:t>Feature construction</a:t>
            </a:r>
          </a:p>
          <a:p>
            <a:r>
              <a:rPr lang="en-US" b="1" dirty="0"/>
              <a:t>Short rest 2</a:t>
            </a:r>
            <a:endParaRPr lang="en-US" dirty="0"/>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p>
        </p:txBody>
      </p:sp>
    </p:spTree>
    <p:extLst>
      <p:ext uri="{BB962C8B-B14F-4D97-AF65-F5344CB8AC3E}">
        <p14:creationId xmlns:p14="http://schemas.microsoft.com/office/powerpoint/2010/main" val="352007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B844-C8D6-871E-2E6D-933FA980683A}"/>
              </a:ext>
            </a:extLst>
          </p:cNvPr>
          <p:cNvSpPr>
            <a:spLocks noGrp="1"/>
          </p:cNvSpPr>
          <p:nvPr>
            <p:ph type="title"/>
          </p:nvPr>
        </p:nvSpPr>
        <p:spPr>
          <a:xfrm>
            <a:off x="457200" y="42379"/>
            <a:ext cx="8229600" cy="689458"/>
          </a:xfrm>
        </p:spPr>
        <p:txBody>
          <a:bodyPr>
            <a:normAutofit fontScale="90000"/>
          </a:bodyPr>
          <a:lstStyle/>
          <a:p>
            <a:r>
              <a:rPr lang="en-US" dirty="0"/>
              <a:t>Administrative Matters</a:t>
            </a:r>
          </a:p>
        </p:txBody>
      </p:sp>
      <p:sp>
        <p:nvSpPr>
          <p:cNvPr id="3" name="Content Placeholder 2">
            <a:extLst>
              <a:ext uri="{FF2B5EF4-FFF2-40B4-BE49-F238E27FC236}">
                <a16:creationId xmlns:a16="http://schemas.microsoft.com/office/drawing/2014/main" id="{6BA19CC3-800A-DE11-B68C-C05431A3EBA3}"/>
              </a:ext>
            </a:extLst>
          </p:cNvPr>
          <p:cNvSpPr>
            <a:spLocks noGrp="1"/>
          </p:cNvSpPr>
          <p:nvPr>
            <p:ph idx="1"/>
          </p:nvPr>
        </p:nvSpPr>
        <p:spPr>
          <a:xfrm>
            <a:off x="0" y="814647"/>
            <a:ext cx="9144000" cy="6000974"/>
          </a:xfrm>
        </p:spPr>
        <p:txBody>
          <a:bodyPr>
            <a:normAutofit fontScale="85000" lnSpcReduction="10000"/>
          </a:bodyPr>
          <a:lstStyle/>
          <a:p>
            <a:r>
              <a:rPr lang="en-US" dirty="0"/>
              <a:t>Assignment 3 was due April 9 at 8:59pm</a:t>
            </a:r>
          </a:p>
          <a:p>
            <a:r>
              <a:rPr lang="en-US" dirty="0"/>
              <a:t>Assignment 4 is due April 23 at 8:59pm</a:t>
            </a:r>
          </a:p>
          <a:p>
            <a:endParaRPr lang="en-US" dirty="0"/>
          </a:p>
          <a:p>
            <a:r>
              <a:rPr lang="en-US" dirty="0"/>
              <a:t>2 more discussion posts left</a:t>
            </a:r>
          </a:p>
          <a:p>
            <a:pPr lvl="1"/>
            <a:r>
              <a:rPr lang="en-US" dirty="0"/>
              <a:t>Only need to pass 5 through class for full credit</a:t>
            </a:r>
          </a:p>
          <a:p>
            <a:endParaRPr lang="en-US" dirty="0"/>
          </a:p>
          <a:p>
            <a:r>
              <a:rPr lang="en-US" dirty="0"/>
              <a:t>Any unused quiz points will be free points to your final grade.</a:t>
            </a:r>
          </a:p>
          <a:p>
            <a:endParaRPr lang="en-US" dirty="0"/>
          </a:p>
          <a:p>
            <a:r>
              <a:rPr lang="en-US" dirty="0"/>
              <a:t>Final project presentations May 1</a:t>
            </a:r>
          </a:p>
          <a:p>
            <a:pPr lvl="1"/>
            <a:r>
              <a:rPr lang="en-US" dirty="0"/>
              <a:t>Your project does NOT need to be complete by then</a:t>
            </a:r>
          </a:p>
          <a:p>
            <a:r>
              <a:rPr lang="en-US" dirty="0"/>
              <a:t>Final project papers due May 6 at 8:59pm</a:t>
            </a:r>
          </a:p>
          <a:p>
            <a:endParaRPr lang="en-US" dirty="0"/>
          </a:p>
          <a:p>
            <a:r>
              <a:rPr lang="en-US" dirty="0"/>
              <a:t>Questions?</a:t>
            </a:r>
          </a:p>
        </p:txBody>
      </p:sp>
    </p:spTree>
    <p:extLst>
      <p:ext uri="{BB962C8B-B14F-4D97-AF65-F5344CB8AC3E}">
        <p14:creationId xmlns:p14="http://schemas.microsoft.com/office/powerpoint/2010/main" val="2191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232E7-0681-D701-6D76-8883D17512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014E3E-2ED2-50B8-11A6-F9D8C67E81CC}"/>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b="1" dirty="0"/>
              <a:t>Short rest 2</a:t>
            </a:r>
            <a:endParaRPr lang="en-US" dirty="0"/>
          </a:p>
          <a:p>
            <a:pPr defTabSz="914400">
              <a:spcBef>
                <a:spcPts val="0"/>
              </a:spcBef>
              <a:defRPr/>
            </a:pPr>
            <a:endParaRPr lang="en-US" dirty="0"/>
          </a:p>
          <a:p>
            <a:pPr defTabSz="914400">
              <a:spcBef>
                <a:spcPts val="0"/>
              </a:spcBef>
              <a:defRPr/>
            </a:pPr>
            <a:r>
              <a:rPr lang="en-US" dirty="0"/>
              <a:t>Two student presentations:</a:t>
            </a:r>
          </a:p>
          <a:p>
            <a:pPr marL="914400" lvl="1" indent="-514350" defTabSz="914400">
              <a:spcBef>
                <a:spcPts val="0"/>
              </a:spcBef>
              <a:buFont typeface="+mj-lt"/>
              <a:buAutoNum type="arabicPeriod"/>
              <a:defRPr/>
            </a:pPr>
            <a:r>
              <a:rPr lang="en-US" dirty="0"/>
              <a:t>Kemp &amp; Tenenbaum 2003 by Zihan</a:t>
            </a:r>
          </a:p>
          <a:p>
            <a:pPr marL="914400" lvl="1" indent="-514350" defTabSz="914400">
              <a:spcBef>
                <a:spcPts val="0"/>
              </a:spcBef>
              <a:buFont typeface="+mj-lt"/>
              <a:buAutoNum type="arabicPeriod"/>
              <a:defRPr/>
            </a:pPr>
            <a:r>
              <a:rPr lang="en-US" dirty="0"/>
              <a:t>Austerweil &amp; Griffiths 2009 by </a:t>
            </a:r>
            <a:r>
              <a:rPr lang="en-US" dirty="0" err="1"/>
              <a:t>Yinsu</a:t>
            </a:r>
            <a:endParaRPr lang="en-US" dirty="0"/>
          </a:p>
        </p:txBody>
      </p:sp>
    </p:spTree>
    <p:extLst>
      <p:ext uri="{BB962C8B-B14F-4D97-AF65-F5344CB8AC3E}">
        <p14:creationId xmlns:p14="http://schemas.microsoft.com/office/powerpoint/2010/main" val="3803568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8842" name="Group 26"/>
          <p:cNvGrpSpPr>
            <a:grpSpLocks/>
          </p:cNvGrpSpPr>
          <p:nvPr/>
        </p:nvGrpSpPr>
        <p:grpSpPr bwMode="auto">
          <a:xfrm>
            <a:off x="5943600" y="2133600"/>
            <a:ext cx="2514600" cy="2590800"/>
            <a:chOff x="3744" y="1344"/>
            <a:chExt cx="1584" cy="1632"/>
          </a:xfrm>
        </p:grpSpPr>
        <p:sp>
          <p:nvSpPr>
            <p:cNvPr id="418835" name="Freeform 19"/>
            <p:cNvSpPr>
              <a:spLocks/>
            </p:cNvSpPr>
            <p:nvPr/>
          </p:nvSpPr>
          <p:spPr bwMode="auto">
            <a:xfrm flipV="1">
              <a:off x="3744" y="2112"/>
              <a:ext cx="864" cy="864"/>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18836" name="Freeform 20"/>
            <p:cNvSpPr>
              <a:spLocks/>
            </p:cNvSpPr>
            <p:nvPr/>
          </p:nvSpPr>
          <p:spPr bwMode="auto">
            <a:xfrm>
              <a:off x="3984" y="1632"/>
              <a:ext cx="1344" cy="1344"/>
            </a:xfrm>
            <a:custGeom>
              <a:avLst/>
              <a:gdLst>
                <a:gd name="T0" fmla="*/ 0 w 1344"/>
                <a:gd name="T1" fmla="*/ 1344 h 1344"/>
                <a:gd name="T2" fmla="*/ 336 w 1344"/>
                <a:gd name="T3" fmla="*/ 288 h 1344"/>
                <a:gd name="T4" fmla="*/ 672 w 1344"/>
                <a:gd name="T5" fmla="*/ 96 h 1344"/>
                <a:gd name="T6" fmla="*/ 864 w 1344"/>
                <a:gd name="T7" fmla="*/ 240 h 1344"/>
                <a:gd name="T8" fmla="*/ 1344 w 1344"/>
                <a:gd name="T9" fmla="*/ 0 h 1344"/>
              </a:gdLst>
              <a:ahLst/>
              <a:cxnLst>
                <a:cxn ang="0">
                  <a:pos x="T0" y="T1"/>
                </a:cxn>
                <a:cxn ang="0">
                  <a:pos x="T2" y="T3"/>
                </a:cxn>
                <a:cxn ang="0">
                  <a:pos x="T4" y="T5"/>
                </a:cxn>
                <a:cxn ang="0">
                  <a:pos x="T6" y="T7"/>
                </a:cxn>
                <a:cxn ang="0">
                  <a:pos x="T8" y="T9"/>
                </a:cxn>
              </a:cxnLst>
              <a:rect l="0" t="0" r="r" b="b"/>
              <a:pathLst>
                <a:path w="1344" h="1344">
                  <a:moveTo>
                    <a:pt x="0" y="1344"/>
                  </a:moveTo>
                  <a:cubicBezTo>
                    <a:pt x="112" y="920"/>
                    <a:pt x="224" y="496"/>
                    <a:pt x="336" y="288"/>
                  </a:cubicBezTo>
                  <a:cubicBezTo>
                    <a:pt x="448" y="80"/>
                    <a:pt x="584" y="104"/>
                    <a:pt x="672" y="96"/>
                  </a:cubicBezTo>
                  <a:cubicBezTo>
                    <a:pt x="760" y="88"/>
                    <a:pt x="752" y="256"/>
                    <a:pt x="864" y="240"/>
                  </a:cubicBezTo>
                  <a:cubicBezTo>
                    <a:pt x="976" y="224"/>
                    <a:pt x="1160" y="112"/>
                    <a:pt x="1344"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7" name="Freeform 21"/>
            <p:cNvSpPr>
              <a:spLocks/>
            </p:cNvSpPr>
            <p:nvPr/>
          </p:nvSpPr>
          <p:spPr bwMode="auto">
            <a:xfrm>
              <a:off x="3744" y="1680"/>
              <a:ext cx="1584" cy="1088"/>
            </a:xfrm>
            <a:custGeom>
              <a:avLst/>
              <a:gdLst>
                <a:gd name="T0" fmla="*/ 0 w 1584"/>
                <a:gd name="T1" fmla="*/ 0 h 1088"/>
                <a:gd name="T2" fmla="*/ 624 w 1584"/>
                <a:gd name="T3" fmla="*/ 1008 h 1088"/>
                <a:gd name="T4" fmla="*/ 1584 w 1584"/>
                <a:gd name="T5" fmla="*/ 480 h 1088"/>
              </a:gdLst>
              <a:ahLst/>
              <a:cxnLst>
                <a:cxn ang="0">
                  <a:pos x="T0" y="T1"/>
                </a:cxn>
                <a:cxn ang="0">
                  <a:pos x="T2" y="T3"/>
                </a:cxn>
                <a:cxn ang="0">
                  <a:pos x="T4" y="T5"/>
                </a:cxn>
              </a:cxnLst>
              <a:rect l="0" t="0" r="r" b="b"/>
              <a:pathLst>
                <a:path w="1584" h="1088">
                  <a:moveTo>
                    <a:pt x="0" y="0"/>
                  </a:moveTo>
                  <a:cubicBezTo>
                    <a:pt x="180" y="464"/>
                    <a:pt x="360" y="928"/>
                    <a:pt x="624" y="1008"/>
                  </a:cubicBezTo>
                  <a:cubicBezTo>
                    <a:pt x="888" y="1088"/>
                    <a:pt x="1236" y="784"/>
                    <a:pt x="1584" y="48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4" name="Freeform 18"/>
            <p:cNvSpPr>
              <a:spLocks/>
            </p:cNvSpPr>
            <p:nvPr/>
          </p:nvSpPr>
          <p:spPr bwMode="auto">
            <a:xfrm>
              <a:off x="3744" y="1344"/>
              <a:ext cx="1536" cy="1248"/>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grpSp>
      <p:sp>
        <p:nvSpPr>
          <p:cNvPr id="418840" name="Freeform 24"/>
          <p:cNvSpPr>
            <a:spLocks/>
          </p:cNvSpPr>
          <p:nvPr/>
        </p:nvSpPr>
        <p:spPr bwMode="auto">
          <a:xfrm>
            <a:off x="5943600" y="2133600"/>
            <a:ext cx="2438400" cy="1981200"/>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28575" cap="flat" cmpd="sng">
            <a:solidFill>
              <a:srgbClr val="FF030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18" name="Rectangle 2"/>
          <p:cNvSpPr>
            <a:spLocks noGrp="1" noChangeArrowheads="1"/>
          </p:cNvSpPr>
          <p:nvPr>
            <p:ph type="title"/>
          </p:nvPr>
        </p:nvSpPr>
        <p:spPr>
          <a:xfrm>
            <a:off x="685800" y="0"/>
            <a:ext cx="7772400" cy="1143000"/>
          </a:xfrm>
        </p:spPr>
        <p:txBody>
          <a:bodyPr>
            <a:normAutofit fontScale="90000"/>
          </a:bodyPr>
          <a:lstStyle/>
          <a:p>
            <a:r>
              <a:rPr lang="en-US" dirty="0"/>
              <a:t>Learning mapping inputs to outputs</a:t>
            </a:r>
          </a:p>
        </p:txBody>
      </p:sp>
      <p:sp>
        <p:nvSpPr>
          <p:cNvPr id="418819" name="Rectangle 3"/>
          <p:cNvSpPr>
            <a:spLocks noGrp="1" noChangeArrowheads="1"/>
          </p:cNvSpPr>
          <p:nvPr>
            <p:ph type="body" idx="1"/>
          </p:nvPr>
        </p:nvSpPr>
        <p:spPr>
          <a:xfrm>
            <a:off x="152400" y="1371600"/>
            <a:ext cx="8915400" cy="4114800"/>
          </a:xfrm>
        </p:spPr>
        <p:txBody>
          <a:bodyPr/>
          <a:lstStyle/>
          <a:p>
            <a:endParaRPr lang="en-US" dirty="0"/>
          </a:p>
          <a:p>
            <a:endParaRPr lang="en-US" dirty="0"/>
          </a:p>
        </p:txBody>
      </p:sp>
      <p:sp>
        <p:nvSpPr>
          <p:cNvPr id="418820" name="Rectangle 4"/>
          <p:cNvSpPr>
            <a:spLocks noChangeArrowheads="1"/>
          </p:cNvSpPr>
          <p:nvPr/>
        </p:nvSpPr>
        <p:spPr bwMode="auto">
          <a:xfrm>
            <a:off x="228600" y="1408926"/>
            <a:ext cx="5181600" cy="487568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2800" dirty="0"/>
              <a:t>Regression:</a:t>
            </a:r>
          </a:p>
          <a:p>
            <a:pPr marL="742950" lvl="1" indent="-285750" algn="l">
              <a:buFontTx/>
              <a:buChar char="–"/>
            </a:pPr>
            <a:r>
              <a:rPr lang="en-US" sz="2800" dirty="0"/>
              <a:t>data </a:t>
            </a:r>
            <a:r>
              <a:rPr lang="en-US" sz="2800" i="1" dirty="0">
                <a:latin typeface="Times New Roman" charset="0"/>
              </a:rPr>
              <a:t>D</a:t>
            </a:r>
            <a:r>
              <a:rPr lang="en-US" sz="2800" dirty="0"/>
              <a:t> are </a:t>
            </a:r>
            <a:r>
              <a:rPr lang="en-US" sz="2800" i="1" dirty="0">
                <a:latin typeface="Times New Roman" charset="0"/>
              </a:rPr>
              <a:t>n</a:t>
            </a:r>
            <a:r>
              <a:rPr lang="en-US" sz="2800" dirty="0"/>
              <a:t> pairs </a:t>
            </a:r>
            <a:r>
              <a:rPr lang="en-US" sz="2800" dirty="0">
                <a:latin typeface="Times New Roman" charset="0"/>
              </a:rPr>
              <a:t>(</a:t>
            </a:r>
            <a:r>
              <a:rPr lang="en-US" sz="2800" i="1" dirty="0" err="1">
                <a:latin typeface="Times New Roman" charset="0"/>
              </a:rPr>
              <a:t>x</a:t>
            </a:r>
            <a:r>
              <a:rPr lang="en-US" sz="2800" dirty="0" err="1">
                <a:latin typeface="Times New Roman" charset="0"/>
              </a:rPr>
              <a:t>,</a:t>
            </a:r>
            <a:r>
              <a:rPr lang="en-US" sz="2800" i="1" dirty="0" err="1">
                <a:latin typeface="Times New Roman" charset="0"/>
              </a:rPr>
              <a:t>y</a:t>
            </a:r>
            <a:r>
              <a:rPr lang="en-US" sz="2800" dirty="0">
                <a:latin typeface="Times New Roman" charset="0"/>
              </a:rPr>
              <a:t>)</a:t>
            </a:r>
            <a:endParaRPr lang="en-US" sz="2800" dirty="0"/>
          </a:p>
          <a:p>
            <a:pPr marL="742950" lvl="1" indent="-285750" algn="l">
              <a:buFontTx/>
              <a:buChar char="–"/>
            </a:pPr>
            <a:endParaRPr lang="en-US" sz="1400" dirty="0"/>
          </a:p>
          <a:p>
            <a:pPr marL="742950" lvl="1" indent="-285750" algn="l">
              <a:buFontTx/>
              <a:buChar char="–"/>
            </a:pPr>
            <a:r>
              <a:rPr lang="en-US" sz="2800" dirty="0"/>
              <a:t>hypothesis space of functions, </a:t>
            </a:r>
            <a:r>
              <a:rPr lang="en-US" sz="2800" i="1" dirty="0">
                <a:latin typeface="Times New Roman" charset="0"/>
              </a:rPr>
              <a:t>y</a:t>
            </a:r>
            <a:r>
              <a:rPr lang="en-US" sz="2800" dirty="0">
                <a:latin typeface="Times New Roman" charset="0"/>
              </a:rPr>
              <a:t> = </a:t>
            </a:r>
            <a:r>
              <a:rPr lang="en-US" sz="2800" i="1" dirty="0">
                <a:latin typeface="Times New Roman" charset="0"/>
              </a:rPr>
              <a:t>g</a:t>
            </a:r>
            <a:r>
              <a:rPr lang="en-US" sz="2800" dirty="0">
                <a:latin typeface="Times New Roman" charset="0"/>
              </a:rPr>
              <a:t>(</a:t>
            </a:r>
            <a:r>
              <a:rPr lang="en-US" sz="2800" i="1" dirty="0">
                <a:latin typeface="Times New Roman" charset="0"/>
              </a:rPr>
              <a:t>x</a:t>
            </a:r>
            <a:r>
              <a:rPr lang="en-US" sz="2800" dirty="0">
                <a:latin typeface="Times New Roman" charset="0"/>
              </a:rPr>
              <a:t>)</a:t>
            </a:r>
          </a:p>
          <a:p>
            <a:pPr marL="742950" lvl="1" indent="-285750" algn="l">
              <a:buFontTx/>
              <a:buChar char="–"/>
            </a:pPr>
            <a:endParaRPr lang="en-US" sz="1400" dirty="0">
              <a:latin typeface="Times New Roman" charset="0"/>
            </a:endParaRPr>
          </a:p>
          <a:p>
            <a:pPr marL="742950" lvl="1" indent="-285750" algn="l">
              <a:buFontTx/>
              <a:buChar char="–"/>
            </a:pPr>
            <a:r>
              <a:rPr lang="en-US" sz="2800" dirty="0"/>
              <a:t>error:</a:t>
            </a:r>
            <a:r>
              <a:rPr lang="en-US" sz="2800" dirty="0">
                <a:latin typeface="Times New Roman" charset="0"/>
              </a:rPr>
              <a:t> </a:t>
            </a:r>
            <a:r>
              <a:rPr lang="en-US" sz="2800" i="1" dirty="0">
                <a:latin typeface="Times New Roman" charset="0"/>
              </a:rPr>
              <a:t>C</a:t>
            </a:r>
            <a:r>
              <a:rPr lang="en-US" sz="2800" dirty="0">
                <a:latin typeface="Times New Roman" charset="0"/>
              </a:rPr>
              <a:t> = (</a:t>
            </a:r>
            <a:r>
              <a:rPr lang="en-US" sz="2800" i="1" dirty="0">
                <a:latin typeface="Times New Roman" charset="0"/>
              </a:rPr>
              <a:t>y </a:t>
            </a:r>
            <a:r>
              <a:rPr lang="en-US" sz="2800" dirty="0">
                <a:latin typeface="Times New Roman" charset="0"/>
              </a:rPr>
              <a:t>- </a:t>
            </a:r>
            <a:r>
              <a:rPr lang="en-US" sz="2800" i="1" dirty="0">
                <a:latin typeface="Times New Roman" charset="0"/>
              </a:rPr>
              <a:t>g</a:t>
            </a:r>
            <a:r>
              <a:rPr lang="en-US" sz="2800" dirty="0">
                <a:latin typeface="Times New Roman" charset="0"/>
              </a:rPr>
              <a:t>(</a:t>
            </a:r>
            <a:r>
              <a:rPr lang="en-US" sz="2800" i="1" dirty="0">
                <a:latin typeface="Times New Roman" charset="0"/>
              </a:rPr>
              <a:t>x</a:t>
            </a:r>
            <a:r>
              <a:rPr lang="en-US" sz="2800" dirty="0">
                <a:latin typeface="Times New Roman" charset="0"/>
              </a:rPr>
              <a:t>))</a:t>
            </a:r>
            <a:r>
              <a:rPr lang="en-US" sz="2800" baseline="30000" dirty="0">
                <a:latin typeface="Times New Roman" charset="0"/>
              </a:rPr>
              <a:t>2</a:t>
            </a:r>
          </a:p>
          <a:p>
            <a:pPr marL="742950" lvl="1" indent="-285750" algn="l">
              <a:buFontTx/>
              <a:buChar char="–"/>
            </a:pPr>
            <a:endParaRPr lang="en-US" sz="1400" dirty="0"/>
          </a:p>
          <a:p>
            <a:pPr marL="742950" lvl="1" indent="-285750" algn="l">
              <a:buFontTx/>
              <a:buChar char="–"/>
            </a:pPr>
            <a:r>
              <a:rPr lang="en-US" sz="2800" dirty="0"/>
              <a:t>learning algorithm picks function </a:t>
            </a:r>
            <a:r>
              <a:rPr lang="en-US" sz="2800" i="1" dirty="0">
                <a:latin typeface="Times New Roman" charset="0"/>
              </a:rPr>
              <a:t>g</a:t>
            </a:r>
            <a:r>
              <a:rPr lang="en-US" sz="2800" dirty="0"/>
              <a:t> using data </a:t>
            </a:r>
            <a:r>
              <a:rPr lang="en-US" sz="2800" i="1" dirty="0">
                <a:latin typeface="Times New Roman" charset="0"/>
              </a:rPr>
              <a:t>D</a:t>
            </a:r>
          </a:p>
          <a:p>
            <a:pPr marL="742950" lvl="1" indent="-285750" algn="l">
              <a:buFontTx/>
              <a:buChar char="–"/>
            </a:pPr>
            <a:endParaRPr lang="en-US" sz="2800" dirty="0"/>
          </a:p>
          <a:p>
            <a:pPr algn="l"/>
            <a:r>
              <a:rPr lang="en-US" sz="2800" dirty="0"/>
              <a:t>Minimize prediction error</a:t>
            </a:r>
          </a:p>
        </p:txBody>
      </p:sp>
      <p:grpSp>
        <p:nvGrpSpPr>
          <p:cNvPr id="418844" name="Group 28"/>
          <p:cNvGrpSpPr>
            <a:grpSpLocks/>
          </p:cNvGrpSpPr>
          <p:nvPr/>
        </p:nvGrpSpPr>
        <p:grpSpPr bwMode="auto">
          <a:xfrm>
            <a:off x="5449888" y="2133600"/>
            <a:ext cx="3008312" cy="3124200"/>
            <a:chOff x="3433" y="1344"/>
            <a:chExt cx="1895" cy="1968"/>
          </a:xfrm>
        </p:grpSpPr>
        <p:sp>
          <p:nvSpPr>
            <p:cNvPr id="418821" name="Line 5"/>
            <p:cNvSpPr>
              <a:spLocks noChangeShapeType="1"/>
            </p:cNvSpPr>
            <p:nvPr/>
          </p:nvSpPr>
          <p:spPr bwMode="auto">
            <a:xfrm>
              <a:off x="3744" y="1440"/>
              <a:ext cx="0" cy="1536"/>
            </a:xfrm>
            <a:prstGeom prst="line">
              <a:avLst/>
            </a:prstGeom>
            <a:noFill/>
            <a:ln w="19050">
              <a:solidFill>
                <a:schemeClr val="tx1"/>
              </a:solidFill>
              <a:round/>
              <a:headEnd type="arrow"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8822" name="Line 6"/>
            <p:cNvSpPr>
              <a:spLocks noChangeShapeType="1"/>
            </p:cNvSpPr>
            <p:nvPr/>
          </p:nvSpPr>
          <p:spPr bwMode="auto">
            <a:xfrm rot="5400000">
              <a:off x="4512" y="2208"/>
              <a:ext cx="0" cy="1536"/>
            </a:xfrm>
            <a:prstGeom prst="line">
              <a:avLst/>
            </a:prstGeom>
            <a:noFill/>
            <a:ln w="19050">
              <a:solidFill>
                <a:schemeClr val="tx1"/>
              </a:solidFill>
              <a:round/>
              <a:headEnd type="arrow"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8824" name="Text Box 8"/>
            <p:cNvSpPr txBox="1">
              <a:spLocks noChangeArrowheads="1"/>
            </p:cNvSpPr>
            <p:nvPr/>
          </p:nvSpPr>
          <p:spPr bwMode="auto">
            <a:xfrm>
              <a:off x="3433" y="1344"/>
              <a:ext cx="215"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a:r>
                <a:rPr lang="en-US" i="1">
                  <a:latin typeface="Times New Roman" charset="0"/>
                </a:rPr>
                <a:t>y</a:t>
              </a:r>
              <a:endParaRPr lang="en-US"/>
            </a:p>
          </p:txBody>
        </p:sp>
        <p:sp>
          <p:nvSpPr>
            <p:cNvPr id="418825" name="Text Box 9"/>
            <p:cNvSpPr txBox="1">
              <a:spLocks noChangeArrowheads="1"/>
            </p:cNvSpPr>
            <p:nvPr/>
          </p:nvSpPr>
          <p:spPr bwMode="auto">
            <a:xfrm>
              <a:off x="5113" y="2985"/>
              <a:ext cx="215"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a:r>
                <a:rPr lang="en-US" i="1">
                  <a:latin typeface="Times New Roman" charset="0"/>
                </a:rPr>
                <a:t>x</a:t>
              </a:r>
              <a:endParaRPr lang="en-US"/>
            </a:p>
          </p:txBody>
        </p:sp>
      </p:grpSp>
      <p:graphicFrame>
        <p:nvGraphicFramePr>
          <p:cNvPr id="418826" name="Object 10"/>
          <p:cNvGraphicFramePr>
            <a:graphicFrameLocks noChangeAspect="1"/>
          </p:cNvGraphicFramePr>
          <p:nvPr/>
        </p:nvGraphicFramePr>
        <p:xfrm>
          <a:off x="765175" y="5880100"/>
          <a:ext cx="7993063" cy="809625"/>
        </p:xfrm>
        <a:graphic>
          <a:graphicData uri="http://schemas.openxmlformats.org/presentationml/2006/ole">
            <mc:AlternateContent xmlns:mc="http://schemas.openxmlformats.org/markup-compatibility/2006">
              <mc:Choice xmlns:v="urn:schemas-microsoft-com:vml" Requires="v">
                <p:oleObj name="Equation" r:id="rId3" imgW="2755900" imgH="279400" progId="Equation.3">
                  <p:embed/>
                </p:oleObj>
              </mc:Choice>
              <mc:Fallback>
                <p:oleObj name="Equation" r:id="rId3" imgW="2755900" imgH="279400" progId="Equation.3">
                  <p:embed/>
                  <p:pic>
                    <p:nvPicPr>
                      <p:cNvPr id="418826" name="Object 10"/>
                      <p:cNvPicPr>
                        <a:picLocks noChangeAspect="1" noChangeArrowheads="1"/>
                      </p:cNvPicPr>
                      <p:nvPr/>
                    </p:nvPicPr>
                    <p:blipFill>
                      <a:blip r:embed="rId4"/>
                      <a:srcRect/>
                      <a:stretch>
                        <a:fillRect/>
                      </a:stretch>
                    </p:blipFill>
                    <p:spPr bwMode="auto">
                      <a:xfrm>
                        <a:off x="765175" y="5880100"/>
                        <a:ext cx="7993063" cy="809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418843" name="Group 27"/>
          <p:cNvGrpSpPr>
            <a:grpSpLocks/>
          </p:cNvGrpSpPr>
          <p:nvPr/>
        </p:nvGrpSpPr>
        <p:grpSpPr bwMode="auto">
          <a:xfrm>
            <a:off x="6172200" y="3124200"/>
            <a:ext cx="1752600" cy="1066800"/>
            <a:chOff x="3888" y="1968"/>
            <a:chExt cx="1104" cy="672"/>
          </a:xfrm>
        </p:grpSpPr>
        <p:sp>
          <p:nvSpPr>
            <p:cNvPr id="418827" name="Oval 11"/>
            <p:cNvSpPr>
              <a:spLocks noChangeArrowheads="1"/>
            </p:cNvSpPr>
            <p:nvPr/>
          </p:nvSpPr>
          <p:spPr bwMode="auto">
            <a:xfrm>
              <a:off x="3888"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28" name="Oval 12"/>
            <p:cNvSpPr>
              <a:spLocks noChangeArrowheads="1"/>
            </p:cNvSpPr>
            <p:nvPr/>
          </p:nvSpPr>
          <p:spPr bwMode="auto">
            <a:xfrm>
              <a:off x="398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29" name="Oval 13"/>
            <p:cNvSpPr>
              <a:spLocks noChangeArrowheads="1"/>
            </p:cNvSpPr>
            <p:nvPr/>
          </p:nvSpPr>
          <p:spPr bwMode="auto">
            <a:xfrm>
              <a:off x="4176"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0" name="Oval 14"/>
            <p:cNvSpPr>
              <a:spLocks noChangeArrowheads="1"/>
            </p:cNvSpPr>
            <p:nvPr/>
          </p:nvSpPr>
          <p:spPr bwMode="auto">
            <a:xfrm>
              <a:off x="4416"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1" name="Oval 15"/>
            <p:cNvSpPr>
              <a:spLocks noChangeArrowheads="1"/>
            </p:cNvSpPr>
            <p:nvPr/>
          </p:nvSpPr>
          <p:spPr bwMode="auto">
            <a:xfrm>
              <a:off x="4512"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2" name="Oval 16"/>
            <p:cNvSpPr>
              <a:spLocks noChangeArrowheads="1"/>
            </p:cNvSpPr>
            <p:nvPr/>
          </p:nvSpPr>
          <p:spPr bwMode="auto">
            <a:xfrm>
              <a:off x="4848"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3" name="Oval 17"/>
            <p:cNvSpPr>
              <a:spLocks noChangeArrowheads="1"/>
            </p:cNvSpPr>
            <p:nvPr/>
          </p:nvSpPr>
          <p:spPr bwMode="auto">
            <a:xfrm>
              <a:off x="4944" y="196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grpSp>
      <p:sp>
        <p:nvSpPr>
          <p:cNvPr id="418841" name="Freeform 25"/>
          <p:cNvSpPr>
            <a:spLocks/>
          </p:cNvSpPr>
          <p:nvPr/>
        </p:nvSpPr>
        <p:spPr bwMode="auto">
          <a:xfrm>
            <a:off x="5943600" y="2133600"/>
            <a:ext cx="2362200" cy="2057400"/>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Tree>
    <p:extLst>
      <p:ext uri="{BB962C8B-B14F-4D97-AF65-F5344CB8AC3E}">
        <p14:creationId xmlns:p14="http://schemas.microsoft.com/office/powerpoint/2010/main" val="1706025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88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882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88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882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88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882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8820">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8820">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1882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88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8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40" grpId="0" animBg="1"/>
      <p:bldP spid="418820" grpId="0" build="p" bldLvl="2"/>
      <p:bldP spid="41884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38174" y="38874"/>
            <a:ext cx="7772400" cy="875922"/>
          </a:xfrm>
        </p:spPr>
        <p:txBody>
          <a:bodyPr/>
          <a:lstStyle/>
          <a:p>
            <a:r>
              <a:rPr lang="en-US" dirty="0"/>
              <a:t>A learning strategy</a:t>
            </a:r>
          </a:p>
        </p:txBody>
      </p:sp>
      <p:sp>
        <p:nvSpPr>
          <p:cNvPr id="424963"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24964" name="Rectangle 4"/>
          <p:cNvSpPr>
            <a:spLocks noChangeArrowheads="1"/>
          </p:cNvSpPr>
          <p:nvPr/>
        </p:nvSpPr>
        <p:spPr bwMode="auto">
          <a:xfrm>
            <a:off x="64795" y="1166217"/>
            <a:ext cx="9067800" cy="54164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Choose the function </a:t>
            </a:r>
            <a:r>
              <a:rPr lang="en-US" sz="3200" i="1" dirty="0">
                <a:latin typeface="Times New Roman" charset="0"/>
              </a:rPr>
              <a:t>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in the hypothesis space that minimizes the training error</a:t>
            </a:r>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algn="l"/>
            <a:r>
              <a:rPr lang="en-US" sz="3200" dirty="0"/>
              <a:t>Different hypothesis spaces define different learning algorithms</a:t>
            </a:r>
          </a:p>
          <a:p>
            <a:pPr algn="l"/>
            <a:endParaRPr lang="en-US" sz="3200" dirty="0"/>
          </a:p>
          <a:p>
            <a:pPr algn="l"/>
            <a:r>
              <a:rPr lang="en-US" sz="3200" dirty="0"/>
              <a:t>Neural networks correspond to the case where the hypothesis space is functions that can be produced by the network</a:t>
            </a:r>
          </a:p>
        </p:txBody>
      </p:sp>
      <p:graphicFrame>
        <p:nvGraphicFramePr>
          <p:cNvPr id="424966" name="Object 6"/>
          <p:cNvGraphicFramePr>
            <a:graphicFrameLocks noChangeAspect="1"/>
          </p:cNvGraphicFramePr>
          <p:nvPr/>
        </p:nvGraphicFramePr>
        <p:xfrm>
          <a:off x="2743200" y="2410936"/>
          <a:ext cx="3706813" cy="1144588"/>
        </p:xfrm>
        <a:graphic>
          <a:graphicData uri="http://schemas.openxmlformats.org/presentationml/2006/ole">
            <mc:AlternateContent xmlns:mc="http://schemas.openxmlformats.org/markup-compatibility/2006">
              <mc:Choice xmlns:v="urn:schemas-microsoft-com:vml" Requires="v">
                <p:oleObj name="Equation" r:id="rId3" imgW="1397000" imgH="431800" progId="Equation.3">
                  <p:embed/>
                </p:oleObj>
              </mc:Choice>
              <mc:Fallback>
                <p:oleObj name="Equation" r:id="rId3" imgW="1397000" imgH="431800" progId="Equation.3">
                  <p:embed/>
                  <p:pic>
                    <p:nvPicPr>
                      <p:cNvPr id="4249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410936"/>
                        <a:ext cx="3706813" cy="11445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81446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496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49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a:xfrm>
            <a:off x="685800" y="381000"/>
            <a:ext cx="7772400" cy="1143000"/>
          </a:xfrm>
        </p:spPr>
        <p:txBody>
          <a:bodyPr/>
          <a:lstStyle/>
          <a:p>
            <a:r>
              <a:rPr lang="en-US"/>
              <a:t>Some hypothesis spaces</a:t>
            </a:r>
          </a:p>
        </p:txBody>
      </p:sp>
      <p:sp>
        <p:nvSpPr>
          <p:cNvPr id="427011"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27012" name="Rectangle 4"/>
          <p:cNvSpPr>
            <a:spLocks noChangeArrowheads="1"/>
          </p:cNvSpPr>
          <p:nvPr/>
        </p:nvSpPr>
        <p:spPr bwMode="auto">
          <a:xfrm>
            <a:off x="228600" y="1600200"/>
            <a:ext cx="8686800" cy="426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lgn="l"/>
            <a:r>
              <a:rPr lang="en-US" sz="3200" b="1" dirty="0"/>
              <a:t>Linear functions</a:t>
            </a:r>
            <a:endParaRPr lang="en-US" sz="2400" b="1"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r>
              <a:rPr lang="en-US" sz="3200" b="1" dirty="0"/>
              <a:t>Quadratic functions</a:t>
            </a: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r>
              <a:rPr lang="en-US" sz="3200" b="1" dirty="0"/>
              <a:t>8th degree polynomials</a:t>
            </a:r>
          </a:p>
        </p:txBody>
      </p:sp>
      <p:graphicFrame>
        <p:nvGraphicFramePr>
          <p:cNvPr id="427014" name="Object 6"/>
          <p:cNvGraphicFramePr>
            <a:graphicFrameLocks noChangeAspect="1"/>
          </p:cNvGraphicFramePr>
          <p:nvPr/>
        </p:nvGraphicFramePr>
        <p:xfrm>
          <a:off x="2743200" y="2441495"/>
          <a:ext cx="3124200" cy="590550"/>
        </p:xfrm>
        <a:graphic>
          <a:graphicData uri="http://schemas.openxmlformats.org/presentationml/2006/ole">
            <mc:AlternateContent xmlns:mc="http://schemas.openxmlformats.org/markup-compatibility/2006">
              <mc:Choice xmlns:v="urn:schemas-microsoft-com:vml" Requires="v">
                <p:oleObj name="Equation" r:id="rId3" imgW="939800" imgH="177800" progId="Equation.3">
                  <p:embed/>
                </p:oleObj>
              </mc:Choice>
              <mc:Fallback>
                <p:oleObj name="Equation" r:id="rId3" imgW="939800" imgH="177800" progId="Equation.3">
                  <p:embed/>
                  <p:pic>
                    <p:nvPicPr>
                      <p:cNvPr id="42701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441495"/>
                        <a:ext cx="3124200" cy="590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7015" name="Object 7"/>
          <p:cNvGraphicFramePr>
            <a:graphicFrameLocks noChangeAspect="1"/>
          </p:cNvGraphicFramePr>
          <p:nvPr/>
        </p:nvGraphicFramePr>
        <p:xfrm>
          <a:off x="2743200" y="3957776"/>
          <a:ext cx="4559300" cy="674688"/>
        </p:xfrm>
        <a:graphic>
          <a:graphicData uri="http://schemas.openxmlformats.org/presentationml/2006/ole">
            <mc:AlternateContent xmlns:mc="http://schemas.openxmlformats.org/markup-compatibility/2006">
              <mc:Choice xmlns:v="urn:schemas-microsoft-com:vml" Requires="v">
                <p:oleObj name="Equation" r:id="rId5" imgW="1371600" imgH="203200" progId="Equation.3">
                  <p:embed/>
                </p:oleObj>
              </mc:Choice>
              <mc:Fallback>
                <p:oleObj name="Equation" r:id="rId5" imgW="1371600" imgH="203200" progId="Equation.3">
                  <p:embed/>
                  <p:pic>
                    <p:nvPicPr>
                      <p:cNvPr id="42701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3957776"/>
                        <a:ext cx="4559300" cy="6746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7016" name="Object 8"/>
          <p:cNvGraphicFramePr>
            <a:graphicFrameLocks noChangeAspect="1"/>
          </p:cNvGraphicFramePr>
          <p:nvPr/>
        </p:nvGraphicFramePr>
        <p:xfrm>
          <a:off x="2743200" y="5200869"/>
          <a:ext cx="3082925" cy="1519237"/>
        </p:xfrm>
        <a:graphic>
          <a:graphicData uri="http://schemas.openxmlformats.org/presentationml/2006/ole">
            <mc:AlternateContent xmlns:mc="http://schemas.openxmlformats.org/markup-compatibility/2006">
              <mc:Choice xmlns:v="urn:schemas-microsoft-com:vml" Requires="v">
                <p:oleObj name="Equation" r:id="rId7" imgW="927100" imgH="457200" progId="Equation.3">
                  <p:embed/>
                </p:oleObj>
              </mc:Choice>
              <mc:Fallback>
                <p:oleObj name="Equation" r:id="rId7" imgW="927100" imgH="457200" progId="Equation.3">
                  <p:embed/>
                  <p:pic>
                    <p:nvPicPr>
                      <p:cNvPr id="42701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5200869"/>
                        <a:ext cx="3082925" cy="15192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093094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9" name="Rectangle 5"/>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t>Minimizing training error</a:t>
            </a:r>
          </a:p>
        </p:txBody>
      </p:sp>
      <p:pic>
        <p:nvPicPr>
          <p:cNvPr id="4003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454348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290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771536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311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563616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331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57920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What about prediction error?</a:t>
            </a:r>
          </a:p>
        </p:txBody>
      </p:sp>
      <p:pic>
        <p:nvPicPr>
          <p:cNvPr id="435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718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a:xfrm>
            <a:off x="685800" y="381000"/>
            <a:ext cx="7772400" cy="1143000"/>
          </a:xfrm>
        </p:spPr>
        <p:txBody>
          <a:bodyPr/>
          <a:lstStyle/>
          <a:p>
            <a:r>
              <a:rPr lang="en-US" dirty="0"/>
              <a:t>What happened?</a:t>
            </a:r>
          </a:p>
        </p:txBody>
      </p:sp>
      <p:sp>
        <p:nvSpPr>
          <p:cNvPr id="437251"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37252" name="Rectangle 4"/>
          <p:cNvSpPr>
            <a:spLocks noChangeArrowheads="1"/>
          </p:cNvSpPr>
          <p:nvPr/>
        </p:nvSpPr>
        <p:spPr bwMode="auto">
          <a:xfrm>
            <a:off x="228600" y="1828800"/>
            <a:ext cx="8686800" cy="45983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The set of 8th degree polynomials contains almost all functions through 10 points.</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Our data are some true function, plus noise.</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Fitting the noise gives us the wrong function.</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This is called </a:t>
            </a:r>
            <a:r>
              <a:rPr lang="en-US" sz="3200" i="1" dirty="0" err="1"/>
              <a:t>overfitting</a:t>
            </a:r>
            <a:r>
              <a:rPr lang="en-US" sz="3200" i="1" dirty="0"/>
              <a:t>.</a:t>
            </a:r>
            <a:endParaRPr lang="en-US" sz="3200" dirty="0"/>
          </a:p>
          <a:p>
            <a:pPr marL="342900" indent="-342900" algn="l">
              <a:buFontTx/>
              <a:buChar char="•"/>
            </a:pPr>
            <a:endParaRPr lang="en-US" sz="3200" dirty="0"/>
          </a:p>
          <a:p>
            <a:pPr marL="342900" indent="-342900"/>
            <a:r>
              <a:rPr lang="en-US" sz="3200" dirty="0"/>
              <a:t>  </a:t>
            </a:r>
          </a:p>
        </p:txBody>
      </p:sp>
    </p:spTree>
    <p:extLst>
      <p:ext uri="{BB962C8B-B14F-4D97-AF65-F5344CB8AC3E}">
        <p14:creationId xmlns:p14="http://schemas.microsoft.com/office/powerpoint/2010/main" val="11264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725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725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725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685800" y="46793"/>
            <a:ext cx="7772400" cy="1143000"/>
          </a:xfrm>
        </p:spPr>
        <p:txBody>
          <a:bodyPr/>
          <a:lstStyle/>
          <a:p>
            <a:r>
              <a:rPr lang="en-US" dirty="0"/>
              <a:t>More formally…</a:t>
            </a:r>
          </a:p>
        </p:txBody>
      </p:sp>
      <p:sp>
        <p:nvSpPr>
          <p:cNvPr id="439299" name="Rectangle 3"/>
          <p:cNvSpPr>
            <a:spLocks noGrp="1" noChangeArrowheads="1"/>
          </p:cNvSpPr>
          <p:nvPr>
            <p:ph type="body" idx="1"/>
          </p:nvPr>
        </p:nvSpPr>
        <p:spPr>
          <a:xfrm>
            <a:off x="152400" y="866238"/>
            <a:ext cx="8915400" cy="4114800"/>
          </a:xfrm>
        </p:spPr>
        <p:txBody>
          <a:bodyPr/>
          <a:lstStyle/>
          <a:p>
            <a:endParaRPr lang="en-US"/>
          </a:p>
          <a:p>
            <a:endParaRPr lang="en-US"/>
          </a:p>
        </p:txBody>
      </p:sp>
      <p:sp>
        <p:nvSpPr>
          <p:cNvPr id="439300" name="Rectangle 4"/>
          <p:cNvSpPr>
            <a:spLocks noChangeArrowheads="1"/>
          </p:cNvSpPr>
          <p:nvPr/>
        </p:nvSpPr>
        <p:spPr bwMode="auto">
          <a:xfrm>
            <a:off x="152400" y="1323438"/>
            <a:ext cx="8686800" cy="27518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Assume </a:t>
            </a:r>
            <a:r>
              <a:rPr lang="en-US" sz="3200" i="1" dirty="0">
                <a:latin typeface="Times New Roman" charset="0"/>
              </a:rPr>
              <a:t>y</a:t>
            </a:r>
            <a:r>
              <a:rPr lang="en-US" sz="3200" dirty="0">
                <a:latin typeface="Times New Roman" charset="0"/>
              </a:rPr>
              <a:t> =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dirty="0"/>
              <a:t> </a:t>
            </a:r>
            <a:r>
              <a:rPr lang="en-US" sz="3200" dirty="0">
                <a:sym typeface="Symbol" charset="0"/>
              </a:rPr>
              <a:t>, where </a:t>
            </a:r>
            <a:r>
              <a:rPr lang="en-US" sz="3200" i="1" dirty="0">
                <a:latin typeface="Times New Roman" charset="0"/>
              </a:rPr>
              <a:t>E</a:t>
            </a:r>
            <a:r>
              <a:rPr lang="en-US" sz="3200" dirty="0">
                <a:latin typeface="Times New Roman" charset="0"/>
              </a:rPr>
              <a:t>(</a:t>
            </a:r>
            <a:r>
              <a:rPr lang="en-US" sz="3200" dirty="0">
                <a:sym typeface="Symbol" charset="0"/>
              </a:rPr>
              <a:t></a:t>
            </a:r>
            <a:r>
              <a:rPr lang="en-US" sz="3200" dirty="0">
                <a:latin typeface="Times New Roman" charset="0"/>
              </a:rPr>
              <a:t>) = 0</a:t>
            </a:r>
            <a:r>
              <a:rPr lang="en-US" sz="3200" dirty="0">
                <a:sym typeface="Symbol" charset="0"/>
              </a:rPr>
              <a:t>,</a:t>
            </a:r>
            <a:r>
              <a:rPr lang="en-US" sz="3200" dirty="0">
                <a:latin typeface="Times New Roman" charset="0"/>
              </a:rPr>
              <a:t> </a:t>
            </a:r>
            <a:r>
              <a:rPr lang="en-US" sz="3200" i="1" dirty="0">
                <a:latin typeface="Times New Roman" charset="0"/>
              </a:rPr>
              <a:t>E</a:t>
            </a:r>
            <a:r>
              <a:rPr lang="en-US" sz="3200" dirty="0">
                <a:latin typeface="Times New Roman" charset="0"/>
              </a:rPr>
              <a:t>(</a:t>
            </a:r>
            <a:r>
              <a:rPr lang="en-US" sz="3200" dirty="0">
                <a:sym typeface="Symbol" charset="0"/>
              </a:rPr>
              <a:t></a:t>
            </a:r>
            <a:r>
              <a:rPr lang="en-US" sz="3200" baseline="30000" dirty="0">
                <a:latin typeface="Times New Roman" charset="0"/>
              </a:rPr>
              <a:t>2</a:t>
            </a:r>
            <a:r>
              <a:rPr lang="en-US" sz="3200" dirty="0">
                <a:latin typeface="Times New Roman" charset="0"/>
              </a:rPr>
              <a:t>) = </a:t>
            </a:r>
            <a:r>
              <a:rPr lang="en-US" sz="3200" i="1" dirty="0">
                <a:sym typeface="Symbol" charset="0"/>
              </a:rPr>
              <a:t> </a:t>
            </a:r>
            <a:r>
              <a:rPr lang="en-US" sz="3200" baseline="30000" dirty="0">
                <a:latin typeface="Times New Roman" charset="0"/>
              </a:rPr>
              <a:t>2</a:t>
            </a:r>
          </a:p>
          <a:p>
            <a:pPr algn="l"/>
            <a:r>
              <a:rPr lang="en-US" sz="3200" dirty="0">
                <a:latin typeface="Times New Roman" charset="0"/>
                <a:sym typeface="Symbol" charset="0"/>
              </a:rPr>
              <a:t>					(assume error is normally distributed)</a:t>
            </a:r>
            <a:r>
              <a:rPr lang="en-US" sz="3200" dirty="0">
                <a:sym typeface="Symbol" charset="0"/>
              </a:rPr>
              <a:t> </a:t>
            </a: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2400" dirty="0"/>
          </a:p>
        </p:txBody>
      </p:sp>
      <p:graphicFrame>
        <p:nvGraphicFramePr>
          <p:cNvPr id="439301" name="Object 5"/>
          <p:cNvGraphicFramePr>
            <a:graphicFrameLocks noChangeAspect="1"/>
          </p:cNvGraphicFramePr>
          <p:nvPr/>
        </p:nvGraphicFramePr>
        <p:xfrm>
          <a:off x="838200" y="2681506"/>
          <a:ext cx="3925888" cy="658813"/>
        </p:xfrm>
        <a:graphic>
          <a:graphicData uri="http://schemas.openxmlformats.org/presentationml/2006/ole">
            <mc:AlternateContent xmlns:mc="http://schemas.openxmlformats.org/markup-compatibility/2006">
              <mc:Choice xmlns:v="urn:schemas-microsoft-com:vml" Requires="v">
                <p:oleObj name="Equation" r:id="rId3" imgW="1511300" imgH="254000" progId="Equation.3">
                  <p:embed/>
                </p:oleObj>
              </mc:Choice>
              <mc:Fallback>
                <p:oleObj name="Equation" r:id="rId3" imgW="1511300" imgH="254000" progId="Equation.3">
                  <p:embed/>
                  <p:pic>
                    <p:nvPicPr>
                      <p:cNvPr id="4393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81506"/>
                        <a:ext cx="3925888"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2" name="Object 6"/>
          <p:cNvGraphicFramePr>
            <a:graphicFrameLocks noChangeAspect="1"/>
          </p:cNvGraphicFramePr>
          <p:nvPr/>
        </p:nvGraphicFramePr>
        <p:xfrm>
          <a:off x="1447800" y="3416519"/>
          <a:ext cx="5541963" cy="658812"/>
        </p:xfrm>
        <a:graphic>
          <a:graphicData uri="http://schemas.openxmlformats.org/presentationml/2006/ole">
            <mc:AlternateContent xmlns:mc="http://schemas.openxmlformats.org/markup-compatibility/2006">
              <mc:Choice xmlns:v="urn:schemas-microsoft-com:vml" Requires="v">
                <p:oleObj name="Equation" r:id="rId5" imgW="2133600" imgH="254000" progId="Equation.3">
                  <p:embed/>
                </p:oleObj>
              </mc:Choice>
              <mc:Fallback>
                <p:oleObj name="Equation" r:id="rId5" imgW="2133600" imgH="254000" progId="Equation.3">
                  <p:embed/>
                  <p:pic>
                    <p:nvPicPr>
                      <p:cNvPr id="4393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416519"/>
                        <a:ext cx="5541963"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2850" y="4276112"/>
            <a:ext cx="6565900" cy="1892300"/>
          </a:xfrm>
          <a:prstGeom prst="rect">
            <a:avLst/>
          </a:prstGeom>
        </p:spPr>
      </p:pic>
      <p:sp>
        <p:nvSpPr>
          <p:cNvPr id="3" name="Rectangle 2"/>
          <p:cNvSpPr/>
          <p:nvPr/>
        </p:nvSpPr>
        <p:spPr>
          <a:xfrm>
            <a:off x="152400" y="5248461"/>
            <a:ext cx="8799095" cy="12427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2953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93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930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93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93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0" grpId="0" build="p"/>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685800" y="46793"/>
            <a:ext cx="7772400" cy="1143000"/>
          </a:xfrm>
        </p:spPr>
        <p:txBody>
          <a:bodyPr/>
          <a:lstStyle/>
          <a:p>
            <a:r>
              <a:rPr lang="en-US" dirty="0"/>
              <a:t>More formally…</a:t>
            </a:r>
          </a:p>
        </p:txBody>
      </p:sp>
      <p:sp>
        <p:nvSpPr>
          <p:cNvPr id="439299" name="Rectangle 3"/>
          <p:cNvSpPr>
            <a:spLocks noGrp="1" noChangeArrowheads="1"/>
          </p:cNvSpPr>
          <p:nvPr>
            <p:ph type="body" idx="1"/>
          </p:nvPr>
        </p:nvSpPr>
        <p:spPr>
          <a:xfrm>
            <a:off x="152400" y="866238"/>
            <a:ext cx="8915400" cy="4114800"/>
          </a:xfrm>
        </p:spPr>
        <p:txBody>
          <a:bodyPr/>
          <a:lstStyle/>
          <a:p>
            <a:endParaRPr lang="en-US"/>
          </a:p>
          <a:p>
            <a:endParaRPr lang="en-US"/>
          </a:p>
        </p:txBody>
      </p:sp>
      <p:sp>
        <p:nvSpPr>
          <p:cNvPr id="439300" name="Rectangle 4"/>
          <p:cNvSpPr>
            <a:spLocks noChangeArrowheads="1"/>
          </p:cNvSpPr>
          <p:nvPr/>
        </p:nvSpPr>
        <p:spPr bwMode="auto">
          <a:xfrm>
            <a:off x="152400" y="1323437"/>
            <a:ext cx="8686800" cy="47429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Assume </a:t>
            </a:r>
            <a:r>
              <a:rPr lang="en-US" sz="3200" i="1" dirty="0">
                <a:latin typeface="Times New Roman" charset="0"/>
              </a:rPr>
              <a:t>y</a:t>
            </a:r>
            <a:r>
              <a:rPr lang="en-US" sz="3200" dirty="0">
                <a:latin typeface="Times New Roman" charset="0"/>
              </a:rPr>
              <a:t> =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dirty="0"/>
              <a:t> </a:t>
            </a:r>
            <a:r>
              <a:rPr lang="en-US" sz="3200" dirty="0">
                <a:sym typeface="Symbol" charset="0"/>
              </a:rPr>
              <a:t>, where </a:t>
            </a:r>
            <a:r>
              <a:rPr lang="en-US" sz="3200" i="1" dirty="0">
                <a:latin typeface="Times New Roman" charset="0"/>
              </a:rPr>
              <a:t>E</a:t>
            </a:r>
            <a:r>
              <a:rPr lang="en-US" sz="3200" dirty="0">
                <a:latin typeface="Times New Roman" charset="0"/>
              </a:rPr>
              <a:t>(</a:t>
            </a:r>
            <a:r>
              <a:rPr lang="en-US" sz="3200" dirty="0">
                <a:sym typeface="Symbol" charset="0"/>
              </a:rPr>
              <a:t></a:t>
            </a:r>
            <a:r>
              <a:rPr lang="en-US" sz="3200" dirty="0">
                <a:latin typeface="Times New Roman" charset="0"/>
              </a:rPr>
              <a:t>) = 0</a:t>
            </a:r>
            <a:r>
              <a:rPr lang="en-US" sz="3200" dirty="0">
                <a:sym typeface="Symbol" charset="0"/>
              </a:rPr>
              <a:t>,</a:t>
            </a:r>
            <a:r>
              <a:rPr lang="en-US" sz="3200" dirty="0">
                <a:latin typeface="Times New Roman" charset="0"/>
              </a:rPr>
              <a:t> </a:t>
            </a:r>
            <a:r>
              <a:rPr lang="en-US" sz="3200" i="1" dirty="0">
                <a:latin typeface="Times New Roman" charset="0"/>
              </a:rPr>
              <a:t>E</a:t>
            </a:r>
            <a:r>
              <a:rPr lang="en-US" sz="3200" dirty="0">
                <a:latin typeface="Times New Roman" charset="0"/>
              </a:rPr>
              <a:t>(</a:t>
            </a:r>
            <a:r>
              <a:rPr lang="en-US" sz="3200" dirty="0">
                <a:sym typeface="Symbol" charset="0"/>
              </a:rPr>
              <a:t></a:t>
            </a:r>
            <a:r>
              <a:rPr lang="en-US" sz="3200" baseline="30000" dirty="0">
                <a:latin typeface="Times New Roman" charset="0"/>
              </a:rPr>
              <a:t>2</a:t>
            </a:r>
            <a:r>
              <a:rPr lang="en-US" sz="3200" dirty="0">
                <a:latin typeface="Times New Roman" charset="0"/>
              </a:rPr>
              <a:t>) = </a:t>
            </a:r>
            <a:r>
              <a:rPr lang="en-US" sz="3200" i="1" dirty="0">
                <a:sym typeface="Symbol" charset="0"/>
              </a:rPr>
              <a:t> </a:t>
            </a:r>
            <a:r>
              <a:rPr lang="en-US" sz="3200" baseline="30000" dirty="0">
                <a:latin typeface="Times New Roman" charset="0"/>
              </a:rPr>
              <a:t>2</a:t>
            </a:r>
          </a:p>
          <a:p>
            <a:pPr algn="l"/>
            <a:r>
              <a:rPr lang="en-US" sz="3200" dirty="0">
                <a:latin typeface="Times New Roman" charset="0"/>
                <a:sym typeface="Symbol" charset="0"/>
              </a:rPr>
              <a:t>					(i.e., error is normally distributed)</a:t>
            </a:r>
            <a:r>
              <a:rPr lang="en-US" sz="3200" dirty="0">
                <a:sym typeface="Symbol" charset="0"/>
              </a:rPr>
              <a:t> </a:t>
            </a: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algn="l"/>
            <a:r>
              <a:rPr lang="en-US" sz="3200" dirty="0"/>
              <a:t>A good algorithm makes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small</a:t>
            </a:r>
          </a:p>
        </p:txBody>
      </p:sp>
      <p:graphicFrame>
        <p:nvGraphicFramePr>
          <p:cNvPr id="439301" name="Object 5"/>
          <p:cNvGraphicFramePr>
            <a:graphicFrameLocks noChangeAspect="1"/>
          </p:cNvGraphicFramePr>
          <p:nvPr/>
        </p:nvGraphicFramePr>
        <p:xfrm>
          <a:off x="838200" y="2681506"/>
          <a:ext cx="3925888" cy="658813"/>
        </p:xfrm>
        <a:graphic>
          <a:graphicData uri="http://schemas.openxmlformats.org/presentationml/2006/ole">
            <mc:AlternateContent xmlns:mc="http://schemas.openxmlformats.org/markup-compatibility/2006">
              <mc:Choice xmlns:v="urn:schemas-microsoft-com:vml" Requires="v">
                <p:oleObj name="Equation" r:id="rId3" imgW="1511300" imgH="254000" progId="Equation.3">
                  <p:embed/>
                </p:oleObj>
              </mc:Choice>
              <mc:Fallback>
                <p:oleObj name="Equation" r:id="rId3" imgW="1511300" imgH="254000" progId="Equation.3">
                  <p:embed/>
                  <p:pic>
                    <p:nvPicPr>
                      <p:cNvPr id="4393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81506"/>
                        <a:ext cx="3925888"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2" name="Object 6"/>
          <p:cNvGraphicFramePr>
            <a:graphicFrameLocks noChangeAspect="1"/>
          </p:cNvGraphicFramePr>
          <p:nvPr/>
        </p:nvGraphicFramePr>
        <p:xfrm>
          <a:off x="1447800" y="3416519"/>
          <a:ext cx="5541963" cy="658812"/>
        </p:xfrm>
        <a:graphic>
          <a:graphicData uri="http://schemas.openxmlformats.org/presentationml/2006/ole">
            <mc:AlternateContent xmlns:mc="http://schemas.openxmlformats.org/markup-compatibility/2006">
              <mc:Choice xmlns:v="urn:schemas-microsoft-com:vml" Requires="v">
                <p:oleObj name="Equation" r:id="rId5" imgW="2133600" imgH="254000" progId="Equation.3">
                  <p:embed/>
                </p:oleObj>
              </mc:Choice>
              <mc:Fallback>
                <p:oleObj name="Equation" r:id="rId5" imgW="2133600" imgH="254000" progId="Equation.3">
                  <p:embed/>
                  <p:pic>
                    <p:nvPicPr>
                      <p:cNvPr id="4393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416519"/>
                        <a:ext cx="5541963"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3" name="Object 7"/>
          <p:cNvGraphicFramePr>
            <a:graphicFrameLocks noChangeAspect="1"/>
          </p:cNvGraphicFramePr>
          <p:nvPr/>
        </p:nvGraphicFramePr>
        <p:xfrm>
          <a:off x="1447800" y="4178519"/>
          <a:ext cx="7191375" cy="658812"/>
        </p:xfrm>
        <a:graphic>
          <a:graphicData uri="http://schemas.openxmlformats.org/presentationml/2006/ole">
            <mc:AlternateContent xmlns:mc="http://schemas.openxmlformats.org/markup-compatibility/2006">
              <mc:Choice xmlns:v="urn:schemas-microsoft-com:vml" Requires="v">
                <p:oleObj name="Equation" r:id="rId7" imgW="2768600" imgH="254000" progId="Equation.3">
                  <p:embed/>
                </p:oleObj>
              </mc:Choice>
              <mc:Fallback>
                <p:oleObj name="Equation" r:id="rId7" imgW="2768600" imgH="254000" progId="Equation.3">
                  <p:embed/>
                  <p:pic>
                    <p:nvPicPr>
                      <p:cNvPr id="439303"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4178519"/>
                        <a:ext cx="7191375"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4" name="Object 8"/>
          <p:cNvGraphicFramePr>
            <a:graphicFrameLocks noChangeAspect="1"/>
          </p:cNvGraphicFramePr>
          <p:nvPr/>
        </p:nvGraphicFramePr>
        <p:xfrm>
          <a:off x="1447800" y="4967506"/>
          <a:ext cx="4454525" cy="658813"/>
        </p:xfrm>
        <a:graphic>
          <a:graphicData uri="http://schemas.openxmlformats.org/presentationml/2006/ole">
            <mc:AlternateContent xmlns:mc="http://schemas.openxmlformats.org/markup-compatibility/2006">
              <mc:Choice xmlns:v="urn:schemas-microsoft-com:vml" Requires="v">
                <p:oleObj name="Equation" r:id="rId9" imgW="1714500" imgH="254000" progId="Equation.3">
                  <p:embed/>
                </p:oleObj>
              </mc:Choice>
              <mc:Fallback>
                <p:oleObj name="Equation" r:id="rId9" imgW="1714500" imgH="254000" progId="Equation.3">
                  <p:embed/>
                  <p:pic>
                    <p:nvPicPr>
                      <p:cNvPr id="439304"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967506"/>
                        <a:ext cx="4454525"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767255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93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30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a:xfrm>
            <a:off x="685800" y="1"/>
            <a:ext cx="7772400" cy="777478"/>
          </a:xfrm>
        </p:spPr>
        <p:txBody>
          <a:bodyPr>
            <a:normAutofit/>
          </a:bodyPr>
          <a:lstStyle/>
          <a:p>
            <a:r>
              <a:rPr lang="en-US" dirty="0"/>
              <a:t>Bias and variance</a:t>
            </a:r>
          </a:p>
        </p:txBody>
      </p:sp>
      <p:sp>
        <p:nvSpPr>
          <p:cNvPr id="441347" name="Rectangle 3"/>
          <p:cNvSpPr>
            <a:spLocks noGrp="1" noChangeArrowheads="1"/>
          </p:cNvSpPr>
          <p:nvPr>
            <p:ph type="body" idx="1"/>
          </p:nvPr>
        </p:nvSpPr>
        <p:spPr>
          <a:xfrm>
            <a:off x="152400" y="805123"/>
            <a:ext cx="8915400" cy="4114800"/>
          </a:xfrm>
        </p:spPr>
        <p:txBody>
          <a:bodyPr/>
          <a:lstStyle/>
          <a:p>
            <a:endParaRPr lang="en-US" dirty="0"/>
          </a:p>
          <a:p>
            <a:endParaRPr lang="en-US" dirty="0"/>
          </a:p>
        </p:txBody>
      </p:sp>
      <p:sp>
        <p:nvSpPr>
          <p:cNvPr id="441348" name="Rectangle 4"/>
          <p:cNvSpPr>
            <a:spLocks noChangeArrowheads="1"/>
          </p:cNvSpPr>
          <p:nvPr/>
        </p:nvSpPr>
        <p:spPr bwMode="auto">
          <a:xfrm>
            <a:off x="152400" y="777479"/>
            <a:ext cx="8763000" cy="59606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 good algorithm makes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small.</a:t>
            </a:r>
          </a:p>
          <a:p>
            <a:pPr algn="l"/>
            <a:r>
              <a:rPr lang="en-US" sz="3200" i="1" dirty="0">
                <a:latin typeface="Times New Roman" charset="0"/>
              </a:rPr>
              <a:t>g</a:t>
            </a:r>
            <a:r>
              <a:rPr lang="en-US" sz="3200" dirty="0"/>
              <a:t> is chosen on the basis of the data </a:t>
            </a:r>
            <a:r>
              <a:rPr lang="en-US" sz="3200" i="1" dirty="0">
                <a:latin typeface="Times New Roman" charset="0"/>
              </a:rPr>
              <a:t>D.</a:t>
            </a:r>
            <a:endParaRPr lang="en-US" sz="3200" dirty="0"/>
          </a:p>
          <a:p>
            <a:pPr algn="l"/>
            <a:r>
              <a:rPr lang="en-US" sz="3200" dirty="0"/>
              <a:t>Evaluate algorithms by the expectation of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over data </a:t>
            </a:r>
            <a:r>
              <a:rPr lang="en-US" sz="3200" i="1" dirty="0">
                <a:latin typeface="Times New Roman" charset="0"/>
              </a:rPr>
              <a:t>D</a:t>
            </a:r>
            <a:r>
              <a:rPr lang="en-US" sz="3200" dirty="0"/>
              <a:t> generated from </a:t>
            </a:r>
            <a:r>
              <a:rPr lang="en-US" sz="3200" i="1" dirty="0">
                <a:latin typeface="Times New Roman" charset="0"/>
              </a:rPr>
              <a:t>f.</a:t>
            </a: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r>
              <a:rPr lang="en-US" sz="2600" dirty="0">
                <a:latin typeface="Calibri"/>
                <a:cs typeface="Calibri"/>
              </a:rPr>
              <a:t>Bias: how similar is the true function to the estimated function?</a:t>
            </a:r>
          </a:p>
          <a:p>
            <a:pPr algn="l"/>
            <a:r>
              <a:rPr lang="en-US" sz="2600" dirty="0">
                <a:latin typeface="Calibri"/>
                <a:cs typeface="Calibri"/>
              </a:rPr>
              <a:t>Variance: how much is the estimated function expected to vary 			across possible observations?</a:t>
            </a:r>
          </a:p>
        </p:txBody>
      </p:sp>
      <p:graphicFrame>
        <p:nvGraphicFramePr>
          <p:cNvPr id="441349" name="Object 5"/>
          <p:cNvGraphicFramePr>
            <a:graphicFrameLocks noChangeAspect="1"/>
          </p:cNvGraphicFramePr>
          <p:nvPr/>
        </p:nvGraphicFramePr>
        <p:xfrm>
          <a:off x="152400" y="3039865"/>
          <a:ext cx="3581400" cy="633413"/>
        </p:xfrm>
        <a:graphic>
          <a:graphicData uri="http://schemas.openxmlformats.org/presentationml/2006/ole">
            <mc:AlternateContent xmlns:mc="http://schemas.openxmlformats.org/markup-compatibility/2006">
              <mc:Choice xmlns:v="urn:schemas-microsoft-com:vml" Requires="v">
                <p:oleObj name="Equation" r:id="rId3" imgW="1435100" imgH="254000" progId="Equation.3">
                  <p:embed/>
                </p:oleObj>
              </mc:Choice>
              <mc:Fallback>
                <p:oleObj name="Equation" r:id="rId3" imgW="1435100" imgH="254000" progId="Equation.3">
                  <p:embed/>
                  <p:pic>
                    <p:nvPicPr>
                      <p:cNvPr id="44134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039865"/>
                        <a:ext cx="3581400" cy="633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41350" name="Object 6"/>
          <p:cNvGraphicFramePr>
            <a:graphicFrameLocks noChangeAspect="1"/>
          </p:cNvGraphicFramePr>
          <p:nvPr/>
        </p:nvGraphicFramePr>
        <p:xfrm>
          <a:off x="1371600" y="3717728"/>
          <a:ext cx="7477125" cy="693737"/>
        </p:xfrm>
        <a:graphic>
          <a:graphicData uri="http://schemas.openxmlformats.org/presentationml/2006/ole">
            <mc:AlternateContent xmlns:mc="http://schemas.openxmlformats.org/markup-compatibility/2006">
              <mc:Choice xmlns:v="urn:schemas-microsoft-com:vml" Requires="v">
                <p:oleObj name="Equation" r:id="rId5" imgW="3009900" imgH="279400" progId="Equation.3">
                  <p:embed/>
                </p:oleObj>
              </mc:Choice>
              <mc:Fallback>
                <p:oleObj name="Equation" r:id="rId5" imgW="3009900" imgH="279400" progId="Equation.3">
                  <p:embed/>
                  <p:pic>
                    <p:nvPicPr>
                      <p:cNvPr id="44135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717728"/>
                        <a:ext cx="7477125" cy="6937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441356" name="Group 12"/>
          <p:cNvGrpSpPr>
            <a:grpSpLocks/>
          </p:cNvGrpSpPr>
          <p:nvPr/>
        </p:nvGrpSpPr>
        <p:grpSpPr bwMode="auto">
          <a:xfrm>
            <a:off x="1524000" y="3725665"/>
            <a:ext cx="2819400" cy="1176338"/>
            <a:chOff x="960" y="3120"/>
            <a:chExt cx="1776" cy="741"/>
          </a:xfrm>
        </p:grpSpPr>
        <p:sp>
          <p:nvSpPr>
            <p:cNvPr id="441351" name="Rectangle 7"/>
            <p:cNvSpPr>
              <a:spLocks noChangeArrowheads="1"/>
            </p:cNvSpPr>
            <p:nvPr/>
          </p:nvSpPr>
          <p:spPr bwMode="auto">
            <a:xfrm>
              <a:off x="960" y="3120"/>
              <a:ext cx="1776" cy="432"/>
            </a:xfrm>
            <a:prstGeom prst="rect">
              <a:avLst/>
            </a:prstGeom>
            <a:noFill/>
            <a:ln w="28575">
              <a:solidFill>
                <a:srgbClr val="FF0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41353" name="Text Box 9"/>
            <p:cNvSpPr txBox="1">
              <a:spLocks noChangeArrowheads="1"/>
            </p:cNvSpPr>
            <p:nvPr/>
          </p:nvSpPr>
          <p:spPr bwMode="auto">
            <a:xfrm>
              <a:off x="1584" y="3570"/>
              <a:ext cx="497"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2400" dirty="0">
                  <a:solidFill>
                    <a:srgbClr val="FF0300"/>
                  </a:solidFill>
                </a:rPr>
                <a:t>bias</a:t>
              </a:r>
              <a:r>
                <a:rPr lang="en-US" sz="2400" baseline="30000" dirty="0">
                  <a:solidFill>
                    <a:srgbClr val="FF0300"/>
                  </a:solidFill>
                </a:rPr>
                <a:t>2</a:t>
              </a:r>
              <a:endParaRPr lang="en-US" sz="2400" dirty="0">
                <a:solidFill>
                  <a:srgbClr val="FF0300"/>
                </a:solidFill>
              </a:endParaRPr>
            </a:p>
          </p:txBody>
        </p:sp>
      </p:grpSp>
      <p:grpSp>
        <p:nvGrpSpPr>
          <p:cNvPr id="441355" name="Group 11"/>
          <p:cNvGrpSpPr>
            <a:grpSpLocks/>
          </p:cNvGrpSpPr>
          <p:nvPr/>
        </p:nvGrpSpPr>
        <p:grpSpPr bwMode="auto">
          <a:xfrm>
            <a:off x="4953000" y="3725665"/>
            <a:ext cx="3886200" cy="1176338"/>
            <a:chOff x="3120" y="3120"/>
            <a:chExt cx="2448" cy="741"/>
          </a:xfrm>
        </p:grpSpPr>
        <p:sp>
          <p:nvSpPr>
            <p:cNvPr id="441352" name="Rectangle 8"/>
            <p:cNvSpPr>
              <a:spLocks noChangeArrowheads="1"/>
            </p:cNvSpPr>
            <p:nvPr/>
          </p:nvSpPr>
          <p:spPr bwMode="auto">
            <a:xfrm>
              <a:off x="3120" y="3120"/>
              <a:ext cx="2448" cy="432"/>
            </a:xfrm>
            <a:prstGeom prst="rect">
              <a:avLst/>
            </a:prstGeom>
            <a:noFill/>
            <a:ln w="28575">
              <a:solidFill>
                <a:schemeClr val="accent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41354" name="Rectangle 10"/>
            <p:cNvSpPr>
              <a:spLocks noChangeArrowheads="1"/>
            </p:cNvSpPr>
            <p:nvPr/>
          </p:nvSpPr>
          <p:spPr bwMode="auto">
            <a:xfrm>
              <a:off x="3840" y="3570"/>
              <a:ext cx="780"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2400" dirty="0">
                  <a:solidFill>
                    <a:schemeClr val="accent2"/>
                  </a:solidFill>
                </a:rPr>
                <a:t>variance</a:t>
              </a:r>
              <a:endParaRPr lang="en-US" dirty="0">
                <a:solidFill>
                  <a:schemeClr val="accent2"/>
                </a:solidFill>
              </a:endParaRPr>
            </a:p>
          </p:txBody>
        </p:sp>
      </p:grpSp>
    </p:spTree>
    <p:extLst>
      <p:ext uri="{BB962C8B-B14F-4D97-AF65-F5344CB8AC3E}">
        <p14:creationId xmlns:p14="http://schemas.microsoft.com/office/powerpoint/2010/main" val="3508178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134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134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13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135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135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13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134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13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1026"/>
          <p:cNvSpPr>
            <a:spLocks noGrp="1" noChangeArrowheads="1"/>
          </p:cNvSpPr>
          <p:nvPr>
            <p:ph type="title"/>
          </p:nvPr>
        </p:nvSpPr>
        <p:spPr>
          <a:xfrm>
            <a:off x="685800" y="62260"/>
            <a:ext cx="7772400" cy="896552"/>
          </a:xfrm>
        </p:spPr>
        <p:txBody>
          <a:bodyPr/>
          <a:lstStyle/>
          <a:p>
            <a:r>
              <a:rPr lang="en-US" dirty="0"/>
              <a:t>Making things more intuitive…</a:t>
            </a:r>
          </a:p>
        </p:txBody>
      </p:sp>
      <p:sp>
        <p:nvSpPr>
          <p:cNvPr id="445443" name="Rectangle 1027"/>
          <p:cNvSpPr>
            <a:spLocks noGrp="1" noChangeArrowheads="1"/>
          </p:cNvSpPr>
          <p:nvPr>
            <p:ph type="body" idx="1"/>
          </p:nvPr>
        </p:nvSpPr>
        <p:spPr>
          <a:xfrm>
            <a:off x="152400" y="1524000"/>
            <a:ext cx="8915400" cy="4114800"/>
          </a:xfrm>
        </p:spPr>
        <p:txBody>
          <a:bodyPr/>
          <a:lstStyle/>
          <a:p>
            <a:endParaRPr lang="en-US" dirty="0"/>
          </a:p>
          <a:p>
            <a:endParaRPr lang="en-US" dirty="0"/>
          </a:p>
        </p:txBody>
      </p:sp>
      <p:sp>
        <p:nvSpPr>
          <p:cNvPr id="445444" name="Rectangle 1028"/>
          <p:cNvSpPr>
            <a:spLocks noChangeArrowheads="1"/>
          </p:cNvSpPr>
          <p:nvPr/>
        </p:nvSpPr>
        <p:spPr bwMode="auto">
          <a:xfrm>
            <a:off x="76200" y="1021072"/>
            <a:ext cx="8915400" cy="55287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The next few slides were generated by:</a:t>
            </a:r>
          </a:p>
          <a:p>
            <a:pPr marL="742950" lvl="1" indent="-285750" algn="l">
              <a:buFontTx/>
              <a:buChar char="–"/>
            </a:pPr>
            <a:r>
              <a:rPr lang="en-US" sz="3200" dirty="0"/>
              <a:t>choosing a true function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a:t>
            </a:r>
            <a:endParaRPr lang="en-US" sz="3200" dirty="0"/>
          </a:p>
          <a:p>
            <a:pPr marL="742950" lvl="1" indent="-285750" algn="l">
              <a:buFontTx/>
              <a:buChar char="–"/>
            </a:pPr>
            <a:endParaRPr lang="en-US" sz="1600" dirty="0"/>
          </a:p>
          <a:p>
            <a:pPr marL="742950" lvl="1" indent="-285750" algn="l">
              <a:buFontTx/>
              <a:buChar char="–"/>
            </a:pPr>
            <a:r>
              <a:rPr lang="en-US" sz="3200" dirty="0"/>
              <a:t>generating a number of datasets </a:t>
            </a:r>
            <a:r>
              <a:rPr lang="en-US" sz="3200" i="1" dirty="0">
                <a:latin typeface="Times New Roman" charset="0"/>
              </a:rPr>
              <a:t>D</a:t>
            </a:r>
            <a:r>
              <a:rPr lang="en-US" sz="3200" dirty="0"/>
              <a:t> from </a:t>
            </a:r>
            <a:r>
              <a:rPr lang="en-US" sz="3200" i="1" dirty="0">
                <a:latin typeface="Times New Roman" charset="0"/>
              </a:rPr>
              <a:t>p</a:t>
            </a:r>
            <a:r>
              <a:rPr lang="en-US" sz="3200" dirty="0">
                <a:latin typeface="Times New Roman" charset="0"/>
              </a:rPr>
              <a:t>(</a:t>
            </a:r>
            <a:r>
              <a:rPr lang="en-US" sz="3200" i="1" dirty="0" err="1">
                <a:latin typeface="Times New Roman" charset="0"/>
              </a:rPr>
              <a:t>x</a:t>
            </a:r>
            <a:r>
              <a:rPr lang="en-US" sz="3200" dirty="0" err="1">
                <a:latin typeface="Times New Roman" charset="0"/>
              </a:rPr>
              <a:t>,</a:t>
            </a:r>
            <a:r>
              <a:rPr lang="en-US" sz="3200" i="1" dirty="0" err="1">
                <a:latin typeface="Times New Roman" charset="0"/>
              </a:rPr>
              <a:t>y</a:t>
            </a:r>
            <a:r>
              <a:rPr lang="en-US" sz="3200" dirty="0">
                <a:latin typeface="Times New Roman" charset="0"/>
              </a:rPr>
              <a:t>)</a:t>
            </a:r>
            <a:r>
              <a:rPr lang="en-US" sz="3200" dirty="0"/>
              <a:t> defined by uniform </a:t>
            </a:r>
            <a:r>
              <a:rPr lang="en-US" sz="3200" i="1" dirty="0">
                <a:latin typeface="Times New Roman" charset="0"/>
              </a:rPr>
              <a:t>p</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a:t>
            </a:r>
            <a:r>
              <a:rPr lang="en-US" sz="3200" i="1" dirty="0">
                <a:latin typeface="Times New Roman" charset="0"/>
              </a:rPr>
              <a:t>p</a:t>
            </a:r>
            <a:r>
              <a:rPr lang="en-US" sz="3200" dirty="0">
                <a:latin typeface="Times New Roman" charset="0"/>
              </a:rPr>
              <a:t>(</a:t>
            </a:r>
            <a:r>
              <a:rPr lang="en-US" sz="3200" i="1" dirty="0" err="1">
                <a:latin typeface="Times New Roman" charset="0"/>
              </a:rPr>
              <a:t>y</a:t>
            </a:r>
            <a:r>
              <a:rPr lang="en-US" sz="3200" dirty="0" err="1">
                <a:latin typeface="Times New Roman" charset="0"/>
              </a:rPr>
              <a:t>|</a:t>
            </a:r>
            <a:r>
              <a:rPr lang="en-US" sz="3200" i="1" dirty="0" err="1">
                <a:latin typeface="Times New Roman" charset="0"/>
              </a:rPr>
              <a:t>x</a:t>
            </a:r>
            <a:r>
              <a:rPr lang="en-US" sz="3200" dirty="0">
                <a:latin typeface="Times New Roman" charset="0"/>
              </a:rPr>
              <a:t>)</a:t>
            </a:r>
            <a:r>
              <a:rPr lang="en-US" sz="3200" dirty="0"/>
              <a:t>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plus noise</a:t>
            </a:r>
          </a:p>
          <a:p>
            <a:pPr marL="742950" lvl="1" indent="-285750" algn="l">
              <a:buFontTx/>
              <a:buChar char="–"/>
            </a:pPr>
            <a:endParaRPr lang="en-US" sz="1600" dirty="0"/>
          </a:p>
          <a:p>
            <a:pPr marL="742950" lvl="1" indent="-285750" algn="l">
              <a:buFontTx/>
              <a:buChar char="–"/>
            </a:pPr>
            <a:r>
              <a:rPr lang="en-US" sz="3200" dirty="0"/>
              <a:t>finding the function </a:t>
            </a:r>
            <a:r>
              <a:rPr lang="en-US" sz="3200" i="1" dirty="0">
                <a:latin typeface="Times New Roman" charset="0"/>
              </a:rPr>
              <a:t>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in the hypothesis space that minimized the training error</a:t>
            </a:r>
          </a:p>
          <a:p>
            <a:pPr algn="l"/>
            <a:endParaRPr lang="en-US" sz="3200" dirty="0"/>
          </a:p>
          <a:p>
            <a:pPr algn="l"/>
            <a:r>
              <a:rPr lang="en-US" sz="3200" dirty="0"/>
              <a:t>Comparing average of </a:t>
            </a:r>
            <a:r>
              <a:rPr lang="en-US" sz="3600" i="1" dirty="0">
                <a:latin typeface="Times New Roman" charset="0"/>
              </a:rPr>
              <a:t>g</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to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reveals bias</a:t>
            </a:r>
          </a:p>
          <a:p>
            <a:pPr algn="l"/>
            <a:r>
              <a:rPr lang="en-US" sz="3200" dirty="0"/>
              <a:t>Spread of </a:t>
            </a:r>
            <a:r>
              <a:rPr lang="en-US" sz="3600" i="1" dirty="0">
                <a:latin typeface="Times New Roman" charset="0"/>
              </a:rPr>
              <a:t>g</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around average is the variance</a:t>
            </a:r>
          </a:p>
        </p:txBody>
      </p:sp>
    </p:spTree>
    <p:extLst>
      <p:ext uri="{BB962C8B-B14F-4D97-AF65-F5344CB8AC3E}">
        <p14:creationId xmlns:p14="http://schemas.microsoft.com/office/powerpoint/2010/main" val="2018063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Linear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a:t>
            </a:r>
            <a:endParaRPr lang="en-US" sz="4400" dirty="0">
              <a:solidFill>
                <a:srgbClr val="000000"/>
              </a:solidFill>
            </a:endParaRPr>
          </a:p>
        </p:txBody>
      </p:sp>
      <p:pic>
        <p:nvPicPr>
          <p:cNvPr id="4474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415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grpSp>
        <p:nvGrpSpPr>
          <p:cNvPr id="447500" name="Group 12"/>
          <p:cNvGrpSpPr>
            <a:grpSpLocks/>
          </p:cNvGrpSpPr>
          <p:nvPr/>
        </p:nvGrpSpPr>
        <p:grpSpPr bwMode="auto">
          <a:xfrm>
            <a:off x="6927850" y="1981200"/>
            <a:ext cx="1149350" cy="1098550"/>
            <a:chOff x="4364" y="1248"/>
            <a:chExt cx="724" cy="692"/>
          </a:xfrm>
        </p:grpSpPr>
        <p:sp>
          <p:nvSpPr>
            <p:cNvPr id="447493" name="Text Box 5"/>
            <p:cNvSpPr txBox="1">
              <a:spLocks noChangeArrowheads="1"/>
            </p:cNvSpPr>
            <p:nvPr/>
          </p:nvSpPr>
          <p:spPr bwMode="auto">
            <a:xfrm>
              <a:off x="4364" y="1248"/>
              <a:ext cx="292" cy="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6600"/>
                <a:t>}</a:t>
              </a:r>
            </a:p>
          </p:txBody>
        </p:sp>
        <p:sp>
          <p:nvSpPr>
            <p:cNvPr id="447494" name="Text Box 6"/>
            <p:cNvSpPr txBox="1">
              <a:spLocks noChangeArrowheads="1"/>
            </p:cNvSpPr>
            <p:nvPr/>
          </p:nvSpPr>
          <p:spPr bwMode="auto">
            <a:xfrm>
              <a:off x="4561" y="1488"/>
              <a:ext cx="527"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spcBef>
                  <a:spcPct val="50000"/>
                </a:spcBef>
              </a:pPr>
              <a:r>
                <a:rPr lang="en-US"/>
                <a:t>bias</a:t>
              </a:r>
            </a:p>
          </p:txBody>
        </p:sp>
      </p:grpSp>
      <p:sp>
        <p:nvSpPr>
          <p:cNvPr id="447495" name="Text Box 7"/>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47496" name="Text Box 8"/>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47497" name="Text Box 9"/>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grpSp>
        <p:nvGrpSpPr>
          <p:cNvPr id="447501" name="Group 13"/>
          <p:cNvGrpSpPr>
            <a:grpSpLocks/>
          </p:cNvGrpSpPr>
          <p:nvPr/>
        </p:nvGrpSpPr>
        <p:grpSpPr bwMode="auto">
          <a:xfrm>
            <a:off x="6629400" y="2346325"/>
            <a:ext cx="1909763" cy="1768475"/>
            <a:chOff x="4176" y="1478"/>
            <a:chExt cx="1203" cy="1114"/>
          </a:xfrm>
        </p:grpSpPr>
        <p:sp>
          <p:nvSpPr>
            <p:cNvPr id="447498" name="Text Box 10"/>
            <p:cNvSpPr txBox="1">
              <a:spLocks noChangeArrowheads="1"/>
            </p:cNvSpPr>
            <p:nvPr/>
          </p:nvSpPr>
          <p:spPr bwMode="auto">
            <a:xfrm>
              <a:off x="4176" y="1478"/>
              <a:ext cx="292" cy="11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r>
                <a:rPr lang="en-US" sz="11000"/>
                <a:t>}</a:t>
              </a:r>
            </a:p>
          </p:txBody>
        </p:sp>
        <p:sp>
          <p:nvSpPr>
            <p:cNvPr id="447499" name="Text Box 11"/>
            <p:cNvSpPr txBox="1">
              <a:spLocks noChangeArrowheads="1"/>
            </p:cNvSpPr>
            <p:nvPr/>
          </p:nvSpPr>
          <p:spPr bwMode="auto">
            <a:xfrm>
              <a:off x="4416" y="1929"/>
              <a:ext cx="963"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spcBef>
                  <a:spcPct val="50000"/>
                </a:spcBef>
              </a:pPr>
              <a:r>
                <a:rPr lang="en-US"/>
                <a:t>variance</a:t>
              </a:r>
            </a:p>
          </p:txBody>
        </p:sp>
      </p:grpSp>
    </p:spTree>
    <p:extLst>
      <p:ext uri="{BB962C8B-B14F-4D97-AF65-F5344CB8AC3E}">
        <p14:creationId xmlns:p14="http://schemas.microsoft.com/office/powerpoint/2010/main" val="3431517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75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7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954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49538"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Quadratic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a:t>
            </a:r>
            <a:endParaRPr lang="en-US" sz="4400" dirty="0">
              <a:solidFill>
                <a:srgbClr val="000000"/>
              </a:solidFill>
            </a:endParaRPr>
          </a:p>
        </p:txBody>
      </p:sp>
      <p:sp>
        <p:nvSpPr>
          <p:cNvPr id="449542" name="Text Box 6"/>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49543" name="Text Box 7"/>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49544" name="Text Box 8"/>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708680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15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1587" name="Rectangle 3"/>
          <p:cNvSpPr>
            <a:spLocks noChangeArrowheads="1"/>
          </p:cNvSpPr>
          <p:nvPr/>
        </p:nvSpPr>
        <p:spPr bwMode="auto">
          <a:xfrm>
            <a:off x="457200" y="381000"/>
            <a:ext cx="82296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8-th degree polynomials </a:t>
            </a:r>
            <a:r>
              <a:rPr lang="en-US" sz="4000" dirty="0">
                <a:solidFill>
                  <a:srgbClr val="000000"/>
                </a:solidFill>
              </a:rPr>
              <a:t>(</a:t>
            </a:r>
            <a:r>
              <a:rPr lang="en-US" sz="4400" i="1" dirty="0">
                <a:solidFill>
                  <a:srgbClr val="000000"/>
                </a:solidFill>
                <a:latin typeface="Times New Roman" charset="0"/>
              </a:rPr>
              <a:t>n</a:t>
            </a:r>
            <a:r>
              <a:rPr lang="en-US" sz="4400" dirty="0">
                <a:solidFill>
                  <a:srgbClr val="000000"/>
                </a:solidFill>
              </a:rPr>
              <a:t> </a:t>
            </a:r>
            <a:r>
              <a:rPr lang="en-US" sz="4000" dirty="0">
                <a:solidFill>
                  <a:srgbClr val="000000"/>
                </a:solidFill>
              </a:rPr>
              <a:t>= 10)</a:t>
            </a:r>
          </a:p>
        </p:txBody>
      </p:sp>
      <p:sp>
        <p:nvSpPr>
          <p:cNvPr id="451588"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1589"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1590"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205779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685800" y="381000"/>
            <a:ext cx="7772400" cy="1143000"/>
          </a:xfrm>
        </p:spPr>
        <p:txBody>
          <a:bodyPr/>
          <a:lstStyle/>
          <a:p>
            <a:r>
              <a:rPr lang="en-US" dirty="0"/>
              <a:t>Bias and variance</a:t>
            </a:r>
          </a:p>
        </p:txBody>
      </p:sp>
      <p:sp>
        <p:nvSpPr>
          <p:cNvPr id="453636" name="Rectangle 4"/>
          <p:cNvSpPr>
            <a:spLocks noChangeArrowheads="1"/>
          </p:cNvSpPr>
          <p:nvPr/>
        </p:nvSpPr>
        <p:spPr bwMode="auto">
          <a:xfrm>
            <a:off x="228600" y="1524000"/>
            <a:ext cx="8686800" cy="497600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r>
              <a:rPr lang="en-US" sz="3200" dirty="0"/>
              <a:t>(quadratic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with </a:t>
            </a:r>
            <a:r>
              <a:rPr lang="en-US" sz="3600" i="1" dirty="0">
                <a:latin typeface="Times New Roman" charset="0"/>
              </a:rPr>
              <a:t>n</a:t>
            </a:r>
            <a:r>
              <a:rPr lang="en-US" sz="3600" dirty="0">
                <a:latin typeface="Times New Roman" charset="0"/>
              </a:rPr>
              <a:t> = 10)</a:t>
            </a:r>
            <a:endParaRPr lang="en-US" sz="1400" dirty="0"/>
          </a:p>
          <a:p>
            <a:pPr marL="342900" indent="-342900" algn="l"/>
            <a:endParaRPr lang="en-US" sz="1400" b="1" dirty="0"/>
          </a:p>
          <a:p>
            <a:pPr marL="342900" indent="-342900" algn="l"/>
            <a:r>
              <a:rPr lang="en-US" sz="3200" b="1" dirty="0"/>
              <a:t>Linear functions</a:t>
            </a:r>
          </a:p>
          <a:p>
            <a:pPr marL="742950" lvl="1" indent="-285750" algn="l"/>
            <a:r>
              <a:rPr lang="en-US" sz="3200" dirty="0"/>
              <a:t>high bias, medium variance</a:t>
            </a:r>
          </a:p>
          <a:p>
            <a:pPr marL="742950" lvl="1" indent="-285750" algn="l"/>
            <a:endParaRPr lang="en-US" sz="1600" dirty="0"/>
          </a:p>
          <a:p>
            <a:pPr marL="342900" indent="-342900" algn="l"/>
            <a:r>
              <a:rPr lang="en-US" sz="3200" b="1" dirty="0"/>
              <a:t>Quadratic functions</a:t>
            </a:r>
          </a:p>
          <a:p>
            <a:pPr marL="742950" lvl="1" indent="-285750" algn="l"/>
            <a:r>
              <a:rPr lang="en-US" sz="3200" dirty="0"/>
              <a:t>low bias, low variance</a:t>
            </a:r>
          </a:p>
          <a:p>
            <a:pPr marL="742950" lvl="1" indent="-285750" algn="l"/>
            <a:endParaRPr lang="en-US" sz="1600" dirty="0"/>
          </a:p>
          <a:p>
            <a:pPr marL="342900" indent="-342900" algn="l"/>
            <a:r>
              <a:rPr lang="en-US" sz="3200" b="1" dirty="0"/>
              <a:t>8-th order polynomials</a:t>
            </a:r>
          </a:p>
          <a:p>
            <a:pPr marL="742950" lvl="1" indent="-285750" algn="l"/>
            <a:r>
              <a:rPr lang="en-US" sz="3200" dirty="0"/>
              <a:t>low bias, super-high variance</a:t>
            </a:r>
          </a:p>
        </p:txBody>
      </p:sp>
    </p:spTree>
    <p:extLst>
      <p:ext uri="{BB962C8B-B14F-4D97-AF65-F5344CB8AC3E}">
        <p14:creationId xmlns:p14="http://schemas.microsoft.com/office/powerpoint/2010/main" val="1591571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a:xfrm>
            <a:off x="685800" y="181766"/>
            <a:ext cx="7772400" cy="801951"/>
          </a:xfrm>
        </p:spPr>
        <p:txBody>
          <a:bodyPr/>
          <a:lstStyle/>
          <a:p>
            <a:r>
              <a:rPr lang="en-US" dirty="0"/>
              <a:t>In general…</a:t>
            </a:r>
          </a:p>
        </p:txBody>
      </p:sp>
      <p:sp>
        <p:nvSpPr>
          <p:cNvPr id="455683" name="Rectangle 3"/>
          <p:cNvSpPr>
            <a:spLocks noGrp="1" noChangeArrowheads="1"/>
          </p:cNvSpPr>
          <p:nvPr>
            <p:ph type="body" idx="1"/>
          </p:nvPr>
        </p:nvSpPr>
        <p:spPr>
          <a:xfrm>
            <a:off x="152400" y="1371600"/>
            <a:ext cx="8915400" cy="4114800"/>
          </a:xfrm>
        </p:spPr>
        <p:txBody>
          <a:bodyPr/>
          <a:lstStyle/>
          <a:p>
            <a:endParaRPr lang="en-US" dirty="0"/>
          </a:p>
          <a:p>
            <a:endParaRPr lang="en-US" dirty="0"/>
          </a:p>
        </p:txBody>
      </p:sp>
      <p:sp>
        <p:nvSpPr>
          <p:cNvPr id="455684" name="Rectangle 4"/>
          <p:cNvSpPr>
            <a:spLocks noChangeArrowheads="1"/>
          </p:cNvSpPr>
          <p:nvPr/>
        </p:nvSpPr>
        <p:spPr bwMode="auto">
          <a:xfrm>
            <a:off x="228600" y="1408957"/>
            <a:ext cx="8686800" cy="487569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More flexible learning algorithms have higher variance, but low bias across several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endParaRPr lang="en-US" sz="2400" dirty="0"/>
          </a:p>
          <a:p>
            <a:pPr marL="342900" indent="-342900" algn="l">
              <a:buFontTx/>
              <a:buChar char="•"/>
            </a:pPr>
            <a:endParaRPr lang="en-US" sz="2400" dirty="0"/>
          </a:p>
          <a:p>
            <a:pPr marL="342900" indent="-342900" algn="l">
              <a:buFontTx/>
              <a:buChar char="•"/>
            </a:pPr>
            <a:endParaRPr lang="en-US" sz="2400" dirty="0"/>
          </a:p>
          <a:p>
            <a:pPr algn="l"/>
            <a:r>
              <a:rPr lang="en-US" sz="3200" b="1" dirty="0"/>
              <a:t>The bias-variance dilemma or tradeoff:</a:t>
            </a:r>
          </a:p>
          <a:p>
            <a:pPr marL="742950" lvl="1" indent="-285750" algn="l">
              <a:buFontTx/>
              <a:buChar char="–"/>
            </a:pPr>
            <a:r>
              <a:rPr lang="en-US" sz="2800" dirty="0"/>
              <a:t>if we want an algorithm that has low bias on a range of problems, we pay a price in variance</a:t>
            </a:r>
          </a:p>
          <a:p>
            <a:pPr marL="342900" indent="-342900" algn="l">
              <a:buFontTx/>
              <a:buChar char="•"/>
            </a:pPr>
            <a:endParaRPr lang="en-US" sz="2400" dirty="0"/>
          </a:p>
          <a:p>
            <a:pPr marL="342900" indent="-342900" algn="l">
              <a:buFontTx/>
              <a:buChar char="•"/>
            </a:pPr>
            <a:endParaRPr lang="en-US" sz="2400" dirty="0"/>
          </a:p>
          <a:p>
            <a:pPr algn="l"/>
            <a:r>
              <a:rPr lang="en-US" sz="3200" b="1" dirty="0"/>
              <a:t>Note: </a:t>
            </a:r>
            <a:r>
              <a:rPr lang="en-US" sz="3200" dirty="0"/>
              <a:t>This is mainly an issue when </a:t>
            </a:r>
            <a:r>
              <a:rPr lang="en-US" sz="3600" i="1" dirty="0">
                <a:latin typeface="Times New Roman" charset="0"/>
              </a:rPr>
              <a:t>n</a:t>
            </a:r>
            <a:r>
              <a:rPr lang="en-US" sz="3200" dirty="0"/>
              <a:t> is small</a:t>
            </a:r>
          </a:p>
          <a:p>
            <a:pPr algn="l"/>
            <a:endParaRPr lang="en-US" sz="3200" dirty="0"/>
          </a:p>
        </p:txBody>
      </p:sp>
    </p:spTree>
    <p:extLst>
      <p:ext uri="{BB962C8B-B14F-4D97-AF65-F5344CB8AC3E}">
        <p14:creationId xmlns:p14="http://schemas.microsoft.com/office/powerpoint/2010/main" val="77788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7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415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7731" name="Rectangle 3"/>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Quadratic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100)</a:t>
            </a:r>
            <a:endParaRPr lang="en-US" sz="4400" dirty="0">
              <a:solidFill>
                <a:srgbClr val="000000"/>
              </a:solidFill>
            </a:endParaRPr>
          </a:p>
        </p:txBody>
      </p:sp>
      <p:sp>
        <p:nvSpPr>
          <p:cNvPr id="457732"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7733"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7734"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3079487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978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9779" name="Rectangle 3"/>
          <p:cNvSpPr>
            <a:spLocks noChangeArrowheads="1"/>
          </p:cNvSpPr>
          <p:nvPr/>
        </p:nvSpPr>
        <p:spPr bwMode="auto">
          <a:xfrm>
            <a:off x="304800" y="381000"/>
            <a:ext cx="8610600" cy="1219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8-th degree polynomials </a:t>
            </a:r>
            <a:r>
              <a:rPr lang="en-US" sz="4000" dirty="0">
                <a:solidFill>
                  <a:srgbClr val="000000"/>
                </a:solidFill>
              </a:rPr>
              <a:t>(</a:t>
            </a:r>
            <a:r>
              <a:rPr lang="en-US" sz="4400" i="1" dirty="0">
                <a:solidFill>
                  <a:srgbClr val="000000"/>
                </a:solidFill>
                <a:latin typeface="Times New Roman" charset="0"/>
              </a:rPr>
              <a:t>n</a:t>
            </a:r>
            <a:r>
              <a:rPr lang="en-US" sz="4400" dirty="0">
                <a:solidFill>
                  <a:srgbClr val="000000"/>
                </a:solidFill>
              </a:rPr>
              <a:t> </a:t>
            </a:r>
            <a:r>
              <a:rPr lang="en-US" sz="4000" dirty="0">
                <a:solidFill>
                  <a:srgbClr val="000000"/>
                </a:solidFill>
              </a:rPr>
              <a:t>= 100)</a:t>
            </a:r>
          </a:p>
        </p:txBody>
      </p:sp>
      <p:sp>
        <p:nvSpPr>
          <p:cNvPr id="459780"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9781"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9782"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4202707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228600"/>
            <a:ext cx="7772400" cy="904542"/>
          </a:xfrm>
        </p:spPr>
        <p:txBody>
          <a:bodyPr/>
          <a:lstStyle/>
          <a:p>
            <a:r>
              <a:rPr lang="en-US" dirty="0"/>
              <a:t>The moral</a:t>
            </a:r>
          </a:p>
        </p:txBody>
      </p:sp>
      <p:sp>
        <p:nvSpPr>
          <p:cNvPr id="461828" name="Rectangle 4"/>
          <p:cNvSpPr>
            <a:spLocks noChangeArrowheads="1"/>
          </p:cNvSpPr>
          <p:nvPr/>
        </p:nvSpPr>
        <p:spPr bwMode="auto">
          <a:xfrm>
            <a:off x="152400" y="1531610"/>
            <a:ext cx="8686800" cy="49310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General purpose learning mechanisms do not work well with small amounts of data</a:t>
            </a:r>
          </a:p>
          <a:p>
            <a:pPr marL="742950" lvl="1" indent="-285750" algn="l"/>
            <a:r>
              <a:rPr lang="en-US" sz="2800" dirty="0"/>
              <a:t>So, the most flexible algorithm isn’t always the best.</a:t>
            </a:r>
          </a:p>
          <a:p>
            <a:pPr algn="l"/>
            <a:endParaRPr lang="en-US" sz="3200" dirty="0"/>
          </a:p>
          <a:p>
            <a:pPr algn="l"/>
            <a:r>
              <a:rPr lang="en-US" sz="3200" dirty="0"/>
              <a:t>To make good predictions from small amounts of data, you need algorithms with bias that matches the problem being solved</a:t>
            </a:r>
          </a:p>
          <a:p>
            <a:pPr marL="342900" indent="-342900" algn="l">
              <a:buFontTx/>
              <a:buChar char="•"/>
            </a:pPr>
            <a:endParaRPr lang="en-US" sz="3200" dirty="0"/>
          </a:p>
          <a:p>
            <a:pPr algn="l"/>
            <a:r>
              <a:rPr lang="en-US" sz="3200" dirty="0"/>
              <a:t>What does this mean for learning agents?</a:t>
            </a:r>
          </a:p>
        </p:txBody>
      </p:sp>
    </p:spTree>
    <p:extLst>
      <p:ext uri="{BB962C8B-B14F-4D97-AF65-F5344CB8AC3E}">
        <p14:creationId xmlns:p14="http://schemas.microsoft.com/office/powerpoint/2010/main" val="222616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82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182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182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18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904542"/>
          </a:xfrm>
        </p:spPr>
        <p:txBody>
          <a:bodyPr/>
          <a:lstStyle/>
          <a:p>
            <a:r>
              <a:rPr lang="en-US" dirty="0"/>
              <a:t>The moral</a:t>
            </a:r>
          </a:p>
        </p:txBody>
      </p:sp>
      <p:sp>
        <p:nvSpPr>
          <p:cNvPr id="461828" name="Rectangle 4"/>
          <p:cNvSpPr>
            <a:spLocks noChangeArrowheads="1"/>
          </p:cNvSpPr>
          <p:nvPr/>
        </p:nvSpPr>
        <p:spPr bwMode="auto">
          <a:xfrm>
            <a:off x="152400" y="983718"/>
            <a:ext cx="8686800" cy="5740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General purpose learning mechanisms do not work well with small amounts of data.</a:t>
            </a:r>
          </a:p>
          <a:p>
            <a:pPr marL="742950" lvl="1" indent="-285750" algn="l"/>
            <a:r>
              <a:rPr lang="en-US" sz="2800" dirty="0"/>
              <a:t>So, the most flexible algorithm isn’t always the best.</a:t>
            </a:r>
          </a:p>
          <a:p>
            <a:pPr algn="l"/>
            <a:endParaRPr lang="en-US" sz="1600" dirty="0"/>
          </a:p>
          <a:p>
            <a:pPr algn="l"/>
            <a:r>
              <a:rPr lang="en-US" sz="3200" dirty="0"/>
              <a:t>To make good predictions from small amounts of data, you need algorithms with bias that matches the problem being solved.</a:t>
            </a:r>
          </a:p>
          <a:p>
            <a:pPr marL="342900" indent="-342900" algn="l">
              <a:buFontTx/>
              <a:buChar char="•"/>
            </a:pPr>
            <a:endParaRPr lang="en-US" sz="1600" dirty="0"/>
          </a:p>
          <a:p>
            <a:pPr algn="l"/>
            <a:r>
              <a:rPr lang="en-US" sz="3200" dirty="0"/>
              <a:t>What does this mean for learning agents?</a:t>
            </a:r>
          </a:p>
          <a:p>
            <a:r>
              <a:rPr lang="en-US" sz="3200" dirty="0"/>
              <a:t>	This suggests a different approach to studying 	induction might be profitable.</a:t>
            </a:r>
          </a:p>
          <a:p>
            <a:pPr lvl="1"/>
            <a:r>
              <a:rPr lang="en-US" sz="2800" dirty="0"/>
              <a:t> (what people learn as </a:t>
            </a:r>
            <a:r>
              <a:rPr lang="en-US" sz="2800" i="1" dirty="0">
                <a:latin typeface="Times New Roman" charset="0"/>
              </a:rPr>
              <a:t>n</a:t>
            </a:r>
            <a:r>
              <a:rPr lang="en-US" sz="2800" dirty="0"/>
              <a:t> </a:t>
            </a:r>
            <a:r>
              <a:rPr lang="en-US" sz="2800" dirty="0">
                <a:sym typeface="Symbol" charset="0"/>
              </a:rPr>
              <a:t> 0, rather than </a:t>
            </a:r>
            <a:r>
              <a:rPr lang="en-US" sz="2800" i="1" dirty="0">
                <a:latin typeface="Times New Roman" charset="0"/>
              </a:rPr>
              <a:t>n</a:t>
            </a:r>
            <a:r>
              <a:rPr lang="en-US" sz="2800" dirty="0"/>
              <a:t> </a:t>
            </a:r>
            <a:r>
              <a:rPr lang="en-US" sz="2800" dirty="0">
                <a:sym typeface="Symbol" charset="0"/>
              </a:rPr>
              <a:t> )</a:t>
            </a:r>
            <a:endParaRPr lang="en-US" sz="2800" dirty="0"/>
          </a:p>
          <a:p>
            <a:endParaRPr lang="en-US" sz="3200" dirty="0"/>
          </a:p>
        </p:txBody>
      </p:sp>
    </p:spTree>
    <p:extLst>
      <p:ext uri="{BB962C8B-B14F-4D97-AF65-F5344CB8AC3E}">
        <p14:creationId xmlns:p14="http://schemas.microsoft.com/office/powerpoint/2010/main" val="2686286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D8ADC-7BF3-2EEE-09B4-33BCD43E24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BD3D30-E7A8-B6A2-49FE-03857FE3F2D0}"/>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b="1" dirty="0"/>
              <a:t>Short rest 2</a:t>
            </a:r>
            <a:endParaRPr lang="en-US" dirty="0"/>
          </a:p>
          <a:p>
            <a:pPr defTabSz="914400">
              <a:spcBef>
                <a:spcPts val="0"/>
              </a:spcBef>
              <a:defRPr/>
            </a:pPr>
            <a:endParaRPr lang="en-US" dirty="0"/>
          </a:p>
          <a:p>
            <a:pPr defTabSz="914400">
              <a:spcBef>
                <a:spcPts val="0"/>
              </a:spcBef>
              <a:defRPr/>
            </a:pPr>
            <a:r>
              <a:rPr lang="en-US" dirty="0"/>
              <a:t>Two student presentations:</a:t>
            </a:r>
          </a:p>
          <a:p>
            <a:pPr marL="914400" lvl="1" indent="-514350" defTabSz="914400">
              <a:spcBef>
                <a:spcPts val="0"/>
              </a:spcBef>
              <a:buFont typeface="+mj-lt"/>
              <a:buAutoNum type="arabicPeriod"/>
              <a:defRPr/>
            </a:pPr>
            <a:r>
              <a:rPr lang="en-US" dirty="0"/>
              <a:t>Kemp &amp; Tenenbaum 2003 by Zihan</a:t>
            </a:r>
          </a:p>
          <a:p>
            <a:pPr marL="914400" lvl="1" indent="-514350" defTabSz="914400">
              <a:spcBef>
                <a:spcPts val="0"/>
              </a:spcBef>
              <a:buFont typeface="+mj-lt"/>
              <a:buAutoNum type="arabicPeriod"/>
              <a:defRPr/>
            </a:pPr>
            <a:r>
              <a:rPr lang="en-US" dirty="0"/>
              <a:t>Austerweil &amp; Griffiths 2009 by </a:t>
            </a:r>
            <a:r>
              <a:rPr lang="en-US" dirty="0" err="1"/>
              <a:t>Yinsu</a:t>
            </a:r>
            <a:endParaRPr lang="en-US" dirty="0"/>
          </a:p>
        </p:txBody>
      </p:sp>
    </p:spTree>
    <p:extLst>
      <p:ext uri="{BB962C8B-B14F-4D97-AF65-F5344CB8AC3E}">
        <p14:creationId xmlns:p14="http://schemas.microsoft.com/office/powerpoint/2010/main" val="1828408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57DECA03-974E-E6E7-6F76-5555EA67424B}"/>
                  </a:ext>
                </a:extLst>
              </p14:cNvPr>
              <p14:cNvContentPartPr/>
              <p14:nvPr/>
            </p14:nvContentPartPr>
            <p14:xfrm>
              <a:off x="353707" y="5233963"/>
              <a:ext cx="7848000" cy="457920"/>
            </p14:xfrm>
          </p:contentPart>
        </mc:Choice>
        <mc:Fallback>
          <p:pic>
            <p:nvPicPr>
              <p:cNvPr id="6" name="Ink 5">
                <a:extLst>
                  <a:ext uri="{FF2B5EF4-FFF2-40B4-BE49-F238E27FC236}">
                    <a16:creationId xmlns:a16="http://schemas.microsoft.com/office/drawing/2014/main" id="{57DECA03-974E-E6E7-6F76-5555EA67424B}"/>
                  </a:ext>
                </a:extLst>
              </p:cNvPr>
              <p:cNvPicPr/>
              <p:nvPr/>
            </p:nvPicPr>
            <p:blipFill>
              <a:blip r:embed="rId4"/>
              <a:stretch>
                <a:fillRect/>
              </a:stretch>
            </p:blipFill>
            <p:spPr>
              <a:xfrm>
                <a:off x="318067" y="5197963"/>
                <a:ext cx="7919640" cy="529560"/>
              </a:xfrm>
              <a:prstGeom prst="rect">
                <a:avLst/>
              </a:prstGeom>
            </p:spPr>
          </p:pic>
        </mc:Fallback>
      </mc:AlternateContent>
      <p:grpSp>
        <p:nvGrpSpPr>
          <p:cNvPr id="37" name="Group 36">
            <a:extLst>
              <a:ext uri="{FF2B5EF4-FFF2-40B4-BE49-F238E27FC236}">
                <a16:creationId xmlns:a16="http://schemas.microsoft.com/office/drawing/2014/main" id="{B1273420-0F14-351E-D5F6-96C1A53962E2}"/>
              </a:ext>
            </a:extLst>
          </p:cNvPr>
          <p:cNvGrpSpPr/>
          <p:nvPr/>
        </p:nvGrpSpPr>
        <p:grpSpPr>
          <a:xfrm>
            <a:off x="1473667" y="4746883"/>
            <a:ext cx="5302800" cy="443520"/>
            <a:chOff x="1674547" y="4562563"/>
            <a:chExt cx="5302800" cy="443520"/>
          </a:xfrm>
        </p:grpSpPr>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5FDE62B1-DCBE-AB91-8102-814D571290AD}"/>
                    </a:ext>
                  </a:extLst>
                </p14:cNvPr>
                <p14:cNvContentPartPr/>
                <p14:nvPr/>
              </p14:nvContentPartPr>
              <p14:xfrm>
                <a:off x="1674547" y="4852363"/>
                <a:ext cx="107280" cy="153720"/>
              </p14:xfrm>
            </p:contentPart>
          </mc:Choice>
          <mc:Fallback>
            <p:pic>
              <p:nvPicPr>
                <p:cNvPr id="7" name="Ink 6">
                  <a:extLst>
                    <a:ext uri="{FF2B5EF4-FFF2-40B4-BE49-F238E27FC236}">
                      <a16:creationId xmlns:a16="http://schemas.microsoft.com/office/drawing/2014/main" id="{5FDE62B1-DCBE-AB91-8102-814D571290AD}"/>
                    </a:ext>
                  </a:extLst>
                </p:cNvPr>
                <p:cNvPicPr/>
                <p:nvPr/>
              </p:nvPicPr>
              <p:blipFill>
                <a:blip r:embed="rId6"/>
                <a:stretch>
                  <a:fillRect/>
                </a:stretch>
              </p:blipFill>
              <p:spPr>
                <a:xfrm>
                  <a:off x="1638907" y="4816363"/>
                  <a:ext cx="178920" cy="225360"/>
                </a:xfrm>
                <a:prstGeom prst="rect">
                  <a:avLst/>
                </a:prstGeom>
              </p:spPr>
            </p:pic>
          </mc:Fallback>
        </mc:AlternateContent>
        <p:grpSp>
          <p:nvGrpSpPr>
            <p:cNvPr id="10" name="Group 9">
              <a:extLst>
                <a:ext uri="{FF2B5EF4-FFF2-40B4-BE49-F238E27FC236}">
                  <a16:creationId xmlns:a16="http://schemas.microsoft.com/office/drawing/2014/main" id="{1A8FC000-BB91-2B98-47B6-D3CE39C82F12}"/>
                </a:ext>
              </a:extLst>
            </p:cNvPr>
            <p:cNvGrpSpPr/>
            <p:nvPr/>
          </p:nvGrpSpPr>
          <p:grpSpPr>
            <a:xfrm>
              <a:off x="2292307" y="4776403"/>
              <a:ext cx="345600" cy="111240"/>
              <a:chOff x="2292307" y="4776403"/>
              <a:chExt cx="345600" cy="111240"/>
            </a:xfrm>
          </p:grpSpPr>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798458C5-29FA-3DFE-BF3E-B064775BE66E}"/>
                      </a:ext>
                    </a:extLst>
                  </p14:cNvPr>
                  <p14:cNvContentPartPr/>
                  <p14:nvPr/>
                </p14:nvContentPartPr>
                <p14:xfrm>
                  <a:off x="2292307" y="4790083"/>
                  <a:ext cx="116640" cy="97560"/>
                </p14:xfrm>
              </p:contentPart>
            </mc:Choice>
            <mc:Fallback>
              <p:pic>
                <p:nvPicPr>
                  <p:cNvPr id="8" name="Ink 7">
                    <a:extLst>
                      <a:ext uri="{FF2B5EF4-FFF2-40B4-BE49-F238E27FC236}">
                        <a16:creationId xmlns:a16="http://schemas.microsoft.com/office/drawing/2014/main" id="{798458C5-29FA-3DFE-BF3E-B064775BE66E}"/>
                      </a:ext>
                    </a:extLst>
                  </p:cNvPr>
                  <p:cNvPicPr/>
                  <p:nvPr/>
                </p:nvPicPr>
                <p:blipFill>
                  <a:blip r:embed="rId8"/>
                  <a:stretch>
                    <a:fillRect/>
                  </a:stretch>
                </p:blipFill>
                <p:spPr>
                  <a:xfrm>
                    <a:off x="2256307" y="4754083"/>
                    <a:ext cx="1882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FE524E9B-C3A1-6552-1C57-A278BB4A62EE}"/>
                      </a:ext>
                    </a:extLst>
                  </p14:cNvPr>
                  <p14:cNvContentPartPr/>
                  <p14:nvPr/>
                </p14:nvContentPartPr>
                <p14:xfrm>
                  <a:off x="2518387" y="4776403"/>
                  <a:ext cx="119520" cy="66240"/>
                </p14:xfrm>
              </p:contentPart>
            </mc:Choice>
            <mc:Fallback>
              <p:pic>
                <p:nvPicPr>
                  <p:cNvPr id="9" name="Ink 8">
                    <a:extLst>
                      <a:ext uri="{FF2B5EF4-FFF2-40B4-BE49-F238E27FC236}">
                        <a16:creationId xmlns:a16="http://schemas.microsoft.com/office/drawing/2014/main" id="{FE524E9B-C3A1-6552-1C57-A278BB4A62EE}"/>
                      </a:ext>
                    </a:extLst>
                  </p:cNvPr>
                  <p:cNvPicPr/>
                  <p:nvPr/>
                </p:nvPicPr>
                <p:blipFill>
                  <a:blip r:embed="rId10"/>
                  <a:stretch>
                    <a:fillRect/>
                  </a:stretch>
                </p:blipFill>
                <p:spPr>
                  <a:xfrm>
                    <a:off x="2482387" y="4740403"/>
                    <a:ext cx="191160" cy="137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2CF2D17D-3D05-E52C-1275-57AB714054EB}"/>
                    </a:ext>
                  </a:extLst>
                </p14:cNvPr>
                <p14:cNvContentPartPr/>
                <p14:nvPr/>
              </p14:nvContentPartPr>
              <p14:xfrm>
                <a:off x="4036147" y="4657963"/>
                <a:ext cx="105840" cy="87120"/>
              </p14:xfrm>
            </p:contentPart>
          </mc:Choice>
          <mc:Fallback>
            <p:pic>
              <p:nvPicPr>
                <p:cNvPr id="11" name="Ink 10">
                  <a:extLst>
                    <a:ext uri="{FF2B5EF4-FFF2-40B4-BE49-F238E27FC236}">
                      <a16:creationId xmlns:a16="http://schemas.microsoft.com/office/drawing/2014/main" id="{2CF2D17D-3D05-E52C-1275-57AB714054EB}"/>
                    </a:ext>
                  </a:extLst>
                </p:cNvPr>
                <p:cNvPicPr/>
                <p:nvPr/>
              </p:nvPicPr>
              <p:blipFill>
                <a:blip r:embed="rId12"/>
                <a:stretch>
                  <a:fillRect/>
                </a:stretch>
              </p:blipFill>
              <p:spPr>
                <a:xfrm>
                  <a:off x="4000147" y="4622323"/>
                  <a:ext cx="17748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4694BCE7-BADB-B118-D46C-5E410D2D5E74}"/>
                    </a:ext>
                  </a:extLst>
                </p14:cNvPr>
                <p14:cNvContentPartPr/>
                <p14:nvPr/>
              </p14:nvContentPartPr>
              <p14:xfrm>
                <a:off x="4388587" y="4605403"/>
                <a:ext cx="105120" cy="98640"/>
              </p14:xfrm>
            </p:contentPart>
          </mc:Choice>
          <mc:Fallback>
            <p:pic>
              <p:nvPicPr>
                <p:cNvPr id="12" name="Ink 11">
                  <a:extLst>
                    <a:ext uri="{FF2B5EF4-FFF2-40B4-BE49-F238E27FC236}">
                      <a16:creationId xmlns:a16="http://schemas.microsoft.com/office/drawing/2014/main" id="{4694BCE7-BADB-B118-D46C-5E410D2D5E74}"/>
                    </a:ext>
                  </a:extLst>
                </p:cNvPr>
                <p:cNvPicPr/>
                <p:nvPr/>
              </p:nvPicPr>
              <p:blipFill>
                <a:blip r:embed="rId14"/>
                <a:stretch>
                  <a:fillRect/>
                </a:stretch>
              </p:blipFill>
              <p:spPr>
                <a:xfrm>
                  <a:off x="4352587" y="4569403"/>
                  <a:ext cx="1767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E5600C9F-5014-BB90-FA99-9094C2F08579}"/>
                    </a:ext>
                  </a:extLst>
                </p14:cNvPr>
                <p14:cNvContentPartPr/>
                <p14:nvPr/>
              </p14:nvContentPartPr>
              <p14:xfrm>
                <a:off x="6291907" y="4595683"/>
                <a:ext cx="63720" cy="70920"/>
              </p14:xfrm>
            </p:contentPart>
          </mc:Choice>
          <mc:Fallback>
            <p:pic>
              <p:nvPicPr>
                <p:cNvPr id="13" name="Ink 12">
                  <a:extLst>
                    <a:ext uri="{FF2B5EF4-FFF2-40B4-BE49-F238E27FC236}">
                      <a16:creationId xmlns:a16="http://schemas.microsoft.com/office/drawing/2014/main" id="{E5600C9F-5014-BB90-FA99-9094C2F08579}"/>
                    </a:ext>
                  </a:extLst>
                </p:cNvPr>
                <p:cNvPicPr/>
                <p:nvPr/>
              </p:nvPicPr>
              <p:blipFill>
                <a:blip r:embed="rId16"/>
                <a:stretch>
                  <a:fillRect/>
                </a:stretch>
              </p:blipFill>
              <p:spPr>
                <a:xfrm>
                  <a:off x="6255907" y="4559683"/>
                  <a:ext cx="135360" cy="142560"/>
                </a:xfrm>
                <a:prstGeom prst="rect">
                  <a:avLst/>
                </a:prstGeom>
              </p:spPr>
            </p:pic>
          </mc:Fallback>
        </mc:AlternateContent>
        <p:grpSp>
          <p:nvGrpSpPr>
            <p:cNvPr id="19" name="Group 18">
              <a:extLst>
                <a:ext uri="{FF2B5EF4-FFF2-40B4-BE49-F238E27FC236}">
                  <a16:creationId xmlns:a16="http://schemas.microsoft.com/office/drawing/2014/main" id="{7CC1B605-7A34-5695-33D9-EC06CA7D6590}"/>
                </a:ext>
              </a:extLst>
            </p:cNvPr>
            <p:cNvGrpSpPr/>
            <p:nvPr/>
          </p:nvGrpSpPr>
          <p:grpSpPr>
            <a:xfrm>
              <a:off x="6477667" y="4562563"/>
              <a:ext cx="499680" cy="103680"/>
              <a:chOff x="6477667" y="4562563"/>
              <a:chExt cx="499680" cy="103680"/>
            </a:xfrm>
          </p:grpSpPr>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D66BD6DC-EE66-EC0C-A8B9-D299A5FEFCE3}"/>
                      </a:ext>
                    </a:extLst>
                  </p14:cNvPr>
                  <p14:cNvContentPartPr/>
                  <p14:nvPr/>
                </p14:nvContentPartPr>
                <p14:xfrm>
                  <a:off x="6477667" y="4615843"/>
                  <a:ext cx="62640" cy="42120"/>
                </p14:xfrm>
              </p:contentPart>
            </mc:Choice>
            <mc:Fallback>
              <p:pic>
                <p:nvPicPr>
                  <p:cNvPr id="14" name="Ink 13">
                    <a:extLst>
                      <a:ext uri="{FF2B5EF4-FFF2-40B4-BE49-F238E27FC236}">
                        <a16:creationId xmlns:a16="http://schemas.microsoft.com/office/drawing/2014/main" id="{D66BD6DC-EE66-EC0C-A8B9-D299A5FEFCE3}"/>
                      </a:ext>
                    </a:extLst>
                  </p:cNvPr>
                  <p:cNvPicPr/>
                  <p:nvPr/>
                </p:nvPicPr>
                <p:blipFill>
                  <a:blip r:embed="rId18"/>
                  <a:stretch>
                    <a:fillRect/>
                  </a:stretch>
                </p:blipFill>
                <p:spPr>
                  <a:xfrm>
                    <a:off x="6441667" y="4579843"/>
                    <a:ext cx="1342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ADC7D229-DA88-7DBD-1C7A-39B9F68D33D9}"/>
                      </a:ext>
                    </a:extLst>
                  </p14:cNvPr>
                  <p14:cNvContentPartPr/>
                  <p14:nvPr/>
                </p14:nvContentPartPr>
                <p14:xfrm>
                  <a:off x="6690067" y="4587403"/>
                  <a:ext cx="101160" cy="78840"/>
                </p14:xfrm>
              </p:contentPart>
            </mc:Choice>
            <mc:Fallback>
              <p:pic>
                <p:nvPicPr>
                  <p:cNvPr id="15" name="Ink 14">
                    <a:extLst>
                      <a:ext uri="{FF2B5EF4-FFF2-40B4-BE49-F238E27FC236}">
                        <a16:creationId xmlns:a16="http://schemas.microsoft.com/office/drawing/2014/main" id="{ADC7D229-DA88-7DBD-1C7A-39B9F68D33D9}"/>
                      </a:ext>
                    </a:extLst>
                  </p:cNvPr>
                  <p:cNvPicPr/>
                  <p:nvPr/>
                </p:nvPicPr>
                <p:blipFill>
                  <a:blip r:embed="rId20"/>
                  <a:stretch>
                    <a:fillRect/>
                  </a:stretch>
                </p:blipFill>
                <p:spPr>
                  <a:xfrm>
                    <a:off x="6654427" y="4551763"/>
                    <a:ext cx="1728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02CEE840-D254-6925-C598-DB2188D7FB3E}"/>
                      </a:ext>
                    </a:extLst>
                  </p14:cNvPr>
                  <p14:cNvContentPartPr/>
                  <p14:nvPr/>
                </p14:nvContentPartPr>
                <p14:xfrm>
                  <a:off x="6481627" y="4570843"/>
                  <a:ext cx="71640" cy="77760"/>
                </p14:xfrm>
              </p:contentPart>
            </mc:Choice>
            <mc:Fallback>
              <p:pic>
                <p:nvPicPr>
                  <p:cNvPr id="16" name="Ink 15">
                    <a:extLst>
                      <a:ext uri="{FF2B5EF4-FFF2-40B4-BE49-F238E27FC236}">
                        <a16:creationId xmlns:a16="http://schemas.microsoft.com/office/drawing/2014/main" id="{02CEE840-D254-6925-C598-DB2188D7FB3E}"/>
                      </a:ext>
                    </a:extLst>
                  </p:cNvPr>
                  <p:cNvPicPr/>
                  <p:nvPr/>
                </p:nvPicPr>
                <p:blipFill>
                  <a:blip r:embed="rId22"/>
                  <a:stretch>
                    <a:fillRect/>
                  </a:stretch>
                </p:blipFill>
                <p:spPr>
                  <a:xfrm>
                    <a:off x="6445627" y="4534843"/>
                    <a:ext cx="1432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0DE7D0EA-B5BD-6055-E31B-A2CF9A465C9E}"/>
                      </a:ext>
                    </a:extLst>
                  </p14:cNvPr>
                  <p14:cNvContentPartPr/>
                  <p14:nvPr/>
                </p14:nvContentPartPr>
                <p14:xfrm>
                  <a:off x="6866467" y="4562563"/>
                  <a:ext cx="110880" cy="76320"/>
                </p14:xfrm>
              </p:contentPart>
            </mc:Choice>
            <mc:Fallback>
              <p:pic>
                <p:nvPicPr>
                  <p:cNvPr id="18" name="Ink 17">
                    <a:extLst>
                      <a:ext uri="{FF2B5EF4-FFF2-40B4-BE49-F238E27FC236}">
                        <a16:creationId xmlns:a16="http://schemas.microsoft.com/office/drawing/2014/main" id="{0DE7D0EA-B5BD-6055-E31B-A2CF9A465C9E}"/>
                      </a:ext>
                    </a:extLst>
                  </p:cNvPr>
                  <p:cNvPicPr/>
                  <p:nvPr/>
                </p:nvPicPr>
                <p:blipFill>
                  <a:blip r:embed="rId24"/>
                  <a:stretch>
                    <a:fillRect/>
                  </a:stretch>
                </p:blipFill>
                <p:spPr>
                  <a:xfrm>
                    <a:off x="6830827" y="4526923"/>
                    <a:ext cx="182520" cy="147960"/>
                  </a:xfrm>
                  <a:prstGeom prst="rect">
                    <a:avLst/>
                  </a:prstGeom>
                </p:spPr>
              </p:pic>
            </mc:Fallback>
          </mc:AlternateContent>
        </p:grpSp>
      </p:grpSp>
      <mc:AlternateContent xmlns:mc="http://schemas.openxmlformats.org/markup-compatibility/2006">
        <mc:Choice xmlns:p14="http://schemas.microsoft.com/office/powerpoint/2010/main" Requires="p14">
          <p:contentPart p14:bwMode="auto" r:id="rId25">
            <p14:nvContentPartPr>
              <p14:cNvPr id="20" name="Ink 19">
                <a:extLst>
                  <a:ext uri="{FF2B5EF4-FFF2-40B4-BE49-F238E27FC236}">
                    <a16:creationId xmlns:a16="http://schemas.microsoft.com/office/drawing/2014/main" id="{B22DCAE2-900C-42F8-FEFB-C1D81D225DE9}"/>
                  </a:ext>
                </a:extLst>
              </p14:cNvPr>
              <p14:cNvContentPartPr/>
              <p14:nvPr/>
            </p14:nvContentPartPr>
            <p14:xfrm>
              <a:off x="100987" y="2036803"/>
              <a:ext cx="8650080" cy="3517200"/>
            </p14:xfrm>
          </p:contentPart>
        </mc:Choice>
        <mc:Fallback>
          <p:pic>
            <p:nvPicPr>
              <p:cNvPr id="20" name="Ink 19">
                <a:extLst>
                  <a:ext uri="{FF2B5EF4-FFF2-40B4-BE49-F238E27FC236}">
                    <a16:creationId xmlns:a16="http://schemas.microsoft.com/office/drawing/2014/main" id="{B22DCAE2-900C-42F8-FEFB-C1D81D225DE9}"/>
                  </a:ext>
                </a:extLst>
              </p:cNvPr>
              <p:cNvPicPr/>
              <p:nvPr/>
            </p:nvPicPr>
            <p:blipFill>
              <a:blip r:embed="rId26"/>
              <a:stretch>
                <a:fillRect/>
              </a:stretch>
            </p:blipFill>
            <p:spPr>
              <a:xfrm>
                <a:off x="91627" y="2027443"/>
                <a:ext cx="8668800" cy="35359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BF86D7D9-8687-9F88-8EE6-1E23F59C5C05}"/>
                  </a:ext>
                </a:extLst>
              </p14:cNvPr>
              <p14:cNvContentPartPr/>
              <p14:nvPr/>
            </p14:nvContentPartPr>
            <p14:xfrm>
              <a:off x="139147" y="1750603"/>
              <a:ext cx="8564040" cy="3762000"/>
            </p14:xfrm>
          </p:contentPart>
        </mc:Choice>
        <mc:Fallback>
          <p:pic>
            <p:nvPicPr>
              <p:cNvPr id="22" name="Ink 21">
                <a:extLst>
                  <a:ext uri="{FF2B5EF4-FFF2-40B4-BE49-F238E27FC236}">
                    <a16:creationId xmlns:a16="http://schemas.microsoft.com/office/drawing/2014/main" id="{BF86D7D9-8687-9F88-8EE6-1E23F59C5C05}"/>
                  </a:ext>
                </a:extLst>
              </p:cNvPr>
              <p:cNvPicPr/>
              <p:nvPr/>
            </p:nvPicPr>
            <p:blipFill>
              <a:blip r:embed="rId28"/>
              <a:stretch>
                <a:fillRect/>
              </a:stretch>
            </p:blipFill>
            <p:spPr>
              <a:xfrm>
                <a:off x="103147" y="1714963"/>
                <a:ext cx="8635680" cy="38336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4" name="Ink 23">
                <a:extLst>
                  <a:ext uri="{FF2B5EF4-FFF2-40B4-BE49-F238E27FC236}">
                    <a16:creationId xmlns:a16="http://schemas.microsoft.com/office/drawing/2014/main" id="{17B922AA-65C7-40C3-B588-517B390E33B1}"/>
                  </a:ext>
                </a:extLst>
              </p14:cNvPr>
              <p14:cNvContentPartPr/>
              <p14:nvPr/>
            </p14:nvContentPartPr>
            <p14:xfrm>
              <a:off x="59587" y="3879283"/>
              <a:ext cx="8668440" cy="1656360"/>
            </p14:xfrm>
          </p:contentPart>
        </mc:Choice>
        <mc:Fallback>
          <p:pic>
            <p:nvPicPr>
              <p:cNvPr id="24" name="Ink 23">
                <a:extLst>
                  <a:ext uri="{FF2B5EF4-FFF2-40B4-BE49-F238E27FC236}">
                    <a16:creationId xmlns:a16="http://schemas.microsoft.com/office/drawing/2014/main" id="{17B922AA-65C7-40C3-B588-517B390E33B1}"/>
                  </a:ext>
                </a:extLst>
              </p:cNvPr>
              <p:cNvPicPr/>
              <p:nvPr/>
            </p:nvPicPr>
            <p:blipFill>
              <a:blip r:embed="rId30"/>
              <a:stretch>
                <a:fillRect/>
              </a:stretch>
            </p:blipFill>
            <p:spPr>
              <a:xfrm>
                <a:off x="48427" y="3868123"/>
                <a:ext cx="8690040" cy="16783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5" name="Ink 24">
                <a:extLst>
                  <a:ext uri="{FF2B5EF4-FFF2-40B4-BE49-F238E27FC236}">
                    <a16:creationId xmlns:a16="http://schemas.microsoft.com/office/drawing/2014/main" id="{B331EC4F-BD1A-05ED-41B5-4438B29F5E76}"/>
                  </a:ext>
                </a:extLst>
              </p14:cNvPr>
              <p14:cNvContentPartPr/>
              <p14:nvPr/>
            </p14:nvContentPartPr>
            <p14:xfrm>
              <a:off x="1405627" y="4043083"/>
              <a:ext cx="117000" cy="871560"/>
            </p14:xfrm>
          </p:contentPart>
        </mc:Choice>
        <mc:Fallback>
          <p:pic>
            <p:nvPicPr>
              <p:cNvPr id="25" name="Ink 24">
                <a:extLst>
                  <a:ext uri="{FF2B5EF4-FFF2-40B4-BE49-F238E27FC236}">
                    <a16:creationId xmlns:a16="http://schemas.microsoft.com/office/drawing/2014/main" id="{B331EC4F-BD1A-05ED-41B5-4438B29F5E76}"/>
                  </a:ext>
                </a:extLst>
              </p:cNvPr>
              <p:cNvPicPr/>
              <p:nvPr/>
            </p:nvPicPr>
            <p:blipFill>
              <a:blip r:embed="rId32"/>
              <a:stretch>
                <a:fillRect/>
              </a:stretch>
            </p:blipFill>
            <p:spPr>
              <a:xfrm>
                <a:off x="1369987" y="4007083"/>
                <a:ext cx="188640" cy="943200"/>
              </a:xfrm>
              <a:prstGeom prst="rect">
                <a:avLst/>
              </a:prstGeom>
            </p:spPr>
          </p:pic>
        </mc:Fallback>
      </mc:AlternateContent>
      <p:grpSp>
        <p:nvGrpSpPr>
          <p:cNvPr id="28" name="Group 27">
            <a:extLst>
              <a:ext uri="{FF2B5EF4-FFF2-40B4-BE49-F238E27FC236}">
                <a16:creationId xmlns:a16="http://schemas.microsoft.com/office/drawing/2014/main" id="{2995504E-1A5A-8F7D-0269-9BF899CFE52F}"/>
              </a:ext>
            </a:extLst>
          </p:cNvPr>
          <p:cNvGrpSpPr/>
          <p:nvPr/>
        </p:nvGrpSpPr>
        <p:grpSpPr>
          <a:xfrm>
            <a:off x="2041027" y="4057123"/>
            <a:ext cx="392760" cy="828000"/>
            <a:chOff x="2241907" y="3872803"/>
            <a:chExt cx="392760" cy="828000"/>
          </a:xfrm>
        </p:grpSpPr>
        <mc:AlternateContent xmlns:mc="http://schemas.openxmlformats.org/markup-compatibility/2006">
          <mc:Choice xmlns:p14="http://schemas.microsoft.com/office/powerpoint/2010/main" Requires="p14">
            <p:contentPart p14:bwMode="auto" r:id="rId33">
              <p14:nvContentPartPr>
                <p14:cNvPr id="26" name="Ink 25">
                  <a:extLst>
                    <a:ext uri="{FF2B5EF4-FFF2-40B4-BE49-F238E27FC236}">
                      <a16:creationId xmlns:a16="http://schemas.microsoft.com/office/drawing/2014/main" id="{B3CAE947-8DE9-C1CC-0030-A25BC2D1F900}"/>
                    </a:ext>
                  </a:extLst>
                </p14:cNvPr>
                <p14:cNvContentPartPr/>
                <p14:nvPr/>
              </p14:nvContentPartPr>
              <p14:xfrm>
                <a:off x="2241907" y="3875323"/>
                <a:ext cx="122760" cy="825480"/>
              </p14:xfrm>
            </p:contentPart>
          </mc:Choice>
          <mc:Fallback>
            <p:pic>
              <p:nvPicPr>
                <p:cNvPr id="26" name="Ink 25">
                  <a:extLst>
                    <a:ext uri="{FF2B5EF4-FFF2-40B4-BE49-F238E27FC236}">
                      <a16:creationId xmlns:a16="http://schemas.microsoft.com/office/drawing/2014/main" id="{B3CAE947-8DE9-C1CC-0030-A25BC2D1F900}"/>
                    </a:ext>
                  </a:extLst>
                </p:cNvPr>
                <p:cNvPicPr/>
                <p:nvPr/>
              </p:nvPicPr>
              <p:blipFill>
                <a:blip r:embed="rId34"/>
                <a:stretch>
                  <a:fillRect/>
                </a:stretch>
              </p:blipFill>
              <p:spPr>
                <a:xfrm>
                  <a:off x="2206267" y="3839683"/>
                  <a:ext cx="194400" cy="897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7" name="Ink 26">
                  <a:extLst>
                    <a:ext uri="{FF2B5EF4-FFF2-40B4-BE49-F238E27FC236}">
                      <a16:creationId xmlns:a16="http://schemas.microsoft.com/office/drawing/2014/main" id="{914DF636-67C7-63F7-DFE8-C9236A9583F0}"/>
                    </a:ext>
                  </a:extLst>
                </p14:cNvPr>
                <p14:cNvContentPartPr/>
                <p14:nvPr/>
              </p14:nvContentPartPr>
              <p14:xfrm>
                <a:off x="2487427" y="3872803"/>
                <a:ext cx="147240" cy="779760"/>
              </p14:xfrm>
            </p:contentPart>
          </mc:Choice>
          <mc:Fallback>
            <p:pic>
              <p:nvPicPr>
                <p:cNvPr id="27" name="Ink 26">
                  <a:extLst>
                    <a:ext uri="{FF2B5EF4-FFF2-40B4-BE49-F238E27FC236}">
                      <a16:creationId xmlns:a16="http://schemas.microsoft.com/office/drawing/2014/main" id="{914DF636-67C7-63F7-DFE8-C9236A9583F0}"/>
                    </a:ext>
                  </a:extLst>
                </p:cNvPr>
                <p:cNvPicPr/>
                <p:nvPr/>
              </p:nvPicPr>
              <p:blipFill>
                <a:blip r:embed="rId36"/>
                <a:stretch>
                  <a:fillRect/>
                </a:stretch>
              </p:blipFill>
              <p:spPr>
                <a:xfrm>
                  <a:off x="2451427" y="3836803"/>
                  <a:ext cx="218880" cy="851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27DE587C-FF10-C224-0151-8539DBFB11A7}"/>
                  </a:ext>
                </a:extLst>
              </p14:cNvPr>
              <p14:cNvContentPartPr/>
              <p14:nvPr/>
            </p14:nvContentPartPr>
            <p14:xfrm>
              <a:off x="3823747" y="3900163"/>
              <a:ext cx="70200" cy="810360"/>
            </p14:xfrm>
          </p:contentPart>
        </mc:Choice>
        <mc:Fallback>
          <p:pic>
            <p:nvPicPr>
              <p:cNvPr id="29" name="Ink 28">
                <a:extLst>
                  <a:ext uri="{FF2B5EF4-FFF2-40B4-BE49-F238E27FC236}">
                    <a16:creationId xmlns:a16="http://schemas.microsoft.com/office/drawing/2014/main" id="{27DE587C-FF10-C224-0151-8539DBFB11A7}"/>
                  </a:ext>
                </a:extLst>
              </p:cNvPr>
              <p:cNvPicPr/>
              <p:nvPr/>
            </p:nvPicPr>
            <p:blipFill>
              <a:blip r:embed="rId38"/>
              <a:stretch>
                <a:fillRect/>
              </a:stretch>
            </p:blipFill>
            <p:spPr>
              <a:xfrm>
                <a:off x="3787747" y="3864163"/>
                <a:ext cx="141840" cy="882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0E9551B7-7676-066B-6187-D2D28B5DC54A}"/>
                  </a:ext>
                </a:extLst>
              </p14:cNvPr>
              <p14:cNvContentPartPr/>
              <p14:nvPr/>
            </p14:nvContentPartPr>
            <p14:xfrm>
              <a:off x="4209667" y="3843643"/>
              <a:ext cx="50040" cy="823680"/>
            </p14:xfrm>
          </p:contentPart>
        </mc:Choice>
        <mc:Fallback>
          <p:pic>
            <p:nvPicPr>
              <p:cNvPr id="30" name="Ink 29">
                <a:extLst>
                  <a:ext uri="{FF2B5EF4-FFF2-40B4-BE49-F238E27FC236}">
                    <a16:creationId xmlns:a16="http://schemas.microsoft.com/office/drawing/2014/main" id="{0E9551B7-7676-066B-6187-D2D28B5DC54A}"/>
                  </a:ext>
                </a:extLst>
              </p:cNvPr>
              <p:cNvPicPr/>
              <p:nvPr/>
            </p:nvPicPr>
            <p:blipFill>
              <a:blip r:embed="rId40"/>
              <a:stretch>
                <a:fillRect/>
              </a:stretch>
            </p:blipFill>
            <p:spPr>
              <a:xfrm>
                <a:off x="4174027" y="3807643"/>
                <a:ext cx="121680" cy="895320"/>
              </a:xfrm>
              <a:prstGeom prst="rect">
                <a:avLst/>
              </a:prstGeom>
            </p:spPr>
          </p:pic>
        </mc:Fallback>
      </mc:AlternateContent>
      <p:grpSp>
        <p:nvGrpSpPr>
          <p:cNvPr id="36" name="Group 35">
            <a:extLst>
              <a:ext uri="{FF2B5EF4-FFF2-40B4-BE49-F238E27FC236}">
                <a16:creationId xmlns:a16="http://schemas.microsoft.com/office/drawing/2014/main" id="{89367382-C7D1-A3F3-3EA7-7103DEF15075}"/>
              </a:ext>
            </a:extLst>
          </p:cNvPr>
          <p:cNvGrpSpPr/>
          <p:nvPr/>
        </p:nvGrpSpPr>
        <p:grpSpPr>
          <a:xfrm>
            <a:off x="6060067" y="3785323"/>
            <a:ext cx="702720" cy="857880"/>
            <a:chOff x="6260947" y="3601003"/>
            <a:chExt cx="702720" cy="857880"/>
          </a:xfrm>
        </p:grpSpPr>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5B0A0787-7BFD-45B9-B482-0EAC7D2A1CC7}"/>
                    </a:ext>
                  </a:extLst>
                </p14:cNvPr>
                <p14:cNvContentPartPr/>
                <p14:nvPr/>
              </p14:nvContentPartPr>
              <p14:xfrm>
                <a:off x="6260947" y="3601003"/>
                <a:ext cx="75240" cy="855360"/>
              </p14:xfrm>
            </p:contentPart>
          </mc:Choice>
          <mc:Fallback>
            <p:pic>
              <p:nvPicPr>
                <p:cNvPr id="31" name="Ink 30">
                  <a:extLst>
                    <a:ext uri="{FF2B5EF4-FFF2-40B4-BE49-F238E27FC236}">
                      <a16:creationId xmlns:a16="http://schemas.microsoft.com/office/drawing/2014/main" id="{5B0A0787-7BFD-45B9-B482-0EAC7D2A1CC7}"/>
                    </a:ext>
                  </a:extLst>
                </p:cNvPr>
                <p:cNvPicPr/>
                <p:nvPr/>
              </p:nvPicPr>
              <p:blipFill>
                <a:blip r:embed="rId42"/>
                <a:stretch>
                  <a:fillRect/>
                </a:stretch>
              </p:blipFill>
              <p:spPr>
                <a:xfrm>
                  <a:off x="6224947" y="3565003"/>
                  <a:ext cx="146880" cy="927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0D90F6E2-058D-DA61-4F55-5C76967F3A37}"/>
                    </a:ext>
                  </a:extLst>
                </p14:cNvPr>
                <p14:cNvContentPartPr/>
                <p14:nvPr/>
              </p14:nvContentPartPr>
              <p14:xfrm>
                <a:off x="6451027" y="3716563"/>
                <a:ext cx="72000" cy="728640"/>
              </p14:xfrm>
            </p:contentPart>
          </mc:Choice>
          <mc:Fallback>
            <p:pic>
              <p:nvPicPr>
                <p:cNvPr id="32" name="Ink 31">
                  <a:extLst>
                    <a:ext uri="{FF2B5EF4-FFF2-40B4-BE49-F238E27FC236}">
                      <a16:creationId xmlns:a16="http://schemas.microsoft.com/office/drawing/2014/main" id="{0D90F6E2-058D-DA61-4F55-5C76967F3A37}"/>
                    </a:ext>
                  </a:extLst>
                </p:cNvPr>
                <p:cNvPicPr/>
                <p:nvPr/>
              </p:nvPicPr>
              <p:blipFill>
                <a:blip r:embed="rId44"/>
                <a:stretch>
                  <a:fillRect/>
                </a:stretch>
              </p:blipFill>
              <p:spPr>
                <a:xfrm>
                  <a:off x="6415387" y="3680923"/>
                  <a:ext cx="143640" cy="800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3" name="Ink 32">
                  <a:extLst>
                    <a:ext uri="{FF2B5EF4-FFF2-40B4-BE49-F238E27FC236}">
                      <a16:creationId xmlns:a16="http://schemas.microsoft.com/office/drawing/2014/main" id="{6DD07446-A0AB-76B8-9CB7-82550CA265EB}"/>
                    </a:ext>
                  </a:extLst>
                </p14:cNvPr>
                <p14:cNvContentPartPr/>
                <p14:nvPr/>
              </p14:nvContentPartPr>
              <p14:xfrm>
                <a:off x="6683947" y="3661123"/>
                <a:ext cx="72000" cy="797760"/>
              </p14:xfrm>
            </p:contentPart>
          </mc:Choice>
          <mc:Fallback>
            <p:pic>
              <p:nvPicPr>
                <p:cNvPr id="33" name="Ink 32">
                  <a:extLst>
                    <a:ext uri="{FF2B5EF4-FFF2-40B4-BE49-F238E27FC236}">
                      <a16:creationId xmlns:a16="http://schemas.microsoft.com/office/drawing/2014/main" id="{6DD07446-A0AB-76B8-9CB7-82550CA265EB}"/>
                    </a:ext>
                  </a:extLst>
                </p:cNvPr>
                <p:cNvPicPr/>
                <p:nvPr/>
              </p:nvPicPr>
              <p:blipFill>
                <a:blip r:embed="rId46"/>
                <a:stretch>
                  <a:fillRect/>
                </a:stretch>
              </p:blipFill>
              <p:spPr>
                <a:xfrm>
                  <a:off x="6647947" y="3625123"/>
                  <a:ext cx="143640" cy="869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5" name="Ink 34">
                  <a:extLst>
                    <a:ext uri="{FF2B5EF4-FFF2-40B4-BE49-F238E27FC236}">
                      <a16:creationId xmlns:a16="http://schemas.microsoft.com/office/drawing/2014/main" id="{CBD80174-416B-0AB1-5528-812701FE25DA}"/>
                    </a:ext>
                  </a:extLst>
                </p14:cNvPr>
                <p14:cNvContentPartPr/>
                <p14:nvPr/>
              </p14:nvContentPartPr>
              <p14:xfrm>
                <a:off x="6864667" y="3673723"/>
                <a:ext cx="99000" cy="773280"/>
              </p14:xfrm>
            </p:contentPart>
          </mc:Choice>
          <mc:Fallback>
            <p:pic>
              <p:nvPicPr>
                <p:cNvPr id="35" name="Ink 34">
                  <a:extLst>
                    <a:ext uri="{FF2B5EF4-FFF2-40B4-BE49-F238E27FC236}">
                      <a16:creationId xmlns:a16="http://schemas.microsoft.com/office/drawing/2014/main" id="{CBD80174-416B-0AB1-5528-812701FE25DA}"/>
                    </a:ext>
                  </a:extLst>
                </p:cNvPr>
                <p:cNvPicPr/>
                <p:nvPr/>
              </p:nvPicPr>
              <p:blipFill>
                <a:blip r:embed="rId48"/>
                <a:stretch>
                  <a:fillRect/>
                </a:stretch>
              </p:blipFill>
              <p:spPr>
                <a:xfrm>
                  <a:off x="6829027" y="3637723"/>
                  <a:ext cx="170640" cy="844920"/>
                </a:xfrm>
                <a:prstGeom prst="rect">
                  <a:avLst/>
                </a:prstGeom>
              </p:spPr>
            </p:pic>
          </mc:Fallback>
        </mc:AlternateContent>
      </p:grpSp>
    </p:spTree>
    <p:extLst>
      <p:ext uri="{BB962C8B-B14F-4D97-AF65-F5344CB8AC3E}">
        <p14:creationId xmlns:p14="http://schemas.microsoft.com/office/powerpoint/2010/main" val="397972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2000" fill="hold"/>
                                        <p:tgtEl>
                                          <p:spTgt spid="37"/>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0" fill="hold"/>
                                        <p:tgtEl>
                                          <p:spTgt spid="20"/>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p:cTn id="22" dur="2000" fill="hold"/>
                                        <p:tgtEl>
                                          <p:spTgt spid="22"/>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2000" fill="hold"/>
                                        <p:tgtEl>
                                          <p:spTgt spid="2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20"/>
          <p:cNvSpPr/>
          <p:nvPr/>
        </p:nvSpPr>
        <p:spPr>
          <a:xfrm>
            <a:off x="62508" y="1094761"/>
            <a:ext cx="8892382" cy="5488999"/>
          </a:xfrm>
          <a:prstGeom prst="rect">
            <a:avLst/>
          </a:prstGeom>
          <a:ln w="12700">
            <a:miter lim="400000"/>
          </a:ln>
          <a:extLst>
            <a:ext uri="{C572A759-6A51-4108-AA02-DFA0A04FC94B}">
              <ma14:wrappingTextBoxFlag xmlns="" xmlns:ma14="http://schemas.microsoft.com/office/mac/drawingml/2011/main" val="1"/>
            </a:ext>
          </a:extLst>
        </p:spPr>
        <p:txBody>
          <a:bodyPr wrap="square" lIns="35717" tIns="35717" rIns="35717" bIns="35717" anchor="ctr">
            <a:spAutoFit/>
          </a:bodyPr>
          <a:lstStyle/>
          <a:p>
            <a:pPr defTabSz="410751">
              <a:defRPr sz="1800"/>
            </a:pPr>
            <a:r>
              <a:rPr lang="en-US" sz="2400" dirty="0">
                <a:sym typeface="Gill Sans"/>
              </a:rPr>
              <a:t>Nonparametric - a model that can encode any* probability distribution (using arbitrarily complex representations).</a:t>
            </a:r>
          </a:p>
          <a:p>
            <a:pPr defTabSz="410751">
              <a:defRPr sz="1800"/>
            </a:pPr>
            <a:r>
              <a:rPr lang="en-US" sz="2400" dirty="0">
                <a:sym typeface="Gill Sans"/>
              </a:rPr>
              <a:t>	E.g., Kernel methods</a:t>
            </a:r>
          </a:p>
          <a:p>
            <a:pPr defTabSz="410751">
              <a:defRPr sz="1800"/>
            </a:pPr>
            <a:endParaRPr lang="en-US" sz="2400" dirty="0">
              <a:sym typeface="Gill Sans"/>
            </a:endParaRPr>
          </a:p>
          <a:p>
            <a:pPr defTabSz="410751">
              <a:defRPr sz="1800"/>
            </a:pPr>
            <a:r>
              <a:rPr sz="2400" dirty="0">
                <a:sym typeface="Gill Sans"/>
              </a:rPr>
              <a:t>Bayesian - priors constrain which latent representations are preferred.</a:t>
            </a:r>
          </a:p>
          <a:p>
            <a:pPr defTabSz="410751">
              <a:defRPr sz="1800"/>
            </a:pPr>
            <a:endParaRPr lang="en-US" sz="2000" dirty="0">
              <a:sym typeface="Gill Sans"/>
            </a:endParaRPr>
          </a:p>
          <a:p>
            <a:pPr defTabSz="410751">
              <a:defRPr sz="1800"/>
            </a:pPr>
            <a:endParaRPr sz="2000" dirty="0">
              <a:sym typeface="Gill Sans"/>
            </a:endParaRPr>
          </a:p>
          <a:p>
            <a:pPr defTabSz="410751">
              <a:defRPr sz="1800"/>
            </a:pPr>
            <a:r>
              <a:rPr lang="en-US" sz="2400" dirty="0">
                <a:sym typeface="Gill Sans"/>
              </a:rPr>
              <a:t>Bayes NP </a:t>
            </a:r>
            <a:r>
              <a:rPr sz="2400" dirty="0">
                <a:sym typeface="Gill Sans"/>
              </a:rPr>
              <a:t>are nonparametric models that prefer to use simpler representations.</a:t>
            </a:r>
          </a:p>
          <a:p>
            <a:pPr defTabSz="410751">
              <a:defRPr sz="1800"/>
            </a:pPr>
            <a:endParaRPr sz="2400" dirty="0">
              <a:sym typeface="Gill Sans"/>
            </a:endParaRPr>
          </a:p>
          <a:p>
            <a:pPr defTabSz="410751">
              <a:defRPr sz="1800"/>
            </a:pPr>
            <a:endParaRPr sz="2400" dirty="0">
              <a:sym typeface="Gill Sans"/>
            </a:endParaRPr>
          </a:p>
          <a:p>
            <a:pPr defTabSz="410751">
              <a:defRPr sz="1800"/>
            </a:pPr>
            <a:r>
              <a:rPr sz="2400" dirty="0">
                <a:sym typeface="Gill Sans"/>
              </a:rPr>
              <a:t>Types of latent structure</a:t>
            </a:r>
            <a:r>
              <a:rPr lang="en-US" sz="2400" dirty="0">
                <a:sym typeface="Gill Sans"/>
              </a:rPr>
              <a:t> and corresponding Bayes NP prior</a:t>
            </a:r>
            <a:r>
              <a:rPr sz="2400" dirty="0">
                <a:sym typeface="Gill Sans"/>
              </a:rPr>
              <a:t>:</a:t>
            </a:r>
            <a:endParaRPr lang="en-US" sz="2400" dirty="0">
              <a:sym typeface="Gill Sans"/>
            </a:endParaRPr>
          </a:p>
          <a:p>
            <a:pPr defTabSz="410751">
              <a:defRPr sz="1800"/>
            </a:pPr>
            <a:r>
              <a:rPr lang="en-US" sz="2400" dirty="0">
                <a:sym typeface="Gill Sans"/>
              </a:rPr>
              <a:t>    </a:t>
            </a:r>
            <a:r>
              <a:rPr sz="2400" dirty="0">
                <a:sym typeface="Gill Sans"/>
              </a:rPr>
              <a:t>One discrete per datum (categories, trees, etc.) -&gt; </a:t>
            </a:r>
            <a:r>
              <a:rPr sz="2400" dirty="0" err="1">
                <a:sym typeface="Gill Sans"/>
              </a:rPr>
              <a:t>Dirichlet</a:t>
            </a:r>
            <a:r>
              <a:rPr lang="en-US" sz="2400" dirty="0">
                <a:sym typeface="Gill Sans"/>
              </a:rPr>
              <a:t> </a:t>
            </a:r>
            <a:r>
              <a:rPr sz="2400" dirty="0">
                <a:sym typeface="Gill Sans"/>
              </a:rPr>
              <a:t>proces</a:t>
            </a:r>
            <a:r>
              <a:rPr lang="en-US" sz="2400" dirty="0">
                <a:sym typeface="Gill Sans"/>
              </a:rPr>
              <a:t>s</a:t>
            </a:r>
          </a:p>
          <a:p>
            <a:pPr defTabSz="410751">
              <a:defRPr sz="1800"/>
            </a:pPr>
            <a:r>
              <a:rPr lang="en-US" sz="2400" dirty="0">
                <a:sym typeface="Gill Sans"/>
              </a:rPr>
              <a:t>    </a:t>
            </a:r>
            <a:r>
              <a:rPr sz="2400" dirty="0">
                <a:sym typeface="Gill Sans"/>
              </a:rPr>
              <a:t>Multiple discrete per datum (features) -&gt; Beta proces</a:t>
            </a:r>
            <a:r>
              <a:rPr lang="en-US" sz="2400" dirty="0">
                <a:sym typeface="Gill Sans"/>
              </a:rPr>
              <a:t>s</a:t>
            </a:r>
          </a:p>
          <a:p>
            <a:pPr defTabSz="410751">
              <a:defRPr sz="1800"/>
            </a:pPr>
            <a:r>
              <a:rPr lang="en-US" sz="2400" dirty="0">
                <a:sym typeface="Gill Sans"/>
              </a:rPr>
              <a:t>    Continuous/</a:t>
            </a:r>
            <a:r>
              <a:rPr sz="2400" dirty="0">
                <a:sym typeface="Gill Sans"/>
              </a:rPr>
              <a:t>Functions -&gt; Gaussian process </a:t>
            </a:r>
          </a:p>
        </p:txBody>
      </p:sp>
      <p:sp>
        <p:nvSpPr>
          <p:cNvPr id="21" name="Shape 21"/>
          <p:cNvSpPr>
            <a:spLocks noGrp="1"/>
          </p:cNvSpPr>
          <p:nvPr>
            <p:ph type="title" idx="4294967295"/>
          </p:nvPr>
        </p:nvSpPr>
        <p:spPr>
          <a:xfrm>
            <a:off x="62508" y="46679"/>
            <a:ext cx="9081492" cy="714376"/>
          </a:xfrm>
          <a:prstGeom prst="rect">
            <a:avLst/>
          </a:prstGeom>
        </p:spPr>
        <p:txBody>
          <a:bodyPr lIns="26788" tIns="26788" rIns="26788" bIns="26788">
            <a:normAutofit/>
          </a:bodyPr>
          <a:lstStyle>
            <a:lvl1pPr>
              <a:defRPr sz="5400"/>
            </a:lvl1pPr>
          </a:lstStyle>
          <a:p>
            <a:pPr lvl="0">
              <a:defRPr sz="1800"/>
            </a:pPr>
            <a:r>
              <a:rPr sz="3800" dirty="0"/>
              <a:t>What </a:t>
            </a:r>
            <a:r>
              <a:rPr lang="en-US" sz="3800" dirty="0"/>
              <a:t>is a Bayesian Nonparametric Model</a:t>
            </a:r>
            <a:r>
              <a:rPr sz="3800" dirty="0"/>
              <a:t>?</a:t>
            </a:r>
          </a:p>
        </p:txBody>
      </p:sp>
    </p:spTree>
    <p:extLst>
      <p:ext uri="{BB962C8B-B14F-4D97-AF65-F5344CB8AC3E}">
        <p14:creationId xmlns:p14="http://schemas.microsoft.com/office/powerpoint/2010/main" val="2486417651"/>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62508" y="46679"/>
            <a:ext cx="7161609" cy="714376"/>
          </a:xfrm>
          <a:prstGeom prst="rect">
            <a:avLst/>
          </a:prstGeom>
        </p:spPr>
        <p:txBody>
          <a:bodyPr lIns="26788" tIns="26788" rIns="26788" bIns="26788"/>
          <a:lstStyle>
            <a:lvl1pPr>
              <a:defRPr sz="5400"/>
            </a:lvl1pPr>
          </a:lstStyle>
          <a:p>
            <a:pPr lvl="0">
              <a:defRPr sz="1800"/>
            </a:pPr>
            <a:r>
              <a:rPr sz="3800"/>
              <a:t>Categorization as Mixture Modeling</a:t>
            </a:r>
          </a:p>
        </p:txBody>
      </p:sp>
      <p:grpSp>
        <p:nvGrpSpPr>
          <p:cNvPr id="41" name="Group 41"/>
          <p:cNvGrpSpPr/>
          <p:nvPr/>
        </p:nvGrpSpPr>
        <p:grpSpPr>
          <a:xfrm>
            <a:off x="6170533" y="3960646"/>
            <a:ext cx="2937786" cy="2795762"/>
            <a:chOff x="38224" y="0"/>
            <a:chExt cx="4178182" cy="3976194"/>
          </a:xfrm>
        </p:grpSpPr>
        <p:grpSp>
          <p:nvGrpSpPr>
            <p:cNvPr id="37" name="Group 37"/>
            <p:cNvGrpSpPr/>
            <p:nvPr/>
          </p:nvGrpSpPr>
          <p:grpSpPr>
            <a:xfrm>
              <a:off x="38224" y="219571"/>
              <a:ext cx="4178182" cy="3756623"/>
              <a:chOff x="38224" y="0"/>
              <a:chExt cx="4178180" cy="3756622"/>
            </a:xfrm>
          </p:grpSpPr>
          <p:pic>
            <p:nvPicPr>
              <p:cNvPr id="31" name="droppedImage.pdf"/>
              <p:cNvPicPr/>
              <p:nvPr/>
            </p:nvPicPr>
            <p:blipFill>
              <a:blip r:embed="rId3"/>
              <a:stretch>
                <a:fillRect/>
              </a:stretch>
            </p:blipFill>
            <p:spPr>
              <a:xfrm>
                <a:off x="497047" y="235906"/>
                <a:ext cx="3719357" cy="3142800"/>
              </a:xfrm>
              <a:prstGeom prst="rect">
                <a:avLst/>
              </a:prstGeom>
              <a:ln w="12700" cap="flat">
                <a:noFill/>
                <a:miter lim="400000"/>
              </a:ln>
              <a:effectLst/>
            </p:spPr>
          </p:pic>
          <p:sp>
            <p:nvSpPr>
              <p:cNvPr id="32" name="Shape 32"/>
              <p:cNvSpPr/>
              <p:nvPr/>
            </p:nvSpPr>
            <p:spPr>
              <a:xfrm>
                <a:off x="1113076" y="3361007"/>
                <a:ext cx="2038110" cy="39561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33" name="ferrets.jpg"/>
              <p:cNvPicPr/>
              <p:nvPr/>
            </p:nvPicPr>
            <p:blipFill>
              <a:blip r:embed="rId4"/>
              <a:stretch>
                <a:fillRect/>
              </a:stretch>
            </p:blipFill>
            <p:spPr>
              <a:xfrm>
                <a:off x="630495" y="705683"/>
                <a:ext cx="500999" cy="465574"/>
              </a:xfrm>
              <a:prstGeom prst="rect">
                <a:avLst/>
              </a:prstGeom>
              <a:ln w="12700" cap="flat">
                <a:noFill/>
                <a:miter lim="400000"/>
              </a:ln>
              <a:effectLst/>
            </p:spPr>
          </p:pic>
          <p:pic>
            <p:nvPicPr>
              <p:cNvPr id="34" name="american-bobtail-cat-facts.jpg"/>
              <p:cNvPicPr/>
              <p:nvPr/>
            </p:nvPicPr>
            <p:blipFill>
              <a:blip r:embed="rId5"/>
              <a:stretch>
                <a:fillRect/>
              </a:stretch>
            </p:blipFill>
            <p:spPr>
              <a:xfrm>
                <a:off x="1543468" y="0"/>
                <a:ext cx="987213" cy="767832"/>
              </a:xfrm>
              <a:prstGeom prst="rect">
                <a:avLst/>
              </a:prstGeom>
              <a:ln w="12700" cap="flat">
                <a:noFill/>
                <a:miter lim="400000"/>
              </a:ln>
              <a:effectLst/>
            </p:spPr>
          </p:pic>
          <p:sp>
            <p:nvSpPr>
              <p:cNvPr id="35" name="Shape 35"/>
              <p:cNvSpPr/>
              <p:nvPr/>
            </p:nvSpPr>
            <p:spPr>
              <a:xfrm rot="16199993">
                <a:off x="-1064941" y="1498716"/>
                <a:ext cx="2736706" cy="5303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pic>
            <p:nvPicPr>
              <p:cNvPr id="36" name="boxer-dog.jpg"/>
              <p:cNvPicPr/>
              <p:nvPr/>
            </p:nvPicPr>
            <p:blipFill>
              <a:blip r:embed="rId6"/>
              <a:stretch>
                <a:fillRect/>
              </a:stretch>
            </p:blipFill>
            <p:spPr>
              <a:xfrm>
                <a:off x="2616954" y="1050150"/>
                <a:ext cx="1167807" cy="1014324"/>
              </a:xfrm>
              <a:prstGeom prst="rect">
                <a:avLst/>
              </a:prstGeom>
              <a:ln w="12700" cap="flat">
                <a:noFill/>
                <a:miter lim="400000"/>
              </a:ln>
              <a:effectLst/>
            </p:spPr>
          </p:pic>
        </p:grpSp>
        <p:sp>
          <p:nvSpPr>
            <p:cNvPr id="38" name="Shape 38"/>
            <p:cNvSpPr/>
            <p:nvPr/>
          </p:nvSpPr>
          <p:spPr>
            <a:xfrm>
              <a:off x="721637" y="395612"/>
              <a:ext cx="259622" cy="4450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39" name="Shape 39"/>
            <p:cNvSpPr/>
            <p:nvPr/>
          </p:nvSpPr>
          <p:spPr>
            <a:xfrm>
              <a:off x="1249258"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40" name="Shape 40"/>
            <p:cNvSpPr/>
            <p:nvPr/>
          </p:nvSpPr>
          <p:spPr>
            <a:xfrm>
              <a:off x="3041879" y="803588"/>
              <a:ext cx="259621"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grpSp>
      <p:pic>
        <p:nvPicPr>
          <p:cNvPr id="42" name="droppedImage.pdf"/>
          <p:cNvPicPr/>
          <p:nvPr/>
        </p:nvPicPr>
        <p:blipFill>
          <a:blip r:embed="rId7"/>
          <a:stretch>
            <a:fillRect/>
          </a:stretch>
        </p:blipFill>
        <p:spPr>
          <a:xfrm>
            <a:off x="3661172" y="2152055"/>
            <a:ext cx="2928938" cy="2446734"/>
          </a:xfrm>
          <a:prstGeom prst="rect">
            <a:avLst/>
          </a:prstGeom>
          <a:ln w="12700">
            <a:miter lim="400000"/>
          </a:ln>
        </p:spPr>
      </p:pic>
      <p:grpSp>
        <p:nvGrpSpPr>
          <p:cNvPr id="52" name="Group 52"/>
          <p:cNvGrpSpPr/>
          <p:nvPr/>
        </p:nvGrpSpPr>
        <p:grpSpPr>
          <a:xfrm>
            <a:off x="62506" y="4286249"/>
            <a:ext cx="2982632" cy="2470159"/>
            <a:chOff x="114298" y="0"/>
            <a:chExt cx="4241963" cy="3513112"/>
          </a:xfrm>
        </p:grpSpPr>
        <p:sp>
          <p:nvSpPr>
            <p:cNvPr id="43" name="Shape 43"/>
            <p:cNvSpPr/>
            <p:nvPr/>
          </p:nvSpPr>
          <p:spPr>
            <a:xfrm>
              <a:off x="1255658" y="3123379"/>
              <a:ext cx="1789457" cy="38973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44" name="ferrets.jpg"/>
            <p:cNvPicPr/>
            <p:nvPr/>
          </p:nvPicPr>
          <p:blipFill>
            <a:blip r:embed="rId4"/>
            <a:stretch>
              <a:fillRect/>
            </a:stretch>
          </p:blipFill>
          <p:spPr>
            <a:xfrm>
              <a:off x="630495" y="1293555"/>
              <a:ext cx="500999" cy="465574"/>
            </a:xfrm>
            <a:prstGeom prst="rect">
              <a:avLst/>
            </a:prstGeom>
            <a:ln w="12700" cap="flat">
              <a:noFill/>
              <a:miter lim="400000"/>
            </a:ln>
            <a:effectLst/>
          </p:spPr>
        </p:pic>
        <p:pic>
          <p:nvPicPr>
            <p:cNvPr id="45" name="american-bobtail-cat-facts.jpg"/>
            <p:cNvPicPr/>
            <p:nvPr/>
          </p:nvPicPr>
          <p:blipFill>
            <a:blip r:embed="rId5"/>
            <a:stretch>
              <a:fillRect/>
            </a:stretch>
          </p:blipFill>
          <p:spPr>
            <a:xfrm>
              <a:off x="1454568" y="1349871"/>
              <a:ext cx="987213" cy="767832"/>
            </a:xfrm>
            <a:prstGeom prst="rect">
              <a:avLst/>
            </a:prstGeom>
            <a:ln w="12700" cap="flat">
              <a:noFill/>
              <a:miter lim="400000"/>
            </a:ln>
            <a:effectLst/>
          </p:spPr>
        </p:pic>
        <p:sp>
          <p:nvSpPr>
            <p:cNvPr id="46" name="Shape 46"/>
            <p:cNvSpPr/>
            <p:nvPr/>
          </p:nvSpPr>
          <p:spPr>
            <a:xfrm rot="16199993">
              <a:off x="-1057857" y="1377499"/>
              <a:ext cx="2798611" cy="45430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pic>
          <p:nvPicPr>
            <p:cNvPr id="47" name="boxer-dog.jpg"/>
            <p:cNvPicPr/>
            <p:nvPr/>
          </p:nvPicPr>
          <p:blipFill>
            <a:blip r:embed="rId6"/>
            <a:stretch>
              <a:fillRect/>
            </a:stretch>
          </p:blipFill>
          <p:spPr>
            <a:xfrm>
              <a:off x="3188454" y="1358620"/>
              <a:ext cx="1167807" cy="1014325"/>
            </a:xfrm>
            <a:prstGeom prst="rect">
              <a:avLst/>
            </a:prstGeom>
            <a:ln w="12700" cap="flat">
              <a:noFill/>
              <a:miter lim="400000"/>
            </a:ln>
            <a:effectLst/>
          </p:spPr>
        </p:pic>
        <p:sp>
          <p:nvSpPr>
            <p:cNvPr id="48" name="Shape 48"/>
            <p:cNvSpPr/>
            <p:nvPr/>
          </p:nvSpPr>
          <p:spPr>
            <a:xfrm>
              <a:off x="747037" y="1703713"/>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49" name="Shape 49"/>
            <p:cNvSpPr/>
            <p:nvPr/>
          </p:nvSpPr>
          <p:spPr>
            <a:xfrm>
              <a:off x="1274658" y="88900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50" name="Shape 50"/>
            <p:cNvSpPr/>
            <p:nvPr/>
          </p:nvSpPr>
          <p:spPr>
            <a:xfrm>
              <a:off x="2978379" y="892488"/>
              <a:ext cx="259621"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pic>
          <p:nvPicPr>
            <p:cNvPr id="51" name="droppedImage.pdf"/>
            <p:cNvPicPr/>
            <p:nvPr/>
          </p:nvPicPr>
          <p:blipFill>
            <a:blip r:embed="rId8"/>
            <a:stretch>
              <a:fillRect/>
            </a:stretch>
          </p:blipFill>
          <p:spPr>
            <a:xfrm>
              <a:off x="508000" y="0"/>
              <a:ext cx="3721100" cy="3099032"/>
            </a:xfrm>
            <a:prstGeom prst="rect">
              <a:avLst/>
            </a:prstGeom>
            <a:ln w="12700" cap="flat">
              <a:noFill/>
              <a:miter lim="400000"/>
            </a:ln>
            <a:effectLst/>
          </p:spPr>
        </p:pic>
      </p:grpSp>
      <p:grpSp>
        <p:nvGrpSpPr>
          <p:cNvPr id="61" name="Group 61"/>
          <p:cNvGrpSpPr/>
          <p:nvPr/>
        </p:nvGrpSpPr>
        <p:grpSpPr>
          <a:xfrm>
            <a:off x="534194" y="241102"/>
            <a:ext cx="8652868" cy="1142802"/>
            <a:chOff x="0" y="0"/>
            <a:chExt cx="12306300" cy="1625318"/>
          </a:xfrm>
        </p:grpSpPr>
        <p:sp>
          <p:nvSpPr>
            <p:cNvPr id="53" name="Shape 53"/>
            <p:cNvSpPr/>
            <p:nvPr/>
          </p:nvSpPr>
          <p:spPr>
            <a:xfrm>
              <a:off x="0" y="1041682"/>
              <a:ext cx="12306300"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a:t>To make an animal, first sample which animal we want from</a:t>
              </a:r>
            </a:p>
          </p:txBody>
        </p:sp>
        <p:pic>
          <p:nvPicPr>
            <p:cNvPr id="54" name="droppedImage.pdf"/>
            <p:cNvPicPr/>
            <p:nvPr/>
          </p:nvPicPr>
          <p:blipFill>
            <a:blip r:embed="rId9"/>
            <a:stretch>
              <a:fillRect/>
            </a:stretch>
          </p:blipFill>
          <p:spPr>
            <a:xfrm>
              <a:off x="9044657" y="1206500"/>
              <a:ext cx="2743201" cy="368300"/>
            </a:xfrm>
            <a:prstGeom prst="rect">
              <a:avLst/>
            </a:prstGeom>
            <a:ln w="12700" cap="flat">
              <a:noFill/>
              <a:miter lim="400000"/>
            </a:ln>
            <a:effectLst/>
          </p:spPr>
        </p:pic>
        <p:pic>
          <p:nvPicPr>
            <p:cNvPr id="55" name="ferrets.jpg"/>
            <p:cNvPicPr/>
            <p:nvPr/>
          </p:nvPicPr>
          <p:blipFill>
            <a:blip r:embed="rId4"/>
            <a:stretch>
              <a:fillRect/>
            </a:stretch>
          </p:blipFill>
          <p:spPr>
            <a:xfrm>
              <a:off x="9654257" y="571500"/>
              <a:ext cx="500998" cy="465574"/>
            </a:xfrm>
            <a:prstGeom prst="rect">
              <a:avLst/>
            </a:prstGeom>
            <a:ln w="12700" cap="flat">
              <a:noFill/>
              <a:miter lim="400000"/>
            </a:ln>
            <a:effectLst/>
          </p:spPr>
        </p:pic>
        <p:pic>
          <p:nvPicPr>
            <p:cNvPr id="56" name="american-bobtail-cat-facts.jpg"/>
            <p:cNvPicPr/>
            <p:nvPr/>
          </p:nvPicPr>
          <p:blipFill>
            <a:blip r:embed="rId5"/>
            <a:stretch>
              <a:fillRect/>
            </a:stretch>
          </p:blipFill>
          <p:spPr>
            <a:xfrm>
              <a:off x="10264098" y="463031"/>
              <a:ext cx="783772" cy="609601"/>
            </a:xfrm>
            <a:prstGeom prst="rect">
              <a:avLst/>
            </a:prstGeom>
            <a:ln w="12700" cap="flat">
              <a:noFill/>
              <a:miter lim="400000"/>
            </a:ln>
            <a:effectLst/>
          </p:spPr>
        </p:pic>
        <p:pic>
          <p:nvPicPr>
            <p:cNvPr id="57" name="boxer-dog.jpg"/>
            <p:cNvPicPr/>
            <p:nvPr/>
          </p:nvPicPr>
          <p:blipFill>
            <a:blip r:embed="rId6"/>
            <a:stretch>
              <a:fillRect/>
            </a:stretch>
          </p:blipFill>
          <p:spPr>
            <a:xfrm>
              <a:off x="11164964" y="376856"/>
              <a:ext cx="850901" cy="739068"/>
            </a:xfrm>
            <a:prstGeom prst="rect">
              <a:avLst/>
            </a:prstGeom>
            <a:ln w="12700" cap="flat">
              <a:noFill/>
              <a:miter lim="400000"/>
            </a:ln>
            <a:effectLst/>
          </p:spPr>
        </p:pic>
        <p:sp>
          <p:nvSpPr>
            <p:cNvPr id="58" name="Shape 58"/>
            <p:cNvSpPr/>
            <p:nvPr/>
          </p:nvSpPr>
          <p:spPr>
            <a:xfrm>
              <a:off x="97812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59" name="Shape 59"/>
            <p:cNvSpPr/>
            <p:nvPr/>
          </p:nvSpPr>
          <p:spPr>
            <a:xfrm>
              <a:off x="105305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60" name="Shape 60"/>
            <p:cNvSpPr/>
            <p:nvPr/>
          </p:nvSpPr>
          <p:spPr>
            <a:xfrm>
              <a:off x="114703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grpSp>
      <p:grpSp>
        <p:nvGrpSpPr>
          <p:cNvPr id="65" name="Group 65"/>
          <p:cNvGrpSpPr/>
          <p:nvPr/>
        </p:nvGrpSpPr>
        <p:grpSpPr>
          <a:xfrm>
            <a:off x="535781" y="1420019"/>
            <a:ext cx="8652867" cy="410369"/>
            <a:chOff x="0" y="-37817"/>
            <a:chExt cx="12306300" cy="583635"/>
          </a:xfrm>
        </p:grpSpPr>
        <p:sp>
          <p:nvSpPr>
            <p:cNvPr id="62" name="Shape 62"/>
            <p:cNvSpPr/>
            <p:nvPr/>
          </p:nvSpPr>
          <p:spPr>
            <a:xfrm>
              <a:off x="0" y="-37817"/>
              <a:ext cx="12306300" cy="58363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dirty="0"/>
                <a:t>Each animal is created from its associated ideal “snout size”       and variance     </a:t>
              </a:r>
              <a:r>
                <a:rPr lang="en-US" sz="2000" dirty="0"/>
                <a:t> </a:t>
              </a:r>
              <a:r>
                <a:rPr sz="2000" dirty="0"/>
                <a:t>.</a:t>
              </a:r>
            </a:p>
          </p:txBody>
        </p:sp>
        <p:pic>
          <p:nvPicPr>
            <p:cNvPr id="63" name="droppedImage.pdf"/>
            <p:cNvPicPr/>
            <p:nvPr/>
          </p:nvPicPr>
          <p:blipFill>
            <a:blip r:embed="rId10"/>
            <a:stretch>
              <a:fillRect/>
            </a:stretch>
          </p:blipFill>
          <p:spPr>
            <a:xfrm>
              <a:off x="8926075" y="201568"/>
              <a:ext cx="342901" cy="241300"/>
            </a:xfrm>
            <a:prstGeom prst="rect">
              <a:avLst/>
            </a:prstGeom>
            <a:ln w="12700" cap="flat">
              <a:noFill/>
              <a:miter lim="400000"/>
            </a:ln>
            <a:effectLst/>
          </p:spPr>
        </p:pic>
        <p:pic>
          <p:nvPicPr>
            <p:cNvPr id="64" name="droppedImage.pdf"/>
            <p:cNvPicPr/>
            <p:nvPr/>
          </p:nvPicPr>
          <p:blipFill>
            <a:blip r:embed="rId11"/>
            <a:stretch>
              <a:fillRect/>
            </a:stretch>
          </p:blipFill>
          <p:spPr>
            <a:xfrm>
              <a:off x="11412002" y="38100"/>
              <a:ext cx="330200" cy="419100"/>
            </a:xfrm>
            <a:prstGeom prst="rect">
              <a:avLst/>
            </a:prstGeom>
            <a:ln w="12700" cap="flat">
              <a:noFill/>
              <a:miter lim="400000"/>
            </a:ln>
            <a:effectLst/>
          </p:spPr>
        </p:pic>
      </p:grpSp>
      <p:sp>
        <p:nvSpPr>
          <p:cNvPr id="66" name="Shape 66"/>
          <p:cNvSpPr/>
          <p:nvPr/>
        </p:nvSpPr>
        <p:spPr>
          <a:xfrm>
            <a:off x="535781" y="1881733"/>
            <a:ext cx="8652867" cy="379908"/>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defTabSz="410751">
              <a:defRPr sz="1800"/>
            </a:pPr>
            <a:r>
              <a:rPr sz="2000">
                <a:sym typeface="Gill Sans"/>
              </a:rPr>
              <a:t>This leads to the following </a:t>
            </a:r>
            <a:r>
              <a:rPr sz="2000" i="1">
                <a:sym typeface="Gill Sans"/>
              </a:rPr>
              <a:t>generative process</a:t>
            </a:r>
            <a:r>
              <a:rPr sz="2000">
                <a:sym typeface="Gill Sans"/>
              </a:rPr>
              <a:t> for each animal</a:t>
            </a:r>
          </a:p>
        </p:txBody>
      </p:sp>
      <p:grpSp>
        <p:nvGrpSpPr>
          <p:cNvPr id="69" name="Group 69"/>
          <p:cNvGrpSpPr/>
          <p:nvPr/>
        </p:nvGrpSpPr>
        <p:grpSpPr>
          <a:xfrm>
            <a:off x="2071688" y="4768453"/>
            <a:ext cx="160734" cy="1705570"/>
            <a:chOff x="0" y="0"/>
            <a:chExt cx="228600" cy="2425700"/>
          </a:xfrm>
        </p:grpSpPr>
        <p:sp>
          <p:nvSpPr>
            <p:cNvPr id="67" name="Shape 67"/>
            <p:cNvSpPr/>
            <p:nvPr/>
          </p:nvSpPr>
          <p:spPr>
            <a:xfrm>
              <a:off x="0" y="254000"/>
              <a:ext cx="228600" cy="2171700"/>
            </a:xfrm>
            <a:prstGeom prst="rect">
              <a:avLst/>
            </a:prstGeom>
            <a:noFill/>
            <a:ln w="25400" cap="flat">
              <a:solidFill>
                <a:srgbClr val="E32400"/>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68" name="droppedImage.pdf"/>
            <p:cNvPicPr/>
            <p:nvPr/>
          </p:nvPicPr>
          <p:blipFill>
            <a:blip r:embed="rId12"/>
            <a:stretch>
              <a:fillRect/>
            </a:stretch>
          </p:blipFill>
          <p:spPr>
            <a:xfrm>
              <a:off x="12700" y="0"/>
              <a:ext cx="203200" cy="203200"/>
            </a:xfrm>
            <a:prstGeom prst="rect">
              <a:avLst/>
            </a:prstGeom>
            <a:ln w="12700" cap="flat">
              <a:noFill/>
              <a:miter lim="400000"/>
            </a:ln>
            <a:effectLst/>
          </p:spPr>
        </p:pic>
      </p:grpSp>
      <p:grpSp>
        <p:nvGrpSpPr>
          <p:cNvPr id="85" name="Group 85"/>
          <p:cNvGrpSpPr/>
          <p:nvPr/>
        </p:nvGrpSpPr>
        <p:grpSpPr>
          <a:xfrm>
            <a:off x="3062881" y="4259459"/>
            <a:ext cx="3107649" cy="2496950"/>
            <a:chOff x="-3" y="-1"/>
            <a:chExt cx="4419766" cy="3551215"/>
          </a:xfrm>
        </p:grpSpPr>
        <p:sp>
          <p:nvSpPr>
            <p:cNvPr id="70" name="Shape 70"/>
            <p:cNvSpPr/>
            <p:nvPr/>
          </p:nvSpPr>
          <p:spPr>
            <a:xfrm>
              <a:off x="2946400" y="977900"/>
              <a:ext cx="228600" cy="2171700"/>
            </a:xfrm>
            <a:prstGeom prst="rect">
              <a:avLst/>
            </a:prstGeom>
            <a:noFill/>
            <a:ln w="25400" cap="flat">
              <a:solidFill>
                <a:srgbClr val="E32400"/>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71" name="droppedImage.pdf"/>
            <p:cNvPicPr/>
            <p:nvPr/>
          </p:nvPicPr>
          <p:blipFill>
            <a:blip r:embed="rId12"/>
            <a:stretch>
              <a:fillRect/>
            </a:stretch>
          </p:blipFill>
          <p:spPr>
            <a:xfrm>
              <a:off x="2959100" y="711200"/>
              <a:ext cx="203200" cy="203200"/>
            </a:xfrm>
            <a:prstGeom prst="rect">
              <a:avLst/>
            </a:prstGeom>
            <a:ln w="12700" cap="flat">
              <a:noFill/>
              <a:miter lim="400000"/>
            </a:ln>
            <a:effectLst/>
          </p:spPr>
        </p:pic>
        <p:grpSp>
          <p:nvGrpSpPr>
            <p:cNvPr id="84" name="Group 84"/>
            <p:cNvGrpSpPr/>
            <p:nvPr/>
          </p:nvGrpSpPr>
          <p:grpSpPr>
            <a:xfrm>
              <a:off x="-3" y="-1"/>
              <a:ext cx="4419766" cy="3551215"/>
              <a:chOff x="-3" y="0"/>
              <a:chExt cx="4419764" cy="3551213"/>
            </a:xfrm>
          </p:grpSpPr>
          <p:sp>
            <p:nvSpPr>
              <p:cNvPr id="72" name="Shape 72"/>
              <p:cNvSpPr/>
              <p:nvPr/>
            </p:nvSpPr>
            <p:spPr>
              <a:xfrm>
                <a:off x="1255659" y="3161481"/>
                <a:ext cx="1853712" cy="38973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73" name="ferrets.jpg"/>
              <p:cNvPicPr/>
              <p:nvPr/>
            </p:nvPicPr>
            <p:blipFill>
              <a:blip r:embed="rId4"/>
              <a:stretch>
                <a:fillRect/>
              </a:stretch>
            </p:blipFill>
            <p:spPr>
              <a:xfrm>
                <a:off x="630496" y="1242755"/>
                <a:ext cx="500998" cy="465574"/>
              </a:xfrm>
              <a:prstGeom prst="rect">
                <a:avLst/>
              </a:prstGeom>
              <a:ln w="12700" cap="flat">
                <a:noFill/>
                <a:miter lim="400000"/>
              </a:ln>
              <a:effectLst/>
            </p:spPr>
          </p:pic>
          <p:pic>
            <p:nvPicPr>
              <p:cNvPr id="74" name="american-bobtail-cat-facts.jpg"/>
              <p:cNvPicPr/>
              <p:nvPr/>
            </p:nvPicPr>
            <p:blipFill>
              <a:blip r:embed="rId5"/>
              <a:stretch>
                <a:fillRect/>
              </a:stretch>
            </p:blipFill>
            <p:spPr>
              <a:xfrm>
                <a:off x="1543468" y="816471"/>
                <a:ext cx="987213" cy="767832"/>
              </a:xfrm>
              <a:prstGeom prst="rect">
                <a:avLst/>
              </a:prstGeom>
              <a:ln w="12700" cap="flat">
                <a:noFill/>
                <a:miter lim="400000"/>
              </a:ln>
              <a:effectLst/>
            </p:spPr>
          </p:pic>
          <p:sp>
            <p:nvSpPr>
              <p:cNvPr id="75" name="Shape 75"/>
              <p:cNvSpPr/>
              <p:nvPr/>
            </p:nvSpPr>
            <p:spPr>
              <a:xfrm rot="16199993">
                <a:off x="-1127181" y="1299319"/>
                <a:ext cx="2822960" cy="56860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sp>
            <p:nvSpPr>
              <p:cNvPr id="76" name="Shape 76"/>
              <p:cNvSpPr/>
              <p:nvPr/>
            </p:nvSpPr>
            <p:spPr>
              <a:xfrm>
                <a:off x="721637" y="1665613"/>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77" name="Shape 77"/>
              <p:cNvSpPr/>
              <p:nvPr/>
            </p:nvSpPr>
            <p:spPr>
              <a:xfrm>
                <a:off x="1249258" y="59690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78" name="Shape 78"/>
              <p:cNvSpPr/>
              <p:nvPr/>
            </p:nvSpPr>
            <p:spPr>
              <a:xfrm>
                <a:off x="2914879" y="892488"/>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pic>
            <p:nvPicPr>
              <p:cNvPr id="79" name="droppedImage.pdf"/>
              <p:cNvPicPr/>
              <p:nvPr/>
            </p:nvPicPr>
            <p:blipFill>
              <a:blip r:embed="rId13"/>
              <a:stretch>
                <a:fillRect/>
              </a:stretch>
            </p:blipFill>
            <p:spPr>
              <a:xfrm>
                <a:off x="469900" y="0"/>
                <a:ext cx="3721100" cy="3144273"/>
              </a:xfrm>
              <a:prstGeom prst="rect">
                <a:avLst/>
              </a:prstGeom>
              <a:ln w="12700" cap="flat">
                <a:noFill/>
                <a:miter lim="400000"/>
              </a:ln>
              <a:effectLst/>
            </p:spPr>
          </p:pic>
          <p:grpSp>
            <p:nvGrpSpPr>
              <p:cNvPr id="82" name="Group 82"/>
              <p:cNvGrpSpPr/>
              <p:nvPr/>
            </p:nvGrpSpPr>
            <p:grpSpPr>
              <a:xfrm>
                <a:off x="3185886" y="3008086"/>
                <a:ext cx="177801" cy="177801"/>
                <a:chOff x="0" y="0"/>
                <a:chExt cx="177800" cy="177800"/>
              </a:xfrm>
            </p:grpSpPr>
            <p:sp>
              <p:nvSpPr>
                <p:cNvPr id="80" name="Shape 80"/>
                <p:cNvSpPr/>
                <p:nvPr/>
              </p:nvSpPr>
              <p:spPr>
                <a:xfrm>
                  <a:off x="0" y="0"/>
                  <a:ext cx="176241" cy="176241"/>
                </a:xfrm>
                <a:prstGeom prst="line">
                  <a:avLst/>
                </a:prstGeom>
                <a:noFill/>
                <a:ln w="38100" cap="flat">
                  <a:solidFill>
                    <a:srgbClr val="0056D6"/>
                  </a:solidFill>
                  <a:prstDash val="solid"/>
                  <a:miter lim="400000"/>
                </a:ln>
                <a:effectLst/>
              </p:spPr>
              <p:txBody>
                <a:bodyPr wrap="square" lIns="0" tIns="0" rIns="0" bIns="0" numCol="1" anchor="ctr">
                  <a:noAutofit/>
                </a:bodyPr>
                <a:lstStyle/>
                <a:p>
                  <a:pPr lvl="0"/>
                  <a:endParaRPr/>
                </a:p>
              </p:txBody>
            </p:sp>
            <p:sp>
              <p:nvSpPr>
                <p:cNvPr id="81" name="Shape 81"/>
                <p:cNvSpPr/>
                <p:nvPr/>
              </p:nvSpPr>
              <p:spPr>
                <a:xfrm flipH="1">
                  <a:off x="1559" y="1559"/>
                  <a:ext cx="176242" cy="176242"/>
                </a:xfrm>
                <a:prstGeom prst="line">
                  <a:avLst/>
                </a:prstGeom>
                <a:noFill/>
                <a:ln w="38100" cap="flat">
                  <a:solidFill>
                    <a:srgbClr val="0056D6"/>
                  </a:solidFill>
                  <a:prstDash val="solid"/>
                  <a:miter lim="400000"/>
                </a:ln>
                <a:effectLst/>
              </p:spPr>
              <p:txBody>
                <a:bodyPr wrap="square" lIns="0" tIns="0" rIns="0" bIns="0" numCol="1" anchor="ctr">
                  <a:noAutofit/>
                </a:bodyPr>
                <a:lstStyle/>
                <a:p>
                  <a:pPr lvl="0"/>
                  <a:endParaRPr/>
                </a:p>
              </p:txBody>
            </p:sp>
          </p:grpSp>
          <p:pic>
            <p:nvPicPr>
              <p:cNvPr id="83" name="boxer-dog.jpg"/>
              <p:cNvPicPr/>
              <p:nvPr/>
            </p:nvPicPr>
            <p:blipFill>
              <a:blip r:embed="rId6"/>
              <a:stretch>
                <a:fillRect/>
              </a:stretch>
            </p:blipFill>
            <p:spPr>
              <a:xfrm>
                <a:off x="3251954" y="850620"/>
                <a:ext cx="1167807" cy="1014325"/>
              </a:xfrm>
              <a:prstGeom prst="rect">
                <a:avLst/>
              </a:prstGeom>
              <a:ln w="12700" cap="flat">
                <a:noFill/>
                <a:miter lim="400000"/>
              </a:ln>
              <a:effectLst/>
            </p:spPr>
          </p:pic>
        </p:grpSp>
      </p:grpSp>
      <p:grpSp>
        <p:nvGrpSpPr>
          <p:cNvPr id="88" name="Group 88"/>
          <p:cNvGrpSpPr/>
          <p:nvPr/>
        </p:nvGrpSpPr>
        <p:grpSpPr>
          <a:xfrm>
            <a:off x="1357312" y="2321719"/>
            <a:ext cx="4607719" cy="267891"/>
            <a:chOff x="0" y="0"/>
            <a:chExt cx="6553200" cy="381000"/>
          </a:xfrm>
        </p:grpSpPr>
        <p:pic>
          <p:nvPicPr>
            <p:cNvPr id="86" name="droppedImage.pdf"/>
            <p:cNvPicPr/>
            <p:nvPr/>
          </p:nvPicPr>
          <p:blipFill>
            <a:blip r:embed="rId14"/>
            <a:stretch>
              <a:fillRect/>
            </a:stretch>
          </p:blipFill>
          <p:spPr>
            <a:xfrm>
              <a:off x="0" y="38100"/>
              <a:ext cx="2311400" cy="317500"/>
            </a:xfrm>
            <a:prstGeom prst="rect">
              <a:avLst/>
            </a:prstGeom>
            <a:ln w="12700" cap="flat">
              <a:noFill/>
              <a:miter lim="400000"/>
            </a:ln>
            <a:effectLst/>
          </p:spPr>
        </p:pic>
        <p:pic>
          <p:nvPicPr>
            <p:cNvPr id="87" name="droppedImage.pdf"/>
            <p:cNvPicPr/>
            <p:nvPr/>
          </p:nvPicPr>
          <p:blipFill>
            <a:blip r:embed="rId15"/>
            <a:stretch>
              <a:fillRect/>
            </a:stretch>
          </p:blipFill>
          <p:spPr>
            <a:xfrm>
              <a:off x="3213100" y="0"/>
              <a:ext cx="3340100" cy="381000"/>
            </a:xfrm>
            <a:prstGeom prst="rect">
              <a:avLst/>
            </a:prstGeom>
            <a:ln w="12700" cap="flat">
              <a:noFill/>
              <a:miter lim="400000"/>
            </a:ln>
            <a:effectLst/>
          </p:spPr>
        </p:pic>
      </p:grpSp>
      <p:grpSp>
        <p:nvGrpSpPr>
          <p:cNvPr id="91" name="Group 91"/>
          <p:cNvGrpSpPr/>
          <p:nvPr/>
        </p:nvGrpSpPr>
        <p:grpSpPr>
          <a:xfrm>
            <a:off x="543795" y="3358525"/>
            <a:ext cx="8635009" cy="606257"/>
            <a:chOff x="0" y="-11331"/>
            <a:chExt cx="12280900" cy="862231"/>
          </a:xfrm>
        </p:grpSpPr>
        <p:sp>
          <p:nvSpPr>
            <p:cNvPr id="89" name="Shape 89"/>
            <p:cNvSpPr/>
            <p:nvPr/>
          </p:nvSpPr>
          <p:spPr>
            <a:xfrm>
              <a:off x="0" y="-11331"/>
              <a:ext cx="12280900" cy="8608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lnSpc>
                  <a:spcPct val="80000"/>
                </a:lnSpc>
                <a:defRPr sz="1800"/>
              </a:pPr>
              <a:r>
                <a:rPr sz="2000">
                  <a:sym typeface="Gill Sans"/>
                </a:rPr>
                <a:t>Categorize a new animal </a:t>
              </a:r>
            </a:p>
            <a:p>
              <a:pPr defTabSz="410751">
                <a:lnSpc>
                  <a:spcPct val="80000"/>
                </a:lnSpc>
                <a:defRPr sz="1800"/>
              </a:pPr>
              <a:r>
                <a:rPr sz="2000">
                  <a:sym typeface="Gill Sans"/>
                </a:rPr>
                <a:t>given its snout size:</a:t>
              </a:r>
            </a:p>
          </p:txBody>
        </p:sp>
        <p:pic>
          <p:nvPicPr>
            <p:cNvPr id="90" name="droppedImage.pdf"/>
            <p:cNvPicPr/>
            <p:nvPr/>
          </p:nvPicPr>
          <p:blipFill>
            <a:blip r:embed="rId16"/>
            <a:stretch>
              <a:fillRect/>
            </a:stretch>
          </p:blipFill>
          <p:spPr>
            <a:xfrm>
              <a:off x="3747802" y="38100"/>
              <a:ext cx="6121401" cy="812800"/>
            </a:xfrm>
            <a:prstGeom prst="rect">
              <a:avLst/>
            </a:prstGeom>
            <a:ln w="12700" cap="flat">
              <a:noFill/>
              <a:miter lim="400000"/>
            </a:ln>
            <a:effectLst/>
          </p:spPr>
        </p:pic>
      </p:grpSp>
      <p:grpSp>
        <p:nvGrpSpPr>
          <p:cNvPr id="94" name="Group 94"/>
          <p:cNvGrpSpPr/>
          <p:nvPr/>
        </p:nvGrpSpPr>
        <p:grpSpPr>
          <a:xfrm>
            <a:off x="535781" y="2696766"/>
            <a:ext cx="8652867" cy="634008"/>
            <a:chOff x="0" y="0"/>
            <a:chExt cx="12306300" cy="901700"/>
          </a:xfrm>
        </p:grpSpPr>
        <p:sp>
          <p:nvSpPr>
            <p:cNvPr id="92" name="Shape 92"/>
            <p:cNvSpPr/>
            <p:nvPr/>
          </p:nvSpPr>
          <p:spPr>
            <a:xfrm>
              <a:off x="0" y="89183"/>
              <a:ext cx="12306300"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a:t>Prob. of new snout size:</a:t>
              </a:r>
            </a:p>
          </p:txBody>
        </p:sp>
        <p:pic>
          <p:nvPicPr>
            <p:cNvPr id="93" name="droppedImage.pdf"/>
            <p:cNvPicPr/>
            <p:nvPr/>
          </p:nvPicPr>
          <p:blipFill>
            <a:blip r:embed="rId17"/>
            <a:stretch>
              <a:fillRect/>
            </a:stretch>
          </p:blipFill>
          <p:spPr>
            <a:xfrm>
              <a:off x="3759200" y="0"/>
              <a:ext cx="7340600" cy="901700"/>
            </a:xfrm>
            <a:prstGeom prst="rect">
              <a:avLst/>
            </a:prstGeom>
            <a:ln w="12700" cap="flat">
              <a:noFill/>
              <a:miter lim="400000"/>
            </a:ln>
            <a:effectLst/>
          </p:spPr>
        </p:pic>
      </p:grpSp>
      <p:grpSp>
        <p:nvGrpSpPr>
          <p:cNvPr id="97" name="Group 97"/>
          <p:cNvGrpSpPr/>
          <p:nvPr/>
        </p:nvGrpSpPr>
        <p:grpSpPr>
          <a:xfrm>
            <a:off x="3545086" y="2277070"/>
            <a:ext cx="3723680" cy="919758"/>
            <a:chOff x="0" y="0"/>
            <a:chExt cx="5295900" cy="1308100"/>
          </a:xfrm>
        </p:grpSpPr>
        <p:sp>
          <p:nvSpPr>
            <p:cNvPr id="95" name="Shape 95"/>
            <p:cNvSpPr/>
            <p:nvPr/>
          </p:nvSpPr>
          <p:spPr>
            <a:xfrm>
              <a:off x="3683000" y="762000"/>
              <a:ext cx="1612900" cy="546100"/>
            </a:xfrm>
            <a:prstGeom prst="rect">
              <a:avLst/>
            </a:prstGeom>
            <a:noFill/>
            <a:ln w="38100" cap="flat">
              <a:solidFill>
                <a:srgbClr val="0056D6"/>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96" name="Shape 96"/>
            <p:cNvSpPr/>
            <p:nvPr/>
          </p:nvSpPr>
          <p:spPr>
            <a:xfrm>
              <a:off x="0" y="0"/>
              <a:ext cx="3467100" cy="546100"/>
            </a:xfrm>
            <a:prstGeom prst="rect">
              <a:avLst/>
            </a:prstGeom>
            <a:noFill/>
            <a:ln w="38100" cap="flat">
              <a:solidFill>
                <a:srgbClr val="0056D6"/>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grpSp>
      <p:grpSp>
        <p:nvGrpSpPr>
          <p:cNvPr id="100" name="Group 100"/>
          <p:cNvGrpSpPr/>
          <p:nvPr/>
        </p:nvGrpSpPr>
        <p:grpSpPr>
          <a:xfrm>
            <a:off x="1250156" y="2277070"/>
            <a:ext cx="7179469" cy="919758"/>
            <a:chOff x="0" y="0"/>
            <a:chExt cx="10210800" cy="1308100"/>
          </a:xfrm>
        </p:grpSpPr>
        <p:sp>
          <p:nvSpPr>
            <p:cNvPr id="98" name="Shape 98"/>
            <p:cNvSpPr/>
            <p:nvPr/>
          </p:nvSpPr>
          <p:spPr>
            <a:xfrm>
              <a:off x="8597900" y="762000"/>
              <a:ext cx="1612900" cy="546100"/>
            </a:xfrm>
            <a:prstGeom prst="rect">
              <a:avLst/>
            </a:prstGeom>
            <a:noFill/>
            <a:ln w="38100" cap="flat">
              <a:solidFill>
                <a:srgbClr val="BE38F3"/>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99" name="Shape 99"/>
            <p:cNvSpPr/>
            <p:nvPr/>
          </p:nvSpPr>
          <p:spPr>
            <a:xfrm>
              <a:off x="0" y="0"/>
              <a:ext cx="2565400" cy="546100"/>
            </a:xfrm>
            <a:prstGeom prst="rect">
              <a:avLst/>
            </a:prstGeom>
            <a:noFill/>
            <a:ln w="38100" cap="flat">
              <a:solidFill>
                <a:srgbClr val="BE38F3"/>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grpSp>
    </p:spTree>
    <p:extLst>
      <p:ext uri="{BB962C8B-B14F-4D97-AF65-F5344CB8AC3E}">
        <p14:creationId xmlns:p14="http://schemas.microsoft.com/office/powerpoint/2010/main" val="4216831248"/>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9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10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9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91"/>
                                        </p:tgtEl>
                                        <p:attrNameLst>
                                          <p:attrName>style.visibility</p:attrName>
                                        </p:attrNameLst>
                                      </p:cBhvr>
                                      <p:to>
                                        <p:strVal val="visible"/>
                                      </p:to>
                                    </p:set>
                                  </p:childTnLst>
                                </p:cTn>
                              </p:par>
                            </p:childTnLst>
                          </p:cTn>
                        </p:par>
                        <p:par>
                          <p:cTn id="30" fill="hold">
                            <p:stCondLst>
                              <p:cond delay="0"/>
                            </p:stCondLst>
                            <p:childTnLst>
                              <p:par>
                                <p:cTn id="31" presetID="1" presetClass="exit" presetSubtype="0" fill="hold" grpId="1" nodeType="afterEffect">
                                  <p:stCondLst>
                                    <p:cond delay="0"/>
                                  </p:stCondLst>
                                  <p:iterate>
                                    <p:tmAbs val="0"/>
                                  </p:iterate>
                                  <p:childTnLst>
                                    <p:set>
                                      <p:cBhvr>
                                        <p:cTn id="32" fill="hold">
                                          <p:stCondLst>
                                            <p:cond delay="0"/>
                                          </p:stCondLst>
                                        </p:cTn>
                                        <p:tgtEl>
                                          <p:spTgt spid="97"/>
                                        </p:tgtEl>
                                        <p:attrNameLst>
                                          <p:attrName>style.visibility</p:attrName>
                                        </p:attrNameLst>
                                      </p:cBhvr>
                                      <p:to>
                                        <p:strVal val="hidden"/>
                                      </p:to>
                                    </p:set>
                                  </p:childTnLst>
                                </p:cTn>
                              </p:par>
                            </p:childTnLst>
                          </p:cTn>
                        </p:par>
                        <p:par>
                          <p:cTn id="33" fill="hold">
                            <p:stCondLst>
                              <p:cond delay="0"/>
                            </p:stCondLst>
                            <p:childTnLst>
                              <p:par>
                                <p:cTn id="34" presetID="1" presetClass="exit" presetSubtype="0" fill="hold" grpId="1" nodeType="afterEffect">
                                  <p:stCondLst>
                                    <p:cond delay="0"/>
                                  </p:stCondLst>
                                  <p:iterate>
                                    <p:tmAbs val="0"/>
                                  </p:iterate>
                                  <p:childTnLst>
                                    <p:set>
                                      <p:cBhvr>
                                        <p:cTn id="35" fill="hold">
                                          <p:stCondLst>
                                            <p:cond delay="0"/>
                                          </p:stCondLst>
                                        </p:cTn>
                                        <p:tgtEl>
                                          <p:spTgt spid="1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advAuto="0"/>
      <p:bldP spid="69" grpId="0" animBg="1" advAuto="0"/>
      <p:bldP spid="85" grpId="0" animBg="1" advAuto="0"/>
      <p:bldP spid="91" grpId="0" animBg="1" advAuto="0"/>
      <p:bldP spid="94" grpId="0" animBg="1" advAuto="0"/>
      <p:bldP spid="97" grpId="0" animBg="1" advAuto="0"/>
      <p:bldP spid="97" grpId="1" animBg="1" advAuto="0"/>
      <p:bldP spid="100" grpId="0" animBg="1" advAuto="0"/>
      <p:bldP spid="100" grpId="1"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x-none"/>
              <a:t>Latent variable models</a:t>
            </a:r>
          </a:p>
        </p:txBody>
      </p:sp>
      <p:sp>
        <p:nvSpPr>
          <p:cNvPr id="8196" name="Oval 4"/>
          <p:cNvSpPr>
            <a:spLocks noChangeArrowheads="1"/>
          </p:cNvSpPr>
          <p:nvPr/>
        </p:nvSpPr>
        <p:spPr bwMode="auto">
          <a:xfrm>
            <a:off x="754856" y="2115731"/>
            <a:ext cx="866775" cy="9048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7" name="Oval 5"/>
          <p:cNvSpPr>
            <a:spLocks noChangeArrowheads="1"/>
          </p:cNvSpPr>
          <p:nvPr/>
        </p:nvSpPr>
        <p:spPr bwMode="auto">
          <a:xfrm>
            <a:off x="754856" y="4246156"/>
            <a:ext cx="866775" cy="8413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8" name="Text Box 6"/>
          <p:cNvSpPr txBox="1">
            <a:spLocks noChangeArrowheads="1"/>
          </p:cNvSpPr>
          <p:nvPr/>
        </p:nvSpPr>
        <p:spPr bwMode="auto">
          <a:xfrm>
            <a:off x="1885156" y="2115731"/>
            <a:ext cx="11144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4400" i="1">
                <a:latin typeface="Times New Roman" charset="0"/>
              </a:rPr>
              <a:t>P</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199" name="Text Box 7"/>
          <p:cNvSpPr txBox="1">
            <a:spLocks noChangeArrowheads="1"/>
          </p:cNvSpPr>
          <p:nvPr/>
        </p:nvSpPr>
        <p:spPr bwMode="auto">
          <a:xfrm>
            <a:off x="1745456" y="4262031"/>
            <a:ext cx="1474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P</a:t>
            </a:r>
            <a:r>
              <a:rPr lang="en-US" altLang="x-none" sz="4400">
                <a:latin typeface="Times New Roman" charset="0"/>
              </a:rPr>
              <a:t>(</a:t>
            </a:r>
            <a:r>
              <a:rPr lang="en-US" altLang="x-none" sz="4400" i="1">
                <a:latin typeface="Times New Roman" charset="0"/>
              </a:rPr>
              <a:t>x</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200" name="Line 8"/>
          <p:cNvSpPr>
            <a:spLocks noChangeShapeType="1"/>
          </p:cNvSpPr>
          <p:nvPr/>
        </p:nvSpPr>
        <p:spPr bwMode="auto">
          <a:xfrm>
            <a:off x="1170781" y="3020606"/>
            <a:ext cx="3175" cy="12255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1" name="Text Box 9"/>
          <p:cNvSpPr txBox="1">
            <a:spLocks noChangeArrowheads="1"/>
          </p:cNvSpPr>
          <p:nvPr/>
        </p:nvSpPr>
        <p:spPr bwMode="auto">
          <a:xfrm>
            <a:off x="1005681" y="2115731"/>
            <a:ext cx="4016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z</a:t>
            </a:r>
          </a:p>
        </p:txBody>
      </p:sp>
      <p:sp>
        <p:nvSpPr>
          <p:cNvPr id="8202" name="Text Box 10"/>
          <p:cNvSpPr txBox="1">
            <a:spLocks noChangeArrowheads="1"/>
          </p:cNvSpPr>
          <p:nvPr/>
        </p:nvSpPr>
        <p:spPr bwMode="auto">
          <a:xfrm>
            <a:off x="989806" y="4173131"/>
            <a:ext cx="4318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x</a:t>
            </a:r>
          </a:p>
        </p:txBody>
      </p:sp>
      <p:sp>
        <p:nvSpPr>
          <p:cNvPr id="8203" name="Text Box 11"/>
          <p:cNvSpPr txBox="1">
            <a:spLocks noChangeArrowheads="1"/>
          </p:cNvSpPr>
          <p:nvPr/>
        </p:nvSpPr>
        <p:spPr bwMode="auto">
          <a:xfrm>
            <a:off x="3394869" y="2268131"/>
            <a:ext cx="3367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Latent (unobserved)</a:t>
            </a:r>
          </a:p>
        </p:txBody>
      </p:sp>
      <p:sp>
        <p:nvSpPr>
          <p:cNvPr id="8204" name="Text Box 12"/>
          <p:cNvSpPr txBox="1">
            <a:spLocks noChangeArrowheads="1"/>
          </p:cNvSpPr>
          <p:nvPr/>
        </p:nvSpPr>
        <p:spPr bwMode="auto">
          <a:xfrm>
            <a:off x="3332956" y="4477931"/>
            <a:ext cx="17256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Observed</a:t>
            </a:r>
          </a:p>
        </p:txBody>
      </p:sp>
      <p:graphicFrame>
        <p:nvGraphicFramePr>
          <p:cNvPr id="8205" name="Object 13"/>
          <p:cNvGraphicFramePr>
            <a:graphicFrameLocks noChangeAspect="1"/>
          </p:cNvGraphicFramePr>
          <p:nvPr>
            <p:extLst>
              <p:ext uri="{D42A27DB-BD31-4B8C-83A1-F6EECF244321}">
                <p14:modId xmlns:p14="http://schemas.microsoft.com/office/powerpoint/2010/main" val="200080455"/>
              </p:ext>
            </p:extLst>
          </p:nvPr>
        </p:nvGraphicFramePr>
        <p:xfrm>
          <a:off x="3485356" y="3160306"/>
          <a:ext cx="4495800" cy="1165225"/>
        </p:xfrm>
        <a:graphic>
          <a:graphicData uri="http://schemas.openxmlformats.org/presentationml/2006/ole">
            <mc:AlternateContent xmlns:mc="http://schemas.openxmlformats.org/markup-compatibility/2006">
              <mc:Choice xmlns:v="urn:schemas-microsoft-com:vml" Requires="v">
                <p:oleObj name="Equation" r:id="rId3" imgW="1371600" imgH="355600" progId="Equation.3">
                  <p:embed/>
                </p:oleObj>
              </mc:Choice>
              <mc:Fallback>
                <p:oleObj name="Equation" r:id="rId3" imgW="1371600" imgH="355600" progId="Equation.3">
                  <p:embed/>
                  <p:pic>
                    <p:nvPicPr>
                      <p:cNvPr id="820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5356" y="3160306"/>
                        <a:ext cx="449580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206" name="Line 14"/>
          <p:cNvSpPr>
            <a:spLocks noChangeShapeType="1"/>
          </p:cNvSpPr>
          <p:nvPr/>
        </p:nvSpPr>
        <p:spPr bwMode="auto">
          <a:xfrm flipH="1" flipV="1">
            <a:off x="5390356" y="4249331"/>
            <a:ext cx="685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7" name="Text Box 15"/>
          <p:cNvSpPr txBox="1">
            <a:spLocks noChangeArrowheads="1"/>
          </p:cNvSpPr>
          <p:nvPr/>
        </p:nvSpPr>
        <p:spPr bwMode="auto">
          <a:xfrm>
            <a:off x="6042819" y="4173131"/>
            <a:ext cx="2251075" cy="118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a:t>Marginalize out</a:t>
            </a:r>
          </a:p>
          <a:p>
            <a:pPr algn="ctr"/>
            <a:r>
              <a:rPr lang="en-US" altLang="x-none"/>
              <a:t>(i.e. sum over) </a:t>
            </a:r>
          </a:p>
          <a:p>
            <a:pPr algn="ctr"/>
            <a:r>
              <a:rPr lang="en-US" altLang="x-none"/>
              <a:t>latent structure</a:t>
            </a:r>
          </a:p>
        </p:txBody>
      </p:sp>
      <p:sp>
        <p:nvSpPr>
          <p:cNvPr id="2" name="TextBox 1">
            <a:extLst>
              <a:ext uri="{FF2B5EF4-FFF2-40B4-BE49-F238E27FC236}">
                <a16:creationId xmlns:a16="http://schemas.microsoft.com/office/drawing/2014/main" id="{EB6451BF-A406-AC48-B1BD-2E53EE1781DF}"/>
              </a:ext>
            </a:extLst>
          </p:cNvPr>
          <p:cNvSpPr txBox="1"/>
          <p:nvPr/>
        </p:nvSpPr>
        <p:spPr>
          <a:xfrm>
            <a:off x="936588" y="5652353"/>
            <a:ext cx="6717480" cy="1077218"/>
          </a:xfrm>
          <a:prstGeom prst="rect">
            <a:avLst/>
          </a:prstGeom>
          <a:noFill/>
        </p:spPr>
        <p:txBody>
          <a:bodyPr wrap="none" rtlCol="0">
            <a:spAutoFit/>
          </a:bodyPr>
          <a:lstStyle/>
          <a:p>
            <a:r>
              <a:rPr lang="en-US" sz="3200" dirty="0"/>
              <a:t>z is each x’s cluster index </a:t>
            </a:r>
          </a:p>
          <a:p>
            <a:r>
              <a:rPr lang="en-US" sz="3200" b="1" dirty="0"/>
              <a:t>How do we put a prob. on </a:t>
            </a:r>
            <a:r>
              <a:rPr lang="en-US" sz="3200" b="1" dirty="0" err="1"/>
              <a:t>clusterings</a:t>
            </a:r>
            <a:r>
              <a:rPr lang="en-US" sz="3200" b="1" dirty="0"/>
              <a:t>?</a:t>
            </a:r>
          </a:p>
        </p:txBody>
      </p:sp>
    </p:spTree>
    <p:extLst>
      <p:ext uri="{BB962C8B-B14F-4D97-AF65-F5344CB8AC3E}">
        <p14:creationId xmlns:p14="http://schemas.microsoft.com/office/powerpoint/2010/main" val="3257787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6F5B84D-CE16-0741-A33A-FA8E9A3416F5}"/>
                  </a:ext>
                </a:extLst>
              </p:cNvPr>
              <p:cNvSpPr txBox="1"/>
              <p:nvPr/>
            </p:nvSpPr>
            <p:spPr>
              <a:xfrm>
                <a:off x="212651" y="191385"/>
                <a:ext cx="8718698" cy="6647974"/>
              </a:xfrm>
              <a:prstGeom prst="rect">
                <a:avLst/>
              </a:prstGeom>
              <a:noFill/>
            </p:spPr>
            <p:txBody>
              <a:bodyPr wrap="square" rtlCol="0">
                <a:spAutoFit/>
              </a:bodyPr>
              <a:lstStyle/>
              <a:p>
                <a:r>
                  <a:rPr lang="en-US" sz="3200" b="1" dirty="0"/>
                  <a:t>But how do we pick the number of clusters?</a:t>
                </a:r>
              </a:p>
              <a:p>
                <a:r>
                  <a:rPr lang="en-US" sz="3200" dirty="0"/>
                  <a:t>Probability distributions over </a:t>
                </a:r>
                <a:r>
                  <a:rPr lang="en-US" sz="3200" dirty="0" err="1"/>
                  <a:t>clusterings</a:t>
                </a:r>
                <a:r>
                  <a:rPr lang="en-US" sz="3200" dirty="0"/>
                  <a:t>!</a:t>
                </a:r>
              </a:p>
              <a:p>
                <a:endParaRPr lang="en-US" sz="1400" dirty="0"/>
              </a:p>
              <a:p>
                <a:r>
                  <a:rPr lang="en-US" sz="3200" dirty="0"/>
                  <a:t>A </a:t>
                </a:r>
                <a:r>
                  <a:rPr lang="en-US" sz="3200" b="1" dirty="0"/>
                  <a:t>clustering </a:t>
                </a:r>
                <a:r>
                  <a:rPr lang="en-US" sz="3200" dirty="0"/>
                  <a:t>(partition) splits data into </a:t>
                </a:r>
                <a:r>
                  <a:rPr lang="en-US" sz="3200" i="1" dirty="0"/>
                  <a:t>K </a:t>
                </a:r>
                <a:r>
                  <a:rPr lang="en-US" sz="3200" dirty="0"/>
                  <a:t>mutually exclusive blocks.</a:t>
                </a:r>
              </a:p>
              <a:p>
                <a:endParaRPr lang="en-US" sz="1400" dirty="0"/>
              </a:p>
              <a:p>
                <a:r>
                  <a:rPr lang="en-US" sz="3200" dirty="0"/>
                  <a:t>The </a:t>
                </a:r>
                <a:r>
                  <a:rPr lang="en-US" sz="3200" b="1" dirty="0"/>
                  <a:t>Chinese Restaurant Process </a:t>
                </a:r>
                <a:r>
                  <a:rPr lang="en-US" sz="3200" dirty="0"/>
                  <a:t>(</a:t>
                </a:r>
                <a14:m>
                  <m:oMath xmlns:m="http://schemas.openxmlformats.org/officeDocument/2006/math">
                    <m:r>
                      <a:rPr lang="en-US" sz="3200" i="1" smtClean="0">
                        <a:latin typeface="Cambria Math" panose="02040503050406030204" pitchFamily="18" charset="0"/>
                        <a:ea typeface="Cambria Math" panose="02040503050406030204" pitchFamily="18" charset="0"/>
                      </a:rPr>
                      <m:t>𝛼</m:t>
                    </m:r>
                  </m:oMath>
                </a14:m>
                <a:r>
                  <a:rPr lang="en-US" sz="3200" dirty="0"/>
                  <a:t>)</a:t>
                </a:r>
              </a:p>
              <a:p>
                <a:r>
                  <a:rPr lang="en-US" sz="3200" b="1" dirty="0"/>
                  <a:t>	</a:t>
                </a:r>
                <a:r>
                  <a:rPr lang="en-US" sz="3200" dirty="0"/>
                  <a:t>Restaurant with infinite number of infinite 	capacity tables.</a:t>
                </a:r>
              </a:p>
              <a:p>
                <a:endParaRPr lang="en-US" sz="1400" dirty="0"/>
              </a:p>
              <a:p>
                <a:r>
                  <a:rPr lang="en-US" sz="3200" dirty="0"/>
                  <a:t>Generative process via culinary metaphor:</a:t>
                </a:r>
              </a:p>
              <a:p>
                <a:pPr marL="514350" indent="-514350">
                  <a:buFont typeface="+mj-lt"/>
                  <a:buAutoNum type="arabicPeriod"/>
                </a:pPr>
                <a:r>
                  <a:rPr lang="en-US" sz="3200" dirty="0"/>
                  <a:t>First customer starts their own table.</a:t>
                </a:r>
              </a:p>
              <a:p>
                <a:pPr marL="514350" indent="-514350">
                  <a:buFont typeface="+mj-lt"/>
                  <a:buAutoNum type="arabicPeriod"/>
                </a:pPr>
                <a:r>
                  <a:rPr lang="en-US" sz="3200" dirty="0"/>
                  <a:t>Customer </a:t>
                </a:r>
                <a:r>
                  <a:rPr lang="en-US" sz="3200" i="1" dirty="0"/>
                  <a:t>n </a:t>
                </a:r>
                <a:r>
                  <a:rPr lang="en-US" sz="3200" dirty="0"/>
                  <a:t>sits at a table proportional to the number of customer sitting there, or creates a new table with probability (</a:t>
                </a:r>
                <a14:m>
                  <m:oMath xmlns:m="http://schemas.openxmlformats.org/officeDocument/2006/math">
                    <m:r>
                      <a:rPr lang="en-US" sz="3200" i="1">
                        <a:latin typeface="Cambria Math" panose="02040503050406030204" pitchFamily="18" charset="0"/>
                        <a:ea typeface="Cambria Math" panose="02040503050406030204" pitchFamily="18" charset="0"/>
                      </a:rPr>
                      <m:t>𝛼</m:t>
                    </m:r>
                    <m:r>
                      <a:rPr lang="en-US" sz="3200" b="0" i="0" smtClean="0">
                        <a:latin typeface="Cambria Math" panose="02040503050406030204" pitchFamily="18" charset="0"/>
                        <a:ea typeface="Cambria Math" panose="02040503050406030204" pitchFamily="18" charset="0"/>
                      </a:rPr>
                      <m:t> </m:t>
                    </m:r>
                  </m:oMath>
                </a14:m>
                <a:r>
                  <a:rPr lang="en-US" sz="3200" dirty="0"/>
                  <a:t>/ </a:t>
                </a:r>
                <a:r>
                  <a:rPr lang="en-US" sz="3200" dirty="0">
                    <a:ea typeface="Cambria Math" panose="02040503050406030204" pitchFamily="18" charset="0"/>
                  </a:rPr>
                  <a:t>(</a:t>
                </a:r>
                <a14:m>
                  <m:oMath xmlns:m="http://schemas.openxmlformats.org/officeDocument/2006/math">
                    <m:r>
                      <a:rPr lang="en-US" sz="3200" i="1">
                        <a:latin typeface="Cambria Math" panose="02040503050406030204" pitchFamily="18" charset="0"/>
                        <a:ea typeface="Cambria Math" panose="02040503050406030204" pitchFamily="18" charset="0"/>
                      </a:rPr>
                      <m:t>𝛼</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−1))</m:t>
                    </m:r>
                  </m:oMath>
                </a14:m>
                <a:endParaRPr lang="en-US" sz="3200" dirty="0"/>
              </a:p>
            </p:txBody>
          </p:sp>
        </mc:Choice>
        <mc:Fallback xmlns="">
          <p:sp>
            <p:nvSpPr>
              <p:cNvPr id="2" name="TextBox 1">
                <a:extLst>
                  <a:ext uri="{FF2B5EF4-FFF2-40B4-BE49-F238E27FC236}">
                    <a16:creationId xmlns:a16="http://schemas.microsoft.com/office/drawing/2014/main" id="{E6F5B84D-CE16-0741-A33A-FA8E9A3416F5}"/>
                  </a:ext>
                </a:extLst>
              </p:cNvPr>
              <p:cNvSpPr txBox="1">
                <a:spLocks noRot="1" noChangeAspect="1" noMove="1" noResize="1" noEditPoints="1" noAdjustHandles="1" noChangeArrowheads="1" noChangeShapeType="1" noTextEdit="1"/>
              </p:cNvSpPr>
              <p:nvPr/>
            </p:nvSpPr>
            <p:spPr>
              <a:xfrm>
                <a:off x="212651" y="191385"/>
                <a:ext cx="8718698" cy="6647974"/>
              </a:xfrm>
              <a:prstGeom prst="rect">
                <a:avLst/>
              </a:prstGeom>
              <a:blipFill>
                <a:blip r:embed="rId3"/>
                <a:stretch>
                  <a:fillRect l="-1747" t="-952" b="-1905"/>
                </a:stretch>
              </a:blipFill>
            </p:spPr>
            <p:txBody>
              <a:bodyPr/>
              <a:lstStyle/>
              <a:p>
                <a:r>
                  <a:rPr lang="en-US">
                    <a:noFill/>
                  </a:rPr>
                  <a:t> </a:t>
                </a:r>
              </a:p>
            </p:txBody>
          </p:sp>
        </mc:Fallback>
      </mc:AlternateContent>
    </p:spTree>
    <p:extLst>
      <p:ext uri="{BB962C8B-B14F-4D97-AF65-F5344CB8AC3E}">
        <p14:creationId xmlns:p14="http://schemas.microsoft.com/office/powerpoint/2010/main" val="291134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Group 157"/>
          <p:cNvGrpSpPr/>
          <p:nvPr/>
        </p:nvGrpSpPr>
        <p:grpSpPr>
          <a:xfrm>
            <a:off x="214313" y="3964781"/>
            <a:ext cx="8058652" cy="651867"/>
            <a:chOff x="0" y="0"/>
            <a:chExt cx="11461191" cy="927100"/>
          </a:xfrm>
        </p:grpSpPr>
        <p:pic>
          <p:nvPicPr>
            <p:cNvPr id="153" name="droppedImage.pdf"/>
            <p:cNvPicPr/>
            <p:nvPr/>
          </p:nvPicPr>
          <p:blipFill>
            <a:blip r:embed="rId3"/>
            <a:stretch>
              <a:fillRect/>
            </a:stretch>
          </p:blipFill>
          <p:spPr>
            <a:xfrm>
              <a:off x="0" y="0"/>
              <a:ext cx="5283200" cy="927100"/>
            </a:xfrm>
            <a:prstGeom prst="rect">
              <a:avLst/>
            </a:prstGeom>
            <a:ln w="12700" cap="flat">
              <a:noFill/>
              <a:miter lim="400000"/>
            </a:ln>
            <a:effectLst/>
          </p:spPr>
        </p:pic>
        <p:grpSp>
          <p:nvGrpSpPr>
            <p:cNvPr id="156" name="Group 156"/>
            <p:cNvGrpSpPr/>
            <p:nvPr/>
          </p:nvGrpSpPr>
          <p:grpSpPr>
            <a:xfrm>
              <a:off x="5832574" y="210913"/>
              <a:ext cx="5628617" cy="517976"/>
              <a:chOff x="0" y="-30387"/>
              <a:chExt cx="5628616" cy="517976"/>
            </a:xfrm>
          </p:grpSpPr>
          <p:sp>
            <p:nvSpPr>
              <p:cNvPr id="155" name="Shape 155"/>
              <p:cNvSpPr/>
              <p:nvPr/>
            </p:nvSpPr>
            <p:spPr>
              <a:xfrm>
                <a:off x="0" y="-30387"/>
                <a:ext cx="5628616"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where      </a:t>
                </a:r>
                <a:r>
                  <a:rPr lang="en-US" sz="1700" dirty="0"/>
                  <a:t>  </a:t>
                </a:r>
                <a:r>
                  <a:rPr sz="1700" dirty="0"/>
                  <a:t>is the number of “used” </a:t>
                </a:r>
                <a:r>
                  <a:rPr lang="en-US" sz="1700" dirty="0"/>
                  <a:t>clusters</a:t>
                </a:r>
                <a:r>
                  <a:rPr sz="1700" dirty="0"/>
                  <a:t>.</a:t>
                </a:r>
              </a:p>
            </p:txBody>
          </p:sp>
          <p:pic>
            <p:nvPicPr>
              <p:cNvPr id="154" name="droppedImage.pdf"/>
              <p:cNvPicPr/>
              <p:nvPr/>
            </p:nvPicPr>
            <p:blipFill>
              <a:blip r:embed="rId4"/>
              <a:stretch>
                <a:fillRect/>
              </a:stretch>
            </p:blipFill>
            <p:spPr>
              <a:xfrm>
                <a:off x="933253" y="138068"/>
                <a:ext cx="419100" cy="292100"/>
              </a:xfrm>
              <a:prstGeom prst="rect">
                <a:avLst/>
              </a:prstGeom>
              <a:ln w="12700" cap="flat">
                <a:noFill/>
                <a:miter lim="400000"/>
              </a:ln>
              <a:effectLst/>
            </p:spPr>
          </p:pic>
        </p:grpSp>
      </p:grpSp>
      <p:sp>
        <p:nvSpPr>
          <p:cNvPr id="137" name="Shape 137"/>
          <p:cNvSpPr/>
          <p:nvPr/>
        </p:nvSpPr>
        <p:spPr>
          <a:xfrm>
            <a:off x="241102"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8" tIns="26788" rIns="26788" bIns="26788" anchor="ctr"/>
          <a:lstStyle>
            <a:lvl1pPr defTabSz="584200">
              <a:defRPr sz="5400">
                <a:latin typeface="+mn-lt"/>
                <a:ea typeface="+mn-ea"/>
                <a:cs typeface="+mn-cs"/>
                <a:sym typeface="Gill Sans"/>
              </a:defRPr>
            </a:lvl1pPr>
          </a:lstStyle>
          <a:p>
            <a:pPr lvl="0">
              <a:defRPr sz="1800"/>
            </a:pPr>
            <a:r>
              <a:rPr sz="3800"/>
              <a:t>A (in)finite mixture model</a:t>
            </a:r>
          </a:p>
        </p:txBody>
      </p:sp>
      <p:grpSp>
        <p:nvGrpSpPr>
          <p:cNvPr id="141" name="Group 141"/>
          <p:cNvGrpSpPr/>
          <p:nvPr/>
        </p:nvGrpSpPr>
        <p:grpSpPr>
          <a:xfrm>
            <a:off x="179029" y="871603"/>
            <a:ext cx="3967561" cy="364202"/>
            <a:chOff x="0" y="-30387"/>
            <a:chExt cx="5642753" cy="517976"/>
          </a:xfrm>
        </p:grpSpPr>
        <p:sp>
          <p:nvSpPr>
            <p:cNvPr id="138" name="Shape 138"/>
            <p:cNvSpPr/>
            <p:nvPr/>
          </p:nvSpPr>
          <p:spPr>
            <a:xfrm>
              <a:off x="0" y="-30387"/>
              <a:ext cx="5642753"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Suppose there are     objects and     </a:t>
              </a:r>
              <a:r>
                <a:rPr lang="en-US" sz="1700" dirty="0"/>
                <a:t>clusters</a:t>
              </a:r>
              <a:r>
                <a:rPr sz="1700" dirty="0"/>
                <a:t>.</a:t>
              </a:r>
            </a:p>
          </p:txBody>
        </p:sp>
        <p:pic>
          <p:nvPicPr>
            <p:cNvPr id="139" name="droppedImage.pdf"/>
            <p:cNvPicPr/>
            <p:nvPr/>
          </p:nvPicPr>
          <p:blipFill>
            <a:blip r:embed="rId5"/>
            <a:stretch>
              <a:fillRect/>
            </a:stretch>
          </p:blipFill>
          <p:spPr>
            <a:xfrm>
              <a:off x="2410743" y="150768"/>
              <a:ext cx="266701" cy="215900"/>
            </a:xfrm>
            <a:prstGeom prst="rect">
              <a:avLst/>
            </a:prstGeom>
            <a:ln w="12700" cap="flat">
              <a:noFill/>
              <a:miter lim="400000"/>
            </a:ln>
            <a:effectLst/>
          </p:spPr>
        </p:pic>
        <p:pic>
          <p:nvPicPr>
            <p:cNvPr id="140" name="droppedImage.pdf"/>
            <p:cNvPicPr/>
            <p:nvPr/>
          </p:nvPicPr>
          <p:blipFill>
            <a:blip r:embed="rId6"/>
            <a:stretch>
              <a:fillRect/>
            </a:stretch>
          </p:blipFill>
          <p:spPr>
            <a:xfrm>
              <a:off x="4192015" y="150768"/>
              <a:ext cx="279401" cy="215900"/>
            </a:xfrm>
            <a:prstGeom prst="rect">
              <a:avLst/>
            </a:prstGeom>
            <a:ln w="12700" cap="flat">
              <a:noFill/>
              <a:miter lim="400000"/>
            </a:ln>
            <a:effectLst/>
          </p:spPr>
        </p:pic>
      </p:grpSp>
      <p:grpSp>
        <p:nvGrpSpPr>
          <p:cNvPr id="145" name="Group 145"/>
          <p:cNvGrpSpPr/>
          <p:nvPr/>
        </p:nvGrpSpPr>
        <p:grpSpPr>
          <a:xfrm>
            <a:off x="178594" y="2505735"/>
            <a:ext cx="4723805" cy="364202"/>
            <a:chOff x="0" y="-30387"/>
            <a:chExt cx="6718300" cy="517976"/>
          </a:xfrm>
        </p:grpSpPr>
        <p:sp>
          <p:nvSpPr>
            <p:cNvPr id="144" name="Shape 144"/>
            <p:cNvSpPr/>
            <p:nvPr/>
          </p:nvSpPr>
          <p:spPr>
            <a:xfrm>
              <a:off x="0" y="-30387"/>
              <a:ext cx="67183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Let      </a:t>
              </a:r>
              <a:r>
                <a:rPr lang="en-US" sz="1700" dirty="0"/>
                <a:t> </a:t>
              </a:r>
              <a:r>
                <a:rPr sz="1700" dirty="0"/>
                <a:t>be the number of objects in </a:t>
              </a:r>
              <a:r>
                <a:rPr lang="en-US" sz="1700" dirty="0"/>
                <a:t>cluster</a:t>
              </a:r>
              <a:r>
                <a:rPr sz="1700" dirty="0"/>
                <a:t>   .</a:t>
              </a:r>
            </a:p>
          </p:txBody>
        </p:sp>
        <p:pic>
          <p:nvPicPr>
            <p:cNvPr id="142" name="droppedImage.pdf"/>
            <p:cNvPicPr/>
            <p:nvPr/>
          </p:nvPicPr>
          <p:blipFill>
            <a:blip r:embed="rId7"/>
            <a:stretch>
              <a:fillRect/>
            </a:stretch>
          </p:blipFill>
          <p:spPr>
            <a:xfrm>
              <a:off x="5364242" y="138190"/>
              <a:ext cx="152400" cy="228599"/>
            </a:xfrm>
            <a:prstGeom prst="rect">
              <a:avLst/>
            </a:prstGeom>
            <a:ln w="12700" cap="flat">
              <a:noFill/>
              <a:miter lim="400000"/>
            </a:ln>
            <a:effectLst/>
          </p:spPr>
        </p:pic>
        <p:pic>
          <p:nvPicPr>
            <p:cNvPr id="143" name="droppedImage.pdf"/>
            <p:cNvPicPr/>
            <p:nvPr/>
          </p:nvPicPr>
          <p:blipFill>
            <a:blip r:embed="rId8"/>
            <a:stretch>
              <a:fillRect/>
            </a:stretch>
          </p:blipFill>
          <p:spPr>
            <a:xfrm>
              <a:off x="508001" y="189746"/>
              <a:ext cx="381001" cy="203200"/>
            </a:xfrm>
            <a:prstGeom prst="rect">
              <a:avLst/>
            </a:prstGeom>
            <a:ln w="12700" cap="flat">
              <a:noFill/>
              <a:miter lim="400000"/>
            </a:ln>
            <a:effectLst/>
          </p:spPr>
        </p:pic>
      </p:grpSp>
      <p:sp>
        <p:nvSpPr>
          <p:cNvPr id="146" name="Shape 146"/>
          <p:cNvSpPr/>
          <p:nvPr/>
        </p:nvSpPr>
        <p:spPr>
          <a:xfrm>
            <a:off x="1874083" y="6562408"/>
            <a:ext cx="7275918" cy="287575"/>
          </a:xfrm>
          <a:prstGeom prst="rect">
            <a:avLst/>
          </a:prstGeom>
          <a:ln w="12700">
            <a:miter lim="400000"/>
          </a:ln>
          <a:extLst>
            <a:ext uri="{C572A759-6A51-4108-AA02-DFA0A04FC94B}">
              <ma14:wrappingTextBoxFlag xmlns="" xmlns:ma14="http://schemas.microsoft.com/office/mac/drawingml/2011/main" val="1"/>
            </a:ext>
          </a:extLst>
        </p:spPr>
        <p:txBody>
          <a:bodyPr wrap="square" lIns="35717" tIns="35717" rIns="35717" bIns="35717" anchor="ctr">
            <a:spAutoFit/>
          </a:bodyPr>
          <a:lstStyle>
            <a:lvl1pPr defTabSz="584200">
              <a:defRPr sz="2000">
                <a:latin typeface="+mn-lt"/>
                <a:ea typeface="+mn-ea"/>
                <a:cs typeface="+mn-cs"/>
                <a:sym typeface="Gill Sans"/>
              </a:defRPr>
            </a:lvl1pPr>
          </a:lstStyle>
          <a:p>
            <a:pPr lvl="0" algn="r">
              <a:defRPr sz="1800"/>
            </a:pPr>
            <a:r>
              <a:rPr sz="1400" dirty="0"/>
              <a:t>Blackwell &amp; MacQueen (1973),</a:t>
            </a:r>
            <a:r>
              <a:rPr lang="en-US" sz="1400" dirty="0"/>
              <a:t> Aldous (1985),</a:t>
            </a:r>
            <a:r>
              <a:rPr sz="1400" dirty="0"/>
              <a:t> Neal (1992), Griffiths &amp; Ghahramani (2005)</a:t>
            </a:r>
          </a:p>
        </p:txBody>
      </p:sp>
      <p:pic>
        <p:nvPicPr>
          <p:cNvPr id="147" name="droppedImage.png"/>
          <p:cNvPicPr/>
          <p:nvPr/>
        </p:nvPicPr>
        <p:blipFill>
          <a:blip r:embed="rId9"/>
          <a:stretch>
            <a:fillRect/>
          </a:stretch>
        </p:blipFill>
        <p:spPr>
          <a:xfrm>
            <a:off x="5527477" y="714375"/>
            <a:ext cx="3402211" cy="830461"/>
          </a:xfrm>
          <a:prstGeom prst="rect">
            <a:avLst/>
          </a:prstGeom>
          <a:ln w="12700">
            <a:miter lim="400000"/>
          </a:ln>
        </p:spPr>
      </p:pic>
      <p:grpSp>
        <p:nvGrpSpPr>
          <p:cNvPr id="152" name="Group 152"/>
          <p:cNvGrpSpPr/>
          <p:nvPr/>
        </p:nvGrpSpPr>
        <p:grpSpPr>
          <a:xfrm>
            <a:off x="180355" y="1303367"/>
            <a:ext cx="4381202" cy="625812"/>
            <a:chOff x="0" y="-38622"/>
            <a:chExt cx="6231042" cy="890044"/>
          </a:xfrm>
        </p:grpSpPr>
        <p:sp>
          <p:nvSpPr>
            <p:cNvPr id="148" name="Shape 148"/>
            <p:cNvSpPr/>
            <p:nvPr/>
          </p:nvSpPr>
          <p:spPr>
            <a:xfrm>
              <a:off x="0" y="-38622"/>
              <a:ext cx="6231042"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defRPr sz="1800"/>
              </a:pPr>
              <a:r>
                <a:rPr sz="1700" dirty="0">
                  <a:sym typeface="Gill Sans"/>
                </a:rPr>
                <a:t>Let             </a:t>
              </a:r>
              <a:r>
                <a:rPr lang="en-US" sz="1700" dirty="0">
                  <a:sym typeface="Gill Sans"/>
                </a:rPr>
                <a:t>   </a:t>
              </a:r>
              <a:r>
                <a:rPr sz="1700" dirty="0">
                  <a:sym typeface="Gill Sans"/>
                </a:rPr>
                <a:t>denote that object    is in </a:t>
              </a:r>
              <a:r>
                <a:rPr lang="en-US" sz="1700" dirty="0">
                  <a:sym typeface="Gill Sans"/>
                </a:rPr>
                <a:t>cluster</a:t>
              </a:r>
              <a:r>
                <a:rPr sz="1700" dirty="0">
                  <a:sym typeface="Gill Sans"/>
                </a:rPr>
                <a:t>   . </a:t>
              </a:r>
            </a:p>
            <a:p>
              <a:pPr defTabSz="410751">
                <a:defRPr sz="1800"/>
              </a:pPr>
              <a:r>
                <a:rPr sz="1700" dirty="0">
                  <a:sym typeface="Gill Sans"/>
                </a:rPr>
                <a:t>(each object is in one </a:t>
              </a:r>
              <a:r>
                <a:rPr lang="en-US" sz="1700" dirty="0">
                  <a:sym typeface="Gill Sans"/>
                </a:rPr>
                <a:t>cluster</a:t>
              </a:r>
              <a:r>
                <a:rPr sz="1700" dirty="0">
                  <a:sym typeface="Gill Sans"/>
                </a:rPr>
                <a:t>)</a:t>
              </a:r>
            </a:p>
          </p:txBody>
        </p:sp>
        <p:pic>
          <p:nvPicPr>
            <p:cNvPr id="149" name="droppedImage.pdf"/>
            <p:cNvPicPr/>
            <p:nvPr/>
          </p:nvPicPr>
          <p:blipFill>
            <a:blip r:embed="rId10"/>
            <a:stretch>
              <a:fillRect/>
            </a:stretch>
          </p:blipFill>
          <p:spPr>
            <a:xfrm>
              <a:off x="3969204" y="178799"/>
              <a:ext cx="177801" cy="139701"/>
            </a:xfrm>
            <a:prstGeom prst="rect">
              <a:avLst/>
            </a:prstGeom>
            <a:ln w="12700" cap="flat">
              <a:noFill/>
              <a:miter lim="400000"/>
            </a:ln>
            <a:effectLst/>
          </p:spPr>
        </p:pic>
        <p:pic>
          <p:nvPicPr>
            <p:cNvPr id="150" name="droppedImage.pdf"/>
            <p:cNvPicPr/>
            <p:nvPr/>
          </p:nvPicPr>
          <p:blipFill>
            <a:blip r:embed="rId7"/>
            <a:stretch>
              <a:fillRect/>
            </a:stretch>
          </p:blipFill>
          <p:spPr>
            <a:xfrm>
              <a:off x="5629321" y="128000"/>
              <a:ext cx="152401" cy="228600"/>
            </a:xfrm>
            <a:prstGeom prst="rect">
              <a:avLst/>
            </a:prstGeom>
            <a:ln w="12700" cap="flat">
              <a:noFill/>
              <a:miter lim="400000"/>
            </a:ln>
            <a:effectLst/>
          </p:spPr>
        </p:pic>
        <p:pic>
          <p:nvPicPr>
            <p:cNvPr id="151" name="droppedImage.pdf"/>
            <p:cNvPicPr/>
            <p:nvPr/>
          </p:nvPicPr>
          <p:blipFill>
            <a:blip r:embed="rId11"/>
            <a:stretch>
              <a:fillRect/>
            </a:stretch>
          </p:blipFill>
          <p:spPr>
            <a:xfrm>
              <a:off x="530894" y="127000"/>
              <a:ext cx="965201" cy="266700"/>
            </a:xfrm>
            <a:prstGeom prst="rect">
              <a:avLst/>
            </a:prstGeom>
            <a:ln w="12700" cap="flat">
              <a:noFill/>
              <a:miter lim="400000"/>
            </a:ln>
            <a:effectLst/>
          </p:spPr>
        </p:pic>
      </p:grpSp>
      <p:grpSp>
        <p:nvGrpSpPr>
          <p:cNvPr id="160" name="Group 160"/>
          <p:cNvGrpSpPr/>
          <p:nvPr/>
        </p:nvGrpSpPr>
        <p:grpSpPr>
          <a:xfrm>
            <a:off x="0" y="4646400"/>
            <a:ext cx="9150000" cy="1933863"/>
            <a:chOff x="-88900" y="-8487"/>
            <a:chExt cx="13013333" cy="2750383"/>
          </a:xfrm>
        </p:grpSpPr>
        <p:sp>
          <p:nvSpPr>
            <p:cNvPr id="158" name="Shape 158"/>
            <p:cNvSpPr/>
            <p:nvPr/>
          </p:nvSpPr>
          <p:spPr>
            <a:xfrm>
              <a:off x="-88900" y="-8487"/>
              <a:ext cx="13013333" cy="275038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defRPr sz="1800"/>
              </a:pPr>
              <a:r>
                <a:rPr sz="1700" dirty="0">
                  <a:sym typeface="Gill Sans"/>
                </a:rPr>
                <a:t>This probability distribution </a:t>
              </a:r>
              <a:r>
                <a:rPr lang="en-US" sz="1700" dirty="0">
                  <a:sym typeface="Gill Sans"/>
                </a:rPr>
                <a:t>is equivalent to the one given </a:t>
              </a:r>
              <a:r>
                <a:rPr sz="1700" dirty="0">
                  <a:sym typeface="Gill Sans"/>
                </a:rPr>
                <a:t>by the Chinese restaurant process (CRP). </a:t>
              </a:r>
            </a:p>
            <a:p>
              <a:pPr defTabSz="410751">
                <a:defRPr sz="1800"/>
              </a:pPr>
              <a:endParaRPr sz="1700" dirty="0">
                <a:sym typeface="Gill Sans"/>
              </a:endParaRPr>
            </a:p>
            <a:p>
              <a:pPr defTabSz="410751">
                <a:defRPr sz="1800"/>
              </a:pPr>
              <a:r>
                <a:rPr sz="1700" dirty="0">
                  <a:sym typeface="Gill Sans"/>
                </a:rPr>
                <a:t>Customers (objects) arrive at a restaurant with an infinite number of infinitely-sized tables (</a:t>
              </a:r>
              <a:r>
                <a:rPr lang="en-US" sz="1700" dirty="0">
                  <a:sym typeface="Gill Sans"/>
                </a:rPr>
                <a:t>clusters</a:t>
              </a:r>
              <a:r>
                <a:rPr sz="1700" dirty="0">
                  <a:sym typeface="Gill Sans"/>
                </a:rPr>
                <a:t>).</a:t>
              </a:r>
            </a:p>
            <a:p>
              <a:pPr defTabSz="410751">
                <a:defRPr sz="1800"/>
              </a:pPr>
              <a:endParaRPr sz="1700" dirty="0">
                <a:sym typeface="Gill Sans"/>
              </a:endParaRPr>
            </a:p>
            <a:p>
              <a:pPr defTabSz="410751">
                <a:defRPr sz="1800"/>
              </a:pPr>
              <a:r>
                <a:rPr sz="1700" dirty="0">
                  <a:sym typeface="Gill Sans"/>
                </a:rPr>
                <a:t>A customer sits down at an occupied table with probability proportional to the number of occupants.</a:t>
              </a:r>
            </a:p>
            <a:p>
              <a:pPr defTabSz="410751">
                <a:defRPr sz="1800"/>
              </a:pPr>
              <a:endParaRPr sz="1700" dirty="0">
                <a:sym typeface="Gill Sans"/>
              </a:endParaRPr>
            </a:p>
            <a:p>
              <a:pPr defTabSz="410751">
                <a:defRPr sz="1800"/>
              </a:pPr>
              <a:r>
                <a:rPr sz="1700" dirty="0">
                  <a:sym typeface="Gill Sans"/>
                </a:rPr>
                <a:t>A customer starts a new table with probability proportional to</a:t>
              </a:r>
              <a:r>
                <a:rPr lang="en-US" sz="1700" dirty="0">
                  <a:sym typeface="Gill Sans"/>
                </a:rPr>
                <a:t>  </a:t>
              </a:r>
              <a:r>
                <a:rPr sz="1700" dirty="0">
                  <a:sym typeface="Gill Sans"/>
                </a:rPr>
                <a:t>   .</a:t>
              </a:r>
            </a:p>
          </p:txBody>
        </p:sp>
        <p:pic>
          <p:nvPicPr>
            <p:cNvPr id="159" name="droppedImage.pdf"/>
            <p:cNvPicPr/>
            <p:nvPr/>
          </p:nvPicPr>
          <p:blipFill>
            <a:blip r:embed="rId12"/>
            <a:stretch>
              <a:fillRect/>
            </a:stretch>
          </p:blipFill>
          <p:spPr>
            <a:xfrm>
              <a:off x="7826472" y="2466709"/>
              <a:ext cx="190500" cy="139701"/>
            </a:xfrm>
            <a:prstGeom prst="rect">
              <a:avLst/>
            </a:prstGeom>
            <a:ln w="12700" cap="flat">
              <a:noFill/>
              <a:miter lim="400000"/>
            </a:ln>
            <a:effectLst/>
          </p:spPr>
        </p:pic>
      </p:grpSp>
      <p:grpSp>
        <p:nvGrpSpPr>
          <p:cNvPr id="165" name="Group 165"/>
          <p:cNvGrpSpPr/>
          <p:nvPr/>
        </p:nvGrpSpPr>
        <p:grpSpPr>
          <a:xfrm>
            <a:off x="179257" y="2032462"/>
            <a:ext cx="5045274" cy="364202"/>
            <a:chOff x="0" y="-30387"/>
            <a:chExt cx="7175500" cy="517976"/>
          </a:xfrm>
        </p:grpSpPr>
        <p:grpSp>
          <p:nvGrpSpPr>
            <p:cNvPr id="163" name="Group 163"/>
            <p:cNvGrpSpPr/>
            <p:nvPr/>
          </p:nvGrpSpPr>
          <p:grpSpPr>
            <a:xfrm>
              <a:off x="0" y="-30387"/>
              <a:ext cx="7175500" cy="517976"/>
              <a:chOff x="0" y="-30387"/>
              <a:chExt cx="7175500" cy="517976"/>
            </a:xfrm>
          </p:grpSpPr>
          <p:sp>
            <p:nvSpPr>
              <p:cNvPr id="161" name="Shape 161"/>
              <p:cNvSpPr/>
              <p:nvPr/>
            </p:nvSpPr>
            <p:spPr>
              <a:xfrm>
                <a:off x="0" y="-30387"/>
                <a:ext cx="71755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Let      define the probability an object is in </a:t>
                </a:r>
                <a:r>
                  <a:rPr lang="en-US" sz="1700" dirty="0"/>
                  <a:t>cluster</a:t>
                </a:r>
                <a:r>
                  <a:rPr sz="1700" dirty="0"/>
                  <a:t>   .</a:t>
                </a:r>
              </a:p>
            </p:txBody>
          </p:sp>
          <p:pic>
            <p:nvPicPr>
              <p:cNvPr id="162" name="droppedImage.pdf"/>
              <p:cNvPicPr/>
              <p:nvPr/>
            </p:nvPicPr>
            <p:blipFill>
              <a:blip r:embed="rId7"/>
              <a:stretch>
                <a:fillRect/>
              </a:stretch>
            </p:blipFill>
            <p:spPr>
              <a:xfrm>
                <a:off x="6307485" y="138068"/>
                <a:ext cx="152401" cy="228599"/>
              </a:xfrm>
              <a:prstGeom prst="rect">
                <a:avLst/>
              </a:prstGeom>
              <a:ln w="12700" cap="flat">
                <a:noFill/>
                <a:miter lim="400000"/>
              </a:ln>
              <a:effectLst/>
            </p:spPr>
          </p:pic>
        </p:grpSp>
        <p:pic>
          <p:nvPicPr>
            <p:cNvPr id="164" name="droppedImage.pdf"/>
            <p:cNvPicPr/>
            <p:nvPr/>
          </p:nvPicPr>
          <p:blipFill>
            <a:blip r:embed="rId13"/>
            <a:stretch>
              <a:fillRect/>
            </a:stretch>
          </p:blipFill>
          <p:spPr>
            <a:xfrm>
              <a:off x="572193" y="125368"/>
              <a:ext cx="266701" cy="279400"/>
            </a:xfrm>
            <a:prstGeom prst="rect">
              <a:avLst/>
            </a:prstGeom>
            <a:ln w="12700" cap="flat">
              <a:noFill/>
              <a:miter lim="400000"/>
            </a:ln>
            <a:effectLst/>
          </p:spPr>
        </p:pic>
      </p:grpSp>
      <p:pic>
        <p:nvPicPr>
          <p:cNvPr id="166" name="droppedImage.pdf"/>
          <p:cNvPicPr/>
          <p:nvPr/>
        </p:nvPicPr>
        <p:blipFill>
          <a:blip r:embed="rId14"/>
          <a:stretch>
            <a:fillRect/>
          </a:stretch>
        </p:blipFill>
        <p:spPr>
          <a:xfrm>
            <a:off x="214312" y="3116461"/>
            <a:ext cx="6295430" cy="634008"/>
          </a:xfrm>
          <a:prstGeom prst="rect">
            <a:avLst/>
          </a:prstGeom>
          <a:ln w="12700">
            <a:miter lim="400000"/>
          </a:ln>
        </p:spPr>
      </p:pic>
      <p:pic>
        <p:nvPicPr>
          <p:cNvPr id="167" name="droppedImage.pdf"/>
          <p:cNvPicPr/>
          <p:nvPr/>
        </p:nvPicPr>
        <p:blipFill>
          <a:blip r:embed="rId15"/>
          <a:stretch>
            <a:fillRect/>
          </a:stretch>
        </p:blipFill>
        <p:spPr>
          <a:xfrm>
            <a:off x="5527477" y="2009179"/>
            <a:ext cx="3143250" cy="642938"/>
          </a:xfrm>
          <a:prstGeom prst="rect">
            <a:avLst/>
          </a:prstGeom>
          <a:ln w="12700">
            <a:miter lim="400000"/>
          </a:ln>
        </p:spPr>
      </p:pic>
    </p:spTree>
    <p:extLst>
      <p:ext uri="{BB962C8B-B14F-4D97-AF65-F5344CB8AC3E}">
        <p14:creationId xmlns:p14="http://schemas.microsoft.com/office/powerpoint/2010/main" val="882438874"/>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advAuto="0"/>
      <p:bldP spid="160" grpId="0" animBg="1" advAuto="0"/>
      <p:bldP spid="166"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mixDensity.eps"/>
          <p:cNvPicPr>
            <a:picLocks noChangeAspect="1"/>
          </p:cNvPicPr>
          <p:nvPr/>
        </p:nvPicPr>
        <p:blipFill rotWithShape="1">
          <a:blip r:embed="rId3">
            <a:extLst>
              <a:ext uri="{28A0092B-C50C-407E-A947-70E740481C1C}">
                <a14:useLocalDpi xmlns:a14="http://schemas.microsoft.com/office/drawing/2010/main" val="0"/>
              </a:ext>
            </a:extLst>
          </a:blip>
          <a:srcRect l="12247" t="13329" r="12752" b="10256"/>
          <a:stretch/>
        </p:blipFill>
        <p:spPr>
          <a:xfrm>
            <a:off x="2738922" y="4245265"/>
            <a:ext cx="1539274" cy="1178310"/>
          </a:xfrm>
          <a:prstGeom prst="rect">
            <a:avLst/>
          </a:prstGeom>
        </p:spPr>
      </p:pic>
      <p:pic>
        <p:nvPicPr>
          <p:cNvPr id="3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82927"/>
          <a:stretch/>
        </p:blipFill>
        <p:spPr bwMode="auto">
          <a:xfrm>
            <a:off x="2563080" y="3557299"/>
            <a:ext cx="2164333" cy="7272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289" name="Rectangle 1"/>
          <p:cNvSpPr>
            <a:spLocks/>
          </p:cNvSpPr>
          <p:nvPr/>
        </p:nvSpPr>
        <p:spPr bwMode="auto">
          <a:xfrm>
            <a:off x="241102" y="45765"/>
            <a:ext cx="8402836"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26788" tIns="26788" rIns="26788" bIns="26788" anchor="ctr"/>
          <a:lstStyle/>
          <a:p>
            <a:pPr algn="l"/>
            <a:r>
              <a:rPr lang="en-US" sz="3800" dirty="0">
                <a:ea typeface="ＭＳ Ｐゴシック" charset="0"/>
                <a:cs typeface="Gill Sans" charset="0"/>
              </a:rPr>
              <a:t>Connecting the CRP to mixture models</a:t>
            </a:r>
          </a:p>
        </p:txBody>
      </p:sp>
      <p:sp>
        <p:nvSpPr>
          <p:cNvPr id="12290" name="Rectangle 2"/>
          <p:cNvSpPr>
            <a:spLocks/>
          </p:cNvSpPr>
          <p:nvPr/>
        </p:nvSpPr>
        <p:spPr bwMode="auto">
          <a:xfrm>
            <a:off x="116086" y="6090047"/>
            <a:ext cx="9027914" cy="982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When the tables are labeled with parameters drawn </a:t>
            </a:r>
            <a:r>
              <a:rPr lang="en-US" sz="1700" i="1" dirty="0" err="1">
                <a:ea typeface="ＭＳ Ｐゴシック" charset="0"/>
                <a:cs typeface="Gill Sans" charset="0"/>
              </a:rPr>
              <a:t>iid</a:t>
            </a:r>
            <a:r>
              <a:rPr lang="en-US" sz="1700" dirty="0">
                <a:ea typeface="ＭＳ Ｐゴシック" charset="0"/>
                <a:cs typeface="Gill Sans" charset="0"/>
              </a:rPr>
              <a:t> from some distribution, this generates the </a:t>
            </a:r>
            <a:r>
              <a:rPr lang="en-US" sz="1700" dirty="0" err="1">
                <a:ea typeface="ＭＳ Ｐゴシック" charset="0"/>
                <a:cs typeface="Gill Sans" charset="0"/>
              </a:rPr>
              <a:t>Dirichlet</a:t>
            </a:r>
            <a:r>
              <a:rPr lang="en-US" sz="1700" dirty="0">
                <a:ea typeface="ＭＳ Ｐゴシック" charset="0"/>
                <a:cs typeface="Gill Sans" charset="0"/>
              </a:rPr>
              <a:t> process or the </a:t>
            </a:r>
            <a:r>
              <a:rPr lang="en-US" sz="1700" dirty="0" err="1">
                <a:ea typeface="ＭＳ Ｐゴシック" charset="0"/>
                <a:cs typeface="Gill Sans" charset="0"/>
              </a:rPr>
              <a:t>Polya</a:t>
            </a:r>
            <a:r>
              <a:rPr lang="en-US" sz="1700" dirty="0">
                <a:ea typeface="ＭＳ Ｐゴシック" charset="0"/>
                <a:cs typeface="Gill Sans" charset="0"/>
              </a:rPr>
              <a:t> Urn.</a:t>
            </a:r>
          </a:p>
          <a:p>
            <a:endParaRPr lang="en-US" dirty="0">
              <a:solidFill>
                <a:schemeClr val="tx1"/>
              </a:solidFill>
              <a:ea typeface="ＭＳ Ｐゴシック" charset="0"/>
              <a:cs typeface="Gill Sans" charset="0"/>
            </a:endParaRPr>
          </a:p>
        </p:txBody>
      </p:sp>
      <p:pic>
        <p:nvPicPr>
          <p:cNvPr id="1229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48519"/>
          <a:stretch/>
        </p:blipFill>
        <p:spPr bwMode="auto">
          <a:xfrm>
            <a:off x="2651001" y="1062634"/>
            <a:ext cx="2164333" cy="2192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292" name="Rectangle 4"/>
          <p:cNvSpPr>
            <a:spLocks/>
          </p:cNvSpPr>
          <p:nvPr/>
        </p:nvSpPr>
        <p:spPr bwMode="auto">
          <a:xfrm>
            <a:off x="2370832" y="5380137"/>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a:ea typeface="ＭＳ Ｐゴシック" charset="0"/>
                <a:cs typeface="Gill Sans" charset="0"/>
              </a:rPr>
              <a:t>DP Mixture Model</a:t>
            </a:r>
          </a:p>
        </p:txBody>
      </p:sp>
      <p:sp>
        <p:nvSpPr>
          <p:cNvPr id="12293" name="Rectangle 5"/>
          <p:cNvSpPr>
            <a:spLocks/>
          </p:cNvSpPr>
          <p:nvPr/>
        </p:nvSpPr>
        <p:spPr bwMode="auto">
          <a:xfrm>
            <a:off x="396255" y="1308199"/>
            <a:ext cx="1268016" cy="57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a:ea typeface="ＭＳ Ｐゴシック" charset="0"/>
                <a:cs typeface="Gill Sans" charset="0"/>
              </a:rPr>
              <a:t>Prior over parameters</a:t>
            </a:r>
          </a:p>
        </p:txBody>
      </p:sp>
      <p:sp>
        <p:nvSpPr>
          <p:cNvPr id="12294" name="Rectangle 6"/>
          <p:cNvSpPr>
            <a:spLocks/>
          </p:cNvSpPr>
          <p:nvPr/>
        </p:nvSpPr>
        <p:spPr bwMode="auto">
          <a:xfrm>
            <a:off x="392906" y="2536031"/>
            <a:ext cx="1357312"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CRP w/ dishes</a:t>
            </a:r>
          </a:p>
        </p:txBody>
      </p:sp>
      <p:sp>
        <p:nvSpPr>
          <p:cNvPr id="12296" name="Rectangle 8"/>
          <p:cNvSpPr>
            <a:spLocks/>
          </p:cNvSpPr>
          <p:nvPr/>
        </p:nvSpPr>
        <p:spPr bwMode="auto">
          <a:xfrm>
            <a:off x="392906" y="3444188"/>
            <a:ext cx="1756325"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Distribution for datum using drawn dish as parameter.</a:t>
            </a:r>
          </a:p>
        </p:txBody>
      </p:sp>
      <p:sp>
        <p:nvSpPr>
          <p:cNvPr id="12297" name="Rectangle 9"/>
          <p:cNvSpPr>
            <a:spLocks/>
          </p:cNvSpPr>
          <p:nvPr/>
        </p:nvSpPr>
        <p:spPr bwMode="auto">
          <a:xfrm>
            <a:off x="232172" y="1035844"/>
            <a:ext cx="4572000" cy="4679156"/>
          </a:xfrm>
          <a:prstGeom prst="rect">
            <a:avLst/>
          </a:prstGeom>
          <a:noFill/>
          <a:ln w="254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2299" name="Rectangle 11"/>
          <p:cNvSpPr>
            <a:spLocks/>
          </p:cNvSpPr>
          <p:nvPr/>
        </p:nvSpPr>
        <p:spPr bwMode="auto">
          <a:xfrm>
            <a:off x="7983141" y="6572250"/>
            <a:ext cx="1062633" cy="4464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300" dirty="0">
                <a:ea typeface="ＭＳ Ｐゴシック" charset="0"/>
                <a:cs typeface="Gill Sans" charset="0"/>
              </a:rPr>
              <a:t>(Jordan, 2010)</a:t>
            </a:r>
          </a:p>
          <a:p>
            <a:pPr algn="l"/>
            <a:endParaRPr lang="en-US" sz="1300" dirty="0">
              <a:ea typeface="ＭＳ Ｐゴシック" charset="0"/>
              <a:cs typeface="Gill Sans" charset="0"/>
            </a:endParaRPr>
          </a:p>
        </p:txBody>
      </p:sp>
      <p:grpSp>
        <p:nvGrpSpPr>
          <p:cNvPr id="4" name="Group 3"/>
          <p:cNvGrpSpPr/>
          <p:nvPr/>
        </p:nvGrpSpPr>
        <p:grpSpPr>
          <a:xfrm>
            <a:off x="5507944" y="1865189"/>
            <a:ext cx="2190706" cy="1215553"/>
            <a:chOff x="5507944" y="1865189"/>
            <a:chExt cx="2190706" cy="1215553"/>
          </a:xfrm>
        </p:grpSpPr>
        <p:pic>
          <p:nvPicPr>
            <p:cNvPr id="1230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550" y="2205946"/>
              <a:ext cx="289099" cy="26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12301"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5283" y="2394759"/>
              <a:ext cx="500062" cy="3899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02" name="AutoShape 14"/>
            <p:cNvSpPr>
              <a:spLocks/>
            </p:cNvSpPr>
            <p:nvPr/>
          </p:nvSpPr>
          <p:spPr bwMode="auto">
            <a:xfrm rot="16200000">
              <a:off x="5226713" y="2195020"/>
              <a:ext cx="1098243" cy="535781"/>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pic>
          <p:nvPicPr>
            <p:cNvPr id="12303"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5055" y="2398111"/>
              <a:ext cx="543595" cy="4725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04" name="Rectangle 16"/>
            <p:cNvSpPr>
              <a:spLocks/>
            </p:cNvSpPr>
            <p:nvPr/>
          </p:nvSpPr>
          <p:spPr bwMode="auto">
            <a:xfrm>
              <a:off x="6167360" y="2430511"/>
              <a:ext cx="203150" cy="3094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1</a:t>
              </a:r>
            </a:p>
          </p:txBody>
        </p:sp>
        <p:sp>
          <p:nvSpPr>
            <p:cNvPr id="12305" name="Rectangle 17"/>
            <p:cNvSpPr>
              <a:spLocks/>
            </p:cNvSpPr>
            <p:nvPr/>
          </p:nvSpPr>
          <p:spPr bwMode="auto">
            <a:xfrm>
              <a:off x="6331292" y="2104278"/>
              <a:ext cx="251147" cy="2837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2</a:t>
              </a:r>
            </a:p>
          </p:txBody>
        </p:sp>
        <p:sp>
          <p:nvSpPr>
            <p:cNvPr id="12306" name="Rectangle 18"/>
            <p:cNvSpPr>
              <a:spLocks/>
            </p:cNvSpPr>
            <p:nvPr/>
          </p:nvSpPr>
          <p:spPr bwMode="auto">
            <a:xfrm>
              <a:off x="7002135" y="2077464"/>
              <a:ext cx="232172" cy="303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pic>
          <p:nvPicPr>
            <p:cNvPr id="12307"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4740" y="1865189"/>
              <a:ext cx="1458887" cy="12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grpSp>
        <p:nvGrpSpPr>
          <p:cNvPr id="6" name="Group 5"/>
          <p:cNvGrpSpPr/>
          <p:nvPr/>
        </p:nvGrpSpPr>
        <p:grpSpPr>
          <a:xfrm>
            <a:off x="5500688" y="3138200"/>
            <a:ext cx="2010019" cy="1544836"/>
            <a:chOff x="5500688" y="3138200"/>
            <a:chExt cx="2010019" cy="1544836"/>
          </a:xfrm>
        </p:grpSpPr>
        <p:pic>
          <p:nvPicPr>
            <p:cNvPr id="12309"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55168" y="3138200"/>
              <a:ext cx="1455539" cy="12289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10" name="Rectangle 22"/>
            <p:cNvSpPr>
              <a:spLocks/>
            </p:cNvSpPr>
            <p:nvPr/>
          </p:nvSpPr>
          <p:spPr bwMode="auto">
            <a:xfrm>
              <a:off x="6198043" y="4370497"/>
              <a:ext cx="1080492"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Snout Size</a:t>
              </a:r>
            </a:p>
          </p:txBody>
        </p:sp>
        <p:sp>
          <p:nvSpPr>
            <p:cNvPr id="12311" name="Rectangle 23"/>
            <p:cNvSpPr>
              <a:spLocks/>
            </p:cNvSpPr>
            <p:nvPr/>
          </p:nvSpPr>
          <p:spPr bwMode="auto">
            <a:xfrm>
              <a:off x="7027128" y="3394946"/>
              <a:ext cx="223242" cy="285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sp>
          <p:nvSpPr>
            <p:cNvPr id="12312" name="Rectangle 24"/>
            <p:cNvSpPr>
              <a:spLocks/>
            </p:cNvSpPr>
            <p:nvPr/>
          </p:nvSpPr>
          <p:spPr bwMode="auto">
            <a:xfrm>
              <a:off x="6366180" y="3307864"/>
              <a:ext cx="276820"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2</a:t>
              </a:r>
            </a:p>
          </p:txBody>
        </p:sp>
        <p:grpSp>
          <p:nvGrpSpPr>
            <p:cNvPr id="12321" name="Group 33"/>
            <p:cNvGrpSpPr>
              <a:grpSpLocks/>
            </p:cNvGrpSpPr>
            <p:nvPr/>
          </p:nvGrpSpPr>
          <p:grpSpPr bwMode="auto">
            <a:xfrm>
              <a:off x="5500688" y="3254871"/>
              <a:ext cx="873994" cy="1034727"/>
              <a:chOff x="0" y="116"/>
              <a:chExt cx="783" cy="927"/>
            </a:xfrm>
          </p:grpSpPr>
          <p:sp>
            <p:nvSpPr>
              <p:cNvPr id="12316" name="AutoShape 28"/>
              <p:cNvSpPr>
                <a:spLocks/>
              </p:cNvSpPr>
              <p:nvPr/>
            </p:nvSpPr>
            <p:spPr bwMode="auto">
              <a:xfrm rot="-5400000">
                <a:off x="-220" y="336"/>
                <a:ext cx="927" cy="488"/>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sp>
            <p:nvSpPr>
              <p:cNvPr id="12317" name="Rectangle 29"/>
              <p:cNvSpPr>
                <a:spLocks/>
              </p:cNvSpPr>
              <p:nvPr/>
            </p:nvSpPr>
            <p:spPr bwMode="auto">
              <a:xfrm>
                <a:off x="583" y="477"/>
                <a:ext cx="200" cy="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1</a:t>
                </a:r>
              </a:p>
            </p:txBody>
          </p:sp>
        </p:grpSp>
        <p:sp>
          <p:nvSpPr>
            <p:cNvPr id="12322" name="Rectangle 34"/>
            <p:cNvSpPr>
              <a:spLocks/>
            </p:cNvSpPr>
            <p:nvPr/>
          </p:nvSpPr>
          <p:spPr bwMode="auto">
            <a:xfrm>
              <a:off x="6983016" y="3437930"/>
              <a:ext cx="160734" cy="901898"/>
            </a:xfrm>
            <a:prstGeom prst="rect">
              <a:avLst/>
            </a:prstGeom>
            <a:noFill/>
            <a:ln w="25400" cap="flat">
              <a:solidFill>
                <a:srgbClr val="D90B00"/>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2323" name="Rectangle 35"/>
          <p:cNvSpPr>
            <a:spLocks/>
          </p:cNvSpPr>
          <p:nvPr/>
        </p:nvSpPr>
        <p:spPr bwMode="auto">
          <a:xfrm>
            <a:off x="5468318" y="1387241"/>
            <a:ext cx="2314317"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1700">
                <a:ea typeface="ＭＳ Ｐゴシック" charset="0"/>
                <a:cs typeface="Gill Sans" charset="0"/>
              </a:rPr>
              <a:t>Gaussian prior on params.</a:t>
            </a:r>
          </a:p>
        </p:txBody>
      </p:sp>
      <p:sp>
        <p:nvSpPr>
          <p:cNvPr id="12324" name="Rectangle 36"/>
          <p:cNvSpPr>
            <a:spLocks/>
          </p:cNvSpPr>
          <p:nvPr/>
        </p:nvSpPr>
        <p:spPr bwMode="auto">
          <a:xfrm>
            <a:off x="294680" y="1071562"/>
            <a:ext cx="4491633" cy="3357563"/>
          </a:xfrm>
          <a:prstGeom prst="rect">
            <a:avLst/>
          </a:prstGeom>
          <a:noFill/>
          <a:ln w="25400" cap="flat">
            <a:solidFill>
              <a:srgbClr val="B200CB"/>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2325" name="Rectangle 37"/>
          <p:cNvSpPr>
            <a:spLocks/>
          </p:cNvSpPr>
          <p:nvPr/>
        </p:nvSpPr>
        <p:spPr bwMode="auto">
          <a:xfrm>
            <a:off x="2375297" y="4134445"/>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a:solidFill>
                  <a:srgbClr val="B200CB"/>
                </a:solidFill>
                <a:ea typeface="ＭＳ Ｐゴシック" charset="0"/>
                <a:cs typeface="Gill Sans" charset="0"/>
              </a:rPr>
              <a:t>DP</a:t>
            </a:r>
          </a:p>
        </p:txBody>
      </p:sp>
      <p:cxnSp>
        <p:nvCxnSpPr>
          <p:cNvPr id="3" name="Straight Connector 2"/>
          <p:cNvCxnSpPr/>
          <p:nvPr/>
        </p:nvCxnSpPr>
        <p:spPr>
          <a:xfrm flipV="1">
            <a:off x="3624385" y="3477006"/>
            <a:ext cx="0" cy="696515"/>
          </a:xfrm>
          <a:prstGeom prst="line">
            <a:avLst/>
          </a:prstGeom>
        </p:spPr>
        <p:style>
          <a:lnRef idx="1">
            <a:schemeClr val="dk1"/>
          </a:lnRef>
          <a:fillRef idx="0">
            <a:schemeClr val="dk1"/>
          </a:fillRef>
          <a:effectRef idx="0">
            <a:schemeClr val="dk1"/>
          </a:effectRef>
          <a:fontRef idx="minor">
            <a:schemeClr val="tx1"/>
          </a:fontRef>
        </p:style>
      </p:cxnSp>
      <p:sp>
        <p:nvSpPr>
          <p:cNvPr id="43" name="Rectangle 8"/>
          <p:cNvSpPr>
            <a:spLocks/>
          </p:cNvSpPr>
          <p:nvPr/>
        </p:nvSpPr>
        <p:spPr bwMode="auto">
          <a:xfrm>
            <a:off x="392906" y="4602044"/>
            <a:ext cx="1560940"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Mixture distribution with two components.</a:t>
            </a:r>
          </a:p>
        </p:txBody>
      </p:sp>
    </p:spTree>
    <p:extLst>
      <p:ext uri="{BB962C8B-B14F-4D97-AF65-F5344CB8AC3E}">
        <p14:creationId xmlns:p14="http://schemas.microsoft.com/office/powerpoint/2010/main" val="315940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Group 105"/>
          <p:cNvGrpSpPr/>
          <p:nvPr/>
        </p:nvGrpSpPr>
        <p:grpSpPr>
          <a:xfrm>
            <a:off x="517955" y="1164443"/>
            <a:ext cx="2964659" cy="2471285"/>
            <a:chOff x="1" y="0"/>
            <a:chExt cx="4216403" cy="3514714"/>
          </a:xfrm>
        </p:grpSpPr>
        <p:pic>
          <p:nvPicPr>
            <p:cNvPr id="102" name="droppedImage.pdf"/>
            <p:cNvPicPr/>
            <p:nvPr/>
          </p:nvPicPr>
          <p:blipFill>
            <a:blip r:embed="rId2"/>
            <a:stretch>
              <a:fillRect/>
            </a:stretch>
          </p:blipFill>
          <p:spPr>
            <a:xfrm>
              <a:off x="497047" y="0"/>
              <a:ext cx="3719357" cy="3142799"/>
            </a:xfrm>
            <a:prstGeom prst="rect">
              <a:avLst/>
            </a:prstGeom>
            <a:ln w="12700" cap="flat">
              <a:noFill/>
              <a:miter lim="400000"/>
            </a:ln>
            <a:effectLst/>
          </p:spPr>
        </p:pic>
        <p:sp>
          <p:nvSpPr>
            <p:cNvPr id="103" name="Shape 103"/>
            <p:cNvSpPr/>
            <p:nvPr/>
          </p:nvSpPr>
          <p:spPr>
            <a:xfrm>
              <a:off x="1326950" y="3125101"/>
              <a:ext cx="1571582" cy="38961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04" name="Shape 104"/>
            <p:cNvSpPr/>
            <p:nvPr/>
          </p:nvSpPr>
          <p:spPr>
            <a:xfrm rot="16199993">
              <a:off x="-1104577" y="1294722"/>
              <a:ext cx="2706204" cy="49704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grpSp>
      <p:sp>
        <p:nvSpPr>
          <p:cNvPr id="106" name="Shape 106"/>
          <p:cNvSpPr/>
          <p:nvPr/>
        </p:nvSpPr>
        <p:spPr>
          <a:xfrm>
            <a:off x="1391215" y="836960"/>
            <a:ext cx="1214897"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latin typeface="+mn-lt"/>
                <a:ea typeface="+mn-ea"/>
                <a:cs typeface="+mn-cs"/>
                <a:sym typeface="Gill Sans"/>
              </a:defRPr>
            </a:lvl1pPr>
          </a:lstStyle>
          <a:p>
            <a:pPr lvl="0">
              <a:defRPr sz="1800"/>
            </a:pPr>
            <a:r>
              <a:rPr sz="2000"/>
              <a:t>Parametric</a:t>
            </a:r>
          </a:p>
        </p:txBody>
      </p:sp>
      <p:sp>
        <p:nvSpPr>
          <p:cNvPr id="107" name="Shape 107"/>
          <p:cNvSpPr/>
          <p:nvPr/>
        </p:nvSpPr>
        <p:spPr>
          <a:xfrm>
            <a:off x="62508"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8" tIns="26788" rIns="26788" bIns="26788" anchor="ctr"/>
          <a:lstStyle>
            <a:lvl1pPr algn="ctr" defTabSz="584200">
              <a:defRPr sz="5400">
                <a:latin typeface="+mn-lt"/>
                <a:ea typeface="+mn-ea"/>
                <a:cs typeface="+mn-cs"/>
                <a:sym typeface="Gill Sans"/>
              </a:defRPr>
            </a:lvl1pPr>
          </a:lstStyle>
          <a:p>
            <a:pPr lvl="0">
              <a:defRPr sz="1800"/>
            </a:pPr>
            <a:r>
              <a:rPr sz="3800"/>
              <a:t>Categorization as Mixture Modeling</a:t>
            </a:r>
          </a:p>
        </p:txBody>
      </p:sp>
      <p:grpSp>
        <p:nvGrpSpPr>
          <p:cNvPr id="112" name="Group 112"/>
          <p:cNvGrpSpPr/>
          <p:nvPr/>
        </p:nvGrpSpPr>
        <p:grpSpPr>
          <a:xfrm>
            <a:off x="989608" y="3821540"/>
            <a:ext cx="2394745" cy="2929671"/>
            <a:chOff x="0" y="-38622"/>
            <a:chExt cx="3405858" cy="4166644"/>
          </a:xfrm>
        </p:grpSpPr>
        <p:sp>
          <p:nvSpPr>
            <p:cNvPr id="108" name="Shape 108"/>
            <p:cNvSpPr/>
            <p:nvPr/>
          </p:nvSpPr>
          <p:spPr>
            <a:xfrm>
              <a:off x="0" y="-38622"/>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Restricted family of distributions</a:t>
              </a:r>
            </a:p>
          </p:txBody>
        </p:sp>
        <p:sp>
          <p:nvSpPr>
            <p:cNvPr id="109" name="Shape 109"/>
            <p:cNvSpPr/>
            <p:nvPr/>
          </p:nvSpPr>
          <p:spPr>
            <a:xfrm>
              <a:off x="2257" y="10535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Finite Gaussian mixture models (prototypes)</a:t>
              </a:r>
            </a:p>
          </p:txBody>
        </p:sp>
        <p:sp>
          <p:nvSpPr>
            <p:cNvPr id="110" name="Shape 110"/>
            <p:cNvSpPr/>
            <p:nvPr/>
          </p:nvSpPr>
          <p:spPr>
            <a:xfrm>
              <a:off x="2257" y="21457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Efficient learning; </a:t>
              </a:r>
            </a:p>
            <a:p>
              <a:pPr algn="ctr" defTabSz="410751">
                <a:defRPr sz="1800"/>
              </a:pPr>
              <a:r>
                <a:rPr sz="1700">
                  <a:sym typeface="Gill Sans"/>
                </a:rPr>
                <a:t>More robust to noise</a:t>
              </a:r>
            </a:p>
          </p:txBody>
        </p:sp>
        <p:sp>
          <p:nvSpPr>
            <p:cNvPr id="111" name="Shape 111"/>
            <p:cNvSpPr/>
            <p:nvPr/>
          </p:nvSpPr>
          <p:spPr>
            <a:xfrm>
              <a:off x="129257" y="32379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Cannot represent every distribution.</a:t>
              </a:r>
            </a:p>
          </p:txBody>
        </p:sp>
      </p:grpSp>
      <p:grpSp>
        <p:nvGrpSpPr>
          <p:cNvPr id="120" name="Group 120"/>
          <p:cNvGrpSpPr/>
          <p:nvPr/>
        </p:nvGrpSpPr>
        <p:grpSpPr>
          <a:xfrm>
            <a:off x="3661172" y="821730"/>
            <a:ext cx="2616400" cy="5929481"/>
            <a:chOff x="0" y="-37818"/>
            <a:chExt cx="3721101" cy="8433040"/>
          </a:xfrm>
        </p:grpSpPr>
        <p:sp>
          <p:nvSpPr>
            <p:cNvPr id="113" name="Shape 113"/>
            <p:cNvSpPr/>
            <p:nvPr/>
          </p:nvSpPr>
          <p:spPr>
            <a:xfrm>
              <a:off x="809915" y="3568700"/>
              <a:ext cx="1908597" cy="39561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14" name="Shape 114"/>
            <p:cNvSpPr/>
            <p:nvPr/>
          </p:nvSpPr>
          <p:spPr>
            <a:xfrm>
              <a:off x="467245" y="-37818"/>
              <a:ext cx="2393853"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lgn="ctr" defTabSz="584200">
                <a:defRPr sz="2800">
                  <a:latin typeface="+mn-lt"/>
                  <a:ea typeface="+mn-ea"/>
                  <a:cs typeface="+mn-cs"/>
                  <a:sym typeface="Gill Sans"/>
                </a:defRPr>
              </a:lvl1pPr>
            </a:lstStyle>
            <a:p>
              <a:pPr lvl="0">
                <a:defRPr sz="1800"/>
              </a:pPr>
              <a:r>
                <a:rPr sz="2000"/>
                <a:t>Nonparametric</a:t>
              </a:r>
            </a:p>
          </p:txBody>
        </p:sp>
        <p:pic>
          <p:nvPicPr>
            <p:cNvPr id="115" name="droppedImage.pdf"/>
            <p:cNvPicPr/>
            <p:nvPr/>
          </p:nvPicPr>
          <p:blipFill>
            <a:blip r:embed="rId3"/>
            <a:stretch>
              <a:fillRect/>
            </a:stretch>
          </p:blipFill>
          <p:spPr>
            <a:xfrm>
              <a:off x="0" y="622300"/>
              <a:ext cx="3721101" cy="2964086"/>
            </a:xfrm>
            <a:prstGeom prst="rect">
              <a:avLst/>
            </a:prstGeom>
            <a:ln w="12700" cap="flat">
              <a:noFill/>
              <a:miter lim="400000"/>
            </a:ln>
            <a:effectLst/>
          </p:spPr>
        </p:pic>
        <p:sp>
          <p:nvSpPr>
            <p:cNvPr id="116" name="Shape 116"/>
            <p:cNvSpPr/>
            <p:nvPr/>
          </p:nvSpPr>
          <p:spPr>
            <a:xfrm>
              <a:off x="139701" y="4228579"/>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Can express </a:t>
              </a:r>
              <a:r>
                <a:rPr sz="1700" i="1">
                  <a:sym typeface="Gill Sans"/>
                </a:rPr>
                <a:t>any</a:t>
              </a:r>
              <a:r>
                <a:rPr sz="1700">
                  <a:sym typeface="Gill Sans"/>
                </a:rPr>
                <a:t> distribution</a:t>
              </a:r>
            </a:p>
          </p:txBody>
        </p:sp>
        <p:sp>
          <p:nvSpPr>
            <p:cNvPr id="117" name="Shape 117"/>
            <p:cNvSpPr/>
            <p:nvPr/>
          </p:nvSpPr>
          <p:spPr>
            <a:xfrm>
              <a:off x="139701" y="53207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Kernel methods (exemplar models)</a:t>
              </a:r>
            </a:p>
          </p:txBody>
        </p:sp>
        <p:sp>
          <p:nvSpPr>
            <p:cNvPr id="118" name="Shape 118"/>
            <p:cNvSpPr/>
            <p:nvPr/>
          </p:nvSpPr>
          <p:spPr>
            <a:xfrm>
              <a:off x="139701" y="64129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Can learn any distribution.</a:t>
              </a:r>
            </a:p>
          </p:txBody>
        </p:sp>
        <p:sp>
          <p:nvSpPr>
            <p:cNvPr id="119" name="Shape 119"/>
            <p:cNvSpPr/>
            <p:nvPr/>
          </p:nvSpPr>
          <p:spPr>
            <a:xfrm>
              <a:off x="266699" y="75051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Inefficient learning; </a:t>
              </a:r>
            </a:p>
            <a:p>
              <a:pPr algn="ctr" defTabSz="410751">
                <a:defRPr sz="1800"/>
              </a:pPr>
              <a:r>
                <a:rPr sz="1700">
                  <a:sym typeface="Gill Sans"/>
                </a:rPr>
                <a:t>Prone to overfitting</a:t>
              </a:r>
            </a:p>
          </p:txBody>
        </p:sp>
      </p:grpSp>
      <p:sp>
        <p:nvSpPr>
          <p:cNvPr id="121" name="Shape 121"/>
          <p:cNvSpPr/>
          <p:nvPr/>
        </p:nvSpPr>
        <p:spPr>
          <a:xfrm>
            <a:off x="17859" y="3840088"/>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Definition:</a:t>
            </a:r>
          </a:p>
        </p:txBody>
      </p:sp>
      <p:sp>
        <p:nvSpPr>
          <p:cNvPr id="122" name="Shape 122"/>
          <p:cNvSpPr/>
          <p:nvPr/>
        </p:nvSpPr>
        <p:spPr>
          <a:xfrm>
            <a:off x="17859" y="4603577"/>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Examples:</a:t>
            </a:r>
          </a:p>
        </p:txBody>
      </p:sp>
      <p:sp>
        <p:nvSpPr>
          <p:cNvPr id="123" name="Shape 123"/>
          <p:cNvSpPr/>
          <p:nvPr/>
        </p:nvSpPr>
        <p:spPr>
          <a:xfrm>
            <a:off x="17859" y="5380459"/>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Pros:</a:t>
            </a:r>
          </a:p>
        </p:txBody>
      </p:sp>
      <p:sp>
        <p:nvSpPr>
          <p:cNvPr id="124" name="Shape 124"/>
          <p:cNvSpPr/>
          <p:nvPr/>
        </p:nvSpPr>
        <p:spPr>
          <a:xfrm>
            <a:off x="17859" y="6139483"/>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Cons:</a:t>
            </a:r>
          </a:p>
        </p:txBody>
      </p:sp>
      <p:grpSp>
        <p:nvGrpSpPr>
          <p:cNvPr id="132" name="Group 132"/>
          <p:cNvGrpSpPr/>
          <p:nvPr/>
        </p:nvGrpSpPr>
        <p:grpSpPr>
          <a:xfrm>
            <a:off x="6289979" y="821730"/>
            <a:ext cx="2818306" cy="5807606"/>
            <a:chOff x="-81744" y="-37818"/>
            <a:chExt cx="4008255" cy="8259706"/>
          </a:xfrm>
        </p:grpSpPr>
        <p:sp>
          <p:nvSpPr>
            <p:cNvPr id="125" name="Shape 125"/>
            <p:cNvSpPr/>
            <p:nvPr/>
          </p:nvSpPr>
          <p:spPr>
            <a:xfrm>
              <a:off x="1012049" y="3568700"/>
              <a:ext cx="1771119" cy="39561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26" name="Shape 126"/>
            <p:cNvSpPr/>
            <p:nvPr/>
          </p:nvSpPr>
          <p:spPr>
            <a:xfrm>
              <a:off x="-81744" y="-37818"/>
              <a:ext cx="3788819"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lgn="ctr" defTabSz="584200">
                <a:defRPr sz="2800">
                  <a:latin typeface="+mn-lt"/>
                  <a:ea typeface="+mn-ea"/>
                  <a:cs typeface="+mn-cs"/>
                  <a:sym typeface="Gill Sans"/>
                </a:defRPr>
              </a:lvl1pPr>
            </a:lstStyle>
            <a:p>
              <a:pPr lvl="0">
                <a:defRPr sz="1800"/>
              </a:pPr>
              <a:r>
                <a:rPr sz="2000"/>
                <a:t>Bayesian Nonparametric</a:t>
              </a:r>
            </a:p>
          </p:txBody>
        </p:sp>
        <p:sp>
          <p:nvSpPr>
            <p:cNvPr id="127" name="Shape 127"/>
            <p:cNvSpPr/>
            <p:nvPr/>
          </p:nvSpPr>
          <p:spPr>
            <a:xfrm>
              <a:off x="383207" y="4234929"/>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Structure grows with data.</a:t>
              </a:r>
            </a:p>
          </p:txBody>
        </p:sp>
        <p:sp>
          <p:nvSpPr>
            <p:cNvPr id="128" name="Shape 128"/>
            <p:cNvSpPr/>
            <p:nvPr/>
          </p:nvSpPr>
          <p:spPr>
            <a:xfrm>
              <a:off x="510207" y="5320778"/>
              <a:ext cx="34163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dirty="0"/>
                <a:t>Dirichlet process (rational categorization model)</a:t>
              </a:r>
            </a:p>
          </p:txBody>
        </p:sp>
        <p:sp>
          <p:nvSpPr>
            <p:cNvPr id="129" name="Shape 129"/>
            <p:cNvSpPr/>
            <p:nvPr/>
          </p:nvSpPr>
          <p:spPr>
            <a:xfrm>
              <a:off x="510207" y="6226945"/>
              <a:ext cx="3276600" cy="1262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dirty="0">
                  <a:sym typeface="Gill Sans"/>
                </a:rPr>
                <a:t>Can learn any distribution. </a:t>
              </a:r>
            </a:p>
            <a:p>
              <a:pPr algn="ctr" defTabSz="410751">
                <a:defRPr sz="1800"/>
              </a:pPr>
              <a:r>
                <a:rPr sz="1700" dirty="0">
                  <a:sym typeface="Gill Sans"/>
                </a:rPr>
                <a:t>Less prone to overfitting.</a:t>
              </a:r>
            </a:p>
          </p:txBody>
        </p:sp>
        <p:sp>
          <p:nvSpPr>
            <p:cNvPr id="130" name="Shape 130"/>
            <p:cNvSpPr/>
            <p:nvPr/>
          </p:nvSpPr>
          <p:spPr>
            <a:xfrm>
              <a:off x="510207" y="7703912"/>
              <a:ext cx="32766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dirty="0"/>
                <a:t>Inference is hard.</a:t>
              </a:r>
            </a:p>
          </p:txBody>
        </p:sp>
        <p:pic>
          <p:nvPicPr>
            <p:cNvPr id="131" name="droppedImage.pdf"/>
            <p:cNvPicPr/>
            <p:nvPr/>
          </p:nvPicPr>
          <p:blipFill>
            <a:blip r:embed="rId2"/>
            <a:stretch>
              <a:fillRect/>
            </a:stretch>
          </p:blipFill>
          <p:spPr>
            <a:xfrm>
              <a:off x="207155" y="444500"/>
              <a:ext cx="3719356" cy="3142799"/>
            </a:xfrm>
            <a:prstGeom prst="rect">
              <a:avLst/>
            </a:prstGeom>
            <a:ln w="12700" cap="flat">
              <a:noFill/>
              <a:miter lim="400000"/>
            </a:ln>
            <a:effectLst/>
          </p:spPr>
        </p:pic>
      </p:grpSp>
    </p:spTree>
    <p:extLst>
      <p:ext uri="{BB962C8B-B14F-4D97-AF65-F5344CB8AC3E}">
        <p14:creationId xmlns:p14="http://schemas.microsoft.com/office/powerpoint/2010/main" val="1959641992"/>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advAuto="0"/>
      <p:bldP spid="132" grpId="0"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p:nvPr/>
        </p:nvSpPr>
        <p:spPr>
          <a:xfrm>
            <a:off x="846411" y="1684998"/>
            <a:ext cx="7448005"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“Bayesian” about Bayesian nonparametrics?</a:t>
            </a:r>
          </a:p>
        </p:txBody>
      </p:sp>
      <p:sp>
        <p:nvSpPr>
          <p:cNvPr id="396" name="Shape 396"/>
          <p:cNvSpPr/>
          <p:nvPr/>
        </p:nvSpPr>
        <p:spPr>
          <a:xfrm>
            <a:off x="243881" y="2881576"/>
            <a:ext cx="8656832"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Are there no parameters in nonparametric Bayesian models?</a:t>
            </a:r>
          </a:p>
        </p:txBody>
      </p:sp>
      <p:sp>
        <p:nvSpPr>
          <p:cNvPr id="397" name="Shape 397"/>
          <p:cNvSpPr/>
          <p:nvPr/>
        </p:nvSpPr>
        <p:spPr>
          <a:xfrm>
            <a:off x="204992" y="3890630"/>
            <a:ext cx="8728854"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Are Gibbs samplers a type of nonparametric Bayesian model?</a:t>
            </a:r>
          </a:p>
        </p:txBody>
      </p:sp>
      <p:sp>
        <p:nvSpPr>
          <p:cNvPr id="398" name="Shape 398"/>
          <p:cNvSpPr/>
          <p:nvPr/>
        </p:nvSpPr>
        <p:spPr>
          <a:xfrm>
            <a:off x="644972" y="4810388"/>
            <a:ext cx="7847848"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the distinction between models and inference?</a:t>
            </a:r>
          </a:p>
        </p:txBody>
      </p:sp>
      <p:sp>
        <p:nvSpPr>
          <p:cNvPr id="399" name="Shape 399"/>
          <p:cNvSpPr/>
          <p:nvPr/>
        </p:nvSpPr>
        <p:spPr>
          <a:xfrm>
            <a:off x="296" y="30639"/>
            <a:ext cx="9144001" cy="903128"/>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700">
                <a:sym typeface="Gill Sans"/>
              </a:rPr>
              <a:t>What does nonparametric mean? </a:t>
            </a:r>
          </a:p>
          <a:p>
            <a:pPr algn="ctr" defTabSz="410751">
              <a:defRPr sz="1800"/>
            </a:pPr>
            <a:r>
              <a:rPr sz="2700">
                <a:sym typeface="Gill Sans"/>
              </a:rPr>
              <a:t>How does it differ from parametric?</a:t>
            </a:r>
          </a:p>
        </p:txBody>
      </p:sp>
      <p:sp>
        <p:nvSpPr>
          <p:cNvPr id="400" name="Shape 400"/>
          <p:cNvSpPr/>
          <p:nvPr/>
        </p:nvSpPr>
        <p:spPr>
          <a:xfrm>
            <a:off x="129909" y="3337273"/>
            <a:ext cx="8881009"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Nonparametric models have parameters. They just have an infinite number of them!</a:t>
            </a:r>
          </a:p>
        </p:txBody>
      </p:sp>
      <p:sp>
        <p:nvSpPr>
          <p:cNvPr id="401" name="Shape 401"/>
          <p:cNvSpPr/>
          <p:nvPr/>
        </p:nvSpPr>
        <p:spPr>
          <a:xfrm>
            <a:off x="1953" y="861666"/>
            <a:ext cx="9144001"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Nonparametric models can learn any possible distribution.*</a:t>
            </a:r>
          </a:p>
          <a:p>
            <a:pPr algn="ctr" defTabSz="410751">
              <a:defRPr sz="1800"/>
            </a:pPr>
            <a:r>
              <a:rPr sz="2000">
                <a:solidFill>
                  <a:srgbClr val="FF4013"/>
                </a:solidFill>
                <a:sym typeface="Gill Sans"/>
              </a:rPr>
              <a:t>Parametric models are restricted to a family (e.g., Gaussians with different means).</a:t>
            </a:r>
          </a:p>
        </p:txBody>
      </p:sp>
      <p:sp>
        <p:nvSpPr>
          <p:cNvPr id="402" name="Shape 402"/>
          <p:cNvSpPr/>
          <p:nvPr/>
        </p:nvSpPr>
        <p:spPr>
          <a:xfrm>
            <a:off x="259065" y="6265644"/>
            <a:ext cx="8617149" cy="595352"/>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1700">
                <a:solidFill>
                  <a:srgbClr val="FF4013"/>
                </a:solidFill>
                <a:sym typeface="Gill Sans"/>
              </a:rPr>
              <a:t>*Nonparametric can also mean models whose structure grow with the amount of data. </a:t>
            </a:r>
          </a:p>
          <a:p>
            <a:pPr algn="ctr" defTabSz="410751">
              <a:defRPr sz="1800"/>
            </a:pPr>
            <a:r>
              <a:rPr sz="1700">
                <a:solidFill>
                  <a:srgbClr val="FF4013"/>
                </a:solidFill>
                <a:sym typeface="Gill Sans"/>
              </a:rPr>
              <a:t>These two definitions are strongly, but not perfectly correlated.</a:t>
            </a:r>
          </a:p>
        </p:txBody>
      </p:sp>
      <p:sp>
        <p:nvSpPr>
          <p:cNvPr id="403" name="Shape 403"/>
          <p:cNvSpPr/>
          <p:nvPr/>
        </p:nvSpPr>
        <p:spPr>
          <a:xfrm>
            <a:off x="0" y="2120752"/>
            <a:ext cx="9144000"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Bayesian nonparametric models can learn any possible distribution, </a:t>
            </a:r>
          </a:p>
          <a:p>
            <a:pPr algn="ctr" defTabSz="410751">
              <a:defRPr sz="1800"/>
            </a:pPr>
            <a:r>
              <a:rPr sz="2000">
                <a:solidFill>
                  <a:srgbClr val="FF4013"/>
                </a:solidFill>
                <a:sym typeface="Gill Sans"/>
              </a:rPr>
              <a:t>but they are </a:t>
            </a:r>
            <a:r>
              <a:rPr sz="2000" i="1">
                <a:solidFill>
                  <a:srgbClr val="FF4013"/>
                </a:solidFill>
                <a:sym typeface="Gill Sans"/>
              </a:rPr>
              <a:t>biased </a:t>
            </a:r>
            <a:r>
              <a:rPr sz="2000">
                <a:solidFill>
                  <a:srgbClr val="FF4013"/>
                </a:solidFill>
                <a:sym typeface="Gill Sans"/>
              </a:rPr>
              <a:t>towards particular </a:t>
            </a:r>
            <a:r>
              <a:rPr sz="2000" i="1">
                <a:solidFill>
                  <a:srgbClr val="FF4013"/>
                </a:solidFill>
                <a:sym typeface="Gill Sans"/>
              </a:rPr>
              <a:t>types</a:t>
            </a:r>
            <a:r>
              <a:rPr sz="2000">
                <a:solidFill>
                  <a:srgbClr val="FF4013"/>
                </a:solidFill>
                <a:sym typeface="Gill Sans"/>
              </a:rPr>
              <a:t> of distributions.</a:t>
            </a:r>
          </a:p>
        </p:txBody>
      </p:sp>
      <p:sp>
        <p:nvSpPr>
          <p:cNvPr id="404" name="Shape 404"/>
          <p:cNvSpPr/>
          <p:nvPr/>
        </p:nvSpPr>
        <p:spPr>
          <a:xfrm>
            <a:off x="1273836" y="4292749"/>
            <a:ext cx="6600236"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Gibbs sampling is an inference method. It is applied to models.</a:t>
            </a:r>
          </a:p>
        </p:txBody>
      </p:sp>
      <p:sp>
        <p:nvSpPr>
          <p:cNvPr id="405" name="Shape 405"/>
          <p:cNvSpPr/>
          <p:nvPr/>
        </p:nvSpPr>
        <p:spPr>
          <a:xfrm>
            <a:off x="483938" y="5237213"/>
            <a:ext cx="8183326" cy="687685"/>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algn="ctr" defTabSz="410751">
              <a:defRPr sz="1800"/>
            </a:pPr>
            <a:r>
              <a:rPr sz="2000">
                <a:solidFill>
                  <a:srgbClr val="FF4013"/>
                </a:solidFill>
                <a:sym typeface="Gill Sans"/>
              </a:rPr>
              <a:t>Models specify a probability distribution over data and possibly latent factors.</a:t>
            </a:r>
          </a:p>
          <a:p>
            <a:pPr algn="ctr" defTabSz="410751">
              <a:defRPr sz="1800"/>
            </a:pPr>
            <a:r>
              <a:rPr sz="2000">
                <a:solidFill>
                  <a:srgbClr val="FF4013"/>
                </a:solidFill>
                <a:sym typeface="Gill Sans"/>
              </a:rPr>
              <a:t>Inference methods sample from (or find the max) the posterior distribution.</a:t>
            </a:r>
          </a:p>
        </p:txBody>
      </p:sp>
    </p:spTree>
    <p:extLst>
      <p:ext uri="{BB962C8B-B14F-4D97-AF65-F5344CB8AC3E}">
        <p14:creationId xmlns:p14="http://schemas.microsoft.com/office/powerpoint/2010/main" val="2397007185"/>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0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40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39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40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39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40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39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40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39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p:tmAbs val="0"/>
                                  </p:iterate>
                                  <p:childTnLst>
                                    <p:set>
                                      <p:cBhvr>
                                        <p:cTn id="41" fill="hold"/>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animBg="1" advAuto="0"/>
      <p:bldP spid="396" grpId="0" animBg="1" advAuto="0"/>
      <p:bldP spid="397" grpId="0" animBg="1" advAuto="0"/>
      <p:bldP spid="398" grpId="0" animBg="1" advAuto="0"/>
      <p:bldP spid="400" grpId="0" animBg="1" advAuto="0"/>
      <p:bldP spid="401" grpId="0" animBg="1" advAuto="0"/>
      <p:bldP spid="402" grpId="0" animBg="1" advAuto="0"/>
      <p:bldP spid="403" grpId="0" animBg="1" advAuto="0"/>
      <p:bldP spid="404" grpId="0" animBg="1" advAuto="0"/>
      <p:bldP spid="405" grpId="0"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CBE6A2-CE09-2F44-4C04-7BB9B93FAF06}"/>
              </a:ext>
            </a:extLst>
          </p:cNvPr>
          <p:cNvSpPr txBox="1"/>
          <p:nvPr/>
        </p:nvSpPr>
        <p:spPr>
          <a:xfrm>
            <a:off x="2286000" y="3105835"/>
            <a:ext cx="4572000" cy="646331"/>
          </a:xfrm>
          <a:prstGeom prst="rect">
            <a:avLst/>
          </a:prstGeom>
          <a:noFill/>
        </p:spPr>
        <p:txBody>
          <a:bodyPr wrap="square">
            <a:spAutoFit/>
          </a:bodyPr>
          <a:lstStyle/>
          <a:p>
            <a:r>
              <a:rPr lang="en-US" dirty="0"/>
              <a:t>https://medium.com/@albertoarrigoni/dirichlet-processes-917f376b02d2</a:t>
            </a:r>
          </a:p>
        </p:txBody>
      </p:sp>
    </p:spTree>
    <p:extLst>
      <p:ext uri="{BB962C8B-B14F-4D97-AF65-F5344CB8AC3E}">
        <p14:creationId xmlns:p14="http://schemas.microsoft.com/office/powerpoint/2010/main" val="1878731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18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F900-06AE-76B0-3C16-FBEBB34F20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C0BDCF-0C87-5EED-19BB-F542EF7441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3482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371" y="1385280"/>
            <a:ext cx="6063258" cy="4830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9633" name="Rectangle 1"/>
          <p:cNvSpPr>
            <a:spLocks/>
          </p:cNvSpPr>
          <p:nvPr/>
        </p:nvSpPr>
        <p:spPr bwMode="auto">
          <a:xfrm>
            <a:off x="5797506" y="6488088"/>
            <a:ext cx="3314835"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dirty="0">
                <a:latin typeface="Helvetica"/>
                <a:ea typeface="ＭＳ Ｐゴシック" charset="0"/>
                <a:cs typeface="Helvetica"/>
              </a:rPr>
              <a:t>Rubin, Nakayama, and Shapley (2002)</a:t>
            </a:r>
          </a:p>
        </p:txBody>
      </p:sp>
      <p:sp>
        <p:nvSpPr>
          <p:cNvPr id="69634" name="Rectangle 2"/>
          <p:cNvSpPr>
            <a:spLocks/>
          </p:cNvSpPr>
          <p:nvPr/>
        </p:nvSpPr>
        <p:spPr bwMode="auto">
          <a:xfrm>
            <a:off x="319246" y="8626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Representing input is hard</a:t>
            </a:r>
          </a:p>
        </p:txBody>
      </p:sp>
    </p:spTree>
    <p:extLst>
      <p:ext uri="{BB962C8B-B14F-4D97-AF65-F5344CB8AC3E}">
        <p14:creationId xmlns:p14="http://schemas.microsoft.com/office/powerpoint/2010/main" val="928760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371" y="1385280"/>
            <a:ext cx="6063258" cy="4830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8" y="1394210"/>
            <a:ext cx="6143625" cy="48220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9633" name="Rectangle 1"/>
          <p:cNvSpPr>
            <a:spLocks/>
          </p:cNvSpPr>
          <p:nvPr/>
        </p:nvSpPr>
        <p:spPr bwMode="auto">
          <a:xfrm>
            <a:off x="5797506" y="6488088"/>
            <a:ext cx="3314835"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dirty="0">
                <a:latin typeface="Helvetica"/>
                <a:ea typeface="ＭＳ Ｐゴシック" charset="0"/>
                <a:cs typeface="Helvetica"/>
              </a:rPr>
              <a:t>Rubin, Nakayama, and Shapley (2002)</a:t>
            </a:r>
          </a:p>
        </p:txBody>
      </p:sp>
      <p:sp>
        <p:nvSpPr>
          <p:cNvPr id="69634" name="Rectangle 2"/>
          <p:cNvSpPr>
            <a:spLocks/>
          </p:cNvSpPr>
          <p:nvPr/>
        </p:nvSpPr>
        <p:spPr bwMode="auto">
          <a:xfrm>
            <a:off x="319246" y="8626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Representing input is hard</a:t>
            </a:r>
          </a:p>
        </p:txBody>
      </p:sp>
    </p:spTree>
    <p:extLst>
      <p:ext uri="{BB962C8B-B14F-4D97-AF65-F5344CB8AC3E}">
        <p14:creationId xmlns:p14="http://schemas.microsoft.com/office/powerpoint/2010/main" val="261645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1"/>
          <p:cNvSpPr>
            <a:spLocks/>
          </p:cNvSpPr>
          <p:nvPr/>
        </p:nvSpPr>
        <p:spPr bwMode="auto">
          <a:xfrm>
            <a:off x="2643188" y="1265746"/>
            <a:ext cx="3857625" cy="2803922"/>
          </a:xfrm>
          <a:prstGeom prst="rect">
            <a:avLst/>
          </a:prstGeom>
          <a:solidFill>
            <a:schemeClr val="tx1"/>
          </a:solidFill>
          <a:ln w="38100">
            <a:solidFill>
              <a:schemeClr val="tx1"/>
            </a:solidFill>
            <a:miter lim="800000"/>
            <a:headEnd/>
            <a:tailEnd/>
          </a:ln>
        </p:spPr>
        <p:txBody>
          <a:bodyPr lIns="0" tIns="0" rIns="0" bIns="0"/>
          <a:lstStyle/>
          <a:p>
            <a:endParaRPr lang="en-US"/>
          </a:p>
        </p:txBody>
      </p:sp>
      <p:grpSp>
        <p:nvGrpSpPr>
          <p:cNvPr id="73730" name="Group 4"/>
          <p:cNvGrpSpPr>
            <a:grpSpLocks/>
          </p:cNvGrpSpPr>
          <p:nvPr/>
        </p:nvGrpSpPr>
        <p:grpSpPr bwMode="auto">
          <a:xfrm>
            <a:off x="244254" y="1832644"/>
            <a:ext cx="2255053" cy="1350613"/>
            <a:chOff x="-278" y="-374"/>
            <a:chExt cx="2019" cy="1210"/>
          </a:xfrm>
        </p:grpSpPr>
        <p:sp>
          <p:nvSpPr>
            <p:cNvPr id="73736" name="Rectangle 2"/>
            <p:cNvSpPr>
              <a:spLocks/>
            </p:cNvSpPr>
            <p:nvPr/>
          </p:nvSpPr>
          <p:spPr bwMode="auto">
            <a:xfrm>
              <a:off x="-278" y="-374"/>
              <a:ext cx="2019"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Input</a:t>
              </a:r>
            </a:p>
            <a:p>
              <a:pPr algn="ctr">
                <a:lnSpc>
                  <a:spcPct val="140000"/>
                </a:lnSpc>
              </a:pPr>
              <a:r>
                <a:rPr lang="en-US" sz="2800" dirty="0">
                  <a:latin typeface="Helvetica"/>
                  <a:ea typeface="ＭＳ Ｐゴシック" charset="0"/>
                  <a:cs typeface="Helvetica"/>
                </a:rPr>
                <a:t>[sensory data]</a:t>
              </a:r>
            </a:p>
          </p:txBody>
        </p:sp>
        <p:sp>
          <p:nvSpPr>
            <p:cNvPr id="73737" name="Line 3"/>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73731" name="Group 7"/>
          <p:cNvGrpSpPr>
            <a:grpSpLocks/>
          </p:cNvGrpSpPr>
          <p:nvPr/>
        </p:nvGrpSpPr>
        <p:grpSpPr bwMode="auto">
          <a:xfrm>
            <a:off x="6913742" y="1828179"/>
            <a:ext cx="1629668" cy="1350614"/>
            <a:chOff x="0" y="-374"/>
            <a:chExt cx="1460" cy="1210"/>
          </a:xfrm>
        </p:grpSpPr>
        <p:sp>
          <p:nvSpPr>
            <p:cNvPr id="73734" name="Line 5"/>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3735" name="Rectangle 6"/>
            <p:cNvSpPr>
              <a:spLocks/>
            </p:cNvSpPr>
            <p:nvPr/>
          </p:nvSpPr>
          <p:spPr bwMode="auto">
            <a:xfrm>
              <a:off x="41" y="-374"/>
              <a:ext cx="1413"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Output</a:t>
              </a:r>
            </a:p>
            <a:p>
              <a:pPr algn="ctr">
                <a:lnSpc>
                  <a:spcPct val="140000"/>
                </a:lnSpc>
              </a:pPr>
              <a:r>
                <a:rPr lang="en-US" sz="2800" dirty="0">
                  <a:latin typeface="Helvetica"/>
                  <a:ea typeface="ＭＳ Ｐゴシック" charset="0"/>
                  <a:cs typeface="Helvetica"/>
                </a:rPr>
                <a:t>[behavior]</a:t>
              </a:r>
            </a:p>
          </p:txBody>
        </p:sp>
      </p:grpSp>
      <p:sp>
        <p:nvSpPr>
          <p:cNvPr id="73732" name="Rectangle 8"/>
          <p:cNvSpPr>
            <a:spLocks/>
          </p:cNvSpPr>
          <p:nvPr/>
        </p:nvSpPr>
        <p:spPr bwMode="auto">
          <a:xfrm>
            <a:off x="2640617" y="4118603"/>
            <a:ext cx="3857625"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3600" dirty="0">
                <a:latin typeface="Helvetica"/>
                <a:ea typeface="ＭＳ Ｐゴシック" charset="0"/>
                <a:cs typeface="Helvetica"/>
              </a:rPr>
              <a:t>The mind</a:t>
            </a:r>
          </a:p>
        </p:txBody>
      </p:sp>
      <p:sp>
        <p:nvSpPr>
          <p:cNvPr id="12"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cognitive psychology</a:t>
            </a:r>
          </a:p>
        </p:txBody>
      </p:sp>
    </p:spTree>
    <p:extLst>
      <p:ext uri="{BB962C8B-B14F-4D97-AF65-F5344CB8AC3E}">
        <p14:creationId xmlns:p14="http://schemas.microsoft.com/office/powerpoint/2010/main" val="606992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
          <p:cNvSpPr>
            <a:spLocks/>
          </p:cNvSpPr>
          <p:nvPr/>
        </p:nvSpPr>
        <p:spPr bwMode="auto">
          <a:xfrm>
            <a:off x="2643188" y="1265746"/>
            <a:ext cx="3857625" cy="2803922"/>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74757" name="Rectangle 9"/>
          <p:cNvSpPr>
            <a:spLocks/>
          </p:cNvSpPr>
          <p:nvPr/>
        </p:nvSpPr>
        <p:spPr bwMode="auto">
          <a:xfrm>
            <a:off x="2643188" y="1378707"/>
            <a:ext cx="3857625" cy="461665"/>
          </a:xfrm>
          <a:prstGeom prst="rect">
            <a:avLst/>
          </a:prstGeom>
          <a:noFill/>
          <a:ln>
            <a:noFill/>
          </a:ln>
        </p:spPr>
        <p:txBody>
          <a:bodyPr wrap="square" lIns="0" tIns="0" rIns="0" bIns="0" anchor="ctr">
            <a:spAutoFit/>
          </a:bodyPr>
          <a:lstStyle/>
          <a:p>
            <a:pPr algn="ctr"/>
            <a:r>
              <a:rPr lang="en-US" sz="3000" b="1" dirty="0">
                <a:latin typeface="Helvetica"/>
                <a:ea typeface="ＭＳ Ｐゴシック" charset="0"/>
                <a:cs typeface="Helvetica"/>
              </a:rPr>
              <a:t>Representations</a:t>
            </a:r>
          </a:p>
        </p:txBody>
      </p:sp>
      <p:grpSp>
        <p:nvGrpSpPr>
          <p:cNvPr id="38924" name="Group 12"/>
          <p:cNvGrpSpPr>
            <a:grpSpLocks/>
          </p:cNvGrpSpPr>
          <p:nvPr/>
        </p:nvGrpSpPr>
        <p:grpSpPr bwMode="auto">
          <a:xfrm>
            <a:off x="3654258" y="1986384"/>
            <a:ext cx="1621170" cy="692919"/>
            <a:chOff x="0" y="0"/>
            <a:chExt cx="992" cy="424"/>
          </a:xfrm>
        </p:grpSpPr>
        <p:pic>
          <p:nvPicPr>
            <p:cNvPr id="7480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80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8932" name="Group 20"/>
          <p:cNvGrpSpPr>
            <a:grpSpLocks/>
          </p:cNvGrpSpPr>
          <p:nvPr/>
        </p:nvGrpSpPr>
        <p:grpSpPr bwMode="auto">
          <a:xfrm>
            <a:off x="500060" y="3346364"/>
            <a:ext cx="8230943" cy="1080496"/>
            <a:chOff x="-130" y="0"/>
            <a:chExt cx="7374" cy="968"/>
          </a:xfrm>
        </p:grpSpPr>
        <p:grpSp>
          <p:nvGrpSpPr>
            <p:cNvPr id="74796" name="Group 16"/>
            <p:cNvGrpSpPr>
              <a:grpSpLocks/>
            </p:cNvGrpSpPr>
            <p:nvPr/>
          </p:nvGrpSpPr>
          <p:grpSpPr bwMode="auto">
            <a:xfrm>
              <a:off x="-130" y="1"/>
              <a:ext cx="1758" cy="954"/>
              <a:chOff x="-130" y="0"/>
              <a:chExt cx="1758" cy="953"/>
            </a:xfrm>
          </p:grpSpPr>
          <p:pic>
            <p:nvPicPr>
              <p:cNvPr id="74800" name="Picture 14"/>
              <p:cNvPicPr>
                <a:picLocks noChangeAspect="1" noChangeArrowheads="1"/>
              </p:cNvPicPr>
              <p:nvPr/>
            </p:nvPicPr>
            <p:blipFill>
              <a:blip r:embed="rId5">
                <a:extLst>
                  <a:ext uri="{28A0092B-C50C-407E-A947-70E740481C1C}">
                    <a14:useLocalDpi xmlns:a14="http://schemas.microsoft.com/office/drawing/2010/main" val="0"/>
                  </a:ext>
                </a:extLst>
              </a:blip>
              <a:srcRect t="39560" r="70622" b="41208"/>
              <a:stretch>
                <a:fillRect/>
              </a:stretch>
            </p:blipFill>
            <p:spPr bwMode="auto">
              <a:xfrm>
                <a:off x="52" y="0"/>
                <a:ext cx="1308"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74801" name="Rectangle 15"/>
              <p:cNvSpPr>
                <a:spLocks/>
              </p:cNvSpPr>
              <p:nvPr/>
            </p:nvSpPr>
            <p:spPr bwMode="auto">
              <a:xfrm>
                <a:off x="-130" y="540"/>
                <a:ext cx="1758" cy="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ea typeface="ＭＳ Ｐゴシック" charset="0"/>
                    <a:cs typeface="ＭＳ Ｐゴシック" charset="0"/>
                  </a:rPr>
                  <a:t>This is a </a:t>
                </a:r>
                <a:r>
                  <a:rPr lang="en-US" sz="3000" dirty="0" err="1">
                    <a:ea typeface="ＭＳ Ｐゴシック" charset="0"/>
                    <a:cs typeface="ＭＳ Ｐゴシック" charset="0"/>
                  </a:rPr>
                  <a:t>dax</a:t>
                </a:r>
                <a:r>
                  <a:rPr lang="en-US" sz="3000" dirty="0">
                    <a:ea typeface="ＭＳ Ｐゴシック" charset="0"/>
                    <a:cs typeface="ＭＳ Ｐゴシック" charset="0"/>
                  </a:rPr>
                  <a:t>.</a:t>
                </a:r>
              </a:p>
            </p:txBody>
          </p:sp>
        </p:grpSp>
        <p:grpSp>
          <p:nvGrpSpPr>
            <p:cNvPr id="74797" name="Group 19"/>
            <p:cNvGrpSpPr>
              <a:grpSpLocks/>
            </p:cNvGrpSpPr>
            <p:nvPr/>
          </p:nvGrpSpPr>
          <p:grpSpPr bwMode="auto">
            <a:xfrm>
              <a:off x="5458" y="0"/>
              <a:ext cx="1786" cy="968"/>
              <a:chOff x="5" y="0"/>
              <a:chExt cx="1785" cy="968"/>
            </a:xfrm>
          </p:grpSpPr>
          <p:pic>
            <p:nvPicPr>
              <p:cNvPr id="74798"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 y="0"/>
                <a:ext cx="1312" cy="3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74799" name="Rectangle 18"/>
              <p:cNvSpPr>
                <a:spLocks/>
              </p:cNvSpPr>
              <p:nvPr/>
            </p:nvSpPr>
            <p:spPr bwMode="auto">
              <a:xfrm>
                <a:off x="5" y="554"/>
                <a:ext cx="1785" cy="4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ea typeface="ＭＳ Ｐゴシック" charset="0"/>
                    <a:cs typeface="ＭＳ Ｐゴシック" charset="0"/>
                  </a:rPr>
                  <a:t>Is this a </a:t>
                </a:r>
                <a:r>
                  <a:rPr lang="en-US" sz="3000" dirty="0" err="1">
                    <a:ea typeface="ＭＳ Ｐゴシック" charset="0"/>
                    <a:cs typeface="ＭＳ Ｐゴシック" charset="0"/>
                  </a:rPr>
                  <a:t>dax</a:t>
                </a:r>
                <a:r>
                  <a:rPr lang="en-US" sz="3000" dirty="0">
                    <a:ea typeface="ＭＳ Ｐゴシック" charset="0"/>
                    <a:cs typeface="ＭＳ Ｐゴシック" charset="0"/>
                  </a:rPr>
                  <a:t>?</a:t>
                </a:r>
              </a:p>
            </p:txBody>
          </p:sp>
        </p:grpSp>
      </p:grpSp>
      <p:grpSp>
        <p:nvGrpSpPr>
          <p:cNvPr id="38944" name="Group 32"/>
          <p:cNvGrpSpPr>
            <a:grpSpLocks/>
          </p:cNvGrpSpPr>
          <p:nvPr/>
        </p:nvGrpSpPr>
        <p:grpSpPr bwMode="auto">
          <a:xfrm>
            <a:off x="2821781" y="2730215"/>
            <a:ext cx="3295055" cy="1089422"/>
            <a:chOff x="0" y="24"/>
            <a:chExt cx="2952" cy="976"/>
          </a:xfrm>
        </p:grpSpPr>
        <p:grpSp>
          <p:nvGrpSpPr>
            <p:cNvPr id="74785" name="Group 30"/>
            <p:cNvGrpSpPr>
              <a:grpSpLocks/>
            </p:cNvGrpSpPr>
            <p:nvPr/>
          </p:nvGrpSpPr>
          <p:grpSpPr bwMode="auto">
            <a:xfrm>
              <a:off x="0" y="440"/>
              <a:ext cx="2952" cy="560"/>
              <a:chOff x="0" y="0"/>
              <a:chExt cx="2952" cy="560"/>
            </a:xfrm>
          </p:grpSpPr>
          <p:pic>
            <p:nvPicPr>
              <p:cNvPr id="74787"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2" y="19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88"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89"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0"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1"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6"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2"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4"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3"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2"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4"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5"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48"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4786" name="Rectangle 31"/>
            <p:cNvSpPr>
              <a:spLocks/>
            </p:cNvSpPr>
            <p:nvPr/>
          </p:nvSpPr>
          <p:spPr bwMode="auto">
            <a:xfrm>
              <a:off x="1254" y="24"/>
              <a:ext cx="305"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OR</a:t>
              </a:r>
            </a:p>
          </p:txBody>
        </p:sp>
      </p:grpSp>
      <p:grpSp>
        <p:nvGrpSpPr>
          <p:cNvPr id="38947" name="Group 35"/>
          <p:cNvGrpSpPr>
            <a:grpSpLocks/>
          </p:cNvGrpSpPr>
          <p:nvPr/>
        </p:nvGrpSpPr>
        <p:grpSpPr bwMode="auto">
          <a:xfrm>
            <a:off x="3993955" y="2119456"/>
            <a:ext cx="102694" cy="416733"/>
            <a:chOff x="0" y="0"/>
            <a:chExt cx="92" cy="255"/>
          </a:xfrm>
        </p:grpSpPr>
        <p:sp>
          <p:nvSpPr>
            <p:cNvPr id="74783" name="Line 33"/>
            <p:cNvSpPr>
              <a:spLocks noChangeShapeType="1"/>
            </p:cNvSpPr>
            <p:nvPr/>
          </p:nvSpPr>
          <p:spPr bwMode="auto">
            <a:xfrm flipH="1">
              <a:off x="0" y="2"/>
              <a:ext cx="0" cy="253"/>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4" name="Line 34"/>
            <p:cNvSpPr>
              <a:spLocks noChangeShapeType="1"/>
            </p:cNvSpPr>
            <p:nvPr/>
          </p:nvSpPr>
          <p:spPr bwMode="auto">
            <a:xfrm flipH="1">
              <a:off x="91" y="0"/>
              <a:ext cx="1" cy="252"/>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0" name="Group 38"/>
          <p:cNvGrpSpPr>
            <a:grpSpLocks/>
          </p:cNvGrpSpPr>
          <p:nvPr/>
        </p:nvGrpSpPr>
        <p:grpSpPr bwMode="auto">
          <a:xfrm>
            <a:off x="812602" y="3417801"/>
            <a:ext cx="80367" cy="339328"/>
            <a:chOff x="0" y="0"/>
            <a:chExt cx="72" cy="304"/>
          </a:xfrm>
        </p:grpSpPr>
        <p:sp>
          <p:nvSpPr>
            <p:cNvPr id="74781" name="Line 36"/>
            <p:cNvSpPr>
              <a:spLocks noChangeShapeType="1"/>
            </p:cNvSpPr>
            <p:nvPr/>
          </p:nvSpPr>
          <p:spPr bwMode="auto">
            <a:xfrm flipH="1">
              <a:off x="0" y="3"/>
              <a:ext cx="0" cy="301"/>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2" name="Line 37"/>
            <p:cNvSpPr>
              <a:spLocks noChangeShapeType="1"/>
            </p:cNvSpPr>
            <p:nvPr/>
          </p:nvSpPr>
          <p:spPr bwMode="auto">
            <a:xfrm flipH="1">
              <a:off x="72" y="0"/>
              <a:ext cx="0" cy="300"/>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3" name="Group 41"/>
          <p:cNvGrpSpPr>
            <a:grpSpLocks/>
          </p:cNvGrpSpPr>
          <p:nvPr/>
        </p:nvGrpSpPr>
        <p:grpSpPr bwMode="auto">
          <a:xfrm>
            <a:off x="812602" y="3417801"/>
            <a:ext cx="80367" cy="339328"/>
            <a:chOff x="0" y="0"/>
            <a:chExt cx="71" cy="303"/>
          </a:xfrm>
        </p:grpSpPr>
        <p:sp>
          <p:nvSpPr>
            <p:cNvPr id="74779" name="Line 39"/>
            <p:cNvSpPr>
              <a:spLocks noChangeShapeType="1"/>
            </p:cNvSpPr>
            <p:nvPr/>
          </p:nvSpPr>
          <p:spPr bwMode="auto">
            <a:xfrm flipH="1">
              <a:off x="0" y="3"/>
              <a:ext cx="0" cy="300"/>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0" name="Line 40"/>
            <p:cNvSpPr>
              <a:spLocks noChangeShapeType="1"/>
            </p:cNvSpPr>
            <p:nvPr/>
          </p:nvSpPr>
          <p:spPr bwMode="auto">
            <a:xfrm flipH="1">
              <a:off x="71" y="0"/>
              <a:ext cx="0" cy="300"/>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6" name="Group 44"/>
          <p:cNvGrpSpPr>
            <a:grpSpLocks/>
          </p:cNvGrpSpPr>
          <p:nvPr/>
        </p:nvGrpSpPr>
        <p:grpSpPr bwMode="auto">
          <a:xfrm>
            <a:off x="3161109" y="3354178"/>
            <a:ext cx="2027039" cy="294681"/>
            <a:chOff x="0" y="7"/>
            <a:chExt cx="1816" cy="264"/>
          </a:xfrm>
        </p:grpSpPr>
        <p:sp>
          <p:nvSpPr>
            <p:cNvPr id="74777" name="Line 42"/>
            <p:cNvSpPr>
              <a:spLocks noChangeShapeType="1"/>
            </p:cNvSpPr>
            <p:nvPr/>
          </p:nvSpPr>
          <p:spPr bwMode="auto">
            <a:xfrm flipH="1">
              <a:off x="0" y="18"/>
              <a:ext cx="0" cy="253"/>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8" name="Line 43"/>
            <p:cNvSpPr>
              <a:spLocks noChangeShapeType="1"/>
            </p:cNvSpPr>
            <p:nvPr/>
          </p:nvSpPr>
          <p:spPr bwMode="auto">
            <a:xfrm>
              <a:off x="1816" y="7"/>
              <a:ext cx="0" cy="252"/>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9" name="Group 47"/>
          <p:cNvGrpSpPr>
            <a:grpSpLocks/>
          </p:cNvGrpSpPr>
          <p:nvPr/>
        </p:nvGrpSpPr>
        <p:grpSpPr bwMode="auto">
          <a:xfrm>
            <a:off x="7356191" y="3391012"/>
            <a:ext cx="464344" cy="339328"/>
            <a:chOff x="0" y="0"/>
            <a:chExt cx="416" cy="303"/>
          </a:xfrm>
        </p:grpSpPr>
        <p:sp>
          <p:nvSpPr>
            <p:cNvPr id="74775" name="Line 45"/>
            <p:cNvSpPr>
              <a:spLocks noChangeShapeType="1"/>
            </p:cNvSpPr>
            <p:nvPr/>
          </p:nvSpPr>
          <p:spPr bwMode="auto">
            <a:xfrm flipH="1">
              <a:off x="0" y="3"/>
              <a:ext cx="0" cy="300"/>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6" name="Line 46"/>
            <p:cNvSpPr>
              <a:spLocks noChangeShapeType="1"/>
            </p:cNvSpPr>
            <p:nvPr/>
          </p:nvSpPr>
          <p:spPr bwMode="auto">
            <a:xfrm flipH="1">
              <a:off x="416" y="0"/>
              <a:ext cx="0" cy="300"/>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62" name="Group 50"/>
          <p:cNvGrpSpPr>
            <a:grpSpLocks/>
          </p:cNvGrpSpPr>
          <p:nvPr/>
        </p:nvGrpSpPr>
        <p:grpSpPr bwMode="auto">
          <a:xfrm>
            <a:off x="3994442" y="2119456"/>
            <a:ext cx="102694" cy="416733"/>
            <a:chOff x="-7" y="0"/>
            <a:chExt cx="92" cy="255"/>
          </a:xfrm>
        </p:grpSpPr>
        <p:sp>
          <p:nvSpPr>
            <p:cNvPr id="74773" name="Line 48"/>
            <p:cNvSpPr>
              <a:spLocks noChangeShapeType="1"/>
            </p:cNvSpPr>
            <p:nvPr/>
          </p:nvSpPr>
          <p:spPr bwMode="auto">
            <a:xfrm flipH="1">
              <a:off x="-7" y="2"/>
              <a:ext cx="0" cy="253"/>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4" name="Line 49"/>
            <p:cNvSpPr>
              <a:spLocks noChangeShapeType="1"/>
            </p:cNvSpPr>
            <p:nvPr/>
          </p:nvSpPr>
          <p:spPr bwMode="auto">
            <a:xfrm flipH="1">
              <a:off x="84" y="0"/>
              <a:ext cx="1" cy="252"/>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38965" name="Line 53"/>
          <p:cNvSpPr>
            <a:spLocks noChangeShapeType="1"/>
          </p:cNvSpPr>
          <p:nvPr/>
        </p:nvSpPr>
        <p:spPr bwMode="auto">
          <a:xfrm>
            <a:off x="3161109" y="3372111"/>
            <a:ext cx="0" cy="281285"/>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8966" name="Line 54"/>
          <p:cNvSpPr>
            <a:spLocks noChangeShapeType="1"/>
          </p:cNvSpPr>
          <p:nvPr/>
        </p:nvSpPr>
        <p:spPr bwMode="auto">
          <a:xfrm>
            <a:off x="5188148" y="3363181"/>
            <a:ext cx="0" cy="281285"/>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58"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cognitive psychology</a:t>
            </a:r>
          </a:p>
        </p:txBody>
      </p:sp>
      <p:grpSp>
        <p:nvGrpSpPr>
          <p:cNvPr id="55" name="Group 4"/>
          <p:cNvGrpSpPr>
            <a:grpSpLocks/>
          </p:cNvGrpSpPr>
          <p:nvPr/>
        </p:nvGrpSpPr>
        <p:grpSpPr bwMode="auto">
          <a:xfrm>
            <a:off x="244254" y="1832644"/>
            <a:ext cx="2255053" cy="1350613"/>
            <a:chOff x="-278" y="-374"/>
            <a:chExt cx="2019" cy="1210"/>
          </a:xfrm>
        </p:grpSpPr>
        <p:sp>
          <p:nvSpPr>
            <p:cNvPr id="56" name="Rectangle 2"/>
            <p:cNvSpPr>
              <a:spLocks/>
            </p:cNvSpPr>
            <p:nvPr/>
          </p:nvSpPr>
          <p:spPr bwMode="auto">
            <a:xfrm>
              <a:off x="-278" y="-374"/>
              <a:ext cx="2019"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Input</a:t>
              </a:r>
            </a:p>
            <a:p>
              <a:pPr algn="ctr">
                <a:lnSpc>
                  <a:spcPct val="140000"/>
                </a:lnSpc>
              </a:pPr>
              <a:r>
                <a:rPr lang="en-US" sz="2800" dirty="0">
                  <a:latin typeface="Helvetica"/>
                  <a:ea typeface="ＭＳ Ｐゴシック" charset="0"/>
                  <a:cs typeface="Helvetica"/>
                </a:rPr>
                <a:t>[sensory data]</a:t>
              </a:r>
            </a:p>
          </p:txBody>
        </p:sp>
        <p:sp>
          <p:nvSpPr>
            <p:cNvPr id="57" name="Line 3"/>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62" name="Rectangle 8"/>
          <p:cNvSpPr>
            <a:spLocks/>
          </p:cNvSpPr>
          <p:nvPr/>
        </p:nvSpPr>
        <p:spPr bwMode="auto">
          <a:xfrm>
            <a:off x="2640617" y="4118603"/>
            <a:ext cx="3857625"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3600" dirty="0">
                <a:latin typeface="Helvetica"/>
                <a:ea typeface="ＭＳ Ｐゴシック" charset="0"/>
                <a:cs typeface="Helvetica"/>
              </a:rPr>
              <a:t>The mind</a:t>
            </a:r>
          </a:p>
        </p:txBody>
      </p:sp>
      <p:grpSp>
        <p:nvGrpSpPr>
          <p:cNvPr id="64" name="Group 7"/>
          <p:cNvGrpSpPr>
            <a:grpSpLocks/>
          </p:cNvGrpSpPr>
          <p:nvPr/>
        </p:nvGrpSpPr>
        <p:grpSpPr bwMode="auto">
          <a:xfrm>
            <a:off x="6913742" y="1828179"/>
            <a:ext cx="1629668" cy="1350614"/>
            <a:chOff x="0" y="-374"/>
            <a:chExt cx="1460" cy="1210"/>
          </a:xfrm>
        </p:grpSpPr>
        <p:sp>
          <p:nvSpPr>
            <p:cNvPr id="72" name="Line 5"/>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3" name="Rectangle 6"/>
            <p:cNvSpPr>
              <a:spLocks/>
            </p:cNvSpPr>
            <p:nvPr/>
          </p:nvSpPr>
          <p:spPr bwMode="auto">
            <a:xfrm>
              <a:off x="41" y="-374"/>
              <a:ext cx="1413"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Output</a:t>
              </a:r>
            </a:p>
            <a:p>
              <a:pPr algn="ctr">
                <a:lnSpc>
                  <a:spcPct val="140000"/>
                </a:lnSpc>
              </a:pPr>
              <a:r>
                <a:rPr lang="en-US" sz="2800" dirty="0">
                  <a:latin typeface="Helvetica"/>
                  <a:ea typeface="ＭＳ Ｐゴシック" charset="0"/>
                  <a:cs typeface="Helvetica"/>
                </a:rPr>
                <a:t>[behavior]</a:t>
              </a:r>
            </a:p>
          </p:txBody>
        </p:sp>
      </p:grpSp>
    </p:spTree>
    <p:extLst>
      <p:ext uri="{BB962C8B-B14F-4D97-AF65-F5344CB8AC3E}">
        <p14:creationId xmlns:p14="http://schemas.microsoft.com/office/powerpoint/2010/main" val="2777864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9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89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89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3896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0" presetClass="path" presetSubtype="0" accel="50000" decel="50000" fill="hold" nodeType="clickEffect">
                                  <p:stCondLst>
                                    <p:cond delay="0"/>
                                  </p:stCondLst>
                                  <p:childTnLst>
                                    <p:animMotion origin="layout" path="M 2.07675E-6 -4.23709E-7 L -0.35093 0.17967 " pathEditMode="relative" rAng="0" ptsTypes="AA">
                                      <p:cBhvr>
                                        <p:cTn id="20" dur="1000" fill="hold"/>
                                        <p:tgtEl>
                                          <p:spTgt spid="38962"/>
                                        </p:tgtEl>
                                        <p:attrNameLst>
                                          <p:attrName>ppt_x</p:attrName>
                                          <p:attrName>ppt_y</p:attrName>
                                        </p:attrNameLst>
                                      </p:cBhvr>
                                      <p:rCtr x="-17555" y="8984"/>
                                    </p:animMotion>
                                  </p:childTnLst>
                                </p:cTn>
                              </p:par>
                            </p:childTnLst>
                          </p:cTn>
                        </p:par>
                        <p:par>
                          <p:cTn id="21" fill="hold" nodeType="afterGroup">
                            <p:stCondLst>
                              <p:cond delay="1000"/>
                            </p:stCondLst>
                            <p:childTnLst>
                              <p:par>
                                <p:cTn id="22" presetID="1" presetClass="entr" presetSubtype="0" fill="hold" nodeType="afterEffect">
                                  <p:stCondLst>
                                    <p:cond delay="0"/>
                                  </p:stCondLst>
                                  <p:childTnLst>
                                    <p:set>
                                      <p:cBhvr>
                                        <p:cTn id="23" dur="1" fill="hold">
                                          <p:stCondLst>
                                            <p:cond delay="499"/>
                                          </p:stCondLst>
                                        </p:cTn>
                                        <p:tgtEl>
                                          <p:spTgt spid="38950"/>
                                        </p:tgtEl>
                                        <p:attrNameLst>
                                          <p:attrName>style.visibility</p:attrName>
                                        </p:attrNameLst>
                                      </p:cBhvr>
                                      <p:to>
                                        <p:strVal val="visible"/>
                                      </p:to>
                                    </p:set>
                                  </p:childTnLst>
                                </p:cTn>
                              </p:par>
                            </p:childTnLst>
                          </p:cTn>
                        </p:par>
                        <p:par>
                          <p:cTn id="24" fill="hold" nodeType="afterGroup">
                            <p:stCondLst>
                              <p:cond delay="1500"/>
                            </p:stCondLst>
                            <p:childTnLst>
                              <p:par>
                                <p:cTn id="25" presetID="1" presetClass="exit" presetSubtype="0" fill="hold" nodeType="afterEffect">
                                  <p:stCondLst>
                                    <p:cond delay="0"/>
                                  </p:stCondLst>
                                  <p:childTnLst>
                                    <p:set>
                                      <p:cBhvr>
                                        <p:cTn id="26" dur="1" fill="hold">
                                          <p:stCondLst>
                                            <p:cond delay="0"/>
                                          </p:stCondLst>
                                        </p:cTn>
                                        <p:tgtEl>
                                          <p:spTgt spid="38962"/>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89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8956"/>
                                        </p:tgtEl>
                                        <p:attrNameLst>
                                          <p:attrName>style.visibility</p:attrName>
                                        </p:attrNameLst>
                                      </p:cBhvr>
                                      <p:to>
                                        <p:strVal val="visible"/>
                                      </p:to>
                                    </p:se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499"/>
                                          </p:stCondLst>
                                        </p:cTn>
                                        <p:tgtEl>
                                          <p:spTgt spid="3895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499"/>
                                          </p:stCondLst>
                                        </p:cTn>
                                        <p:tgtEl>
                                          <p:spTgt spid="3896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499"/>
                                          </p:stCondLst>
                                        </p:cTn>
                                        <p:tgtEl>
                                          <p:spTgt spid="3896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1" nodeType="clickEffect">
                                  <p:stCondLst>
                                    <p:cond delay="0"/>
                                  </p:stCondLst>
                                  <p:childTnLst>
                                    <p:animMotion origin="layout" path="M 2.56989E-7 4.40843E-6 L 0.45893 0.00717 " pathEditMode="relative" rAng="0" ptsTypes="AA">
                                      <p:cBhvr>
                                        <p:cTn id="45" dur="1000" fill="hold"/>
                                        <p:tgtEl>
                                          <p:spTgt spid="38965"/>
                                        </p:tgtEl>
                                        <p:attrNameLst>
                                          <p:attrName>ppt_x</p:attrName>
                                          <p:attrName>ppt_y</p:attrName>
                                        </p:attrNameLst>
                                      </p:cBhvr>
                                      <p:rCtr x="22938" y="347"/>
                                    </p:animMotion>
                                  </p:childTnLst>
                                </p:cTn>
                              </p:par>
                              <p:par>
                                <p:cTn id="46" presetID="0" presetClass="path" presetSubtype="0" accel="50000" decel="50000" fill="hold" grpId="1" nodeType="withEffect">
                                  <p:stCondLst>
                                    <p:cond delay="0"/>
                                  </p:stCondLst>
                                  <p:childTnLst>
                                    <p:animMotion origin="layout" path="M 3.71592E-7 2.08382E-6 L 0.28738 0.00648 " pathEditMode="relative" rAng="0" ptsTypes="AA">
                                      <p:cBhvr>
                                        <p:cTn id="47" dur="1000" fill="hold"/>
                                        <p:tgtEl>
                                          <p:spTgt spid="38966"/>
                                        </p:tgtEl>
                                        <p:attrNameLst>
                                          <p:attrName>ppt_x</p:attrName>
                                          <p:attrName>ppt_y</p:attrName>
                                        </p:attrNameLst>
                                      </p:cBhvr>
                                      <p:rCtr x="14360" y="324"/>
                                    </p:animMotion>
                                  </p:childTnLst>
                                </p:cTn>
                              </p:par>
                            </p:childTnLst>
                          </p:cTn>
                        </p:par>
                        <p:par>
                          <p:cTn id="48" fill="hold" nodeType="afterGroup">
                            <p:stCondLst>
                              <p:cond delay="1000"/>
                            </p:stCondLst>
                            <p:childTnLst>
                              <p:par>
                                <p:cTn id="49" presetID="1" presetClass="entr" presetSubtype="0" fill="hold" nodeType="afterEffect">
                                  <p:stCondLst>
                                    <p:cond delay="0"/>
                                  </p:stCondLst>
                                  <p:childTnLst>
                                    <p:set>
                                      <p:cBhvr>
                                        <p:cTn id="50" dur="1" fill="hold">
                                          <p:stCondLst>
                                            <p:cond delay="499"/>
                                          </p:stCondLst>
                                        </p:cTn>
                                        <p:tgtEl>
                                          <p:spTgt spid="38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65" grpId="0" animBg="1"/>
      <p:bldP spid="38965" grpId="1" animBg="1"/>
      <p:bldP spid="38966" grpId="0" animBg="1"/>
      <p:bldP spid="38966"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grpSp>
        <p:nvGrpSpPr>
          <p:cNvPr id="2" name="Group 1"/>
          <p:cNvGrpSpPr/>
          <p:nvPr/>
        </p:nvGrpSpPr>
        <p:grpSpPr>
          <a:xfrm>
            <a:off x="319246" y="2053969"/>
            <a:ext cx="8068082" cy="1227967"/>
            <a:chOff x="319246" y="2053969"/>
            <a:chExt cx="8068082" cy="1227967"/>
          </a:xfrm>
        </p:grpSpPr>
        <p:sp>
          <p:nvSpPr>
            <p:cNvPr id="80927" name="Rectangle 45"/>
            <p:cNvSpPr>
              <a:spLocks/>
            </p:cNvSpPr>
            <p:nvPr/>
          </p:nvSpPr>
          <p:spPr bwMode="auto">
            <a:xfrm>
              <a:off x="319246" y="2053969"/>
              <a:ext cx="5627053"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marL="514350" indent="-514350" algn="l">
                <a:buAutoNum type="arabicPeriod"/>
              </a:pPr>
              <a:r>
                <a:rPr lang="en-US" sz="3000" dirty="0">
                  <a:latin typeface="Helvetica"/>
                  <a:ea typeface="ＭＳ Ｐゴシック" charset="0"/>
                  <a:cs typeface="Helvetica"/>
                </a:rPr>
                <a:t>Primitives from sensory </a:t>
              </a:r>
            </a:p>
            <a:p>
              <a:pPr algn="l"/>
              <a:r>
                <a:rPr lang="en-US" sz="3000" dirty="0">
                  <a:latin typeface="Helvetica"/>
                  <a:ea typeface="ＭＳ Ｐゴシック" charset="0"/>
                  <a:cs typeface="Helvetica"/>
                </a:rPr>
                <a:t>	 input </a:t>
              </a:r>
              <a:r>
                <a:rPr lang="en-US" sz="1600" dirty="0">
                  <a:latin typeface="Helvetica"/>
                  <a:ea typeface="ＭＳ Ｐゴシック" charset="0"/>
                  <a:cs typeface="Helvetica"/>
                </a:rPr>
                <a:t>(Hoffman &amp; Richards,1985; </a:t>
              </a:r>
            </a:p>
            <a:p>
              <a:pPr algn="l"/>
              <a:r>
                <a:rPr lang="en-US" sz="1600" dirty="0">
                  <a:latin typeface="Helvetica"/>
                  <a:ea typeface="ＭＳ Ｐゴシック" charset="0"/>
                  <a:cs typeface="Helvetica"/>
                </a:rPr>
                <a:t>	  </a:t>
              </a:r>
              <a:r>
                <a:rPr lang="en-US" sz="1600" dirty="0" err="1">
                  <a:latin typeface="Helvetica"/>
                  <a:ea typeface="ＭＳ Ｐゴシック" charset="0"/>
                  <a:cs typeface="Helvetica"/>
                </a:rPr>
                <a:t>Schyns</a:t>
              </a:r>
              <a:r>
                <a:rPr lang="en-US" sz="1600" dirty="0">
                  <a:latin typeface="Helvetica"/>
                  <a:ea typeface="ＭＳ Ｐゴシック" charset="0"/>
                  <a:cs typeface="Helvetica"/>
                </a:rPr>
                <a:t> et al., 1998)</a:t>
              </a:r>
            </a:p>
          </p:txBody>
        </p:sp>
        <p:pic>
          <p:nvPicPr>
            <p:cNvPr id="80928" name="Picture 46"/>
            <p:cNvPicPr>
              <a:picLocks noChangeAspect="1" noChangeArrowheads="1"/>
            </p:cNvPicPr>
            <p:nvPr/>
          </p:nvPicPr>
          <p:blipFill>
            <a:blip r:embed="rId4">
              <a:extLst>
                <a:ext uri="{28A0092B-C50C-407E-A947-70E740481C1C}">
                  <a14:useLocalDpi xmlns:a14="http://schemas.microsoft.com/office/drawing/2010/main" val="0"/>
                </a:ext>
              </a:extLst>
            </a:blip>
            <a:srcRect l="1056" t="14551" r="81241" b="71742"/>
            <a:stretch>
              <a:fillRect/>
            </a:stretch>
          </p:blipFill>
          <p:spPr bwMode="auto">
            <a:xfrm flipV="1">
              <a:off x="5445478" y="2177003"/>
              <a:ext cx="795937" cy="754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0929"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4109" y="2071722"/>
              <a:ext cx="1763219" cy="11825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924" name="Rectangle 49"/>
            <p:cNvSpPr>
              <a:spLocks/>
            </p:cNvSpPr>
            <p:nvPr/>
          </p:nvSpPr>
          <p:spPr bwMode="auto">
            <a:xfrm>
              <a:off x="5567086" y="2943382"/>
              <a:ext cx="79671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r>
                <a:rPr lang="en-US" sz="2200" dirty="0" err="1">
                  <a:latin typeface="Helvetica"/>
                  <a:ea typeface="ＭＳ Ｐゴシック" charset="0"/>
                  <a:cs typeface="Helvetica"/>
                </a:rPr>
                <a:t>geon</a:t>
              </a:r>
              <a:endParaRPr lang="en-US" sz="2200" dirty="0">
                <a:latin typeface="Helvetica"/>
                <a:ea typeface="ＭＳ Ｐゴシック" charset="0"/>
                <a:cs typeface="Helvetica"/>
              </a:endParaRPr>
            </a:p>
          </p:txBody>
        </p:sp>
        <p:sp>
          <p:nvSpPr>
            <p:cNvPr id="80925" name="Rectangle 50"/>
            <p:cNvSpPr>
              <a:spLocks/>
            </p:cNvSpPr>
            <p:nvPr/>
          </p:nvSpPr>
          <p:spPr bwMode="auto">
            <a:xfrm>
              <a:off x="7174682" y="2950421"/>
              <a:ext cx="1158599" cy="276999"/>
            </a:xfrm>
            <a:prstGeom prst="rect">
              <a:avLst/>
            </a:prstGeom>
            <a:solidFill>
              <a:schemeClr val="tx1">
                <a:alpha val="37000"/>
              </a:schemeClr>
            </a:solidFill>
            <a:ln>
              <a:noFill/>
            </a:ln>
          </p:spPr>
          <p:txBody>
            <a:bodyPr wrap="square" lIns="0" tIns="0" rIns="0" bIns="0" anchor="ctr">
              <a:spAutoFit/>
            </a:bodyPr>
            <a:lstStyle/>
            <a:p>
              <a:r>
                <a:rPr lang="en-US" dirty="0">
                  <a:solidFill>
                    <a:schemeClr val="bg1"/>
                  </a:solidFill>
                  <a:ea typeface="ＭＳ Ｐゴシック" charset="0"/>
                  <a:cs typeface="ＭＳ Ｐゴシック" charset="0"/>
                </a:rPr>
                <a:t>Frank </a:t>
              </a:r>
              <a:r>
                <a:rPr lang="en-US" dirty="0" err="1">
                  <a:solidFill>
                    <a:schemeClr val="bg1"/>
                  </a:solidFill>
                  <a:ea typeface="ＭＳ Ｐゴシック" charset="0"/>
                  <a:cs typeface="ＭＳ Ｐゴシック" charset="0"/>
                </a:rPr>
                <a:t>Gehry</a:t>
              </a:r>
              <a:endParaRPr lang="en-US" dirty="0">
                <a:solidFill>
                  <a:schemeClr val="bg1"/>
                </a:solidFill>
                <a:ea typeface="ＭＳ Ｐゴシック" charset="0"/>
                <a:cs typeface="ＭＳ Ｐゴシック" charset="0"/>
              </a:endParaRPr>
            </a:p>
          </p:txBody>
        </p:sp>
      </p:gr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0" name="Group 15"/>
          <p:cNvGrpSpPr>
            <a:grpSpLocks/>
          </p:cNvGrpSpPr>
          <p:nvPr/>
        </p:nvGrpSpPr>
        <p:grpSpPr bwMode="auto">
          <a:xfrm>
            <a:off x="319246" y="3597933"/>
            <a:ext cx="8731351" cy="954365"/>
            <a:chOff x="85" y="-627"/>
            <a:chExt cx="7704" cy="855"/>
          </a:xfrm>
        </p:grpSpPr>
        <p:sp>
          <p:nvSpPr>
            <p:cNvPr id="11" name="Rectangle 12"/>
            <p:cNvSpPr>
              <a:spLocks/>
            </p:cNvSpPr>
            <p:nvPr/>
          </p:nvSpPr>
          <p:spPr bwMode="auto">
            <a:xfrm>
              <a:off x="4442" y="-433"/>
              <a:ext cx="3347" cy="4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200" i="1" dirty="0">
                  <a:latin typeface="Helvetica"/>
                  <a:ea typeface="ＭＳ Ｐゴシック" charset="0"/>
                  <a:cs typeface="Helvetica"/>
                </a:rPr>
                <a:t>A mug has a handle, </a:t>
              </a:r>
            </a:p>
            <a:p>
              <a:pPr algn="l"/>
              <a:r>
                <a:rPr lang="en-US" sz="2200" i="1" dirty="0">
                  <a:latin typeface="Helvetica"/>
                  <a:ea typeface="ＭＳ Ｐゴシック" charset="0"/>
                  <a:cs typeface="Helvetica"/>
                </a:rPr>
                <a:t>is heavier than a mosquito, </a:t>
              </a:r>
            </a:p>
            <a:p>
              <a:pPr algn="l"/>
              <a:r>
                <a:rPr lang="en-US" sz="2200" i="1" dirty="0">
                  <a:latin typeface="Helvetica"/>
                  <a:ea typeface="ＭＳ Ｐゴシック" charset="0"/>
                  <a:cs typeface="Helvetica"/>
                </a:rPr>
                <a:t>is smaller than a bread box...</a:t>
              </a:r>
            </a:p>
          </p:txBody>
        </p:sp>
        <p:sp>
          <p:nvSpPr>
            <p:cNvPr id="12" name="Rectangle 14"/>
            <p:cNvSpPr>
              <a:spLocks/>
            </p:cNvSpPr>
            <p:nvPr/>
          </p:nvSpPr>
          <p:spPr bwMode="auto">
            <a:xfrm>
              <a:off x="85" y="-627"/>
              <a:ext cx="3966" cy="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3000" dirty="0">
                  <a:latin typeface="Helvetica"/>
                  <a:ea typeface="ＭＳ Ｐゴシック" charset="0"/>
                  <a:cs typeface="Helvetica"/>
                </a:rPr>
                <a:t>2. Unlimited features </a:t>
              </a:r>
            </a:p>
            <a:p>
              <a:pPr algn="l">
                <a:tabLst>
                  <a:tab pos="341313" algn="l"/>
                </a:tabLst>
              </a:pPr>
              <a:r>
                <a:rPr lang="en-US" sz="1200" dirty="0">
                  <a:ea typeface="ＭＳ Ｐゴシック" charset="0"/>
                  <a:cs typeface="ＭＳ Ｐゴシック" charset="0"/>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Goldmeier</a:t>
              </a:r>
              <a:r>
                <a:rPr lang="en-US" sz="1600" dirty="0">
                  <a:latin typeface="Helvetica"/>
                  <a:ea typeface="ＭＳ Ｐゴシック" charset="0"/>
                  <a:cs typeface="Helvetica"/>
                </a:rPr>
                <a:t>, 1936; Goodman, 1972; 	</a:t>
              </a:r>
            </a:p>
            <a:p>
              <a:pPr algn="l">
                <a:tabLst>
                  <a:tab pos="341313" algn="l"/>
                </a:tabLst>
              </a:pPr>
              <a:r>
                <a:rPr lang="en-US" sz="1600" dirty="0">
                  <a:latin typeface="Helvetica"/>
                  <a:ea typeface="ＭＳ Ｐゴシック" charset="0"/>
                  <a:cs typeface="Helvetica"/>
                </a:rPr>
                <a:t>		Murphy &amp; </a:t>
              </a:r>
              <a:r>
                <a:rPr lang="en-US" sz="1600" dirty="0" err="1">
                  <a:latin typeface="Helvetica"/>
                  <a:ea typeface="ＭＳ Ｐゴシック" charset="0"/>
                  <a:cs typeface="Helvetica"/>
                </a:rPr>
                <a:t>Medin</a:t>
              </a:r>
              <a:r>
                <a:rPr lang="en-US" sz="1600" dirty="0">
                  <a:latin typeface="Helvetica"/>
                  <a:ea typeface="ＭＳ Ｐゴシック" charset="0"/>
                  <a:cs typeface="Helvetica"/>
                </a:rPr>
                <a:t>, 1985)</a:t>
              </a:r>
            </a:p>
          </p:txBody>
        </p:sp>
      </p:grpSp>
      <p:sp>
        <p:nvSpPr>
          <p:cNvPr id="14"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Tree>
    <p:extLst>
      <p:ext uri="{BB962C8B-B14F-4D97-AF65-F5344CB8AC3E}">
        <p14:creationId xmlns:p14="http://schemas.microsoft.com/office/powerpoint/2010/main" val="4100255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4" name="Group 19"/>
          <p:cNvGrpSpPr>
            <a:grpSpLocks/>
          </p:cNvGrpSpPr>
          <p:nvPr/>
        </p:nvGrpSpPr>
        <p:grpSpPr bwMode="auto">
          <a:xfrm>
            <a:off x="319246" y="2195536"/>
            <a:ext cx="8353705" cy="954459"/>
            <a:chOff x="85" y="-350"/>
            <a:chExt cx="7484" cy="956"/>
          </a:xfrm>
        </p:grpSpPr>
        <p:pic>
          <p:nvPicPr>
            <p:cNvPr id="15"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 y="-185"/>
              <a:ext cx="3512" cy="6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6" name="Rectangle 18"/>
            <p:cNvSpPr>
              <a:spLocks/>
            </p:cNvSpPr>
            <p:nvPr/>
          </p:nvSpPr>
          <p:spPr bwMode="auto">
            <a:xfrm>
              <a:off x="85" y="-350"/>
              <a:ext cx="3161" cy="9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3. Context sensitivity </a:t>
              </a:r>
            </a:p>
            <a:p>
              <a:pPr algn="l"/>
              <a:r>
                <a:rPr lang="en-US" sz="1200" dirty="0">
                  <a:ea typeface="ＭＳ Ｐゴシック" charset="0"/>
                  <a:cs typeface="ＭＳ Ｐゴシック" charset="0"/>
                </a:rPr>
                <a:t>            </a:t>
              </a:r>
              <a:r>
                <a:rPr lang="en-US" sz="1600" dirty="0">
                  <a:ea typeface="ＭＳ Ｐゴシック" charset="0"/>
                  <a:cs typeface="ＭＳ Ｐゴシック" charset="0"/>
                </a:rPr>
                <a:t>(</a:t>
              </a:r>
              <a:r>
                <a:rPr lang="en-US" sz="1600" dirty="0">
                  <a:latin typeface="Helvetica"/>
                  <a:ea typeface="ＭＳ Ｐゴシック" charset="0"/>
                  <a:cs typeface="Helvetica"/>
                </a:rPr>
                <a:t>Garner, 1974; Palmer, 1975; </a:t>
              </a:r>
            </a:p>
            <a:p>
              <a:pPr algn="l"/>
              <a:r>
                <a:rPr lang="en-US" sz="1600" dirty="0">
                  <a:latin typeface="Helvetica"/>
                  <a:ea typeface="ＭＳ Ｐゴシック" charset="0"/>
                  <a:cs typeface="Helvetica"/>
                </a:rPr>
                <a:t>	Selfridge, 1955; </a:t>
              </a:r>
              <a:r>
                <a:rPr lang="en-US" sz="1600" dirty="0" err="1">
                  <a:latin typeface="Helvetica"/>
                  <a:ea typeface="ＭＳ Ｐゴシック" charset="0"/>
                  <a:cs typeface="Helvetica"/>
                </a:rPr>
                <a:t>Tversky</a:t>
              </a:r>
              <a:r>
                <a:rPr lang="en-US" sz="1600" dirty="0">
                  <a:latin typeface="Helvetica"/>
                  <a:ea typeface="ＭＳ Ｐゴシック" charset="0"/>
                  <a:cs typeface="Helvetica"/>
                </a:rPr>
                <a:t>, 1977)</a:t>
              </a:r>
            </a:p>
          </p:txBody>
        </p:sp>
      </p:grpSp>
      <p:grpSp>
        <p:nvGrpSpPr>
          <p:cNvPr id="17" name="Group 57"/>
          <p:cNvGrpSpPr>
            <a:grpSpLocks/>
          </p:cNvGrpSpPr>
          <p:nvPr/>
        </p:nvGrpSpPr>
        <p:grpSpPr bwMode="auto">
          <a:xfrm>
            <a:off x="318978" y="3525166"/>
            <a:ext cx="6926094" cy="1204395"/>
            <a:chOff x="-7385" y="576"/>
            <a:chExt cx="6205" cy="1079"/>
          </a:xfrm>
        </p:grpSpPr>
        <p:sp>
          <p:nvSpPr>
            <p:cNvPr id="18" name="Rectangle 53"/>
            <p:cNvSpPr>
              <a:spLocks/>
            </p:cNvSpPr>
            <p:nvPr/>
          </p:nvSpPr>
          <p:spPr bwMode="auto">
            <a:xfrm>
              <a:off x="-7385" y="644"/>
              <a:ext cx="3813" cy="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4. Prior expectations </a:t>
              </a:r>
            </a:p>
            <a:p>
              <a:pPr algn="l"/>
              <a:r>
                <a:rPr lang="en-US" sz="1200" dirty="0">
                  <a:latin typeface="Helvetica"/>
                  <a:ea typeface="ＭＳ Ｐゴシック" charset="0"/>
                  <a:cs typeface="Helvetica"/>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Chater</a:t>
              </a:r>
              <a:r>
                <a:rPr lang="en-US" sz="1600" dirty="0">
                  <a:latin typeface="Helvetica"/>
                  <a:ea typeface="ＭＳ Ｐゴシック" charset="0"/>
                  <a:cs typeface="Helvetica"/>
                </a:rPr>
                <a:t> &amp; </a:t>
              </a:r>
              <a:r>
                <a:rPr lang="en-US" sz="1600" dirty="0" err="1">
                  <a:latin typeface="Helvetica"/>
                  <a:ea typeface="ＭＳ Ｐゴシック" charset="0"/>
                  <a:cs typeface="Helvetica"/>
                </a:rPr>
                <a:t>Vitanyi</a:t>
              </a:r>
              <a:r>
                <a:rPr lang="en-US" sz="1600" dirty="0">
                  <a:latin typeface="Helvetica"/>
                  <a:ea typeface="ＭＳ Ｐゴシック" charset="0"/>
                  <a:cs typeface="Helvetica"/>
                </a:rPr>
                <a:t>, 2003; Goldstone, 2000; </a:t>
              </a:r>
            </a:p>
            <a:p>
              <a:pPr algn="l"/>
              <a:r>
                <a:rPr lang="en-US" sz="1600" dirty="0">
                  <a:latin typeface="Helvetica"/>
                  <a:ea typeface="ＭＳ Ｐゴシック" charset="0"/>
                  <a:cs typeface="Helvetica"/>
                </a:rPr>
                <a:t>	Hochberg &amp; McAlister, 1953)</a:t>
              </a:r>
            </a:p>
          </p:txBody>
        </p:sp>
        <p:pic>
          <p:nvPicPr>
            <p:cNvPr id="19"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 y="581"/>
              <a:ext cx="630" cy="10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20"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6" y="576"/>
              <a:ext cx="626" cy="1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21"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Tree>
    <p:extLst>
      <p:ext uri="{BB962C8B-B14F-4D97-AF65-F5344CB8AC3E}">
        <p14:creationId xmlns:p14="http://schemas.microsoft.com/office/powerpoint/2010/main" val="210334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2" name="Group 26"/>
          <p:cNvGrpSpPr>
            <a:grpSpLocks/>
          </p:cNvGrpSpPr>
          <p:nvPr/>
        </p:nvGrpSpPr>
        <p:grpSpPr bwMode="auto">
          <a:xfrm>
            <a:off x="318893" y="3501852"/>
            <a:ext cx="8787950" cy="781737"/>
            <a:chOff x="-4320" y="413"/>
            <a:chExt cx="7873" cy="783"/>
          </a:xfrm>
        </p:grpSpPr>
        <p:sp>
          <p:nvSpPr>
            <p:cNvPr id="13" name="Rectangle 21"/>
            <p:cNvSpPr>
              <a:spLocks/>
            </p:cNvSpPr>
            <p:nvPr/>
          </p:nvSpPr>
          <p:spPr bwMode="auto">
            <a:xfrm>
              <a:off x="-4320" y="413"/>
              <a:ext cx="4617" cy="7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6. Transformational invariance </a:t>
              </a:r>
            </a:p>
            <a:p>
              <a:pPr algn="l"/>
              <a:r>
                <a:rPr lang="en-US" sz="1100" dirty="0">
                  <a:latin typeface="Helvetica"/>
                  <a:ea typeface="ＭＳ Ｐゴシック" charset="0"/>
                  <a:cs typeface="Helvetica"/>
                </a:rPr>
                <a:t>       </a:t>
              </a:r>
              <a:r>
                <a:rPr lang="en-US" sz="1600" dirty="0">
                  <a:latin typeface="Helvetica"/>
                  <a:ea typeface="ＭＳ Ｐゴシック" charset="0"/>
                  <a:cs typeface="Helvetica"/>
                </a:rPr>
                <a:t> (Palmer, 1983; Rock, 1973; Rust &amp; Stocker, 2010)</a:t>
              </a:r>
            </a:p>
          </p:txBody>
        </p:sp>
        <p:pic>
          <p:nvPicPr>
            <p:cNvPr id="21" name="Picture 22"/>
            <p:cNvPicPr>
              <a:picLocks noChangeAspect="1" noChangeArrowheads="1"/>
            </p:cNvPicPr>
            <p:nvPr/>
          </p:nvPicPr>
          <p:blipFill>
            <a:blip r:embed="rId4">
              <a:extLst>
                <a:ext uri="{28A0092B-C50C-407E-A947-70E740481C1C}">
                  <a14:useLocalDpi xmlns:a14="http://schemas.microsoft.com/office/drawing/2010/main" val="0"/>
                </a:ext>
              </a:extLst>
            </a:blip>
            <a:srcRect l="1662" t="87598" r="83499"/>
            <a:stretch>
              <a:fillRect/>
            </a:stretch>
          </p:blipFill>
          <p:spPr bwMode="auto">
            <a:xfrm>
              <a:off x="250" y="441"/>
              <a:ext cx="1429" cy="7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22" name="Picture 23"/>
            <p:cNvPicPr>
              <a:picLocks noChangeAspect="1" noChangeArrowheads="1"/>
            </p:cNvPicPr>
            <p:nvPr/>
          </p:nvPicPr>
          <p:blipFill>
            <a:blip r:embed="rId4">
              <a:extLst>
                <a:ext uri="{28A0092B-C50C-407E-A947-70E740481C1C}">
                  <a14:useLocalDpi xmlns:a14="http://schemas.microsoft.com/office/drawing/2010/main" val="0"/>
                </a:ext>
              </a:extLst>
            </a:blip>
            <a:srcRect l="65878" t="87598" r="19283"/>
            <a:stretch>
              <a:fillRect/>
            </a:stretch>
          </p:blipFill>
          <p:spPr bwMode="auto">
            <a:xfrm>
              <a:off x="2124" y="441"/>
              <a:ext cx="1429" cy="7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23" name="Line 24"/>
            <p:cNvSpPr>
              <a:spLocks noChangeShapeType="1"/>
            </p:cNvSpPr>
            <p:nvPr/>
          </p:nvSpPr>
          <p:spPr bwMode="auto">
            <a:xfrm flipH="1">
              <a:off x="1466" y="886"/>
              <a:ext cx="963"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4" name="Rectangle 25"/>
            <p:cNvSpPr>
              <a:spLocks/>
            </p:cNvSpPr>
            <p:nvPr/>
          </p:nvSpPr>
          <p:spPr bwMode="auto">
            <a:xfrm>
              <a:off x="1410" y="439"/>
              <a:ext cx="1026" cy="3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latin typeface="Helvetica"/>
                  <a:ea typeface="ＭＳ Ｐゴシック" charset="0"/>
                  <a:cs typeface="Helvetica"/>
                </a:rPr>
                <a:t>reflection</a:t>
              </a:r>
            </a:p>
          </p:txBody>
        </p:sp>
      </p:grpSp>
      <p:sp>
        <p:nvSpPr>
          <p:cNvPr id="25"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
        <p:nvSpPr>
          <p:cNvPr id="26" name="TextBox 25"/>
          <p:cNvSpPr txBox="1"/>
          <p:nvPr/>
        </p:nvSpPr>
        <p:spPr>
          <a:xfrm>
            <a:off x="319246" y="4524750"/>
            <a:ext cx="8267745" cy="553998"/>
          </a:xfrm>
          <a:prstGeom prst="rect">
            <a:avLst/>
          </a:prstGeom>
          <a:noFill/>
        </p:spPr>
        <p:txBody>
          <a:bodyPr wrap="none" rtlCol="0">
            <a:spAutoFit/>
          </a:bodyPr>
          <a:lstStyle/>
          <a:p>
            <a:r>
              <a:rPr lang="en-US" sz="3000" dirty="0">
                <a:latin typeface="Helvetica"/>
                <a:cs typeface="Helvetica"/>
              </a:rPr>
              <a:t>Substitutive, incremental learning, hierarchies... </a:t>
            </a:r>
          </a:p>
        </p:txBody>
      </p:sp>
      <p:sp>
        <p:nvSpPr>
          <p:cNvPr id="27" name="Rectangle 28"/>
          <p:cNvSpPr>
            <a:spLocks/>
          </p:cNvSpPr>
          <p:nvPr/>
        </p:nvSpPr>
        <p:spPr bwMode="auto">
          <a:xfrm>
            <a:off x="319217" y="2255552"/>
            <a:ext cx="5354148"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3000" dirty="0">
                <a:latin typeface="Helvetica"/>
                <a:ea typeface="ＭＳ Ｐゴシック" charset="0"/>
                <a:cs typeface="Helvetica"/>
              </a:rPr>
              <a:t>5. Category </a:t>
            </a:r>
            <a:r>
              <a:rPr lang="en-US" sz="3000" dirty="0" err="1">
                <a:latin typeface="Helvetica"/>
                <a:ea typeface="ＭＳ Ｐゴシック" charset="0"/>
                <a:cs typeface="Helvetica"/>
              </a:rPr>
              <a:t>diagnosticity</a:t>
            </a:r>
            <a:r>
              <a:rPr lang="en-US" sz="3000" dirty="0">
                <a:latin typeface="Helvetica"/>
                <a:ea typeface="ＭＳ Ｐゴシック" charset="0"/>
                <a:cs typeface="Helvetica"/>
              </a:rPr>
              <a:t> </a:t>
            </a:r>
          </a:p>
          <a:p>
            <a:pPr algn="l"/>
            <a:r>
              <a:rPr lang="en-US" sz="1200" dirty="0">
                <a:latin typeface="Helvetica"/>
                <a:ea typeface="ＭＳ Ｐゴシック" charset="0"/>
                <a:cs typeface="Helvetica"/>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Petzow</a:t>
            </a:r>
            <a:r>
              <a:rPr lang="en-US" sz="1600" dirty="0">
                <a:latin typeface="Helvetica"/>
                <a:ea typeface="ＭＳ Ｐゴシック" charset="0"/>
                <a:cs typeface="Helvetica"/>
              </a:rPr>
              <a:t> &amp; Goldstone, 1994; </a:t>
            </a:r>
            <a:r>
              <a:rPr lang="en-US" sz="1600" dirty="0" err="1">
                <a:latin typeface="Helvetica"/>
                <a:ea typeface="ＭＳ Ｐゴシック" charset="0"/>
                <a:cs typeface="Helvetica"/>
              </a:rPr>
              <a:t>Schyns</a:t>
            </a:r>
            <a:r>
              <a:rPr lang="en-US" sz="1600" dirty="0">
                <a:latin typeface="Helvetica"/>
                <a:ea typeface="ＭＳ Ｐゴシック" charset="0"/>
                <a:cs typeface="Helvetica"/>
              </a:rPr>
              <a:t> &amp; Murphy, 1994)</a:t>
            </a:r>
          </a:p>
        </p:txBody>
      </p:sp>
      <p:pic>
        <p:nvPicPr>
          <p:cNvPr id="28"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1894" y="2283423"/>
            <a:ext cx="891030" cy="8549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29" name="Group 33"/>
          <p:cNvGrpSpPr>
            <a:grpSpLocks/>
          </p:cNvGrpSpPr>
          <p:nvPr/>
        </p:nvGrpSpPr>
        <p:grpSpPr bwMode="auto">
          <a:xfrm>
            <a:off x="8007573" y="2258434"/>
            <a:ext cx="920812" cy="1087043"/>
            <a:chOff x="-61" y="-57"/>
            <a:chExt cx="709" cy="837"/>
          </a:xfrm>
        </p:grpSpPr>
        <p:pic>
          <p:nvPicPr>
            <p:cNvPr id="3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 y="-57"/>
              <a:ext cx="709" cy="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31" name="Rectangle 32"/>
            <p:cNvSpPr>
              <a:spLocks/>
            </p:cNvSpPr>
            <p:nvPr/>
          </p:nvSpPr>
          <p:spPr bwMode="auto">
            <a:xfrm>
              <a:off x="135" y="567"/>
              <a:ext cx="35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A90A"/>
                  </a:solidFill>
                  <a:ea typeface="ＭＳ Ｐゴシック" charset="0"/>
                  <a:cs typeface="ＭＳ Ｐゴシック" charset="0"/>
                </a:rPr>
                <a:t>cat 1</a:t>
              </a:r>
            </a:p>
          </p:txBody>
        </p:sp>
      </p:grpSp>
      <p:grpSp>
        <p:nvGrpSpPr>
          <p:cNvPr id="32" name="Group 36"/>
          <p:cNvGrpSpPr>
            <a:grpSpLocks/>
          </p:cNvGrpSpPr>
          <p:nvPr/>
        </p:nvGrpSpPr>
        <p:grpSpPr bwMode="auto">
          <a:xfrm>
            <a:off x="7249738" y="2379324"/>
            <a:ext cx="280531" cy="657165"/>
            <a:chOff x="0" y="0"/>
            <a:chExt cx="216" cy="505"/>
          </a:xfrm>
        </p:grpSpPr>
        <p:sp>
          <p:nvSpPr>
            <p:cNvPr id="33" name="Line 34"/>
            <p:cNvSpPr>
              <a:spLocks noChangeShapeType="1"/>
            </p:cNvSpPr>
            <p:nvPr/>
          </p:nvSpPr>
          <p:spPr bwMode="auto">
            <a:xfrm flipH="1">
              <a:off x="0" y="0"/>
              <a:ext cx="0" cy="505"/>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4" name="Line 35"/>
            <p:cNvSpPr>
              <a:spLocks noChangeShapeType="1"/>
            </p:cNvSpPr>
            <p:nvPr/>
          </p:nvSpPr>
          <p:spPr bwMode="auto">
            <a:xfrm flipH="1">
              <a:off x="16" y="41"/>
              <a:ext cx="200" cy="193"/>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5" name="Group 39"/>
          <p:cNvGrpSpPr>
            <a:grpSpLocks/>
          </p:cNvGrpSpPr>
          <p:nvPr/>
        </p:nvGrpSpPr>
        <p:grpSpPr bwMode="auto">
          <a:xfrm>
            <a:off x="5671598" y="2273341"/>
            <a:ext cx="876655" cy="1079348"/>
            <a:chOff x="-59" y="-35"/>
            <a:chExt cx="675" cy="830"/>
          </a:xfrm>
        </p:grpSpPr>
        <p:sp>
          <p:nvSpPr>
            <p:cNvPr id="36" name="Rectangle 37"/>
            <p:cNvSpPr>
              <a:spLocks/>
            </p:cNvSpPr>
            <p:nvPr/>
          </p:nvSpPr>
          <p:spPr bwMode="auto">
            <a:xfrm>
              <a:off x="127" y="582"/>
              <a:ext cx="35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E12ED5"/>
                  </a:solidFill>
                  <a:ea typeface="ＭＳ Ｐゴシック" charset="0"/>
                  <a:cs typeface="ＭＳ Ｐゴシック" charset="0"/>
                </a:rPr>
                <a:t>cat 2</a:t>
              </a:r>
            </a:p>
          </p:txBody>
        </p:sp>
        <p:pic>
          <p:nvPicPr>
            <p:cNvPr id="37" name="Picture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 y="-35"/>
              <a:ext cx="675" cy="6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8" name="Group 43"/>
          <p:cNvGrpSpPr>
            <a:grpSpLocks/>
          </p:cNvGrpSpPr>
          <p:nvPr/>
        </p:nvGrpSpPr>
        <p:grpSpPr bwMode="auto">
          <a:xfrm>
            <a:off x="6895043" y="2338539"/>
            <a:ext cx="693022" cy="364585"/>
            <a:chOff x="0" y="0"/>
            <a:chExt cx="440" cy="231"/>
          </a:xfrm>
        </p:grpSpPr>
        <p:sp>
          <p:nvSpPr>
            <p:cNvPr id="39" name="Line 40"/>
            <p:cNvSpPr>
              <a:spLocks noChangeShapeType="1"/>
            </p:cNvSpPr>
            <p:nvPr/>
          </p:nvSpPr>
          <p:spPr bwMode="auto">
            <a:xfrm flipH="1">
              <a:off x="0" y="218"/>
              <a:ext cx="224" cy="0"/>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0" name="Line 41"/>
            <p:cNvSpPr>
              <a:spLocks noChangeShapeType="1"/>
            </p:cNvSpPr>
            <p:nvPr/>
          </p:nvSpPr>
          <p:spPr bwMode="auto">
            <a:xfrm rot="10800000">
              <a:off x="0" y="0"/>
              <a:ext cx="232" cy="231"/>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1" name="Line 42"/>
            <p:cNvSpPr>
              <a:spLocks noChangeShapeType="1"/>
            </p:cNvSpPr>
            <p:nvPr/>
          </p:nvSpPr>
          <p:spPr bwMode="auto">
            <a:xfrm flipH="1">
              <a:off x="232" y="0"/>
              <a:ext cx="208" cy="216"/>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42" name="Group 60"/>
          <p:cNvGrpSpPr>
            <a:grpSpLocks/>
          </p:cNvGrpSpPr>
          <p:nvPr/>
        </p:nvGrpSpPr>
        <p:grpSpPr bwMode="auto">
          <a:xfrm>
            <a:off x="8458938" y="2381763"/>
            <a:ext cx="280531" cy="655867"/>
            <a:chOff x="0" y="0"/>
            <a:chExt cx="216" cy="505"/>
          </a:xfrm>
        </p:grpSpPr>
        <p:sp>
          <p:nvSpPr>
            <p:cNvPr id="43" name="Line 58"/>
            <p:cNvSpPr>
              <a:spLocks noChangeShapeType="1"/>
            </p:cNvSpPr>
            <p:nvPr/>
          </p:nvSpPr>
          <p:spPr bwMode="auto">
            <a:xfrm flipH="1">
              <a:off x="0" y="0"/>
              <a:ext cx="0" cy="505"/>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4" name="Line 59"/>
            <p:cNvSpPr>
              <a:spLocks noChangeShapeType="1"/>
            </p:cNvSpPr>
            <p:nvPr/>
          </p:nvSpPr>
          <p:spPr bwMode="auto">
            <a:xfrm flipH="1">
              <a:off x="16" y="41"/>
              <a:ext cx="200" cy="193"/>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45" name="Group 64"/>
          <p:cNvGrpSpPr>
            <a:grpSpLocks/>
          </p:cNvGrpSpPr>
          <p:nvPr/>
        </p:nvGrpSpPr>
        <p:grpSpPr bwMode="auto">
          <a:xfrm>
            <a:off x="5759610" y="2352049"/>
            <a:ext cx="691452" cy="364585"/>
            <a:chOff x="0" y="0"/>
            <a:chExt cx="440" cy="231"/>
          </a:xfrm>
        </p:grpSpPr>
        <p:sp>
          <p:nvSpPr>
            <p:cNvPr id="46" name="Line 61"/>
            <p:cNvSpPr>
              <a:spLocks noChangeShapeType="1"/>
            </p:cNvSpPr>
            <p:nvPr/>
          </p:nvSpPr>
          <p:spPr bwMode="auto">
            <a:xfrm flipH="1">
              <a:off x="0" y="218"/>
              <a:ext cx="224" cy="0"/>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7" name="Line 62"/>
            <p:cNvSpPr>
              <a:spLocks noChangeShapeType="1"/>
            </p:cNvSpPr>
            <p:nvPr/>
          </p:nvSpPr>
          <p:spPr bwMode="auto">
            <a:xfrm rot="10800000">
              <a:off x="0" y="0"/>
              <a:ext cx="232" cy="231"/>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8" name="Line 63"/>
            <p:cNvSpPr>
              <a:spLocks noChangeShapeType="1"/>
            </p:cNvSpPr>
            <p:nvPr/>
          </p:nvSpPr>
          <p:spPr bwMode="auto">
            <a:xfrm flipH="1">
              <a:off x="232" y="0"/>
              <a:ext cx="208" cy="216"/>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Tree>
    <p:extLst>
      <p:ext uri="{BB962C8B-B14F-4D97-AF65-F5344CB8AC3E}">
        <p14:creationId xmlns:p14="http://schemas.microsoft.com/office/powerpoint/2010/main" val="235042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2"/>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499"/>
                                          </p:stCondLst>
                                        </p:cTn>
                                        <p:tgtEl>
                                          <p:spTgt spid="4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35"/>
                                        </p:tgtEl>
                                        <p:attrNameLst>
                                          <p:attrName>style.visibility</p:attrName>
                                        </p:attrNameLst>
                                      </p:cBhvr>
                                      <p:to>
                                        <p:strVal val="visible"/>
                                      </p:to>
                                    </p:set>
                                  </p:childTnLst>
                                </p:cTn>
                              </p:par>
                            </p:childTnLst>
                          </p:cTn>
                        </p:par>
                        <p:par>
                          <p:cTn id="22" fill="hold">
                            <p:stCondLst>
                              <p:cond delay="500"/>
                            </p:stCondLst>
                            <p:childTnLst>
                              <p:par>
                                <p:cTn id="23" presetID="1" presetClass="exit" presetSubtype="0" fill="hold" nodeType="afterEffect">
                                  <p:stCondLst>
                                    <p:cond delay="0"/>
                                  </p:stCondLst>
                                  <p:childTnLst>
                                    <p:set>
                                      <p:cBhvr>
                                        <p:cTn id="24" dur="1" fill="hold">
                                          <p:stCondLst>
                                            <p:cond delay="499"/>
                                          </p:stCondLst>
                                        </p:cTn>
                                        <p:tgtEl>
                                          <p:spTgt spid="32"/>
                                        </p:tgtEl>
                                        <p:attrNameLst>
                                          <p:attrName>style.visibility</p:attrName>
                                        </p:attrNameLst>
                                      </p:cBhvr>
                                      <p:to>
                                        <p:strVal val="hidden"/>
                                      </p:to>
                                    </p:set>
                                  </p:childTnLst>
                                </p:cTn>
                              </p:par>
                            </p:childTnLst>
                          </p:cTn>
                        </p:par>
                        <p:par>
                          <p:cTn id="25" fill="hold">
                            <p:stCondLst>
                              <p:cond delay="1000"/>
                            </p:stCondLst>
                            <p:childTnLst>
                              <p:par>
                                <p:cTn id="26" presetID="1" presetClass="exit" presetSubtype="0" fill="hold" nodeType="afterEffect">
                                  <p:stCondLst>
                                    <p:cond delay="0"/>
                                  </p:stCondLst>
                                  <p:childTnLst>
                                    <p:set>
                                      <p:cBhvr>
                                        <p:cTn id="27" dur="1" fill="hold">
                                          <p:stCondLst>
                                            <p:cond delay="499"/>
                                          </p:stCondLst>
                                        </p:cTn>
                                        <p:tgtEl>
                                          <p:spTgt spid="4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38"/>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499"/>
                                          </p:stCondLst>
                                        </p:cTn>
                                        <p:tgtEl>
                                          <p:spTgt spid="38"/>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499"/>
                                          </p:stCondLst>
                                        </p:cTn>
                                        <p:tgtEl>
                                          <p:spTgt spid="4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963812" y="1529843"/>
            <a:ext cx="3263019" cy="2032549"/>
            <a:chOff x="382628" y="3881095"/>
            <a:chExt cx="3263019" cy="2032549"/>
          </a:xfrm>
        </p:grpSpPr>
        <p:grpSp>
          <p:nvGrpSpPr>
            <p:cNvPr id="46105" name="Group 25"/>
            <p:cNvGrpSpPr>
              <a:grpSpLocks/>
            </p:cNvGrpSpPr>
            <p:nvPr/>
          </p:nvGrpSpPr>
          <p:grpSpPr bwMode="auto">
            <a:xfrm>
              <a:off x="503629" y="3956575"/>
              <a:ext cx="3017999" cy="1923361"/>
              <a:chOff x="0" y="0"/>
              <a:chExt cx="4482" cy="2857"/>
            </a:xfrm>
          </p:grpSpPr>
          <p:pic>
            <p:nvPicPr>
              <p:cNvPr id="8602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 y="2305"/>
                <a:ext cx="936"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3"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4"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5"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6"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8" y="781"/>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9"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8" y="1543"/>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0"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1"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2"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3" name="Picture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4"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5"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6"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4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7" name="Picture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9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1" name="Rectangle 70"/>
            <p:cNvSpPr/>
            <p:nvPr/>
          </p:nvSpPr>
          <p:spPr>
            <a:xfrm>
              <a:off x="382628" y="3881095"/>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2"/>
          <p:cNvGrpSpPr>
            <a:grpSpLocks/>
          </p:cNvGrpSpPr>
          <p:nvPr/>
        </p:nvGrpSpPr>
        <p:grpSpPr bwMode="auto">
          <a:xfrm>
            <a:off x="516114" y="3615163"/>
            <a:ext cx="1697155" cy="1065983"/>
            <a:chOff x="1429" y="-127"/>
            <a:chExt cx="1520" cy="955"/>
          </a:xfrm>
        </p:grpSpPr>
        <p:sp>
          <p:nvSpPr>
            <p:cNvPr id="28" name="Rectangle 20"/>
            <p:cNvSpPr>
              <a:spLocks/>
            </p:cNvSpPr>
            <p:nvPr/>
          </p:nvSpPr>
          <p:spPr bwMode="auto">
            <a:xfrm>
              <a:off x="1429" y="-127"/>
              <a:ext cx="1520" cy="7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2000" dirty="0">
                  <a:latin typeface="Helvetica"/>
                  <a:ea typeface="ＭＳ Ｐゴシック" charset="0"/>
                  <a:cs typeface="Helvetica"/>
                </a:rPr>
                <a:t>Same cave?</a:t>
              </a:r>
            </a:p>
          </p:txBody>
        </p:sp>
        <p:pic>
          <p:nvPicPr>
            <p:cNvPr id="29" name="Picture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75" y="277"/>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0" name="Group 25"/>
          <p:cNvGrpSpPr>
            <a:grpSpLocks/>
          </p:cNvGrpSpPr>
          <p:nvPr/>
        </p:nvGrpSpPr>
        <p:grpSpPr bwMode="auto">
          <a:xfrm>
            <a:off x="2288507" y="3534814"/>
            <a:ext cx="1415363" cy="1098343"/>
            <a:chOff x="247" y="-2213"/>
            <a:chExt cx="1268" cy="984"/>
          </a:xfrm>
        </p:grpSpPr>
        <p:sp>
          <p:nvSpPr>
            <p:cNvPr id="31" name="Rectangle 23"/>
            <p:cNvSpPr>
              <a:spLocks/>
            </p:cNvSpPr>
            <p:nvPr/>
          </p:nvSpPr>
          <p:spPr bwMode="auto">
            <a:xfrm>
              <a:off x="247" y="-2213"/>
              <a:ext cx="1268"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000" dirty="0">
                  <a:solidFill>
                    <a:schemeClr val="tx1"/>
                  </a:solidFill>
                  <a:latin typeface="Helvetica"/>
                  <a:ea typeface="ＭＳ Ｐゴシック" charset="0"/>
                  <a:cs typeface="Helvetica"/>
                </a:rPr>
                <a:t>Same cave?</a:t>
              </a:r>
            </a:p>
          </p:txBody>
        </p:sp>
        <p:pic>
          <p:nvPicPr>
            <p:cNvPr id="32" name="Picture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0" y="-1780"/>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36" name="Rectangle 2"/>
          <p:cNvSpPr>
            <a:spLocks/>
          </p:cNvSpPr>
          <p:nvPr/>
        </p:nvSpPr>
        <p:spPr bwMode="auto">
          <a:xfrm>
            <a:off x="361370" y="760276"/>
            <a:ext cx="705684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solidFill>
                  <a:schemeClr val="tx1"/>
                </a:solidFill>
                <a:latin typeface="Helvetica"/>
                <a:ea typeface="ＭＳ Ｐゴシック" charset="0"/>
                <a:cs typeface="Helvetica"/>
              </a:rPr>
              <a:t>Inscriptions found on a Martian cave wall:</a:t>
            </a:r>
          </a:p>
        </p:txBody>
      </p:sp>
      <p:sp>
        <p:nvSpPr>
          <p:cNvPr id="37"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Feature inference</a:t>
            </a:r>
          </a:p>
        </p:txBody>
      </p:sp>
      <p:grpSp>
        <p:nvGrpSpPr>
          <p:cNvPr id="38" name="Group 19"/>
          <p:cNvGrpSpPr>
            <a:grpSpLocks/>
          </p:cNvGrpSpPr>
          <p:nvPr/>
        </p:nvGrpSpPr>
        <p:grpSpPr bwMode="auto">
          <a:xfrm>
            <a:off x="611725" y="1563551"/>
            <a:ext cx="3011268" cy="1905858"/>
            <a:chOff x="0" y="0"/>
            <a:chExt cx="4472" cy="2831"/>
          </a:xfrm>
        </p:grpSpPr>
        <p:pic>
          <p:nvPicPr>
            <p:cNvPr id="39" name="Picture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8"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37"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5" name="Picture 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6"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7" name="Picture 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58"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1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37"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1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79"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1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0"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3" name="Picture 1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179"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4" name="Picture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0" y="9"/>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55" name="Rectangle 54"/>
          <p:cNvSpPr/>
          <p:nvPr/>
        </p:nvSpPr>
        <p:spPr>
          <a:xfrm>
            <a:off x="502310" y="1522929"/>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p:cNvSpPr/>
          <p:nvPr/>
        </p:nvSpPr>
        <p:spPr>
          <a:xfrm>
            <a:off x="578024" y="1582478"/>
            <a:ext cx="702733" cy="1926371"/>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angle 56"/>
          <p:cNvSpPr/>
          <p:nvPr/>
        </p:nvSpPr>
        <p:spPr>
          <a:xfrm>
            <a:off x="1383150" y="1569610"/>
            <a:ext cx="702733" cy="1926371"/>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2188276" y="1568325"/>
            <a:ext cx="702733" cy="1926371"/>
          </a:xfrm>
          <a:prstGeom prst="rect">
            <a:avLst/>
          </a:prstGeom>
          <a:solidFill>
            <a:srgbClr val="18B90B">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2993401" y="1582478"/>
            <a:ext cx="702733" cy="1926371"/>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p:cNvSpPr/>
          <p:nvPr/>
        </p:nvSpPr>
        <p:spPr>
          <a:xfrm>
            <a:off x="5051112" y="1613658"/>
            <a:ext cx="659092" cy="46124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5856238" y="1600790"/>
            <a:ext cx="659092" cy="46124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angle 62"/>
          <p:cNvSpPr/>
          <p:nvPr/>
        </p:nvSpPr>
        <p:spPr>
          <a:xfrm>
            <a:off x="6661364" y="1599505"/>
            <a:ext cx="659092" cy="46124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a:off x="7466489" y="1613658"/>
            <a:ext cx="659092" cy="46124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p:cNvSpPr/>
          <p:nvPr/>
        </p:nvSpPr>
        <p:spPr>
          <a:xfrm>
            <a:off x="604586" y="4004615"/>
            <a:ext cx="1120637" cy="7290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2412133" y="4004615"/>
            <a:ext cx="1120637" cy="729038"/>
          </a:xfrm>
          <a:prstGeom prst="rect">
            <a:avLst/>
          </a:prstGeom>
          <a:solidFill>
            <a:srgbClr val="FF00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 name="Group 4"/>
          <p:cNvGrpSpPr/>
          <p:nvPr/>
        </p:nvGrpSpPr>
        <p:grpSpPr>
          <a:xfrm>
            <a:off x="5051337" y="3629192"/>
            <a:ext cx="1985226" cy="1104461"/>
            <a:chOff x="1403196" y="4306897"/>
            <a:chExt cx="1985226" cy="1104461"/>
          </a:xfrm>
        </p:grpSpPr>
        <p:grpSp>
          <p:nvGrpSpPr>
            <p:cNvPr id="76" name="Group 22"/>
            <p:cNvGrpSpPr>
              <a:grpSpLocks/>
            </p:cNvGrpSpPr>
            <p:nvPr/>
          </p:nvGrpSpPr>
          <p:grpSpPr bwMode="auto">
            <a:xfrm>
              <a:off x="1403196" y="4306897"/>
              <a:ext cx="1985226" cy="1043659"/>
              <a:chOff x="-2545" y="134"/>
              <a:chExt cx="1778" cy="935"/>
            </a:xfrm>
          </p:grpSpPr>
          <p:sp>
            <p:nvSpPr>
              <p:cNvPr id="77" name="Rectangle 20"/>
              <p:cNvSpPr>
                <a:spLocks/>
              </p:cNvSpPr>
              <p:nvPr/>
            </p:nvSpPr>
            <p:spPr bwMode="auto">
              <a:xfrm>
                <a:off x="-2545" y="134"/>
                <a:ext cx="1778" cy="3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2000" dirty="0">
                    <a:solidFill>
                      <a:schemeClr val="tx1"/>
                    </a:solidFill>
                    <a:latin typeface="Helvetica"/>
                    <a:ea typeface="ＭＳ Ｐゴシック" charset="0"/>
                    <a:cs typeface="Helvetica"/>
                  </a:rPr>
                  <a:t>Same cave?</a:t>
                </a:r>
              </a:p>
            </p:txBody>
          </p:sp>
          <p:pic>
            <p:nvPicPr>
              <p:cNvPr id="78" name="Picture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22" y="518"/>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82" name="Rectangle 81"/>
            <p:cNvSpPr/>
            <p:nvPr/>
          </p:nvSpPr>
          <p:spPr>
            <a:xfrm>
              <a:off x="1501744" y="4682320"/>
              <a:ext cx="1120637" cy="7290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p:cNvGrpSpPr/>
          <p:nvPr/>
        </p:nvGrpSpPr>
        <p:grpSpPr>
          <a:xfrm>
            <a:off x="6811812" y="3522292"/>
            <a:ext cx="1415363" cy="1211361"/>
            <a:chOff x="3163671" y="4199997"/>
            <a:chExt cx="1415363" cy="1211361"/>
          </a:xfrm>
        </p:grpSpPr>
        <p:grpSp>
          <p:nvGrpSpPr>
            <p:cNvPr id="79" name="Group 25"/>
            <p:cNvGrpSpPr>
              <a:grpSpLocks/>
            </p:cNvGrpSpPr>
            <p:nvPr/>
          </p:nvGrpSpPr>
          <p:grpSpPr bwMode="auto">
            <a:xfrm>
              <a:off x="3163671" y="4199997"/>
              <a:ext cx="1415363" cy="1150818"/>
              <a:chOff x="-1498" y="-2385"/>
              <a:chExt cx="1268" cy="1031"/>
            </a:xfrm>
          </p:grpSpPr>
          <p:sp>
            <p:nvSpPr>
              <p:cNvPr id="80" name="Rectangle 23"/>
              <p:cNvSpPr>
                <a:spLocks/>
              </p:cNvSpPr>
              <p:nvPr/>
            </p:nvSpPr>
            <p:spPr bwMode="auto">
              <a:xfrm>
                <a:off x="-1498" y="-2385"/>
                <a:ext cx="1268"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000" dirty="0">
                    <a:solidFill>
                      <a:schemeClr val="tx1"/>
                    </a:solidFill>
                    <a:latin typeface="Helvetica"/>
                    <a:ea typeface="ＭＳ Ｐゴシック" charset="0"/>
                    <a:cs typeface="Helvetica"/>
                  </a:rPr>
                  <a:t>Same cave?</a:t>
                </a:r>
              </a:p>
            </p:txBody>
          </p:sp>
          <p:pic>
            <p:nvPicPr>
              <p:cNvPr id="81" name="Picture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79" y="-1905"/>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83" name="Rectangle 82"/>
            <p:cNvSpPr/>
            <p:nvPr/>
          </p:nvSpPr>
          <p:spPr>
            <a:xfrm>
              <a:off x="3258027" y="4682320"/>
              <a:ext cx="1120637" cy="729038"/>
            </a:xfrm>
            <a:prstGeom prst="rect">
              <a:avLst/>
            </a:prstGeom>
            <a:solidFill>
              <a:srgbClr val="FF00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p:cNvSpPr txBox="1"/>
          <p:nvPr/>
        </p:nvSpPr>
        <p:spPr>
          <a:xfrm>
            <a:off x="1633885" y="4097375"/>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4" name="TextBox 83"/>
          <p:cNvSpPr txBox="1"/>
          <p:nvPr/>
        </p:nvSpPr>
        <p:spPr>
          <a:xfrm>
            <a:off x="3536068" y="4066114"/>
            <a:ext cx="308579" cy="523220"/>
          </a:xfrm>
          <a:prstGeom prst="rect">
            <a:avLst/>
          </a:prstGeom>
          <a:noFill/>
        </p:spPr>
        <p:txBody>
          <a:bodyPr wrap="square" rtlCol="0">
            <a:spAutoFit/>
          </a:bodyPr>
          <a:lstStyle/>
          <a:p>
            <a:r>
              <a:rPr lang="en-US" sz="2800" b="1" dirty="0">
                <a:latin typeface="Wingdings 2" charset="2"/>
                <a:cs typeface="Wingdings 2" charset="2"/>
              </a:rPr>
              <a:t>O</a:t>
            </a:r>
          </a:p>
        </p:txBody>
      </p:sp>
      <p:sp>
        <p:nvSpPr>
          <p:cNvPr id="85" name="TextBox 84"/>
          <p:cNvSpPr txBox="1"/>
          <p:nvPr/>
        </p:nvSpPr>
        <p:spPr>
          <a:xfrm>
            <a:off x="6233633" y="4071325"/>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6" name="TextBox 85"/>
          <p:cNvSpPr txBox="1"/>
          <p:nvPr/>
        </p:nvSpPr>
        <p:spPr>
          <a:xfrm>
            <a:off x="8018653" y="4066114"/>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7"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1851447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500"/>
                                        <p:tgtEl>
                                          <p:spTgt spid="5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61"/>
                                        </p:tgtEl>
                                        <p:attrNameLst>
                                          <p:attrName>style.visibility</p:attrName>
                                        </p:attrNameLst>
                                      </p:cBhvr>
                                      <p:to>
                                        <p:strVal val="visible"/>
                                      </p:to>
                                    </p:set>
                                    <p:animEffect transition="in" filter="dissolve">
                                      <p:cBhvr>
                                        <p:cTn id="49" dur="500"/>
                                        <p:tgtEl>
                                          <p:spTgt spid="6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dissolve">
                                      <p:cBhvr>
                                        <p:cTn id="52" dur="500"/>
                                        <p:tgtEl>
                                          <p:spTgt spid="6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dissolve">
                                      <p:cBhvr>
                                        <p:cTn id="55" dur="500"/>
                                        <p:tgtEl>
                                          <p:spTgt spid="6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dissolve">
                                      <p:cBhvr>
                                        <p:cTn id="58" dur="500"/>
                                        <p:tgtEl>
                                          <p:spTgt spid="64"/>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5" grpId="0" animBg="1"/>
      <p:bldP spid="56" grpId="0" animBg="1"/>
      <p:bldP spid="57" grpId="0" animBg="1"/>
      <p:bldP spid="58" grpId="0" animBg="1"/>
      <p:bldP spid="59" grpId="0" animBg="1"/>
      <p:bldP spid="61" grpId="0" animBg="1"/>
      <p:bldP spid="62" grpId="0" animBg="1"/>
      <p:bldP spid="63" grpId="0" animBg="1"/>
      <p:bldP spid="64" grpId="0" animBg="1"/>
      <p:bldP spid="65" grpId="0" animBg="1"/>
      <p:bldP spid="66" grpId="0" animBg="1"/>
      <p:bldP spid="2" grpId="0"/>
      <p:bldP spid="84" grpId="0"/>
      <p:bldP spid="85" grpId="0"/>
      <p:bldP spid="8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963812" y="1529843"/>
            <a:ext cx="3263019" cy="2032549"/>
            <a:chOff x="382628" y="3881095"/>
            <a:chExt cx="3263019" cy="2032549"/>
          </a:xfrm>
        </p:grpSpPr>
        <p:grpSp>
          <p:nvGrpSpPr>
            <p:cNvPr id="46105" name="Group 25"/>
            <p:cNvGrpSpPr>
              <a:grpSpLocks/>
            </p:cNvGrpSpPr>
            <p:nvPr/>
          </p:nvGrpSpPr>
          <p:grpSpPr bwMode="auto">
            <a:xfrm>
              <a:off x="503629" y="3956575"/>
              <a:ext cx="3017999" cy="1923361"/>
              <a:chOff x="0" y="0"/>
              <a:chExt cx="4482" cy="2857"/>
            </a:xfrm>
          </p:grpSpPr>
          <p:pic>
            <p:nvPicPr>
              <p:cNvPr id="8602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 y="2305"/>
                <a:ext cx="936"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3"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4"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5"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6"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8" y="781"/>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9"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8" y="1543"/>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0"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1"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2"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3" name="Picture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4"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5"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6"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4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7" name="Picture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9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1" name="Rectangle 70"/>
            <p:cNvSpPr/>
            <p:nvPr/>
          </p:nvSpPr>
          <p:spPr>
            <a:xfrm>
              <a:off x="382628" y="3881095"/>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6" name="Rectangle 2"/>
          <p:cNvSpPr>
            <a:spLocks/>
          </p:cNvSpPr>
          <p:nvPr/>
        </p:nvSpPr>
        <p:spPr bwMode="auto">
          <a:xfrm>
            <a:off x="361370" y="760276"/>
            <a:ext cx="705684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solidFill>
                  <a:schemeClr val="tx1"/>
                </a:solidFill>
                <a:latin typeface="Helvetica"/>
                <a:ea typeface="ＭＳ Ｐゴシック" charset="0"/>
                <a:cs typeface="Helvetica"/>
              </a:rPr>
              <a:t>Inscriptions found on a Martian cave wall:</a:t>
            </a:r>
          </a:p>
        </p:txBody>
      </p:sp>
      <p:sp>
        <p:nvSpPr>
          <p:cNvPr id="37"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Feature inference</a:t>
            </a:r>
          </a:p>
        </p:txBody>
      </p:sp>
      <p:grpSp>
        <p:nvGrpSpPr>
          <p:cNvPr id="38" name="Group 19"/>
          <p:cNvGrpSpPr>
            <a:grpSpLocks/>
          </p:cNvGrpSpPr>
          <p:nvPr/>
        </p:nvGrpSpPr>
        <p:grpSpPr bwMode="auto">
          <a:xfrm>
            <a:off x="611725" y="1563551"/>
            <a:ext cx="3011268" cy="1905858"/>
            <a:chOff x="0" y="0"/>
            <a:chExt cx="4472" cy="2831"/>
          </a:xfrm>
        </p:grpSpPr>
        <p:pic>
          <p:nvPicPr>
            <p:cNvPr id="39" name="Picture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58"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37"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5" name="Picture 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6"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7" name="Picture 1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8"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1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37"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1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79"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3" name="Picture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79"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4" name="Picture 1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9"/>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55" name="Rectangle 54"/>
          <p:cNvSpPr/>
          <p:nvPr/>
        </p:nvSpPr>
        <p:spPr>
          <a:xfrm>
            <a:off x="502310" y="1522929"/>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p:cNvSpPr/>
          <p:nvPr/>
        </p:nvSpPr>
        <p:spPr>
          <a:xfrm>
            <a:off x="578024" y="1582478"/>
            <a:ext cx="702733" cy="1926371"/>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angle 56"/>
          <p:cNvSpPr/>
          <p:nvPr/>
        </p:nvSpPr>
        <p:spPr>
          <a:xfrm>
            <a:off x="1383150" y="1569610"/>
            <a:ext cx="702733" cy="1926371"/>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2188276" y="1568325"/>
            <a:ext cx="702733" cy="1926371"/>
          </a:xfrm>
          <a:prstGeom prst="rect">
            <a:avLst/>
          </a:prstGeom>
          <a:solidFill>
            <a:srgbClr val="18B90B">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2993401" y="1582478"/>
            <a:ext cx="702733" cy="1926371"/>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p:cNvSpPr/>
          <p:nvPr/>
        </p:nvSpPr>
        <p:spPr>
          <a:xfrm>
            <a:off x="5051112" y="1613658"/>
            <a:ext cx="659092" cy="46124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5856238" y="1600790"/>
            <a:ext cx="659092" cy="46124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angle 62"/>
          <p:cNvSpPr/>
          <p:nvPr/>
        </p:nvSpPr>
        <p:spPr>
          <a:xfrm>
            <a:off x="6661364" y="1599505"/>
            <a:ext cx="659092" cy="46124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a:off x="7466489" y="1613658"/>
            <a:ext cx="659092" cy="46124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4923275" y="3623272"/>
            <a:ext cx="3399891" cy="1569660"/>
          </a:xfrm>
          <a:prstGeom prst="rect">
            <a:avLst/>
          </a:prstGeom>
        </p:spPr>
        <p:txBody>
          <a:bodyPr wrap="square">
            <a:spAutoFit/>
          </a:bodyPr>
          <a:lstStyle/>
          <a:p>
            <a:pPr marL="1588" algn="ctr">
              <a:buFont typeface="Arial"/>
              <a:buNone/>
              <a:defRPr/>
            </a:pPr>
            <a:r>
              <a:rPr lang="en-US" sz="3000" dirty="0">
                <a:solidFill>
                  <a:srgbClr val="B200CB"/>
                </a:solidFill>
                <a:latin typeface="Helvetica"/>
                <a:cs typeface="Helvetica"/>
              </a:rPr>
              <a:t>Independent parts</a:t>
            </a:r>
            <a:endParaRPr lang="en-US" sz="3000" dirty="0">
              <a:latin typeface="Helvetica"/>
              <a:cs typeface="Helvetica"/>
            </a:endParaRPr>
          </a:p>
          <a:p>
            <a:pPr marL="1588" algn="ctr">
              <a:buFont typeface="Arial"/>
              <a:buNone/>
              <a:defRPr/>
            </a:pPr>
            <a:endParaRPr lang="en-US" dirty="0">
              <a:latin typeface="Helvetica"/>
              <a:cs typeface="Helvetica"/>
            </a:endParaRPr>
          </a:p>
          <a:p>
            <a:pPr marL="1588" algn="ctr">
              <a:buFont typeface="Arial"/>
              <a:buNone/>
              <a:defRPr/>
            </a:pPr>
            <a:r>
              <a:rPr lang="en-US" sz="2400" dirty="0">
                <a:latin typeface="Helvetica"/>
                <a:cs typeface="Helvetica"/>
              </a:rPr>
              <a:t>represented as separate features</a:t>
            </a:r>
          </a:p>
        </p:txBody>
      </p:sp>
      <p:sp>
        <p:nvSpPr>
          <p:cNvPr id="74" name="Rectangle 1"/>
          <p:cNvSpPr txBox="1">
            <a:spLocks noChangeArrowheads="1"/>
          </p:cNvSpPr>
          <p:nvPr/>
        </p:nvSpPr>
        <p:spPr>
          <a:xfrm>
            <a:off x="1905146" y="1406046"/>
            <a:ext cx="5104482" cy="2296437"/>
          </a:xfrm>
          <a:prstGeom prst="rect">
            <a:avLst/>
          </a:prstGeom>
          <a:solidFill>
            <a:schemeClr val="tx1">
              <a:alpha val="84000"/>
            </a:schemeClr>
          </a:solidFill>
        </p:spPr>
        <p:txBody>
          <a:bodyPr vert="horz" lIns="18288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588" indent="0">
              <a:buFont typeface="Arial"/>
              <a:buNone/>
              <a:defRPr/>
            </a:pPr>
            <a:r>
              <a:rPr lang="en-US" b="1" dirty="0">
                <a:solidFill>
                  <a:schemeClr val="bg1"/>
                </a:solidFill>
                <a:latin typeface="Helvetica"/>
                <a:cs typeface="Helvetica"/>
              </a:rPr>
              <a:t>Hypothesis</a:t>
            </a:r>
            <a:r>
              <a:rPr lang="en-US" dirty="0">
                <a:solidFill>
                  <a:schemeClr val="bg1"/>
                </a:solidFill>
                <a:latin typeface="Helvetica"/>
                <a:cs typeface="Helvetica"/>
              </a:rPr>
              <a:t>: </a:t>
            </a:r>
          </a:p>
          <a:p>
            <a:pPr marL="1588" indent="0">
              <a:buFont typeface="Arial"/>
              <a:buNone/>
              <a:defRPr/>
            </a:pPr>
            <a:r>
              <a:rPr lang="en-US" dirty="0">
                <a:solidFill>
                  <a:schemeClr val="bg1"/>
                </a:solidFill>
                <a:latin typeface="Helvetica"/>
                <a:cs typeface="Helvetica"/>
              </a:rPr>
              <a:t>inferred features depend on how parts </a:t>
            </a:r>
            <a:r>
              <a:rPr lang="en-US" dirty="0" err="1">
                <a:solidFill>
                  <a:schemeClr val="bg1"/>
                </a:solidFill>
                <a:latin typeface="Helvetica"/>
                <a:cs typeface="Helvetica"/>
              </a:rPr>
              <a:t>covary</a:t>
            </a:r>
            <a:r>
              <a:rPr lang="en-US" dirty="0">
                <a:solidFill>
                  <a:schemeClr val="bg1"/>
                </a:solidFill>
                <a:latin typeface="Helvetica"/>
                <a:cs typeface="Helvetica"/>
              </a:rPr>
              <a:t>.</a:t>
            </a:r>
          </a:p>
        </p:txBody>
      </p:sp>
      <p:cxnSp>
        <p:nvCxnSpPr>
          <p:cNvPr id="75" name="Straight Connector 74"/>
          <p:cNvCxnSpPr/>
          <p:nvPr/>
        </p:nvCxnSpPr>
        <p:spPr>
          <a:xfrm>
            <a:off x="6623220" y="4150822"/>
            <a:ext cx="0" cy="239508"/>
          </a:xfrm>
          <a:prstGeom prst="line">
            <a:avLst/>
          </a:prstGeom>
          <a:ln>
            <a:solidFill>
              <a:srgbClr val="000000"/>
            </a:solidFill>
            <a:headEnd type="none"/>
            <a:tailEnd type="arrow"/>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515822" y="3623272"/>
            <a:ext cx="3263019" cy="1569660"/>
          </a:xfrm>
          <a:prstGeom prst="rect">
            <a:avLst/>
          </a:prstGeom>
        </p:spPr>
        <p:txBody>
          <a:bodyPr wrap="square">
            <a:spAutoFit/>
          </a:bodyPr>
          <a:lstStyle/>
          <a:p>
            <a:pPr marL="1588" algn="ctr">
              <a:buFont typeface="Arial"/>
              <a:buNone/>
              <a:defRPr/>
            </a:pPr>
            <a:r>
              <a:rPr lang="en-US" sz="3000" dirty="0">
                <a:solidFill>
                  <a:srgbClr val="0077AE"/>
                </a:solidFill>
                <a:latin typeface="Helvetica"/>
                <a:cs typeface="Helvetica"/>
              </a:rPr>
              <a:t>Correlated parts</a:t>
            </a:r>
            <a:endParaRPr lang="en-US" sz="3000" dirty="0">
              <a:latin typeface="Helvetica"/>
              <a:cs typeface="Helvetica"/>
            </a:endParaRPr>
          </a:p>
          <a:p>
            <a:pPr marL="1588" algn="ctr">
              <a:buFont typeface="Arial"/>
              <a:buNone/>
              <a:defRPr/>
            </a:pPr>
            <a:endParaRPr lang="en-US" dirty="0">
              <a:latin typeface="Helvetica"/>
              <a:cs typeface="Helvetica"/>
            </a:endParaRPr>
          </a:p>
          <a:p>
            <a:pPr marL="1588" algn="ctr">
              <a:buFont typeface="Arial"/>
              <a:buNone/>
              <a:defRPr/>
            </a:pPr>
            <a:r>
              <a:rPr lang="en-US" sz="2400" dirty="0">
                <a:latin typeface="Helvetica"/>
                <a:cs typeface="Helvetica"/>
              </a:rPr>
              <a:t>represented as a single feature</a:t>
            </a:r>
          </a:p>
        </p:txBody>
      </p:sp>
      <p:cxnSp>
        <p:nvCxnSpPr>
          <p:cNvPr id="89" name="Straight Connector 88"/>
          <p:cNvCxnSpPr/>
          <p:nvPr/>
        </p:nvCxnSpPr>
        <p:spPr>
          <a:xfrm>
            <a:off x="2147331" y="4150822"/>
            <a:ext cx="0" cy="239508"/>
          </a:xfrm>
          <a:prstGeom prst="line">
            <a:avLst/>
          </a:prstGeom>
          <a:ln>
            <a:solidFill>
              <a:srgbClr val="000000"/>
            </a:solidFill>
            <a:headEnd type="none"/>
            <a:tailEnd type="arrow"/>
          </a:ln>
          <a:effectLst/>
        </p:spPr>
        <p:style>
          <a:lnRef idx="2">
            <a:schemeClr val="accent1"/>
          </a:lnRef>
          <a:fillRef idx="0">
            <a:schemeClr val="accent1"/>
          </a:fillRef>
          <a:effectRef idx="1">
            <a:schemeClr val="accent1"/>
          </a:effectRef>
          <a:fontRef idx="minor">
            <a:schemeClr val="tx1"/>
          </a:fontRef>
        </p:style>
      </p:cxnSp>
      <p:sp>
        <p:nvSpPr>
          <p:cNvPr id="90"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15519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4" grpId="0" animBg="1"/>
      <p:bldP spid="8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9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794" y="3910856"/>
            <a:ext cx="2645589" cy="15568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8065" name="Rectangle 1"/>
          <p:cNvSpPr>
            <a:spLocks/>
          </p:cNvSpPr>
          <p:nvPr/>
        </p:nvSpPr>
        <p:spPr bwMode="auto">
          <a:xfrm>
            <a:off x="352085" y="1334521"/>
            <a:ext cx="3978814"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2600" dirty="0">
                <a:latin typeface="Helvetica"/>
                <a:ea typeface="ＭＳ Ｐゴシック" charset="0"/>
                <a:cs typeface="Helvetica"/>
              </a:rPr>
              <a:t>Each image is composed of 1 shared part and 3 out of 6 other parts.</a:t>
            </a:r>
          </a:p>
        </p:txBody>
      </p:sp>
      <p:sp>
        <p:nvSpPr>
          <p:cNvPr id="88116" name="Rectangle 13"/>
          <p:cNvSpPr>
            <a:spLocks/>
          </p:cNvSpPr>
          <p:nvPr/>
        </p:nvSpPr>
        <p:spPr bwMode="auto">
          <a:xfrm>
            <a:off x="6159128" y="1982770"/>
            <a:ext cx="924570" cy="369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t"/>
          <a:lstStyle/>
          <a:p>
            <a:pPr algn="ctr"/>
            <a:r>
              <a:rPr lang="en-US" sz="1700" dirty="0">
                <a:solidFill>
                  <a:schemeClr val="accent5"/>
                </a:solidFill>
                <a:latin typeface="Helvetica"/>
                <a:ea typeface="ＭＳ Ｐゴシック" charset="0"/>
                <a:cs typeface="Helvetica"/>
              </a:rPr>
              <a:t>Part 5</a:t>
            </a:r>
          </a:p>
        </p:txBody>
      </p:sp>
      <p:sp>
        <p:nvSpPr>
          <p:cNvPr id="88089" name="Rectangle 33"/>
          <p:cNvSpPr>
            <a:spLocks/>
          </p:cNvSpPr>
          <p:nvPr/>
        </p:nvSpPr>
        <p:spPr bwMode="auto">
          <a:xfrm>
            <a:off x="395139" y="3330804"/>
            <a:ext cx="2941216" cy="3694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2400" b="1" dirty="0">
                <a:latin typeface="Helvetica"/>
                <a:ea typeface="ＭＳ Ｐゴシック" charset="0"/>
                <a:cs typeface="Helvetica"/>
              </a:rPr>
              <a:t>Image construction:</a:t>
            </a:r>
          </a:p>
        </p:txBody>
      </p:sp>
      <p:sp>
        <p:nvSpPr>
          <p:cNvPr id="88092" name="Rectangle 36"/>
          <p:cNvSpPr>
            <a:spLocks/>
          </p:cNvSpPr>
          <p:nvPr/>
        </p:nvSpPr>
        <p:spPr bwMode="auto">
          <a:xfrm>
            <a:off x="4639142" y="4451225"/>
            <a:ext cx="1848276"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200" dirty="0">
                <a:latin typeface="Helvetica"/>
                <a:ea typeface="ＭＳ Ｐゴシック" charset="0"/>
                <a:cs typeface="Helvetica"/>
              </a:rPr>
              <a:t>+Noise</a:t>
            </a:r>
          </a:p>
        </p:txBody>
      </p:sp>
      <p:sp>
        <p:nvSpPr>
          <p:cNvPr id="60"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Generating experiment stimuli</a:t>
            </a:r>
          </a:p>
        </p:txBody>
      </p:sp>
      <p:sp>
        <p:nvSpPr>
          <p:cNvPr id="9" name="Freeform 8"/>
          <p:cNvSpPr/>
          <p:nvPr/>
        </p:nvSpPr>
        <p:spPr>
          <a:xfrm>
            <a:off x="6016980" y="1751543"/>
            <a:ext cx="277591" cy="603740"/>
          </a:xfrm>
          <a:custGeom>
            <a:avLst/>
            <a:gdLst>
              <a:gd name="connsiteX0" fmla="*/ 0 w 277591"/>
              <a:gd name="connsiteY0" fmla="*/ 603740 h 603740"/>
              <a:gd name="connsiteX1" fmla="*/ 6940 w 277591"/>
              <a:gd name="connsiteY1" fmla="*/ 222066 h 603740"/>
              <a:gd name="connsiteX2" fmla="*/ 277591 w 277591"/>
              <a:gd name="connsiteY2" fmla="*/ 0 h 603740"/>
            </a:gdLst>
            <a:ahLst/>
            <a:cxnLst>
              <a:cxn ang="0">
                <a:pos x="connsiteX0" y="connsiteY0"/>
              </a:cxn>
              <a:cxn ang="0">
                <a:pos x="connsiteX1" y="connsiteY1"/>
              </a:cxn>
              <a:cxn ang="0">
                <a:pos x="connsiteX2" y="connsiteY2"/>
              </a:cxn>
            </a:cxnLst>
            <a:rect l="l" t="t" r="r" b="b"/>
            <a:pathLst>
              <a:path w="277591" h="603740">
                <a:moveTo>
                  <a:pt x="0" y="603740"/>
                </a:moveTo>
                <a:lnTo>
                  <a:pt x="6940" y="222066"/>
                </a:lnTo>
                <a:lnTo>
                  <a:pt x="277591" y="0"/>
                </a:lnTo>
              </a:path>
            </a:pathLst>
          </a:custGeom>
          <a:ln w="57150" cmpd="sng">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9"/>
          <p:cNvSpPr/>
          <p:nvPr/>
        </p:nvSpPr>
        <p:spPr>
          <a:xfrm>
            <a:off x="6865765" y="1693541"/>
            <a:ext cx="476137" cy="605886"/>
          </a:xfrm>
          <a:custGeom>
            <a:avLst/>
            <a:gdLst>
              <a:gd name="connsiteX0" fmla="*/ 437205 w 476137"/>
              <a:gd name="connsiteY0" fmla="*/ 582921 h 582921"/>
              <a:gd name="connsiteX1" fmla="*/ 402506 w 476137"/>
              <a:gd name="connsiteY1" fmla="*/ 367796 h 582921"/>
              <a:gd name="connsiteX2" fmla="*/ 471904 w 476137"/>
              <a:gd name="connsiteY2" fmla="*/ 138791 h 582921"/>
              <a:gd name="connsiteX3" fmla="*/ 256771 w 476137"/>
              <a:gd name="connsiteY3" fmla="*/ 138791 h 582921"/>
              <a:gd name="connsiteX4" fmla="*/ 0 w 476137"/>
              <a:gd name="connsiteY4" fmla="*/ 0 h 58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137" h="582921">
                <a:moveTo>
                  <a:pt x="437205" y="582921"/>
                </a:moveTo>
                <a:cubicBezTo>
                  <a:pt x="416964" y="512369"/>
                  <a:pt x="396723" y="441818"/>
                  <a:pt x="402506" y="367796"/>
                </a:cubicBezTo>
                <a:cubicBezTo>
                  <a:pt x="408289" y="293774"/>
                  <a:pt x="496193" y="176958"/>
                  <a:pt x="471904" y="138791"/>
                </a:cubicBezTo>
                <a:cubicBezTo>
                  <a:pt x="447615" y="100624"/>
                  <a:pt x="335422" y="161923"/>
                  <a:pt x="256771" y="138791"/>
                </a:cubicBezTo>
                <a:cubicBezTo>
                  <a:pt x="178120" y="115659"/>
                  <a:pt x="0" y="0"/>
                  <a:pt x="0" y="0"/>
                </a:cubicBezTo>
              </a:path>
            </a:pathLst>
          </a:custGeom>
          <a:ln w="57150" cmpd="sng">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1"/>
          <p:cNvSpPr/>
          <p:nvPr/>
        </p:nvSpPr>
        <p:spPr>
          <a:xfrm>
            <a:off x="6240070" y="1742078"/>
            <a:ext cx="54501" cy="613205"/>
          </a:xfrm>
          <a:custGeom>
            <a:avLst/>
            <a:gdLst>
              <a:gd name="connsiteX0" fmla="*/ 0 w 55518"/>
              <a:gd name="connsiteY0" fmla="*/ 596801 h 596801"/>
              <a:gd name="connsiteX1" fmla="*/ 34699 w 55518"/>
              <a:gd name="connsiteY1" fmla="*/ 187368 h 596801"/>
              <a:gd name="connsiteX2" fmla="*/ 55518 w 55518"/>
              <a:gd name="connsiteY2" fmla="*/ 0 h 596801"/>
            </a:gdLst>
            <a:ahLst/>
            <a:cxnLst>
              <a:cxn ang="0">
                <a:pos x="connsiteX0" y="connsiteY0"/>
              </a:cxn>
              <a:cxn ang="0">
                <a:pos x="connsiteX1" y="connsiteY1"/>
              </a:cxn>
              <a:cxn ang="0">
                <a:pos x="connsiteX2" y="connsiteY2"/>
              </a:cxn>
            </a:cxnLst>
            <a:rect l="l" t="t" r="r" b="b"/>
            <a:pathLst>
              <a:path w="55518" h="596801">
                <a:moveTo>
                  <a:pt x="0" y="596801"/>
                </a:moveTo>
                <a:cubicBezTo>
                  <a:pt x="12723" y="441818"/>
                  <a:pt x="25446" y="286835"/>
                  <a:pt x="34699" y="187368"/>
                </a:cubicBezTo>
                <a:cubicBezTo>
                  <a:pt x="43952" y="87901"/>
                  <a:pt x="55518" y="0"/>
                  <a:pt x="55518" y="0"/>
                </a:cubicBezTo>
              </a:path>
            </a:pathLst>
          </a:custGeom>
          <a:ln w="57150" cmpd="sng">
            <a:solidFill>
              <a:srgbClr val="FFDC0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2"/>
          <p:cNvSpPr/>
          <p:nvPr/>
        </p:nvSpPr>
        <p:spPr>
          <a:xfrm>
            <a:off x="6864067" y="1693541"/>
            <a:ext cx="237650" cy="616661"/>
          </a:xfrm>
          <a:custGeom>
            <a:avLst/>
            <a:gdLst>
              <a:gd name="connsiteX0" fmla="*/ 235951 w 235951"/>
              <a:gd name="connsiteY0" fmla="*/ 555163 h 555163"/>
              <a:gd name="connsiteX1" fmla="*/ 55518 w 235951"/>
              <a:gd name="connsiteY1" fmla="*/ 284521 h 555163"/>
              <a:gd name="connsiteX2" fmla="*/ 0 w 235951"/>
              <a:gd name="connsiteY2" fmla="*/ 0 h 555163"/>
            </a:gdLst>
            <a:ahLst/>
            <a:cxnLst>
              <a:cxn ang="0">
                <a:pos x="connsiteX0" y="connsiteY0"/>
              </a:cxn>
              <a:cxn ang="0">
                <a:pos x="connsiteX1" y="connsiteY1"/>
              </a:cxn>
              <a:cxn ang="0">
                <a:pos x="connsiteX2" y="connsiteY2"/>
              </a:cxn>
            </a:cxnLst>
            <a:rect l="l" t="t" r="r" b="b"/>
            <a:pathLst>
              <a:path w="235951" h="555163">
                <a:moveTo>
                  <a:pt x="235951" y="555163"/>
                </a:moveTo>
                <a:lnTo>
                  <a:pt x="55518" y="284521"/>
                </a:lnTo>
                <a:lnTo>
                  <a:pt x="0" y="0"/>
                </a:lnTo>
              </a:path>
            </a:pathLst>
          </a:custGeom>
          <a:ln w="57150" cmpd="sng">
            <a:solidFill>
              <a:srgbClr val="19AF5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Freeform 16"/>
          <p:cNvSpPr/>
          <p:nvPr/>
        </p:nvSpPr>
        <p:spPr>
          <a:xfrm>
            <a:off x="6285932" y="1674862"/>
            <a:ext cx="578134" cy="375155"/>
          </a:xfrm>
          <a:custGeom>
            <a:avLst/>
            <a:gdLst>
              <a:gd name="connsiteX0" fmla="*/ 0 w 617638"/>
              <a:gd name="connsiteY0" fmla="*/ 92026 h 328870"/>
              <a:gd name="connsiteX1" fmla="*/ 249831 w 617638"/>
              <a:gd name="connsiteY1" fmla="*/ 327970 h 328870"/>
              <a:gd name="connsiteX2" fmla="*/ 527422 w 617638"/>
              <a:gd name="connsiteY2" fmla="*/ 15691 h 328870"/>
              <a:gd name="connsiteX3" fmla="*/ 617638 w 617638"/>
              <a:gd name="connsiteY3" fmla="*/ 43449 h 328870"/>
            </a:gdLst>
            <a:ahLst/>
            <a:cxnLst>
              <a:cxn ang="0">
                <a:pos x="connsiteX0" y="connsiteY0"/>
              </a:cxn>
              <a:cxn ang="0">
                <a:pos x="connsiteX1" y="connsiteY1"/>
              </a:cxn>
              <a:cxn ang="0">
                <a:pos x="connsiteX2" y="connsiteY2"/>
              </a:cxn>
              <a:cxn ang="0">
                <a:pos x="connsiteX3" y="connsiteY3"/>
              </a:cxn>
            </a:cxnLst>
            <a:rect l="l" t="t" r="r" b="b"/>
            <a:pathLst>
              <a:path w="617638" h="328870">
                <a:moveTo>
                  <a:pt x="0" y="92026"/>
                </a:moveTo>
                <a:cubicBezTo>
                  <a:pt x="80963" y="216359"/>
                  <a:pt x="161927" y="340693"/>
                  <a:pt x="249831" y="327970"/>
                </a:cubicBezTo>
                <a:cubicBezTo>
                  <a:pt x="337735" y="315248"/>
                  <a:pt x="466121" y="63111"/>
                  <a:pt x="527422" y="15691"/>
                </a:cubicBezTo>
                <a:cubicBezTo>
                  <a:pt x="588723" y="-31729"/>
                  <a:pt x="617638" y="43449"/>
                  <a:pt x="617638" y="43449"/>
                </a:cubicBezTo>
              </a:path>
            </a:pathLst>
          </a:custGeom>
          <a:ln w="57150"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19"/>
          <p:cNvSpPr/>
          <p:nvPr/>
        </p:nvSpPr>
        <p:spPr>
          <a:xfrm>
            <a:off x="6309744" y="1350559"/>
            <a:ext cx="600128" cy="457692"/>
          </a:xfrm>
          <a:custGeom>
            <a:avLst/>
            <a:gdLst>
              <a:gd name="connsiteX0" fmla="*/ 0 w 627541"/>
              <a:gd name="connsiteY0" fmla="*/ 385542 h 457692"/>
              <a:gd name="connsiteX1" fmla="*/ 263984 w 627541"/>
              <a:gd name="connsiteY1" fmla="*/ 428349 h 457692"/>
              <a:gd name="connsiteX2" fmla="*/ 606449 w 627541"/>
              <a:gd name="connsiteY2" fmla="*/ 281 h 457692"/>
              <a:gd name="connsiteX3" fmla="*/ 592179 w 627541"/>
              <a:gd name="connsiteY3" fmla="*/ 357004 h 457692"/>
            </a:gdLst>
            <a:ahLst/>
            <a:cxnLst>
              <a:cxn ang="0">
                <a:pos x="connsiteX0" y="connsiteY0"/>
              </a:cxn>
              <a:cxn ang="0">
                <a:pos x="connsiteX1" y="connsiteY1"/>
              </a:cxn>
              <a:cxn ang="0">
                <a:pos x="connsiteX2" y="connsiteY2"/>
              </a:cxn>
              <a:cxn ang="0">
                <a:pos x="connsiteX3" y="connsiteY3"/>
              </a:cxn>
            </a:cxnLst>
            <a:rect l="l" t="t" r="r" b="b"/>
            <a:pathLst>
              <a:path w="627541" h="457692">
                <a:moveTo>
                  <a:pt x="0" y="385542"/>
                </a:moveTo>
                <a:cubicBezTo>
                  <a:pt x="81454" y="439050"/>
                  <a:pt x="162909" y="492559"/>
                  <a:pt x="263984" y="428349"/>
                </a:cubicBezTo>
                <a:cubicBezTo>
                  <a:pt x="365059" y="364139"/>
                  <a:pt x="551750" y="12172"/>
                  <a:pt x="606449" y="281"/>
                </a:cubicBezTo>
                <a:cubicBezTo>
                  <a:pt x="661148" y="-11610"/>
                  <a:pt x="592179" y="357004"/>
                  <a:pt x="592179" y="357004"/>
                </a:cubicBezTo>
              </a:path>
            </a:pathLst>
          </a:cu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0"/>
          <p:cNvSpPr/>
          <p:nvPr/>
        </p:nvSpPr>
        <p:spPr>
          <a:xfrm>
            <a:off x="5425053" y="2270891"/>
            <a:ext cx="2568489" cy="663505"/>
          </a:xfrm>
          <a:custGeom>
            <a:avLst/>
            <a:gdLst>
              <a:gd name="connsiteX0" fmla="*/ 556506 w 2568489"/>
              <a:gd name="connsiteY0" fmla="*/ 107017 h 663505"/>
              <a:gd name="connsiteX1" fmla="*/ 0 w 2568489"/>
              <a:gd name="connsiteY1" fmla="*/ 663505 h 663505"/>
              <a:gd name="connsiteX2" fmla="*/ 2568489 w 2568489"/>
              <a:gd name="connsiteY2" fmla="*/ 478009 h 663505"/>
              <a:gd name="connsiteX3" fmla="*/ 1855020 w 2568489"/>
              <a:gd name="connsiteY3" fmla="*/ 0 h 663505"/>
              <a:gd name="connsiteX4" fmla="*/ 556506 w 2568489"/>
              <a:gd name="connsiteY4" fmla="*/ 107017 h 66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8489" h="663505">
                <a:moveTo>
                  <a:pt x="556506" y="107017"/>
                </a:moveTo>
                <a:lnTo>
                  <a:pt x="0" y="663505"/>
                </a:lnTo>
                <a:lnTo>
                  <a:pt x="2568489" y="478009"/>
                </a:lnTo>
                <a:lnTo>
                  <a:pt x="1855020" y="0"/>
                </a:lnTo>
                <a:lnTo>
                  <a:pt x="556506" y="107017"/>
                </a:lnTo>
                <a:close/>
              </a:path>
            </a:pathLst>
          </a:custGeom>
          <a:noFill/>
          <a:ln w="571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5425053" y="3063157"/>
            <a:ext cx="3412203" cy="369332"/>
          </a:xfrm>
          <a:prstGeom prst="rect">
            <a:avLst/>
          </a:prstGeom>
          <a:noFill/>
        </p:spPr>
        <p:txBody>
          <a:bodyPr wrap="square" rtlCol="0">
            <a:spAutoFit/>
          </a:bodyPr>
          <a:lstStyle/>
          <a:p>
            <a:r>
              <a:rPr lang="en-US" dirty="0">
                <a:latin typeface="Helvetica"/>
                <a:cs typeface="Helvetica"/>
              </a:rPr>
              <a:t>[Color only for demo only]</a:t>
            </a:r>
          </a:p>
        </p:txBody>
      </p:sp>
      <p:sp>
        <p:nvSpPr>
          <p:cNvPr id="84" name="Rectangle 16"/>
          <p:cNvSpPr>
            <a:spLocks/>
          </p:cNvSpPr>
          <p:nvPr/>
        </p:nvSpPr>
        <p:spPr bwMode="auto">
          <a:xfrm>
            <a:off x="4272104" y="2355283"/>
            <a:ext cx="1303059" cy="4512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t"/>
          <a:lstStyle/>
          <a:p>
            <a:pPr algn="r"/>
            <a:r>
              <a:rPr lang="en-US" dirty="0">
                <a:latin typeface="Helvetica"/>
                <a:ea typeface="ＭＳ Ｐゴシック" charset="0"/>
                <a:cs typeface="Helvetica"/>
              </a:rPr>
              <a:t>Shared part</a:t>
            </a:r>
          </a:p>
        </p:txBody>
      </p:sp>
      <p:sp>
        <p:nvSpPr>
          <p:cNvPr id="85" name="Rectangle 4"/>
          <p:cNvSpPr>
            <a:spLocks/>
          </p:cNvSpPr>
          <p:nvPr/>
        </p:nvSpPr>
        <p:spPr bwMode="auto">
          <a:xfrm>
            <a:off x="5218445" y="1855459"/>
            <a:ext cx="856367" cy="3899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FF0000"/>
                </a:solidFill>
                <a:latin typeface="Helvetica"/>
                <a:ea typeface="ＭＳ Ｐゴシック" charset="0"/>
                <a:cs typeface="Helvetica"/>
              </a:rPr>
              <a:t>Part 1</a:t>
            </a:r>
          </a:p>
        </p:txBody>
      </p:sp>
      <p:sp>
        <p:nvSpPr>
          <p:cNvPr id="86" name="Rectangle 7"/>
          <p:cNvSpPr>
            <a:spLocks/>
          </p:cNvSpPr>
          <p:nvPr/>
        </p:nvSpPr>
        <p:spPr bwMode="auto">
          <a:xfrm>
            <a:off x="7396496" y="1590389"/>
            <a:ext cx="880843" cy="5301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chemeClr val="accent6"/>
                </a:solidFill>
                <a:latin typeface="Helvetica"/>
                <a:ea typeface="ＭＳ Ｐゴシック" charset="0"/>
                <a:cs typeface="Helvetica"/>
              </a:rPr>
              <a:t>Part 2</a:t>
            </a:r>
          </a:p>
        </p:txBody>
      </p:sp>
      <p:sp>
        <p:nvSpPr>
          <p:cNvPr id="87" name="Rectangle 19"/>
          <p:cNvSpPr>
            <a:spLocks/>
          </p:cNvSpPr>
          <p:nvPr/>
        </p:nvSpPr>
        <p:spPr bwMode="auto">
          <a:xfrm>
            <a:off x="5733372" y="1270945"/>
            <a:ext cx="754046" cy="4424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FFDC09"/>
                </a:solidFill>
                <a:latin typeface="Helvetica"/>
                <a:ea typeface="ＭＳ Ｐゴシック" charset="0"/>
                <a:cs typeface="Helvetica"/>
              </a:rPr>
              <a:t>Part 3</a:t>
            </a:r>
          </a:p>
        </p:txBody>
      </p:sp>
      <p:sp>
        <p:nvSpPr>
          <p:cNvPr id="88" name="Rectangle 7"/>
          <p:cNvSpPr>
            <a:spLocks/>
          </p:cNvSpPr>
          <p:nvPr/>
        </p:nvSpPr>
        <p:spPr bwMode="auto">
          <a:xfrm>
            <a:off x="6820932" y="1320235"/>
            <a:ext cx="880843" cy="5301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19AF5D"/>
                </a:solidFill>
                <a:latin typeface="Helvetica"/>
                <a:ea typeface="ＭＳ Ｐゴシック" charset="0"/>
                <a:cs typeface="Helvetica"/>
              </a:rPr>
              <a:t>Part 4</a:t>
            </a:r>
          </a:p>
        </p:txBody>
      </p:sp>
      <p:sp>
        <p:nvSpPr>
          <p:cNvPr id="89" name="Rectangle 21"/>
          <p:cNvSpPr>
            <a:spLocks/>
          </p:cNvSpPr>
          <p:nvPr/>
        </p:nvSpPr>
        <p:spPr bwMode="auto">
          <a:xfrm>
            <a:off x="6144226" y="987093"/>
            <a:ext cx="949370" cy="375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chemeClr val="accent1"/>
                </a:solidFill>
                <a:latin typeface="Helvetica"/>
                <a:ea typeface="ＭＳ Ｐゴシック" charset="0"/>
                <a:cs typeface="Helvetica"/>
              </a:rPr>
              <a:t>Part 6</a:t>
            </a:r>
          </a:p>
        </p:txBody>
      </p:sp>
      <p:sp>
        <p:nvSpPr>
          <p:cNvPr id="91" name="Freeform 90"/>
          <p:cNvSpPr/>
          <p:nvPr/>
        </p:nvSpPr>
        <p:spPr>
          <a:xfrm>
            <a:off x="5425053" y="2270891"/>
            <a:ext cx="2568489" cy="663505"/>
          </a:xfrm>
          <a:custGeom>
            <a:avLst/>
            <a:gdLst>
              <a:gd name="connsiteX0" fmla="*/ 556506 w 2568489"/>
              <a:gd name="connsiteY0" fmla="*/ 107017 h 663505"/>
              <a:gd name="connsiteX1" fmla="*/ 0 w 2568489"/>
              <a:gd name="connsiteY1" fmla="*/ 663505 h 663505"/>
              <a:gd name="connsiteX2" fmla="*/ 2568489 w 2568489"/>
              <a:gd name="connsiteY2" fmla="*/ 478009 h 663505"/>
              <a:gd name="connsiteX3" fmla="*/ 1855020 w 2568489"/>
              <a:gd name="connsiteY3" fmla="*/ 0 h 663505"/>
              <a:gd name="connsiteX4" fmla="*/ 556506 w 2568489"/>
              <a:gd name="connsiteY4" fmla="*/ 107017 h 66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8489" h="663505">
                <a:moveTo>
                  <a:pt x="556506" y="107017"/>
                </a:moveTo>
                <a:lnTo>
                  <a:pt x="0" y="663505"/>
                </a:lnTo>
                <a:lnTo>
                  <a:pt x="2568489" y="478009"/>
                </a:lnTo>
                <a:lnTo>
                  <a:pt x="1855020" y="0"/>
                </a:lnTo>
                <a:lnTo>
                  <a:pt x="556506" y="107017"/>
                </a:lnTo>
                <a:close/>
              </a:path>
            </a:pathLst>
          </a:custGeom>
          <a:noFill/>
          <a:ln w="571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Freeform 91"/>
          <p:cNvSpPr/>
          <p:nvPr/>
        </p:nvSpPr>
        <p:spPr>
          <a:xfrm rot="245682">
            <a:off x="6853435" y="1693541"/>
            <a:ext cx="237650" cy="595684"/>
          </a:xfrm>
          <a:custGeom>
            <a:avLst/>
            <a:gdLst>
              <a:gd name="connsiteX0" fmla="*/ 235951 w 235951"/>
              <a:gd name="connsiteY0" fmla="*/ 555163 h 555163"/>
              <a:gd name="connsiteX1" fmla="*/ 55518 w 235951"/>
              <a:gd name="connsiteY1" fmla="*/ 284521 h 555163"/>
              <a:gd name="connsiteX2" fmla="*/ 0 w 235951"/>
              <a:gd name="connsiteY2" fmla="*/ 0 h 555163"/>
            </a:gdLst>
            <a:ahLst/>
            <a:cxnLst>
              <a:cxn ang="0">
                <a:pos x="connsiteX0" y="connsiteY0"/>
              </a:cxn>
              <a:cxn ang="0">
                <a:pos x="connsiteX1" y="connsiteY1"/>
              </a:cxn>
              <a:cxn ang="0">
                <a:pos x="connsiteX2" y="connsiteY2"/>
              </a:cxn>
            </a:cxnLst>
            <a:rect l="l" t="t" r="r" b="b"/>
            <a:pathLst>
              <a:path w="235951" h="555163">
                <a:moveTo>
                  <a:pt x="235951" y="555163"/>
                </a:moveTo>
                <a:lnTo>
                  <a:pt x="55518" y="284521"/>
                </a:lnTo>
                <a:lnTo>
                  <a:pt x="0" y="0"/>
                </a:lnTo>
              </a:path>
            </a:pathLst>
          </a:custGeom>
          <a:ln w="57150" cmpd="sng">
            <a:solidFill>
              <a:srgbClr val="19AF5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3" name="Freeform 92"/>
          <p:cNvSpPr/>
          <p:nvPr/>
        </p:nvSpPr>
        <p:spPr>
          <a:xfrm>
            <a:off x="6244510" y="1746530"/>
            <a:ext cx="54501" cy="613205"/>
          </a:xfrm>
          <a:custGeom>
            <a:avLst/>
            <a:gdLst>
              <a:gd name="connsiteX0" fmla="*/ 0 w 55518"/>
              <a:gd name="connsiteY0" fmla="*/ 596801 h 596801"/>
              <a:gd name="connsiteX1" fmla="*/ 34699 w 55518"/>
              <a:gd name="connsiteY1" fmla="*/ 187368 h 596801"/>
              <a:gd name="connsiteX2" fmla="*/ 55518 w 55518"/>
              <a:gd name="connsiteY2" fmla="*/ 0 h 596801"/>
            </a:gdLst>
            <a:ahLst/>
            <a:cxnLst>
              <a:cxn ang="0">
                <a:pos x="connsiteX0" y="connsiteY0"/>
              </a:cxn>
              <a:cxn ang="0">
                <a:pos x="connsiteX1" y="connsiteY1"/>
              </a:cxn>
              <a:cxn ang="0">
                <a:pos x="connsiteX2" y="connsiteY2"/>
              </a:cxn>
            </a:cxnLst>
            <a:rect l="l" t="t" r="r" b="b"/>
            <a:pathLst>
              <a:path w="55518" h="596801">
                <a:moveTo>
                  <a:pt x="0" y="596801"/>
                </a:moveTo>
                <a:cubicBezTo>
                  <a:pt x="12723" y="441818"/>
                  <a:pt x="25446" y="286835"/>
                  <a:pt x="34699" y="187368"/>
                </a:cubicBezTo>
                <a:cubicBezTo>
                  <a:pt x="43952" y="87901"/>
                  <a:pt x="55518" y="0"/>
                  <a:pt x="55518" y="0"/>
                </a:cubicBezTo>
              </a:path>
            </a:pathLst>
          </a:custGeom>
          <a:ln w="57150" cmpd="sng">
            <a:solidFill>
              <a:srgbClr val="FFDC0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4" name="Freeform 93"/>
          <p:cNvSpPr/>
          <p:nvPr/>
        </p:nvSpPr>
        <p:spPr>
          <a:xfrm>
            <a:off x="6285932" y="1379669"/>
            <a:ext cx="623940" cy="428582"/>
          </a:xfrm>
          <a:custGeom>
            <a:avLst/>
            <a:gdLst>
              <a:gd name="connsiteX0" fmla="*/ 0 w 627541"/>
              <a:gd name="connsiteY0" fmla="*/ 385542 h 457692"/>
              <a:gd name="connsiteX1" fmla="*/ 263984 w 627541"/>
              <a:gd name="connsiteY1" fmla="*/ 428349 h 457692"/>
              <a:gd name="connsiteX2" fmla="*/ 606449 w 627541"/>
              <a:gd name="connsiteY2" fmla="*/ 281 h 457692"/>
              <a:gd name="connsiteX3" fmla="*/ 592179 w 627541"/>
              <a:gd name="connsiteY3" fmla="*/ 357004 h 457692"/>
            </a:gdLst>
            <a:ahLst/>
            <a:cxnLst>
              <a:cxn ang="0">
                <a:pos x="connsiteX0" y="connsiteY0"/>
              </a:cxn>
              <a:cxn ang="0">
                <a:pos x="connsiteX1" y="connsiteY1"/>
              </a:cxn>
              <a:cxn ang="0">
                <a:pos x="connsiteX2" y="connsiteY2"/>
              </a:cxn>
              <a:cxn ang="0">
                <a:pos x="connsiteX3" y="connsiteY3"/>
              </a:cxn>
            </a:cxnLst>
            <a:rect l="l" t="t" r="r" b="b"/>
            <a:pathLst>
              <a:path w="627541" h="457692">
                <a:moveTo>
                  <a:pt x="0" y="385542"/>
                </a:moveTo>
                <a:cubicBezTo>
                  <a:pt x="81454" y="439050"/>
                  <a:pt x="162909" y="492559"/>
                  <a:pt x="263984" y="428349"/>
                </a:cubicBezTo>
                <a:cubicBezTo>
                  <a:pt x="365059" y="364139"/>
                  <a:pt x="551750" y="12172"/>
                  <a:pt x="606449" y="281"/>
                </a:cubicBezTo>
                <a:cubicBezTo>
                  <a:pt x="661148" y="-11610"/>
                  <a:pt x="592179" y="357004"/>
                  <a:pt x="592179" y="357004"/>
                </a:cubicBezTo>
              </a:path>
            </a:pathLst>
          </a:cu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23437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1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80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par>
                                <p:cTn id="59" presetID="0" presetClass="path" presetSubtype="0" accel="50000" decel="50000" fill="hold" grpId="1" nodeType="withEffect">
                                  <p:stCondLst>
                                    <p:cond delay="0"/>
                                  </p:stCondLst>
                                  <p:childTnLst>
                                    <p:animMotion origin="layout" path="M 0.02828 -0.02802 L -0.36249 0.36406 " pathEditMode="relative" rAng="0" ptsTypes="AA">
                                      <p:cBhvr>
                                        <p:cTn id="60" dur="1000" fill="hold"/>
                                        <p:tgtEl>
                                          <p:spTgt spid="91"/>
                                        </p:tgtEl>
                                        <p:attrNameLst>
                                          <p:attrName>ppt_x</p:attrName>
                                          <p:attrName>ppt_y</p:attrName>
                                        </p:attrNameLst>
                                      </p:cBhvr>
                                      <p:rCtr x="-19538" y="19592"/>
                                    </p:animMotion>
                                  </p:childTnLst>
                                </p:cTn>
                              </p:par>
                              <p:par>
                                <p:cTn id="61" presetID="1" presetClass="entr" presetSubtype="0" fill="hold" grpId="0" nodeType="with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42" presetClass="path" presetSubtype="0" accel="50000" decel="50000" fill="hold" grpId="2" nodeType="withEffect">
                                  <p:stCondLst>
                                    <p:cond delay="0"/>
                                  </p:stCondLst>
                                  <p:childTnLst>
                                    <p:animMotion origin="layout" path="M -0.00052 0.06276 L -0.37255 0.36197 " pathEditMode="relative" rAng="0" ptsTypes="AA">
                                      <p:cBhvr>
                                        <p:cTn id="68" dur="1000" fill="hold"/>
                                        <p:tgtEl>
                                          <p:spTgt spid="92"/>
                                        </p:tgtEl>
                                        <p:attrNameLst>
                                          <p:attrName>ppt_x</p:attrName>
                                          <p:attrName>ppt_y</p:attrName>
                                        </p:attrNameLst>
                                      </p:cBhvr>
                                      <p:rCtr x="-18601" y="14961"/>
                                    </p:animMotion>
                                  </p:childTnLst>
                                </p:cTn>
                              </p:par>
                              <p:par>
                                <p:cTn id="69" presetID="7" presetClass="emph" presetSubtype="2" fill="hold" nodeType="withEffect">
                                  <p:stCondLst>
                                    <p:cond delay="0"/>
                                  </p:stCondLst>
                                  <p:childTnLst>
                                    <p:animClr clrSpc="rgb" dir="cw">
                                      <p:cBhvr>
                                        <p:cTn id="70" dur="2000" fill="hold"/>
                                        <p:tgtEl>
                                          <p:spTgt spid="92"/>
                                        </p:tgtEl>
                                        <p:attrNameLst>
                                          <p:attrName>stroke.color</p:attrName>
                                        </p:attrNameLst>
                                      </p:cBhvr>
                                      <p:to>
                                        <a:schemeClr val="tx1"/>
                                      </p:to>
                                    </p:animClr>
                                    <p:set>
                                      <p:cBhvr>
                                        <p:cTn id="71" dur="2000" fill="hold"/>
                                        <p:tgtEl>
                                          <p:spTgt spid="92"/>
                                        </p:tgtEl>
                                        <p:attrNameLst>
                                          <p:attrName>stroke.on</p:attrName>
                                        </p:attrNameLst>
                                      </p:cBhvr>
                                      <p:to>
                                        <p:strVal val="true"/>
                                      </p:to>
                                    </p:set>
                                  </p:childTnLst>
                                </p:cTn>
                              </p:par>
                              <p:par>
                                <p:cTn id="72" presetID="1" presetClass="entr" presetSubtype="0" fill="hold" grpId="0" nodeType="withEffect">
                                  <p:stCondLst>
                                    <p:cond delay="0"/>
                                  </p:stCondLst>
                                  <p:childTnLst>
                                    <p:set>
                                      <p:cBhvr>
                                        <p:cTn id="73" dur="1" fill="hold">
                                          <p:stCondLst>
                                            <p:cond delay="0"/>
                                          </p:stCondLst>
                                        </p:cTn>
                                        <p:tgtEl>
                                          <p:spTgt spid="9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1" nodeType="clickEffect">
                                  <p:stCondLst>
                                    <p:cond delay="0"/>
                                  </p:stCondLst>
                                  <p:childTnLst>
                                    <p:set>
                                      <p:cBhvr>
                                        <p:cTn id="77" dur="1" fill="hold">
                                          <p:stCondLst>
                                            <p:cond delay="0"/>
                                          </p:stCondLst>
                                        </p:cTn>
                                        <p:tgtEl>
                                          <p:spTgt spid="93"/>
                                        </p:tgtEl>
                                        <p:attrNameLst>
                                          <p:attrName>style.visibility</p:attrName>
                                        </p:attrNameLst>
                                      </p:cBhvr>
                                      <p:to>
                                        <p:strVal val="visible"/>
                                      </p:to>
                                    </p:set>
                                  </p:childTnLst>
                                </p:cTn>
                              </p:par>
                              <p:par>
                                <p:cTn id="78" presetID="0" presetClass="path" presetSubtype="0" accel="50000" decel="50000" fill="hold" grpId="2" nodeType="withEffect">
                                  <p:stCondLst>
                                    <p:cond delay="0"/>
                                  </p:stCondLst>
                                  <p:childTnLst>
                                    <p:animMotion origin="layout" path="M 4.24453E-6 -3.3071E-6 L -0.37253 0.36427 " pathEditMode="relative" rAng="0" ptsTypes="AA">
                                      <p:cBhvr>
                                        <p:cTn id="79" dur="1000" fill="hold"/>
                                        <p:tgtEl>
                                          <p:spTgt spid="93"/>
                                        </p:tgtEl>
                                        <p:attrNameLst>
                                          <p:attrName>ppt_x</p:attrName>
                                          <p:attrName>ppt_y</p:attrName>
                                        </p:attrNameLst>
                                      </p:cBhvr>
                                      <p:rCtr x="-18635" y="18213"/>
                                    </p:animMotion>
                                  </p:childTnLst>
                                </p:cTn>
                              </p:par>
                              <p:par>
                                <p:cTn id="80" presetID="7" presetClass="emph" presetSubtype="2" fill="hold" nodeType="withEffect">
                                  <p:stCondLst>
                                    <p:cond delay="0"/>
                                  </p:stCondLst>
                                  <p:childTnLst>
                                    <p:animClr clrSpc="rgb" dir="cw">
                                      <p:cBhvr>
                                        <p:cTn id="81" dur="2000" fill="hold"/>
                                        <p:tgtEl>
                                          <p:spTgt spid="93"/>
                                        </p:tgtEl>
                                        <p:attrNameLst>
                                          <p:attrName>stroke.color</p:attrName>
                                        </p:attrNameLst>
                                      </p:cBhvr>
                                      <p:to>
                                        <a:schemeClr val="tx1"/>
                                      </p:to>
                                    </p:animClr>
                                    <p:set>
                                      <p:cBhvr>
                                        <p:cTn id="82" dur="2000" fill="hold"/>
                                        <p:tgtEl>
                                          <p:spTgt spid="93"/>
                                        </p:tgtEl>
                                        <p:attrNameLst>
                                          <p:attrName>stroke.on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4"/>
                                        </p:tgtEl>
                                        <p:attrNameLst>
                                          <p:attrName>style.visibility</p:attrName>
                                        </p:attrNameLst>
                                      </p:cBhvr>
                                      <p:to>
                                        <p:strVal val="visible"/>
                                      </p:to>
                                    </p:set>
                                  </p:childTnLst>
                                </p:cTn>
                              </p:par>
                              <p:par>
                                <p:cTn id="87" presetID="0" presetClass="path" presetSubtype="0" accel="50000" decel="50000" fill="hold" grpId="1" nodeType="withEffect">
                                  <p:stCondLst>
                                    <p:cond delay="0"/>
                                  </p:stCondLst>
                                  <p:childTnLst>
                                    <p:animMotion origin="layout" path="M -4.57401E-6 3.56183E-6 L -0.37307 0.36498 " pathEditMode="relative" rAng="0" ptsTypes="AA">
                                      <p:cBhvr>
                                        <p:cTn id="88" dur="1000" fill="hold"/>
                                        <p:tgtEl>
                                          <p:spTgt spid="94"/>
                                        </p:tgtEl>
                                        <p:attrNameLst>
                                          <p:attrName>ppt_x</p:attrName>
                                          <p:attrName>ppt_y</p:attrName>
                                        </p:attrNameLst>
                                      </p:cBhvr>
                                      <p:rCtr x="-18653" y="18249"/>
                                    </p:animMotion>
                                  </p:childTnLst>
                                </p:cTn>
                              </p:par>
                              <p:par>
                                <p:cTn id="89" presetID="7" presetClass="emph" presetSubtype="2" fill="hold" nodeType="withEffect">
                                  <p:stCondLst>
                                    <p:cond delay="0"/>
                                  </p:stCondLst>
                                  <p:childTnLst>
                                    <p:animClr clrSpc="rgb" dir="cw">
                                      <p:cBhvr>
                                        <p:cTn id="90" dur="2000" fill="hold"/>
                                        <p:tgtEl>
                                          <p:spTgt spid="94"/>
                                        </p:tgtEl>
                                        <p:attrNameLst>
                                          <p:attrName>stroke.color</p:attrName>
                                        </p:attrNameLst>
                                      </p:cBhvr>
                                      <p:to>
                                        <a:schemeClr val="tx1"/>
                                      </p:to>
                                    </p:animClr>
                                    <p:set>
                                      <p:cBhvr>
                                        <p:cTn id="91" dur="2000" fill="hold"/>
                                        <p:tgtEl>
                                          <p:spTgt spid="94"/>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88090"/>
                                        </p:tgtEl>
                                        <p:attrNameLst>
                                          <p:attrName>style.visibility</p:attrName>
                                        </p:attrNameLst>
                                      </p:cBhvr>
                                      <p:to>
                                        <p:strVal val="visible"/>
                                      </p:to>
                                    </p:set>
                                    <p:animEffect transition="in" filter="dissolve">
                                      <p:cBhvr>
                                        <p:cTn id="96" dur="500"/>
                                        <p:tgtEl>
                                          <p:spTgt spid="88090"/>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88092"/>
                                        </p:tgtEl>
                                        <p:attrNameLst>
                                          <p:attrName>style.visibility</p:attrName>
                                        </p:attrNameLst>
                                      </p:cBhvr>
                                      <p:to>
                                        <p:strVal val="visible"/>
                                      </p:to>
                                    </p:set>
                                    <p:animEffect transition="in" filter="dissolve">
                                      <p:cBhvr>
                                        <p:cTn id="99" dur="500"/>
                                        <p:tgtEl>
                                          <p:spTgt spid="88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 grpId="0"/>
      <p:bldP spid="88116" grpId="0"/>
      <p:bldP spid="88089" grpId="0"/>
      <p:bldP spid="88092" grpId="0"/>
      <p:bldP spid="9" grpId="0" animBg="1"/>
      <p:bldP spid="10" grpId="0" animBg="1"/>
      <p:bldP spid="12" grpId="0" animBg="1"/>
      <p:bldP spid="13" grpId="0" animBg="1"/>
      <p:bldP spid="17" grpId="0" animBg="1"/>
      <p:bldP spid="20" grpId="0" animBg="1"/>
      <p:bldP spid="21" grpId="0" animBg="1"/>
      <p:bldP spid="22" grpId="0"/>
      <p:bldP spid="84" grpId="0"/>
      <p:bldP spid="85" grpId="0"/>
      <p:bldP spid="86" grpId="0"/>
      <p:bldP spid="87" grpId="0"/>
      <p:bldP spid="88" grpId="0"/>
      <p:bldP spid="89" grpId="0"/>
      <p:bldP spid="91" grpId="0" animBg="1"/>
      <p:bldP spid="91" grpId="1" animBg="1"/>
      <p:bldP spid="92" grpId="0" animBg="1"/>
      <p:bldP spid="92" grpId="1" animBg="1"/>
      <p:bldP spid="92" grpId="2" animBg="1"/>
      <p:bldP spid="93" grpId="0" animBg="1"/>
      <p:bldP spid="93" grpId="1" animBg="1"/>
      <p:bldP spid="93" grpId="2" animBg="1"/>
      <p:bldP spid="94" grpId="0" animBg="1"/>
      <p:bldP spid="94"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1"/>
          <p:cNvSpPr>
            <a:spLocks/>
          </p:cNvSpPr>
          <p:nvPr/>
        </p:nvSpPr>
        <p:spPr bwMode="auto">
          <a:xfrm>
            <a:off x="2850296" y="2102236"/>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b="1" dirty="0">
                <a:latin typeface="Helvetica"/>
                <a:ea typeface="ＭＳ Ｐゴシック" charset="0"/>
                <a:cs typeface="Helvetica"/>
              </a:rPr>
              <a:t>Parts</a:t>
            </a:r>
          </a:p>
        </p:txBody>
      </p:sp>
      <p:sp>
        <p:nvSpPr>
          <p:cNvPr id="90114" name="Rectangle 2"/>
          <p:cNvSpPr>
            <a:spLocks/>
          </p:cNvSpPr>
          <p:nvPr/>
        </p:nvSpPr>
        <p:spPr bwMode="auto">
          <a:xfrm>
            <a:off x="92422" y="3213982"/>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b="1" dirty="0">
                <a:latin typeface="Helvetica"/>
                <a:ea typeface="ＭＳ Ｐゴシック" charset="0"/>
                <a:cs typeface="Helvetica"/>
              </a:rPr>
              <a:t>Images</a:t>
            </a:r>
          </a:p>
        </p:txBody>
      </p:sp>
      <p:grpSp>
        <p:nvGrpSpPr>
          <p:cNvPr id="90116" name="Group 19"/>
          <p:cNvGrpSpPr>
            <a:grpSpLocks/>
          </p:cNvGrpSpPr>
          <p:nvPr/>
        </p:nvGrpSpPr>
        <p:grpSpPr bwMode="auto">
          <a:xfrm>
            <a:off x="1814452" y="3048783"/>
            <a:ext cx="3312914" cy="714375"/>
            <a:chOff x="0" y="0"/>
            <a:chExt cx="2968" cy="640"/>
          </a:xfrm>
        </p:grpSpPr>
        <p:grpSp>
          <p:nvGrpSpPr>
            <p:cNvPr id="90147" name="Group 10"/>
            <p:cNvGrpSpPr>
              <a:grpSpLocks/>
            </p:cNvGrpSpPr>
            <p:nvPr/>
          </p:nvGrpSpPr>
          <p:grpSpPr bwMode="auto">
            <a:xfrm>
              <a:off x="160" y="48"/>
              <a:ext cx="2648" cy="248"/>
              <a:chOff x="0" y="0"/>
              <a:chExt cx="2648" cy="248"/>
            </a:xfrm>
          </p:grpSpPr>
          <p:pic>
            <p:nvPicPr>
              <p:cNvPr id="90156" name="Picture 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7" name="Picture 5"/>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8" name="Picture 6"/>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9" name="Picture 7"/>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60" name="Picture 8"/>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61" name="Picture 9"/>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0148" name="Group 17"/>
            <p:cNvGrpSpPr>
              <a:grpSpLocks/>
            </p:cNvGrpSpPr>
            <p:nvPr/>
          </p:nvGrpSpPr>
          <p:grpSpPr bwMode="auto">
            <a:xfrm>
              <a:off x="160" y="384"/>
              <a:ext cx="2648" cy="248"/>
              <a:chOff x="0" y="0"/>
              <a:chExt cx="2648" cy="248"/>
            </a:xfrm>
          </p:grpSpPr>
          <p:pic>
            <p:nvPicPr>
              <p:cNvPr id="90150" name="Picture 11"/>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1" name="Picture 12"/>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2" name="Picture 13"/>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3" name="Picture 1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4" name="Picture 15"/>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5" name="Picture 16"/>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0149" name="Rectangle 18"/>
            <p:cNvSpPr>
              <a:spLocks/>
            </p:cNvSpPr>
            <p:nvPr/>
          </p:nvSpPr>
          <p:spPr bwMode="auto">
            <a:xfrm>
              <a:off x="0" y="0"/>
              <a:ext cx="2968" cy="64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90118" name="Rectangle 21"/>
          <p:cNvSpPr>
            <a:spLocks/>
          </p:cNvSpPr>
          <p:nvPr/>
        </p:nvSpPr>
        <p:spPr bwMode="auto">
          <a:xfrm>
            <a:off x="741252" y="3066642"/>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90119" name="Rectangle 22"/>
          <p:cNvSpPr>
            <a:spLocks/>
          </p:cNvSpPr>
          <p:nvPr/>
        </p:nvSpPr>
        <p:spPr bwMode="auto">
          <a:xfrm>
            <a:off x="741252" y="3423830"/>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pic>
        <p:nvPicPr>
          <p:cNvPr id="90121"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1397" y="2629088"/>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2"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7389" y="2655877"/>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3"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1608" y="2682665"/>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4"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8249" y="2664806"/>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5"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2256" y="2655877"/>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6" name="Picture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1584" y="2673736"/>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27" name="Rectangle 49"/>
          <p:cNvSpPr>
            <a:spLocks/>
          </p:cNvSpPr>
          <p:nvPr/>
        </p:nvSpPr>
        <p:spPr bwMode="auto">
          <a:xfrm>
            <a:off x="1805522" y="1565323"/>
            <a:ext cx="3321844"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Ownership matrix</a:t>
            </a:r>
          </a:p>
        </p:txBody>
      </p:sp>
      <p:sp>
        <p:nvSpPr>
          <p:cNvPr id="52" name="Rectangle 2"/>
          <p:cNvSpPr>
            <a:spLocks/>
          </p:cNvSpPr>
          <p:nvPr/>
        </p:nvSpPr>
        <p:spPr bwMode="auto">
          <a:xfrm>
            <a:off x="319246" y="171420"/>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grpSp>
        <p:nvGrpSpPr>
          <p:cNvPr id="13" name="Group 12"/>
          <p:cNvGrpSpPr/>
          <p:nvPr/>
        </p:nvGrpSpPr>
        <p:grpSpPr>
          <a:xfrm>
            <a:off x="1841242" y="2591637"/>
            <a:ext cx="7163824" cy="785379"/>
            <a:chOff x="1841242" y="2591637"/>
            <a:chExt cx="7163824" cy="785379"/>
          </a:xfrm>
        </p:grpSpPr>
        <p:grpSp>
          <p:nvGrpSpPr>
            <p:cNvPr id="90131" name="Group 30"/>
            <p:cNvGrpSpPr>
              <a:grpSpLocks/>
            </p:cNvGrpSpPr>
            <p:nvPr/>
          </p:nvGrpSpPr>
          <p:grpSpPr bwMode="auto">
            <a:xfrm>
              <a:off x="6242691" y="2591637"/>
              <a:ext cx="2762375" cy="741220"/>
              <a:chOff x="0" y="0"/>
              <a:chExt cx="3311" cy="888"/>
            </a:xfrm>
          </p:grpSpPr>
          <p:sp>
            <p:nvSpPr>
              <p:cNvPr id="90140" name="Line 23"/>
              <p:cNvSpPr>
                <a:spLocks noChangeShapeType="1"/>
              </p:cNvSpPr>
              <p:nvPr/>
            </p:nvSpPr>
            <p:spPr bwMode="auto">
              <a:xfrm flipH="1">
                <a:off x="1151" y="440"/>
                <a:ext cx="48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90141" name="Group 29"/>
              <p:cNvGrpSpPr>
                <a:grpSpLocks/>
              </p:cNvGrpSpPr>
              <p:nvPr/>
            </p:nvGrpSpPr>
            <p:grpSpPr bwMode="auto">
              <a:xfrm>
                <a:off x="0" y="0"/>
                <a:ext cx="3311" cy="888"/>
                <a:chOff x="0" y="0"/>
                <a:chExt cx="3311" cy="888"/>
              </a:xfrm>
            </p:grpSpPr>
            <p:pic>
              <p:nvPicPr>
                <p:cNvPr id="90142"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63"/>
                  <a:ext cx="1176" cy="5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0143" name="Group 28"/>
                <p:cNvGrpSpPr>
                  <a:grpSpLocks/>
                </p:cNvGrpSpPr>
                <p:nvPr/>
              </p:nvGrpSpPr>
              <p:grpSpPr bwMode="auto">
                <a:xfrm>
                  <a:off x="1728" y="0"/>
                  <a:ext cx="1583" cy="888"/>
                  <a:chOff x="0" y="0"/>
                  <a:chExt cx="1583" cy="888"/>
                </a:xfrm>
              </p:grpSpPr>
              <p:pic>
                <p:nvPicPr>
                  <p:cNvPr id="90144"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339"/>
                    <a:ext cx="432"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45" name="AutoShape 26"/>
                  <p:cNvSpPr>
                    <a:spLocks/>
                  </p:cNvSpPr>
                  <p:nvPr/>
                </p:nvSpPr>
                <p:spPr bwMode="auto">
                  <a:xfrm>
                    <a:off x="551" y="0"/>
                    <a:ext cx="1032" cy="888"/>
                  </a:xfrm>
                  <a:prstGeom prst="roundRect">
                    <a:avLst>
                      <a:gd name="adj" fmla="val 1350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0146"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4" y="211"/>
                    <a:ext cx="979" cy="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sp>
          <p:nvSpPr>
            <p:cNvPr id="90129" name="Rectangle 40"/>
            <p:cNvSpPr>
              <a:spLocks/>
            </p:cNvSpPr>
            <p:nvPr/>
          </p:nvSpPr>
          <p:spPr bwMode="auto">
            <a:xfrm>
              <a:off x="5213783" y="2892363"/>
              <a:ext cx="1000125" cy="339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54" name="Rectangle 20"/>
            <p:cNvSpPr>
              <a:spLocks/>
            </p:cNvSpPr>
            <p:nvPr/>
          </p:nvSpPr>
          <p:spPr bwMode="auto">
            <a:xfrm>
              <a:off x="1841242" y="3089000"/>
              <a:ext cx="1609824" cy="288016"/>
            </a:xfrm>
            <a:prstGeom prst="rect">
              <a:avLst/>
            </a:prstGeom>
            <a:solidFill>
              <a:srgbClr val="0649FF">
                <a:alpha val="38823"/>
              </a:srgbClr>
            </a:solidFill>
            <a:ln w="25400">
              <a:noFill/>
              <a:miter lim="800000"/>
              <a:headEnd/>
              <a:tailEnd/>
            </a:ln>
          </p:spPr>
          <p:txBody>
            <a:bodyPr lIns="0" tIns="0" rIns="0" bIns="0"/>
            <a:lstStyle/>
            <a:p>
              <a:endParaRPr lang="en-US"/>
            </a:p>
          </p:txBody>
        </p:sp>
        <p:cxnSp>
          <p:nvCxnSpPr>
            <p:cNvPr id="7" name="Straight Arrow Connector 6"/>
            <p:cNvCxnSpPr/>
            <p:nvPr/>
          </p:nvCxnSpPr>
          <p:spPr>
            <a:xfrm>
              <a:off x="3451066" y="3114656"/>
              <a:ext cx="2116795" cy="0"/>
            </a:xfrm>
            <a:prstGeom prst="straightConnector1">
              <a:avLst/>
            </a:prstGeom>
            <a:ln w="38100" cmpd="sng">
              <a:solidFill>
                <a:srgbClr val="868EFF"/>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3465204" y="3399362"/>
            <a:ext cx="5534022" cy="741220"/>
            <a:chOff x="3465204" y="3399362"/>
            <a:chExt cx="5534022" cy="741220"/>
          </a:xfrm>
        </p:grpSpPr>
        <p:grpSp>
          <p:nvGrpSpPr>
            <p:cNvPr id="90132" name="Group 38"/>
            <p:cNvGrpSpPr>
              <a:grpSpLocks/>
            </p:cNvGrpSpPr>
            <p:nvPr/>
          </p:nvGrpSpPr>
          <p:grpSpPr bwMode="auto">
            <a:xfrm>
              <a:off x="6242691" y="3399362"/>
              <a:ext cx="2756535" cy="741220"/>
              <a:chOff x="0" y="0"/>
              <a:chExt cx="3304" cy="888"/>
            </a:xfrm>
          </p:grpSpPr>
          <p:grpSp>
            <p:nvGrpSpPr>
              <p:cNvPr id="90133" name="Group 36"/>
              <p:cNvGrpSpPr>
                <a:grpSpLocks/>
              </p:cNvGrpSpPr>
              <p:nvPr/>
            </p:nvGrpSpPr>
            <p:grpSpPr bwMode="auto">
              <a:xfrm>
                <a:off x="0" y="0"/>
                <a:ext cx="3304" cy="888"/>
                <a:chOff x="0" y="0"/>
                <a:chExt cx="3304" cy="888"/>
              </a:xfrm>
            </p:grpSpPr>
            <p:pic>
              <p:nvPicPr>
                <p:cNvPr id="90135" name="Picture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128"/>
                  <a:ext cx="1176" cy="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0136" name="Group 35"/>
                <p:cNvGrpSpPr>
                  <a:grpSpLocks/>
                </p:cNvGrpSpPr>
                <p:nvPr/>
              </p:nvGrpSpPr>
              <p:grpSpPr bwMode="auto">
                <a:xfrm>
                  <a:off x="1744" y="0"/>
                  <a:ext cx="1560" cy="888"/>
                  <a:chOff x="0" y="0"/>
                  <a:chExt cx="1560" cy="888"/>
                </a:xfrm>
              </p:grpSpPr>
              <p:pic>
                <p:nvPicPr>
                  <p:cNvPr id="90137" name="Picture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336"/>
                    <a:ext cx="432"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38" name="AutoShape 33"/>
                  <p:cNvSpPr>
                    <a:spLocks/>
                  </p:cNvSpPr>
                  <p:nvPr/>
                </p:nvSpPr>
                <p:spPr bwMode="auto">
                  <a:xfrm>
                    <a:off x="528" y="0"/>
                    <a:ext cx="1032" cy="888"/>
                  </a:xfrm>
                  <a:prstGeom prst="roundRect">
                    <a:avLst>
                      <a:gd name="adj" fmla="val 1350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0139" name="Picture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 y="160"/>
                    <a:ext cx="976" cy="5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90134" name="Line 37"/>
              <p:cNvSpPr>
                <a:spLocks noChangeShapeType="1"/>
              </p:cNvSpPr>
              <p:nvPr/>
            </p:nvSpPr>
            <p:spPr bwMode="auto">
              <a:xfrm flipH="1">
                <a:off x="1152" y="448"/>
                <a:ext cx="48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90130" name="Rectangle 41"/>
            <p:cNvSpPr>
              <a:spLocks/>
            </p:cNvSpPr>
            <p:nvPr/>
          </p:nvSpPr>
          <p:spPr bwMode="auto">
            <a:xfrm>
              <a:off x="5213783" y="3603564"/>
              <a:ext cx="1000125" cy="339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sp>
          <p:nvSpPr>
            <p:cNvPr id="56" name="Rectangle 20"/>
            <p:cNvSpPr>
              <a:spLocks/>
            </p:cNvSpPr>
            <p:nvPr/>
          </p:nvSpPr>
          <p:spPr bwMode="auto">
            <a:xfrm>
              <a:off x="3465204" y="3457477"/>
              <a:ext cx="1609824" cy="288016"/>
            </a:xfrm>
            <a:prstGeom prst="rect">
              <a:avLst/>
            </a:prstGeom>
            <a:solidFill>
              <a:srgbClr val="0649FF">
                <a:alpha val="38823"/>
              </a:srgbClr>
            </a:solidFill>
            <a:ln w="25400">
              <a:noFill/>
              <a:miter lim="800000"/>
              <a:headEnd/>
              <a:tailEnd/>
            </a:ln>
          </p:spPr>
          <p:txBody>
            <a:bodyPr lIns="0" tIns="0" rIns="0" bIns="0"/>
            <a:lstStyle/>
            <a:p>
              <a:endParaRPr lang="en-US"/>
            </a:p>
          </p:txBody>
        </p:sp>
        <p:cxnSp>
          <p:nvCxnSpPr>
            <p:cNvPr id="79" name="Straight Arrow Connector 78"/>
            <p:cNvCxnSpPr/>
            <p:nvPr/>
          </p:nvCxnSpPr>
          <p:spPr>
            <a:xfrm>
              <a:off x="5075028" y="3491488"/>
              <a:ext cx="492833" cy="204855"/>
            </a:xfrm>
            <a:prstGeom prst="straightConnector1">
              <a:avLst/>
            </a:prstGeom>
            <a:ln w="38100" cmpd="sng">
              <a:solidFill>
                <a:srgbClr val="868EFF"/>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59"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94810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1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1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1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1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1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0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1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01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01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1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01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3" grpId="0"/>
      <p:bldP spid="90114" grpId="0"/>
      <p:bldP spid="90118" grpId="0"/>
      <p:bldP spid="90119" grpId="0"/>
      <p:bldP spid="901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1"/>
          <p:cNvSpPr>
            <a:spLocks/>
          </p:cNvSpPr>
          <p:nvPr/>
        </p:nvSpPr>
        <p:spPr bwMode="auto">
          <a:xfrm>
            <a:off x="2232422" y="1294805"/>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b="1" dirty="0">
                <a:ea typeface="ＭＳ Ｐゴシック" charset="0"/>
                <a:cs typeface="ＭＳ Ｐゴシック" charset="0"/>
              </a:rPr>
              <a:t>Parts</a:t>
            </a:r>
          </a:p>
        </p:txBody>
      </p:sp>
      <p:sp>
        <p:nvSpPr>
          <p:cNvPr id="92162" name="Rectangle 2"/>
          <p:cNvSpPr>
            <a:spLocks/>
          </p:cNvSpPr>
          <p:nvPr/>
        </p:nvSpPr>
        <p:spPr bwMode="auto">
          <a:xfrm>
            <a:off x="126999" y="2647652"/>
            <a:ext cx="116978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200" b="1" dirty="0">
                <a:ea typeface="ＭＳ Ｐゴシック" charset="0"/>
                <a:cs typeface="ＭＳ Ｐゴシック" charset="0"/>
              </a:rPr>
              <a:t>Images</a:t>
            </a:r>
          </a:p>
        </p:txBody>
      </p:sp>
      <p:pic>
        <p:nvPicPr>
          <p:cNvPr id="92163" name="Picture 3"/>
          <p:cNvPicPr>
            <a:picLocks noChangeAspect="1" noChangeArrowheads="1"/>
          </p:cNvPicPr>
          <p:nvPr/>
        </p:nvPicPr>
        <p:blipFill>
          <a:blip r:embed="rId3">
            <a:extLst>
              <a:ext uri="{28A0092B-C50C-407E-A947-70E740481C1C}">
                <a14:useLocalDpi xmlns:a14="http://schemas.microsoft.com/office/drawing/2010/main" val="0"/>
              </a:ext>
            </a:extLst>
          </a:blip>
          <a:srcRect r="455" b="71120"/>
          <a:stretch>
            <a:fillRect/>
          </a:stretch>
        </p:blipFill>
        <p:spPr bwMode="auto">
          <a:xfrm>
            <a:off x="1194346" y="2092896"/>
            <a:ext cx="3324076" cy="1541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164" name="Line 4"/>
          <p:cNvSpPr>
            <a:spLocks noChangeShapeType="1"/>
          </p:cNvSpPr>
          <p:nvPr/>
        </p:nvSpPr>
        <p:spPr bwMode="auto">
          <a:xfrm>
            <a:off x="1209973" y="3625453"/>
            <a:ext cx="3303984" cy="0"/>
          </a:xfrm>
          <a:prstGeom prst="line">
            <a:avLst/>
          </a:prstGeom>
          <a:noFill/>
          <a:ln w="127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921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2745" y="2173503"/>
            <a:ext cx="1312664" cy="642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745" y="3454837"/>
            <a:ext cx="1312664" cy="642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4768" y="2048487"/>
            <a:ext cx="1312664" cy="7768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4768" y="3245941"/>
            <a:ext cx="1312664" cy="7768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53261" name="Group 13"/>
          <p:cNvGrpSpPr>
            <a:grpSpLocks/>
          </p:cNvGrpSpPr>
          <p:nvPr/>
        </p:nvGrpSpPr>
        <p:grpSpPr bwMode="auto">
          <a:xfrm>
            <a:off x="1285875" y="2125266"/>
            <a:ext cx="4814217" cy="1509117"/>
            <a:chOff x="0" y="0"/>
            <a:chExt cx="4313" cy="1352"/>
          </a:xfrm>
        </p:grpSpPr>
        <p:sp>
          <p:nvSpPr>
            <p:cNvPr id="92241" name="Rectangle 10"/>
            <p:cNvSpPr>
              <a:spLocks/>
            </p:cNvSpPr>
            <p:nvPr/>
          </p:nvSpPr>
          <p:spPr bwMode="auto">
            <a:xfrm>
              <a:off x="0" y="0"/>
              <a:ext cx="320" cy="67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sp>
          <p:nvSpPr>
            <p:cNvPr id="92242" name="Rectangle 11"/>
            <p:cNvSpPr>
              <a:spLocks/>
            </p:cNvSpPr>
            <p:nvPr/>
          </p:nvSpPr>
          <p:spPr bwMode="auto">
            <a:xfrm>
              <a:off x="3888" y="48"/>
              <a:ext cx="320" cy="15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sp>
          <p:nvSpPr>
            <p:cNvPr id="92243" name="Rectangle 12"/>
            <p:cNvSpPr>
              <a:spLocks/>
            </p:cNvSpPr>
            <p:nvPr/>
          </p:nvSpPr>
          <p:spPr bwMode="auto">
            <a:xfrm>
              <a:off x="3993" y="1200"/>
              <a:ext cx="320" cy="15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grpSp>
      <p:grpSp>
        <p:nvGrpSpPr>
          <p:cNvPr id="53265" name="Group 17"/>
          <p:cNvGrpSpPr>
            <a:grpSpLocks/>
          </p:cNvGrpSpPr>
          <p:nvPr/>
        </p:nvGrpSpPr>
        <p:grpSpPr bwMode="auto">
          <a:xfrm>
            <a:off x="2393157" y="2116336"/>
            <a:ext cx="3875485" cy="419695"/>
            <a:chOff x="472" y="0"/>
            <a:chExt cx="3472" cy="376"/>
          </a:xfrm>
        </p:grpSpPr>
        <p:sp>
          <p:nvSpPr>
            <p:cNvPr id="92238" name="Rectangle 14"/>
            <p:cNvSpPr>
              <a:spLocks/>
            </p:cNvSpPr>
            <p:nvPr/>
          </p:nvSpPr>
          <p:spPr bwMode="auto">
            <a:xfrm>
              <a:off x="472" y="0"/>
              <a:ext cx="320"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sp>
          <p:nvSpPr>
            <p:cNvPr id="92239" name="Rectangle 15"/>
            <p:cNvSpPr>
              <a:spLocks/>
            </p:cNvSpPr>
            <p:nvPr/>
          </p:nvSpPr>
          <p:spPr bwMode="auto">
            <a:xfrm>
              <a:off x="1456" y="8"/>
              <a:ext cx="320"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sp>
          <p:nvSpPr>
            <p:cNvPr id="92240" name="Rectangle 16"/>
            <p:cNvSpPr>
              <a:spLocks/>
            </p:cNvSpPr>
            <p:nvPr/>
          </p:nvSpPr>
          <p:spPr bwMode="auto">
            <a:xfrm>
              <a:off x="3688" y="56"/>
              <a:ext cx="256"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grpSp>
      <p:grpSp>
        <p:nvGrpSpPr>
          <p:cNvPr id="53269" name="Group 21"/>
          <p:cNvGrpSpPr>
            <a:grpSpLocks/>
          </p:cNvGrpSpPr>
          <p:nvPr/>
        </p:nvGrpSpPr>
        <p:grpSpPr bwMode="auto">
          <a:xfrm>
            <a:off x="2946797" y="2491383"/>
            <a:ext cx="2821781" cy="1330523"/>
            <a:chOff x="1384" y="0"/>
            <a:chExt cx="2528" cy="1192"/>
          </a:xfrm>
        </p:grpSpPr>
        <p:sp>
          <p:nvSpPr>
            <p:cNvPr id="92235" name="Rectangle 18"/>
            <p:cNvSpPr>
              <a:spLocks/>
            </p:cNvSpPr>
            <p:nvPr/>
          </p:nvSpPr>
          <p:spPr bwMode="auto">
            <a:xfrm>
              <a:off x="3656" y="872"/>
              <a:ext cx="256"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sp>
          <p:nvSpPr>
            <p:cNvPr id="92236" name="Rectangle 19"/>
            <p:cNvSpPr>
              <a:spLocks/>
            </p:cNvSpPr>
            <p:nvPr/>
          </p:nvSpPr>
          <p:spPr bwMode="auto">
            <a:xfrm>
              <a:off x="1384" y="8"/>
              <a:ext cx="320"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sp>
          <p:nvSpPr>
            <p:cNvPr id="92237" name="Rectangle 20"/>
            <p:cNvSpPr>
              <a:spLocks/>
            </p:cNvSpPr>
            <p:nvPr/>
          </p:nvSpPr>
          <p:spPr bwMode="auto">
            <a:xfrm>
              <a:off x="2368" y="0"/>
              <a:ext cx="320"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grpSp>
      <p:pic>
        <p:nvPicPr>
          <p:cNvPr id="92175"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5391" y="1714500"/>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6" name="Picture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0438" y="1714500"/>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7" name="Picture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3734" y="1714500"/>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8" name="Picture 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2453" y="1714500"/>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9" name="Picture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6953" y="1714500"/>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80" name="Picture 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9516" y="1714500"/>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6" name="Rectangle 2"/>
          <p:cNvSpPr>
            <a:spLocks/>
          </p:cNvSpPr>
          <p:nvPr/>
        </p:nvSpPr>
        <p:spPr bwMode="auto">
          <a:xfrm>
            <a:off x="319246" y="81624"/>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sp>
        <p:nvSpPr>
          <p:cNvPr id="30"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972014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2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32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3269"/>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xit" presetSubtype="0" fill="hold" nodeType="afterEffect">
                                  <p:stCondLst>
                                    <p:cond delay="0"/>
                                  </p:stCondLst>
                                  <p:childTnLst>
                                    <p:set>
                                      <p:cBhvr>
                                        <p:cTn id="17" dur="1" fill="hold">
                                          <p:stCondLst>
                                            <p:cond delay="499"/>
                                          </p:stCondLst>
                                        </p:cTn>
                                        <p:tgtEl>
                                          <p:spTgt spid="53265"/>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xit" presetSubtype="0" fill="hold" nodeType="clickEffect">
                                  <p:stCondLst>
                                    <p:cond delay="0"/>
                                  </p:stCondLst>
                                  <p:childTnLst>
                                    <p:set>
                                      <p:cBhvr>
                                        <p:cTn id="21" dur="1" fill="hold">
                                          <p:stCondLst>
                                            <p:cond delay="499"/>
                                          </p:stCondLst>
                                        </p:cTn>
                                        <p:tgtEl>
                                          <p:spTgt spid="53269"/>
                                        </p:tgtEl>
                                        <p:attrNameLst>
                                          <p:attrName>style.visibility</p:attrName>
                                        </p:attrNameLst>
                                      </p:cBhvr>
                                      <p:to>
                                        <p:strVal val="hidden"/>
                                      </p:to>
                                    </p:set>
                                  </p:childTnLst>
                                </p:cTn>
                              </p:par>
                            </p:childTnLst>
                          </p:cTn>
                        </p:par>
                        <p:par>
                          <p:cTn id="22" fill="hold" nodeType="afterGroup">
                            <p:stCondLst>
                              <p:cond delay="500"/>
                            </p:stCondLst>
                            <p:childTnLst>
                              <p:par>
                                <p:cTn id="23" presetID="1" presetClass="exit" presetSubtype="0" fill="hold" nodeType="afterEffect">
                                  <p:stCondLst>
                                    <p:cond delay="0"/>
                                  </p:stCondLst>
                                  <p:childTnLst>
                                    <p:set>
                                      <p:cBhvr>
                                        <p:cTn id="24" dur="1" fill="hold">
                                          <p:stCondLst>
                                            <p:cond delay="499"/>
                                          </p:stCondLst>
                                        </p:cTn>
                                        <p:tgtEl>
                                          <p:spTgt spid="532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92" name="Group 44"/>
          <p:cNvGrpSpPr>
            <a:grpSpLocks/>
          </p:cNvGrpSpPr>
          <p:nvPr/>
        </p:nvGrpSpPr>
        <p:grpSpPr bwMode="auto">
          <a:xfrm>
            <a:off x="279775" y="927128"/>
            <a:ext cx="4105424" cy="2640959"/>
            <a:chOff x="0" y="-96"/>
            <a:chExt cx="3678" cy="2366"/>
          </a:xfrm>
        </p:grpSpPr>
        <p:sp>
          <p:nvSpPr>
            <p:cNvPr id="92213" name="Rectangle 22"/>
            <p:cNvSpPr>
              <a:spLocks/>
            </p:cNvSpPr>
            <p:nvPr/>
          </p:nvSpPr>
          <p:spPr bwMode="auto">
            <a:xfrm rot="10911">
              <a:off x="3" y="318"/>
              <a:ext cx="3672" cy="1952"/>
            </a:xfrm>
            <a:prstGeom prst="rect">
              <a:avLst/>
            </a:prstGeom>
            <a:noFill/>
            <a:ln w="38100">
              <a:solidFill>
                <a:srgbClr val="0077AE"/>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92214" name="Rectangle 23"/>
            <p:cNvSpPr>
              <a:spLocks/>
            </p:cNvSpPr>
            <p:nvPr/>
          </p:nvSpPr>
          <p:spPr bwMode="auto">
            <a:xfrm>
              <a:off x="0" y="-96"/>
              <a:ext cx="3678" cy="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000" dirty="0">
                  <a:solidFill>
                    <a:srgbClr val="0077AE"/>
                  </a:solidFill>
                  <a:ea typeface="ＭＳ Ｐゴシック" charset="0"/>
                  <a:cs typeface="ＭＳ Ｐゴシック" charset="0"/>
                </a:rPr>
                <a:t>Correlated</a:t>
              </a:r>
            </a:p>
          </p:txBody>
        </p:sp>
        <p:grpSp>
          <p:nvGrpSpPr>
            <p:cNvPr id="92215" name="Group 28"/>
            <p:cNvGrpSpPr>
              <a:grpSpLocks/>
            </p:cNvGrpSpPr>
            <p:nvPr/>
          </p:nvGrpSpPr>
          <p:grpSpPr bwMode="auto">
            <a:xfrm>
              <a:off x="2069" y="411"/>
              <a:ext cx="1494" cy="782"/>
              <a:chOff x="0" y="0"/>
              <a:chExt cx="1493" cy="782"/>
            </a:xfrm>
          </p:grpSpPr>
          <p:pic>
            <p:nvPicPr>
              <p:cNvPr id="92231"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32" name="Group 27"/>
              <p:cNvGrpSpPr>
                <a:grpSpLocks/>
              </p:cNvGrpSpPr>
              <p:nvPr/>
            </p:nvGrpSpPr>
            <p:grpSpPr bwMode="auto">
              <a:xfrm>
                <a:off x="272" y="0"/>
                <a:ext cx="1221" cy="782"/>
                <a:chOff x="0" y="0"/>
                <a:chExt cx="1221" cy="782"/>
              </a:xfrm>
            </p:grpSpPr>
            <p:sp>
              <p:nvSpPr>
                <p:cNvPr id="92233" name="AutoShape 2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34"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 y="48"/>
                  <a:ext cx="392"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216" name="Group 33"/>
            <p:cNvGrpSpPr>
              <a:grpSpLocks/>
            </p:cNvGrpSpPr>
            <p:nvPr/>
          </p:nvGrpSpPr>
          <p:grpSpPr bwMode="auto">
            <a:xfrm>
              <a:off x="2061" y="1347"/>
              <a:ext cx="1494" cy="782"/>
              <a:chOff x="0" y="0"/>
              <a:chExt cx="1493" cy="782"/>
            </a:xfrm>
          </p:grpSpPr>
          <p:pic>
            <p:nvPicPr>
              <p:cNvPr id="9222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28" name="Group 32"/>
              <p:cNvGrpSpPr>
                <a:grpSpLocks/>
              </p:cNvGrpSpPr>
              <p:nvPr/>
            </p:nvGrpSpPr>
            <p:grpSpPr bwMode="auto">
              <a:xfrm>
                <a:off x="272" y="0"/>
                <a:ext cx="1221" cy="782"/>
                <a:chOff x="0" y="0"/>
                <a:chExt cx="1221" cy="782"/>
              </a:xfrm>
            </p:grpSpPr>
            <p:sp>
              <p:nvSpPr>
                <p:cNvPr id="92229" name="AutoShape 3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3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 y="48"/>
                  <a:ext cx="640" cy="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217" name="Group 38"/>
            <p:cNvGrpSpPr>
              <a:grpSpLocks/>
            </p:cNvGrpSpPr>
            <p:nvPr/>
          </p:nvGrpSpPr>
          <p:grpSpPr bwMode="auto">
            <a:xfrm>
              <a:off x="157" y="1347"/>
              <a:ext cx="1494" cy="782"/>
              <a:chOff x="0" y="0"/>
              <a:chExt cx="1493" cy="782"/>
            </a:xfrm>
          </p:grpSpPr>
          <p:grpSp>
            <p:nvGrpSpPr>
              <p:cNvPr id="92223" name="Group 36"/>
              <p:cNvGrpSpPr>
                <a:grpSpLocks/>
              </p:cNvGrpSpPr>
              <p:nvPr/>
            </p:nvGrpSpPr>
            <p:grpSpPr bwMode="auto">
              <a:xfrm>
                <a:off x="0" y="0"/>
                <a:ext cx="1493" cy="782"/>
                <a:chOff x="0" y="0"/>
                <a:chExt cx="1493" cy="782"/>
              </a:xfrm>
            </p:grpSpPr>
            <p:pic>
              <p:nvPicPr>
                <p:cNvPr id="92225"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226" name="AutoShape 35"/>
                <p:cNvSpPr>
                  <a:spLocks/>
                </p:cNvSpPr>
                <p:nvPr/>
              </p:nvSpPr>
              <p:spPr bwMode="auto">
                <a:xfrm>
                  <a:off x="272"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pic>
            <p:nvPicPr>
              <p:cNvPr id="92224" name="Picture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152"/>
                <a:ext cx="432"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2218" name="Group 43"/>
            <p:cNvGrpSpPr>
              <a:grpSpLocks/>
            </p:cNvGrpSpPr>
            <p:nvPr/>
          </p:nvGrpSpPr>
          <p:grpSpPr bwMode="auto">
            <a:xfrm>
              <a:off x="157" y="411"/>
              <a:ext cx="1486" cy="782"/>
              <a:chOff x="0" y="0"/>
              <a:chExt cx="1485" cy="782"/>
            </a:xfrm>
          </p:grpSpPr>
          <p:grpSp>
            <p:nvGrpSpPr>
              <p:cNvPr id="92219" name="Group 41"/>
              <p:cNvGrpSpPr>
                <a:grpSpLocks/>
              </p:cNvGrpSpPr>
              <p:nvPr/>
            </p:nvGrpSpPr>
            <p:grpSpPr bwMode="auto">
              <a:xfrm>
                <a:off x="0" y="0"/>
                <a:ext cx="1485" cy="782"/>
                <a:chOff x="0" y="0"/>
                <a:chExt cx="1485" cy="782"/>
              </a:xfrm>
            </p:grpSpPr>
            <p:pic>
              <p:nvPicPr>
                <p:cNvPr id="92221" name="Picture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280"/>
                  <a:ext cx="17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222" name="AutoShape 40"/>
                <p:cNvSpPr>
                  <a:spLocks/>
                </p:cNvSpPr>
                <p:nvPr/>
              </p:nvSpPr>
              <p:spPr bwMode="auto">
                <a:xfrm>
                  <a:off x="264"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pic>
            <p:nvPicPr>
              <p:cNvPr id="92220" name="Picture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 y="168"/>
                <a:ext cx="488" cy="2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53331" name="Group 83"/>
          <p:cNvGrpSpPr>
            <a:grpSpLocks/>
          </p:cNvGrpSpPr>
          <p:nvPr/>
        </p:nvGrpSpPr>
        <p:grpSpPr bwMode="auto">
          <a:xfrm>
            <a:off x="4763877" y="927128"/>
            <a:ext cx="4107656" cy="3473652"/>
            <a:chOff x="0" y="-96"/>
            <a:chExt cx="3680" cy="3112"/>
          </a:xfrm>
        </p:grpSpPr>
        <p:sp>
          <p:nvSpPr>
            <p:cNvPr id="92182" name="Rectangle 52"/>
            <p:cNvSpPr>
              <a:spLocks/>
            </p:cNvSpPr>
            <p:nvPr/>
          </p:nvSpPr>
          <p:spPr bwMode="auto">
            <a:xfrm>
              <a:off x="0" y="320"/>
              <a:ext cx="3680" cy="2696"/>
            </a:xfrm>
            <a:prstGeom prst="rect">
              <a:avLst/>
            </a:prstGeom>
            <a:noFill/>
            <a:ln w="38100">
              <a:solidFill>
                <a:srgbClr val="B200CB"/>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92183" name="Rectangle 53"/>
            <p:cNvSpPr>
              <a:spLocks/>
            </p:cNvSpPr>
            <p:nvPr/>
          </p:nvSpPr>
          <p:spPr bwMode="auto">
            <a:xfrm>
              <a:off x="0" y="-96"/>
              <a:ext cx="3656"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000" dirty="0">
                  <a:solidFill>
                    <a:srgbClr val="B200CB"/>
                  </a:solidFill>
                  <a:ea typeface="ＭＳ Ｐゴシック" charset="0"/>
                  <a:cs typeface="ＭＳ Ｐゴシック" charset="0"/>
                </a:rPr>
                <a:t>Independent</a:t>
              </a:r>
            </a:p>
          </p:txBody>
        </p:sp>
        <p:grpSp>
          <p:nvGrpSpPr>
            <p:cNvPr id="92184" name="Group 58"/>
            <p:cNvGrpSpPr>
              <a:grpSpLocks/>
            </p:cNvGrpSpPr>
            <p:nvPr/>
          </p:nvGrpSpPr>
          <p:grpSpPr bwMode="auto">
            <a:xfrm>
              <a:off x="2048" y="1272"/>
              <a:ext cx="1477" cy="782"/>
              <a:chOff x="0" y="0"/>
              <a:chExt cx="1477" cy="782"/>
            </a:xfrm>
          </p:grpSpPr>
          <p:pic>
            <p:nvPicPr>
              <p:cNvPr id="92209" name="Picture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10" name="Group 57"/>
              <p:cNvGrpSpPr>
                <a:grpSpLocks/>
              </p:cNvGrpSpPr>
              <p:nvPr/>
            </p:nvGrpSpPr>
            <p:grpSpPr bwMode="auto">
              <a:xfrm>
                <a:off x="256" y="0"/>
                <a:ext cx="1221" cy="782"/>
                <a:chOff x="0" y="0"/>
                <a:chExt cx="1221" cy="782"/>
              </a:xfrm>
            </p:grpSpPr>
            <p:sp>
              <p:nvSpPr>
                <p:cNvPr id="92211" name="AutoShape 5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12" name="Picture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4" y="168"/>
                  <a:ext cx="224"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5" name="Group 63"/>
            <p:cNvGrpSpPr>
              <a:grpSpLocks/>
            </p:cNvGrpSpPr>
            <p:nvPr/>
          </p:nvGrpSpPr>
          <p:grpSpPr bwMode="auto">
            <a:xfrm>
              <a:off x="2024" y="2168"/>
              <a:ext cx="1525" cy="782"/>
              <a:chOff x="0" y="0"/>
              <a:chExt cx="1525" cy="782"/>
            </a:xfrm>
          </p:grpSpPr>
          <p:pic>
            <p:nvPicPr>
              <p:cNvPr id="92205" name="Picture 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32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06" name="Group 62"/>
              <p:cNvGrpSpPr>
                <a:grpSpLocks/>
              </p:cNvGrpSpPr>
              <p:nvPr/>
            </p:nvGrpSpPr>
            <p:grpSpPr bwMode="auto">
              <a:xfrm>
                <a:off x="304" y="0"/>
                <a:ext cx="1221" cy="782"/>
                <a:chOff x="0" y="0"/>
                <a:chExt cx="1221" cy="782"/>
              </a:xfrm>
            </p:grpSpPr>
            <p:sp>
              <p:nvSpPr>
                <p:cNvPr id="92207" name="AutoShape 6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8" name="Picture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8" y="208"/>
                  <a:ext cx="56"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6" name="Group 68"/>
            <p:cNvGrpSpPr>
              <a:grpSpLocks/>
            </p:cNvGrpSpPr>
            <p:nvPr/>
          </p:nvGrpSpPr>
          <p:grpSpPr bwMode="auto">
            <a:xfrm>
              <a:off x="136" y="2168"/>
              <a:ext cx="1477" cy="782"/>
              <a:chOff x="0" y="0"/>
              <a:chExt cx="1477" cy="782"/>
            </a:xfrm>
          </p:grpSpPr>
          <p:pic>
            <p:nvPicPr>
              <p:cNvPr id="92201" name="Picture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02" name="Group 67"/>
              <p:cNvGrpSpPr>
                <a:grpSpLocks/>
              </p:cNvGrpSpPr>
              <p:nvPr/>
            </p:nvGrpSpPr>
            <p:grpSpPr bwMode="auto">
              <a:xfrm>
                <a:off x="256" y="0"/>
                <a:ext cx="1221" cy="782"/>
                <a:chOff x="0" y="0"/>
                <a:chExt cx="1221" cy="782"/>
              </a:xfrm>
            </p:grpSpPr>
            <p:sp>
              <p:nvSpPr>
                <p:cNvPr id="92203" name="AutoShape 6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4" name="Picture 6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8" y="216"/>
                  <a:ext cx="128" cy="2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7" name="Group 73"/>
            <p:cNvGrpSpPr>
              <a:grpSpLocks/>
            </p:cNvGrpSpPr>
            <p:nvPr/>
          </p:nvGrpSpPr>
          <p:grpSpPr bwMode="auto">
            <a:xfrm>
              <a:off x="112" y="1272"/>
              <a:ext cx="1525" cy="783"/>
              <a:chOff x="0" y="0"/>
              <a:chExt cx="1525" cy="782"/>
            </a:xfrm>
          </p:grpSpPr>
          <p:pic>
            <p:nvPicPr>
              <p:cNvPr id="92197" name="Picture 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11"/>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198" name="Group 72"/>
              <p:cNvGrpSpPr>
                <a:grpSpLocks/>
              </p:cNvGrpSpPr>
              <p:nvPr/>
            </p:nvGrpSpPr>
            <p:grpSpPr bwMode="auto">
              <a:xfrm>
                <a:off x="304" y="0"/>
                <a:ext cx="1221" cy="782"/>
                <a:chOff x="0" y="0"/>
                <a:chExt cx="1221" cy="782"/>
              </a:xfrm>
            </p:grpSpPr>
            <p:sp>
              <p:nvSpPr>
                <p:cNvPr id="92199" name="AutoShape 7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0" name="Picture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6" y="39"/>
                  <a:ext cx="28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8" name="Group 78"/>
            <p:cNvGrpSpPr>
              <a:grpSpLocks/>
            </p:cNvGrpSpPr>
            <p:nvPr/>
          </p:nvGrpSpPr>
          <p:grpSpPr bwMode="auto">
            <a:xfrm>
              <a:off x="136" y="376"/>
              <a:ext cx="1478" cy="783"/>
              <a:chOff x="0" y="0"/>
              <a:chExt cx="1478" cy="782"/>
            </a:xfrm>
          </p:grpSpPr>
          <p:pic>
            <p:nvPicPr>
              <p:cNvPr id="92193" name="Picture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287"/>
                <a:ext cx="17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194" name="Group 77"/>
              <p:cNvGrpSpPr>
                <a:grpSpLocks/>
              </p:cNvGrpSpPr>
              <p:nvPr/>
            </p:nvGrpSpPr>
            <p:grpSpPr bwMode="auto">
              <a:xfrm>
                <a:off x="257" y="0"/>
                <a:ext cx="1221" cy="782"/>
                <a:chOff x="0" y="0"/>
                <a:chExt cx="1221" cy="782"/>
              </a:xfrm>
            </p:grpSpPr>
            <p:sp>
              <p:nvSpPr>
                <p:cNvPr id="92195" name="AutoShape 7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196" name="Picture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0" y="167"/>
                  <a:ext cx="280"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9" name="Group 82"/>
            <p:cNvGrpSpPr>
              <a:grpSpLocks/>
            </p:cNvGrpSpPr>
            <p:nvPr/>
          </p:nvGrpSpPr>
          <p:grpSpPr bwMode="auto">
            <a:xfrm>
              <a:off x="2024" y="376"/>
              <a:ext cx="1525" cy="782"/>
              <a:chOff x="0" y="0"/>
              <a:chExt cx="1525" cy="782"/>
            </a:xfrm>
          </p:grpSpPr>
          <p:pic>
            <p:nvPicPr>
              <p:cNvPr id="92190" name="Picture 7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2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191" name="AutoShape 80"/>
              <p:cNvSpPr>
                <a:spLocks/>
              </p:cNvSpPr>
              <p:nvPr/>
            </p:nvSpPr>
            <p:spPr bwMode="auto">
              <a:xfrm>
                <a:off x="304"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192" name="Picture 8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 y="184"/>
                <a:ext cx="144" cy="2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86" name="Rectangle 2"/>
          <p:cNvSpPr>
            <a:spLocks/>
          </p:cNvSpPr>
          <p:nvPr/>
        </p:nvSpPr>
        <p:spPr bwMode="auto">
          <a:xfrm>
            <a:off x="319246" y="81624"/>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sp>
        <p:nvSpPr>
          <p:cNvPr id="61"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1497525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3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1"/>
          <p:cNvSpPr>
            <a:spLocks/>
          </p:cNvSpPr>
          <p:nvPr/>
        </p:nvSpPr>
        <p:spPr bwMode="auto">
          <a:xfrm>
            <a:off x="1482497" y="6331536"/>
            <a:ext cx="2635036"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All 20 Possible Objects</a:t>
            </a:r>
          </a:p>
        </p:txBody>
      </p:sp>
      <p:pic>
        <p:nvPicPr>
          <p:cNvPr id="942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842" y="958825"/>
            <a:ext cx="3338587" cy="53343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55305" name="Group 9"/>
          <p:cNvGrpSpPr>
            <a:grpSpLocks/>
          </p:cNvGrpSpPr>
          <p:nvPr/>
        </p:nvGrpSpPr>
        <p:grpSpPr bwMode="auto">
          <a:xfrm>
            <a:off x="1131838" y="975573"/>
            <a:ext cx="6696150" cy="1529209"/>
            <a:chOff x="0" y="0"/>
            <a:chExt cx="5998" cy="1369"/>
          </a:xfrm>
        </p:grpSpPr>
        <p:sp>
          <p:nvSpPr>
            <p:cNvPr id="94233" name="Rectangle 3"/>
            <p:cNvSpPr>
              <a:spLocks/>
            </p:cNvSpPr>
            <p:nvPr/>
          </p:nvSpPr>
          <p:spPr bwMode="auto">
            <a:xfrm>
              <a:off x="3718" y="49"/>
              <a:ext cx="2280" cy="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Correlated set </a:t>
              </a:r>
            </a:p>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16 objects</a:t>
              </a:r>
            </a:p>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(4 copies)</a:t>
              </a:r>
            </a:p>
          </p:txBody>
        </p:sp>
        <p:sp>
          <p:nvSpPr>
            <p:cNvPr id="94234" name="Rectangle 4"/>
            <p:cNvSpPr>
              <a:spLocks/>
            </p:cNvSpPr>
            <p:nvPr/>
          </p:nvSpPr>
          <p:spPr bwMode="auto">
            <a:xfrm>
              <a:off x="0" y="8"/>
              <a:ext cx="2981" cy="1361"/>
            </a:xfrm>
            <a:prstGeom prst="rect">
              <a:avLst/>
            </a:prstGeom>
            <a:solidFill>
              <a:srgbClr val="0077AE">
                <a:alpha val="38823"/>
              </a:srgbClr>
            </a:solidFill>
            <a:ln w="25400">
              <a:solidFill>
                <a:srgbClr val="4F4A77"/>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pic>
          <p:nvPicPr>
            <p:cNvPr id="942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1" y="341"/>
              <a:ext cx="502"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7" y="684"/>
              <a:ext cx="501"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0" y="1032"/>
              <a:ext cx="502"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3" y="0"/>
              <a:ext cx="502"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4212" name="Rectangle 10"/>
          <p:cNvSpPr>
            <a:spLocks/>
          </p:cNvSpPr>
          <p:nvPr/>
        </p:nvSpPr>
        <p:spPr bwMode="auto">
          <a:xfrm>
            <a:off x="2178844" y="553641"/>
            <a:ext cx="1250156" cy="375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Parts</a:t>
            </a:r>
          </a:p>
        </p:txBody>
      </p:sp>
      <p:sp>
        <p:nvSpPr>
          <p:cNvPr id="94213" name="Rectangle 11"/>
          <p:cNvSpPr>
            <a:spLocks/>
          </p:cNvSpPr>
          <p:nvPr/>
        </p:nvSpPr>
        <p:spPr bwMode="auto">
          <a:xfrm>
            <a:off x="53580" y="3076277"/>
            <a:ext cx="1000125" cy="375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Objects</a:t>
            </a:r>
          </a:p>
        </p:txBody>
      </p:sp>
      <p:grpSp>
        <p:nvGrpSpPr>
          <p:cNvPr id="55314" name="Group 18"/>
          <p:cNvGrpSpPr>
            <a:grpSpLocks/>
          </p:cNvGrpSpPr>
          <p:nvPr/>
        </p:nvGrpSpPr>
        <p:grpSpPr bwMode="auto">
          <a:xfrm>
            <a:off x="1140768" y="2515939"/>
            <a:ext cx="7187283" cy="1495723"/>
            <a:chOff x="0" y="0"/>
            <a:chExt cx="6438" cy="1340"/>
          </a:xfrm>
        </p:grpSpPr>
        <p:sp>
          <p:nvSpPr>
            <p:cNvPr id="94227" name="Rectangle 12"/>
            <p:cNvSpPr>
              <a:spLocks/>
            </p:cNvSpPr>
            <p:nvPr/>
          </p:nvSpPr>
          <p:spPr bwMode="auto">
            <a:xfrm>
              <a:off x="0" y="12"/>
              <a:ext cx="2952" cy="1328"/>
            </a:xfrm>
            <a:prstGeom prst="rect">
              <a:avLst/>
            </a:prstGeom>
            <a:solidFill>
              <a:srgbClr val="94CE92">
                <a:alpha val="38823"/>
              </a:srgbClr>
            </a:solidFill>
            <a:ln w="25400">
              <a:solidFill>
                <a:srgbClr val="94CE92"/>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28" name="Rectangle 13"/>
            <p:cNvSpPr>
              <a:spLocks/>
            </p:cNvSpPr>
            <p:nvPr/>
          </p:nvSpPr>
          <p:spPr bwMode="auto">
            <a:xfrm>
              <a:off x="3950" y="117"/>
              <a:ext cx="2488" cy="10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388500"/>
                  </a:solidFill>
                  <a:latin typeface="Gill Sans" charset="0"/>
                  <a:ea typeface="ＭＳ Ｐゴシック" charset="0"/>
                  <a:cs typeface="ＭＳ Ｐゴシック" charset="0"/>
                  <a:sym typeface="Gill Sans" charset="0"/>
                </a:rPr>
                <a:t>Unseen set</a:t>
              </a:r>
            </a:p>
          </p:txBody>
        </p:sp>
        <p:pic>
          <p:nvPicPr>
            <p:cNvPr id="94229"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2" y="0"/>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2" y="688"/>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1"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6" y="344"/>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2"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6" y="1032"/>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55324" name="Group 28"/>
          <p:cNvGrpSpPr>
            <a:grpSpLocks/>
          </p:cNvGrpSpPr>
          <p:nvPr/>
        </p:nvGrpSpPr>
        <p:grpSpPr bwMode="auto">
          <a:xfrm>
            <a:off x="1129606" y="980038"/>
            <a:ext cx="8050113" cy="5285259"/>
            <a:chOff x="0" y="0"/>
            <a:chExt cx="7211" cy="4734"/>
          </a:xfrm>
        </p:grpSpPr>
        <p:sp>
          <p:nvSpPr>
            <p:cNvPr id="94218" name="Rectangle 19"/>
            <p:cNvSpPr>
              <a:spLocks/>
            </p:cNvSpPr>
            <p:nvPr/>
          </p:nvSpPr>
          <p:spPr bwMode="auto">
            <a:xfrm>
              <a:off x="22" y="2726"/>
              <a:ext cx="2952" cy="2008"/>
            </a:xfrm>
            <a:prstGeom prst="rect">
              <a:avLst/>
            </a:prstGeom>
            <a:solidFill>
              <a:srgbClr val="BD3CFA">
                <a:alpha val="38823"/>
              </a:srgbClr>
            </a:solidFill>
            <a:ln w="25400">
              <a:solidFill>
                <a:srgbClr val="BD3CFA"/>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19" name="Rectangle 20"/>
            <p:cNvSpPr>
              <a:spLocks/>
            </p:cNvSpPr>
            <p:nvPr/>
          </p:nvSpPr>
          <p:spPr bwMode="auto">
            <a:xfrm>
              <a:off x="0" y="0"/>
              <a:ext cx="2968" cy="1368"/>
            </a:xfrm>
            <a:prstGeom prst="rect">
              <a:avLst/>
            </a:prstGeom>
            <a:solidFill>
              <a:srgbClr val="BD3CFA">
                <a:alpha val="38823"/>
              </a:srgbClr>
            </a:solidFill>
            <a:ln w="25400">
              <a:solidFill>
                <a:srgbClr val="BD3CFA"/>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20" name="Rectangle 21"/>
            <p:cNvSpPr>
              <a:spLocks/>
            </p:cNvSpPr>
            <p:nvPr/>
          </p:nvSpPr>
          <p:spPr bwMode="auto">
            <a:xfrm>
              <a:off x="5411" y="49"/>
              <a:ext cx="1800" cy="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Independent set </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4 objects</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 copy)</a:t>
              </a:r>
            </a:p>
          </p:txBody>
        </p:sp>
        <p:sp>
          <p:nvSpPr>
            <p:cNvPr id="94221" name="Rectangle 22"/>
            <p:cNvSpPr>
              <a:spLocks/>
            </p:cNvSpPr>
            <p:nvPr/>
          </p:nvSpPr>
          <p:spPr bwMode="auto">
            <a:xfrm>
              <a:off x="5411" y="2849"/>
              <a:ext cx="1800" cy="1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Independent set</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12 objects</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 copy)</a:t>
              </a:r>
            </a:p>
          </p:txBody>
        </p:sp>
        <p:pic>
          <p:nvPicPr>
            <p:cNvPr id="94222" name="Picture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7" y="2753"/>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3" name="Picture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7" y="3097"/>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4" name="Picture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7" y="3441"/>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5" name="Picture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7" y="3785"/>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6" name="Picture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99" y="4361"/>
              <a:ext cx="40" cy="2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4216" name="Rectangle 29"/>
          <p:cNvSpPr>
            <a:spLocks/>
          </p:cNvSpPr>
          <p:nvPr/>
        </p:nvSpPr>
        <p:spPr bwMode="auto">
          <a:xfrm>
            <a:off x="6894088"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09" tIns="35709" rIns="35709" bIns="35709" anchor="ctr">
            <a:spAutoFit/>
          </a:bodyPr>
          <a:lstStyle/>
          <a:p>
            <a:pPr algn="ctr" defTabSz="642849" fontAlgn="base">
              <a:spcBef>
                <a:spcPct val="0"/>
              </a:spcBef>
              <a:spcAft>
                <a:spcPct val="0"/>
              </a:spcAft>
            </a:pPr>
            <a:r>
              <a:rPr lang="en-US" sz="1400">
                <a:solidFill>
                  <a:srgbClr val="000000"/>
                </a:solidFill>
                <a:latin typeface="Gill Sans" charset="0"/>
                <a:ea typeface="ＭＳ Ｐゴシック" charset="0"/>
                <a:cs typeface="ＭＳ Ｐゴシック" charset="0"/>
                <a:sym typeface="Gill Sans" charset="0"/>
              </a:rPr>
              <a:t>Austerweil &amp; Griffiths (2011)</a:t>
            </a:r>
          </a:p>
        </p:txBody>
      </p:sp>
      <p:sp>
        <p:nvSpPr>
          <p:cNvPr id="94217" name="Rectangle 30"/>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09" tIns="35709" rIns="35709" bIns="35709" anchor="ctr"/>
          <a:lstStyle/>
          <a:p>
            <a:pPr defTabSz="642849" fontAlgn="base">
              <a:spcBef>
                <a:spcPct val="0"/>
              </a:spcBef>
              <a:spcAft>
                <a:spcPct val="0"/>
              </a:spcAft>
            </a:pPr>
            <a:r>
              <a:rPr lang="en-US" sz="3200" b="1">
                <a:solidFill>
                  <a:srgbClr val="000000"/>
                </a:solidFill>
                <a:latin typeface="Gill Sans" charset="0"/>
                <a:ea typeface="ＭＳ Ｐゴシック" charset="0"/>
                <a:cs typeface="ＭＳ Ｐゴシック" charset="0"/>
                <a:sym typeface="Gill Sans" charset="0"/>
              </a:rPr>
              <a:t>Experiment training sets</a:t>
            </a:r>
          </a:p>
        </p:txBody>
      </p:sp>
    </p:spTree>
    <p:extLst>
      <p:ext uri="{BB962C8B-B14F-4D97-AF65-F5344CB8AC3E}">
        <p14:creationId xmlns:p14="http://schemas.microsoft.com/office/powerpoint/2010/main" val="3290406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53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53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5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1"/>
          <p:cNvSpPr>
            <a:spLocks/>
          </p:cNvSpPr>
          <p:nvPr/>
        </p:nvSpPr>
        <p:spPr bwMode="auto">
          <a:xfrm>
            <a:off x="354959" y="1031380"/>
            <a:ext cx="4018359" cy="4196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500">
                <a:solidFill>
                  <a:srgbClr val="000000"/>
                </a:solidFill>
                <a:latin typeface="Gill Sans" charset="0"/>
                <a:ea typeface="ＭＳ Ｐゴシック" charset="0"/>
                <a:cs typeface="ＭＳ Ｐゴシック" charset="0"/>
                <a:sym typeface="Gill Sans" charset="0"/>
              </a:rPr>
              <a:t>1. Training phase: exploration</a:t>
            </a:r>
          </a:p>
        </p:txBody>
      </p:sp>
      <p:grpSp>
        <p:nvGrpSpPr>
          <p:cNvPr id="57348" name="Group 4"/>
          <p:cNvGrpSpPr>
            <a:grpSpLocks/>
          </p:cNvGrpSpPr>
          <p:nvPr/>
        </p:nvGrpSpPr>
        <p:grpSpPr bwMode="auto">
          <a:xfrm>
            <a:off x="5168057" y="1031383"/>
            <a:ext cx="3366492" cy="3902273"/>
            <a:chOff x="0" y="0"/>
            <a:chExt cx="3016" cy="3496"/>
          </a:xfrm>
        </p:grpSpPr>
        <p:pic>
          <p:nvPicPr>
            <p:cNvPr id="962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 y="782"/>
              <a:ext cx="2481" cy="27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6281" name="Rectangle 3"/>
            <p:cNvSpPr>
              <a:spLocks/>
            </p:cNvSpPr>
            <p:nvPr/>
          </p:nvSpPr>
          <p:spPr bwMode="auto">
            <a:xfrm>
              <a:off x="0" y="0"/>
              <a:ext cx="3016"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500">
                  <a:solidFill>
                    <a:srgbClr val="000000"/>
                  </a:solidFill>
                  <a:latin typeface="Gill Sans" charset="0"/>
                  <a:ea typeface="ＭＳ Ｐゴシック" charset="0"/>
                  <a:cs typeface="ＭＳ Ｐゴシック" charset="0"/>
                  <a:sym typeface="Gill Sans" charset="0"/>
                </a:rPr>
                <a:t>2. Testing phase: generalization</a:t>
              </a:r>
            </a:p>
          </p:txBody>
        </p:sp>
      </p:grpSp>
      <p:grpSp>
        <p:nvGrpSpPr>
          <p:cNvPr id="96259" name="Group 21"/>
          <p:cNvGrpSpPr>
            <a:grpSpLocks/>
          </p:cNvGrpSpPr>
          <p:nvPr/>
        </p:nvGrpSpPr>
        <p:grpSpPr bwMode="auto">
          <a:xfrm>
            <a:off x="450949" y="1885285"/>
            <a:ext cx="3848695" cy="2474639"/>
            <a:chOff x="0" y="0"/>
            <a:chExt cx="3448" cy="2217"/>
          </a:xfrm>
        </p:grpSpPr>
        <p:pic>
          <p:nvPicPr>
            <p:cNvPr id="962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 y="609"/>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93"/>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 y="17"/>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7"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 y="1201"/>
              <a:ext cx="725"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8"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85"/>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9"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1790"/>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0"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782"/>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1"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8" y="1201"/>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2"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18" y="609"/>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3"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18" y="1790"/>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4"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23" y="1790"/>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5" name="Picture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8" y="17"/>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6" name="Picture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23" y="1201"/>
              <a:ext cx="725"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7" name="Picture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23" y="609"/>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8" name="Picture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23" y="17"/>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9"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grpSp>
      <p:sp>
        <p:nvSpPr>
          <p:cNvPr id="96260" name="Rectangle 22"/>
          <p:cNvSpPr>
            <a:spLocks/>
          </p:cNvSpPr>
          <p:nvPr/>
        </p:nvSpPr>
        <p:spPr bwMode="auto">
          <a:xfrm>
            <a:off x="6894088"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09" tIns="35709" rIns="35709" bIns="35709" anchor="ctr">
            <a:spAutoFit/>
          </a:bodyPr>
          <a:lstStyle/>
          <a:p>
            <a:pPr algn="ctr" defTabSz="642849" fontAlgn="base">
              <a:spcBef>
                <a:spcPct val="0"/>
              </a:spcBef>
              <a:spcAft>
                <a:spcPct val="0"/>
              </a:spcAft>
            </a:pPr>
            <a:r>
              <a:rPr lang="en-US" sz="1400">
                <a:solidFill>
                  <a:srgbClr val="000000"/>
                </a:solidFill>
                <a:latin typeface="Gill Sans" charset="0"/>
                <a:ea typeface="ＭＳ Ｐゴシック" charset="0"/>
                <a:cs typeface="ＭＳ Ｐゴシック" charset="0"/>
                <a:sym typeface="Gill Sans" charset="0"/>
              </a:rPr>
              <a:t>Austerweil &amp; Griffiths (2011)</a:t>
            </a:r>
          </a:p>
        </p:txBody>
      </p:sp>
      <p:sp>
        <p:nvSpPr>
          <p:cNvPr id="96261" name="Rectangle 23"/>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09" tIns="35709" rIns="35709" bIns="35709" anchor="ctr"/>
          <a:lstStyle/>
          <a:p>
            <a:pPr defTabSz="642849" fontAlgn="base">
              <a:spcBef>
                <a:spcPct val="0"/>
              </a:spcBef>
              <a:spcAft>
                <a:spcPct val="0"/>
              </a:spcAft>
            </a:pPr>
            <a:r>
              <a:rPr lang="en-US" sz="3200" b="1">
                <a:solidFill>
                  <a:srgbClr val="000000"/>
                </a:solidFill>
                <a:latin typeface="Gill Sans" charset="0"/>
                <a:ea typeface="ＭＳ Ｐゴシック" charset="0"/>
                <a:cs typeface="ＭＳ Ｐゴシック" charset="0"/>
                <a:sym typeface="Gill Sans" charset="0"/>
              </a:rPr>
              <a:t>Experiment procedure</a:t>
            </a:r>
          </a:p>
        </p:txBody>
      </p:sp>
      <p:sp>
        <p:nvSpPr>
          <p:cNvPr id="57368" name="Rectangle 24"/>
          <p:cNvSpPr>
            <a:spLocks/>
          </p:cNvSpPr>
          <p:nvPr/>
        </p:nvSpPr>
        <p:spPr bwMode="auto">
          <a:xfrm>
            <a:off x="5275217" y="5055752"/>
            <a:ext cx="2714385" cy="13542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Three types of images:</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Seen</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Unseen </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Control (shuffled parts)</a:t>
            </a:r>
          </a:p>
        </p:txBody>
      </p:sp>
      <p:sp>
        <p:nvSpPr>
          <p:cNvPr id="96263" name="Rectangle 25"/>
          <p:cNvSpPr>
            <a:spLocks/>
          </p:cNvSpPr>
          <p:nvPr/>
        </p:nvSpPr>
        <p:spPr bwMode="auto">
          <a:xfrm>
            <a:off x="794744" y="5015408"/>
            <a:ext cx="3072167" cy="10062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Two groups of participants:</a:t>
            </a:r>
          </a:p>
          <a:p>
            <a:pPr defTabSz="642849" fontAlgn="base">
              <a:spcBef>
                <a:spcPct val="0"/>
              </a:spcBef>
              <a:spcAft>
                <a:spcPct val="0"/>
              </a:spcAft>
            </a:pPr>
            <a:r>
              <a:rPr lang="en-US" sz="2200">
                <a:solidFill>
                  <a:srgbClr val="0077AE"/>
                </a:solidFill>
                <a:latin typeface="Gill Sans" charset="0"/>
                <a:ea typeface="ＭＳ Ｐゴシック" charset="0"/>
                <a:cs typeface="ＭＳ Ｐゴシック" charset="0"/>
                <a:sym typeface="Gill Sans" charset="0"/>
              </a:rPr>
              <a:t>Correlated</a:t>
            </a:r>
          </a:p>
          <a:p>
            <a:pPr defTabSz="642849" fontAlgn="base">
              <a:spcBef>
                <a:spcPct val="0"/>
              </a:spcBef>
              <a:spcAft>
                <a:spcPct val="0"/>
              </a:spcAft>
            </a:pPr>
            <a:r>
              <a:rPr lang="en-US" sz="2200">
                <a:solidFill>
                  <a:srgbClr val="B200CB"/>
                </a:solidFill>
                <a:latin typeface="Gill Sans" charset="0"/>
                <a:ea typeface="ＭＳ Ｐゴシック" charset="0"/>
                <a:cs typeface="ＭＳ Ｐゴシック" charset="0"/>
                <a:sym typeface="Gill Sans" charset="0"/>
              </a:rPr>
              <a:t>Independent</a:t>
            </a:r>
          </a:p>
        </p:txBody>
      </p:sp>
    </p:spTree>
    <p:extLst>
      <p:ext uri="{BB962C8B-B14F-4D97-AF65-F5344CB8AC3E}">
        <p14:creationId xmlns:p14="http://schemas.microsoft.com/office/powerpoint/2010/main" val="4147179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3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7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8"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29" name="Rectangle 1"/>
          <p:cNvSpPr>
            <a:spLocks/>
          </p:cNvSpPr>
          <p:nvPr/>
        </p:nvSpPr>
        <p:spPr bwMode="auto">
          <a:xfrm>
            <a:off x="133945" y="918733"/>
            <a:ext cx="8965406" cy="892969"/>
          </a:xfrm>
          <a:prstGeom prst="rect">
            <a:avLst/>
          </a:prstGeom>
          <a:solidFill>
            <a:schemeClr val="accent5">
              <a:lumMod val="40000"/>
              <a:lumOff val="60000"/>
            </a:schemeClr>
          </a:solidFill>
          <a:ln w="25400">
            <a:solidFill>
              <a:schemeClr val="tx1"/>
            </a:solidFill>
            <a:miter lim="800000"/>
            <a:headEnd/>
            <a:tailEnd/>
          </a:ln>
        </p:spPr>
        <p:txBody>
          <a:bodyPr lIns="0" tIns="0" rIns="0" bIns="0"/>
          <a:lstStyle/>
          <a:p>
            <a:endParaRPr lang="en-US" sz="2800"/>
          </a:p>
        </p:txBody>
      </p:sp>
      <p:sp>
        <p:nvSpPr>
          <p:cNvPr id="99331" name="Rectangle 3"/>
          <p:cNvSpPr>
            <a:spLocks/>
          </p:cNvSpPr>
          <p:nvPr/>
        </p:nvSpPr>
        <p:spPr bwMode="auto">
          <a:xfrm>
            <a:off x="5860730" y="6504841"/>
            <a:ext cx="3333992"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dirty="0">
                <a:ea typeface="ＭＳ Ｐゴシック" charset="0"/>
                <a:cs typeface="ＭＳ Ｐゴシック" charset="0"/>
              </a:rPr>
              <a:t>Austerweil &amp; Griffiths (2011; 2013)</a:t>
            </a:r>
          </a:p>
        </p:txBody>
      </p:sp>
      <p:grpSp>
        <p:nvGrpSpPr>
          <p:cNvPr id="2080" name="Group 32"/>
          <p:cNvGrpSpPr>
            <a:grpSpLocks/>
          </p:cNvGrpSpPr>
          <p:nvPr/>
        </p:nvGrpSpPr>
        <p:grpSpPr bwMode="auto">
          <a:xfrm>
            <a:off x="267891" y="3184641"/>
            <a:ext cx="3551783" cy="1332756"/>
            <a:chOff x="0" y="0"/>
            <a:chExt cx="3182" cy="1193"/>
          </a:xfrm>
        </p:grpSpPr>
        <p:pic>
          <p:nvPicPr>
            <p:cNvPr id="9942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 y="513"/>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 y="513"/>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27" name="Group 20"/>
            <p:cNvGrpSpPr>
              <a:grpSpLocks/>
            </p:cNvGrpSpPr>
            <p:nvPr/>
          </p:nvGrpSpPr>
          <p:grpSpPr bwMode="auto">
            <a:xfrm>
              <a:off x="408" y="33"/>
              <a:ext cx="1168" cy="560"/>
              <a:chOff x="0" y="0"/>
              <a:chExt cx="1168" cy="560"/>
            </a:xfrm>
          </p:grpSpPr>
          <p:grpSp>
            <p:nvGrpSpPr>
              <p:cNvPr id="99439" name="Group 18"/>
              <p:cNvGrpSpPr>
                <a:grpSpLocks/>
              </p:cNvGrpSpPr>
              <p:nvPr/>
            </p:nvGrpSpPr>
            <p:grpSpPr bwMode="auto">
              <a:xfrm>
                <a:off x="0" y="0"/>
                <a:ext cx="1168" cy="560"/>
                <a:chOff x="0" y="0"/>
                <a:chExt cx="1168" cy="560"/>
              </a:xfrm>
            </p:grpSpPr>
            <p:pic>
              <p:nvPicPr>
                <p:cNvPr id="99441"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42" name="Group 17"/>
                <p:cNvGrpSpPr>
                  <a:grpSpLocks/>
                </p:cNvGrpSpPr>
                <p:nvPr/>
              </p:nvGrpSpPr>
              <p:grpSpPr bwMode="auto">
                <a:xfrm>
                  <a:off x="0" y="0"/>
                  <a:ext cx="1168" cy="560"/>
                  <a:chOff x="0" y="0"/>
                  <a:chExt cx="1168" cy="560"/>
                </a:xfrm>
              </p:grpSpPr>
              <p:pic>
                <p:nvPicPr>
                  <p:cNvPr id="99443"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44"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440"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428" name="Group 26"/>
            <p:cNvGrpSpPr>
              <a:grpSpLocks/>
            </p:cNvGrpSpPr>
            <p:nvPr/>
          </p:nvGrpSpPr>
          <p:grpSpPr bwMode="auto">
            <a:xfrm>
              <a:off x="408" y="617"/>
              <a:ext cx="1208" cy="536"/>
              <a:chOff x="0" y="0"/>
              <a:chExt cx="1208" cy="536"/>
            </a:xfrm>
          </p:grpSpPr>
          <p:grpSp>
            <p:nvGrpSpPr>
              <p:cNvPr id="99434" name="Group 24"/>
              <p:cNvGrpSpPr>
                <a:grpSpLocks/>
              </p:cNvGrpSpPr>
              <p:nvPr/>
            </p:nvGrpSpPr>
            <p:grpSpPr bwMode="auto">
              <a:xfrm>
                <a:off x="0" y="0"/>
                <a:ext cx="1208" cy="536"/>
                <a:chOff x="0" y="0"/>
                <a:chExt cx="1208" cy="536"/>
              </a:xfrm>
            </p:grpSpPr>
            <p:pic>
              <p:nvPicPr>
                <p:cNvPr id="99436"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7"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8"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35" name="Picture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29"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89"/>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0"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1"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2" y="1"/>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2" name="Picture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24" y="1"/>
              <a:ext cx="21"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3" name="Picture 31"/>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1690" y="433"/>
              <a:ext cx="984" cy="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2090" name="Group 42"/>
          <p:cNvGrpSpPr>
            <a:grpSpLocks/>
          </p:cNvGrpSpPr>
          <p:nvPr/>
        </p:nvGrpSpPr>
        <p:grpSpPr bwMode="auto">
          <a:xfrm>
            <a:off x="267891" y="2151030"/>
            <a:ext cx="3549551" cy="598289"/>
            <a:chOff x="0" y="0"/>
            <a:chExt cx="3180" cy="536"/>
          </a:xfrm>
        </p:grpSpPr>
        <p:pic>
          <p:nvPicPr>
            <p:cNvPr id="99416" name="Picture 33"/>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1692" y="104"/>
              <a:ext cx="984" cy="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7"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8" y="188"/>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18" name="Group 37"/>
            <p:cNvGrpSpPr>
              <a:grpSpLocks/>
            </p:cNvGrpSpPr>
            <p:nvPr/>
          </p:nvGrpSpPr>
          <p:grpSpPr bwMode="auto">
            <a:xfrm>
              <a:off x="448" y="56"/>
              <a:ext cx="984" cy="424"/>
              <a:chOff x="0" y="0"/>
              <a:chExt cx="984" cy="424"/>
            </a:xfrm>
          </p:grpSpPr>
          <p:pic>
            <p:nvPicPr>
              <p:cNvPr id="99423" name="Picture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4" name="Picture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19" name="Picture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0" name="Picture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1" name="Picture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4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2" name="Picture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38" name="Group 50"/>
          <p:cNvGrpSpPr>
            <a:grpSpLocks/>
          </p:cNvGrpSpPr>
          <p:nvPr/>
        </p:nvGrpSpPr>
        <p:grpSpPr bwMode="auto">
          <a:xfrm>
            <a:off x="276820" y="1061608"/>
            <a:ext cx="3549551" cy="598289"/>
            <a:chOff x="0" y="0"/>
            <a:chExt cx="3180" cy="536"/>
          </a:xfrm>
        </p:grpSpPr>
        <p:pic>
          <p:nvPicPr>
            <p:cNvPr id="99409" name="Picture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0" name="Picture 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1" name="Picture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4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2" name="Picture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9413" name="Rectangle 47"/>
            <p:cNvSpPr>
              <a:spLocks/>
            </p:cNvSpPr>
            <p:nvPr/>
          </p:nvSpPr>
          <p:spPr bwMode="auto">
            <a:xfrm>
              <a:off x="315" y="147"/>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sp>
          <p:nvSpPr>
            <p:cNvPr id="99414" name="Rectangle 48"/>
            <p:cNvSpPr>
              <a:spLocks/>
            </p:cNvSpPr>
            <p:nvPr/>
          </p:nvSpPr>
          <p:spPr bwMode="auto">
            <a:xfrm>
              <a:off x="1842" y="147"/>
              <a:ext cx="660"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Objects</a:t>
              </a:r>
            </a:p>
          </p:txBody>
        </p:sp>
        <p:pic>
          <p:nvPicPr>
            <p:cNvPr id="99415"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8" y="188"/>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2128" name="Group 80"/>
          <p:cNvGrpSpPr>
            <a:grpSpLocks/>
          </p:cNvGrpSpPr>
          <p:nvPr/>
        </p:nvGrpSpPr>
        <p:grpSpPr bwMode="auto">
          <a:xfrm>
            <a:off x="4017244" y="2142100"/>
            <a:ext cx="3080742" cy="2367484"/>
            <a:chOff x="0" y="0"/>
            <a:chExt cx="2759" cy="2121"/>
          </a:xfrm>
        </p:grpSpPr>
        <p:grpSp>
          <p:nvGrpSpPr>
            <p:cNvPr id="99380" name="Group 70"/>
            <p:cNvGrpSpPr>
              <a:grpSpLocks/>
            </p:cNvGrpSpPr>
            <p:nvPr/>
          </p:nvGrpSpPr>
          <p:grpSpPr bwMode="auto">
            <a:xfrm>
              <a:off x="0" y="927"/>
              <a:ext cx="2759" cy="1194"/>
              <a:chOff x="0" y="0"/>
              <a:chExt cx="2759" cy="1193"/>
            </a:xfrm>
          </p:grpSpPr>
          <p:pic>
            <p:nvPicPr>
              <p:cNvPr id="99390" name="Picture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 y="51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91" name="Group 58"/>
              <p:cNvGrpSpPr>
                <a:grpSpLocks/>
              </p:cNvGrpSpPr>
              <p:nvPr/>
            </p:nvGrpSpPr>
            <p:grpSpPr bwMode="auto">
              <a:xfrm>
                <a:off x="1464" y="32"/>
                <a:ext cx="1168" cy="560"/>
                <a:chOff x="0" y="0"/>
                <a:chExt cx="1168" cy="560"/>
              </a:xfrm>
            </p:grpSpPr>
            <p:grpSp>
              <p:nvGrpSpPr>
                <p:cNvPr id="99403" name="Group 56"/>
                <p:cNvGrpSpPr>
                  <a:grpSpLocks/>
                </p:cNvGrpSpPr>
                <p:nvPr/>
              </p:nvGrpSpPr>
              <p:grpSpPr bwMode="auto">
                <a:xfrm>
                  <a:off x="0" y="0"/>
                  <a:ext cx="1168" cy="560"/>
                  <a:chOff x="0" y="0"/>
                  <a:chExt cx="1168" cy="560"/>
                </a:xfrm>
              </p:grpSpPr>
              <p:pic>
                <p:nvPicPr>
                  <p:cNvPr id="99405" name="Picture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06" name="Group 55"/>
                  <p:cNvGrpSpPr>
                    <a:grpSpLocks/>
                  </p:cNvGrpSpPr>
                  <p:nvPr/>
                </p:nvGrpSpPr>
                <p:grpSpPr bwMode="auto">
                  <a:xfrm>
                    <a:off x="0" y="0"/>
                    <a:ext cx="1168" cy="560"/>
                    <a:chOff x="0" y="0"/>
                    <a:chExt cx="1168" cy="560"/>
                  </a:xfrm>
                </p:grpSpPr>
                <p:pic>
                  <p:nvPicPr>
                    <p:cNvPr id="99407"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8" name="Picture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404"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92" name="Group 64"/>
              <p:cNvGrpSpPr>
                <a:grpSpLocks/>
              </p:cNvGrpSpPr>
              <p:nvPr/>
            </p:nvGrpSpPr>
            <p:grpSpPr bwMode="auto">
              <a:xfrm>
                <a:off x="1440" y="616"/>
                <a:ext cx="1208" cy="536"/>
                <a:chOff x="0" y="0"/>
                <a:chExt cx="1208" cy="536"/>
              </a:xfrm>
            </p:grpSpPr>
            <p:grpSp>
              <p:nvGrpSpPr>
                <p:cNvPr id="99398" name="Group 62"/>
                <p:cNvGrpSpPr>
                  <a:grpSpLocks/>
                </p:cNvGrpSpPr>
                <p:nvPr/>
              </p:nvGrpSpPr>
              <p:grpSpPr bwMode="auto">
                <a:xfrm>
                  <a:off x="0" y="0"/>
                  <a:ext cx="1208" cy="536"/>
                  <a:chOff x="0" y="0"/>
                  <a:chExt cx="1208" cy="536"/>
                </a:xfrm>
              </p:grpSpPr>
              <p:pic>
                <p:nvPicPr>
                  <p:cNvPr id="99400" name="Picture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1" name="Picture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2" name="Picture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99" name="Picture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93" name="Picture 6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88"/>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4" name="Picture 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5" name="Picture 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2" y="0"/>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6" name="Picture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84" y="0"/>
                <a:ext cx="21"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7" name="Picture 69"/>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322" y="432"/>
                <a:ext cx="984" cy="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81" name="Group 79"/>
            <p:cNvGrpSpPr>
              <a:grpSpLocks/>
            </p:cNvGrpSpPr>
            <p:nvPr/>
          </p:nvGrpSpPr>
          <p:grpSpPr bwMode="auto">
            <a:xfrm>
              <a:off x="0" y="0"/>
              <a:ext cx="2752" cy="536"/>
              <a:chOff x="0" y="0"/>
              <a:chExt cx="2752" cy="536"/>
            </a:xfrm>
          </p:grpSpPr>
          <p:pic>
            <p:nvPicPr>
              <p:cNvPr id="99382" name="Picture 71"/>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323" y="111"/>
                <a:ext cx="984" cy="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83" name="Group 74"/>
              <p:cNvGrpSpPr>
                <a:grpSpLocks/>
              </p:cNvGrpSpPr>
              <p:nvPr/>
            </p:nvGrpSpPr>
            <p:grpSpPr bwMode="auto">
              <a:xfrm>
                <a:off x="1552" y="64"/>
                <a:ext cx="984" cy="424"/>
                <a:chOff x="0" y="0"/>
                <a:chExt cx="984" cy="424"/>
              </a:xfrm>
            </p:grpSpPr>
            <p:pic>
              <p:nvPicPr>
                <p:cNvPr id="99388" name="Picture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9" name="Picture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84" name="Picture 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5" name="Picture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6" name="Picture 7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9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7" name="Picture 7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2136" name="Group 88"/>
          <p:cNvGrpSpPr>
            <a:grpSpLocks/>
          </p:cNvGrpSpPr>
          <p:nvPr/>
        </p:nvGrpSpPr>
        <p:grpSpPr bwMode="auto">
          <a:xfrm>
            <a:off x="4027289" y="1052678"/>
            <a:ext cx="3071813" cy="598289"/>
            <a:chOff x="0" y="0"/>
            <a:chExt cx="2752" cy="536"/>
          </a:xfrm>
        </p:grpSpPr>
        <p:grpSp>
          <p:nvGrpSpPr>
            <p:cNvPr id="99373" name="Group 85"/>
            <p:cNvGrpSpPr>
              <a:grpSpLocks/>
            </p:cNvGrpSpPr>
            <p:nvPr/>
          </p:nvGrpSpPr>
          <p:grpSpPr bwMode="auto">
            <a:xfrm>
              <a:off x="0" y="0"/>
              <a:ext cx="2752" cy="536"/>
              <a:chOff x="0" y="0"/>
              <a:chExt cx="2752" cy="536"/>
            </a:xfrm>
          </p:grpSpPr>
          <p:pic>
            <p:nvPicPr>
              <p:cNvPr id="99376" name="Picture 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7" name="Picture 8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8" name="Picture 8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9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9" name="Picture 8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9374" name="Rectangle 86"/>
            <p:cNvSpPr>
              <a:spLocks/>
            </p:cNvSpPr>
            <p:nvPr/>
          </p:nvSpPr>
          <p:spPr bwMode="auto">
            <a:xfrm>
              <a:off x="1416" y="147"/>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sp>
          <p:nvSpPr>
            <p:cNvPr id="99375" name="Rectangle 87"/>
            <p:cNvSpPr>
              <a:spLocks/>
            </p:cNvSpPr>
            <p:nvPr/>
          </p:nvSpPr>
          <p:spPr bwMode="auto">
            <a:xfrm>
              <a:off x="560" y="147"/>
              <a:ext cx="660"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Objects</a:t>
              </a:r>
            </a:p>
          </p:txBody>
        </p:sp>
      </p:grpSp>
      <p:grpSp>
        <p:nvGrpSpPr>
          <p:cNvPr id="2162" name="Group 114"/>
          <p:cNvGrpSpPr>
            <a:grpSpLocks/>
          </p:cNvGrpSpPr>
          <p:nvPr/>
        </p:nvGrpSpPr>
        <p:grpSpPr bwMode="auto">
          <a:xfrm>
            <a:off x="7152680" y="2142100"/>
            <a:ext cx="1927697" cy="2376413"/>
            <a:chOff x="0" y="0"/>
            <a:chExt cx="1727" cy="2129"/>
          </a:xfrm>
        </p:grpSpPr>
        <p:grpSp>
          <p:nvGrpSpPr>
            <p:cNvPr id="99348" name="Group 106"/>
            <p:cNvGrpSpPr>
              <a:grpSpLocks/>
            </p:cNvGrpSpPr>
            <p:nvPr/>
          </p:nvGrpSpPr>
          <p:grpSpPr bwMode="auto">
            <a:xfrm>
              <a:off x="0" y="935"/>
              <a:ext cx="1727" cy="1194"/>
              <a:chOff x="0" y="0"/>
              <a:chExt cx="1727" cy="1193"/>
            </a:xfrm>
          </p:grpSpPr>
          <p:pic>
            <p:nvPicPr>
              <p:cNvPr id="99356"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 y="51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57" name="Group 96"/>
              <p:cNvGrpSpPr>
                <a:grpSpLocks/>
              </p:cNvGrpSpPr>
              <p:nvPr/>
            </p:nvGrpSpPr>
            <p:grpSpPr bwMode="auto">
              <a:xfrm>
                <a:off x="424" y="32"/>
                <a:ext cx="1168" cy="560"/>
                <a:chOff x="0" y="0"/>
                <a:chExt cx="1168" cy="560"/>
              </a:xfrm>
            </p:grpSpPr>
            <p:grpSp>
              <p:nvGrpSpPr>
                <p:cNvPr id="99367" name="Group 94"/>
                <p:cNvGrpSpPr>
                  <a:grpSpLocks/>
                </p:cNvGrpSpPr>
                <p:nvPr/>
              </p:nvGrpSpPr>
              <p:grpSpPr bwMode="auto">
                <a:xfrm>
                  <a:off x="0" y="0"/>
                  <a:ext cx="1168" cy="560"/>
                  <a:chOff x="0" y="0"/>
                  <a:chExt cx="1168" cy="560"/>
                </a:xfrm>
              </p:grpSpPr>
              <p:pic>
                <p:nvPicPr>
                  <p:cNvPr id="99369" name="Picture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70" name="Group 93"/>
                  <p:cNvGrpSpPr>
                    <a:grpSpLocks/>
                  </p:cNvGrpSpPr>
                  <p:nvPr/>
                </p:nvGrpSpPr>
                <p:grpSpPr bwMode="auto">
                  <a:xfrm>
                    <a:off x="0" y="0"/>
                    <a:ext cx="1168" cy="560"/>
                    <a:chOff x="0" y="0"/>
                    <a:chExt cx="1168" cy="560"/>
                  </a:xfrm>
                </p:grpSpPr>
                <p:pic>
                  <p:nvPicPr>
                    <p:cNvPr id="99371"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2" name="Picture 9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368" name="Picture 9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58" name="Group 102"/>
              <p:cNvGrpSpPr>
                <a:grpSpLocks/>
              </p:cNvGrpSpPr>
              <p:nvPr/>
            </p:nvGrpSpPr>
            <p:grpSpPr bwMode="auto">
              <a:xfrm>
                <a:off x="400" y="616"/>
                <a:ext cx="1208" cy="536"/>
                <a:chOff x="0" y="0"/>
                <a:chExt cx="1208" cy="536"/>
              </a:xfrm>
            </p:grpSpPr>
            <p:grpSp>
              <p:nvGrpSpPr>
                <p:cNvPr id="99362" name="Group 100"/>
                <p:cNvGrpSpPr>
                  <a:grpSpLocks/>
                </p:cNvGrpSpPr>
                <p:nvPr/>
              </p:nvGrpSpPr>
              <p:grpSpPr bwMode="auto">
                <a:xfrm>
                  <a:off x="0" y="0"/>
                  <a:ext cx="1208" cy="536"/>
                  <a:chOff x="0" y="0"/>
                  <a:chExt cx="1208" cy="536"/>
                </a:xfrm>
              </p:grpSpPr>
              <p:pic>
                <p:nvPicPr>
                  <p:cNvPr id="99364" name="Picture 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5" name="Picture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6" name="Picture 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63" name="Picture 10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59" name="Picture 10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96"/>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0" name="Picture 10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1" name="Picture 10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0" y="0"/>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49" name="Group 113"/>
            <p:cNvGrpSpPr>
              <a:grpSpLocks/>
            </p:cNvGrpSpPr>
            <p:nvPr/>
          </p:nvGrpSpPr>
          <p:grpSpPr bwMode="auto">
            <a:xfrm>
              <a:off x="0" y="0"/>
              <a:ext cx="1720" cy="536"/>
              <a:chOff x="0" y="0"/>
              <a:chExt cx="1720" cy="536"/>
            </a:xfrm>
          </p:grpSpPr>
          <p:grpSp>
            <p:nvGrpSpPr>
              <p:cNvPr id="99350" name="Group 109"/>
              <p:cNvGrpSpPr>
                <a:grpSpLocks/>
              </p:cNvGrpSpPr>
              <p:nvPr/>
            </p:nvGrpSpPr>
            <p:grpSpPr bwMode="auto">
              <a:xfrm>
                <a:off x="464" y="64"/>
                <a:ext cx="984" cy="424"/>
                <a:chOff x="0" y="0"/>
                <a:chExt cx="984" cy="424"/>
              </a:xfrm>
            </p:grpSpPr>
            <p:pic>
              <p:nvPicPr>
                <p:cNvPr id="99354" name="Picture 1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5" name="Picture 10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51" name="Picture 1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44"/>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2" name="Picture 1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 y="0"/>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3" name="Picture 1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0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2168" name="Group 120"/>
          <p:cNvGrpSpPr>
            <a:grpSpLocks/>
          </p:cNvGrpSpPr>
          <p:nvPr/>
        </p:nvGrpSpPr>
        <p:grpSpPr bwMode="auto">
          <a:xfrm>
            <a:off x="7161609" y="1052678"/>
            <a:ext cx="1919883" cy="598289"/>
            <a:chOff x="0" y="0"/>
            <a:chExt cx="1720" cy="536"/>
          </a:xfrm>
        </p:grpSpPr>
        <p:grpSp>
          <p:nvGrpSpPr>
            <p:cNvPr id="99343" name="Group 118"/>
            <p:cNvGrpSpPr>
              <a:grpSpLocks/>
            </p:cNvGrpSpPr>
            <p:nvPr/>
          </p:nvGrpSpPr>
          <p:grpSpPr bwMode="auto">
            <a:xfrm>
              <a:off x="0" y="0"/>
              <a:ext cx="1720" cy="536"/>
              <a:chOff x="0" y="0"/>
              <a:chExt cx="1720" cy="536"/>
            </a:xfrm>
          </p:grpSpPr>
          <p:pic>
            <p:nvPicPr>
              <p:cNvPr id="99345" name="Picture 1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44"/>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46" name="Picture 1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 y="0"/>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47" name="Picture 1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0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9344" name="Rectangle 119"/>
            <p:cNvSpPr>
              <a:spLocks/>
            </p:cNvSpPr>
            <p:nvPr/>
          </p:nvSpPr>
          <p:spPr bwMode="auto">
            <a:xfrm>
              <a:off x="312" y="155"/>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grpSp>
      <p:sp>
        <p:nvSpPr>
          <p:cNvPr id="116"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framework</a:t>
            </a:r>
          </a:p>
        </p:txBody>
      </p:sp>
      <p:sp>
        <p:nvSpPr>
          <p:cNvPr id="2059" name="Rectangle 11"/>
          <p:cNvSpPr>
            <a:spLocks/>
          </p:cNvSpPr>
          <p:nvPr/>
        </p:nvSpPr>
        <p:spPr bwMode="auto">
          <a:xfrm>
            <a:off x="1332135" y="1917497"/>
            <a:ext cx="6479730" cy="2608022"/>
          </a:xfrm>
          <a:prstGeom prst="rect">
            <a:avLst/>
          </a:prstGeom>
          <a:solidFill>
            <a:srgbClr val="000000">
              <a:alpha val="90000"/>
            </a:srgbClr>
          </a:solidFill>
          <a:ln>
            <a:noFill/>
          </a:ln>
        </p:spPr>
        <p:txBody>
          <a:bodyPr wrap="square" lIns="274320" tIns="274320" rIns="274320" bIns="274320" anchor="ctr">
            <a:spAutoFit/>
          </a:bodyPr>
          <a:lstStyle/>
          <a:p>
            <a:pPr>
              <a:spcBef>
                <a:spcPts val="1617"/>
              </a:spcBef>
            </a:pPr>
            <a:r>
              <a:rPr lang="en-US" sz="3000" b="1"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Challenge: </a:t>
            </a: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How to form a set over possible representations?</a:t>
            </a:r>
          </a:p>
          <a:p>
            <a:pPr>
              <a:spcBef>
                <a:spcPts val="1617"/>
              </a:spcBef>
            </a:pP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Use flexible hypothesis spaces from Bayesian </a:t>
            </a:r>
            <a:r>
              <a:rPr lang="en-US" sz="3000" dirty="0" err="1">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nonparametrics</a:t>
            </a: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a:t>
            </a:r>
          </a:p>
        </p:txBody>
      </p:sp>
    </p:spTree>
    <p:extLst>
      <p:ext uri="{BB962C8B-B14F-4D97-AF65-F5344CB8AC3E}">
        <p14:creationId xmlns:p14="http://schemas.microsoft.com/office/powerpoint/2010/main" val="2530326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1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20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12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216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0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9"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3" name="Rectangle 68"/>
          <p:cNvSpPr>
            <a:spLocks/>
          </p:cNvSpPr>
          <p:nvPr/>
        </p:nvSpPr>
        <p:spPr bwMode="auto">
          <a:xfrm>
            <a:off x="233817" y="1271127"/>
            <a:ext cx="9054702" cy="4990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3000" dirty="0">
                <a:latin typeface="Helvetica"/>
                <a:ea typeface="ＭＳ Ｐゴシック" charset="0"/>
                <a:cs typeface="Helvetica"/>
              </a:rPr>
              <a:t>Encode images using two components:</a:t>
            </a:r>
            <a:endParaRPr lang="en-US" sz="3000" dirty="0">
              <a:ea typeface="ＭＳ Ｐゴシック" charset="0"/>
              <a:cs typeface="ＭＳ Ｐゴシック" charset="0"/>
            </a:endParaRPr>
          </a:p>
          <a:p>
            <a:pPr algn="just"/>
            <a:r>
              <a:rPr lang="en-US" sz="3000" dirty="0">
                <a:ea typeface="ＭＳ Ｐゴシック" charset="0"/>
                <a:cs typeface="ＭＳ Ｐゴシック" charset="0"/>
              </a:rPr>
              <a:t>	</a:t>
            </a:r>
          </a:p>
        </p:txBody>
      </p:sp>
      <p:sp>
        <p:nvSpPr>
          <p:cNvPr id="24" name="Rectangle 2"/>
          <p:cNvSpPr>
            <a:spLocks/>
          </p:cNvSpPr>
          <p:nvPr/>
        </p:nvSpPr>
        <p:spPr bwMode="auto">
          <a:xfrm>
            <a:off x="224662"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Given a set of images, how should we represent it?</a:t>
            </a:r>
          </a:p>
        </p:txBody>
      </p:sp>
      <p:sp>
        <p:nvSpPr>
          <p:cNvPr id="2" name="Rectangle 1"/>
          <p:cNvSpPr/>
          <p:nvPr/>
        </p:nvSpPr>
        <p:spPr>
          <a:xfrm>
            <a:off x="299785" y="1798727"/>
            <a:ext cx="4448380" cy="1015663"/>
          </a:xfrm>
          <a:prstGeom prst="rect">
            <a:avLst/>
          </a:prstGeom>
        </p:spPr>
        <p:txBody>
          <a:bodyPr wrap="square">
            <a:spAutoFit/>
          </a:bodyPr>
          <a:lstStyle/>
          <a:p>
            <a:pPr algn="ctr"/>
            <a:r>
              <a:rPr lang="en-US" sz="3000" b="1" dirty="0">
                <a:latin typeface="Helvetica"/>
                <a:ea typeface="ＭＳ Ｐゴシック" charset="0"/>
                <a:cs typeface="Helvetica"/>
              </a:rPr>
              <a:t>Feature ownership</a:t>
            </a:r>
          </a:p>
          <a:p>
            <a:pPr algn="ctr"/>
            <a:r>
              <a:rPr lang="en-US" sz="3000" b="1" dirty="0">
                <a:latin typeface="Helvetica"/>
                <a:ea typeface="ＭＳ Ｐゴシック" charset="0"/>
                <a:cs typeface="Helvetica"/>
              </a:rPr>
              <a:t>matrix </a:t>
            </a:r>
            <a:r>
              <a:rPr lang="en-US" sz="3000" b="1" dirty="0">
                <a:latin typeface="Times New Roman"/>
                <a:ea typeface="ＭＳ Ｐゴシック" charset="0"/>
                <a:cs typeface="Times New Roman"/>
              </a:rPr>
              <a:t>Z</a:t>
            </a:r>
            <a:r>
              <a:rPr lang="en-US" sz="3000" b="1" dirty="0">
                <a:ea typeface="ＭＳ Ｐゴシック" charset="0"/>
                <a:cs typeface="ＭＳ Ｐゴシック" charset="0"/>
              </a:rPr>
              <a:t>  </a:t>
            </a:r>
          </a:p>
        </p:txBody>
      </p:sp>
      <p:grpSp>
        <p:nvGrpSpPr>
          <p:cNvPr id="6" name="Group 5"/>
          <p:cNvGrpSpPr/>
          <p:nvPr/>
        </p:nvGrpSpPr>
        <p:grpSpPr>
          <a:xfrm>
            <a:off x="265188" y="2856097"/>
            <a:ext cx="4158688" cy="1283217"/>
            <a:chOff x="1129956" y="2794425"/>
            <a:chExt cx="4158688" cy="1283217"/>
          </a:xfrm>
        </p:grpSpPr>
        <p:sp>
          <p:nvSpPr>
            <p:cNvPr id="27" name="Rectangle 1"/>
            <p:cNvSpPr>
              <a:spLocks/>
            </p:cNvSpPr>
            <p:nvPr/>
          </p:nvSpPr>
          <p:spPr bwMode="auto">
            <a:xfrm>
              <a:off x="3157528" y="2794425"/>
              <a:ext cx="172352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000" dirty="0">
                  <a:latin typeface="Helvetica"/>
                  <a:ea typeface="ＭＳ Ｐゴシック" charset="0"/>
                  <a:cs typeface="Helvetica"/>
                </a:rPr>
                <a:t>Features</a:t>
              </a:r>
            </a:p>
          </p:txBody>
        </p:sp>
        <p:sp>
          <p:nvSpPr>
            <p:cNvPr id="28" name="Rectangle 2"/>
            <p:cNvSpPr>
              <a:spLocks/>
            </p:cNvSpPr>
            <p:nvPr/>
          </p:nvSpPr>
          <p:spPr bwMode="auto">
            <a:xfrm>
              <a:off x="1129956" y="3623051"/>
              <a:ext cx="88958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latin typeface="Helvetica"/>
                  <a:ea typeface="ＭＳ Ｐゴシック" charset="0"/>
                  <a:cs typeface="Helvetica"/>
                </a:rPr>
                <a:t>Images</a:t>
              </a:r>
            </a:p>
          </p:txBody>
        </p:sp>
        <p:grpSp>
          <p:nvGrpSpPr>
            <p:cNvPr id="4" name="Group 3"/>
            <p:cNvGrpSpPr/>
            <p:nvPr/>
          </p:nvGrpSpPr>
          <p:grpSpPr>
            <a:xfrm>
              <a:off x="1951985" y="3214918"/>
              <a:ext cx="3336659" cy="862724"/>
              <a:chOff x="4974733" y="3166001"/>
              <a:chExt cx="4386114" cy="1134070"/>
            </a:xfrm>
          </p:grpSpPr>
          <p:grpSp>
            <p:nvGrpSpPr>
              <p:cNvPr id="29" name="Group 19"/>
              <p:cNvGrpSpPr>
                <a:grpSpLocks/>
              </p:cNvGrpSpPr>
              <p:nvPr/>
            </p:nvGrpSpPr>
            <p:grpSpPr bwMode="auto">
              <a:xfrm>
                <a:off x="6047933" y="3585696"/>
                <a:ext cx="3312914" cy="714375"/>
                <a:chOff x="0" y="0"/>
                <a:chExt cx="2968" cy="640"/>
              </a:xfrm>
            </p:grpSpPr>
            <p:grpSp>
              <p:nvGrpSpPr>
                <p:cNvPr id="30" name="Group 10"/>
                <p:cNvGrpSpPr>
                  <a:grpSpLocks/>
                </p:cNvGrpSpPr>
                <p:nvPr/>
              </p:nvGrpSpPr>
              <p:grpSpPr bwMode="auto">
                <a:xfrm>
                  <a:off x="160" y="48"/>
                  <a:ext cx="2648" cy="248"/>
                  <a:chOff x="0" y="0"/>
                  <a:chExt cx="2648" cy="248"/>
                </a:xfrm>
              </p:grpSpPr>
              <p:pic>
                <p:nvPicPr>
                  <p:cNvPr id="39" name="Picture 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5"/>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6"/>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7"/>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8"/>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9"/>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1" name="Group 17"/>
                <p:cNvGrpSpPr>
                  <a:grpSpLocks/>
                </p:cNvGrpSpPr>
                <p:nvPr/>
              </p:nvGrpSpPr>
              <p:grpSpPr bwMode="auto">
                <a:xfrm>
                  <a:off x="160" y="384"/>
                  <a:ext cx="2648" cy="248"/>
                  <a:chOff x="0" y="0"/>
                  <a:chExt cx="2648" cy="248"/>
                </a:xfrm>
              </p:grpSpPr>
              <p:pic>
                <p:nvPicPr>
                  <p:cNvPr id="33" name="Picture 11"/>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4" name="Picture 12"/>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5" name="Picture 13"/>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6" name="Picture 1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7" name="Picture 15"/>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8" name="Picture 16"/>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32" name="Rectangle 18"/>
                <p:cNvSpPr>
                  <a:spLocks/>
                </p:cNvSpPr>
                <p:nvPr/>
              </p:nvSpPr>
              <p:spPr bwMode="auto">
                <a:xfrm>
                  <a:off x="0" y="0"/>
                  <a:ext cx="2968" cy="64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45" name="Rectangle 21"/>
              <p:cNvSpPr>
                <a:spLocks/>
              </p:cNvSpPr>
              <p:nvPr/>
            </p:nvSpPr>
            <p:spPr bwMode="auto">
              <a:xfrm>
                <a:off x="4974733" y="3603555"/>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46" name="Rectangle 22"/>
              <p:cNvSpPr>
                <a:spLocks/>
              </p:cNvSpPr>
              <p:nvPr/>
            </p:nvSpPr>
            <p:spPr bwMode="auto">
              <a:xfrm>
                <a:off x="4974733" y="3960743"/>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pic>
            <p:nvPicPr>
              <p:cNvPr id="47"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4878" y="3166001"/>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0870" y="3192790"/>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5089" y="3219578"/>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1730" y="3201719"/>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5737" y="3192790"/>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25065" y="3210649"/>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5" name="Rectangle 4"/>
          <p:cNvSpPr/>
          <p:nvPr/>
        </p:nvSpPr>
        <p:spPr>
          <a:xfrm>
            <a:off x="243405" y="4452832"/>
            <a:ext cx="4491247" cy="1200328"/>
          </a:xfrm>
          <a:prstGeom prst="rect">
            <a:avLst/>
          </a:prstGeom>
        </p:spPr>
        <p:txBody>
          <a:bodyPr wrap="square">
            <a:spAutoFit/>
          </a:bodyPr>
          <a:lstStyle/>
          <a:p>
            <a:r>
              <a:rPr lang="en-US" sz="2400" dirty="0">
                <a:latin typeface="Helvetica"/>
                <a:ea typeface="ＭＳ Ｐゴシック" charset="0"/>
                <a:cs typeface="Helvetica"/>
              </a:rPr>
              <a:t>Each element (image </a:t>
            </a:r>
            <a:r>
              <a:rPr lang="en-US" sz="2400" i="1" dirty="0" err="1">
                <a:latin typeface="Helvetica"/>
                <a:ea typeface="ＭＳ Ｐゴシック" charset="0"/>
                <a:cs typeface="Helvetica"/>
              </a:rPr>
              <a:t>i</a:t>
            </a:r>
            <a:r>
              <a:rPr lang="en-US" sz="2400" dirty="0">
                <a:latin typeface="Helvetica"/>
                <a:ea typeface="ＭＳ Ｐゴシック" charset="0"/>
                <a:cs typeface="Helvetica"/>
              </a:rPr>
              <a:t>, feature </a:t>
            </a:r>
            <a:r>
              <a:rPr lang="en-US" sz="2400" i="1" dirty="0">
                <a:latin typeface="Helvetica"/>
                <a:ea typeface="ＭＳ Ｐゴシック" charset="0"/>
                <a:cs typeface="Helvetica"/>
              </a:rPr>
              <a:t>k</a:t>
            </a:r>
            <a:r>
              <a:rPr lang="en-US" sz="2400" dirty="0">
                <a:latin typeface="Helvetica"/>
                <a:ea typeface="ＭＳ Ｐゴシック" charset="0"/>
                <a:cs typeface="Helvetica"/>
              </a:rPr>
              <a:t>) denotes whether image </a:t>
            </a:r>
            <a:r>
              <a:rPr lang="en-US" sz="2400" i="1" dirty="0" err="1">
                <a:latin typeface="Helvetica"/>
                <a:ea typeface="ＭＳ Ｐゴシック" charset="0"/>
                <a:cs typeface="Helvetica"/>
              </a:rPr>
              <a:t>i</a:t>
            </a:r>
            <a:r>
              <a:rPr lang="en-US" sz="2400" dirty="0">
                <a:latin typeface="Helvetica"/>
                <a:ea typeface="ＭＳ Ｐゴシック" charset="0"/>
                <a:cs typeface="Helvetica"/>
              </a:rPr>
              <a:t> has feature </a:t>
            </a:r>
            <a:r>
              <a:rPr lang="en-US" sz="2400" i="1" dirty="0">
                <a:latin typeface="Helvetica"/>
                <a:ea typeface="ＭＳ Ｐゴシック" charset="0"/>
                <a:cs typeface="Helvetica"/>
              </a:rPr>
              <a:t>k</a:t>
            </a:r>
            <a:r>
              <a:rPr lang="en-US" sz="2400" dirty="0">
                <a:latin typeface="Helvetica"/>
                <a:ea typeface="ＭＳ Ｐゴシック" charset="0"/>
                <a:cs typeface="Helvetica"/>
              </a:rPr>
              <a:t>.</a:t>
            </a:r>
          </a:p>
        </p:txBody>
      </p:sp>
      <p:sp>
        <p:nvSpPr>
          <p:cNvPr id="53" name="Rectangle 52"/>
          <p:cNvSpPr/>
          <p:nvPr/>
        </p:nvSpPr>
        <p:spPr>
          <a:xfrm>
            <a:off x="5626427" y="1798727"/>
            <a:ext cx="2777823" cy="1015663"/>
          </a:xfrm>
          <a:prstGeom prst="rect">
            <a:avLst/>
          </a:prstGeom>
        </p:spPr>
        <p:txBody>
          <a:bodyPr wrap="square">
            <a:spAutoFit/>
          </a:bodyPr>
          <a:lstStyle/>
          <a:p>
            <a:pPr algn="ctr"/>
            <a:r>
              <a:rPr lang="en-US" sz="3000" b="1" dirty="0">
                <a:latin typeface="Helvetica"/>
                <a:ea typeface="ＭＳ Ｐゴシック" charset="0"/>
                <a:cs typeface="Helvetica"/>
              </a:rPr>
              <a:t>Feature image matrix </a:t>
            </a:r>
            <a:r>
              <a:rPr lang="en-US" sz="3000" b="1" dirty="0">
                <a:latin typeface="Times New Roman"/>
                <a:ea typeface="ＭＳ Ｐゴシック" charset="0"/>
                <a:cs typeface="Times New Roman"/>
              </a:rPr>
              <a:t>Y</a:t>
            </a:r>
            <a:r>
              <a:rPr lang="en-US" sz="3000" b="1" dirty="0">
                <a:ea typeface="ＭＳ Ｐゴシック" charset="0"/>
                <a:cs typeface="ＭＳ Ｐゴシック" charset="0"/>
              </a:rPr>
              <a:t>  </a:t>
            </a:r>
          </a:p>
        </p:txBody>
      </p:sp>
      <p:grpSp>
        <p:nvGrpSpPr>
          <p:cNvPr id="54" name="Group 53"/>
          <p:cNvGrpSpPr/>
          <p:nvPr/>
        </p:nvGrpSpPr>
        <p:grpSpPr>
          <a:xfrm>
            <a:off x="5134424" y="2891693"/>
            <a:ext cx="3689123" cy="1412529"/>
            <a:chOff x="1197516" y="5173350"/>
            <a:chExt cx="3689123" cy="1412529"/>
          </a:xfrm>
        </p:grpSpPr>
        <p:pic>
          <p:nvPicPr>
            <p:cNvPr id="55"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8864" y="5496527"/>
              <a:ext cx="2327775" cy="1089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6"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1105" y="5731792"/>
              <a:ext cx="237759" cy="135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7"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1105" y="5917265"/>
              <a:ext cx="190207" cy="2309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9"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5153" y="6170821"/>
              <a:ext cx="122276" cy="2377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7"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7460" y="6351399"/>
              <a:ext cx="108690" cy="224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8" name="Rectangle 2"/>
            <p:cNvSpPr>
              <a:spLocks/>
            </p:cNvSpPr>
            <p:nvPr/>
          </p:nvSpPr>
          <p:spPr bwMode="auto">
            <a:xfrm>
              <a:off x="1197516" y="5935884"/>
              <a:ext cx="1040395"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latin typeface="Helvetica"/>
                  <a:ea typeface="ＭＳ Ｐゴシック" charset="0"/>
                  <a:cs typeface="Helvetica"/>
                </a:rPr>
                <a:t>Features</a:t>
              </a:r>
            </a:p>
          </p:txBody>
        </p:sp>
        <p:sp>
          <p:nvSpPr>
            <p:cNvPr id="69" name="Rectangle 1"/>
            <p:cNvSpPr>
              <a:spLocks/>
            </p:cNvSpPr>
            <p:nvPr/>
          </p:nvSpPr>
          <p:spPr bwMode="auto">
            <a:xfrm>
              <a:off x="2985929" y="5173350"/>
              <a:ext cx="172352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000" dirty="0">
                  <a:latin typeface="Helvetica"/>
                  <a:ea typeface="ＭＳ Ｐゴシック" charset="0"/>
                  <a:cs typeface="Helvetica"/>
                </a:rPr>
                <a:t>Pixels</a:t>
              </a:r>
            </a:p>
          </p:txBody>
        </p:sp>
      </p:grpSp>
      <p:sp>
        <p:nvSpPr>
          <p:cNvPr id="70" name="Rectangle 69"/>
          <p:cNvSpPr/>
          <p:nvPr/>
        </p:nvSpPr>
        <p:spPr>
          <a:xfrm>
            <a:off x="5622761" y="4452832"/>
            <a:ext cx="3293845" cy="1200328"/>
          </a:xfrm>
          <a:prstGeom prst="rect">
            <a:avLst/>
          </a:prstGeom>
        </p:spPr>
        <p:txBody>
          <a:bodyPr wrap="square">
            <a:spAutoFit/>
          </a:bodyPr>
          <a:lstStyle/>
          <a:p>
            <a:r>
              <a:rPr lang="en-US" sz="2400" dirty="0">
                <a:latin typeface="Helvetica"/>
                <a:ea typeface="ＭＳ Ｐゴシック" charset="0"/>
                <a:cs typeface="Helvetica"/>
              </a:rPr>
              <a:t>Encodes perceptual consequences of having each feature.</a:t>
            </a:r>
          </a:p>
        </p:txBody>
      </p:sp>
      <p:cxnSp>
        <p:nvCxnSpPr>
          <p:cNvPr id="9" name="Straight Connector 8"/>
          <p:cNvCxnSpPr/>
          <p:nvPr/>
        </p:nvCxnSpPr>
        <p:spPr>
          <a:xfrm>
            <a:off x="4972284" y="1877886"/>
            <a:ext cx="0" cy="383683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85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3" grpId="0"/>
      <p:bldP spid="2" grpId="0"/>
      <p:bldP spid="5" grpId="0"/>
      <p:bldP spid="53" grpId="0"/>
      <p:bldP spid="7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p:cNvGrpSpPr/>
          <p:nvPr/>
        </p:nvGrpSpPr>
        <p:grpSpPr>
          <a:xfrm>
            <a:off x="6474783" y="957357"/>
            <a:ext cx="2467157" cy="5109763"/>
            <a:chOff x="6474783" y="1688553"/>
            <a:chExt cx="2467157" cy="5109763"/>
          </a:xfrm>
        </p:grpSpPr>
        <p:sp>
          <p:nvSpPr>
            <p:cNvPr id="50" name="Rectangle 49"/>
            <p:cNvSpPr/>
            <p:nvPr/>
          </p:nvSpPr>
          <p:spPr>
            <a:xfrm>
              <a:off x="6669283" y="1688553"/>
              <a:ext cx="702932" cy="456252"/>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57" name="Straight Connector 56"/>
            <p:cNvCxnSpPr>
              <a:stCxn id="54" idx="0"/>
              <a:endCxn id="50" idx="2"/>
            </p:cNvCxnSpPr>
            <p:nvPr/>
          </p:nvCxnSpPr>
          <p:spPr>
            <a:xfrm flipH="1" flipV="1">
              <a:off x="7020749" y="2144805"/>
              <a:ext cx="687613" cy="368372"/>
            </a:xfrm>
            <a:prstGeom prst="line">
              <a:avLst/>
            </a:prstGeom>
            <a:ln w="28575" cmpd="sng">
              <a:solidFill>
                <a:srgbClr val="93CDDD"/>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474783" y="2513177"/>
              <a:ext cx="2467157" cy="2433131"/>
            </a:xfrm>
            <a:prstGeom prst="rect">
              <a:avLst/>
            </a:prstGeom>
            <a:solidFill>
              <a:schemeClr val="bg1"/>
            </a:solidFill>
            <a:ln w="28575" cmpd="sng">
              <a:solidFill>
                <a:srgbClr val="93C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49"/>
            <p:cNvSpPr>
              <a:spLocks/>
            </p:cNvSpPr>
            <p:nvPr/>
          </p:nvSpPr>
          <p:spPr bwMode="auto">
            <a:xfrm>
              <a:off x="6479892" y="2549266"/>
              <a:ext cx="2462048" cy="4249050"/>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91440" tIns="91440" rIns="0" bIns="0" anchor="t"/>
            <a:lstStyle/>
            <a:p>
              <a:r>
                <a:rPr lang="en-US" b="1" dirty="0">
                  <a:latin typeface="Helvetica"/>
                  <a:ea typeface="ＭＳ Ｐゴシック" charset="0"/>
                  <a:cs typeface="Helvetica"/>
                </a:rPr>
                <a:t>Feature image prior </a:t>
              </a:r>
            </a:p>
            <a:p>
              <a:r>
                <a:rPr lang="en-US" dirty="0">
                  <a:latin typeface="Helvetica"/>
                  <a:ea typeface="ＭＳ Ｐゴシック" charset="0"/>
                  <a:cs typeface="Helvetica"/>
                </a:rPr>
                <a:t>encodes expectations about feature images.</a:t>
              </a:r>
            </a:p>
            <a:p>
              <a:pPr algn="just">
                <a:lnSpc>
                  <a:spcPct val="50000"/>
                </a:lnSpc>
              </a:pPr>
              <a:endParaRPr lang="en-US" dirty="0">
                <a:latin typeface="Helvetica"/>
                <a:ea typeface="ＭＳ Ｐゴシック" charset="0"/>
                <a:cs typeface="Helvetica"/>
                <a:sym typeface="Times New Roman" charset="0"/>
              </a:endParaRPr>
            </a:p>
            <a:p>
              <a:r>
                <a:rPr lang="en-US" dirty="0">
                  <a:latin typeface="Helvetica"/>
                  <a:ea typeface="ＭＳ Ｐゴシック" charset="0"/>
                  <a:cs typeface="Helvetica"/>
                  <a:sym typeface="Times New Roman" charset="0"/>
                </a:rPr>
                <a:t>Pixel independence</a:t>
              </a:r>
            </a:p>
            <a:p>
              <a:endParaRPr lang="en-US" dirty="0">
                <a:latin typeface="Helvetica"/>
                <a:ea typeface="ＭＳ Ｐゴシック" charset="0"/>
                <a:cs typeface="Helvetica"/>
                <a:sym typeface="Times New Roman" charset="0"/>
              </a:endParaRPr>
            </a:p>
            <a:p>
              <a:r>
                <a:rPr lang="en-US" dirty="0">
                  <a:latin typeface="Helvetica"/>
                  <a:ea typeface="ＭＳ Ｐゴシック" charset="0"/>
                  <a:cs typeface="Helvetica"/>
                  <a:sym typeface="Times New Roman" charset="0"/>
                </a:rPr>
                <a:t>Or use an </a:t>
              </a:r>
              <a:r>
                <a:rPr lang="en-US" dirty="0" err="1">
                  <a:latin typeface="Helvetica"/>
                  <a:ea typeface="ＭＳ Ｐゴシック" charset="0"/>
                  <a:cs typeface="Helvetica"/>
                  <a:sym typeface="Times New Roman" charset="0"/>
                </a:rPr>
                <a:t>Ising</a:t>
              </a:r>
              <a:r>
                <a:rPr lang="en-US" dirty="0">
                  <a:latin typeface="Helvetica"/>
                  <a:ea typeface="ＭＳ Ｐゴシック" charset="0"/>
                  <a:cs typeface="Helvetica"/>
                  <a:sym typeface="Times New Roman" charset="0"/>
                </a:rPr>
                <a:t> model </a:t>
              </a:r>
              <a:r>
                <a:rPr lang="en-US" sz="1400" dirty="0">
                  <a:latin typeface="Helvetica"/>
                  <a:ea typeface="ＭＳ Ｐゴシック" charset="0"/>
                  <a:cs typeface="Helvetica"/>
                  <a:sym typeface="Times New Roman" charset="0"/>
                </a:rPr>
                <a:t>(</a:t>
              </a:r>
              <a:r>
                <a:rPr lang="en-US" sz="1400" dirty="0" err="1">
                  <a:latin typeface="Helvetica"/>
                  <a:ea typeface="ＭＳ Ｐゴシック" charset="0"/>
                  <a:cs typeface="Helvetica"/>
                  <a:sym typeface="Times New Roman" charset="0"/>
                </a:rPr>
                <a:t>Geman</a:t>
              </a:r>
              <a:r>
                <a:rPr lang="en-US" sz="1400" dirty="0">
                  <a:latin typeface="Helvetica"/>
                  <a:ea typeface="ＭＳ Ｐゴシック" charset="0"/>
                  <a:cs typeface="Helvetica"/>
                  <a:sym typeface="Times New Roman" charset="0"/>
                </a:rPr>
                <a:t> &amp; </a:t>
              </a:r>
              <a:r>
                <a:rPr lang="en-US" sz="1400" dirty="0" err="1">
                  <a:latin typeface="Helvetica"/>
                  <a:ea typeface="ＭＳ Ｐゴシック" charset="0"/>
                  <a:cs typeface="Helvetica"/>
                  <a:sym typeface="Times New Roman" charset="0"/>
                </a:rPr>
                <a:t>Geman</a:t>
              </a:r>
              <a:r>
                <a:rPr lang="en-US" sz="1400" dirty="0">
                  <a:latin typeface="Helvetica"/>
                  <a:ea typeface="ＭＳ Ｐゴシック" charset="0"/>
                  <a:cs typeface="Helvetica"/>
                  <a:sym typeface="Times New Roman" charset="0"/>
                </a:rPr>
                <a:t>, 1984)</a:t>
              </a:r>
              <a:r>
                <a:rPr lang="en-US" dirty="0">
                  <a:latin typeface="Helvetica"/>
                  <a:ea typeface="ＭＳ Ｐゴシック" charset="0"/>
                  <a:cs typeface="Helvetica"/>
                  <a:sym typeface="Times New Roman" charset="0"/>
                </a:rPr>
                <a:t>.</a:t>
              </a:r>
              <a:endParaRPr lang="en-US" dirty="0">
                <a:latin typeface="Helvetica"/>
                <a:ea typeface="ＭＳ Ｐゴシック" charset="0"/>
                <a:cs typeface="Helvetica"/>
              </a:endParaRPr>
            </a:p>
            <a:p>
              <a:endParaRPr lang="en-US" dirty="0">
                <a:latin typeface="Helvetica"/>
                <a:ea typeface="ＭＳ Ｐゴシック" charset="0"/>
                <a:cs typeface="Helvetica"/>
              </a:endParaRPr>
            </a:p>
          </p:txBody>
        </p:sp>
      </p:grpSp>
      <p:grpSp>
        <p:nvGrpSpPr>
          <p:cNvPr id="53" name="Group 52"/>
          <p:cNvGrpSpPr/>
          <p:nvPr/>
        </p:nvGrpSpPr>
        <p:grpSpPr>
          <a:xfrm>
            <a:off x="3525151" y="957357"/>
            <a:ext cx="2797828" cy="4737751"/>
            <a:chOff x="3525151" y="1688553"/>
            <a:chExt cx="2797828" cy="4737751"/>
          </a:xfrm>
        </p:grpSpPr>
        <p:sp>
          <p:nvSpPr>
            <p:cNvPr id="40" name="Rectangle 39"/>
            <p:cNvSpPr/>
            <p:nvPr/>
          </p:nvSpPr>
          <p:spPr>
            <a:xfrm>
              <a:off x="5451838" y="1688553"/>
              <a:ext cx="702932" cy="456252"/>
            </a:xfrm>
            <a:prstGeom prst="rect">
              <a:avLst/>
            </a:prstGeom>
            <a:solidFill>
              <a:srgbClr val="E1C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41" name="Straight Connector 40"/>
            <p:cNvCxnSpPr>
              <a:stCxn id="44" idx="0"/>
              <a:endCxn id="40" idx="2"/>
            </p:cNvCxnSpPr>
            <p:nvPr/>
          </p:nvCxnSpPr>
          <p:spPr>
            <a:xfrm flipV="1">
              <a:off x="4925532" y="2144805"/>
              <a:ext cx="877772" cy="638809"/>
            </a:xfrm>
            <a:prstGeom prst="line">
              <a:avLst/>
            </a:prstGeom>
            <a:ln w="28575" cmpd="sng">
              <a:solidFill>
                <a:srgbClr val="E1C9F9"/>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nvGrpSpPr>
            <p:cNvPr id="52" name="Group 51"/>
            <p:cNvGrpSpPr/>
            <p:nvPr/>
          </p:nvGrpSpPr>
          <p:grpSpPr>
            <a:xfrm>
              <a:off x="3525151" y="2783614"/>
              <a:ext cx="2797828" cy="3642690"/>
              <a:chOff x="3525151" y="2783614"/>
              <a:chExt cx="2797828" cy="3642690"/>
            </a:xfrm>
          </p:grpSpPr>
          <p:sp>
            <p:nvSpPr>
              <p:cNvPr id="44" name="Rectangle 43"/>
              <p:cNvSpPr/>
              <p:nvPr/>
            </p:nvSpPr>
            <p:spPr>
              <a:xfrm>
                <a:off x="3528084" y="2783614"/>
                <a:ext cx="2794895" cy="3296708"/>
              </a:xfrm>
              <a:prstGeom prst="rect">
                <a:avLst/>
              </a:prstGeom>
              <a:solidFill>
                <a:schemeClr val="bg1"/>
              </a:solidFill>
              <a:ln w="28575" cmpd="sng">
                <a:solidFill>
                  <a:srgbClr val="E1C9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369" name="Rectangle 49"/>
              <p:cNvSpPr>
                <a:spLocks/>
              </p:cNvSpPr>
              <p:nvPr/>
            </p:nvSpPr>
            <p:spPr bwMode="auto">
              <a:xfrm>
                <a:off x="3525151" y="2847873"/>
                <a:ext cx="2741082" cy="3578431"/>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91440" tIns="91440" rIns="0" bIns="0" anchor="t"/>
              <a:lstStyle/>
              <a:p>
                <a:r>
                  <a:rPr lang="en-US" b="1" dirty="0">
                    <a:latin typeface="Helvetica"/>
                    <a:ea typeface="ＭＳ Ｐゴシック" charset="0"/>
                    <a:cs typeface="Helvetica"/>
                  </a:rPr>
                  <a:t>Feature ownership prior </a:t>
                </a:r>
              </a:p>
              <a:p>
                <a:r>
                  <a:rPr lang="en-US" dirty="0">
                    <a:latin typeface="Helvetica"/>
                    <a:ea typeface="ＭＳ Ｐゴシック" charset="0"/>
                    <a:cs typeface="Helvetica"/>
                  </a:rPr>
                  <a:t>encodes expectations about feature ownership.</a:t>
                </a:r>
              </a:p>
              <a:p>
                <a:pPr>
                  <a:lnSpc>
                    <a:spcPct val="50000"/>
                  </a:lnSpc>
                </a:pPr>
                <a:endParaRPr lang="en-US" dirty="0">
                  <a:latin typeface="Helvetica"/>
                  <a:ea typeface="ＭＳ Ｐゴシック" charset="0"/>
                  <a:cs typeface="Helvetica"/>
                </a:endParaRPr>
              </a:p>
              <a:p>
                <a:r>
                  <a:rPr lang="en-US" i="1" dirty="0">
                    <a:latin typeface="Helvetica"/>
                    <a:ea typeface="ＭＳ Ｐゴシック" charset="0"/>
                    <a:cs typeface="Helvetica"/>
                  </a:rPr>
                  <a:t>Biased towards fewer features.</a:t>
                </a:r>
                <a:r>
                  <a:rPr lang="en-US" dirty="0">
                    <a:latin typeface="Helvetica"/>
                    <a:ea typeface="ＭＳ Ｐゴシック" charset="0"/>
                    <a:cs typeface="Helvetica"/>
                  </a:rPr>
                  <a:t> </a:t>
                </a:r>
              </a:p>
              <a:p>
                <a:pPr>
                  <a:lnSpc>
                    <a:spcPct val="50000"/>
                  </a:lnSpc>
                </a:pPr>
                <a:endParaRPr lang="en-US" dirty="0">
                  <a:latin typeface="Helvetica"/>
                  <a:ea typeface="ＭＳ Ｐゴシック" charset="0"/>
                  <a:cs typeface="Helvetica"/>
                </a:endParaRPr>
              </a:p>
              <a:p>
                <a:r>
                  <a:rPr lang="en-US" dirty="0">
                    <a:latin typeface="Helvetica"/>
                    <a:ea typeface="ＭＳ Ｐゴシック" charset="0"/>
                    <a:cs typeface="Helvetica"/>
                  </a:rPr>
                  <a:t>Use the Indian buffet process, a Bayesian </a:t>
                </a:r>
              </a:p>
              <a:p>
                <a:r>
                  <a:rPr lang="en-US" dirty="0">
                    <a:latin typeface="Helvetica"/>
                    <a:ea typeface="ＭＳ Ｐゴシック" charset="0"/>
                    <a:cs typeface="Helvetica"/>
                  </a:rPr>
                  <a:t>nonparametric process  (</a:t>
                </a:r>
                <a:r>
                  <a:rPr lang="en-US" sz="1400" dirty="0">
                    <a:latin typeface="Helvetica"/>
                    <a:ea typeface="ＭＳ Ｐゴシック" charset="0"/>
                    <a:cs typeface="Helvetica"/>
                  </a:rPr>
                  <a:t>Griffiths &amp; </a:t>
                </a:r>
                <a:r>
                  <a:rPr lang="en-US" sz="1400" dirty="0" err="1">
                    <a:latin typeface="Helvetica"/>
                    <a:ea typeface="ＭＳ Ｐゴシック" charset="0"/>
                    <a:cs typeface="Helvetica"/>
                  </a:rPr>
                  <a:t>Ghahramani</a:t>
                </a:r>
                <a:r>
                  <a:rPr lang="en-US" sz="1400" dirty="0">
                    <a:latin typeface="Helvetica"/>
                    <a:ea typeface="ＭＳ Ｐゴシック" charset="0"/>
                    <a:cs typeface="Helvetica"/>
                  </a:rPr>
                  <a:t>, 2005</a:t>
                </a:r>
                <a:r>
                  <a:rPr lang="en-US" dirty="0">
                    <a:latin typeface="Helvetica"/>
                    <a:ea typeface="ＭＳ Ｐゴシック" charset="0"/>
                    <a:cs typeface="Helvetica"/>
                  </a:rPr>
                  <a:t>).</a:t>
                </a:r>
              </a:p>
              <a:p>
                <a:endParaRPr lang="en-US" dirty="0">
                  <a:latin typeface="Helvetica"/>
                  <a:ea typeface="ＭＳ Ｐゴシック" charset="0"/>
                  <a:cs typeface="Helvetica"/>
                </a:endParaRPr>
              </a:p>
            </p:txBody>
          </p:sp>
        </p:grpSp>
      </p:grpSp>
      <p:grpSp>
        <p:nvGrpSpPr>
          <p:cNvPr id="51" name="Group 50"/>
          <p:cNvGrpSpPr/>
          <p:nvPr/>
        </p:nvGrpSpPr>
        <p:grpSpPr>
          <a:xfrm>
            <a:off x="213617" y="959944"/>
            <a:ext cx="4702018" cy="4761196"/>
            <a:chOff x="213617" y="1691140"/>
            <a:chExt cx="4702018" cy="4761196"/>
          </a:xfrm>
        </p:grpSpPr>
        <p:sp>
          <p:nvSpPr>
            <p:cNvPr id="33" name="Rectangle 32"/>
            <p:cNvSpPr/>
            <p:nvPr/>
          </p:nvSpPr>
          <p:spPr>
            <a:xfrm>
              <a:off x="3390513" y="1691140"/>
              <a:ext cx="1525122" cy="456252"/>
            </a:xfrm>
            <a:prstGeom prst="rect">
              <a:avLst/>
            </a:prstGeom>
            <a:solidFill>
              <a:srgbClr val="D2E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34" name="Straight Connector 33"/>
            <p:cNvCxnSpPr>
              <a:stCxn id="35" idx="0"/>
              <a:endCxn id="33" idx="2"/>
            </p:cNvCxnSpPr>
            <p:nvPr/>
          </p:nvCxnSpPr>
          <p:spPr>
            <a:xfrm flipV="1">
              <a:off x="1802065" y="2147392"/>
              <a:ext cx="2351009" cy="1624273"/>
            </a:xfrm>
            <a:prstGeom prst="line">
              <a:avLst/>
            </a:prstGeom>
            <a:ln w="28575" cmpd="sng">
              <a:solidFill>
                <a:srgbClr val="D2E0FA"/>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3617" y="3771665"/>
              <a:ext cx="3176895" cy="2680671"/>
            </a:xfrm>
            <a:prstGeom prst="rect">
              <a:avLst/>
            </a:prstGeom>
            <a:solidFill>
              <a:schemeClr val="bg1"/>
            </a:solidFill>
            <a:ln w="28575" cmpd="sng">
              <a:solidFill>
                <a:srgbClr val="D2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51"/>
            <p:cNvSpPr>
              <a:spLocks/>
            </p:cNvSpPr>
            <p:nvPr/>
          </p:nvSpPr>
          <p:spPr bwMode="auto">
            <a:xfrm>
              <a:off x="213617" y="3808836"/>
              <a:ext cx="3083483" cy="2643500"/>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Lst>
          </p:spPr>
          <p:txBody>
            <a:bodyPr lIns="91440" tIns="91440" rIns="0" bIns="0" anchor="t"/>
            <a:lstStyle/>
            <a:p>
              <a:pPr algn="l"/>
              <a:r>
                <a:rPr lang="en-US" b="1" dirty="0">
                  <a:latin typeface="Helvetica"/>
                  <a:ea typeface="ＭＳ Ｐゴシック" charset="0"/>
                  <a:cs typeface="Helvetica"/>
                </a:rPr>
                <a:t>Likelihood </a:t>
              </a:r>
              <a:r>
                <a:rPr lang="en-US" dirty="0">
                  <a:latin typeface="Helvetica"/>
                  <a:ea typeface="ＭＳ Ｐゴシック" charset="0"/>
                  <a:cs typeface="Helvetica"/>
                </a:rPr>
                <a:t>recreates images despite noise.</a:t>
              </a:r>
            </a:p>
            <a:p>
              <a:pPr>
                <a:lnSpc>
                  <a:spcPct val="50000"/>
                </a:lnSpc>
              </a:pPr>
              <a:endParaRPr lang="en-US" sz="2000" dirty="0">
                <a:latin typeface="Helvetica"/>
                <a:ea typeface="ＭＳ Ｐゴシック" charset="0"/>
                <a:cs typeface="Helvetica"/>
              </a:endParaRPr>
            </a:p>
            <a:p>
              <a:r>
                <a:rPr lang="en-US" dirty="0">
                  <a:latin typeface="Helvetica"/>
                  <a:ea typeface="ＭＳ Ｐゴシック" charset="0"/>
                  <a:cs typeface="Helvetica"/>
                </a:rPr>
                <a:t>P(image pixel) grows with the number of features that have the pixel.</a:t>
              </a:r>
            </a:p>
            <a:p>
              <a:pPr>
                <a:lnSpc>
                  <a:spcPct val="50000"/>
                </a:lnSpc>
              </a:pPr>
              <a:endParaRPr lang="en-US" dirty="0">
                <a:latin typeface="Helvetica"/>
                <a:ea typeface="ＭＳ Ｐゴシック" charset="0"/>
                <a:cs typeface="Helvetica"/>
              </a:endParaRPr>
            </a:p>
            <a:p>
              <a:r>
                <a:rPr lang="en-US" dirty="0">
                  <a:latin typeface="Helvetica"/>
                  <a:ea typeface="ＭＳ Ｐゴシック" charset="0"/>
                  <a:cs typeface="Helvetica"/>
                </a:rPr>
                <a:t>Images composed via OR </a:t>
              </a:r>
              <a:r>
                <a:rPr lang="en-US" sz="1400" dirty="0">
                  <a:latin typeface="Helvetica"/>
                  <a:ea typeface="ＭＳ Ｐゴシック" charset="0"/>
                  <a:cs typeface="Helvetica"/>
                </a:rPr>
                <a:t>(Pearl, 2000; Wood, et al., 2006).</a:t>
              </a:r>
              <a:endParaRPr lang="en-US" sz="1400" dirty="0">
                <a:ea typeface="ＭＳ Ｐゴシック" charset="0"/>
                <a:cs typeface="ＭＳ Ｐゴシック" charset="0"/>
              </a:endParaRPr>
            </a:p>
            <a:p>
              <a:pPr algn="l"/>
              <a:endParaRPr lang="en-US" sz="2000" dirty="0">
                <a:ea typeface="ＭＳ Ｐゴシック" charset="0"/>
                <a:cs typeface="ＭＳ Ｐゴシック" charset="0"/>
              </a:endParaRPr>
            </a:p>
          </p:txBody>
        </p:sp>
      </p:grpSp>
      <p:grpSp>
        <p:nvGrpSpPr>
          <p:cNvPr id="49" name="Group 48"/>
          <p:cNvGrpSpPr/>
          <p:nvPr/>
        </p:nvGrpSpPr>
        <p:grpSpPr>
          <a:xfrm>
            <a:off x="213617" y="957357"/>
            <a:ext cx="2620437" cy="1774932"/>
            <a:chOff x="213617" y="1688553"/>
            <a:chExt cx="2620437" cy="1774932"/>
          </a:xfrm>
        </p:grpSpPr>
        <p:sp>
          <p:nvSpPr>
            <p:cNvPr id="5" name="Rectangle 4"/>
            <p:cNvSpPr/>
            <p:nvPr/>
          </p:nvSpPr>
          <p:spPr>
            <a:xfrm>
              <a:off x="1229560" y="1688553"/>
              <a:ext cx="1604494" cy="456252"/>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p:cNvCxnSpPr>
              <a:stCxn id="6" idx="0"/>
              <a:endCxn id="5" idx="2"/>
            </p:cNvCxnSpPr>
            <p:nvPr/>
          </p:nvCxnSpPr>
          <p:spPr>
            <a:xfrm flipV="1">
              <a:off x="1129127" y="2144805"/>
              <a:ext cx="902680" cy="291272"/>
            </a:xfrm>
            <a:prstGeom prst="line">
              <a:avLst/>
            </a:prstGeom>
            <a:ln w="28575" cmpd="sng">
              <a:solidFill>
                <a:schemeClr val="accent3">
                  <a:lumMod val="20000"/>
                  <a:lumOff val="8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13617" y="2436077"/>
              <a:ext cx="1831019" cy="1027408"/>
            </a:xfrm>
            <a:prstGeom prst="rect">
              <a:avLst/>
            </a:prstGeom>
            <a:solidFill>
              <a:schemeClr val="bg1"/>
            </a:solidFill>
            <a:ln w="28575" cmpd="sng">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360" name="Rectangle 51"/>
            <p:cNvSpPr>
              <a:spLocks/>
            </p:cNvSpPr>
            <p:nvPr/>
          </p:nvSpPr>
          <p:spPr bwMode="auto">
            <a:xfrm>
              <a:off x="280759" y="2512929"/>
              <a:ext cx="1810398" cy="809270"/>
            </a:xfrm>
            <a:prstGeom prst="rect">
              <a:avLst/>
            </a:prstGeom>
            <a:noFill/>
            <a:ln w="28575" cmpd="sng">
              <a:noFill/>
              <a:miter lim="800000"/>
              <a:headEnd/>
              <a:tailEnd/>
            </a:ln>
            <a:effectLst/>
          </p:spPr>
          <p:txBody>
            <a:bodyPr lIns="0" tIns="0" rIns="0" bIns="0" anchor="t"/>
            <a:lstStyle/>
            <a:p>
              <a:pPr algn="l"/>
              <a:r>
                <a:rPr lang="en-US" b="1" dirty="0">
                  <a:latin typeface="Helvetica"/>
                  <a:ea typeface="ＭＳ Ｐゴシック" charset="0"/>
                  <a:cs typeface="Helvetica"/>
                </a:rPr>
                <a:t>Posterior</a:t>
              </a:r>
            </a:p>
            <a:p>
              <a:pPr algn="l"/>
              <a:r>
                <a:rPr lang="en-US" dirty="0">
                  <a:latin typeface="Helvetica"/>
                  <a:ea typeface="ＭＳ Ｐゴシック" charset="0"/>
                  <a:cs typeface="Helvetica"/>
                </a:rPr>
                <a:t>Representation for the image set</a:t>
              </a:r>
              <a:r>
                <a:rPr lang="en-US" sz="2000" dirty="0">
                  <a:ea typeface="ＭＳ Ｐゴシック" charset="0"/>
                  <a:cs typeface="ＭＳ Ｐゴシック" charset="0"/>
                </a:rPr>
                <a:t>.</a:t>
              </a:r>
            </a:p>
            <a:p>
              <a:endParaRPr lang="en-US" sz="2000" dirty="0">
                <a:ea typeface="ＭＳ Ｐゴシック" charset="0"/>
                <a:cs typeface="ＭＳ Ｐゴシック" charset="0"/>
              </a:endParaRPr>
            </a:p>
          </p:txBody>
        </p:sp>
      </p:grpSp>
      <p:sp>
        <p:nvSpPr>
          <p:cNvPr id="100353" name="Rectangle 12"/>
          <p:cNvSpPr>
            <a:spLocks/>
          </p:cNvSpPr>
          <p:nvPr/>
        </p:nvSpPr>
        <p:spPr bwMode="auto">
          <a:xfrm>
            <a:off x="5832202" y="6452335"/>
            <a:ext cx="3333992"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dirty="0">
                <a:ea typeface="ＭＳ Ｐゴシック" charset="0"/>
                <a:cs typeface="ＭＳ Ｐゴシック" charset="0"/>
              </a:rPr>
              <a:t>Austerweil &amp; Griffiths (2011; 2013)</a:t>
            </a:r>
          </a:p>
        </p:txBody>
      </p:sp>
      <p:grpSp>
        <p:nvGrpSpPr>
          <p:cNvPr id="48" name="Group 47"/>
          <p:cNvGrpSpPr/>
          <p:nvPr/>
        </p:nvGrpSpPr>
        <p:grpSpPr>
          <a:xfrm>
            <a:off x="1284166" y="1024907"/>
            <a:ext cx="6088049" cy="330398"/>
            <a:chOff x="1284166" y="1756103"/>
            <a:chExt cx="6088049" cy="330398"/>
          </a:xfrm>
        </p:grpSpPr>
        <p:pic>
          <p:nvPicPr>
            <p:cNvPr id="100354"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0806" y="1845399"/>
              <a:ext cx="214313" cy="1518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55"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66" y="1756103"/>
              <a:ext cx="1482328" cy="3303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4"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6542" y="1773962"/>
              <a:ext cx="1321594"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1"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2490" y="1773962"/>
              <a:ext cx="66972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2" name="Picture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2979" y="1854329"/>
              <a:ext cx="151804" cy="142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67"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2963" y="1787356"/>
              <a:ext cx="616148"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68" name="Picture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4755" y="1867723"/>
              <a:ext cx="151805" cy="142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61508" name="Rectangle 68"/>
          <p:cNvSpPr>
            <a:spLocks/>
          </p:cNvSpPr>
          <p:nvPr/>
        </p:nvSpPr>
        <p:spPr bwMode="auto">
          <a:xfrm>
            <a:off x="508684" y="5808339"/>
            <a:ext cx="8728323" cy="6271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b="1" dirty="0">
                <a:latin typeface="Helvetica"/>
                <a:ea typeface="ＭＳ Ｐゴシック" charset="0"/>
                <a:cs typeface="Helvetica"/>
              </a:rPr>
              <a:t>Use standard machine learning techniques to infer the best representation for an image set, once probabilities are specified.</a:t>
            </a:r>
          </a:p>
        </p:txBody>
      </p:sp>
      <p:sp>
        <p:nvSpPr>
          <p:cNvPr id="24" name="Rectangle 2"/>
          <p:cNvSpPr>
            <a:spLocks/>
          </p:cNvSpPr>
          <p:nvPr/>
        </p:nvSpPr>
        <p:spPr bwMode="auto">
          <a:xfrm>
            <a:off x="319246" y="1201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framework</a:t>
            </a:r>
          </a:p>
        </p:txBody>
      </p:sp>
    </p:spTree>
    <p:extLst>
      <p:ext uri="{BB962C8B-B14F-4D97-AF65-F5344CB8AC3E}">
        <p14:creationId xmlns:p14="http://schemas.microsoft.com/office/powerpoint/2010/main" val="378034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8"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1"/>
          <p:cNvSpPr>
            <a:spLocks/>
          </p:cNvSpPr>
          <p:nvPr/>
        </p:nvSpPr>
        <p:spPr bwMode="auto">
          <a:xfrm>
            <a:off x="3710285" y="556780"/>
            <a:ext cx="1821011"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ja-JP" altLang="en-US" sz="1700" b="1">
                <a:latin typeface="Arial" charset="0"/>
                <a:ea typeface="ＭＳ Ｐゴシック" charset="0"/>
                <a:cs typeface="ＭＳ Ｐゴシック" charset="0"/>
              </a:rPr>
              <a:t>“</a:t>
            </a:r>
            <a:r>
              <a:rPr lang="en-US" altLang="ja-JP" sz="1700" b="1">
                <a:cs typeface="Gill Sans" charset="0"/>
              </a:rPr>
              <a:t>Buffet</a:t>
            </a:r>
            <a:r>
              <a:rPr lang="ja-JP" altLang="en-US" sz="1700" b="1">
                <a:latin typeface="Arial" charset="0"/>
                <a:ea typeface="ＭＳ Ｐゴシック" charset="0"/>
                <a:cs typeface="ＭＳ Ｐゴシック" charset="0"/>
              </a:rPr>
              <a:t>”</a:t>
            </a:r>
            <a:r>
              <a:rPr lang="en-US" altLang="ja-JP" sz="1700" b="1">
                <a:cs typeface="Gill Sans" charset="0"/>
              </a:rPr>
              <a:t> of features</a:t>
            </a:r>
            <a:endParaRPr lang="en-US" sz="1700" b="1">
              <a:cs typeface="Gill Sans" charset="0"/>
            </a:endParaRPr>
          </a:p>
        </p:txBody>
      </p:sp>
      <p:grpSp>
        <p:nvGrpSpPr>
          <p:cNvPr id="63494" name="Group 6"/>
          <p:cNvGrpSpPr>
            <a:grpSpLocks/>
          </p:cNvGrpSpPr>
          <p:nvPr/>
        </p:nvGrpSpPr>
        <p:grpSpPr bwMode="auto">
          <a:xfrm>
            <a:off x="1723429" y="1946672"/>
            <a:ext cx="3527227" cy="159619"/>
            <a:chOff x="0" y="0"/>
            <a:chExt cx="3160" cy="143"/>
          </a:xfrm>
        </p:grpSpPr>
        <p:sp>
          <p:nvSpPr>
            <p:cNvPr id="142469" name="AutoShape 2"/>
            <p:cNvSpPr>
              <a:spLocks/>
            </p:cNvSpPr>
            <p:nvPr/>
          </p:nvSpPr>
          <p:spPr bwMode="auto">
            <a:xfrm flipH="1">
              <a:off x="1064" y="0"/>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0" name="AutoShape 3"/>
            <p:cNvSpPr>
              <a:spLocks/>
            </p:cNvSpPr>
            <p:nvPr/>
          </p:nvSpPr>
          <p:spPr bwMode="auto">
            <a:xfrm flipH="1">
              <a:off x="2036" y="3"/>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1" name="AutoShape 4"/>
            <p:cNvSpPr>
              <a:spLocks/>
            </p:cNvSpPr>
            <p:nvPr/>
          </p:nvSpPr>
          <p:spPr bwMode="auto">
            <a:xfrm flipH="1">
              <a:off x="3019" y="0"/>
              <a:ext cx="141"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2" name="AutoShape 5"/>
            <p:cNvSpPr>
              <a:spLocks/>
            </p:cNvSpPr>
            <p:nvPr/>
          </p:nvSpPr>
          <p:spPr bwMode="auto">
            <a:xfrm flipH="1">
              <a:off x="0" y="0"/>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sp>
        <p:nvSpPr>
          <p:cNvPr id="142339" name="AutoShape 7"/>
          <p:cNvSpPr>
            <a:spLocks/>
          </p:cNvSpPr>
          <p:nvPr/>
        </p:nvSpPr>
        <p:spPr bwMode="auto">
          <a:xfrm>
            <a:off x="2763738" y="1062633"/>
            <a:ext cx="959941"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0" name="AutoShape 8"/>
          <p:cNvSpPr>
            <a:spLocks/>
          </p:cNvSpPr>
          <p:nvPr/>
        </p:nvSpPr>
        <p:spPr bwMode="auto">
          <a:xfrm>
            <a:off x="3892228" y="1062633"/>
            <a:ext cx="961057"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1" name="AutoShape 9"/>
          <p:cNvSpPr>
            <a:spLocks/>
          </p:cNvSpPr>
          <p:nvPr/>
        </p:nvSpPr>
        <p:spPr bwMode="auto">
          <a:xfrm>
            <a:off x="5018484" y="1062633"/>
            <a:ext cx="961058"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2" name="AutoShape 10"/>
          <p:cNvSpPr>
            <a:spLocks/>
          </p:cNvSpPr>
          <p:nvPr/>
        </p:nvSpPr>
        <p:spPr bwMode="auto">
          <a:xfrm>
            <a:off x="6145858" y="1062633"/>
            <a:ext cx="959941"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3" name="AutoShape 11"/>
          <p:cNvSpPr>
            <a:spLocks/>
          </p:cNvSpPr>
          <p:nvPr/>
        </p:nvSpPr>
        <p:spPr bwMode="auto">
          <a:xfrm>
            <a:off x="7272115" y="1062633"/>
            <a:ext cx="961057"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4" name="AutoShape 12"/>
          <p:cNvSpPr>
            <a:spLocks/>
          </p:cNvSpPr>
          <p:nvPr/>
        </p:nvSpPr>
        <p:spPr bwMode="auto">
          <a:xfrm>
            <a:off x="1660922" y="1061517"/>
            <a:ext cx="959941" cy="830461"/>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aphicFrame>
        <p:nvGraphicFramePr>
          <p:cNvPr id="63501" name="Group 13"/>
          <p:cNvGraphicFramePr>
            <a:graphicFrameLocks noGrp="1"/>
          </p:cNvGraphicFramePr>
          <p:nvPr/>
        </p:nvGraphicFramePr>
        <p:xfrm>
          <a:off x="1534790" y="2250281"/>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pSp>
        <p:nvGrpSpPr>
          <p:cNvPr id="63529" name="Group 41"/>
          <p:cNvGrpSpPr>
            <a:grpSpLocks/>
          </p:cNvGrpSpPr>
          <p:nvPr/>
        </p:nvGrpSpPr>
        <p:grpSpPr bwMode="auto">
          <a:xfrm>
            <a:off x="497830" y="2267025"/>
            <a:ext cx="930920" cy="526852"/>
            <a:chOff x="0" y="0"/>
            <a:chExt cx="833" cy="471"/>
          </a:xfrm>
        </p:grpSpPr>
        <p:pic>
          <p:nvPicPr>
            <p:cNvPr id="142467"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 y="51"/>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Lst>
          </p:spPr>
        </p:pic>
        <p:sp>
          <p:nvSpPr>
            <p:cNvPr id="142468" name="Rectangle 40"/>
            <p:cNvSpPr>
              <a:spLocks/>
            </p:cNvSpPr>
            <p:nvPr/>
          </p:nvSpPr>
          <p:spPr bwMode="auto">
            <a:xfrm>
              <a:off x="0" y="0"/>
              <a:ext cx="833" cy="471"/>
            </a:xfrm>
            <a:prstGeom prst="rect">
              <a:avLst/>
            </a:prstGeom>
            <a:noFill/>
            <a:ln w="38100">
              <a:solidFill>
                <a:srgbClr val="002086"/>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aphicFrame>
        <p:nvGraphicFramePr>
          <p:cNvPr id="63530" name="Group 42"/>
          <p:cNvGraphicFramePr>
            <a:graphicFrameLocks noGrp="1"/>
          </p:cNvGraphicFramePr>
          <p:nvPr/>
        </p:nvGraphicFramePr>
        <p:xfrm>
          <a:off x="1535906" y="2830711"/>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bl>
          </a:graphicData>
        </a:graphic>
      </p:graphicFrame>
      <p:grpSp>
        <p:nvGrpSpPr>
          <p:cNvPr id="63558" name="Group 70"/>
          <p:cNvGrpSpPr>
            <a:grpSpLocks/>
          </p:cNvGrpSpPr>
          <p:nvPr/>
        </p:nvGrpSpPr>
        <p:grpSpPr bwMode="auto">
          <a:xfrm>
            <a:off x="497830" y="2867546"/>
            <a:ext cx="930920" cy="526852"/>
            <a:chOff x="0" y="0"/>
            <a:chExt cx="833" cy="471"/>
          </a:xfrm>
        </p:grpSpPr>
        <p:pic>
          <p:nvPicPr>
            <p:cNvPr id="142465"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 y="58"/>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42466" name="Rectangle 69"/>
            <p:cNvSpPr>
              <a:spLocks/>
            </p:cNvSpPr>
            <p:nvPr/>
          </p:nvSpPr>
          <p:spPr bwMode="auto">
            <a:xfrm>
              <a:off x="0" y="0"/>
              <a:ext cx="833" cy="471"/>
            </a:xfrm>
            <a:prstGeom prst="rect">
              <a:avLst/>
            </a:prstGeom>
            <a:noFill/>
            <a:ln w="38100">
              <a:solidFill>
                <a:srgbClr val="02AB49"/>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aphicFrame>
        <p:nvGraphicFramePr>
          <p:cNvPr id="63559" name="Group 71"/>
          <p:cNvGraphicFramePr>
            <a:graphicFrameLocks noGrp="1"/>
          </p:cNvGraphicFramePr>
          <p:nvPr/>
        </p:nvGraphicFramePr>
        <p:xfrm>
          <a:off x="1535906" y="3411140"/>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bl>
          </a:graphicData>
        </a:graphic>
      </p:graphicFrame>
      <p:grpSp>
        <p:nvGrpSpPr>
          <p:cNvPr id="63587" name="Group 99"/>
          <p:cNvGrpSpPr>
            <a:grpSpLocks/>
          </p:cNvGrpSpPr>
          <p:nvPr/>
        </p:nvGrpSpPr>
        <p:grpSpPr bwMode="auto">
          <a:xfrm>
            <a:off x="497830" y="3464719"/>
            <a:ext cx="930920" cy="526852"/>
            <a:chOff x="0" y="0"/>
            <a:chExt cx="833" cy="471"/>
          </a:xfrm>
        </p:grpSpPr>
        <p:pic>
          <p:nvPicPr>
            <p:cNvPr id="142463" name="Picture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 y="58"/>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42464" name="Rectangle 98"/>
            <p:cNvSpPr>
              <a:spLocks/>
            </p:cNvSpPr>
            <p:nvPr/>
          </p:nvSpPr>
          <p:spPr bwMode="auto">
            <a:xfrm>
              <a:off x="0" y="0"/>
              <a:ext cx="833" cy="471"/>
            </a:xfrm>
            <a:prstGeom prst="rect">
              <a:avLst/>
            </a:prstGeom>
            <a:noFill/>
            <a:ln w="38100">
              <a:solidFill>
                <a:srgbClr val="B200CB"/>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63593" name="Group 105"/>
          <p:cNvGrpSpPr>
            <a:grpSpLocks/>
          </p:cNvGrpSpPr>
          <p:nvPr/>
        </p:nvGrpSpPr>
        <p:grpSpPr bwMode="auto">
          <a:xfrm>
            <a:off x="1928812" y="1946672"/>
            <a:ext cx="5630168" cy="156270"/>
            <a:chOff x="0" y="0"/>
            <a:chExt cx="5044" cy="140"/>
          </a:xfrm>
        </p:grpSpPr>
        <p:sp>
          <p:nvSpPr>
            <p:cNvPr id="142458" name="AutoShape 100"/>
            <p:cNvSpPr>
              <a:spLocks/>
            </p:cNvSpPr>
            <p:nvPr/>
          </p:nvSpPr>
          <p:spPr bwMode="auto">
            <a:xfrm flipH="1">
              <a:off x="3863"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9" name="AutoShape 101"/>
            <p:cNvSpPr>
              <a:spLocks/>
            </p:cNvSpPr>
            <p:nvPr/>
          </p:nvSpPr>
          <p:spPr bwMode="auto">
            <a:xfrm flipH="1">
              <a:off x="2039"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0" name="AutoShape 102"/>
            <p:cNvSpPr>
              <a:spLocks/>
            </p:cNvSpPr>
            <p:nvPr/>
          </p:nvSpPr>
          <p:spPr bwMode="auto">
            <a:xfrm flipH="1">
              <a:off x="3015"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1" name="AutoShape 103"/>
            <p:cNvSpPr>
              <a:spLocks/>
            </p:cNvSpPr>
            <p:nvPr/>
          </p:nvSpPr>
          <p:spPr bwMode="auto">
            <a:xfrm flipH="1">
              <a:off x="0" y="0"/>
              <a:ext cx="140"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2" name="AutoShape 104"/>
            <p:cNvSpPr>
              <a:spLocks/>
            </p:cNvSpPr>
            <p:nvPr/>
          </p:nvSpPr>
          <p:spPr bwMode="auto">
            <a:xfrm flipH="1">
              <a:off x="4904" y="0"/>
              <a:ext cx="140"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grpSp>
        <p:nvGrpSpPr>
          <p:cNvPr id="63598" name="Group 110"/>
          <p:cNvGrpSpPr>
            <a:grpSpLocks/>
          </p:cNvGrpSpPr>
          <p:nvPr/>
        </p:nvGrpSpPr>
        <p:grpSpPr bwMode="auto">
          <a:xfrm>
            <a:off x="2134195" y="1946672"/>
            <a:ext cx="5630168" cy="156270"/>
            <a:chOff x="0" y="0"/>
            <a:chExt cx="5044" cy="140"/>
          </a:xfrm>
        </p:grpSpPr>
        <p:sp>
          <p:nvSpPr>
            <p:cNvPr id="142454" name="AutoShape 106"/>
            <p:cNvSpPr>
              <a:spLocks/>
            </p:cNvSpPr>
            <p:nvPr/>
          </p:nvSpPr>
          <p:spPr bwMode="auto">
            <a:xfrm flipH="1">
              <a:off x="880"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5" name="AutoShape 107"/>
            <p:cNvSpPr>
              <a:spLocks/>
            </p:cNvSpPr>
            <p:nvPr/>
          </p:nvSpPr>
          <p:spPr bwMode="auto">
            <a:xfrm flipH="1">
              <a:off x="3015" y="0"/>
              <a:ext cx="141"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6" name="AutoShape 108"/>
            <p:cNvSpPr>
              <a:spLocks/>
            </p:cNvSpPr>
            <p:nvPr/>
          </p:nvSpPr>
          <p:spPr bwMode="auto">
            <a:xfrm flipH="1">
              <a:off x="4904"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7" name="AutoShape 109"/>
            <p:cNvSpPr>
              <a:spLocks/>
            </p:cNvSpPr>
            <p:nvPr/>
          </p:nvSpPr>
          <p:spPr bwMode="auto">
            <a:xfrm flipH="1">
              <a:off x="0"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sp>
        <p:nvSpPr>
          <p:cNvPr id="142398" name="Rectangle 111"/>
          <p:cNvSpPr>
            <a:spLocks/>
          </p:cNvSpPr>
          <p:nvPr/>
        </p:nvSpPr>
        <p:spPr bwMode="auto">
          <a:xfrm>
            <a:off x="6847955" y="6571684"/>
            <a:ext cx="2205281"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400">
                <a:ea typeface="ＭＳ Ｐゴシック" charset="0"/>
                <a:cs typeface="ＭＳ Ｐゴシック" charset="0"/>
              </a:rPr>
              <a:t>Griffiths &amp; Ghahramani (2005)</a:t>
            </a:r>
          </a:p>
        </p:txBody>
      </p:sp>
      <p:grpSp>
        <p:nvGrpSpPr>
          <p:cNvPr id="63604" name="Group 116"/>
          <p:cNvGrpSpPr>
            <a:grpSpLocks/>
          </p:cNvGrpSpPr>
          <p:nvPr/>
        </p:nvGrpSpPr>
        <p:grpSpPr bwMode="auto">
          <a:xfrm>
            <a:off x="1975694" y="1063749"/>
            <a:ext cx="3590851" cy="235521"/>
            <a:chOff x="0" y="29"/>
            <a:chExt cx="3217" cy="211"/>
          </a:xfrm>
        </p:grpSpPr>
        <p:sp>
          <p:nvSpPr>
            <p:cNvPr id="142450" name="Rectangle 112"/>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1" name="Rectangle 113"/>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2" name="Rectangle 114"/>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3" name="Rectangle 115"/>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grpSp>
      <p:grpSp>
        <p:nvGrpSpPr>
          <p:cNvPr id="63611" name="Group 123"/>
          <p:cNvGrpSpPr>
            <a:grpSpLocks/>
          </p:cNvGrpSpPr>
          <p:nvPr/>
        </p:nvGrpSpPr>
        <p:grpSpPr bwMode="auto">
          <a:xfrm>
            <a:off x="1973461" y="1068214"/>
            <a:ext cx="5844481" cy="235521"/>
            <a:chOff x="0" y="29"/>
            <a:chExt cx="5236" cy="211"/>
          </a:xfrm>
        </p:grpSpPr>
        <p:sp>
          <p:nvSpPr>
            <p:cNvPr id="142444" name="Rectangle 117"/>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5" name="Rectangle 118"/>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sp>
          <p:nvSpPr>
            <p:cNvPr id="142446" name="Rectangle 119"/>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7" name="Rectangle 120"/>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8" name="Rectangle 121"/>
            <p:cNvSpPr>
              <a:spLocks/>
            </p:cNvSpPr>
            <p:nvPr/>
          </p:nvSpPr>
          <p:spPr bwMode="auto">
            <a:xfrm>
              <a:off x="4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sp>
          <p:nvSpPr>
            <p:cNvPr id="142449" name="Rectangle 122"/>
            <p:cNvSpPr>
              <a:spLocks/>
            </p:cNvSpPr>
            <p:nvPr/>
          </p:nvSpPr>
          <p:spPr bwMode="auto">
            <a:xfrm>
              <a:off x="5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grpSp>
      <p:grpSp>
        <p:nvGrpSpPr>
          <p:cNvPr id="63618" name="Group 130"/>
          <p:cNvGrpSpPr>
            <a:grpSpLocks/>
          </p:cNvGrpSpPr>
          <p:nvPr/>
        </p:nvGrpSpPr>
        <p:grpSpPr bwMode="auto">
          <a:xfrm>
            <a:off x="1973461" y="1068214"/>
            <a:ext cx="5844481" cy="235521"/>
            <a:chOff x="0" y="29"/>
            <a:chExt cx="5236" cy="211"/>
          </a:xfrm>
        </p:grpSpPr>
        <p:sp>
          <p:nvSpPr>
            <p:cNvPr id="142438" name="Rectangle 124"/>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3/4</a:t>
              </a:r>
            </a:p>
          </p:txBody>
        </p:sp>
        <p:sp>
          <p:nvSpPr>
            <p:cNvPr id="142439" name="Rectangle 125"/>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sp>
          <p:nvSpPr>
            <p:cNvPr id="142440" name="Rectangle 126"/>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sp>
          <p:nvSpPr>
            <p:cNvPr id="142441" name="Rectangle 127"/>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3/4</a:t>
              </a:r>
            </a:p>
          </p:txBody>
        </p:sp>
        <p:sp>
          <p:nvSpPr>
            <p:cNvPr id="142442" name="Rectangle 128"/>
            <p:cNvSpPr>
              <a:spLocks/>
            </p:cNvSpPr>
            <p:nvPr/>
          </p:nvSpPr>
          <p:spPr bwMode="auto">
            <a:xfrm>
              <a:off x="4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1/4</a:t>
              </a:r>
            </a:p>
          </p:txBody>
        </p:sp>
        <p:sp>
          <p:nvSpPr>
            <p:cNvPr id="142443" name="Rectangle 129"/>
            <p:cNvSpPr>
              <a:spLocks/>
            </p:cNvSpPr>
            <p:nvPr/>
          </p:nvSpPr>
          <p:spPr bwMode="auto">
            <a:xfrm>
              <a:off x="5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grpSp>
      <p:sp>
        <p:nvSpPr>
          <p:cNvPr id="63619" name="Rectangle 131"/>
          <p:cNvSpPr>
            <a:spLocks/>
          </p:cNvSpPr>
          <p:nvPr/>
        </p:nvSpPr>
        <p:spPr bwMode="auto">
          <a:xfrm>
            <a:off x="185291" y="5027414"/>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a:solidFill>
                  <a:srgbClr val="002086"/>
                </a:solidFill>
                <a:ea typeface="ＭＳ Ｐゴシック" charset="0"/>
                <a:cs typeface="ＭＳ Ｐゴシック" charset="0"/>
              </a:rPr>
              <a:t>Customer 1 (takes 4 dishes):                    N/A                     Samples 4</a:t>
            </a:r>
          </a:p>
        </p:txBody>
      </p:sp>
      <p:sp>
        <p:nvSpPr>
          <p:cNvPr id="63620" name="Rectangle 132"/>
          <p:cNvSpPr>
            <a:spLocks/>
          </p:cNvSpPr>
          <p:nvPr/>
        </p:nvSpPr>
        <p:spPr bwMode="auto">
          <a:xfrm>
            <a:off x="187524" y="5331023"/>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dirty="0">
                <a:solidFill>
                  <a:srgbClr val="388500"/>
                </a:solidFill>
                <a:ea typeface="ＭＳ Ｐゴシック" charset="0"/>
                <a:cs typeface="ＭＳ Ｐゴシック" charset="0"/>
              </a:rPr>
              <a:t>Customer 2 (takes 5 dishes):                   1,3,4                     Samples 2</a:t>
            </a:r>
          </a:p>
        </p:txBody>
      </p:sp>
      <p:sp>
        <p:nvSpPr>
          <p:cNvPr id="142404" name="Rectangle 133"/>
          <p:cNvSpPr>
            <a:spLocks/>
          </p:cNvSpPr>
          <p:nvPr/>
        </p:nvSpPr>
        <p:spPr bwMode="auto">
          <a:xfrm>
            <a:off x="158502" y="4063008"/>
            <a:ext cx="8965406"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b="1" i="1">
                <a:latin typeface="Times New Roman" charset="0"/>
                <a:ea typeface="ＭＳ Ｐゴシック" charset="0"/>
                <a:cs typeface="ＭＳ Ｐゴシック" charset="0"/>
                <a:sym typeface="Times New Roman" charset="0"/>
              </a:rPr>
              <a:t>N</a:t>
            </a:r>
            <a:r>
              <a:rPr lang="en-US" b="1">
                <a:ea typeface="ＭＳ Ｐゴシック" charset="0"/>
                <a:cs typeface="ＭＳ Ｐゴシック" charset="0"/>
              </a:rPr>
              <a:t> customers (objects) take dishes (features) from an Indian buffet....</a:t>
            </a:r>
          </a:p>
        </p:txBody>
      </p:sp>
      <p:sp>
        <p:nvSpPr>
          <p:cNvPr id="63622" name="Rectangle 134"/>
          <p:cNvSpPr>
            <a:spLocks/>
          </p:cNvSpPr>
          <p:nvPr/>
        </p:nvSpPr>
        <p:spPr bwMode="auto">
          <a:xfrm>
            <a:off x="187524" y="5652492"/>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a:solidFill>
                  <a:srgbClr val="B200CB"/>
                </a:solidFill>
                <a:ea typeface="ＭＳ Ｐゴシック" charset="0"/>
                <a:cs typeface="ＭＳ Ｐゴシック" charset="0"/>
              </a:rPr>
              <a:t>Customer 3 (takes 4 dishes):                  1,2,4,6                   Samples 0</a:t>
            </a:r>
          </a:p>
        </p:txBody>
      </p:sp>
      <p:grpSp>
        <p:nvGrpSpPr>
          <p:cNvPr id="63626" name="Group 138"/>
          <p:cNvGrpSpPr>
            <a:grpSpLocks/>
          </p:cNvGrpSpPr>
          <p:nvPr/>
        </p:nvGrpSpPr>
        <p:grpSpPr bwMode="auto">
          <a:xfrm>
            <a:off x="5249541" y="6064374"/>
            <a:ext cx="3591967" cy="660797"/>
            <a:chOff x="0" y="0"/>
            <a:chExt cx="3218" cy="592"/>
          </a:xfrm>
        </p:grpSpPr>
        <p:sp>
          <p:nvSpPr>
            <p:cNvPr id="142435" name="Rectangle 135"/>
            <p:cNvSpPr>
              <a:spLocks/>
            </p:cNvSpPr>
            <p:nvPr/>
          </p:nvSpPr>
          <p:spPr bwMode="auto">
            <a:xfrm>
              <a:off x="0" y="0"/>
              <a:ext cx="1392" cy="59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436" name="Line 136"/>
            <p:cNvSpPr>
              <a:spLocks noChangeShapeType="1"/>
            </p:cNvSpPr>
            <p:nvPr/>
          </p:nvSpPr>
          <p:spPr bwMode="auto">
            <a:xfrm flipH="1">
              <a:off x="1384" y="299"/>
              <a:ext cx="35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42437" name="Rectangle 137"/>
            <p:cNvSpPr>
              <a:spLocks/>
            </p:cNvSpPr>
            <p:nvPr/>
          </p:nvSpPr>
          <p:spPr bwMode="auto">
            <a:xfrm>
              <a:off x="1738" y="156"/>
              <a:ext cx="148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new feature term</a:t>
              </a:r>
            </a:p>
          </p:txBody>
        </p:sp>
      </p:grpSp>
      <p:grpSp>
        <p:nvGrpSpPr>
          <p:cNvPr id="63630" name="Group 142"/>
          <p:cNvGrpSpPr>
            <a:grpSpLocks/>
          </p:cNvGrpSpPr>
          <p:nvPr/>
        </p:nvGrpSpPr>
        <p:grpSpPr bwMode="auto">
          <a:xfrm>
            <a:off x="501179" y="6032004"/>
            <a:ext cx="4699248" cy="693167"/>
            <a:chOff x="0" y="0"/>
            <a:chExt cx="4210" cy="621"/>
          </a:xfrm>
        </p:grpSpPr>
        <p:sp>
          <p:nvSpPr>
            <p:cNvPr id="142432" name="Rectangle 139"/>
            <p:cNvSpPr>
              <a:spLocks/>
            </p:cNvSpPr>
            <p:nvPr/>
          </p:nvSpPr>
          <p:spPr bwMode="auto">
            <a:xfrm>
              <a:off x="2154" y="29"/>
              <a:ext cx="2056" cy="59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433" name="Line 140"/>
            <p:cNvSpPr>
              <a:spLocks noChangeShapeType="1"/>
            </p:cNvSpPr>
            <p:nvPr/>
          </p:nvSpPr>
          <p:spPr bwMode="auto">
            <a:xfrm>
              <a:off x="1491" y="150"/>
              <a:ext cx="65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42434" name="Rectangle 141"/>
            <p:cNvSpPr>
              <a:spLocks/>
            </p:cNvSpPr>
            <p:nvPr/>
          </p:nvSpPr>
          <p:spPr bwMode="auto">
            <a:xfrm>
              <a:off x="0" y="0"/>
              <a:ext cx="152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old feature term</a:t>
              </a:r>
            </a:p>
          </p:txBody>
        </p:sp>
      </p:grpSp>
      <p:sp>
        <p:nvSpPr>
          <p:cNvPr id="142408" name="Rectangle 143"/>
          <p:cNvSpPr>
            <a:spLocks/>
          </p:cNvSpPr>
          <p:nvPr/>
        </p:nvSpPr>
        <p:spPr bwMode="auto">
          <a:xfrm>
            <a:off x="1708920"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1</a:t>
            </a:r>
          </a:p>
        </p:txBody>
      </p:sp>
      <p:sp>
        <p:nvSpPr>
          <p:cNvPr id="142409" name="Rectangle 144"/>
          <p:cNvSpPr>
            <a:spLocks/>
          </p:cNvSpPr>
          <p:nvPr/>
        </p:nvSpPr>
        <p:spPr bwMode="auto">
          <a:xfrm>
            <a:off x="2830711"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2</a:t>
            </a:r>
          </a:p>
        </p:txBody>
      </p:sp>
      <p:sp>
        <p:nvSpPr>
          <p:cNvPr id="142410" name="Rectangle 145"/>
          <p:cNvSpPr>
            <a:spLocks/>
          </p:cNvSpPr>
          <p:nvPr/>
        </p:nvSpPr>
        <p:spPr bwMode="auto">
          <a:xfrm>
            <a:off x="3946922"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3</a:t>
            </a:r>
          </a:p>
        </p:txBody>
      </p:sp>
      <p:sp>
        <p:nvSpPr>
          <p:cNvPr id="142411" name="Rectangle 146"/>
          <p:cNvSpPr>
            <a:spLocks/>
          </p:cNvSpPr>
          <p:nvPr/>
        </p:nvSpPr>
        <p:spPr bwMode="auto">
          <a:xfrm>
            <a:off x="5063133" y="806812"/>
            <a:ext cx="846386"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4</a:t>
            </a:r>
          </a:p>
        </p:txBody>
      </p:sp>
      <p:sp>
        <p:nvSpPr>
          <p:cNvPr id="142412" name="Rectangle 147"/>
          <p:cNvSpPr>
            <a:spLocks/>
          </p:cNvSpPr>
          <p:nvPr/>
        </p:nvSpPr>
        <p:spPr bwMode="auto">
          <a:xfrm>
            <a:off x="6179344"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5</a:t>
            </a:r>
          </a:p>
        </p:txBody>
      </p:sp>
      <p:sp>
        <p:nvSpPr>
          <p:cNvPr id="142413" name="Rectangle 148"/>
          <p:cNvSpPr>
            <a:spLocks/>
          </p:cNvSpPr>
          <p:nvPr/>
        </p:nvSpPr>
        <p:spPr bwMode="auto">
          <a:xfrm>
            <a:off x="7295555"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6</a:t>
            </a:r>
          </a:p>
        </p:txBody>
      </p:sp>
      <p:pic>
        <p:nvPicPr>
          <p:cNvPr id="63637" name="Picture 1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7773" y="6054329"/>
            <a:ext cx="4572000" cy="6987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15" name="Picture 1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1455539"/>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3639" name="Picture 1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2518172"/>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3640" name="Picture 1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3098602"/>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18" name="Picture 1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664" y="901898"/>
            <a:ext cx="616148"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5570" y="1598414"/>
            <a:ext cx="892969" cy="242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1" name="Picture 1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2516" y="1437680"/>
            <a:ext cx="89297" cy="173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2" name="Picture 1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8055" y="1393031"/>
            <a:ext cx="169664" cy="205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3" name="Picture 1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48883" y="1393031"/>
            <a:ext cx="218777" cy="1250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4" name="Picture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2617" y="1401961"/>
            <a:ext cx="94878" cy="1964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5" name="Picture 1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72375" y="1437680"/>
            <a:ext cx="35719" cy="173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63654" name="Group 166"/>
          <p:cNvGrpSpPr>
            <a:grpSpLocks/>
          </p:cNvGrpSpPr>
          <p:nvPr/>
        </p:nvGrpSpPr>
        <p:grpSpPr bwMode="auto">
          <a:xfrm>
            <a:off x="1390732" y="4411265"/>
            <a:ext cx="5636932" cy="580430"/>
            <a:chOff x="-275" y="0"/>
            <a:chExt cx="5049" cy="519"/>
          </a:xfrm>
        </p:grpSpPr>
        <p:sp>
          <p:nvSpPr>
            <p:cNvPr id="142427" name="Rectangle 161"/>
            <p:cNvSpPr>
              <a:spLocks/>
            </p:cNvSpPr>
            <p:nvPr/>
          </p:nvSpPr>
          <p:spPr bwMode="auto">
            <a:xfrm>
              <a:off x="1150" y="0"/>
              <a:ext cx="2016" cy="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ja-JP" altLang="en-US" sz="1700" b="1">
                  <a:latin typeface="Arial" charset="0"/>
                  <a:ea typeface="ＭＳ Ｐゴシック" charset="0"/>
                  <a:cs typeface="ＭＳ Ｐゴシック" charset="0"/>
                </a:rPr>
                <a:t>“</a:t>
              </a:r>
              <a:r>
                <a:rPr lang="en-US" altLang="ja-JP" sz="1700" b="1">
                  <a:cs typeface="Gill Sans" charset="0"/>
                </a:rPr>
                <a:t>Old</a:t>
              </a:r>
              <a:r>
                <a:rPr lang="ja-JP" altLang="en-US" sz="1700" b="1">
                  <a:latin typeface="Arial" charset="0"/>
                  <a:ea typeface="ＭＳ Ｐゴシック" charset="0"/>
                  <a:cs typeface="ＭＳ Ｐゴシック" charset="0"/>
                </a:rPr>
                <a:t>”</a:t>
              </a:r>
              <a:r>
                <a:rPr lang="en-US" altLang="ja-JP" sz="1700" b="1">
                  <a:cs typeface="Gill Sans" charset="0"/>
                </a:rPr>
                <a:t> features</a:t>
              </a:r>
              <a:endParaRPr lang="en-US" sz="1700" b="1">
                <a:cs typeface="Gill Sans" charset="0"/>
              </a:endParaRPr>
            </a:p>
          </p:txBody>
        </p:sp>
        <p:sp>
          <p:nvSpPr>
            <p:cNvPr id="142428" name="Rectangle 162"/>
            <p:cNvSpPr>
              <a:spLocks/>
            </p:cNvSpPr>
            <p:nvPr/>
          </p:nvSpPr>
          <p:spPr bwMode="auto">
            <a:xfrm>
              <a:off x="2998" y="0"/>
              <a:ext cx="1776" cy="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ja-JP" altLang="en-US" sz="1700" b="1">
                  <a:latin typeface="Arial" charset="0"/>
                  <a:ea typeface="ＭＳ Ｐゴシック" charset="0"/>
                  <a:cs typeface="ＭＳ Ｐゴシック" charset="0"/>
                </a:rPr>
                <a:t>“</a:t>
              </a:r>
              <a:r>
                <a:rPr lang="en-US" altLang="ja-JP" sz="1700" b="1">
                  <a:cs typeface="Gill Sans" charset="0"/>
                </a:rPr>
                <a:t>New</a:t>
              </a:r>
              <a:r>
                <a:rPr lang="ja-JP" altLang="en-US" sz="1700" b="1">
                  <a:latin typeface="Arial" charset="0"/>
                  <a:ea typeface="ＭＳ Ｐゴシック" charset="0"/>
                  <a:cs typeface="ＭＳ Ｐゴシック" charset="0"/>
                </a:rPr>
                <a:t>”</a:t>
              </a:r>
              <a:r>
                <a:rPr lang="en-US" altLang="ja-JP" sz="1700" b="1">
                  <a:cs typeface="Gill Sans" charset="0"/>
                </a:rPr>
                <a:t> features</a:t>
              </a:r>
              <a:endParaRPr lang="en-US" sz="1700" b="1">
                <a:cs typeface="Gill Sans" charset="0"/>
              </a:endParaRPr>
            </a:p>
          </p:txBody>
        </p:sp>
        <p:sp>
          <p:nvSpPr>
            <p:cNvPr id="142429" name="Rectangle 163"/>
            <p:cNvSpPr>
              <a:spLocks/>
            </p:cNvSpPr>
            <p:nvPr/>
          </p:nvSpPr>
          <p:spPr bwMode="auto">
            <a:xfrm>
              <a:off x="-275" y="34"/>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dirty="0">
                  <a:ea typeface="ＭＳ Ｐゴシック" charset="0"/>
                  <a:cs typeface="ＭＳ Ｐゴシック" charset="0"/>
                </a:rPr>
                <a:t>customer </a:t>
              </a:r>
              <a:r>
                <a:rPr lang="en-US" sz="1700" i="1" dirty="0" err="1">
                  <a:latin typeface="Times New Roman" charset="0"/>
                  <a:ea typeface="ＭＳ Ｐゴシック" charset="0"/>
                  <a:cs typeface="ＭＳ Ｐゴシック" charset="0"/>
                  <a:sym typeface="Times New Roman" charset="0"/>
                </a:rPr>
                <a:t>i</a:t>
              </a:r>
              <a:r>
                <a:rPr lang="en-US" sz="1700" i="1" dirty="0">
                  <a:ea typeface="ＭＳ Ｐゴシック" charset="0"/>
                  <a:cs typeface="ＭＳ Ｐゴシック" charset="0"/>
                </a:rPr>
                <a:t> </a:t>
              </a:r>
              <a:r>
                <a:rPr lang="en-US" sz="1700" dirty="0">
                  <a:ea typeface="ＭＳ Ｐゴシック" charset="0"/>
                  <a:cs typeface="ＭＳ Ｐゴシック" charset="0"/>
                </a:rPr>
                <a:t>takes</a:t>
              </a:r>
            </a:p>
          </p:txBody>
        </p:sp>
        <p:pic>
          <p:nvPicPr>
            <p:cNvPr id="142430" name="Picture 1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6" y="319"/>
              <a:ext cx="4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31" name="Picture 1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18" y="319"/>
              <a:ext cx="1048"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3" name="Rectangle 2"/>
          <p:cNvSpPr>
            <a:spLocks/>
          </p:cNvSpPr>
          <p:nvPr/>
        </p:nvSpPr>
        <p:spPr bwMode="auto">
          <a:xfrm>
            <a:off x="319246" y="30312"/>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Indian buffet process (IBP)</a:t>
            </a:r>
          </a:p>
        </p:txBody>
      </p:sp>
    </p:spTree>
    <p:extLst>
      <p:ext uri="{BB962C8B-B14F-4D97-AF65-F5344CB8AC3E}">
        <p14:creationId xmlns:p14="http://schemas.microsoft.com/office/powerpoint/2010/main" val="3389555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36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3494"/>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63501"/>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nodeType="afterEffect">
                                  <p:stCondLst>
                                    <p:cond delay="0"/>
                                  </p:stCondLst>
                                  <p:childTnLst>
                                    <p:set>
                                      <p:cBhvr>
                                        <p:cTn id="16" dur="1" fill="hold">
                                          <p:stCondLst>
                                            <p:cond delay="499"/>
                                          </p:stCondLst>
                                        </p:cTn>
                                        <p:tgtEl>
                                          <p:spTgt spid="63529"/>
                                        </p:tgtEl>
                                        <p:attrNameLst>
                                          <p:attrName>style.visibility</p:attrName>
                                        </p:attrNameLst>
                                      </p:cBhvr>
                                      <p:to>
                                        <p:strVal val="visible"/>
                                      </p:to>
                                    </p:set>
                                  </p:childTnLst>
                                </p:cTn>
                              </p:par>
                            </p:childTnLst>
                          </p:cTn>
                        </p:par>
                        <p:par>
                          <p:cTn id="17" fill="hold" nodeType="afterGroup">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63619"/>
                                        </p:tgtEl>
                                        <p:attrNameLst>
                                          <p:attrName>style.visibility</p:attrName>
                                        </p:attrNameLst>
                                      </p:cBhvr>
                                      <p:to>
                                        <p:strVal val="visible"/>
                                      </p:to>
                                    </p:set>
                                  </p:childTnLst>
                                </p:cTn>
                              </p:par>
                            </p:childTnLst>
                          </p:cTn>
                        </p:par>
                        <p:par>
                          <p:cTn id="20" fill="hold" nodeType="afterGroup">
                            <p:stCondLst>
                              <p:cond delay="2000"/>
                            </p:stCondLst>
                            <p:childTnLst>
                              <p:par>
                                <p:cTn id="21" presetID="1" presetClass="entr" presetSubtype="0" fill="hold" nodeType="afterEffect">
                                  <p:stCondLst>
                                    <p:cond delay="0"/>
                                  </p:stCondLst>
                                  <p:childTnLst>
                                    <p:set>
                                      <p:cBhvr>
                                        <p:cTn id="22" dur="1" fill="hold">
                                          <p:stCondLst>
                                            <p:cond delay="499"/>
                                          </p:stCondLst>
                                        </p:cTn>
                                        <p:tgtEl>
                                          <p:spTgt spid="6363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360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499"/>
                                          </p:stCondLst>
                                        </p:cTn>
                                        <p:tgtEl>
                                          <p:spTgt spid="63604"/>
                                        </p:tgtEl>
                                        <p:attrNameLst>
                                          <p:attrName>style.visibility</p:attrName>
                                        </p:attrNameLst>
                                      </p:cBhvr>
                                      <p:to>
                                        <p:strVal val="hidden"/>
                                      </p:to>
                                    </p:set>
                                  </p:childTnLst>
                                </p:cTn>
                              </p:par>
                            </p:childTnLst>
                          </p:cTn>
                        </p:par>
                        <p:par>
                          <p:cTn id="31" fill="hold" nodeType="afterGroup">
                            <p:stCondLst>
                              <p:cond delay="500"/>
                            </p:stCondLst>
                            <p:childTnLst>
                              <p:par>
                                <p:cTn id="32" presetID="1" presetClass="entr" presetSubtype="0" fill="hold" nodeType="afterEffect">
                                  <p:stCondLst>
                                    <p:cond delay="0"/>
                                  </p:stCondLst>
                                  <p:childTnLst>
                                    <p:set>
                                      <p:cBhvr>
                                        <p:cTn id="33" dur="1" fill="hold">
                                          <p:stCondLst>
                                            <p:cond delay="499"/>
                                          </p:stCondLst>
                                        </p:cTn>
                                        <p:tgtEl>
                                          <p:spTgt spid="63530"/>
                                        </p:tgtEl>
                                        <p:attrNameLst>
                                          <p:attrName>style.visibility</p:attrName>
                                        </p:attrNameLst>
                                      </p:cBhvr>
                                      <p:to>
                                        <p:strVal val="visible"/>
                                      </p:to>
                                    </p:set>
                                  </p:childTnLst>
                                </p:cTn>
                              </p:par>
                            </p:childTnLst>
                          </p:cTn>
                        </p:par>
                        <p:par>
                          <p:cTn id="34" fill="hold" nodeType="afterGroup">
                            <p:stCondLst>
                              <p:cond delay="1000"/>
                            </p:stCondLst>
                            <p:childTnLst>
                              <p:par>
                                <p:cTn id="35" presetID="1" presetClass="entr" presetSubtype="0" fill="hold" nodeType="afterEffect">
                                  <p:stCondLst>
                                    <p:cond delay="0"/>
                                  </p:stCondLst>
                                  <p:childTnLst>
                                    <p:set>
                                      <p:cBhvr>
                                        <p:cTn id="36" dur="1" fill="hold">
                                          <p:stCondLst>
                                            <p:cond delay="499"/>
                                          </p:stCondLst>
                                        </p:cTn>
                                        <p:tgtEl>
                                          <p:spTgt spid="63558"/>
                                        </p:tgtEl>
                                        <p:attrNameLst>
                                          <p:attrName>style.visibility</p:attrName>
                                        </p:attrNameLst>
                                      </p:cBhvr>
                                      <p:to>
                                        <p:strVal val="visible"/>
                                      </p:to>
                                    </p:set>
                                  </p:childTnLst>
                                </p:cTn>
                              </p:par>
                            </p:childTnLst>
                          </p:cTn>
                        </p:par>
                        <p:par>
                          <p:cTn id="37" fill="hold" nodeType="afterGroup">
                            <p:stCondLst>
                              <p:cond delay="1500"/>
                            </p:stCondLst>
                            <p:childTnLst>
                              <p:par>
                                <p:cTn id="38" presetID="1" presetClass="entr" presetSubtype="0" fill="hold" nodeType="afterEffect">
                                  <p:stCondLst>
                                    <p:cond delay="0"/>
                                  </p:stCondLst>
                                  <p:childTnLst>
                                    <p:set>
                                      <p:cBhvr>
                                        <p:cTn id="39" dur="1" fill="hold">
                                          <p:stCondLst>
                                            <p:cond delay="499"/>
                                          </p:stCondLst>
                                        </p:cTn>
                                        <p:tgtEl>
                                          <p:spTgt spid="63593"/>
                                        </p:tgtEl>
                                        <p:attrNameLst>
                                          <p:attrName>style.visibility</p:attrName>
                                        </p:attrNameLst>
                                      </p:cBhvr>
                                      <p:to>
                                        <p:strVal val="visible"/>
                                      </p:to>
                                    </p:set>
                                  </p:childTnLst>
                                </p:cTn>
                              </p:par>
                            </p:childTnLst>
                          </p:cTn>
                        </p:par>
                        <p:par>
                          <p:cTn id="40" fill="hold" nodeType="afterGroup">
                            <p:stCondLst>
                              <p:cond delay="2000"/>
                            </p:stCondLst>
                            <p:childTnLst>
                              <p:par>
                                <p:cTn id="41" presetID="1" presetClass="entr" presetSubtype="0" fill="hold" grpId="0" nodeType="afterEffect">
                                  <p:stCondLst>
                                    <p:cond delay="0"/>
                                  </p:stCondLst>
                                  <p:childTnLst>
                                    <p:set>
                                      <p:cBhvr>
                                        <p:cTn id="42" dur="1" fill="hold">
                                          <p:stCondLst>
                                            <p:cond delay="499"/>
                                          </p:stCondLst>
                                        </p:cTn>
                                        <p:tgtEl>
                                          <p:spTgt spid="63620"/>
                                        </p:tgtEl>
                                        <p:attrNameLst>
                                          <p:attrName>style.visibility</p:attrName>
                                        </p:attrNameLst>
                                      </p:cBhvr>
                                      <p:to>
                                        <p:strVal val="visible"/>
                                      </p:to>
                                    </p:set>
                                  </p:childTnLst>
                                </p:cTn>
                              </p:par>
                            </p:childTnLst>
                          </p:cTn>
                        </p:par>
                        <p:par>
                          <p:cTn id="43" fill="hold" nodeType="afterGroup">
                            <p:stCondLst>
                              <p:cond delay="2500"/>
                            </p:stCondLst>
                            <p:childTnLst>
                              <p:par>
                                <p:cTn id="44" presetID="1" presetClass="exit" presetSubtype="0" fill="hold" nodeType="afterEffect">
                                  <p:stCondLst>
                                    <p:cond delay="0"/>
                                  </p:stCondLst>
                                  <p:childTnLst>
                                    <p:set>
                                      <p:cBhvr>
                                        <p:cTn id="45" dur="1" fill="hold">
                                          <p:stCondLst>
                                            <p:cond delay="499"/>
                                          </p:stCondLst>
                                        </p:cTn>
                                        <p:tgtEl>
                                          <p:spTgt spid="63639"/>
                                        </p:tgtEl>
                                        <p:attrNameLst>
                                          <p:attrName>style.visibility</p:attrName>
                                        </p:attrNameLst>
                                      </p:cBhvr>
                                      <p:to>
                                        <p:strVal val="hidden"/>
                                      </p:to>
                                    </p:set>
                                  </p:childTnLst>
                                </p:cTn>
                              </p:par>
                            </p:childTnLst>
                          </p:cTn>
                        </p:par>
                        <p:par>
                          <p:cTn id="46" fill="hold" nodeType="afterGroup">
                            <p:stCondLst>
                              <p:cond delay="3000"/>
                            </p:stCondLst>
                            <p:childTnLst>
                              <p:par>
                                <p:cTn id="47" presetID="1" presetClass="entr" presetSubtype="0" fill="hold" nodeType="afterEffect">
                                  <p:stCondLst>
                                    <p:cond delay="0"/>
                                  </p:stCondLst>
                                  <p:childTnLst>
                                    <p:set>
                                      <p:cBhvr>
                                        <p:cTn id="48" dur="1" fill="hold">
                                          <p:stCondLst>
                                            <p:cond delay="499"/>
                                          </p:stCondLst>
                                        </p:cTn>
                                        <p:tgtEl>
                                          <p:spTgt spid="63640"/>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63611"/>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63598"/>
                                        </p:tgtEl>
                                        <p:attrNameLst>
                                          <p:attrName>style.visibility</p:attrName>
                                        </p:attrNameLst>
                                      </p:cBhvr>
                                      <p:to>
                                        <p:strVal val="visible"/>
                                      </p:to>
                                    </p:set>
                                  </p:childTnLst>
                                </p:cTn>
                              </p:par>
                            </p:childTnLst>
                          </p:cTn>
                        </p:par>
                        <p:par>
                          <p:cTn id="57" fill="hold" nodeType="afterGroup">
                            <p:stCondLst>
                              <p:cond delay="500"/>
                            </p:stCondLst>
                            <p:childTnLst>
                              <p:par>
                                <p:cTn id="58" presetID="1" presetClass="exit" presetSubtype="0" fill="hold" nodeType="afterEffect">
                                  <p:stCondLst>
                                    <p:cond delay="0"/>
                                  </p:stCondLst>
                                  <p:childTnLst>
                                    <p:set>
                                      <p:cBhvr>
                                        <p:cTn id="59" dur="1" fill="hold">
                                          <p:stCondLst>
                                            <p:cond delay="499"/>
                                          </p:stCondLst>
                                        </p:cTn>
                                        <p:tgtEl>
                                          <p:spTgt spid="63611"/>
                                        </p:tgtEl>
                                        <p:attrNameLst>
                                          <p:attrName>style.visibility</p:attrName>
                                        </p:attrNameLst>
                                      </p:cBhvr>
                                      <p:to>
                                        <p:strVal val="hidden"/>
                                      </p:to>
                                    </p:set>
                                  </p:childTnLst>
                                </p:cTn>
                              </p:par>
                            </p:childTnLst>
                          </p:cTn>
                        </p:par>
                        <p:par>
                          <p:cTn id="60" fill="hold" nodeType="afterGroup">
                            <p:stCondLst>
                              <p:cond delay="1000"/>
                            </p:stCondLst>
                            <p:childTnLst>
                              <p:par>
                                <p:cTn id="61" presetID="1" presetClass="entr" presetSubtype="0" fill="hold" nodeType="afterEffect">
                                  <p:stCondLst>
                                    <p:cond delay="0"/>
                                  </p:stCondLst>
                                  <p:childTnLst>
                                    <p:set>
                                      <p:cBhvr>
                                        <p:cTn id="62" dur="1" fill="hold">
                                          <p:stCondLst>
                                            <p:cond delay="499"/>
                                          </p:stCondLst>
                                        </p:cTn>
                                        <p:tgtEl>
                                          <p:spTgt spid="63559"/>
                                        </p:tgtEl>
                                        <p:attrNameLst>
                                          <p:attrName>style.visibility</p:attrName>
                                        </p:attrNameLst>
                                      </p:cBhvr>
                                      <p:to>
                                        <p:strVal val="visible"/>
                                      </p:to>
                                    </p:set>
                                  </p:childTnLst>
                                </p:cTn>
                              </p:par>
                            </p:childTnLst>
                          </p:cTn>
                        </p:par>
                        <p:par>
                          <p:cTn id="63" fill="hold" nodeType="afterGroup">
                            <p:stCondLst>
                              <p:cond delay="1500"/>
                            </p:stCondLst>
                            <p:childTnLst>
                              <p:par>
                                <p:cTn id="64" presetID="1" presetClass="entr" presetSubtype="0" fill="hold" nodeType="afterEffect">
                                  <p:stCondLst>
                                    <p:cond delay="0"/>
                                  </p:stCondLst>
                                  <p:childTnLst>
                                    <p:set>
                                      <p:cBhvr>
                                        <p:cTn id="65" dur="1" fill="hold">
                                          <p:stCondLst>
                                            <p:cond delay="499"/>
                                          </p:stCondLst>
                                        </p:cTn>
                                        <p:tgtEl>
                                          <p:spTgt spid="63587"/>
                                        </p:tgtEl>
                                        <p:attrNameLst>
                                          <p:attrName>style.visibility</p:attrName>
                                        </p:attrNameLst>
                                      </p:cBhvr>
                                      <p:to>
                                        <p:strVal val="visible"/>
                                      </p:to>
                                    </p:set>
                                  </p:childTnLst>
                                </p:cTn>
                              </p:par>
                            </p:childTnLst>
                          </p:cTn>
                        </p:par>
                        <p:par>
                          <p:cTn id="66" fill="hold" nodeType="afterGroup">
                            <p:stCondLst>
                              <p:cond delay="2000"/>
                            </p:stCondLst>
                            <p:childTnLst>
                              <p:par>
                                <p:cTn id="67" presetID="1" presetClass="entr" presetSubtype="0" fill="hold" grpId="0" nodeType="afterEffect">
                                  <p:stCondLst>
                                    <p:cond delay="0"/>
                                  </p:stCondLst>
                                  <p:childTnLst>
                                    <p:set>
                                      <p:cBhvr>
                                        <p:cTn id="68" dur="1" fill="hold">
                                          <p:stCondLst>
                                            <p:cond delay="499"/>
                                          </p:stCondLst>
                                        </p:cTn>
                                        <p:tgtEl>
                                          <p:spTgt spid="6362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63618"/>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499"/>
                                          </p:stCondLst>
                                        </p:cTn>
                                        <p:tgtEl>
                                          <p:spTgt spid="63637"/>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63630"/>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636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19" grpId="0" autoUpdateAnimBg="0"/>
      <p:bldP spid="63620" grpId="0" autoUpdateAnimBg="0"/>
      <p:bldP spid="63622"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Shape 390"/>
          <p:cNvSpPr/>
          <p:nvPr/>
        </p:nvSpPr>
        <p:spPr>
          <a:xfrm>
            <a:off x="339329" y="5933345"/>
            <a:ext cx="7974211" cy="349126"/>
          </a:xfrm>
          <a:prstGeom prst="rect">
            <a:avLst/>
          </a:prstGeom>
          <a:ln w="12700">
            <a:miter lim="400000"/>
          </a:ln>
          <a:extLst>
            <a:ext uri="{C572A759-6A51-4108-AA02-DFA0A04FC94B}">
              <ma14:wrappingTextBoxFlag xmlns="" xmlns:ma14="http://schemas.microsoft.com/office/mac/drawingml/2011/main" val="1"/>
            </a:ext>
          </a:extLst>
        </p:spPr>
        <p:txBody>
          <a:bodyPr lIns="35715" tIns="35715" rIns="35715" bIns="35715" anchor="ctr">
            <a:spAutoFit/>
          </a:bodyPr>
          <a:lstStyle>
            <a:lvl1pPr defTabSz="584200">
              <a:defRPr sz="2400">
                <a:latin typeface="+mn-lt"/>
                <a:ea typeface="+mn-ea"/>
                <a:cs typeface="+mn-cs"/>
                <a:sym typeface="Gill Sans"/>
              </a:defRPr>
            </a:lvl1pPr>
          </a:lstStyle>
          <a:p>
            <a:pPr lvl="0">
              <a:defRPr sz="1800"/>
            </a:pPr>
            <a:r>
              <a:rPr dirty="0"/>
              <a:t>Distribution on     is also called the Griffiths-Engel-McCloskey (GEM) distribution.</a:t>
            </a:r>
          </a:p>
        </p:txBody>
      </p:sp>
      <p:sp>
        <p:nvSpPr>
          <p:cNvPr id="354" name="Shape 354"/>
          <p:cNvSpPr/>
          <p:nvPr/>
        </p:nvSpPr>
        <p:spPr>
          <a:xfrm flipH="1">
            <a:off x="428626" y="4402337"/>
            <a:ext cx="4582849" cy="1"/>
          </a:xfrm>
          <a:prstGeom prst="line">
            <a:avLst/>
          </a:prstGeom>
          <a:ln w="25400">
            <a:solidFill>
              <a:srgbClr val="E32400"/>
            </a:solidFill>
            <a:miter lim="400000"/>
          </a:ln>
        </p:spPr>
        <p:txBody>
          <a:bodyPr lIns="0" tIns="0" rIns="0" bIns="0" anchor="ctr"/>
          <a:lstStyle/>
          <a:p>
            <a:pPr lvl="0"/>
            <a:endParaRPr/>
          </a:p>
        </p:txBody>
      </p:sp>
      <p:sp>
        <p:nvSpPr>
          <p:cNvPr id="355" name="Shape 355"/>
          <p:cNvSpPr/>
          <p:nvPr/>
        </p:nvSpPr>
        <p:spPr>
          <a:xfrm flipH="1">
            <a:off x="428626" y="3866556"/>
            <a:ext cx="4850775" cy="1"/>
          </a:xfrm>
          <a:prstGeom prst="line">
            <a:avLst/>
          </a:prstGeom>
          <a:ln w="25400">
            <a:solidFill>
              <a:srgbClr val="E32400"/>
            </a:solidFill>
            <a:miter lim="400000"/>
          </a:ln>
        </p:spPr>
        <p:txBody>
          <a:bodyPr lIns="0" tIns="0" rIns="0" bIns="0" anchor="ctr"/>
          <a:lstStyle/>
          <a:p>
            <a:pPr lvl="0"/>
            <a:endParaRPr/>
          </a:p>
        </p:txBody>
      </p:sp>
      <p:sp>
        <p:nvSpPr>
          <p:cNvPr id="356" name="Shape 356"/>
          <p:cNvSpPr/>
          <p:nvPr/>
        </p:nvSpPr>
        <p:spPr>
          <a:xfrm>
            <a:off x="241103"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7" tIns="26787" rIns="26787" bIns="26787" anchor="ctr"/>
          <a:lstStyle>
            <a:lvl1pPr defTabSz="584200">
              <a:defRPr sz="5400">
                <a:latin typeface="+mn-lt"/>
                <a:ea typeface="+mn-ea"/>
                <a:cs typeface="+mn-cs"/>
                <a:sym typeface="Gill Sans"/>
              </a:defRPr>
            </a:lvl1pPr>
          </a:lstStyle>
          <a:p>
            <a:pPr lvl="0">
              <a:defRPr sz="1800"/>
            </a:pPr>
            <a:r>
              <a:rPr sz="3200" b="1" dirty="0"/>
              <a:t>Stick-breaking for the CRP and IBP</a:t>
            </a:r>
          </a:p>
        </p:txBody>
      </p:sp>
      <p:pic>
        <p:nvPicPr>
          <p:cNvPr id="357" name="droppedImage.pdf"/>
          <p:cNvPicPr/>
          <p:nvPr/>
        </p:nvPicPr>
        <p:blipFill>
          <a:blip r:embed="rId2"/>
          <a:stretch>
            <a:fillRect/>
          </a:stretch>
        </p:blipFill>
        <p:spPr>
          <a:xfrm>
            <a:off x="875109" y="1687711"/>
            <a:ext cx="6340078" cy="642938"/>
          </a:xfrm>
          <a:prstGeom prst="rect">
            <a:avLst/>
          </a:prstGeom>
          <a:ln w="12700">
            <a:miter lim="400000"/>
          </a:ln>
        </p:spPr>
      </p:pic>
      <p:sp>
        <p:nvSpPr>
          <p:cNvPr id="358" name="Shape 358"/>
          <p:cNvSpPr/>
          <p:nvPr/>
        </p:nvSpPr>
        <p:spPr>
          <a:xfrm>
            <a:off x="3957612" y="1450642"/>
            <a:ext cx="439791"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u="sng">
                <a:latin typeface="+mn-lt"/>
                <a:ea typeface="+mn-ea"/>
                <a:cs typeface="+mn-cs"/>
                <a:sym typeface="Gill Sans"/>
              </a:defRPr>
            </a:lvl1pPr>
          </a:lstStyle>
          <a:p>
            <a:pPr lvl="0">
              <a:defRPr sz="1800" u="none"/>
            </a:pPr>
            <a:r>
              <a:t>CRP</a:t>
            </a:r>
          </a:p>
        </p:txBody>
      </p:sp>
      <p:sp>
        <p:nvSpPr>
          <p:cNvPr id="359" name="Shape 359"/>
          <p:cNvSpPr/>
          <p:nvPr/>
        </p:nvSpPr>
        <p:spPr>
          <a:xfrm>
            <a:off x="6396859" y="1450642"/>
            <a:ext cx="375095"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u="sng">
                <a:latin typeface="+mn-lt"/>
                <a:ea typeface="+mn-ea"/>
                <a:cs typeface="+mn-cs"/>
                <a:sym typeface="Gill Sans"/>
              </a:defRPr>
            </a:lvl1pPr>
          </a:lstStyle>
          <a:p>
            <a:pPr lvl="0">
              <a:defRPr sz="1800" u="none"/>
            </a:pPr>
            <a:r>
              <a:t>IBP</a:t>
            </a:r>
          </a:p>
        </p:txBody>
      </p:sp>
      <p:sp>
        <p:nvSpPr>
          <p:cNvPr id="360" name="Shape 360"/>
          <p:cNvSpPr/>
          <p:nvPr/>
        </p:nvSpPr>
        <p:spPr>
          <a:xfrm>
            <a:off x="5947172" y="1473398"/>
            <a:ext cx="1303734" cy="892969"/>
          </a:xfrm>
          <a:prstGeom prst="rect">
            <a:avLst/>
          </a:prstGeom>
          <a:ln w="38100">
            <a:solidFill>
              <a:srgbClr val="0061FF"/>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61" name="Shape 361"/>
          <p:cNvSpPr/>
          <p:nvPr/>
        </p:nvSpPr>
        <p:spPr>
          <a:xfrm>
            <a:off x="3205759" y="1473398"/>
            <a:ext cx="1928813" cy="892969"/>
          </a:xfrm>
          <a:prstGeom prst="rect">
            <a:avLst/>
          </a:prstGeom>
          <a:ln w="38100">
            <a:solidFill>
              <a:srgbClr val="E32400"/>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62" name="Shape 362"/>
          <p:cNvSpPr/>
          <p:nvPr/>
        </p:nvSpPr>
        <p:spPr>
          <a:xfrm>
            <a:off x="108093" y="1022017"/>
            <a:ext cx="8674471" cy="349126"/>
          </a:xfrm>
          <a:prstGeom prst="rect">
            <a:avLst/>
          </a:prstGeom>
          <a:ln w="12700">
            <a:miter lim="400000"/>
          </a:ln>
          <a:extLst>
            <a:ext uri="{C572A759-6A51-4108-AA02-DFA0A04FC94B}">
              <ma14:wrappingTextBoxFlag xmlns="" xmlns:ma14="http://schemas.microsoft.com/office/mac/drawingml/2011/main" val="1"/>
            </a:ext>
          </a:extLst>
        </p:spPr>
        <p:txBody>
          <a:bodyPr wrap="square" lIns="35715" tIns="35715" rIns="35715" bIns="35715" anchor="ctr">
            <a:spAutoFit/>
          </a:bodyPr>
          <a:lstStyle>
            <a:lvl1pPr defTabSz="584200">
              <a:defRPr sz="2400">
                <a:latin typeface="+mn-lt"/>
                <a:ea typeface="+mn-ea"/>
                <a:cs typeface="+mn-cs"/>
                <a:sym typeface="Gill Sans"/>
              </a:defRPr>
            </a:lvl1pPr>
          </a:lstStyle>
          <a:p>
            <a:pPr lvl="0">
              <a:defRPr sz="1800"/>
            </a:pPr>
            <a:r>
              <a:rPr dirty="0"/>
              <a:t>A process that generates the CRP and IBP, but does not integrate out the latent weights:</a:t>
            </a:r>
          </a:p>
        </p:txBody>
      </p:sp>
      <p:sp>
        <p:nvSpPr>
          <p:cNvPr id="363" name="Shape 363"/>
          <p:cNvSpPr/>
          <p:nvPr/>
        </p:nvSpPr>
        <p:spPr>
          <a:xfrm flipH="1">
            <a:off x="428624" y="2884289"/>
            <a:ext cx="7938546" cy="2"/>
          </a:xfrm>
          <a:prstGeom prst="line">
            <a:avLst/>
          </a:prstGeom>
          <a:ln w="38100">
            <a:solidFill/>
            <a:miter lim="400000"/>
          </a:ln>
        </p:spPr>
        <p:txBody>
          <a:bodyPr lIns="0" tIns="0" rIns="0" bIns="0"/>
          <a:lstStyle/>
          <a:p>
            <a:pPr lvl="0"/>
            <a:endParaRPr/>
          </a:p>
        </p:txBody>
      </p:sp>
      <p:sp>
        <p:nvSpPr>
          <p:cNvPr id="364" name="Shape 364"/>
          <p:cNvSpPr/>
          <p:nvPr/>
        </p:nvSpPr>
        <p:spPr>
          <a:xfrm>
            <a:off x="386056" y="2548531"/>
            <a:ext cx="189122"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a:latin typeface="+mn-lt"/>
                <a:ea typeface="+mn-ea"/>
                <a:cs typeface="+mn-cs"/>
                <a:sym typeface="Gill Sans"/>
              </a:defRPr>
            </a:lvl1pPr>
          </a:lstStyle>
          <a:p>
            <a:pPr lvl="0">
              <a:defRPr sz="1800"/>
            </a:pPr>
            <a:r>
              <a:rPr dirty="0"/>
              <a:t>0</a:t>
            </a:r>
          </a:p>
        </p:txBody>
      </p:sp>
      <p:sp>
        <p:nvSpPr>
          <p:cNvPr id="365" name="Shape 365"/>
          <p:cNvSpPr/>
          <p:nvPr/>
        </p:nvSpPr>
        <p:spPr>
          <a:xfrm>
            <a:off x="8259161" y="2548531"/>
            <a:ext cx="189122"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a:latin typeface="+mn-lt"/>
                <a:ea typeface="+mn-ea"/>
                <a:cs typeface="+mn-cs"/>
                <a:sym typeface="Gill Sans"/>
              </a:defRPr>
            </a:lvl1pPr>
          </a:lstStyle>
          <a:p>
            <a:pPr lvl="0">
              <a:defRPr sz="1800"/>
            </a:pPr>
            <a:r>
              <a:t>1</a:t>
            </a:r>
          </a:p>
        </p:txBody>
      </p:sp>
      <p:pic>
        <p:nvPicPr>
          <p:cNvPr id="366" name="droppedImage.pdf"/>
          <p:cNvPicPr/>
          <p:nvPr/>
        </p:nvPicPr>
        <p:blipFill>
          <a:blip r:embed="rId3"/>
          <a:stretch>
            <a:fillRect/>
          </a:stretch>
        </p:blipFill>
        <p:spPr>
          <a:xfrm>
            <a:off x="5206008" y="2571750"/>
            <a:ext cx="178594" cy="133945"/>
          </a:xfrm>
          <a:prstGeom prst="rect">
            <a:avLst/>
          </a:prstGeom>
          <a:ln w="12700">
            <a:miter lim="400000"/>
          </a:ln>
        </p:spPr>
      </p:pic>
      <p:pic>
        <p:nvPicPr>
          <p:cNvPr id="367" name="droppedImage.pdf"/>
          <p:cNvPicPr/>
          <p:nvPr/>
        </p:nvPicPr>
        <p:blipFill>
          <a:blip r:embed="rId4"/>
          <a:stretch>
            <a:fillRect/>
          </a:stretch>
        </p:blipFill>
        <p:spPr>
          <a:xfrm>
            <a:off x="6732984" y="3071813"/>
            <a:ext cx="169664" cy="196453"/>
          </a:xfrm>
          <a:prstGeom prst="rect">
            <a:avLst/>
          </a:prstGeom>
          <a:ln w="12700">
            <a:miter lim="400000"/>
          </a:ln>
        </p:spPr>
      </p:pic>
      <p:pic>
        <p:nvPicPr>
          <p:cNvPr id="368" name="droppedImage.pdf"/>
          <p:cNvPicPr/>
          <p:nvPr/>
        </p:nvPicPr>
        <p:blipFill>
          <a:blip r:embed="rId5"/>
          <a:stretch>
            <a:fillRect/>
          </a:stretch>
        </p:blipFill>
        <p:spPr>
          <a:xfrm>
            <a:off x="5080992" y="3634384"/>
            <a:ext cx="169664" cy="196453"/>
          </a:xfrm>
          <a:prstGeom prst="rect">
            <a:avLst/>
          </a:prstGeom>
          <a:ln w="12700">
            <a:miter lim="400000"/>
          </a:ln>
        </p:spPr>
      </p:pic>
      <p:pic>
        <p:nvPicPr>
          <p:cNvPr id="369" name="droppedImage.pdf"/>
          <p:cNvPicPr/>
          <p:nvPr/>
        </p:nvPicPr>
        <p:blipFill>
          <a:blip r:embed="rId6"/>
          <a:stretch>
            <a:fillRect/>
          </a:stretch>
        </p:blipFill>
        <p:spPr>
          <a:xfrm>
            <a:off x="4259461" y="4161234"/>
            <a:ext cx="169664" cy="196453"/>
          </a:xfrm>
          <a:prstGeom prst="rect">
            <a:avLst/>
          </a:prstGeom>
          <a:ln w="12700">
            <a:miter lim="400000"/>
          </a:ln>
        </p:spPr>
      </p:pic>
      <p:pic>
        <p:nvPicPr>
          <p:cNvPr id="370" name="droppedImage.pdf"/>
          <p:cNvPicPr/>
          <p:nvPr/>
        </p:nvPicPr>
        <p:blipFill>
          <a:blip r:embed="rId7"/>
          <a:stretch>
            <a:fillRect/>
          </a:stretch>
        </p:blipFill>
        <p:spPr>
          <a:xfrm>
            <a:off x="2669977" y="3134320"/>
            <a:ext cx="196453" cy="133945"/>
          </a:xfrm>
          <a:prstGeom prst="rect">
            <a:avLst/>
          </a:prstGeom>
          <a:ln w="12700">
            <a:miter lim="400000"/>
          </a:ln>
        </p:spPr>
      </p:pic>
      <p:pic>
        <p:nvPicPr>
          <p:cNvPr id="371" name="droppedImage.pdf"/>
          <p:cNvPicPr/>
          <p:nvPr/>
        </p:nvPicPr>
        <p:blipFill>
          <a:blip r:embed="rId8"/>
          <a:stretch>
            <a:fillRect/>
          </a:stretch>
        </p:blipFill>
        <p:spPr>
          <a:xfrm>
            <a:off x="2393156" y="3696891"/>
            <a:ext cx="205383" cy="133945"/>
          </a:xfrm>
          <a:prstGeom prst="rect">
            <a:avLst/>
          </a:prstGeom>
          <a:ln w="12700">
            <a:miter lim="400000"/>
          </a:ln>
        </p:spPr>
      </p:pic>
      <p:pic>
        <p:nvPicPr>
          <p:cNvPr id="372" name="droppedImage.pdf"/>
          <p:cNvPicPr/>
          <p:nvPr/>
        </p:nvPicPr>
        <p:blipFill>
          <a:blip r:embed="rId9"/>
          <a:stretch>
            <a:fillRect/>
          </a:stretch>
        </p:blipFill>
        <p:spPr>
          <a:xfrm>
            <a:off x="1830587" y="4214813"/>
            <a:ext cx="205383" cy="142875"/>
          </a:xfrm>
          <a:prstGeom prst="rect">
            <a:avLst/>
          </a:prstGeom>
          <a:ln w="12700">
            <a:miter lim="400000"/>
          </a:ln>
        </p:spPr>
      </p:pic>
      <p:sp>
        <p:nvSpPr>
          <p:cNvPr id="373" name="Shape 373"/>
          <p:cNvSpPr/>
          <p:nvPr/>
        </p:nvSpPr>
        <p:spPr>
          <a:xfrm>
            <a:off x="5286375" y="2747391"/>
            <a:ext cx="0" cy="641601"/>
          </a:xfrm>
          <a:prstGeom prst="line">
            <a:avLst/>
          </a:prstGeom>
          <a:ln w="25400">
            <a:solidFill/>
            <a:miter lim="400000"/>
          </a:ln>
        </p:spPr>
        <p:txBody>
          <a:bodyPr lIns="35715" tIns="35715" rIns="35715" bIns="35715" anchor="ctr"/>
          <a:lstStyle/>
          <a:p>
            <a:pPr lvl="0"/>
            <a:endParaRPr/>
          </a:p>
        </p:txBody>
      </p:sp>
      <p:sp>
        <p:nvSpPr>
          <p:cNvPr id="374" name="Shape 374"/>
          <p:cNvSpPr/>
          <p:nvPr/>
        </p:nvSpPr>
        <p:spPr>
          <a:xfrm flipH="1">
            <a:off x="428626" y="3330775"/>
            <a:ext cx="7938546" cy="1"/>
          </a:xfrm>
          <a:prstGeom prst="line">
            <a:avLst/>
          </a:prstGeom>
          <a:ln w="25400">
            <a:solidFill>
              <a:srgbClr val="E32400"/>
            </a:solidFill>
            <a:miter lim="400000"/>
          </a:ln>
        </p:spPr>
        <p:txBody>
          <a:bodyPr lIns="0" tIns="0" rIns="0" bIns="0" anchor="ctr"/>
          <a:lstStyle/>
          <a:p>
            <a:pPr lvl="0"/>
            <a:endParaRPr/>
          </a:p>
        </p:txBody>
      </p:sp>
      <p:sp>
        <p:nvSpPr>
          <p:cNvPr id="375" name="Shape 375"/>
          <p:cNvSpPr/>
          <p:nvPr/>
        </p:nvSpPr>
        <p:spPr>
          <a:xfrm flipH="1">
            <a:off x="428626" y="3330775"/>
            <a:ext cx="4850775" cy="2"/>
          </a:xfrm>
          <a:prstGeom prst="line">
            <a:avLst/>
          </a:prstGeom>
          <a:ln w="25400">
            <a:solidFill>
              <a:srgbClr val="0061FF"/>
            </a:solidFill>
            <a:miter lim="400000"/>
          </a:ln>
        </p:spPr>
        <p:txBody>
          <a:bodyPr lIns="0" tIns="0" rIns="0" bIns="0" anchor="ctr"/>
          <a:lstStyle/>
          <a:p>
            <a:pPr lvl="0"/>
            <a:endParaRPr/>
          </a:p>
        </p:txBody>
      </p:sp>
      <p:sp>
        <p:nvSpPr>
          <p:cNvPr id="376" name="Shape 376"/>
          <p:cNvSpPr/>
          <p:nvPr/>
        </p:nvSpPr>
        <p:spPr>
          <a:xfrm flipH="1">
            <a:off x="428626" y="3866557"/>
            <a:ext cx="4582849" cy="1"/>
          </a:xfrm>
          <a:prstGeom prst="line">
            <a:avLst/>
          </a:prstGeom>
          <a:ln w="25400">
            <a:solidFill>
              <a:srgbClr val="0061FF"/>
            </a:solidFill>
            <a:miter lim="400000"/>
          </a:ln>
        </p:spPr>
        <p:txBody>
          <a:bodyPr lIns="0" tIns="0" rIns="0" bIns="0" anchor="ctr"/>
          <a:lstStyle/>
          <a:p>
            <a:pPr lvl="0"/>
            <a:endParaRPr/>
          </a:p>
        </p:txBody>
      </p:sp>
      <p:sp>
        <p:nvSpPr>
          <p:cNvPr id="377" name="Shape 377"/>
          <p:cNvSpPr/>
          <p:nvPr/>
        </p:nvSpPr>
        <p:spPr>
          <a:xfrm>
            <a:off x="5018484" y="3554016"/>
            <a:ext cx="0" cy="641600"/>
          </a:xfrm>
          <a:prstGeom prst="line">
            <a:avLst/>
          </a:prstGeom>
          <a:ln w="25400">
            <a:solidFill/>
            <a:miter lim="400000"/>
          </a:ln>
        </p:spPr>
        <p:txBody>
          <a:bodyPr lIns="35715" tIns="35715" rIns="35715" bIns="35715" anchor="ctr"/>
          <a:lstStyle/>
          <a:p>
            <a:pPr lvl="0"/>
            <a:endParaRPr/>
          </a:p>
        </p:txBody>
      </p:sp>
      <p:sp>
        <p:nvSpPr>
          <p:cNvPr id="378" name="Shape 378"/>
          <p:cNvSpPr/>
          <p:nvPr/>
        </p:nvSpPr>
        <p:spPr>
          <a:xfrm flipH="1">
            <a:off x="428624" y="4402337"/>
            <a:ext cx="3252258" cy="1"/>
          </a:xfrm>
          <a:prstGeom prst="line">
            <a:avLst/>
          </a:prstGeom>
          <a:ln w="25400">
            <a:solidFill>
              <a:srgbClr val="0061FF"/>
            </a:solidFill>
            <a:miter lim="400000"/>
          </a:ln>
        </p:spPr>
        <p:txBody>
          <a:bodyPr lIns="0" tIns="0" rIns="0" bIns="0" anchor="ctr"/>
          <a:lstStyle/>
          <a:p>
            <a:pPr lvl="0"/>
            <a:endParaRPr/>
          </a:p>
        </p:txBody>
      </p:sp>
      <p:sp>
        <p:nvSpPr>
          <p:cNvPr id="379" name="Shape 379"/>
          <p:cNvSpPr/>
          <p:nvPr/>
        </p:nvSpPr>
        <p:spPr>
          <a:xfrm>
            <a:off x="3679031" y="4089797"/>
            <a:ext cx="0" cy="641600"/>
          </a:xfrm>
          <a:prstGeom prst="line">
            <a:avLst/>
          </a:prstGeom>
          <a:ln w="25400">
            <a:solidFill/>
            <a:miter lim="400000"/>
          </a:ln>
        </p:spPr>
        <p:txBody>
          <a:bodyPr lIns="35715" tIns="35715" rIns="35715" bIns="35715" anchor="ctr"/>
          <a:lstStyle/>
          <a:p>
            <a:pPr lvl="0"/>
            <a:endParaRPr/>
          </a:p>
        </p:txBody>
      </p:sp>
      <p:pic>
        <p:nvPicPr>
          <p:cNvPr id="380" name="droppedImage.pdf"/>
          <p:cNvPicPr/>
          <p:nvPr/>
        </p:nvPicPr>
        <p:blipFill>
          <a:blip r:embed="rId10"/>
          <a:stretch>
            <a:fillRect/>
          </a:stretch>
        </p:blipFill>
        <p:spPr>
          <a:xfrm>
            <a:off x="1964531" y="4795242"/>
            <a:ext cx="26789" cy="196453"/>
          </a:xfrm>
          <a:prstGeom prst="rect">
            <a:avLst/>
          </a:prstGeom>
          <a:ln w="12700">
            <a:miter lim="400000"/>
          </a:ln>
        </p:spPr>
      </p:pic>
      <p:grpSp>
        <p:nvGrpSpPr>
          <p:cNvPr id="385" name="Group 385"/>
          <p:cNvGrpSpPr/>
          <p:nvPr/>
        </p:nvGrpSpPr>
        <p:grpSpPr>
          <a:xfrm>
            <a:off x="339329" y="5382331"/>
            <a:ext cx="7974211" cy="379591"/>
            <a:chOff x="0" y="-41330"/>
            <a:chExt cx="11341100" cy="539862"/>
          </a:xfrm>
        </p:grpSpPr>
        <p:sp>
          <p:nvSpPr>
            <p:cNvPr id="381" name="Shape 381"/>
            <p:cNvSpPr/>
            <p:nvPr/>
          </p:nvSpPr>
          <p:spPr>
            <a:xfrm>
              <a:off x="0" y="-41330"/>
              <a:ext cx="11341100" cy="5398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t>Although     is strictly decreasing,      is not (in the example,              )!</a:t>
              </a:r>
            </a:p>
          </p:txBody>
        </p:sp>
        <p:pic>
          <p:nvPicPr>
            <p:cNvPr id="382" name="droppedImage.pdf"/>
            <p:cNvPicPr/>
            <p:nvPr/>
          </p:nvPicPr>
          <p:blipFill>
            <a:blip r:embed="rId11"/>
            <a:stretch>
              <a:fillRect/>
            </a:stretch>
          </p:blipFill>
          <p:spPr>
            <a:xfrm>
              <a:off x="1353051" y="140029"/>
              <a:ext cx="177801" cy="241300"/>
            </a:xfrm>
            <a:prstGeom prst="rect">
              <a:avLst/>
            </a:prstGeom>
            <a:ln w="12700" cap="flat">
              <a:noFill/>
              <a:miter lim="400000"/>
            </a:ln>
            <a:effectLst/>
          </p:spPr>
        </p:pic>
        <p:pic>
          <p:nvPicPr>
            <p:cNvPr id="383" name="droppedImage.pdf"/>
            <p:cNvPicPr/>
            <p:nvPr/>
          </p:nvPicPr>
          <p:blipFill>
            <a:blip r:embed="rId12"/>
            <a:stretch>
              <a:fillRect/>
            </a:stretch>
          </p:blipFill>
          <p:spPr>
            <a:xfrm>
              <a:off x="4522537" y="95742"/>
              <a:ext cx="190500" cy="304800"/>
            </a:xfrm>
            <a:prstGeom prst="rect">
              <a:avLst/>
            </a:prstGeom>
            <a:ln w="12700" cap="flat">
              <a:noFill/>
              <a:miter lim="400000"/>
            </a:ln>
            <a:effectLst/>
          </p:spPr>
        </p:pic>
        <p:pic>
          <p:nvPicPr>
            <p:cNvPr id="384" name="droppedImage.pdf"/>
            <p:cNvPicPr/>
            <p:nvPr/>
          </p:nvPicPr>
          <p:blipFill>
            <a:blip r:embed="rId13"/>
            <a:stretch>
              <a:fillRect/>
            </a:stretch>
          </p:blipFill>
          <p:spPr>
            <a:xfrm>
              <a:off x="7838239" y="133513"/>
              <a:ext cx="939800" cy="279399"/>
            </a:xfrm>
            <a:prstGeom prst="rect">
              <a:avLst/>
            </a:prstGeom>
            <a:ln w="12700" cap="flat">
              <a:noFill/>
              <a:miter lim="400000"/>
            </a:ln>
            <a:effectLst/>
          </p:spPr>
        </p:pic>
      </p:grpSp>
      <p:sp>
        <p:nvSpPr>
          <p:cNvPr id="386" name="Shape 386"/>
          <p:cNvSpPr/>
          <p:nvPr/>
        </p:nvSpPr>
        <p:spPr>
          <a:xfrm>
            <a:off x="5714472" y="6513773"/>
            <a:ext cx="3376480"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1800">
                <a:latin typeface="+mn-lt"/>
                <a:ea typeface="+mn-ea"/>
                <a:cs typeface="+mn-cs"/>
                <a:sym typeface="Gill Sans"/>
              </a:defRPr>
            </a:lvl1pPr>
          </a:lstStyle>
          <a:p>
            <a:pPr lvl="0"/>
            <a:r>
              <a:t>McCloskey (1965), Teh et al. (2007) </a:t>
            </a:r>
          </a:p>
        </p:txBody>
      </p:sp>
      <p:sp>
        <p:nvSpPr>
          <p:cNvPr id="387" name="Shape 387"/>
          <p:cNvSpPr/>
          <p:nvPr/>
        </p:nvSpPr>
        <p:spPr>
          <a:xfrm>
            <a:off x="285751" y="3420070"/>
            <a:ext cx="5170289" cy="803672"/>
          </a:xfrm>
          <a:prstGeom prst="rect">
            <a:avLst/>
          </a:prstGeom>
          <a:solidFill>
            <a:srgbClr val="FFFFFF"/>
          </a:solidFill>
          <a:ln w="25400">
            <a:solidFill>
              <a:srgbClr val="000000">
                <a:alpha val="0"/>
              </a:srgbClr>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88" name="Shape 388"/>
          <p:cNvSpPr/>
          <p:nvPr/>
        </p:nvSpPr>
        <p:spPr>
          <a:xfrm>
            <a:off x="285751" y="3973712"/>
            <a:ext cx="5170289" cy="1178719"/>
          </a:xfrm>
          <a:prstGeom prst="rect">
            <a:avLst/>
          </a:prstGeom>
          <a:solidFill>
            <a:srgbClr val="FFFFFF"/>
          </a:solidFill>
          <a:ln w="25400">
            <a:solidFill>
              <a:srgbClr val="000000">
                <a:alpha val="0"/>
              </a:srgbClr>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389" name="droppedImage.pdf"/>
          <p:cNvPicPr/>
          <p:nvPr/>
        </p:nvPicPr>
        <p:blipFill>
          <a:blip r:embed="rId12"/>
          <a:stretch>
            <a:fillRect/>
          </a:stretch>
        </p:blipFill>
        <p:spPr>
          <a:xfrm>
            <a:off x="1830822" y="5982891"/>
            <a:ext cx="133945" cy="214313"/>
          </a:xfrm>
          <a:prstGeom prst="rect">
            <a:avLst/>
          </a:prstGeom>
          <a:ln w="12700">
            <a:miter lim="400000"/>
          </a:ln>
        </p:spPr>
      </p:pic>
    </p:spTree>
    <p:extLst>
      <p:ext uri="{BB962C8B-B14F-4D97-AF65-F5344CB8AC3E}">
        <p14:creationId xmlns:p14="http://schemas.microsoft.com/office/powerpoint/2010/main" val="344545791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iterate>
                                    <p:tmAbs val="0"/>
                                  </p:iterate>
                                  <p:childTnLst>
                                    <p:set>
                                      <p:cBhvr>
                                        <p:cTn id="6" fill="hold">
                                          <p:stCondLst>
                                            <p:cond delay="0"/>
                                          </p:stCondLst>
                                        </p:cTn>
                                        <p:tgtEl>
                                          <p:spTgt spid="38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iterate>
                                    <p:tmAbs val="0"/>
                                  </p:iterate>
                                  <p:childTnLst>
                                    <p:set>
                                      <p:cBhvr>
                                        <p:cTn id="10" fill="hold">
                                          <p:stCondLst>
                                            <p:cond delay="0"/>
                                          </p:stCondLst>
                                        </p:cTn>
                                        <p:tgtEl>
                                          <p:spTgt spid="38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 grpId="0" animBg="1" advAuto="0"/>
      <p:bldP spid="387" grpId="0" animBg="1" advAuto="0"/>
      <p:bldP spid="388" grpId="0" animBg="1" advAuto="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242"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1258"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766"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2242"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1258"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766"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7"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1750"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8"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2242"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9"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1258"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766"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1"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1750"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2"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52242"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3"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1258"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4"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0766" y="651867"/>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4465" name="Rectangle 17"/>
          <p:cNvSpPr>
            <a:spLocks/>
          </p:cNvSpPr>
          <p:nvPr/>
        </p:nvSpPr>
        <p:spPr bwMode="auto">
          <a:xfrm>
            <a:off x="1706687" y="191616"/>
            <a:ext cx="1496867"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solidFill>
                  <a:srgbClr val="0077AE"/>
                </a:solidFill>
                <a:latin typeface="Helvetica"/>
                <a:ea typeface="ＭＳ Ｐゴシック" charset="0"/>
                <a:cs typeface="Helvetica"/>
              </a:rPr>
              <a:t>Correlated</a:t>
            </a:r>
          </a:p>
        </p:txBody>
      </p:sp>
      <p:sp>
        <p:nvSpPr>
          <p:cNvPr id="104466" name="Line 18"/>
          <p:cNvSpPr>
            <a:spLocks noChangeShapeType="1"/>
          </p:cNvSpPr>
          <p:nvPr/>
        </p:nvSpPr>
        <p:spPr bwMode="auto">
          <a:xfrm rot="10800000">
            <a:off x="4824264" y="1866305"/>
            <a:ext cx="760140"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04468" name="Group 50"/>
          <p:cNvGrpSpPr>
            <a:grpSpLocks/>
          </p:cNvGrpSpPr>
          <p:nvPr/>
        </p:nvGrpSpPr>
        <p:grpSpPr bwMode="auto">
          <a:xfrm>
            <a:off x="6438305" y="1285875"/>
            <a:ext cx="2143125" cy="1160859"/>
            <a:chOff x="0" y="0"/>
            <a:chExt cx="1920" cy="1040"/>
          </a:xfrm>
        </p:grpSpPr>
        <p:pic>
          <p:nvPicPr>
            <p:cNvPr id="104481" name="Picture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2" name="Picture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3" name="Picture 4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4" name="Picture 4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2"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69" name="Rectangle 51"/>
          <p:cNvSpPr>
            <a:spLocks/>
          </p:cNvSpPr>
          <p:nvPr/>
        </p:nvSpPr>
        <p:spPr bwMode="auto">
          <a:xfrm>
            <a:off x="6003094" y="604909"/>
            <a:ext cx="3059325"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latin typeface="Helvetica"/>
                <a:ea typeface="ＭＳ Ｐゴシック" charset="0"/>
                <a:cs typeface="Helvetica"/>
              </a:rPr>
              <a:t>IBP Inferred Features</a:t>
            </a:r>
          </a:p>
        </p:txBody>
      </p:sp>
      <p:sp>
        <p:nvSpPr>
          <p:cNvPr id="104471" name="Rectangle 57"/>
          <p:cNvSpPr>
            <a:spLocks/>
          </p:cNvSpPr>
          <p:nvPr/>
        </p:nvSpPr>
        <p:spPr bwMode="auto">
          <a:xfrm>
            <a:off x="6895951" y="6535619"/>
            <a:ext cx="2156524"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1400">
                <a:ea typeface="ＭＳ Ｐゴシック" charset="0"/>
                <a:cs typeface="ＭＳ Ｐゴシック" charset="0"/>
              </a:rPr>
              <a:t>Austerweil &amp; Griffiths (2011)</a:t>
            </a:r>
          </a:p>
        </p:txBody>
      </p:sp>
      <p:sp>
        <p:nvSpPr>
          <p:cNvPr id="64" name="Rectangle 63"/>
          <p:cNvSpPr/>
          <p:nvPr/>
        </p:nvSpPr>
        <p:spPr>
          <a:xfrm>
            <a:off x="366141" y="567335"/>
            <a:ext cx="919575" cy="2783138"/>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p:cNvSpPr/>
          <p:nvPr/>
        </p:nvSpPr>
        <p:spPr>
          <a:xfrm>
            <a:off x="1464493" y="567335"/>
            <a:ext cx="919575" cy="2783138"/>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2553914" y="567335"/>
            <a:ext cx="919575" cy="27831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p:nvPr/>
        </p:nvSpPr>
        <p:spPr>
          <a:xfrm>
            <a:off x="3610937" y="567335"/>
            <a:ext cx="919575" cy="2783138"/>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angle 67"/>
          <p:cNvSpPr/>
          <p:nvPr/>
        </p:nvSpPr>
        <p:spPr>
          <a:xfrm>
            <a:off x="7533537" y="1896963"/>
            <a:ext cx="1035844" cy="64353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7545587" y="1147465"/>
            <a:ext cx="1035844" cy="64353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ectangle 69"/>
          <p:cNvSpPr/>
          <p:nvPr/>
        </p:nvSpPr>
        <p:spPr>
          <a:xfrm>
            <a:off x="6438306" y="1160264"/>
            <a:ext cx="1035844" cy="64353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6438306" y="1928812"/>
            <a:ext cx="1035844" cy="64353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 name="Group 1"/>
          <p:cNvGrpSpPr/>
          <p:nvPr/>
        </p:nvGrpSpPr>
        <p:grpSpPr>
          <a:xfrm>
            <a:off x="410766" y="3638847"/>
            <a:ext cx="8170664" cy="2911079"/>
            <a:chOff x="410766" y="3638847"/>
            <a:chExt cx="8170664" cy="2911079"/>
          </a:xfrm>
        </p:grpSpPr>
        <p:grpSp>
          <p:nvGrpSpPr>
            <p:cNvPr id="66605" name="Group 45"/>
            <p:cNvGrpSpPr>
              <a:grpSpLocks/>
            </p:cNvGrpSpPr>
            <p:nvPr/>
          </p:nvGrpSpPr>
          <p:grpSpPr bwMode="auto">
            <a:xfrm>
              <a:off x="410766" y="3638847"/>
              <a:ext cx="8170664" cy="2911079"/>
              <a:chOff x="0" y="16"/>
              <a:chExt cx="7320" cy="2608"/>
            </a:xfrm>
          </p:grpSpPr>
          <p:grpSp>
            <p:nvGrpSpPr>
              <p:cNvPr id="104485" name="Group 36"/>
              <p:cNvGrpSpPr>
                <a:grpSpLocks/>
              </p:cNvGrpSpPr>
              <p:nvPr/>
            </p:nvGrpSpPr>
            <p:grpSpPr bwMode="auto">
              <a:xfrm>
                <a:off x="0" y="16"/>
                <a:ext cx="3680" cy="2608"/>
                <a:chOff x="0" y="16"/>
                <a:chExt cx="3680" cy="2608"/>
              </a:xfrm>
            </p:grpSpPr>
            <p:sp>
              <p:nvSpPr>
                <p:cNvPr id="104494" name="Rectangle 19"/>
                <p:cNvSpPr>
                  <a:spLocks/>
                </p:cNvSpPr>
                <p:nvPr/>
              </p:nvSpPr>
              <p:spPr bwMode="auto">
                <a:xfrm>
                  <a:off x="1087" y="16"/>
                  <a:ext cx="1597" cy="3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solidFill>
                        <a:srgbClr val="B200CB"/>
                      </a:solidFill>
                      <a:latin typeface="Helvetica"/>
                      <a:ea typeface="ＭＳ Ｐゴシック" charset="0"/>
                      <a:cs typeface="Helvetica"/>
                    </a:rPr>
                    <a:t>Independent</a:t>
                  </a:r>
                </a:p>
              </p:txBody>
            </p:sp>
            <p:pic>
              <p:nvPicPr>
                <p:cNvPr id="104495" name="Picture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84"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6" name="Picture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68"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7" name="Picture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8" name="Picture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9" name="Picture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84"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0" name="Picture 2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0"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1" name="Picture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12"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2" name="Picture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84"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3" name="Picture 2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68"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4" name="Picture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912"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5" name="Picture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6" name="Picture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36"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7"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8" name="Picture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04"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9" name="Picture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12"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10" name="Picture 3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968"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86" name="Line 37"/>
              <p:cNvSpPr>
                <a:spLocks noChangeShapeType="1"/>
              </p:cNvSpPr>
              <p:nvPr/>
            </p:nvSpPr>
            <p:spPr bwMode="auto">
              <a:xfrm rot="10800000">
                <a:off x="3954" y="1556"/>
                <a:ext cx="681"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04487" name="Group 44"/>
              <p:cNvGrpSpPr>
                <a:grpSpLocks/>
              </p:cNvGrpSpPr>
              <p:nvPr/>
            </p:nvGrpSpPr>
            <p:grpSpPr bwMode="auto">
              <a:xfrm>
                <a:off x="5400" y="740"/>
                <a:ext cx="1920" cy="1632"/>
                <a:chOff x="0" y="0"/>
                <a:chExt cx="1920" cy="1632"/>
              </a:xfrm>
            </p:grpSpPr>
            <p:pic>
              <p:nvPicPr>
                <p:cNvPr id="104488" name="Picture 3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9" name="Picture 3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0" name="Picture 4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0"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1" name="Picture 4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92"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2" name="Picture 4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0"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3" name="Picture 43"/>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92"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72" name="Rectangle 71"/>
            <p:cNvSpPr/>
            <p:nvPr/>
          </p:nvSpPr>
          <p:spPr>
            <a:xfrm>
              <a:off x="410766" y="4108472"/>
              <a:ext cx="919575" cy="64353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72"/>
            <p:cNvSpPr/>
            <p:nvPr/>
          </p:nvSpPr>
          <p:spPr>
            <a:xfrm>
              <a:off x="1509118" y="4077518"/>
              <a:ext cx="919575" cy="64353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ectangle 73"/>
            <p:cNvSpPr/>
            <p:nvPr/>
          </p:nvSpPr>
          <p:spPr>
            <a:xfrm>
              <a:off x="2598539" y="4032942"/>
              <a:ext cx="919575" cy="64353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Rectangle 74"/>
            <p:cNvSpPr/>
            <p:nvPr/>
          </p:nvSpPr>
          <p:spPr>
            <a:xfrm>
              <a:off x="3655562" y="4023940"/>
              <a:ext cx="919575" cy="64353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02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4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44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4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4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4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45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4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4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4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4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4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44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4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44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4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44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4466"/>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0"/>
                                  </p:stCondLst>
                                  <p:childTnLst>
                                    <p:set>
                                      <p:cBhvr>
                                        <p:cTn id="53" dur="1" fill="hold">
                                          <p:stCondLst>
                                            <p:cond delay="0"/>
                                          </p:stCondLst>
                                        </p:cTn>
                                        <p:tgtEl>
                                          <p:spTgt spid="104469"/>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0446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5" grpId="0"/>
      <p:bldP spid="104466" grpId="0" animBg="1"/>
      <p:bldP spid="104469" grpId="0"/>
      <p:bldP spid="64" grpId="0" animBg="1"/>
      <p:bldP spid="65" grpId="0" animBg="1"/>
      <p:bldP spid="66" grpId="0" animBg="1"/>
      <p:bldP spid="67" grpId="0" animBg="1"/>
      <p:bldP spid="68" grpId="0" animBg="1"/>
      <p:bldP spid="69" grpId="0" animBg="1"/>
      <p:bldP spid="70" grpId="0" animBg="1"/>
      <p:bldP spid="7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1"/>
          <p:cNvSpPr>
            <a:spLocks/>
          </p:cNvSpPr>
          <p:nvPr/>
        </p:nvSpPr>
        <p:spPr bwMode="auto">
          <a:xfrm>
            <a:off x="4595441" y="185439"/>
            <a:ext cx="138196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PCA Features</a:t>
            </a:r>
          </a:p>
        </p:txBody>
      </p:sp>
      <p:sp>
        <p:nvSpPr>
          <p:cNvPr id="105474" name="Rectangle 2"/>
          <p:cNvSpPr>
            <a:spLocks/>
          </p:cNvSpPr>
          <p:nvPr/>
        </p:nvSpPr>
        <p:spPr bwMode="auto">
          <a:xfrm>
            <a:off x="7244209" y="185439"/>
            <a:ext cx="131408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ICA Features</a:t>
            </a:r>
          </a:p>
        </p:txBody>
      </p:sp>
      <p:sp>
        <p:nvSpPr>
          <p:cNvPr id="105475" name="Rectangle 3"/>
          <p:cNvSpPr>
            <a:spLocks/>
          </p:cNvSpPr>
          <p:nvPr/>
        </p:nvSpPr>
        <p:spPr bwMode="auto">
          <a:xfrm>
            <a:off x="187524" y="1104937"/>
            <a:ext cx="1162551"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8" tIns="26788" rIns="26788" bIns="26788" anchor="ctr">
            <a:spAutoFit/>
          </a:bodyPr>
          <a:lstStyle/>
          <a:p>
            <a:r>
              <a:rPr lang="en-US" sz="2000">
                <a:solidFill>
                  <a:srgbClr val="0077AE"/>
                </a:solidFill>
                <a:ea typeface="ＭＳ Ｐゴシック" charset="0"/>
                <a:cs typeface="ＭＳ Ｐゴシック" charset="0"/>
              </a:rPr>
              <a:t>Correlated</a:t>
            </a:r>
          </a:p>
        </p:txBody>
      </p:sp>
      <p:sp>
        <p:nvSpPr>
          <p:cNvPr id="105476" name="Rectangle 4"/>
          <p:cNvSpPr>
            <a:spLocks/>
          </p:cNvSpPr>
          <p:nvPr/>
        </p:nvSpPr>
        <p:spPr bwMode="auto">
          <a:xfrm>
            <a:off x="116086" y="3828492"/>
            <a:ext cx="1395988"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8" tIns="26788" rIns="26788" bIns="26788" anchor="ctr">
            <a:spAutoFit/>
          </a:bodyPr>
          <a:lstStyle/>
          <a:p>
            <a:r>
              <a:rPr lang="en-US" sz="2000">
                <a:solidFill>
                  <a:srgbClr val="B200CB"/>
                </a:solidFill>
                <a:ea typeface="ＭＳ Ｐゴシック" charset="0"/>
                <a:cs typeface="ＭＳ Ｐゴシック" charset="0"/>
              </a:rPr>
              <a:t>Independent</a:t>
            </a:r>
          </a:p>
        </p:txBody>
      </p:sp>
      <p:grpSp>
        <p:nvGrpSpPr>
          <p:cNvPr id="105477" name="Group 7"/>
          <p:cNvGrpSpPr>
            <a:grpSpLocks/>
          </p:cNvGrpSpPr>
          <p:nvPr/>
        </p:nvGrpSpPr>
        <p:grpSpPr bwMode="auto">
          <a:xfrm>
            <a:off x="11117461" y="5125641"/>
            <a:ext cx="3312914" cy="2107406"/>
            <a:chOff x="0" y="0"/>
            <a:chExt cx="2968" cy="1888"/>
          </a:xfrm>
        </p:grpSpPr>
        <p:sp>
          <p:nvSpPr>
            <p:cNvPr id="105528" name="Line 5"/>
            <p:cNvSpPr>
              <a:spLocks noChangeShapeType="1"/>
            </p:cNvSpPr>
            <p:nvPr/>
          </p:nvSpPr>
          <p:spPr bwMode="auto">
            <a:xfrm>
              <a:off x="1449" y="0"/>
              <a:ext cx="11" cy="1633"/>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529" name="Rectangle 6"/>
            <p:cNvSpPr>
              <a:spLocks/>
            </p:cNvSpPr>
            <p:nvPr/>
          </p:nvSpPr>
          <p:spPr bwMode="auto">
            <a:xfrm>
              <a:off x="0" y="160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grpSp>
      <p:grpSp>
        <p:nvGrpSpPr>
          <p:cNvPr id="105478" name="Group 12"/>
          <p:cNvGrpSpPr>
            <a:grpSpLocks/>
          </p:cNvGrpSpPr>
          <p:nvPr/>
        </p:nvGrpSpPr>
        <p:grpSpPr bwMode="auto">
          <a:xfrm>
            <a:off x="1678781" y="741164"/>
            <a:ext cx="2143125" cy="1107281"/>
            <a:chOff x="0" y="0"/>
            <a:chExt cx="1920" cy="992"/>
          </a:xfrm>
        </p:grpSpPr>
        <p:pic>
          <p:nvPicPr>
            <p:cNvPr id="1055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 y="1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05479" name="Group 19"/>
          <p:cNvGrpSpPr>
            <a:grpSpLocks/>
          </p:cNvGrpSpPr>
          <p:nvPr/>
        </p:nvGrpSpPr>
        <p:grpSpPr bwMode="auto">
          <a:xfrm>
            <a:off x="1678781" y="3152180"/>
            <a:ext cx="2143125" cy="1678781"/>
            <a:chOff x="0" y="0"/>
            <a:chExt cx="1920" cy="1504"/>
          </a:xfrm>
        </p:grpSpPr>
        <p:pic>
          <p:nvPicPr>
            <p:cNvPr id="105518"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9"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8"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1"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8"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2"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02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3"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2" y="104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5480" name="Rectangle 20"/>
          <p:cNvSpPr>
            <a:spLocks/>
          </p:cNvSpPr>
          <p:nvPr/>
        </p:nvSpPr>
        <p:spPr bwMode="auto">
          <a:xfrm>
            <a:off x="2081734" y="185439"/>
            <a:ext cx="13009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dirty="0">
                <a:ea typeface="ＭＳ Ｐゴシック" charset="0"/>
                <a:cs typeface="ＭＳ Ｐゴシック" charset="0"/>
              </a:rPr>
              <a:t>IBP Features</a:t>
            </a:r>
          </a:p>
        </p:txBody>
      </p:sp>
      <p:grpSp>
        <p:nvGrpSpPr>
          <p:cNvPr id="67609" name="Group 25"/>
          <p:cNvGrpSpPr>
            <a:grpSpLocks/>
          </p:cNvGrpSpPr>
          <p:nvPr/>
        </p:nvGrpSpPr>
        <p:grpSpPr bwMode="auto">
          <a:xfrm>
            <a:off x="4268391" y="741164"/>
            <a:ext cx="2143125" cy="1107281"/>
            <a:chOff x="0" y="0"/>
            <a:chExt cx="1920" cy="992"/>
          </a:xfrm>
        </p:grpSpPr>
        <p:pic>
          <p:nvPicPr>
            <p:cNvPr id="105514"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5" name="Picture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6" name="Picture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7" name="Picture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15" name="Group 31"/>
          <p:cNvGrpSpPr>
            <a:grpSpLocks/>
          </p:cNvGrpSpPr>
          <p:nvPr/>
        </p:nvGrpSpPr>
        <p:grpSpPr bwMode="auto">
          <a:xfrm>
            <a:off x="4268391" y="3161109"/>
            <a:ext cx="2143125" cy="1696641"/>
            <a:chOff x="0" y="0"/>
            <a:chExt cx="1920" cy="1520"/>
          </a:xfrm>
        </p:grpSpPr>
        <p:pic>
          <p:nvPicPr>
            <p:cNvPr id="105509" name="Picture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0" name="Picture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1" name="Picture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2" name="Picture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3" name="Picture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105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0" name="Group 36"/>
          <p:cNvGrpSpPr>
            <a:grpSpLocks/>
          </p:cNvGrpSpPr>
          <p:nvPr/>
        </p:nvGrpSpPr>
        <p:grpSpPr bwMode="auto">
          <a:xfrm>
            <a:off x="6884789" y="741164"/>
            <a:ext cx="2143125" cy="1089422"/>
            <a:chOff x="0" y="0"/>
            <a:chExt cx="1920" cy="976"/>
          </a:xfrm>
        </p:grpSpPr>
        <p:pic>
          <p:nvPicPr>
            <p:cNvPr id="105505" name="Picture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6" name="Picture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7" name="Picture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8" name="Picture 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92"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7" name="Group 43"/>
          <p:cNvGrpSpPr>
            <a:grpSpLocks/>
          </p:cNvGrpSpPr>
          <p:nvPr/>
        </p:nvGrpSpPr>
        <p:grpSpPr bwMode="auto">
          <a:xfrm>
            <a:off x="6884789" y="3152180"/>
            <a:ext cx="2143125" cy="1714500"/>
            <a:chOff x="0" y="0"/>
            <a:chExt cx="1920" cy="1536"/>
          </a:xfrm>
        </p:grpSpPr>
        <p:pic>
          <p:nvPicPr>
            <p:cNvPr id="105499" name="Picture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0" name="Picture 3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92"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1" name="Picture 3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2" name="Picture 4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92"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3" name="Picture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107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4" name="Picture 4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92" y="106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31" name="Group 47"/>
          <p:cNvGrpSpPr>
            <a:grpSpLocks/>
          </p:cNvGrpSpPr>
          <p:nvPr/>
        </p:nvGrpSpPr>
        <p:grpSpPr bwMode="auto">
          <a:xfrm>
            <a:off x="4402336" y="1669852"/>
            <a:ext cx="3312914" cy="988963"/>
            <a:chOff x="0" y="0"/>
            <a:chExt cx="2968" cy="886"/>
          </a:xfrm>
        </p:grpSpPr>
        <p:sp>
          <p:nvSpPr>
            <p:cNvPr id="105496" name="Line 44"/>
            <p:cNvSpPr>
              <a:spLocks noChangeShapeType="1"/>
            </p:cNvSpPr>
            <p:nvPr/>
          </p:nvSpPr>
          <p:spPr bwMode="auto">
            <a:xfrm>
              <a:off x="152" y="5"/>
              <a:ext cx="1174" cy="667"/>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497" name="Rectangle 45"/>
            <p:cNvSpPr>
              <a:spLocks/>
            </p:cNvSpPr>
            <p:nvPr/>
          </p:nvSpPr>
          <p:spPr bwMode="auto">
            <a:xfrm>
              <a:off x="0" y="598"/>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dirty="0">
                  <a:ea typeface="ＭＳ Ｐゴシック" charset="0"/>
                  <a:cs typeface="ＭＳ Ｐゴシック" charset="0"/>
                </a:rPr>
                <a:t>Parts 1 &amp; 2 are negatively correlated.</a:t>
              </a:r>
            </a:p>
          </p:txBody>
        </p:sp>
        <p:sp>
          <p:nvSpPr>
            <p:cNvPr id="105498" name="Line 46"/>
            <p:cNvSpPr>
              <a:spLocks noChangeShapeType="1"/>
            </p:cNvSpPr>
            <p:nvPr/>
          </p:nvSpPr>
          <p:spPr bwMode="auto">
            <a:xfrm flipH="1">
              <a:off x="1320" y="0"/>
              <a:ext cx="1173" cy="666"/>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4" name="Group 50"/>
          <p:cNvGrpSpPr>
            <a:grpSpLocks/>
          </p:cNvGrpSpPr>
          <p:nvPr/>
        </p:nvGrpSpPr>
        <p:grpSpPr bwMode="auto">
          <a:xfrm>
            <a:off x="2116336" y="4679156"/>
            <a:ext cx="3312914" cy="723305"/>
            <a:chOff x="0" y="0"/>
            <a:chExt cx="2968" cy="648"/>
          </a:xfrm>
        </p:grpSpPr>
        <p:sp>
          <p:nvSpPr>
            <p:cNvPr id="105494" name="Rectangle 48"/>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sp>
          <p:nvSpPr>
            <p:cNvPr id="105495" name="Line 49"/>
            <p:cNvSpPr>
              <a:spLocks noChangeShapeType="1"/>
            </p:cNvSpPr>
            <p:nvPr/>
          </p:nvSpPr>
          <p:spPr bwMode="auto">
            <a:xfrm>
              <a:off x="2200"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7" name="Group 53"/>
          <p:cNvGrpSpPr>
            <a:grpSpLocks/>
          </p:cNvGrpSpPr>
          <p:nvPr/>
        </p:nvGrpSpPr>
        <p:grpSpPr bwMode="auto">
          <a:xfrm>
            <a:off x="5750719" y="4679156"/>
            <a:ext cx="3312914" cy="723305"/>
            <a:chOff x="0" y="0"/>
            <a:chExt cx="2968" cy="648"/>
          </a:xfrm>
        </p:grpSpPr>
        <p:sp>
          <p:nvSpPr>
            <p:cNvPr id="105492" name="Rectangle 51"/>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dirty="0">
                  <a:ea typeface="ＭＳ Ｐゴシック" charset="0"/>
                  <a:cs typeface="ＭＳ Ｐゴシック" charset="0"/>
                </a:rPr>
                <a:t>Parts 4 &amp; 5 negatively are correlated.</a:t>
              </a:r>
            </a:p>
          </p:txBody>
        </p:sp>
        <p:sp>
          <p:nvSpPr>
            <p:cNvPr id="105493" name="Line 52"/>
            <p:cNvSpPr>
              <a:spLocks noChangeShapeType="1"/>
            </p:cNvSpPr>
            <p:nvPr/>
          </p:nvSpPr>
          <p:spPr bwMode="auto">
            <a:xfrm>
              <a:off x="2512"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40" name="Group 56"/>
          <p:cNvGrpSpPr>
            <a:grpSpLocks/>
          </p:cNvGrpSpPr>
          <p:nvPr/>
        </p:nvGrpSpPr>
        <p:grpSpPr bwMode="auto">
          <a:xfrm>
            <a:off x="1873002" y="5826621"/>
            <a:ext cx="5393531" cy="459879"/>
            <a:chOff x="0" y="0"/>
            <a:chExt cx="4832" cy="412"/>
          </a:xfrm>
        </p:grpSpPr>
        <p:sp>
          <p:nvSpPr>
            <p:cNvPr id="105490" name="Rectangle 54"/>
            <p:cNvSpPr>
              <a:spLocks/>
            </p:cNvSpPr>
            <p:nvPr/>
          </p:nvSpPr>
          <p:spPr bwMode="auto">
            <a:xfrm>
              <a:off x="0" y="0"/>
              <a:ext cx="4832" cy="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500" dirty="0">
                  <a:ea typeface="ＭＳ Ｐゴシック" charset="0"/>
                  <a:cs typeface="ＭＳ Ｐゴシック" charset="0"/>
                </a:rPr>
                <a:t>What do they predict?</a:t>
              </a:r>
            </a:p>
          </p:txBody>
        </p:sp>
        <p:sp>
          <p:nvSpPr>
            <p:cNvPr id="105491" name="Rectangle 55"/>
            <p:cNvSpPr>
              <a:spLocks/>
            </p:cNvSpPr>
            <p:nvPr/>
          </p:nvSpPr>
          <p:spPr bwMode="auto">
            <a:xfrm>
              <a:off x="521" y="12"/>
              <a:ext cx="3800" cy="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05489" name="Rectangle 57"/>
          <p:cNvSpPr>
            <a:spLocks/>
          </p:cNvSpPr>
          <p:nvPr/>
        </p:nvSpPr>
        <p:spPr bwMode="auto">
          <a:xfrm>
            <a:off x="6895951" y="6571684"/>
            <a:ext cx="2084392"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400">
                <a:ea typeface="ＭＳ Ｐゴシック" charset="0"/>
                <a:cs typeface="ＭＳ Ｐゴシック" charset="0"/>
              </a:rPr>
              <a:t>Austerweil &amp; Griffiths (2011)</a:t>
            </a:r>
          </a:p>
        </p:txBody>
      </p:sp>
    </p:spTree>
    <p:extLst>
      <p:ext uri="{BB962C8B-B14F-4D97-AF65-F5344CB8AC3E}">
        <p14:creationId xmlns:p14="http://schemas.microsoft.com/office/powerpoint/2010/main" val="1010891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76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76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76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76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762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7634"/>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6763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67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230" y="4152070"/>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648" y="4128631"/>
            <a:ext cx="2696766" cy="23998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462" y="3993586"/>
            <a:ext cx="1823331" cy="3471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1895" y="3987889"/>
            <a:ext cx="1761202" cy="3484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01" name="Rectangle 5"/>
          <p:cNvSpPr>
            <a:spLocks/>
          </p:cNvSpPr>
          <p:nvPr/>
        </p:nvSpPr>
        <p:spPr bwMode="auto">
          <a:xfrm>
            <a:off x="2493565" y="205383"/>
            <a:ext cx="6469610" cy="4018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ea typeface="ＭＳ Ｐゴシック" charset="0"/>
                <a:cs typeface="ＭＳ Ｐゴシック" charset="0"/>
              </a:rPr>
              <a:t>All models only have one parameter fit to participant results.</a:t>
            </a:r>
          </a:p>
          <a:p>
            <a:r>
              <a:rPr lang="en-US" sz="2000" dirty="0">
                <a:ea typeface="ＭＳ Ｐゴシック" charset="0"/>
                <a:cs typeface="ＭＳ Ｐゴシック" charset="0"/>
              </a:rPr>
              <a:t>IBP also outperforms exemplar and prototype models.</a:t>
            </a:r>
          </a:p>
        </p:txBody>
      </p:sp>
      <p:sp>
        <p:nvSpPr>
          <p:cNvPr id="106502" name="Rectangle 6"/>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7" tIns="35717" rIns="35717" bIns="35717" anchor="ctr"/>
          <a:lstStyle/>
          <a:p>
            <a:pPr algn="l"/>
            <a:r>
              <a:rPr lang="en-US" sz="3200" b="1">
                <a:ea typeface="ＭＳ Ｐゴシック" charset="0"/>
                <a:cs typeface="ＭＳ Ｐゴシック" charset="0"/>
              </a:rPr>
              <a:t>Results</a:t>
            </a:r>
          </a:p>
        </p:txBody>
      </p:sp>
      <p:pic>
        <p:nvPicPr>
          <p:cNvPr id="10650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0602" y="936170"/>
            <a:ext cx="1716631" cy="3457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21" y="1229946"/>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68622" name="Group 14"/>
          <p:cNvGrpSpPr>
            <a:grpSpLocks/>
          </p:cNvGrpSpPr>
          <p:nvPr/>
        </p:nvGrpSpPr>
        <p:grpSpPr bwMode="auto">
          <a:xfrm>
            <a:off x="7133325" y="1406152"/>
            <a:ext cx="757908" cy="457648"/>
            <a:chOff x="-179" y="-62"/>
            <a:chExt cx="679" cy="410"/>
          </a:xfrm>
        </p:grpSpPr>
        <p:grpSp>
          <p:nvGrpSpPr>
            <p:cNvPr id="106592" name="Group 12"/>
            <p:cNvGrpSpPr>
              <a:grpSpLocks/>
            </p:cNvGrpSpPr>
            <p:nvPr/>
          </p:nvGrpSpPr>
          <p:grpSpPr bwMode="auto">
            <a:xfrm>
              <a:off x="57" y="282"/>
              <a:ext cx="343" cy="66"/>
              <a:chOff x="0" y="0"/>
              <a:chExt cx="343" cy="65"/>
            </a:xfrm>
          </p:grpSpPr>
          <p:sp>
            <p:nvSpPr>
              <p:cNvPr id="106594" name="Line 9"/>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5" name="Line 10"/>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6" name="Line 11"/>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93" name="Rectangle 13"/>
            <p:cNvSpPr>
              <a:spLocks/>
            </p:cNvSpPr>
            <p:nvPr/>
          </p:nvSpPr>
          <p:spPr bwMode="auto">
            <a:xfrm>
              <a:off x="-179" y="-62"/>
              <a:ext cx="679" cy="2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dirty="0">
                  <a:ea typeface="ＭＳ Ｐゴシック" charset="0"/>
                  <a:cs typeface="ＭＳ Ｐゴシック" charset="0"/>
                </a:rPr>
                <a:t>no diff.</a:t>
              </a:r>
            </a:p>
          </p:txBody>
        </p:sp>
      </p:grpSp>
      <p:grpSp>
        <p:nvGrpSpPr>
          <p:cNvPr id="68628" name="Group 20"/>
          <p:cNvGrpSpPr>
            <a:grpSpLocks/>
          </p:cNvGrpSpPr>
          <p:nvPr/>
        </p:nvGrpSpPr>
        <p:grpSpPr bwMode="auto">
          <a:xfrm>
            <a:off x="7785196" y="1564607"/>
            <a:ext cx="910828" cy="972269"/>
            <a:chOff x="0" y="-36"/>
            <a:chExt cx="816" cy="870"/>
          </a:xfrm>
        </p:grpSpPr>
        <p:grpSp>
          <p:nvGrpSpPr>
            <p:cNvPr id="106587" name="Group 18"/>
            <p:cNvGrpSpPr>
              <a:grpSpLocks/>
            </p:cNvGrpSpPr>
            <p:nvPr/>
          </p:nvGrpSpPr>
          <p:grpSpPr bwMode="auto">
            <a:xfrm>
              <a:off x="0" y="240"/>
              <a:ext cx="343" cy="594"/>
              <a:chOff x="0" y="0"/>
              <a:chExt cx="343" cy="593"/>
            </a:xfrm>
          </p:grpSpPr>
          <p:sp>
            <p:nvSpPr>
              <p:cNvPr id="106589" name="Line 15"/>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0" name="Line 16"/>
              <p:cNvSpPr>
                <a:spLocks noChangeShapeType="1"/>
              </p:cNvSpPr>
              <p:nvPr/>
            </p:nvSpPr>
            <p:spPr bwMode="auto">
              <a:xfrm rot="10800000">
                <a:off x="333" y="2"/>
                <a:ext cx="0" cy="591"/>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1" name="Line 17"/>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88" name="Rectangle 19"/>
            <p:cNvSpPr>
              <a:spLocks/>
            </p:cNvSpPr>
            <p:nvPr/>
          </p:nvSpPr>
          <p:spPr bwMode="auto">
            <a:xfrm>
              <a:off x="17" y="-36"/>
              <a:ext cx="799"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dirty="0">
                  <a:ea typeface="ＭＳ Ｐゴシック" charset="0"/>
                  <a:cs typeface="ＭＳ Ｐゴシック" charset="0"/>
                </a:rPr>
                <a:t>large diff.</a:t>
              </a:r>
            </a:p>
          </p:txBody>
        </p:sp>
      </p:grpSp>
      <p:grpSp>
        <p:nvGrpSpPr>
          <p:cNvPr id="68633" name="Group 25"/>
          <p:cNvGrpSpPr>
            <a:grpSpLocks/>
          </p:cNvGrpSpPr>
          <p:nvPr/>
        </p:nvGrpSpPr>
        <p:grpSpPr bwMode="auto">
          <a:xfrm>
            <a:off x="5928910" y="1135070"/>
            <a:ext cx="1321764" cy="2183308"/>
            <a:chOff x="-24" y="-17"/>
            <a:chExt cx="1183" cy="1956"/>
          </a:xfrm>
        </p:grpSpPr>
        <p:pic>
          <p:nvPicPr>
            <p:cNvPr id="106583"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 y="209"/>
              <a:ext cx="760" cy="17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4" name="Rectangle 22"/>
            <p:cNvSpPr>
              <a:spLocks/>
            </p:cNvSpPr>
            <p:nvPr/>
          </p:nvSpPr>
          <p:spPr bwMode="auto">
            <a:xfrm>
              <a:off x="-24" y="-17"/>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85" name="Rectangle 23"/>
            <p:cNvSpPr>
              <a:spLocks/>
            </p:cNvSpPr>
            <p:nvPr/>
          </p:nvSpPr>
          <p:spPr bwMode="auto">
            <a:xfrm>
              <a:off x="282" y="1231"/>
              <a:ext cx="6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86" name="Rectangle 24"/>
            <p:cNvSpPr>
              <a:spLocks/>
            </p:cNvSpPr>
            <p:nvPr/>
          </p:nvSpPr>
          <p:spPr bwMode="auto">
            <a:xfrm>
              <a:off x="557" y="1443"/>
              <a:ext cx="60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38" name="Group 30"/>
          <p:cNvGrpSpPr>
            <a:grpSpLocks/>
          </p:cNvGrpSpPr>
          <p:nvPr/>
        </p:nvGrpSpPr>
        <p:grpSpPr bwMode="auto">
          <a:xfrm>
            <a:off x="7298528" y="1853905"/>
            <a:ext cx="1280294" cy="1471170"/>
            <a:chOff x="0" y="-113"/>
            <a:chExt cx="1147" cy="1318"/>
          </a:xfrm>
        </p:grpSpPr>
        <p:pic>
          <p:nvPicPr>
            <p:cNvPr id="106579" name="Picture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 y="207"/>
              <a:ext cx="760" cy="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0" name="Rectangle 27"/>
            <p:cNvSpPr>
              <a:spLocks/>
            </p:cNvSpPr>
            <p:nvPr/>
          </p:nvSpPr>
          <p:spPr bwMode="auto">
            <a:xfrm>
              <a:off x="0" y="-113"/>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81" name="Rectangle 28"/>
            <p:cNvSpPr>
              <a:spLocks/>
            </p:cNvSpPr>
            <p:nvPr/>
          </p:nvSpPr>
          <p:spPr bwMode="auto">
            <a:xfrm>
              <a:off x="288" y="3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82" name="Rectangle 29"/>
            <p:cNvSpPr>
              <a:spLocks/>
            </p:cNvSpPr>
            <p:nvPr/>
          </p:nvSpPr>
          <p:spPr bwMode="auto">
            <a:xfrm>
              <a:off x="544" y="491"/>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43" name="Group 35"/>
          <p:cNvGrpSpPr>
            <a:grpSpLocks/>
          </p:cNvGrpSpPr>
          <p:nvPr/>
        </p:nvGrpSpPr>
        <p:grpSpPr bwMode="auto">
          <a:xfrm>
            <a:off x="1551964" y="4325082"/>
            <a:ext cx="1329409" cy="1919884"/>
            <a:chOff x="-24" y="-65"/>
            <a:chExt cx="1191" cy="1720"/>
          </a:xfrm>
        </p:grpSpPr>
        <p:pic>
          <p:nvPicPr>
            <p:cNvPr id="106575"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 y="203"/>
              <a:ext cx="762" cy="1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6" name="Rectangle 32"/>
            <p:cNvSpPr>
              <a:spLocks/>
            </p:cNvSpPr>
            <p:nvPr/>
          </p:nvSpPr>
          <p:spPr bwMode="auto">
            <a:xfrm>
              <a:off x="-24" y="-65"/>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77" name="Rectangle 33"/>
            <p:cNvSpPr>
              <a:spLocks/>
            </p:cNvSpPr>
            <p:nvPr/>
          </p:nvSpPr>
          <p:spPr bwMode="auto">
            <a:xfrm>
              <a:off x="280" y="787"/>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78" name="Rectangle 34"/>
            <p:cNvSpPr>
              <a:spLocks/>
            </p:cNvSpPr>
            <p:nvPr/>
          </p:nvSpPr>
          <p:spPr bwMode="auto">
            <a:xfrm>
              <a:off x="564" y="1035"/>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51" name="Group 43"/>
          <p:cNvGrpSpPr>
            <a:grpSpLocks/>
          </p:cNvGrpSpPr>
          <p:nvPr/>
        </p:nvGrpSpPr>
        <p:grpSpPr bwMode="auto">
          <a:xfrm>
            <a:off x="2882488" y="4486934"/>
            <a:ext cx="1342805" cy="1766962"/>
            <a:chOff x="-24" y="0"/>
            <a:chExt cx="1203" cy="1583"/>
          </a:xfrm>
        </p:grpSpPr>
        <p:grpSp>
          <p:nvGrpSpPr>
            <p:cNvPr id="106569" name="Group 39"/>
            <p:cNvGrpSpPr>
              <a:grpSpLocks/>
            </p:cNvGrpSpPr>
            <p:nvPr/>
          </p:nvGrpSpPr>
          <p:grpSpPr bwMode="auto">
            <a:xfrm>
              <a:off x="54" y="0"/>
              <a:ext cx="763" cy="1583"/>
              <a:chOff x="0" y="0"/>
              <a:chExt cx="762" cy="1583"/>
            </a:xfrm>
          </p:grpSpPr>
          <p:pic>
            <p:nvPicPr>
              <p:cNvPr id="106573" name="Picture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35"/>
                <a:ext cx="762" cy="11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4" name="Line 38"/>
              <p:cNvSpPr>
                <a:spLocks noChangeShapeType="1"/>
              </p:cNvSpPr>
              <p:nvPr/>
            </p:nvSpPr>
            <p:spPr bwMode="auto">
              <a:xfrm>
                <a:off x="153" y="0"/>
                <a:ext cx="544" cy="603"/>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70" name="Rectangle 40"/>
            <p:cNvSpPr>
              <a:spLocks/>
            </p:cNvSpPr>
            <p:nvPr/>
          </p:nvSpPr>
          <p:spPr bwMode="auto">
            <a:xfrm>
              <a:off x="-24" y="171"/>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71" name="Rectangle 41"/>
            <p:cNvSpPr>
              <a:spLocks/>
            </p:cNvSpPr>
            <p:nvPr/>
          </p:nvSpPr>
          <p:spPr bwMode="auto">
            <a:xfrm>
              <a:off x="296" y="51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72" name="Rectangle 42"/>
            <p:cNvSpPr>
              <a:spLocks/>
            </p:cNvSpPr>
            <p:nvPr/>
          </p:nvSpPr>
          <p:spPr bwMode="auto">
            <a:xfrm>
              <a:off x="576" y="911"/>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56" name="Group 48"/>
          <p:cNvGrpSpPr>
            <a:grpSpLocks/>
          </p:cNvGrpSpPr>
          <p:nvPr/>
        </p:nvGrpSpPr>
        <p:grpSpPr bwMode="auto">
          <a:xfrm>
            <a:off x="5920382" y="4236902"/>
            <a:ext cx="1307083" cy="1983508"/>
            <a:chOff x="-24" y="-53"/>
            <a:chExt cx="1171" cy="1777"/>
          </a:xfrm>
        </p:grpSpPr>
        <p:pic>
          <p:nvPicPr>
            <p:cNvPr id="106565" name="Picture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 y="199"/>
              <a:ext cx="762" cy="1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6" name="Rectangle 45"/>
            <p:cNvSpPr>
              <a:spLocks/>
            </p:cNvSpPr>
            <p:nvPr/>
          </p:nvSpPr>
          <p:spPr bwMode="auto">
            <a:xfrm>
              <a:off x="-24" y="-53"/>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67" name="Rectangle 46"/>
            <p:cNvSpPr>
              <a:spLocks/>
            </p:cNvSpPr>
            <p:nvPr/>
          </p:nvSpPr>
          <p:spPr bwMode="auto">
            <a:xfrm>
              <a:off x="280" y="89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68" name="Rectangle 47"/>
            <p:cNvSpPr>
              <a:spLocks/>
            </p:cNvSpPr>
            <p:nvPr/>
          </p:nvSpPr>
          <p:spPr bwMode="auto">
            <a:xfrm>
              <a:off x="544" y="1087"/>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63" name="Group 55"/>
          <p:cNvGrpSpPr>
            <a:grpSpLocks/>
          </p:cNvGrpSpPr>
          <p:nvPr/>
        </p:nvGrpSpPr>
        <p:grpSpPr bwMode="auto">
          <a:xfrm>
            <a:off x="7264301" y="4597335"/>
            <a:ext cx="1316014" cy="1623075"/>
            <a:chOff x="-12" y="-120"/>
            <a:chExt cx="1179" cy="1453"/>
          </a:xfrm>
        </p:grpSpPr>
        <p:grpSp>
          <p:nvGrpSpPr>
            <p:cNvPr id="106559" name="Group 51"/>
            <p:cNvGrpSpPr>
              <a:grpSpLocks/>
            </p:cNvGrpSpPr>
            <p:nvPr/>
          </p:nvGrpSpPr>
          <p:grpSpPr bwMode="auto">
            <a:xfrm>
              <a:off x="63" y="-120"/>
              <a:ext cx="763" cy="1453"/>
              <a:chOff x="0" y="-120"/>
              <a:chExt cx="762" cy="1453"/>
            </a:xfrm>
          </p:grpSpPr>
          <p:pic>
            <p:nvPicPr>
              <p:cNvPr id="106563" name="Picture 4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60"/>
                <a:ext cx="762" cy="9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4" name="Line 50"/>
              <p:cNvSpPr>
                <a:spLocks noChangeShapeType="1"/>
              </p:cNvSpPr>
              <p:nvPr/>
            </p:nvSpPr>
            <p:spPr bwMode="auto">
              <a:xfrm>
                <a:off x="165" y="-120"/>
                <a:ext cx="573" cy="344"/>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60" name="Rectangle 52"/>
            <p:cNvSpPr>
              <a:spLocks/>
            </p:cNvSpPr>
            <p:nvPr/>
          </p:nvSpPr>
          <p:spPr bwMode="auto">
            <a:xfrm>
              <a:off x="-12" y="41"/>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61" name="Rectangle 53"/>
            <p:cNvSpPr>
              <a:spLocks/>
            </p:cNvSpPr>
            <p:nvPr/>
          </p:nvSpPr>
          <p:spPr bwMode="auto">
            <a:xfrm>
              <a:off x="304" y="237"/>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62" name="Rectangle 54"/>
            <p:cNvSpPr>
              <a:spLocks/>
            </p:cNvSpPr>
            <p:nvPr/>
          </p:nvSpPr>
          <p:spPr bwMode="auto">
            <a:xfrm>
              <a:off x="564" y="497"/>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106514" name="Group 59"/>
          <p:cNvGrpSpPr>
            <a:grpSpLocks/>
          </p:cNvGrpSpPr>
          <p:nvPr/>
        </p:nvGrpSpPr>
        <p:grpSpPr bwMode="auto">
          <a:xfrm>
            <a:off x="5944563" y="3322383"/>
            <a:ext cx="2397619" cy="370582"/>
            <a:chOff x="-12" y="0"/>
            <a:chExt cx="2148" cy="332"/>
          </a:xfrm>
        </p:grpSpPr>
        <p:sp>
          <p:nvSpPr>
            <p:cNvPr id="106556" name="Rectangle 5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7" name="Rectangle 57"/>
            <p:cNvSpPr>
              <a:spLocks/>
            </p:cNvSpPr>
            <p:nvPr/>
          </p:nvSpPr>
          <p:spPr bwMode="auto">
            <a:xfrm>
              <a:off x="-12"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8" name="Rectangle 58"/>
            <p:cNvSpPr>
              <a:spLocks/>
            </p:cNvSpPr>
            <p:nvPr/>
          </p:nvSpPr>
          <p:spPr bwMode="auto">
            <a:xfrm>
              <a:off x="1113" y="4"/>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5" name="Group 63"/>
          <p:cNvGrpSpPr>
            <a:grpSpLocks/>
          </p:cNvGrpSpPr>
          <p:nvPr/>
        </p:nvGrpSpPr>
        <p:grpSpPr bwMode="auto">
          <a:xfrm>
            <a:off x="1560895" y="6290731"/>
            <a:ext cx="2396503" cy="366117"/>
            <a:chOff x="0" y="0"/>
            <a:chExt cx="2147" cy="328"/>
          </a:xfrm>
        </p:grpSpPr>
        <p:sp>
          <p:nvSpPr>
            <p:cNvPr id="106553" name="Rectangle 60"/>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4" name="Rectangle 61"/>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5" name="Rectangle 62"/>
            <p:cNvSpPr>
              <a:spLocks/>
            </p:cNvSpPr>
            <p:nvPr/>
          </p:nvSpPr>
          <p:spPr bwMode="auto">
            <a:xfrm>
              <a:off x="1124" y="0"/>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6" name="Group 67"/>
          <p:cNvGrpSpPr>
            <a:grpSpLocks/>
          </p:cNvGrpSpPr>
          <p:nvPr/>
        </p:nvGrpSpPr>
        <p:grpSpPr bwMode="auto">
          <a:xfrm>
            <a:off x="5929313" y="6242272"/>
            <a:ext cx="2409898" cy="366117"/>
            <a:chOff x="0" y="0"/>
            <a:chExt cx="2159" cy="328"/>
          </a:xfrm>
        </p:grpSpPr>
        <p:sp>
          <p:nvSpPr>
            <p:cNvPr id="106550" name="Rectangle 64"/>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1" name="Rectangle 65"/>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2" name="Rectangle 66"/>
            <p:cNvSpPr>
              <a:spLocks/>
            </p:cNvSpPr>
            <p:nvPr/>
          </p:nvSpPr>
          <p:spPr bwMode="auto">
            <a:xfrm>
              <a:off x="1136" y="0"/>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sp>
        <p:nvSpPr>
          <p:cNvPr id="106517" name="Rectangle 68"/>
          <p:cNvSpPr>
            <a:spLocks/>
          </p:cNvSpPr>
          <p:nvPr/>
        </p:nvSpPr>
        <p:spPr bwMode="auto">
          <a:xfrm>
            <a:off x="6359083" y="6508869"/>
            <a:ext cx="2752064"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a:ea typeface="ＭＳ Ｐゴシック" charset="0"/>
                <a:cs typeface="ＭＳ Ｐゴシック" charset="0"/>
              </a:rPr>
              <a:t>Austerweil &amp; Griffiths (2011)</a:t>
            </a:r>
          </a:p>
        </p:txBody>
      </p:sp>
      <p:grpSp>
        <p:nvGrpSpPr>
          <p:cNvPr id="106518" name="Group 76"/>
          <p:cNvGrpSpPr>
            <a:grpSpLocks/>
          </p:cNvGrpSpPr>
          <p:nvPr/>
        </p:nvGrpSpPr>
        <p:grpSpPr bwMode="auto">
          <a:xfrm>
            <a:off x="1098352" y="987273"/>
            <a:ext cx="2902148" cy="2647654"/>
            <a:chOff x="0" y="-63"/>
            <a:chExt cx="2600" cy="2372"/>
          </a:xfrm>
        </p:grpSpPr>
        <p:pic>
          <p:nvPicPr>
            <p:cNvPr id="106543" name="Picture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 y="-63"/>
              <a:ext cx="2145" cy="3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106544" name="Group 75"/>
            <p:cNvGrpSpPr>
              <a:grpSpLocks/>
            </p:cNvGrpSpPr>
            <p:nvPr/>
          </p:nvGrpSpPr>
          <p:grpSpPr bwMode="auto">
            <a:xfrm>
              <a:off x="0" y="96"/>
              <a:ext cx="2600" cy="2213"/>
              <a:chOff x="0" y="0"/>
              <a:chExt cx="2600" cy="2213"/>
            </a:xfrm>
          </p:grpSpPr>
          <p:pic>
            <p:nvPicPr>
              <p:cNvPr id="106545" name="Picture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8" y="656"/>
                <a:ext cx="760" cy="12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6" name="Picture 7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 y="1832"/>
                <a:ext cx="72"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7" name="Picture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44"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8" name="Picture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0" y="416"/>
                <a:ext cx="760" cy="15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9" name="Picture 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 y="64"/>
                <a:ext cx="2416" cy="21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106519" name="Group 82"/>
          <p:cNvGrpSpPr>
            <a:grpSpLocks/>
          </p:cNvGrpSpPr>
          <p:nvPr/>
        </p:nvGrpSpPr>
        <p:grpSpPr bwMode="auto">
          <a:xfrm>
            <a:off x="2876475" y="1235074"/>
            <a:ext cx="569268" cy="389557"/>
            <a:chOff x="-23" y="0"/>
            <a:chExt cx="510" cy="348"/>
          </a:xfrm>
        </p:grpSpPr>
        <p:grpSp>
          <p:nvGrpSpPr>
            <p:cNvPr id="106538" name="Group 80"/>
            <p:cNvGrpSpPr>
              <a:grpSpLocks/>
            </p:cNvGrpSpPr>
            <p:nvPr/>
          </p:nvGrpSpPr>
          <p:grpSpPr bwMode="auto">
            <a:xfrm>
              <a:off x="57" y="282"/>
              <a:ext cx="343" cy="66"/>
              <a:chOff x="0" y="0"/>
              <a:chExt cx="343" cy="65"/>
            </a:xfrm>
          </p:grpSpPr>
          <p:sp>
            <p:nvSpPr>
              <p:cNvPr id="106540" name="Line 77"/>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1" name="Line 78"/>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2" name="Line 79"/>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9" name="Rectangle 81"/>
            <p:cNvSpPr>
              <a:spLocks/>
            </p:cNvSpPr>
            <p:nvPr/>
          </p:nvSpPr>
          <p:spPr bwMode="auto">
            <a:xfrm>
              <a:off x="-23" y="0"/>
              <a:ext cx="51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500" dirty="0">
                  <a:ea typeface="ＭＳ Ｐゴシック" charset="0"/>
                  <a:cs typeface="ＭＳ Ｐゴシック" charset="0"/>
                </a:rPr>
                <a:t>no diff.</a:t>
              </a:r>
            </a:p>
          </p:txBody>
        </p:sp>
      </p:grpSp>
      <p:grpSp>
        <p:nvGrpSpPr>
          <p:cNvPr id="106520" name="Group 88"/>
          <p:cNvGrpSpPr>
            <a:grpSpLocks/>
          </p:cNvGrpSpPr>
          <p:nvPr/>
        </p:nvGrpSpPr>
        <p:grpSpPr bwMode="auto">
          <a:xfrm>
            <a:off x="3357562" y="1396924"/>
            <a:ext cx="752326" cy="821531"/>
            <a:chOff x="0" y="0"/>
            <a:chExt cx="674" cy="736"/>
          </a:xfrm>
        </p:grpSpPr>
        <p:grpSp>
          <p:nvGrpSpPr>
            <p:cNvPr id="106533" name="Group 86"/>
            <p:cNvGrpSpPr>
              <a:grpSpLocks/>
            </p:cNvGrpSpPr>
            <p:nvPr/>
          </p:nvGrpSpPr>
          <p:grpSpPr bwMode="auto">
            <a:xfrm>
              <a:off x="0" y="240"/>
              <a:ext cx="336" cy="496"/>
              <a:chOff x="0" y="0"/>
              <a:chExt cx="336" cy="496"/>
            </a:xfrm>
          </p:grpSpPr>
          <p:sp>
            <p:nvSpPr>
              <p:cNvPr id="106535" name="Line 83"/>
              <p:cNvSpPr>
                <a:spLocks noChangeShapeType="1"/>
              </p:cNvSpPr>
              <p:nvPr/>
            </p:nvSpPr>
            <p:spPr bwMode="auto">
              <a:xfrm>
                <a:off x="0" y="4"/>
                <a:ext cx="33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6" name="Line 84"/>
              <p:cNvSpPr>
                <a:spLocks noChangeShapeType="1"/>
              </p:cNvSpPr>
              <p:nvPr/>
            </p:nvSpPr>
            <p:spPr bwMode="auto">
              <a:xfrm rot="10800000">
                <a:off x="326" y="1"/>
                <a:ext cx="0" cy="49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7" name="Line 85"/>
              <p:cNvSpPr>
                <a:spLocks noChangeShapeType="1"/>
              </p:cNvSpPr>
              <p:nvPr/>
            </p:nvSpPr>
            <p:spPr bwMode="auto">
              <a:xfrm rot="10800000">
                <a:off x="6" y="0"/>
                <a:ext cx="0" cy="5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4" name="Rectangle 87"/>
            <p:cNvSpPr>
              <a:spLocks/>
            </p:cNvSpPr>
            <p:nvPr/>
          </p:nvSpPr>
          <p:spPr bwMode="auto">
            <a:xfrm>
              <a:off x="14" y="0"/>
              <a:ext cx="660"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500" dirty="0">
                  <a:ea typeface="ＭＳ Ｐゴシック" charset="0"/>
                  <a:cs typeface="ＭＳ Ｐゴシック" charset="0"/>
                </a:rPr>
                <a:t>large diff.</a:t>
              </a:r>
            </a:p>
          </p:txBody>
        </p:sp>
      </p:grpSp>
      <p:sp>
        <p:nvSpPr>
          <p:cNvPr id="106521" name="Rectangle 89"/>
          <p:cNvSpPr>
            <a:spLocks/>
          </p:cNvSpPr>
          <p:nvPr/>
        </p:nvSpPr>
        <p:spPr bwMode="auto">
          <a:xfrm>
            <a:off x="398488" y="2221595"/>
            <a:ext cx="666160"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latin typeface="Times New Roman" charset="0"/>
                <a:ea typeface="ＭＳ Ｐゴシック" charset="0"/>
                <a:cs typeface="ＭＳ Ｐゴシック" charset="0"/>
                <a:sym typeface="Times New Roman" charset="0"/>
              </a:rPr>
              <a:t>Ratings</a:t>
            </a:r>
          </a:p>
        </p:txBody>
      </p:sp>
      <p:sp>
        <p:nvSpPr>
          <p:cNvPr id="106522" name="Rectangle 90"/>
          <p:cNvSpPr>
            <a:spLocks/>
          </p:cNvSpPr>
          <p:nvPr/>
        </p:nvSpPr>
        <p:spPr bwMode="auto">
          <a:xfrm>
            <a:off x="1473164" y="1351955"/>
            <a:ext cx="44126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23" name="Rectangle 91"/>
          <p:cNvSpPr>
            <a:spLocks/>
          </p:cNvSpPr>
          <p:nvPr/>
        </p:nvSpPr>
        <p:spPr bwMode="auto">
          <a:xfrm>
            <a:off x="2700408" y="1619614"/>
            <a:ext cx="44126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24" name="Rectangle 92"/>
          <p:cNvSpPr>
            <a:spLocks/>
          </p:cNvSpPr>
          <p:nvPr/>
        </p:nvSpPr>
        <p:spPr bwMode="auto">
          <a:xfrm>
            <a:off x="3192951" y="1615034"/>
            <a:ext cx="68381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25" name="Rectangle 93"/>
          <p:cNvSpPr>
            <a:spLocks/>
          </p:cNvSpPr>
          <p:nvPr/>
        </p:nvSpPr>
        <p:spPr bwMode="auto">
          <a:xfrm>
            <a:off x="1808379" y="2128376"/>
            <a:ext cx="68381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26" name="Rectangle 94"/>
          <p:cNvSpPr>
            <a:spLocks/>
          </p:cNvSpPr>
          <p:nvPr/>
        </p:nvSpPr>
        <p:spPr bwMode="auto">
          <a:xfrm>
            <a:off x="2097360" y="2338570"/>
            <a:ext cx="67311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sp>
        <p:nvSpPr>
          <p:cNvPr id="106527" name="Rectangle 95"/>
          <p:cNvSpPr>
            <a:spLocks/>
          </p:cNvSpPr>
          <p:nvPr/>
        </p:nvSpPr>
        <p:spPr bwMode="auto">
          <a:xfrm>
            <a:off x="3434581" y="2119908"/>
            <a:ext cx="67311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nvGrpSpPr>
          <p:cNvPr id="106528" name="Group 99"/>
          <p:cNvGrpSpPr>
            <a:grpSpLocks/>
          </p:cNvGrpSpPr>
          <p:nvPr/>
        </p:nvGrpSpPr>
        <p:grpSpPr bwMode="auto">
          <a:xfrm>
            <a:off x="1473399" y="3307877"/>
            <a:ext cx="2411015" cy="370582"/>
            <a:chOff x="0" y="0"/>
            <a:chExt cx="2160" cy="332"/>
          </a:xfrm>
        </p:grpSpPr>
        <p:sp>
          <p:nvSpPr>
            <p:cNvPr id="106530" name="Rectangle 9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31" name="Rectangle 97"/>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32" name="Rectangle 98"/>
            <p:cNvSpPr>
              <a:spLocks/>
            </p:cNvSpPr>
            <p:nvPr/>
          </p:nvSpPr>
          <p:spPr bwMode="auto">
            <a:xfrm>
              <a:off x="1137" y="4"/>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spTree>
    <p:extLst>
      <p:ext uri="{BB962C8B-B14F-4D97-AF65-F5344CB8AC3E}">
        <p14:creationId xmlns:p14="http://schemas.microsoft.com/office/powerpoint/2010/main" val="2997848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86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86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686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86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686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686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865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866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650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258" y="1651992"/>
            <a:ext cx="3839766" cy="35540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7522" name="Rectangle 2"/>
          <p:cNvSpPr>
            <a:spLocks/>
          </p:cNvSpPr>
          <p:nvPr/>
        </p:nvSpPr>
        <p:spPr bwMode="auto">
          <a:xfrm>
            <a:off x="6349603" y="6504460"/>
            <a:ext cx="2752064"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a:ea typeface="ＭＳ Ｐゴシック" charset="0"/>
                <a:cs typeface="ＭＳ Ｐゴシック" charset="0"/>
              </a:rPr>
              <a:t>Austerweil &amp; Griffiths (2011)</a:t>
            </a:r>
          </a:p>
        </p:txBody>
      </p:sp>
      <p:sp>
        <p:nvSpPr>
          <p:cNvPr id="107524" name="Rectangle 4"/>
          <p:cNvSpPr>
            <a:spLocks/>
          </p:cNvSpPr>
          <p:nvPr/>
        </p:nvSpPr>
        <p:spPr bwMode="auto">
          <a:xfrm>
            <a:off x="592709" y="1088290"/>
            <a:ext cx="3200796"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dirty="0">
                <a:ea typeface="ＭＳ Ｐゴシック" charset="0"/>
                <a:cs typeface="ＭＳ Ｐゴシック" charset="0"/>
              </a:rPr>
              <a:t>3-D Rendered Objects</a:t>
            </a:r>
          </a:p>
        </p:txBody>
      </p:sp>
      <p:sp>
        <p:nvSpPr>
          <p:cNvPr id="107525" name="Rectangle 5"/>
          <p:cNvSpPr>
            <a:spLocks/>
          </p:cNvSpPr>
          <p:nvPr/>
        </p:nvSpPr>
        <p:spPr bwMode="auto">
          <a:xfrm>
            <a:off x="285750" y="1080492"/>
            <a:ext cx="4107656" cy="426839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69641" name="Group 9"/>
          <p:cNvGrpSpPr>
            <a:grpSpLocks/>
          </p:cNvGrpSpPr>
          <p:nvPr/>
        </p:nvGrpSpPr>
        <p:grpSpPr bwMode="auto">
          <a:xfrm>
            <a:off x="4929188" y="1080493"/>
            <a:ext cx="4878958" cy="4268390"/>
            <a:chOff x="0" y="8"/>
            <a:chExt cx="4371" cy="3824"/>
          </a:xfrm>
        </p:grpSpPr>
        <p:sp>
          <p:nvSpPr>
            <p:cNvPr id="107527" name="Rectangle 6"/>
            <p:cNvSpPr>
              <a:spLocks/>
            </p:cNvSpPr>
            <p:nvPr/>
          </p:nvSpPr>
          <p:spPr bwMode="auto">
            <a:xfrm>
              <a:off x="379" y="564"/>
              <a:ext cx="3992" cy="24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lnSpc>
                  <a:spcPct val="150000"/>
                </a:lnSpc>
              </a:pPr>
              <a:r>
                <a:rPr lang="en-US" sz="2200" dirty="0">
                  <a:ea typeface="ＭＳ Ｐゴシック" charset="0"/>
                  <a:cs typeface="ＭＳ Ｐゴシック" charset="0"/>
                </a:rPr>
                <a:t>(1) Lays eggs.</a:t>
              </a:r>
            </a:p>
            <a:p>
              <a:pPr algn="l">
                <a:lnSpc>
                  <a:spcPct val="150000"/>
                </a:lnSpc>
              </a:pPr>
              <a:r>
                <a:rPr lang="en-US" sz="2200" dirty="0">
                  <a:ea typeface="ＭＳ Ｐゴシック" charset="0"/>
                  <a:cs typeface="ＭＳ Ｐゴシック" charset="0"/>
                </a:rPr>
                <a:t>(2) Moves fast.</a:t>
              </a:r>
            </a:p>
            <a:p>
              <a:pPr algn="l">
                <a:lnSpc>
                  <a:spcPct val="150000"/>
                </a:lnSpc>
              </a:pPr>
              <a:r>
                <a:rPr lang="en-US" sz="2200" dirty="0">
                  <a:ea typeface="ＭＳ Ｐゴシック" charset="0"/>
                  <a:cs typeface="ＭＳ Ｐゴシック" charset="0"/>
                </a:rPr>
                <a:t>(3) Has small claws.</a:t>
              </a:r>
            </a:p>
            <a:p>
              <a:pPr algn="l">
                <a:lnSpc>
                  <a:spcPct val="150000"/>
                </a:lnSpc>
              </a:pPr>
              <a:r>
                <a:rPr lang="en-US" sz="2200" dirty="0">
                  <a:ea typeface="ＭＳ Ｐゴシック" charset="0"/>
                  <a:cs typeface="ＭＳ Ｐゴシック" charset="0"/>
                </a:rPr>
                <a:t>(4) Spends most time on land.</a:t>
              </a:r>
            </a:p>
            <a:p>
              <a:pPr algn="l">
                <a:lnSpc>
                  <a:spcPct val="150000"/>
                </a:lnSpc>
              </a:pPr>
              <a:r>
                <a:rPr lang="en-US" sz="2200" dirty="0">
                  <a:ea typeface="ＭＳ Ｐゴシック" charset="0"/>
                  <a:cs typeface="ＭＳ Ｐゴシック" charset="0"/>
                </a:rPr>
                <a:t>(5) Has scaly skin.</a:t>
              </a:r>
            </a:p>
            <a:p>
              <a:pPr algn="l">
                <a:lnSpc>
                  <a:spcPct val="150000"/>
                </a:lnSpc>
              </a:pPr>
              <a:r>
                <a:rPr lang="en-US" sz="2200" dirty="0">
                  <a:ea typeface="ＭＳ Ｐゴシック" charset="0"/>
                  <a:cs typeface="ＭＳ Ｐゴシック" charset="0"/>
                </a:rPr>
                <a:t>(6) Is a small herbivore.</a:t>
              </a:r>
            </a:p>
          </p:txBody>
        </p:sp>
        <p:sp>
          <p:nvSpPr>
            <p:cNvPr id="107528" name="Rectangle 7"/>
            <p:cNvSpPr>
              <a:spLocks/>
            </p:cNvSpPr>
            <p:nvPr/>
          </p:nvSpPr>
          <p:spPr bwMode="auto">
            <a:xfrm>
              <a:off x="479" y="15"/>
              <a:ext cx="1209" cy="3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dirty="0">
                  <a:ea typeface="ＭＳ Ｐゴシック" charset="0"/>
                  <a:cs typeface="ＭＳ Ｐゴシック" charset="0"/>
                </a:rPr>
                <a:t>Concepts</a:t>
              </a:r>
            </a:p>
          </p:txBody>
        </p:sp>
        <p:sp>
          <p:nvSpPr>
            <p:cNvPr id="107529" name="Rectangle 8"/>
            <p:cNvSpPr>
              <a:spLocks/>
            </p:cNvSpPr>
            <p:nvPr/>
          </p:nvSpPr>
          <p:spPr bwMode="auto">
            <a:xfrm>
              <a:off x="0" y="8"/>
              <a:ext cx="3680" cy="3824"/>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1"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Domain generality?</a:t>
            </a:r>
          </a:p>
        </p:txBody>
      </p:sp>
    </p:spTree>
    <p:extLst>
      <p:ext uri="{BB962C8B-B14F-4D97-AF65-F5344CB8AC3E}">
        <p14:creationId xmlns:p14="http://schemas.microsoft.com/office/powerpoint/2010/main" val="1166690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9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5" name="Group 7"/>
          <p:cNvGrpSpPr>
            <a:grpSpLocks/>
          </p:cNvGrpSpPr>
          <p:nvPr/>
        </p:nvGrpSpPr>
        <p:grpSpPr bwMode="auto">
          <a:xfrm>
            <a:off x="807021" y="981142"/>
            <a:ext cx="6770936" cy="995661"/>
            <a:chOff x="0" y="231"/>
            <a:chExt cx="6066" cy="892"/>
          </a:xfrm>
        </p:grpSpPr>
        <p:grpSp>
          <p:nvGrpSpPr>
            <p:cNvPr id="108571" name="Group 5"/>
            <p:cNvGrpSpPr>
              <a:grpSpLocks/>
            </p:cNvGrpSpPr>
            <p:nvPr/>
          </p:nvGrpSpPr>
          <p:grpSpPr bwMode="auto">
            <a:xfrm>
              <a:off x="3067" y="231"/>
              <a:ext cx="2999" cy="892"/>
              <a:chOff x="0" y="231"/>
              <a:chExt cx="2998" cy="892"/>
            </a:xfrm>
          </p:grpSpPr>
          <p:pic>
            <p:nvPicPr>
              <p:cNvPr id="10857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9"/>
                <a:ext cx="501" cy="8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 y="243"/>
                <a:ext cx="506" cy="8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4" y="237"/>
                <a:ext cx="506" cy="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9" y="231"/>
                <a:ext cx="519" cy="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8572" name="Rectangle 6"/>
            <p:cNvSpPr>
              <a:spLocks/>
            </p:cNvSpPr>
            <p:nvPr/>
          </p:nvSpPr>
          <p:spPr bwMode="auto">
            <a:xfrm>
              <a:off x="0" y="240"/>
              <a:ext cx="2704" cy="8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Visual search for objects with correlated parts </a:t>
              </a:r>
            </a:p>
            <a:p>
              <a:pPr algn="l"/>
              <a:r>
                <a:rPr lang="en-US" sz="1700" dirty="0">
                  <a:latin typeface="Helvetica"/>
                  <a:ea typeface="ＭＳ Ｐゴシック" charset="0"/>
                  <a:cs typeface="Helvetica"/>
                </a:rPr>
                <a:t>(</a:t>
              </a:r>
              <a:r>
                <a:rPr lang="en-US" sz="1700" dirty="0" err="1">
                  <a:latin typeface="Helvetica"/>
                  <a:ea typeface="ＭＳ Ｐゴシック" charset="0"/>
                  <a:cs typeface="Helvetica"/>
                </a:rPr>
                <a:t>Shiffrin</a:t>
              </a:r>
              <a:r>
                <a:rPr lang="en-US" sz="1700" dirty="0">
                  <a:latin typeface="Helvetica"/>
                  <a:ea typeface="ＭＳ Ｐゴシック" charset="0"/>
                  <a:cs typeface="Helvetica"/>
                </a:rPr>
                <a:t> &amp; Lightfoot, 1997).</a:t>
              </a:r>
            </a:p>
          </p:txBody>
        </p:sp>
      </p:grpSp>
      <p:sp>
        <p:nvSpPr>
          <p:cNvPr id="108547" name="Rectangle 9"/>
          <p:cNvSpPr>
            <a:spLocks/>
          </p:cNvSpPr>
          <p:nvPr/>
        </p:nvSpPr>
        <p:spPr bwMode="auto">
          <a:xfrm>
            <a:off x="6139693" y="6540996"/>
            <a:ext cx="2949155" cy="2692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ea typeface="ＭＳ Ｐゴシック" charset="0"/>
                <a:cs typeface="ＭＳ Ｐゴシック" charset="0"/>
              </a:rPr>
              <a:t>Austerweil &amp; Griffiths (2011)</a:t>
            </a:r>
          </a:p>
        </p:txBody>
      </p:sp>
      <p:grpSp>
        <p:nvGrpSpPr>
          <p:cNvPr id="70674" name="Group 18"/>
          <p:cNvGrpSpPr>
            <a:grpSpLocks/>
          </p:cNvGrpSpPr>
          <p:nvPr/>
        </p:nvGrpSpPr>
        <p:grpSpPr bwMode="auto">
          <a:xfrm>
            <a:off x="803672" y="2569450"/>
            <a:ext cx="6816701" cy="1434332"/>
            <a:chOff x="0" y="0"/>
            <a:chExt cx="6107" cy="1285"/>
          </a:xfrm>
        </p:grpSpPr>
        <p:grpSp>
          <p:nvGrpSpPr>
            <p:cNvPr id="108563" name="Group 14"/>
            <p:cNvGrpSpPr>
              <a:grpSpLocks/>
            </p:cNvGrpSpPr>
            <p:nvPr/>
          </p:nvGrpSpPr>
          <p:grpSpPr bwMode="auto">
            <a:xfrm>
              <a:off x="3030" y="0"/>
              <a:ext cx="3077" cy="939"/>
              <a:chOff x="0" y="0"/>
              <a:chExt cx="3077" cy="939"/>
            </a:xfrm>
          </p:grpSpPr>
          <p:pic>
            <p:nvPicPr>
              <p:cNvPr id="10856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0"/>
                <a:ext cx="550" cy="9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8"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1" y="6"/>
                <a:ext cx="537" cy="9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9"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 y="0"/>
                <a:ext cx="550" cy="9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
                <a:ext cx="540" cy="9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08564" name="Group 17"/>
            <p:cNvGrpSpPr>
              <a:grpSpLocks/>
            </p:cNvGrpSpPr>
            <p:nvPr/>
          </p:nvGrpSpPr>
          <p:grpSpPr bwMode="auto">
            <a:xfrm>
              <a:off x="0" y="37"/>
              <a:ext cx="2808" cy="1248"/>
              <a:chOff x="0" y="0"/>
              <a:chExt cx="2808" cy="1248"/>
            </a:xfrm>
          </p:grpSpPr>
          <p:sp>
            <p:nvSpPr>
              <p:cNvPr id="108565" name="Rectangle 15"/>
              <p:cNvSpPr>
                <a:spLocks/>
              </p:cNvSpPr>
              <p:nvPr/>
            </p:nvSpPr>
            <p:spPr bwMode="auto">
              <a:xfrm>
                <a:off x="0" y="0"/>
                <a:ext cx="2808"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Features inferred without proximity constraint.</a:t>
                </a:r>
              </a:p>
            </p:txBody>
          </p:sp>
          <p:pic>
            <p:nvPicPr>
              <p:cNvPr id="108566"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 y="800"/>
                <a:ext cx="2360" cy="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70683" name="Group 27"/>
          <p:cNvGrpSpPr>
            <a:grpSpLocks/>
          </p:cNvGrpSpPr>
          <p:nvPr/>
        </p:nvGrpSpPr>
        <p:grpSpPr bwMode="auto">
          <a:xfrm>
            <a:off x="803672" y="4416036"/>
            <a:ext cx="6802190" cy="1967692"/>
            <a:chOff x="0" y="363"/>
            <a:chExt cx="6094" cy="1762"/>
          </a:xfrm>
        </p:grpSpPr>
        <p:grpSp>
          <p:nvGrpSpPr>
            <p:cNvPr id="108555" name="Group 25"/>
            <p:cNvGrpSpPr>
              <a:grpSpLocks/>
            </p:cNvGrpSpPr>
            <p:nvPr/>
          </p:nvGrpSpPr>
          <p:grpSpPr bwMode="auto">
            <a:xfrm>
              <a:off x="0" y="363"/>
              <a:ext cx="6094" cy="879"/>
              <a:chOff x="0" y="363"/>
              <a:chExt cx="6094" cy="879"/>
            </a:xfrm>
          </p:grpSpPr>
          <p:grpSp>
            <p:nvGrpSpPr>
              <p:cNvPr id="108557" name="Group 23"/>
              <p:cNvGrpSpPr>
                <a:grpSpLocks/>
              </p:cNvGrpSpPr>
              <p:nvPr/>
            </p:nvGrpSpPr>
            <p:grpSpPr bwMode="auto">
              <a:xfrm>
                <a:off x="3047" y="363"/>
                <a:ext cx="3047" cy="879"/>
                <a:chOff x="0" y="363"/>
                <a:chExt cx="3046" cy="879"/>
              </a:xfrm>
            </p:grpSpPr>
            <p:pic>
              <p:nvPicPr>
                <p:cNvPr id="108559" name="Picture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75"/>
                  <a:ext cx="494" cy="8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0" name="Picture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9" y="375"/>
                  <a:ext cx="502" cy="8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1" name="Picture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4" y="369"/>
                  <a:ext cx="499" cy="8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2"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6" y="363"/>
                  <a:ext cx="510" cy="8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8558" name="Rectangle 24"/>
              <p:cNvSpPr>
                <a:spLocks/>
              </p:cNvSpPr>
              <p:nvPr/>
            </p:nvSpPr>
            <p:spPr bwMode="auto">
              <a:xfrm>
                <a:off x="0" y="522"/>
                <a:ext cx="2808"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Features inferred with proximity constraint.</a:t>
                </a:r>
              </a:p>
            </p:txBody>
          </p:sp>
        </p:grpSp>
        <p:pic>
          <p:nvPicPr>
            <p:cNvPr id="108556" name="Picture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429"/>
              <a:ext cx="5312" cy="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0685" name="Rectangle 29"/>
          <p:cNvSpPr>
            <a:spLocks/>
          </p:cNvSpPr>
          <p:nvPr/>
        </p:nvSpPr>
        <p:spPr bwMode="auto">
          <a:xfrm>
            <a:off x="4848820" y="5780408"/>
            <a:ext cx="1777008" cy="375047"/>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70686" name="Rectangle 30"/>
          <p:cNvSpPr>
            <a:spLocks/>
          </p:cNvSpPr>
          <p:nvPr/>
        </p:nvSpPr>
        <p:spPr bwMode="auto">
          <a:xfrm>
            <a:off x="1534790" y="4003572"/>
            <a:ext cx="1199685"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dirty="0">
                <a:latin typeface="Helvetica"/>
                <a:ea typeface="ＭＳ Ｐゴシック" charset="0"/>
                <a:cs typeface="Helvetica"/>
              </a:rPr>
              <a:t>coin flip bias</a:t>
            </a:r>
          </a:p>
        </p:txBody>
      </p:sp>
      <p:sp>
        <p:nvSpPr>
          <p:cNvPr id="70687" name="Rectangle 31"/>
          <p:cNvSpPr>
            <a:spLocks/>
          </p:cNvSpPr>
          <p:nvPr/>
        </p:nvSpPr>
        <p:spPr bwMode="auto">
          <a:xfrm>
            <a:off x="4227135" y="6389531"/>
            <a:ext cx="203020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600" dirty="0">
                <a:latin typeface="Helvetica"/>
                <a:ea typeface="ＭＳ Ｐゴシック" charset="0"/>
                <a:cs typeface="Helvetica"/>
              </a:rPr>
              <a:t>adj. pixels share value</a:t>
            </a:r>
          </a:p>
        </p:txBody>
      </p:sp>
      <p:sp>
        <p:nvSpPr>
          <p:cNvPr id="70688" name="Rectangle 32"/>
          <p:cNvSpPr>
            <a:spLocks/>
          </p:cNvSpPr>
          <p:nvPr/>
        </p:nvSpPr>
        <p:spPr bwMode="auto">
          <a:xfrm>
            <a:off x="4335422" y="2738015"/>
            <a:ext cx="357188" cy="339328"/>
          </a:xfrm>
          <a:prstGeom prst="rect">
            <a:avLst/>
          </a:prstGeom>
          <a:solidFill>
            <a:srgbClr val="FF0D00">
              <a:alpha val="33725"/>
            </a:srgbClr>
          </a:solidFill>
          <a:ln w="25400">
            <a:solidFill>
              <a:schemeClr val="tx1">
                <a:alpha val="0"/>
              </a:schemeClr>
            </a:solidFill>
            <a:miter lim="800000"/>
            <a:headEnd/>
            <a:tailEnd/>
          </a:ln>
        </p:spPr>
        <p:txBody>
          <a:bodyPr lIns="0" tIns="0" rIns="0" bIns="0"/>
          <a:lstStyle/>
          <a:p>
            <a:endParaRPr lang="en-US"/>
          </a:p>
        </p:txBody>
      </p:sp>
      <p:sp>
        <p:nvSpPr>
          <p:cNvPr id="33" name="Rectangle 2"/>
          <p:cNvSpPr>
            <a:spLocks/>
          </p:cNvSpPr>
          <p:nvPr/>
        </p:nvSpPr>
        <p:spPr bwMode="auto">
          <a:xfrm>
            <a:off x="319246" y="1201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Capturing prior expectations: contiguity</a:t>
            </a:r>
          </a:p>
        </p:txBody>
      </p:sp>
    </p:spTree>
    <p:extLst>
      <p:ext uri="{BB962C8B-B14F-4D97-AF65-F5344CB8AC3E}">
        <p14:creationId xmlns:p14="http://schemas.microsoft.com/office/powerpoint/2010/main" val="2173271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067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7068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7068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7068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499"/>
                                          </p:stCondLst>
                                        </p:cTn>
                                        <p:tgtEl>
                                          <p:spTgt spid="7068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499"/>
                                          </p:stCondLst>
                                        </p:cTn>
                                        <p:tgtEl>
                                          <p:spTgt spid="70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5" grpId="0" animBg="1"/>
      <p:bldP spid="70686" grpId="0" autoUpdateAnimBg="0"/>
      <p:bldP spid="70687" grpId="0" autoUpdateAnimBg="0"/>
      <p:bldP spid="7068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93C7B-4F27-5D47-8D5D-27070ED711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0FBA3B-D5A7-824D-8F00-6AB00E07F21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654748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242"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1258"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766"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2242" y="2035970"/>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1258"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766"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7"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1750"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8"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2242"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9"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1258"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766" y="2035970"/>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1"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1750" y="2035970"/>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2"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52242"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3"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1258" y="2035970"/>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4"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0766" y="651867"/>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4465" name="Rectangle 17"/>
          <p:cNvSpPr>
            <a:spLocks/>
          </p:cNvSpPr>
          <p:nvPr/>
        </p:nvSpPr>
        <p:spPr bwMode="auto">
          <a:xfrm>
            <a:off x="1706688" y="189212"/>
            <a:ext cx="1450593" cy="3895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a:solidFill>
                  <a:srgbClr val="0077AE"/>
                </a:solidFill>
                <a:ea typeface="ＭＳ Ｐゴシック" charset="0"/>
                <a:cs typeface="ＭＳ Ｐゴシック" charset="0"/>
              </a:rPr>
              <a:t>Correlated</a:t>
            </a:r>
          </a:p>
        </p:txBody>
      </p:sp>
      <p:sp>
        <p:nvSpPr>
          <p:cNvPr id="104466" name="Line 18"/>
          <p:cNvSpPr>
            <a:spLocks noChangeShapeType="1"/>
          </p:cNvSpPr>
          <p:nvPr/>
        </p:nvSpPr>
        <p:spPr bwMode="auto">
          <a:xfrm rot="10800000">
            <a:off x="4824264" y="1866305"/>
            <a:ext cx="760140"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66605" name="Group 45"/>
          <p:cNvGrpSpPr>
            <a:grpSpLocks/>
          </p:cNvGrpSpPr>
          <p:nvPr/>
        </p:nvGrpSpPr>
        <p:grpSpPr bwMode="auto">
          <a:xfrm>
            <a:off x="410766" y="3636615"/>
            <a:ext cx="8170664" cy="2913311"/>
            <a:chOff x="0" y="14"/>
            <a:chExt cx="7320" cy="2610"/>
          </a:xfrm>
        </p:grpSpPr>
        <p:grpSp>
          <p:nvGrpSpPr>
            <p:cNvPr id="104485" name="Group 36"/>
            <p:cNvGrpSpPr>
              <a:grpSpLocks/>
            </p:cNvGrpSpPr>
            <p:nvPr/>
          </p:nvGrpSpPr>
          <p:grpSpPr bwMode="auto">
            <a:xfrm>
              <a:off x="0" y="14"/>
              <a:ext cx="3680" cy="2610"/>
              <a:chOff x="0" y="14"/>
              <a:chExt cx="3680" cy="2610"/>
            </a:xfrm>
          </p:grpSpPr>
          <p:sp>
            <p:nvSpPr>
              <p:cNvPr id="104494" name="Rectangle 19"/>
              <p:cNvSpPr>
                <a:spLocks/>
              </p:cNvSpPr>
              <p:nvPr/>
            </p:nvSpPr>
            <p:spPr bwMode="auto">
              <a:xfrm>
                <a:off x="1087" y="14"/>
                <a:ext cx="1466"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a:solidFill>
                      <a:srgbClr val="B200CB"/>
                    </a:solidFill>
                    <a:ea typeface="ＭＳ Ｐゴシック" charset="0"/>
                    <a:cs typeface="ＭＳ Ｐゴシック" charset="0"/>
                  </a:rPr>
                  <a:t>Independent</a:t>
                </a:r>
              </a:p>
            </p:txBody>
          </p:sp>
          <p:pic>
            <p:nvPicPr>
              <p:cNvPr id="104495"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4"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6" name="Picture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68"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7" name="Picture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8" name="Picture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9" name="Picture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84"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0" name="Picture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1" name="Picture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12"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2" name="Picture 2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84"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3" name="Picture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68"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4" name="Picture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12"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5" name="Picture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6" name="Picture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36"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7"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8" name="Picture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04"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9" name="Picture 3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12"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10" name="Picture 3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68"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86" name="Line 37"/>
            <p:cNvSpPr>
              <a:spLocks noChangeShapeType="1"/>
            </p:cNvSpPr>
            <p:nvPr/>
          </p:nvSpPr>
          <p:spPr bwMode="auto">
            <a:xfrm rot="10800000">
              <a:off x="3954" y="1556"/>
              <a:ext cx="681"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04487" name="Group 44"/>
            <p:cNvGrpSpPr>
              <a:grpSpLocks/>
            </p:cNvGrpSpPr>
            <p:nvPr/>
          </p:nvGrpSpPr>
          <p:grpSpPr bwMode="auto">
            <a:xfrm>
              <a:off x="5400" y="740"/>
              <a:ext cx="1920" cy="1632"/>
              <a:chOff x="0" y="0"/>
              <a:chExt cx="1920" cy="1632"/>
            </a:xfrm>
          </p:grpSpPr>
          <p:pic>
            <p:nvPicPr>
              <p:cNvPr id="104488" name="Picture 3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9" name="Picture 3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0" name="Picture 4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0"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1" name="Picture 4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92"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2" name="Picture 4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0"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3" name="Picture 4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92"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104468" name="Group 50"/>
          <p:cNvGrpSpPr>
            <a:grpSpLocks/>
          </p:cNvGrpSpPr>
          <p:nvPr/>
        </p:nvGrpSpPr>
        <p:grpSpPr bwMode="auto">
          <a:xfrm>
            <a:off x="6438305" y="1285877"/>
            <a:ext cx="2143125" cy="1160859"/>
            <a:chOff x="0" y="0"/>
            <a:chExt cx="1920" cy="1040"/>
          </a:xfrm>
        </p:grpSpPr>
        <p:pic>
          <p:nvPicPr>
            <p:cNvPr id="104481" name="Picture 4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2" name="Picture 4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3" name="Picture 4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0"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4" name="Picture 49"/>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92"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69" name="Rectangle 51"/>
          <p:cNvSpPr>
            <a:spLocks/>
          </p:cNvSpPr>
          <p:nvPr/>
        </p:nvSpPr>
        <p:spPr bwMode="auto">
          <a:xfrm>
            <a:off x="6105674" y="189212"/>
            <a:ext cx="2769313" cy="3895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a:ea typeface="ＭＳ Ｐゴシック" charset="0"/>
                <a:cs typeface="ＭＳ Ｐゴシック" charset="0"/>
              </a:rPr>
              <a:t>IBP Inferred Features</a:t>
            </a:r>
          </a:p>
        </p:txBody>
      </p:sp>
      <p:grpSp>
        <p:nvGrpSpPr>
          <p:cNvPr id="66616" name="Group 56"/>
          <p:cNvGrpSpPr>
            <a:grpSpLocks/>
          </p:cNvGrpSpPr>
          <p:nvPr/>
        </p:nvGrpSpPr>
        <p:grpSpPr bwMode="auto">
          <a:xfrm>
            <a:off x="258962" y="4161234"/>
            <a:ext cx="4366617" cy="598289"/>
            <a:chOff x="0" y="0"/>
            <a:chExt cx="3912" cy="536"/>
          </a:xfrm>
        </p:grpSpPr>
        <p:sp>
          <p:nvSpPr>
            <p:cNvPr id="104477" name="Oval 52"/>
            <p:cNvSpPr>
              <a:spLocks/>
            </p:cNvSpPr>
            <p:nvPr/>
          </p:nvSpPr>
          <p:spPr bwMode="auto">
            <a:xfrm>
              <a:off x="1960"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78" name="Oval 53"/>
            <p:cNvSpPr>
              <a:spLocks/>
            </p:cNvSpPr>
            <p:nvPr/>
          </p:nvSpPr>
          <p:spPr bwMode="auto">
            <a:xfrm>
              <a:off x="2928"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79" name="Oval 54"/>
            <p:cNvSpPr>
              <a:spLocks/>
            </p:cNvSpPr>
            <p:nvPr/>
          </p:nvSpPr>
          <p:spPr bwMode="auto">
            <a:xfrm>
              <a:off x="0"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80" name="Oval 55"/>
            <p:cNvSpPr>
              <a:spLocks/>
            </p:cNvSpPr>
            <p:nvPr/>
          </p:nvSpPr>
          <p:spPr bwMode="auto">
            <a:xfrm>
              <a:off x="1008"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04471" name="Rectangle 57"/>
          <p:cNvSpPr>
            <a:spLocks/>
          </p:cNvSpPr>
          <p:nvPr/>
        </p:nvSpPr>
        <p:spPr bwMode="auto">
          <a:xfrm>
            <a:off x="6895952"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3" tIns="35713" rIns="35713" bIns="35713" anchor="ctr">
            <a:spAutoFit/>
          </a:bodyPr>
          <a:lstStyle/>
          <a:p>
            <a:r>
              <a:rPr lang="en-US" sz="1400">
                <a:ea typeface="ＭＳ Ｐゴシック" charset="0"/>
                <a:cs typeface="ＭＳ Ｐゴシック" charset="0"/>
              </a:rPr>
              <a:t>Austerweil &amp; Griffiths (2011)</a:t>
            </a:r>
          </a:p>
        </p:txBody>
      </p:sp>
      <p:grpSp>
        <p:nvGrpSpPr>
          <p:cNvPr id="66622" name="Group 62"/>
          <p:cNvGrpSpPr>
            <a:grpSpLocks/>
          </p:cNvGrpSpPr>
          <p:nvPr/>
        </p:nvGrpSpPr>
        <p:grpSpPr bwMode="auto">
          <a:xfrm>
            <a:off x="258962" y="678656"/>
            <a:ext cx="4366617" cy="598289"/>
            <a:chOff x="0" y="0"/>
            <a:chExt cx="3912" cy="536"/>
          </a:xfrm>
        </p:grpSpPr>
        <p:sp>
          <p:nvSpPr>
            <p:cNvPr id="104473" name="Oval 58"/>
            <p:cNvSpPr>
              <a:spLocks/>
            </p:cNvSpPr>
            <p:nvPr/>
          </p:nvSpPr>
          <p:spPr bwMode="auto">
            <a:xfrm>
              <a:off x="1960"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74" name="Oval 59"/>
            <p:cNvSpPr>
              <a:spLocks/>
            </p:cNvSpPr>
            <p:nvPr/>
          </p:nvSpPr>
          <p:spPr bwMode="auto">
            <a:xfrm>
              <a:off x="2928"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75" name="Oval 60"/>
            <p:cNvSpPr>
              <a:spLocks/>
            </p:cNvSpPr>
            <p:nvPr/>
          </p:nvSpPr>
          <p:spPr bwMode="auto">
            <a:xfrm>
              <a:off x="0"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04476" name="Oval 61"/>
            <p:cNvSpPr>
              <a:spLocks/>
            </p:cNvSpPr>
            <p:nvPr/>
          </p:nvSpPr>
          <p:spPr bwMode="auto">
            <a:xfrm>
              <a:off x="1008" y="0"/>
              <a:ext cx="984" cy="536"/>
            </a:xfrm>
            <a:prstGeom prst="ellips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1350045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66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6616"/>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6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1"/>
          <p:cNvSpPr>
            <a:spLocks/>
          </p:cNvSpPr>
          <p:nvPr/>
        </p:nvSpPr>
        <p:spPr bwMode="auto">
          <a:xfrm>
            <a:off x="4595441" y="185441"/>
            <a:ext cx="144145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PCA Features</a:t>
            </a:r>
          </a:p>
        </p:txBody>
      </p:sp>
      <p:sp>
        <p:nvSpPr>
          <p:cNvPr id="105474" name="Rectangle 2"/>
          <p:cNvSpPr>
            <a:spLocks/>
          </p:cNvSpPr>
          <p:nvPr/>
        </p:nvSpPr>
        <p:spPr bwMode="auto">
          <a:xfrm>
            <a:off x="7244211" y="185441"/>
            <a:ext cx="137482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ICA Features</a:t>
            </a:r>
          </a:p>
        </p:txBody>
      </p:sp>
      <p:sp>
        <p:nvSpPr>
          <p:cNvPr id="105475" name="Rectangle 3"/>
          <p:cNvSpPr>
            <a:spLocks/>
          </p:cNvSpPr>
          <p:nvPr/>
        </p:nvSpPr>
        <p:spPr bwMode="auto">
          <a:xfrm>
            <a:off x="187525" y="1104937"/>
            <a:ext cx="1200246"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5" tIns="26785" rIns="26785" bIns="26785" anchor="ctr">
            <a:spAutoFit/>
          </a:bodyPr>
          <a:lstStyle/>
          <a:p>
            <a:r>
              <a:rPr lang="en-US" sz="2000">
                <a:solidFill>
                  <a:srgbClr val="0077AE"/>
                </a:solidFill>
                <a:ea typeface="ＭＳ Ｐゴシック" charset="0"/>
                <a:cs typeface="ＭＳ Ｐゴシック" charset="0"/>
              </a:rPr>
              <a:t>Correlated</a:t>
            </a:r>
          </a:p>
        </p:txBody>
      </p:sp>
      <p:sp>
        <p:nvSpPr>
          <p:cNvPr id="105476" name="Rectangle 4"/>
          <p:cNvSpPr>
            <a:spLocks/>
          </p:cNvSpPr>
          <p:nvPr/>
        </p:nvSpPr>
        <p:spPr bwMode="auto">
          <a:xfrm>
            <a:off x="116086" y="3828492"/>
            <a:ext cx="1349326"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5" tIns="26785" rIns="26785" bIns="26785" anchor="ctr">
            <a:spAutoFit/>
          </a:bodyPr>
          <a:lstStyle/>
          <a:p>
            <a:r>
              <a:rPr lang="en-US" sz="2000">
                <a:solidFill>
                  <a:srgbClr val="B200CB"/>
                </a:solidFill>
                <a:ea typeface="ＭＳ Ｐゴシック" charset="0"/>
                <a:cs typeface="ＭＳ Ｐゴシック" charset="0"/>
              </a:rPr>
              <a:t>Independent</a:t>
            </a:r>
          </a:p>
        </p:txBody>
      </p:sp>
      <p:grpSp>
        <p:nvGrpSpPr>
          <p:cNvPr id="105477" name="Group 7"/>
          <p:cNvGrpSpPr>
            <a:grpSpLocks/>
          </p:cNvGrpSpPr>
          <p:nvPr/>
        </p:nvGrpSpPr>
        <p:grpSpPr bwMode="auto">
          <a:xfrm>
            <a:off x="11117461" y="5125641"/>
            <a:ext cx="3312914" cy="2107406"/>
            <a:chOff x="0" y="0"/>
            <a:chExt cx="2968" cy="1888"/>
          </a:xfrm>
        </p:grpSpPr>
        <p:sp>
          <p:nvSpPr>
            <p:cNvPr id="105528" name="Line 5"/>
            <p:cNvSpPr>
              <a:spLocks noChangeShapeType="1"/>
            </p:cNvSpPr>
            <p:nvPr/>
          </p:nvSpPr>
          <p:spPr bwMode="auto">
            <a:xfrm>
              <a:off x="1449" y="0"/>
              <a:ext cx="11" cy="1633"/>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529" name="Rectangle 6"/>
            <p:cNvSpPr>
              <a:spLocks/>
            </p:cNvSpPr>
            <p:nvPr/>
          </p:nvSpPr>
          <p:spPr bwMode="auto">
            <a:xfrm>
              <a:off x="0" y="160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grpSp>
      <p:grpSp>
        <p:nvGrpSpPr>
          <p:cNvPr id="105478" name="Group 12"/>
          <p:cNvGrpSpPr>
            <a:grpSpLocks/>
          </p:cNvGrpSpPr>
          <p:nvPr/>
        </p:nvGrpSpPr>
        <p:grpSpPr bwMode="auto">
          <a:xfrm>
            <a:off x="1678781" y="741164"/>
            <a:ext cx="2143125" cy="1107281"/>
            <a:chOff x="0" y="0"/>
            <a:chExt cx="1920" cy="992"/>
          </a:xfrm>
        </p:grpSpPr>
        <p:pic>
          <p:nvPicPr>
            <p:cNvPr id="10552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 y="1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05479" name="Group 19"/>
          <p:cNvGrpSpPr>
            <a:grpSpLocks/>
          </p:cNvGrpSpPr>
          <p:nvPr/>
        </p:nvGrpSpPr>
        <p:grpSpPr bwMode="auto">
          <a:xfrm>
            <a:off x="1678781" y="3152181"/>
            <a:ext cx="2143125" cy="1678781"/>
            <a:chOff x="0" y="0"/>
            <a:chExt cx="1920" cy="1504"/>
          </a:xfrm>
        </p:grpSpPr>
        <p:pic>
          <p:nvPicPr>
            <p:cNvPr id="105518"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9"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8"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1"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8"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2"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02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3"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2" y="104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5480" name="Rectangle 20"/>
          <p:cNvSpPr>
            <a:spLocks/>
          </p:cNvSpPr>
          <p:nvPr/>
        </p:nvSpPr>
        <p:spPr bwMode="auto">
          <a:xfrm>
            <a:off x="2081734" y="185441"/>
            <a:ext cx="129091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IBP Features</a:t>
            </a:r>
          </a:p>
        </p:txBody>
      </p:sp>
      <p:grpSp>
        <p:nvGrpSpPr>
          <p:cNvPr id="67609" name="Group 25"/>
          <p:cNvGrpSpPr>
            <a:grpSpLocks/>
          </p:cNvGrpSpPr>
          <p:nvPr/>
        </p:nvGrpSpPr>
        <p:grpSpPr bwMode="auto">
          <a:xfrm>
            <a:off x="4268391" y="741164"/>
            <a:ext cx="2143125" cy="1107281"/>
            <a:chOff x="0" y="0"/>
            <a:chExt cx="1920" cy="992"/>
          </a:xfrm>
        </p:grpSpPr>
        <p:pic>
          <p:nvPicPr>
            <p:cNvPr id="105514" name="Picture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5" name="Picture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6" name="Picture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7" name="Picture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15" name="Group 31"/>
          <p:cNvGrpSpPr>
            <a:grpSpLocks/>
          </p:cNvGrpSpPr>
          <p:nvPr/>
        </p:nvGrpSpPr>
        <p:grpSpPr bwMode="auto">
          <a:xfrm>
            <a:off x="4268391" y="3161111"/>
            <a:ext cx="2143125" cy="1696641"/>
            <a:chOff x="0" y="0"/>
            <a:chExt cx="1920" cy="1520"/>
          </a:xfrm>
        </p:grpSpPr>
        <p:pic>
          <p:nvPicPr>
            <p:cNvPr id="105509" name="Picture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0" name="Picture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1" name="Picture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2" name="Picture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3" name="Picture 3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05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0" name="Group 36"/>
          <p:cNvGrpSpPr>
            <a:grpSpLocks/>
          </p:cNvGrpSpPr>
          <p:nvPr/>
        </p:nvGrpSpPr>
        <p:grpSpPr bwMode="auto">
          <a:xfrm>
            <a:off x="6884790" y="741164"/>
            <a:ext cx="2143125" cy="1089422"/>
            <a:chOff x="0" y="0"/>
            <a:chExt cx="1920" cy="976"/>
          </a:xfrm>
        </p:grpSpPr>
        <p:pic>
          <p:nvPicPr>
            <p:cNvPr id="105505" name="Picture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6" name="Picture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7" name="Picture 3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8" name="Picture 3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92"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7" name="Group 43"/>
          <p:cNvGrpSpPr>
            <a:grpSpLocks/>
          </p:cNvGrpSpPr>
          <p:nvPr/>
        </p:nvGrpSpPr>
        <p:grpSpPr bwMode="auto">
          <a:xfrm>
            <a:off x="6884790" y="3152180"/>
            <a:ext cx="2143125" cy="1714500"/>
            <a:chOff x="0" y="0"/>
            <a:chExt cx="1920" cy="1536"/>
          </a:xfrm>
        </p:grpSpPr>
        <p:pic>
          <p:nvPicPr>
            <p:cNvPr id="105499" name="Picture 3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0" name="Picture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92"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1" name="Picture 3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0"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2" name="Picture 4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92"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3" name="Picture 4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0" y="107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4" name="Picture 4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92" y="106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31" name="Group 47"/>
          <p:cNvGrpSpPr>
            <a:grpSpLocks/>
          </p:cNvGrpSpPr>
          <p:nvPr/>
        </p:nvGrpSpPr>
        <p:grpSpPr bwMode="auto">
          <a:xfrm>
            <a:off x="4402336" y="1669854"/>
            <a:ext cx="3312914" cy="988963"/>
            <a:chOff x="0" y="0"/>
            <a:chExt cx="2968" cy="886"/>
          </a:xfrm>
        </p:grpSpPr>
        <p:sp>
          <p:nvSpPr>
            <p:cNvPr id="105496" name="Line 44"/>
            <p:cNvSpPr>
              <a:spLocks noChangeShapeType="1"/>
            </p:cNvSpPr>
            <p:nvPr/>
          </p:nvSpPr>
          <p:spPr bwMode="auto">
            <a:xfrm>
              <a:off x="152" y="5"/>
              <a:ext cx="1174" cy="667"/>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497" name="Rectangle 45"/>
            <p:cNvSpPr>
              <a:spLocks/>
            </p:cNvSpPr>
            <p:nvPr/>
          </p:nvSpPr>
          <p:spPr bwMode="auto">
            <a:xfrm>
              <a:off x="0" y="598"/>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are negatively correlated.</a:t>
              </a:r>
            </a:p>
          </p:txBody>
        </p:sp>
        <p:sp>
          <p:nvSpPr>
            <p:cNvPr id="105498" name="Line 46"/>
            <p:cNvSpPr>
              <a:spLocks noChangeShapeType="1"/>
            </p:cNvSpPr>
            <p:nvPr/>
          </p:nvSpPr>
          <p:spPr bwMode="auto">
            <a:xfrm flipH="1">
              <a:off x="1320" y="0"/>
              <a:ext cx="1173" cy="666"/>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4" name="Group 50"/>
          <p:cNvGrpSpPr>
            <a:grpSpLocks/>
          </p:cNvGrpSpPr>
          <p:nvPr/>
        </p:nvGrpSpPr>
        <p:grpSpPr bwMode="auto">
          <a:xfrm>
            <a:off x="2116336" y="4679158"/>
            <a:ext cx="3312914" cy="723305"/>
            <a:chOff x="0" y="0"/>
            <a:chExt cx="2968" cy="648"/>
          </a:xfrm>
        </p:grpSpPr>
        <p:sp>
          <p:nvSpPr>
            <p:cNvPr id="105494" name="Rectangle 48"/>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sp>
          <p:nvSpPr>
            <p:cNvPr id="105495" name="Line 49"/>
            <p:cNvSpPr>
              <a:spLocks noChangeShapeType="1"/>
            </p:cNvSpPr>
            <p:nvPr/>
          </p:nvSpPr>
          <p:spPr bwMode="auto">
            <a:xfrm>
              <a:off x="2200"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7" name="Group 53"/>
          <p:cNvGrpSpPr>
            <a:grpSpLocks/>
          </p:cNvGrpSpPr>
          <p:nvPr/>
        </p:nvGrpSpPr>
        <p:grpSpPr bwMode="auto">
          <a:xfrm>
            <a:off x="5750719" y="4679158"/>
            <a:ext cx="3312914" cy="723305"/>
            <a:chOff x="0" y="0"/>
            <a:chExt cx="2968" cy="648"/>
          </a:xfrm>
        </p:grpSpPr>
        <p:sp>
          <p:nvSpPr>
            <p:cNvPr id="105492" name="Rectangle 51"/>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4 &amp; 5 negatively are correlated.</a:t>
              </a:r>
            </a:p>
          </p:txBody>
        </p:sp>
        <p:sp>
          <p:nvSpPr>
            <p:cNvPr id="105493" name="Line 52"/>
            <p:cNvSpPr>
              <a:spLocks noChangeShapeType="1"/>
            </p:cNvSpPr>
            <p:nvPr/>
          </p:nvSpPr>
          <p:spPr bwMode="auto">
            <a:xfrm>
              <a:off x="2512"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40" name="Group 56"/>
          <p:cNvGrpSpPr>
            <a:grpSpLocks/>
          </p:cNvGrpSpPr>
          <p:nvPr/>
        </p:nvGrpSpPr>
        <p:grpSpPr bwMode="auto">
          <a:xfrm>
            <a:off x="1758030" y="5826622"/>
            <a:ext cx="5508504" cy="459879"/>
            <a:chOff x="-103" y="0"/>
            <a:chExt cx="4935" cy="412"/>
          </a:xfrm>
        </p:grpSpPr>
        <p:sp>
          <p:nvSpPr>
            <p:cNvPr id="105490" name="Rectangle 54"/>
            <p:cNvSpPr>
              <a:spLocks/>
            </p:cNvSpPr>
            <p:nvPr/>
          </p:nvSpPr>
          <p:spPr bwMode="auto">
            <a:xfrm>
              <a:off x="0" y="0"/>
              <a:ext cx="4832" cy="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500">
                  <a:ea typeface="ＭＳ Ｐゴシック" charset="0"/>
                  <a:cs typeface="ＭＳ Ｐゴシック" charset="0"/>
                </a:rPr>
                <a:t>What do they predict?</a:t>
              </a:r>
            </a:p>
          </p:txBody>
        </p:sp>
        <p:sp>
          <p:nvSpPr>
            <p:cNvPr id="105491" name="Rectangle 55"/>
            <p:cNvSpPr>
              <a:spLocks/>
            </p:cNvSpPr>
            <p:nvPr/>
          </p:nvSpPr>
          <p:spPr bwMode="auto">
            <a:xfrm>
              <a:off x="-103" y="12"/>
              <a:ext cx="2831" cy="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05489" name="Rectangle 57"/>
          <p:cNvSpPr>
            <a:spLocks/>
          </p:cNvSpPr>
          <p:nvPr/>
        </p:nvSpPr>
        <p:spPr bwMode="auto">
          <a:xfrm>
            <a:off x="6895951" y="6571684"/>
            <a:ext cx="2119370"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400">
                <a:ea typeface="ＭＳ Ｐゴシック" charset="0"/>
                <a:cs typeface="ＭＳ Ｐゴシック" charset="0"/>
              </a:rPr>
              <a:t>Austerweil &amp; Griffiths (2011)</a:t>
            </a:r>
          </a:p>
        </p:txBody>
      </p:sp>
    </p:spTree>
    <p:extLst>
      <p:ext uri="{BB962C8B-B14F-4D97-AF65-F5344CB8AC3E}">
        <p14:creationId xmlns:p14="http://schemas.microsoft.com/office/powerpoint/2010/main" val="3563358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76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76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76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76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762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7634"/>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6763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67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648" y="986730"/>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648" y="4199186"/>
            <a:ext cx="2696766" cy="23998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105" y="858368"/>
            <a:ext cx="1506885" cy="2868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727" y="4088682"/>
            <a:ext cx="1455539" cy="2879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01" name="Rectangle 5"/>
          <p:cNvSpPr>
            <a:spLocks/>
          </p:cNvSpPr>
          <p:nvPr/>
        </p:nvSpPr>
        <p:spPr bwMode="auto">
          <a:xfrm>
            <a:off x="3105300" y="205383"/>
            <a:ext cx="5857875"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a:ea typeface="ＭＳ Ｐゴシック" charset="0"/>
                <a:cs typeface="ＭＳ Ｐゴシック" charset="0"/>
              </a:rPr>
              <a:t>All models only have one parameter fit to participant results.</a:t>
            </a:r>
          </a:p>
        </p:txBody>
      </p:sp>
      <p:sp>
        <p:nvSpPr>
          <p:cNvPr id="106502" name="Rectangle 6"/>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3" tIns="35713" rIns="35713" bIns="35713" anchor="ctr"/>
          <a:lstStyle/>
          <a:p>
            <a:pPr algn="l"/>
            <a:r>
              <a:rPr lang="en-US" sz="3200" b="1">
                <a:ea typeface="ＭＳ Ｐゴシック" charset="0"/>
                <a:cs typeface="ＭＳ Ｐゴシック" charset="0"/>
              </a:rPr>
              <a:t>Results</a:t>
            </a:r>
          </a:p>
        </p:txBody>
      </p:sp>
      <p:pic>
        <p:nvPicPr>
          <p:cNvPr id="10650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452" y="4080867"/>
            <a:ext cx="1418704" cy="285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508" y="4304109"/>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68622" name="Group 14"/>
          <p:cNvGrpSpPr>
            <a:grpSpLocks/>
          </p:cNvGrpSpPr>
          <p:nvPr/>
        </p:nvGrpSpPr>
        <p:grpSpPr bwMode="auto">
          <a:xfrm>
            <a:off x="2776017" y="4698134"/>
            <a:ext cx="517922" cy="388441"/>
            <a:chOff x="0" y="0"/>
            <a:chExt cx="464" cy="348"/>
          </a:xfrm>
        </p:grpSpPr>
        <p:grpSp>
          <p:nvGrpSpPr>
            <p:cNvPr id="106592" name="Group 12"/>
            <p:cNvGrpSpPr>
              <a:grpSpLocks/>
            </p:cNvGrpSpPr>
            <p:nvPr/>
          </p:nvGrpSpPr>
          <p:grpSpPr bwMode="auto">
            <a:xfrm>
              <a:off x="57" y="282"/>
              <a:ext cx="343" cy="66"/>
              <a:chOff x="0" y="0"/>
              <a:chExt cx="343" cy="65"/>
            </a:xfrm>
          </p:grpSpPr>
          <p:sp>
            <p:nvSpPr>
              <p:cNvPr id="106594" name="Line 9"/>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5" name="Line 10"/>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6" name="Line 11"/>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93" name="Rectangle 13"/>
            <p:cNvSpPr>
              <a:spLocks/>
            </p:cNvSpPr>
            <p:nvPr/>
          </p:nvSpPr>
          <p:spPr bwMode="auto">
            <a:xfrm>
              <a:off x="0" y="0"/>
              <a:ext cx="464"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300">
                  <a:ea typeface="ＭＳ Ｐゴシック" charset="0"/>
                  <a:cs typeface="ＭＳ Ｐゴシック" charset="0"/>
                </a:rPr>
                <a:t>no diff.</a:t>
              </a:r>
            </a:p>
          </p:txBody>
        </p:sp>
      </p:grpSp>
      <p:grpSp>
        <p:nvGrpSpPr>
          <p:cNvPr id="68628" name="Group 20"/>
          <p:cNvGrpSpPr>
            <a:grpSpLocks/>
          </p:cNvGrpSpPr>
          <p:nvPr/>
        </p:nvGrpSpPr>
        <p:grpSpPr bwMode="auto">
          <a:xfrm>
            <a:off x="3228082" y="4827613"/>
            <a:ext cx="718840" cy="932036"/>
            <a:chOff x="0" y="0"/>
            <a:chExt cx="644" cy="834"/>
          </a:xfrm>
        </p:grpSpPr>
        <p:grpSp>
          <p:nvGrpSpPr>
            <p:cNvPr id="106587" name="Group 18"/>
            <p:cNvGrpSpPr>
              <a:grpSpLocks/>
            </p:cNvGrpSpPr>
            <p:nvPr/>
          </p:nvGrpSpPr>
          <p:grpSpPr bwMode="auto">
            <a:xfrm>
              <a:off x="0" y="240"/>
              <a:ext cx="343" cy="594"/>
              <a:chOff x="0" y="0"/>
              <a:chExt cx="343" cy="593"/>
            </a:xfrm>
          </p:grpSpPr>
          <p:sp>
            <p:nvSpPr>
              <p:cNvPr id="106589" name="Line 15"/>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0" name="Line 16"/>
              <p:cNvSpPr>
                <a:spLocks noChangeShapeType="1"/>
              </p:cNvSpPr>
              <p:nvPr/>
            </p:nvSpPr>
            <p:spPr bwMode="auto">
              <a:xfrm rot="10800000">
                <a:off x="333" y="2"/>
                <a:ext cx="0" cy="591"/>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1" name="Line 17"/>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88" name="Rectangle 19"/>
            <p:cNvSpPr>
              <a:spLocks/>
            </p:cNvSpPr>
            <p:nvPr/>
          </p:nvSpPr>
          <p:spPr bwMode="auto">
            <a:xfrm>
              <a:off x="44" y="0"/>
              <a:ext cx="600"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300">
                  <a:ea typeface="ＭＳ Ｐゴシック" charset="0"/>
                  <a:cs typeface="ＭＳ Ｐゴシック" charset="0"/>
                </a:rPr>
                <a:t>large diff.</a:t>
              </a:r>
            </a:p>
          </p:txBody>
        </p:sp>
      </p:grpSp>
      <p:grpSp>
        <p:nvGrpSpPr>
          <p:cNvPr id="68633" name="Group 25"/>
          <p:cNvGrpSpPr>
            <a:grpSpLocks/>
          </p:cNvGrpSpPr>
          <p:nvPr/>
        </p:nvGrpSpPr>
        <p:grpSpPr bwMode="auto">
          <a:xfrm>
            <a:off x="1398613" y="4248302"/>
            <a:ext cx="1102772" cy="2144241"/>
            <a:chOff x="0" y="18"/>
            <a:chExt cx="987" cy="1921"/>
          </a:xfrm>
        </p:grpSpPr>
        <p:pic>
          <p:nvPicPr>
            <p:cNvPr id="106583"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 y="209"/>
              <a:ext cx="760" cy="17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4" name="Rectangle 22"/>
            <p:cNvSpPr>
              <a:spLocks/>
            </p:cNvSpPr>
            <p:nvPr/>
          </p:nvSpPr>
          <p:spPr bwMode="auto">
            <a:xfrm>
              <a:off x="0" y="18"/>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85" name="Rectangle 23"/>
            <p:cNvSpPr>
              <a:spLocks/>
            </p:cNvSpPr>
            <p:nvPr/>
          </p:nvSpPr>
          <p:spPr bwMode="auto">
            <a:xfrm>
              <a:off x="258" y="1398"/>
              <a:ext cx="424"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86" name="Rectangle 24"/>
            <p:cNvSpPr>
              <a:spLocks/>
            </p:cNvSpPr>
            <p:nvPr/>
          </p:nvSpPr>
          <p:spPr bwMode="auto">
            <a:xfrm>
              <a:off x="545" y="1502"/>
              <a:ext cx="442"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grpSp>
        <p:nvGrpSpPr>
          <p:cNvPr id="68638" name="Group 30"/>
          <p:cNvGrpSpPr>
            <a:grpSpLocks/>
          </p:cNvGrpSpPr>
          <p:nvPr/>
        </p:nvGrpSpPr>
        <p:grpSpPr bwMode="auto">
          <a:xfrm>
            <a:off x="2741415" y="5074297"/>
            <a:ext cx="1074911" cy="1324943"/>
            <a:chOff x="0" y="18"/>
            <a:chExt cx="963" cy="1187"/>
          </a:xfrm>
        </p:grpSpPr>
        <p:pic>
          <p:nvPicPr>
            <p:cNvPr id="106579" name="Picture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 y="207"/>
              <a:ext cx="760" cy="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0" name="Rectangle 27"/>
            <p:cNvSpPr>
              <a:spLocks/>
            </p:cNvSpPr>
            <p:nvPr/>
          </p:nvSpPr>
          <p:spPr bwMode="auto">
            <a:xfrm>
              <a:off x="0" y="18"/>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81" name="Rectangle 28"/>
            <p:cNvSpPr>
              <a:spLocks/>
            </p:cNvSpPr>
            <p:nvPr/>
          </p:nvSpPr>
          <p:spPr bwMode="auto">
            <a:xfrm>
              <a:off x="264" y="106"/>
              <a:ext cx="42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82" name="Rectangle 29"/>
            <p:cNvSpPr>
              <a:spLocks/>
            </p:cNvSpPr>
            <p:nvPr/>
          </p:nvSpPr>
          <p:spPr bwMode="auto">
            <a:xfrm>
              <a:off x="520" y="586"/>
              <a:ext cx="443"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grpSp>
        <p:nvGrpSpPr>
          <p:cNvPr id="68643" name="Group 35"/>
          <p:cNvGrpSpPr>
            <a:grpSpLocks/>
          </p:cNvGrpSpPr>
          <p:nvPr/>
        </p:nvGrpSpPr>
        <p:grpSpPr bwMode="auto">
          <a:xfrm>
            <a:off x="5947174" y="1252391"/>
            <a:ext cx="1083841" cy="1827237"/>
            <a:chOff x="0" y="18"/>
            <a:chExt cx="971" cy="1637"/>
          </a:xfrm>
        </p:grpSpPr>
        <p:pic>
          <p:nvPicPr>
            <p:cNvPr id="106575"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 y="203"/>
              <a:ext cx="762" cy="1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6" name="Rectangle 32"/>
            <p:cNvSpPr>
              <a:spLocks/>
            </p:cNvSpPr>
            <p:nvPr/>
          </p:nvSpPr>
          <p:spPr bwMode="auto">
            <a:xfrm>
              <a:off x="0" y="18"/>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77" name="Rectangle 33"/>
            <p:cNvSpPr>
              <a:spLocks/>
            </p:cNvSpPr>
            <p:nvPr/>
          </p:nvSpPr>
          <p:spPr bwMode="auto">
            <a:xfrm>
              <a:off x="256" y="906"/>
              <a:ext cx="42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78" name="Rectangle 34"/>
            <p:cNvSpPr>
              <a:spLocks/>
            </p:cNvSpPr>
            <p:nvPr/>
          </p:nvSpPr>
          <p:spPr bwMode="auto">
            <a:xfrm>
              <a:off x="528" y="1130"/>
              <a:ext cx="443"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sp>
        <p:nvSpPr>
          <p:cNvPr id="106510" name="Rectangle 36"/>
          <p:cNvSpPr>
            <a:spLocks/>
          </p:cNvSpPr>
          <p:nvPr/>
        </p:nvSpPr>
        <p:spPr bwMode="auto">
          <a:xfrm>
            <a:off x="9054703" y="-131280"/>
            <a:ext cx="494276"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nvGrpSpPr>
          <p:cNvPr id="68651" name="Group 43"/>
          <p:cNvGrpSpPr>
            <a:grpSpLocks/>
          </p:cNvGrpSpPr>
          <p:nvPr/>
        </p:nvGrpSpPr>
        <p:grpSpPr bwMode="auto">
          <a:xfrm>
            <a:off x="7277698" y="1321594"/>
            <a:ext cx="1083841" cy="1766962"/>
            <a:chOff x="0" y="0"/>
            <a:chExt cx="971" cy="1583"/>
          </a:xfrm>
        </p:grpSpPr>
        <p:grpSp>
          <p:nvGrpSpPr>
            <p:cNvPr id="106569" name="Group 39"/>
            <p:cNvGrpSpPr>
              <a:grpSpLocks/>
            </p:cNvGrpSpPr>
            <p:nvPr/>
          </p:nvGrpSpPr>
          <p:grpSpPr bwMode="auto">
            <a:xfrm>
              <a:off x="54" y="0"/>
              <a:ext cx="763" cy="1583"/>
              <a:chOff x="0" y="0"/>
              <a:chExt cx="762" cy="1583"/>
            </a:xfrm>
          </p:grpSpPr>
          <p:pic>
            <p:nvPicPr>
              <p:cNvPr id="106573" name="Picture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435"/>
                <a:ext cx="762" cy="11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4" name="Line 38"/>
              <p:cNvSpPr>
                <a:spLocks noChangeShapeType="1"/>
              </p:cNvSpPr>
              <p:nvPr/>
            </p:nvSpPr>
            <p:spPr bwMode="auto">
              <a:xfrm>
                <a:off x="153" y="0"/>
                <a:ext cx="544" cy="603"/>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70" name="Rectangle 40"/>
            <p:cNvSpPr>
              <a:spLocks/>
            </p:cNvSpPr>
            <p:nvPr/>
          </p:nvSpPr>
          <p:spPr bwMode="auto">
            <a:xfrm>
              <a:off x="0" y="266"/>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71" name="Rectangle 41"/>
            <p:cNvSpPr>
              <a:spLocks/>
            </p:cNvSpPr>
            <p:nvPr/>
          </p:nvSpPr>
          <p:spPr bwMode="auto">
            <a:xfrm>
              <a:off x="272" y="586"/>
              <a:ext cx="42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72" name="Rectangle 42"/>
            <p:cNvSpPr>
              <a:spLocks/>
            </p:cNvSpPr>
            <p:nvPr/>
          </p:nvSpPr>
          <p:spPr bwMode="auto">
            <a:xfrm>
              <a:off x="528" y="994"/>
              <a:ext cx="443"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grpSp>
        <p:nvGrpSpPr>
          <p:cNvPr id="68656" name="Group 48"/>
          <p:cNvGrpSpPr>
            <a:grpSpLocks/>
          </p:cNvGrpSpPr>
          <p:nvPr/>
        </p:nvGrpSpPr>
        <p:grpSpPr bwMode="auto">
          <a:xfrm>
            <a:off x="5947172" y="4386709"/>
            <a:ext cx="1101700" cy="1904256"/>
            <a:chOff x="0" y="18"/>
            <a:chExt cx="987" cy="1706"/>
          </a:xfrm>
        </p:grpSpPr>
        <p:pic>
          <p:nvPicPr>
            <p:cNvPr id="106565" name="Picture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 y="199"/>
              <a:ext cx="762" cy="1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6" name="Rectangle 45"/>
            <p:cNvSpPr>
              <a:spLocks/>
            </p:cNvSpPr>
            <p:nvPr/>
          </p:nvSpPr>
          <p:spPr bwMode="auto">
            <a:xfrm>
              <a:off x="0" y="18"/>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67" name="Rectangle 46"/>
            <p:cNvSpPr>
              <a:spLocks/>
            </p:cNvSpPr>
            <p:nvPr/>
          </p:nvSpPr>
          <p:spPr bwMode="auto">
            <a:xfrm>
              <a:off x="256" y="1050"/>
              <a:ext cx="42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68" name="Rectangle 47"/>
            <p:cNvSpPr>
              <a:spLocks/>
            </p:cNvSpPr>
            <p:nvPr/>
          </p:nvSpPr>
          <p:spPr bwMode="auto">
            <a:xfrm>
              <a:off x="544" y="1170"/>
              <a:ext cx="443"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grpSp>
        <p:nvGrpSpPr>
          <p:cNvPr id="68663" name="Group 55"/>
          <p:cNvGrpSpPr>
            <a:grpSpLocks/>
          </p:cNvGrpSpPr>
          <p:nvPr/>
        </p:nvGrpSpPr>
        <p:grpSpPr bwMode="auto">
          <a:xfrm>
            <a:off x="7277698" y="4801941"/>
            <a:ext cx="1083841" cy="1489025"/>
            <a:chOff x="0" y="0"/>
            <a:chExt cx="971" cy="1333"/>
          </a:xfrm>
        </p:grpSpPr>
        <p:grpSp>
          <p:nvGrpSpPr>
            <p:cNvPr id="106559" name="Group 51"/>
            <p:cNvGrpSpPr>
              <a:grpSpLocks/>
            </p:cNvGrpSpPr>
            <p:nvPr/>
          </p:nvGrpSpPr>
          <p:grpSpPr bwMode="auto">
            <a:xfrm>
              <a:off x="63" y="0"/>
              <a:ext cx="763" cy="1333"/>
              <a:chOff x="0" y="0"/>
              <a:chExt cx="762" cy="1333"/>
            </a:xfrm>
          </p:grpSpPr>
          <p:pic>
            <p:nvPicPr>
              <p:cNvPr id="106563" name="Picture 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360"/>
                <a:ext cx="762" cy="9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4" name="Line 50"/>
              <p:cNvSpPr>
                <a:spLocks noChangeShapeType="1"/>
              </p:cNvSpPr>
              <p:nvPr/>
            </p:nvSpPr>
            <p:spPr bwMode="auto">
              <a:xfrm>
                <a:off x="165" y="0"/>
                <a:ext cx="573" cy="344"/>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60" name="Rectangle 52"/>
            <p:cNvSpPr>
              <a:spLocks/>
            </p:cNvSpPr>
            <p:nvPr/>
          </p:nvSpPr>
          <p:spPr bwMode="auto">
            <a:xfrm>
              <a:off x="0" y="195"/>
              <a:ext cx="27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61" name="Rectangle 53"/>
            <p:cNvSpPr>
              <a:spLocks/>
            </p:cNvSpPr>
            <p:nvPr/>
          </p:nvSpPr>
          <p:spPr bwMode="auto">
            <a:xfrm>
              <a:off x="280" y="331"/>
              <a:ext cx="425"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62" name="Rectangle 54"/>
            <p:cNvSpPr>
              <a:spLocks/>
            </p:cNvSpPr>
            <p:nvPr/>
          </p:nvSpPr>
          <p:spPr bwMode="auto">
            <a:xfrm>
              <a:off x="528" y="555"/>
              <a:ext cx="443" cy="1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grpSp>
        <p:nvGrpSpPr>
          <p:cNvPr id="106514" name="Group 59"/>
          <p:cNvGrpSpPr>
            <a:grpSpLocks/>
          </p:cNvGrpSpPr>
          <p:nvPr/>
        </p:nvGrpSpPr>
        <p:grpSpPr bwMode="auto">
          <a:xfrm>
            <a:off x="1400847" y="6420448"/>
            <a:ext cx="2332881" cy="357187"/>
            <a:chOff x="0" y="12"/>
            <a:chExt cx="2090" cy="320"/>
          </a:xfrm>
        </p:grpSpPr>
        <p:sp>
          <p:nvSpPr>
            <p:cNvPr id="106556" name="Rectangle 5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7" name="Rectangle 57"/>
            <p:cNvSpPr>
              <a:spLocks/>
            </p:cNvSpPr>
            <p:nvPr/>
          </p:nvSpPr>
          <p:spPr bwMode="auto">
            <a:xfrm>
              <a:off x="0" y="21"/>
              <a:ext cx="727"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0077AE"/>
                  </a:solidFill>
                  <a:latin typeface="Times New Roman" charset="0"/>
                  <a:ea typeface="ＭＳ Ｐゴシック" charset="0"/>
                  <a:cs typeface="ＭＳ Ｐゴシック" charset="0"/>
                  <a:sym typeface="Times New Roman" charset="0"/>
                </a:rPr>
                <a:t>Correlated</a:t>
              </a:r>
            </a:p>
          </p:txBody>
        </p:sp>
        <p:sp>
          <p:nvSpPr>
            <p:cNvPr id="106558" name="Rectangle 58"/>
            <p:cNvSpPr>
              <a:spLocks/>
            </p:cNvSpPr>
            <p:nvPr/>
          </p:nvSpPr>
          <p:spPr bwMode="auto">
            <a:xfrm>
              <a:off x="1185" y="25"/>
              <a:ext cx="852"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5" name="Group 63"/>
          <p:cNvGrpSpPr>
            <a:grpSpLocks/>
          </p:cNvGrpSpPr>
          <p:nvPr/>
        </p:nvGrpSpPr>
        <p:grpSpPr bwMode="auto">
          <a:xfrm>
            <a:off x="5929315" y="3134323"/>
            <a:ext cx="2330649" cy="357187"/>
            <a:chOff x="0" y="8"/>
            <a:chExt cx="2088" cy="320"/>
          </a:xfrm>
        </p:grpSpPr>
        <p:sp>
          <p:nvSpPr>
            <p:cNvPr id="106553" name="Rectangle 60"/>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4" name="Rectangle 61"/>
            <p:cNvSpPr>
              <a:spLocks/>
            </p:cNvSpPr>
            <p:nvPr/>
          </p:nvSpPr>
          <p:spPr bwMode="auto">
            <a:xfrm>
              <a:off x="0" y="21"/>
              <a:ext cx="727"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0077AE"/>
                  </a:solidFill>
                  <a:latin typeface="Times New Roman" charset="0"/>
                  <a:ea typeface="ＭＳ Ｐゴシック" charset="0"/>
                  <a:cs typeface="ＭＳ Ｐゴシック" charset="0"/>
                  <a:sym typeface="Times New Roman" charset="0"/>
                </a:rPr>
                <a:t>Correlated</a:t>
              </a:r>
            </a:p>
          </p:txBody>
        </p:sp>
        <p:sp>
          <p:nvSpPr>
            <p:cNvPr id="106555" name="Rectangle 62"/>
            <p:cNvSpPr>
              <a:spLocks/>
            </p:cNvSpPr>
            <p:nvPr/>
          </p:nvSpPr>
          <p:spPr bwMode="auto">
            <a:xfrm>
              <a:off x="1184" y="21"/>
              <a:ext cx="852"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6" name="Group 67"/>
          <p:cNvGrpSpPr>
            <a:grpSpLocks/>
          </p:cNvGrpSpPr>
          <p:nvPr/>
        </p:nvGrpSpPr>
        <p:grpSpPr bwMode="auto">
          <a:xfrm>
            <a:off x="5929315" y="6375799"/>
            <a:ext cx="2330649" cy="357187"/>
            <a:chOff x="0" y="8"/>
            <a:chExt cx="2088" cy="320"/>
          </a:xfrm>
        </p:grpSpPr>
        <p:sp>
          <p:nvSpPr>
            <p:cNvPr id="106550" name="Rectangle 64"/>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1" name="Rectangle 65"/>
            <p:cNvSpPr>
              <a:spLocks/>
            </p:cNvSpPr>
            <p:nvPr/>
          </p:nvSpPr>
          <p:spPr bwMode="auto">
            <a:xfrm>
              <a:off x="0" y="21"/>
              <a:ext cx="727"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0077AE"/>
                  </a:solidFill>
                  <a:latin typeface="Times New Roman" charset="0"/>
                  <a:ea typeface="ＭＳ Ｐゴシック" charset="0"/>
                  <a:cs typeface="ＭＳ Ｐゴシック" charset="0"/>
                  <a:sym typeface="Times New Roman" charset="0"/>
                </a:rPr>
                <a:t>Correlated</a:t>
              </a:r>
            </a:p>
          </p:txBody>
        </p:sp>
        <p:sp>
          <p:nvSpPr>
            <p:cNvPr id="106552" name="Rectangle 66"/>
            <p:cNvSpPr>
              <a:spLocks/>
            </p:cNvSpPr>
            <p:nvPr/>
          </p:nvSpPr>
          <p:spPr bwMode="auto">
            <a:xfrm>
              <a:off x="1184" y="21"/>
              <a:ext cx="852"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B200CB"/>
                  </a:solidFill>
                  <a:latin typeface="Times New Roman" charset="0"/>
                  <a:ea typeface="ＭＳ Ｐゴシック" charset="0"/>
                  <a:cs typeface="ＭＳ Ｐゴシック" charset="0"/>
                  <a:sym typeface="Times New Roman" charset="0"/>
                </a:rPr>
                <a:t>Independent</a:t>
              </a:r>
            </a:p>
          </p:txBody>
        </p:sp>
      </p:grpSp>
      <p:sp>
        <p:nvSpPr>
          <p:cNvPr id="106517" name="Rectangle 68"/>
          <p:cNvSpPr>
            <a:spLocks/>
          </p:cNvSpPr>
          <p:nvPr/>
        </p:nvSpPr>
        <p:spPr bwMode="auto">
          <a:xfrm>
            <a:off x="6895952" y="6553480"/>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3" tIns="35713" rIns="35713" bIns="35713" anchor="ctr">
            <a:spAutoFit/>
          </a:bodyPr>
          <a:lstStyle/>
          <a:p>
            <a:r>
              <a:rPr lang="en-US" sz="1400">
                <a:ea typeface="ＭＳ Ｐゴシック" charset="0"/>
                <a:cs typeface="ＭＳ Ｐゴシック" charset="0"/>
              </a:rPr>
              <a:t>Austerweil &amp; Griffiths (2011)</a:t>
            </a:r>
          </a:p>
        </p:txBody>
      </p:sp>
      <p:grpSp>
        <p:nvGrpSpPr>
          <p:cNvPr id="106518" name="Group 76"/>
          <p:cNvGrpSpPr>
            <a:grpSpLocks/>
          </p:cNvGrpSpPr>
          <p:nvPr/>
        </p:nvGrpSpPr>
        <p:grpSpPr bwMode="auto">
          <a:xfrm>
            <a:off x="1098352" y="892971"/>
            <a:ext cx="2902148" cy="2577331"/>
            <a:chOff x="0" y="0"/>
            <a:chExt cx="2600" cy="2309"/>
          </a:xfrm>
        </p:grpSpPr>
        <p:pic>
          <p:nvPicPr>
            <p:cNvPr id="106543" name="Picture 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6" y="0"/>
              <a:ext cx="1773" cy="2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106544" name="Group 75"/>
            <p:cNvGrpSpPr>
              <a:grpSpLocks/>
            </p:cNvGrpSpPr>
            <p:nvPr/>
          </p:nvGrpSpPr>
          <p:grpSpPr bwMode="auto">
            <a:xfrm>
              <a:off x="0" y="96"/>
              <a:ext cx="2600" cy="2213"/>
              <a:chOff x="0" y="0"/>
              <a:chExt cx="2600" cy="2213"/>
            </a:xfrm>
          </p:grpSpPr>
          <p:pic>
            <p:nvPicPr>
              <p:cNvPr id="106545" name="Picture 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8" y="656"/>
                <a:ext cx="760" cy="12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6" name="Picture 7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 y="1832"/>
                <a:ext cx="72"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7" name="Picture 7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4"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8" name="Picture 7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 y="416"/>
                <a:ext cx="760" cy="15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9" name="Picture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 y="64"/>
                <a:ext cx="2416" cy="21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106519" name="Group 82"/>
          <p:cNvGrpSpPr>
            <a:grpSpLocks/>
          </p:cNvGrpSpPr>
          <p:nvPr/>
        </p:nvGrpSpPr>
        <p:grpSpPr bwMode="auto">
          <a:xfrm>
            <a:off x="2902148" y="1070449"/>
            <a:ext cx="517922" cy="389557"/>
            <a:chOff x="0" y="0"/>
            <a:chExt cx="464" cy="348"/>
          </a:xfrm>
        </p:grpSpPr>
        <p:grpSp>
          <p:nvGrpSpPr>
            <p:cNvPr id="106538" name="Group 80"/>
            <p:cNvGrpSpPr>
              <a:grpSpLocks/>
            </p:cNvGrpSpPr>
            <p:nvPr/>
          </p:nvGrpSpPr>
          <p:grpSpPr bwMode="auto">
            <a:xfrm>
              <a:off x="57" y="282"/>
              <a:ext cx="343" cy="66"/>
              <a:chOff x="0" y="0"/>
              <a:chExt cx="343" cy="65"/>
            </a:xfrm>
          </p:grpSpPr>
          <p:sp>
            <p:nvSpPr>
              <p:cNvPr id="106540" name="Line 77"/>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1" name="Line 78"/>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2" name="Line 79"/>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9" name="Rectangle 81"/>
            <p:cNvSpPr>
              <a:spLocks/>
            </p:cNvSpPr>
            <p:nvPr/>
          </p:nvSpPr>
          <p:spPr bwMode="auto">
            <a:xfrm>
              <a:off x="0" y="0"/>
              <a:ext cx="464"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300">
                  <a:ea typeface="ＭＳ Ｐゴシック" charset="0"/>
                  <a:cs typeface="ＭＳ Ｐゴシック" charset="0"/>
                </a:rPr>
                <a:t>no diff.</a:t>
              </a:r>
            </a:p>
          </p:txBody>
        </p:sp>
      </p:grpSp>
      <p:grpSp>
        <p:nvGrpSpPr>
          <p:cNvPr id="106520" name="Group 88"/>
          <p:cNvGrpSpPr>
            <a:grpSpLocks/>
          </p:cNvGrpSpPr>
          <p:nvPr/>
        </p:nvGrpSpPr>
        <p:grpSpPr bwMode="auto">
          <a:xfrm>
            <a:off x="3357562" y="1232298"/>
            <a:ext cx="718840" cy="821531"/>
            <a:chOff x="0" y="0"/>
            <a:chExt cx="644" cy="736"/>
          </a:xfrm>
        </p:grpSpPr>
        <p:grpSp>
          <p:nvGrpSpPr>
            <p:cNvPr id="106533" name="Group 86"/>
            <p:cNvGrpSpPr>
              <a:grpSpLocks/>
            </p:cNvGrpSpPr>
            <p:nvPr/>
          </p:nvGrpSpPr>
          <p:grpSpPr bwMode="auto">
            <a:xfrm>
              <a:off x="0" y="240"/>
              <a:ext cx="336" cy="496"/>
              <a:chOff x="0" y="0"/>
              <a:chExt cx="336" cy="496"/>
            </a:xfrm>
          </p:grpSpPr>
          <p:sp>
            <p:nvSpPr>
              <p:cNvPr id="106535" name="Line 83"/>
              <p:cNvSpPr>
                <a:spLocks noChangeShapeType="1"/>
              </p:cNvSpPr>
              <p:nvPr/>
            </p:nvSpPr>
            <p:spPr bwMode="auto">
              <a:xfrm>
                <a:off x="0" y="4"/>
                <a:ext cx="33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6" name="Line 84"/>
              <p:cNvSpPr>
                <a:spLocks noChangeShapeType="1"/>
              </p:cNvSpPr>
              <p:nvPr/>
            </p:nvSpPr>
            <p:spPr bwMode="auto">
              <a:xfrm rot="10800000">
                <a:off x="326" y="1"/>
                <a:ext cx="0" cy="49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7" name="Line 85"/>
              <p:cNvSpPr>
                <a:spLocks noChangeShapeType="1"/>
              </p:cNvSpPr>
              <p:nvPr/>
            </p:nvSpPr>
            <p:spPr bwMode="auto">
              <a:xfrm rot="10800000">
                <a:off x="6" y="0"/>
                <a:ext cx="0" cy="5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4" name="Rectangle 87"/>
            <p:cNvSpPr>
              <a:spLocks/>
            </p:cNvSpPr>
            <p:nvPr/>
          </p:nvSpPr>
          <p:spPr bwMode="auto">
            <a:xfrm>
              <a:off x="44" y="0"/>
              <a:ext cx="600"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300">
                  <a:ea typeface="ＭＳ Ｐゴシック" charset="0"/>
                  <a:cs typeface="ＭＳ Ｐゴシック" charset="0"/>
                </a:rPr>
                <a:t>large diff.</a:t>
              </a:r>
            </a:p>
          </p:txBody>
        </p:sp>
      </p:grpSp>
      <p:sp>
        <p:nvSpPr>
          <p:cNvPr id="106521" name="Rectangle 89"/>
          <p:cNvSpPr>
            <a:spLocks/>
          </p:cNvSpPr>
          <p:nvPr/>
        </p:nvSpPr>
        <p:spPr bwMode="auto">
          <a:xfrm>
            <a:off x="398488" y="2056968"/>
            <a:ext cx="666160"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latin typeface="Times New Roman" charset="0"/>
                <a:ea typeface="ＭＳ Ｐゴシック" charset="0"/>
                <a:cs typeface="ＭＳ Ｐゴシック" charset="0"/>
                <a:sym typeface="Times New Roman" charset="0"/>
              </a:rPr>
              <a:t>Ratings</a:t>
            </a:r>
          </a:p>
        </p:txBody>
      </p:sp>
      <p:sp>
        <p:nvSpPr>
          <p:cNvPr id="106522" name="Rectangle 90"/>
          <p:cNvSpPr>
            <a:spLocks/>
          </p:cNvSpPr>
          <p:nvPr/>
        </p:nvSpPr>
        <p:spPr bwMode="auto">
          <a:xfrm>
            <a:off x="1500190" y="1252822"/>
            <a:ext cx="307213"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23" name="Rectangle 91"/>
          <p:cNvSpPr>
            <a:spLocks/>
          </p:cNvSpPr>
          <p:nvPr/>
        </p:nvSpPr>
        <p:spPr bwMode="auto">
          <a:xfrm>
            <a:off x="2794994" y="1547501"/>
            <a:ext cx="307213"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seen</a:t>
            </a:r>
          </a:p>
        </p:txBody>
      </p:sp>
      <p:sp>
        <p:nvSpPr>
          <p:cNvPr id="106524" name="Rectangle 92"/>
          <p:cNvSpPr>
            <a:spLocks/>
          </p:cNvSpPr>
          <p:nvPr/>
        </p:nvSpPr>
        <p:spPr bwMode="auto">
          <a:xfrm>
            <a:off x="3125393" y="1556431"/>
            <a:ext cx="473925"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25" name="Rectangle 93"/>
          <p:cNvSpPr>
            <a:spLocks/>
          </p:cNvSpPr>
          <p:nvPr/>
        </p:nvSpPr>
        <p:spPr bwMode="auto">
          <a:xfrm>
            <a:off x="1794869" y="2083283"/>
            <a:ext cx="473925"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unseen</a:t>
            </a:r>
          </a:p>
        </p:txBody>
      </p:sp>
      <p:sp>
        <p:nvSpPr>
          <p:cNvPr id="106526" name="Rectangle 94"/>
          <p:cNvSpPr>
            <a:spLocks/>
          </p:cNvSpPr>
          <p:nvPr/>
        </p:nvSpPr>
        <p:spPr bwMode="auto">
          <a:xfrm>
            <a:off x="2097360" y="2252947"/>
            <a:ext cx="494276"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sp>
        <p:nvSpPr>
          <p:cNvPr id="106527" name="Rectangle 95"/>
          <p:cNvSpPr>
            <a:spLocks/>
          </p:cNvSpPr>
          <p:nvPr/>
        </p:nvSpPr>
        <p:spPr bwMode="auto">
          <a:xfrm>
            <a:off x="3434581" y="2020775"/>
            <a:ext cx="494276" cy="2000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300">
                <a:ea typeface="ＭＳ Ｐゴシック" charset="0"/>
                <a:cs typeface="ＭＳ Ｐゴシック" charset="0"/>
              </a:rPr>
              <a:t>control</a:t>
            </a:r>
          </a:p>
        </p:txBody>
      </p:sp>
      <p:grpSp>
        <p:nvGrpSpPr>
          <p:cNvPr id="106528" name="Group 99"/>
          <p:cNvGrpSpPr>
            <a:grpSpLocks/>
          </p:cNvGrpSpPr>
          <p:nvPr/>
        </p:nvGrpSpPr>
        <p:grpSpPr bwMode="auto">
          <a:xfrm>
            <a:off x="1473400" y="3156647"/>
            <a:ext cx="2332882" cy="357187"/>
            <a:chOff x="0" y="12"/>
            <a:chExt cx="2090" cy="320"/>
          </a:xfrm>
        </p:grpSpPr>
        <p:sp>
          <p:nvSpPr>
            <p:cNvPr id="106530" name="Rectangle 9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31" name="Rectangle 97"/>
            <p:cNvSpPr>
              <a:spLocks/>
            </p:cNvSpPr>
            <p:nvPr/>
          </p:nvSpPr>
          <p:spPr bwMode="auto">
            <a:xfrm>
              <a:off x="0" y="21"/>
              <a:ext cx="727"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0077AE"/>
                  </a:solidFill>
                  <a:latin typeface="Times New Roman" charset="0"/>
                  <a:ea typeface="ＭＳ Ｐゴシック" charset="0"/>
                  <a:cs typeface="ＭＳ Ｐゴシック" charset="0"/>
                  <a:sym typeface="Times New Roman" charset="0"/>
                </a:rPr>
                <a:t>Correlated</a:t>
              </a:r>
            </a:p>
          </p:txBody>
        </p:sp>
        <p:sp>
          <p:nvSpPr>
            <p:cNvPr id="106532" name="Rectangle 98"/>
            <p:cNvSpPr>
              <a:spLocks/>
            </p:cNvSpPr>
            <p:nvPr/>
          </p:nvSpPr>
          <p:spPr bwMode="auto">
            <a:xfrm>
              <a:off x="1185" y="25"/>
              <a:ext cx="852"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solidFill>
                    <a:srgbClr val="B200CB"/>
                  </a:solidFill>
                  <a:latin typeface="Times New Roman" charset="0"/>
                  <a:ea typeface="ＭＳ Ｐゴシック" charset="0"/>
                  <a:cs typeface="ＭＳ Ｐゴシック" charset="0"/>
                  <a:sym typeface="Times New Roman" charset="0"/>
                </a:rPr>
                <a:t>Independent</a:t>
              </a:r>
            </a:p>
          </p:txBody>
        </p:sp>
      </p:grpSp>
      <p:sp>
        <p:nvSpPr>
          <p:cNvPr id="68708" name="Rectangle 100"/>
          <p:cNvSpPr>
            <a:spLocks/>
          </p:cNvSpPr>
          <p:nvPr/>
        </p:nvSpPr>
        <p:spPr bwMode="auto">
          <a:xfrm>
            <a:off x="831578" y="3464719"/>
            <a:ext cx="7965281" cy="5715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nchor="ctr"/>
          <a:lstStyle/>
          <a:p>
            <a:r>
              <a:rPr lang="en-US" sz="1700">
                <a:ea typeface="ＭＳ Ｐゴシック" charset="0"/>
                <a:cs typeface="ＭＳ Ｐゴシック" charset="0"/>
              </a:rPr>
              <a:t>Given raw pixel data of images, the IBP infers the same features as people do, </a:t>
            </a:r>
          </a:p>
          <a:p>
            <a:r>
              <a:rPr lang="en-US" sz="1700">
                <a:ea typeface="ＭＳ Ｐゴシック" charset="0"/>
                <a:cs typeface="ＭＳ Ｐゴシック" charset="0"/>
              </a:rPr>
              <a:t>but PCA and ICA do not.</a:t>
            </a:r>
          </a:p>
        </p:txBody>
      </p:sp>
    </p:spTree>
    <p:extLst>
      <p:ext uri="{BB962C8B-B14F-4D97-AF65-F5344CB8AC3E}">
        <p14:creationId xmlns:p14="http://schemas.microsoft.com/office/powerpoint/2010/main" val="1110981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86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86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686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86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686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686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865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866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8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08"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258" y="1651993"/>
            <a:ext cx="3839766" cy="35540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7522" name="Rectangle 2"/>
          <p:cNvSpPr>
            <a:spLocks/>
          </p:cNvSpPr>
          <p:nvPr/>
        </p:nvSpPr>
        <p:spPr bwMode="auto">
          <a:xfrm>
            <a:off x="6895952"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3" tIns="35713" rIns="35713" bIns="35713" anchor="ctr">
            <a:spAutoFit/>
          </a:bodyPr>
          <a:lstStyle/>
          <a:p>
            <a:r>
              <a:rPr lang="en-US" sz="1400">
                <a:ea typeface="ＭＳ Ｐゴシック" charset="0"/>
                <a:cs typeface="ＭＳ Ｐゴシック" charset="0"/>
              </a:rPr>
              <a:t>Austerweil &amp; Griffiths (2011)</a:t>
            </a:r>
          </a:p>
        </p:txBody>
      </p:sp>
      <p:sp>
        <p:nvSpPr>
          <p:cNvPr id="107523" name="Rectangle 3"/>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3" tIns="35713" rIns="35713" bIns="35713" anchor="ctr"/>
          <a:lstStyle/>
          <a:p>
            <a:pPr algn="l"/>
            <a:r>
              <a:rPr lang="en-US" sz="3200" b="1">
                <a:ea typeface="ＭＳ Ｐゴシック" charset="0"/>
                <a:cs typeface="ＭＳ Ｐゴシック" charset="0"/>
              </a:rPr>
              <a:t>Domain generality?</a:t>
            </a:r>
          </a:p>
        </p:txBody>
      </p:sp>
      <p:sp>
        <p:nvSpPr>
          <p:cNvPr id="107524" name="Rectangle 4"/>
          <p:cNvSpPr>
            <a:spLocks/>
          </p:cNvSpPr>
          <p:nvPr/>
        </p:nvSpPr>
        <p:spPr bwMode="auto">
          <a:xfrm>
            <a:off x="592709" y="1088292"/>
            <a:ext cx="3318792"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a:ea typeface="ＭＳ Ｐゴシック" charset="0"/>
                <a:cs typeface="ＭＳ Ｐゴシック" charset="0"/>
              </a:rPr>
              <a:t>3-D Rendered Objects</a:t>
            </a:r>
          </a:p>
        </p:txBody>
      </p:sp>
      <p:sp>
        <p:nvSpPr>
          <p:cNvPr id="107525" name="Rectangle 5"/>
          <p:cNvSpPr>
            <a:spLocks/>
          </p:cNvSpPr>
          <p:nvPr/>
        </p:nvSpPr>
        <p:spPr bwMode="auto">
          <a:xfrm>
            <a:off x="285750" y="1080494"/>
            <a:ext cx="4107656" cy="426839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69641" name="Group 9"/>
          <p:cNvGrpSpPr>
            <a:grpSpLocks/>
          </p:cNvGrpSpPr>
          <p:nvPr/>
        </p:nvGrpSpPr>
        <p:grpSpPr bwMode="auto">
          <a:xfrm>
            <a:off x="4929188" y="1080493"/>
            <a:ext cx="4878958" cy="4268390"/>
            <a:chOff x="0" y="8"/>
            <a:chExt cx="4371" cy="3824"/>
          </a:xfrm>
        </p:grpSpPr>
        <p:sp>
          <p:nvSpPr>
            <p:cNvPr id="107527" name="Rectangle 6"/>
            <p:cNvSpPr>
              <a:spLocks/>
            </p:cNvSpPr>
            <p:nvPr/>
          </p:nvSpPr>
          <p:spPr bwMode="auto">
            <a:xfrm>
              <a:off x="379" y="864"/>
              <a:ext cx="3992" cy="24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lnSpc>
                  <a:spcPct val="150000"/>
                </a:lnSpc>
              </a:pPr>
              <a:r>
                <a:rPr lang="en-US" sz="2200">
                  <a:ea typeface="ＭＳ Ｐゴシック" charset="0"/>
                  <a:cs typeface="ＭＳ Ｐゴシック" charset="0"/>
                </a:rPr>
                <a:t>(1) Lays eggs.</a:t>
              </a:r>
            </a:p>
            <a:p>
              <a:pPr algn="l">
                <a:lnSpc>
                  <a:spcPct val="150000"/>
                </a:lnSpc>
              </a:pPr>
              <a:r>
                <a:rPr lang="en-US" sz="2200">
                  <a:ea typeface="ＭＳ Ｐゴシック" charset="0"/>
                  <a:cs typeface="ＭＳ Ｐゴシック" charset="0"/>
                </a:rPr>
                <a:t>(2) Moves fast.</a:t>
              </a:r>
            </a:p>
            <a:p>
              <a:pPr algn="l">
                <a:lnSpc>
                  <a:spcPct val="150000"/>
                </a:lnSpc>
              </a:pPr>
              <a:r>
                <a:rPr lang="en-US" sz="2200">
                  <a:ea typeface="ＭＳ Ｐゴシック" charset="0"/>
                  <a:cs typeface="ＭＳ Ｐゴシック" charset="0"/>
                </a:rPr>
                <a:t>(3) Has small claws.</a:t>
              </a:r>
            </a:p>
            <a:p>
              <a:pPr algn="l">
                <a:lnSpc>
                  <a:spcPct val="150000"/>
                </a:lnSpc>
              </a:pPr>
              <a:r>
                <a:rPr lang="en-US" sz="2200">
                  <a:ea typeface="ＭＳ Ｐゴシック" charset="0"/>
                  <a:cs typeface="ＭＳ Ｐゴシック" charset="0"/>
                </a:rPr>
                <a:t>(4) Spends most time on land.</a:t>
              </a:r>
            </a:p>
            <a:p>
              <a:pPr algn="l">
                <a:lnSpc>
                  <a:spcPct val="150000"/>
                </a:lnSpc>
              </a:pPr>
              <a:r>
                <a:rPr lang="en-US" sz="2200">
                  <a:ea typeface="ＭＳ Ｐゴシック" charset="0"/>
                  <a:cs typeface="ＭＳ Ｐゴシック" charset="0"/>
                </a:rPr>
                <a:t>(5) Has scaly skin.</a:t>
              </a:r>
            </a:p>
            <a:p>
              <a:pPr algn="l">
                <a:lnSpc>
                  <a:spcPct val="150000"/>
                </a:lnSpc>
              </a:pPr>
              <a:r>
                <a:rPr lang="en-US" sz="2200">
                  <a:ea typeface="ＭＳ Ｐゴシック" charset="0"/>
                  <a:cs typeface="ＭＳ Ｐゴシック" charset="0"/>
                </a:rPr>
                <a:t>(6) Is a small herbivore.</a:t>
              </a:r>
            </a:p>
          </p:txBody>
        </p:sp>
        <p:sp>
          <p:nvSpPr>
            <p:cNvPr id="107528" name="Rectangle 7"/>
            <p:cNvSpPr>
              <a:spLocks/>
            </p:cNvSpPr>
            <p:nvPr/>
          </p:nvSpPr>
          <p:spPr bwMode="auto">
            <a:xfrm>
              <a:off x="479" y="15"/>
              <a:ext cx="1253" cy="3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a:ea typeface="ＭＳ Ｐゴシック" charset="0"/>
                  <a:cs typeface="ＭＳ Ｐゴシック" charset="0"/>
                </a:rPr>
                <a:t>Concepts</a:t>
              </a:r>
            </a:p>
          </p:txBody>
        </p:sp>
        <p:sp>
          <p:nvSpPr>
            <p:cNvPr id="107529" name="Rectangle 8"/>
            <p:cNvSpPr>
              <a:spLocks/>
            </p:cNvSpPr>
            <p:nvPr/>
          </p:nvSpPr>
          <p:spPr bwMode="auto">
            <a:xfrm>
              <a:off x="0" y="8"/>
              <a:ext cx="3680" cy="3824"/>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1097238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9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3" name="Group 1"/>
          <p:cNvGrpSpPr>
            <a:grpSpLocks/>
          </p:cNvGrpSpPr>
          <p:nvPr/>
        </p:nvGrpSpPr>
        <p:grpSpPr bwMode="auto">
          <a:xfrm>
            <a:off x="807021" y="722189"/>
            <a:ext cx="7058918" cy="1489025"/>
            <a:chOff x="0" y="-1"/>
            <a:chExt cx="10040042" cy="2117553"/>
          </a:xfrm>
        </p:grpSpPr>
        <p:grpSp>
          <p:nvGrpSpPr>
            <p:cNvPr id="54274" name="Group 2"/>
            <p:cNvGrpSpPr>
              <a:grpSpLocks/>
            </p:cNvGrpSpPr>
            <p:nvPr/>
          </p:nvGrpSpPr>
          <p:grpSpPr bwMode="auto">
            <a:xfrm>
              <a:off x="4870437" y="-1"/>
              <a:ext cx="5169605" cy="2117553"/>
              <a:chOff x="0" y="-1"/>
              <a:chExt cx="5169604" cy="2117553"/>
            </a:xfrm>
          </p:grpSpPr>
          <p:pic>
            <p:nvPicPr>
              <p:cNvPr id="54275" name="Picture 3"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9824"/>
                <a:ext cx="1192987" cy="206784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76" name="Picture 4" descr="droppedImag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2166" y="19883"/>
                <a:ext cx="1202930" cy="20777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77" name="Picture 5" descr="dropped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74275" y="9941"/>
                <a:ext cx="1202930" cy="210761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78" name="Picture 6" descr="droppedImag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36851" y="0"/>
                <a:ext cx="1232753" cy="211755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sp>
          <p:nvSpPr>
            <p:cNvPr id="54279" name="AutoShape 7"/>
            <p:cNvSpPr>
              <a:spLocks/>
            </p:cNvSpPr>
            <p:nvPr/>
          </p:nvSpPr>
          <p:spPr bwMode="auto">
            <a:xfrm>
              <a:off x="0" y="381000"/>
              <a:ext cx="4292600" cy="1346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10709"/>
              <a:r>
                <a:rPr lang="en-US" sz="2200" dirty="0">
                  <a:latin typeface="Calibri"/>
                  <a:cs typeface="Calibri"/>
                  <a:sym typeface="Gill Sans" charset="0"/>
                </a:rPr>
                <a:t>Visual search for objects with correlated parts </a:t>
              </a:r>
            </a:p>
            <a:p>
              <a:pPr defTabSz="410709"/>
              <a:r>
                <a:rPr lang="en-US" sz="1700" dirty="0">
                  <a:latin typeface="Calibri"/>
                  <a:cs typeface="Calibri"/>
                  <a:sym typeface="Gill Sans" charset="0"/>
                </a:rPr>
                <a:t>(</a:t>
              </a:r>
              <a:r>
                <a:rPr lang="en-US" sz="1700" dirty="0" err="1">
                  <a:latin typeface="Calibri"/>
                  <a:cs typeface="Calibri"/>
                  <a:sym typeface="Gill Sans" charset="0"/>
                </a:rPr>
                <a:t>Shiffrin</a:t>
              </a:r>
              <a:r>
                <a:rPr lang="en-US" sz="1700" dirty="0">
                  <a:latin typeface="Calibri"/>
                  <a:cs typeface="Calibri"/>
                  <a:sym typeface="Gill Sans" charset="0"/>
                </a:rPr>
                <a:t> &amp; Lightfoot, 1997).</a:t>
              </a:r>
              <a:endParaRPr lang="en-US" dirty="0">
                <a:latin typeface="Calibri"/>
                <a:cs typeface="Calibri"/>
              </a:endParaRPr>
            </a:p>
          </p:txBody>
        </p:sp>
      </p:grpSp>
      <p:sp>
        <p:nvSpPr>
          <p:cNvPr id="54280" name="AutoShape 8"/>
          <p:cNvSpPr>
            <a:spLocks/>
          </p:cNvSpPr>
          <p:nvPr/>
        </p:nvSpPr>
        <p:spPr bwMode="auto">
          <a:xfrm>
            <a:off x="71437" y="53578"/>
            <a:ext cx="8661797" cy="56257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3" tIns="35713" rIns="35713" bIns="35713" anchor="ctr"/>
          <a:lstStyle/>
          <a:p>
            <a:pPr defTabSz="410709"/>
            <a:r>
              <a:rPr lang="en-US" sz="3200" b="1" dirty="0">
                <a:latin typeface="Calibri"/>
                <a:cs typeface="Calibri"/>
                <a:sym typeface="Gill Sans" charset="0"/>
              </a:rPr>
              <a:t>Capturing prior expectations: contiguity</a:t>
            </a:r>
            <a:endParaRPr lang="en-US" dirty="0">
              <a:latin typeface="Calibri"/>
              <a:cs typeface="Calibri"/>
            </a:endParaRPr>
          </a:p>
        </p:txBody>
      </p:sp>
      <p:sp>
        <p:nvSpPr>
          <p:cNvPr id="54281" name="AutoShape 9"/>
          <p:cNvSpPr>
            <a:spLocks/>
          </p:cNvSpPr>
          <p:nvPr/>
        </p:nvSpPr>
        <p:spPr bwMode="auto">
          <a:xfrm>
            <a:off x="6471793" y="6540996"/>
            <a:ext cx="2669977" cy="27682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3" tIns="35713" rIns="35713" bIns="35713" anchor="ctr"/>
          <a:lstStyle/>
          <a:p>
            <a:pPr algn="ctr" defTabSz="410709"/>
            <a:r>
              <a:rPr lang="en-US" sz="1400">
                <a:latin typeface="Gill Sans" charset="0"/>
                <a:cs typeface="Gill Sans" charset="0"/>
                <a:sym typeface="Gill Sans" charset="0"/>
              </a:rPr>
              <a:t>Austerweil &amp; Griffiths (2009; 2011)</a:t>
            </a:r>
            <a:endParaRPr lang="en-US"/>
          </a:p>
        </p:txBody>
      </p:sp>
      <p:grpSp>
        <p:nvGrpSpPr>
          <p:cNvPr id="54282" name="Group 10"/>
          <p:cNvGrpSpPr>
            <a:grpSpLocks/>
          </p:cNvGrpSpPr>
          <p:nvPr/>
        </p:nvGrpSpPr>
        <p:grpSpPr bwMode="auto">
          <a:xfrm>
            <a:off x="803674" y="2466826"/>
            <a:ext cx="7062267" cy="1467818"/>
            <a:chOff x="0" y="0"/>
            <a:chExt cx="10045127" cy="2087727"/>
          </a:xfrm>
        </p:grpSpPr>
        <p:grpSp>
          <p:nvGrpSpPr>
            <p:cNvPr id="54283" name="Group 11"/>
            <p:cNvGrpSpPr>
              <a:grpSpLocks/>
            </p:cNvGrpSpPr>
            <p:nvPr/>
          </p:nvGrpSpPr>
          <p:grpSpPr bwMode="auto">
            <a:xfrm>
              <a:off x="4810689" y="0"/>
              <a:ext cx="5234438" cy="2087727"/>
              <a:chOff x="0" y="0"/>
              <a:chExt cx="5234438" cy="2087727"/>
            </a:xfrm>
          </p:grpSpPr>
          <p:pic>
            <p:nvPicPr>
              <p:cNvPr id="54284" name="Picture 12" descr="droppedImage.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72933" y="0"/>
                <a:ext cx="1222813" cy="20777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85" name="Picture 13" descr="droppedImage.pn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749050" y="9941"/>
                <a:ext cx="1192988" cy="206784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86" name="Picture 14" descr="droppedImage.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011625" y="0"/>
                <a:ext cx="1222813" cy="20877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87" name="Picture 15" descr="droppedImage.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0" y="9941"/>
                <a:ext cx="1202929" cy="206784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grpSp>
          <p:nvGrpSpPr>
            <p:cNvPr id="54288" name="Group 16"/>
            <p:cNvGrpSpPr>
              <a:grpSpLocks/>
            </p:cNvGrpSpPr>
            <p:nvPr/>
          </p:nvGrpSpPr>
          <p:grpSpPr bwMode="auto">
            <a:xfrm>
              <a:off x="0" y="59611"/>
              <a:ext cx="4292600" cy="1981201"/>
              <a:chOff x="0" y="0"/>
              <a:chExt cx="4292600" cy="1981200"/>
            </a:xfrm>
          </p:grpSpPr>
          <p:sp>
            <p:nvSpPr>
              <p:cNvPr id="54289" name="AutoShape 17"/>
              <p:cNvSpPr>
                <a:spLocks/>
              </p:cNvSpPr>
              <p:nvPr/>
            </p:nvSpPr>
            <p:spPr bwMode="auto">
              <a:xfrm>
                <a:off x="0" y="0"/>
                <a:ext cx="4292600" cy="990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10709"/>
                <a:r>
                  <a:rPr lang="en-US" sz="2200" dirty="0">
                    <a:latin typeface="Calibri"/>
                    <a:cs typeface="Calibri"/>
                    <a:sym typeface="Gill Sans" charset="0"/>
                  </a:rPr>
                  <a:t>Features inferred without proximity constraint.</a:t>
                </a:r>
                <a:endParaRPr lang="en-US" dirty="0">
                  <a:latin typeface="Calibri"/>
                  <a:cs typeface="Calibri"/>
                </a:endParaRPr>
              </a:p>
            </p:txBody>
          </p:sp>
          <p:pic>
            <p:nvPicPr>
              <p:cNvPr id="54290" name="Picture 18" descr="droppedImage.pdf"/>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5400" y="1270000"/>
                <a:ext cx="3746500" cy="711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grpSp>
      <p:grpSp>
        <p:nvGrpSpPr>
          <p:cNvPr id="54291" name="Group 19"/>
          <p:cNvGrpSpPr>
            <a:grpSpLocks/>
          </p:cNvGrpSpPr>
          <p:nvPr/>
        </p:nvGrpSpPr>
        <p:grpSpPr bwMode="auto">
          <a:xfrm>
            <a:off x="803672" y="4190256"/>
            <a:ext cx="7099102" cy="2373064"/>
            <a:chOff x="0" y="-1"/>
            <a:chExt cx="10096501" cy="3374851"/>
          </a:xfrm>
        </p:grpSpPr>
        <p:grpSp>
          <p:nvGrpSpPr>
            <p:cNvPr id="54292" name="Group 20"/>
            <p:cNvGrpSpPr>
              <a:grpSpLocks/>
            </p:cNvGrpSpPr>
            <p:nvPr/>
          </p:nvGrpSpPr>
          <p:grpSpPr bwMode="auto">
            <a:xfrm>
              <a:off x="0" y="-1"/>
              <a:ext cx="10096501" cy="2117553"/>
              <a:chOff x="0" y="-1"/>
              <a:chExt cx="10096501" cy="2117553"/>
            </a:xfrm>
          </p:grpSpPr>
          <p:grpSp>
            <p:nvGrpSpPr>
              <p:cNvPr id="54293" name="Group 21"/>
              <p:cNvGrpSpPr>
                <a:grpSpLocks/>
              </p:cNvGrpSpPr>
              <p:nvPr/>
            </p:nvGrpSpPr>
            <p:grpSpPr bwMode="auto">
              <a:xfrm>
                <a:off x="4837422" y="-1"/>
                <a:ext cx="5259079" cy="2117553"/>
                <a:chOff x="0" y="-1"/>
                <a:chExt cx="5259078" cy="2117553"/>
              </a:xfrm>
            </p:grpSpPr>
            <p:pic>
              <p:nvPicPr>
                <p:cNvPr id="54294" name="Picture 22" descr="droppedImage.png"/>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0" y="19883"/>
                  <a:ext cx="1192987" cy="20777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95" name="Picture 23" descr="droppedImage.png"/>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332166" y="19883"/>
                  <a:ext cx="1212871" cy="20777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96" name="Picture 24" descr="droppedImage.png"/>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674275" y="9942"/>
                  <a:ext cx="1202930" cy="21076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54297" name="Picture 25" descr="droppedImage.pn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4026325" y="0"/>
                  <a:ext cx="1232753" cy="211755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sp>
            <p:nvSpPr>
              <p:cNvPr id="54298" name="AutoShape 26"/>
              <p:cNvSpPr>
                <a:spLocks/>
              </p:cNvSpPr>
              <p:nvPr/>
            </p:nvSpPr>
            <p:spPr bwMode="auto">
              <a:xfrm>
                <a:off x="0" y="568149"/>
                <a:ext cx="4457700" cy="9906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10709"/>
                <a:r>
                  <a:rPr lang="en-US" sz="2200" dirty="0">
                    <a:latin typeface="Calibri"/>
                    <a:cs typeface="Calibri"/>
                    <a:sym typeface="Gill Sans" charset="0"/>
                  </a:rPr>
                  <a:t>Features inferred with proximity constraint.</a:t>
                </a:r>
                <a:endParaRPr lang="en-US" dirty="0">
                  <a:latin typeface="Calibri"/>
                  <a:cs typeface="Calibri"/>
                </a:endParaRPr>
              </a:p>
            </p:txBody>
          </p:sp>
        </p:grpSp>
        <p:pic>
          <p:nvPicPr>
            <p:cNvPr id="54299" name="Picture 27" descr="droppedImage.pdf"/>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0" y="2269949"/>
              <a:ext cx="8432800" cy="110490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sp>
        <p:nvSpPr>
          <p:cNvPr id="54300" name="AutoShape 28"/>
          <p:cNvSpPr>
            <a:spLocks/>
          </p:cNvSpPr>
          <p:nvPr/>
        </p:nvSpPr>
        <p:spPr bwMode="auto">
          <a:xfrm>
            <a:off x="1893096" y="3357562"/>
            <a:ext cx="1643063" cy="4375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w="25400" cap="flat" cmpd="sng">
            <a:solidFill>
              <a:srgbClr val="000000"/>
            </a:solidFill>
            <a:prstDash val="solid"/>
            <a:miter lim="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410709"/>
            <a:endParaRPr lang="en-US" sz="2800">
              <a:solidFill>
                <a:srgbClr val="FFFFFF"/>
              </a:solidFill>
              <a:effectLst>
                <a:outerShdw blurRad="38100" dist="38100" dir="2700000" algn="tl">
                  <a:srgbClr val="DDDDDD"/>
                </a:outerShdw>
              </a:effectLst>
              <a:latin typeface="Gill Sans" charset="0"/>
              <a:cs typeface="Gill Sans" charset="0"/>
              <a:sym typeface="Gill Sans" charset="0"/>
            </a:endParaRPr>
          </a:p>
        </p:txBody>
      </p:sp>
      <p:sp>
        <p:nvSpPr>
          <p:cNvPr id="54301" name="AutoShape 29"/>
          <p:cNvSpPr>
            <a:spLocks/>
          </p:cNvSpPr>
          <p:nvPr/>
        </p:nvSpPr>
        <p:spPr bwMode="auto">
          <a:xfrm>
            <a:off x="4848820" y="5947173"/>
            <a:ext cx="1777008" cy="3750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w="25400" cap="flat" cmpd="sng">
            <a:solidFill>
              <a:srgbClr val="000000"/>
            </a:solidFill>
            <a:prstDash val="solid"/>
            <a:miter lim="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410709"/>
            <a:endParaRPr lang="en-US" sz="2800">
              <a:solidFill>
                <a:srgbClr val="FFFFFF"/>
              </a:solidFill>
              <a:effectLst>
                <a:outerShdw blurRad="38100" dist="38100" dir="2700000" algn="tl">
                  <a:srgbClr val="DDDDDD"/>
                </a:outerShdw>
              </a:effectLst>
              <a:latin typeface="Gill Sans" charset="0"/>
              <a:cs typeface="Gill Sans" charset="0"/>
              <a:sym typeface="Gill Sans" charset="0"/>
            </a:endParaRPr>
          </a:p>
        </p:txBody>
      </p:sp>
      <p:sp>
        <p:nvSpPr>
          <p:cNvPr id="54302" name="AutoShape 30"/>
          <p:cNvSpPr>
            <a:spLocks/>
          </p:cNvSpPr>
          <p:nvPr/>
        </p:nvSpPr>
        <p:spPr bwMode="auto">
          <a:xfrm>
            <a:off x="1931030" y="3871019"/>
            <a:ext cx="1411610" cy="3214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3" tIns="35713" rIns="35713" bIns="35713" anchor="ctr"/>
          <a:lstStyle/>
          <a:p>
            <a:pPr algn="ctr" defTabSz="410709"/>
            <a:r>
              <a:rPr lang="en-US" sz="1700" dirty="0">
                <a:latin typeface="Calibri"/>
                <a:cs typeface="Calibri"/>
                <a:sym typeface="Gill Sans" charset="0"/>
              </a:rPr>
              <a:t>coin flip bias</a:t>
            </a:r>
            <a:endParaRPr lang="en-US" dirty="0">
              <a:latin typeface="Calibri"/>
              <a:cs typeface="Calibri"/>
            </a:endParaRPr>
          </a:p>
        </p:txBody>
      </p:sp>
      <p:sp>
        <p:nvSpPr>
          <p:cNvPr id="54303" name="AutoShape 31"/>
          <p:cNvSpPr>
            <a:spLocks/>
          </p:cNvSpPr>
          <p:nvPr/>
        </p:nvSpPr>
        <p:spPr bwMode="auto">
          <a:xfrm>
            <a:off x="4304110" y="6518672"/>
            <a:ext cx="2249091" cy="3214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3" tIns="35713" rIns="35713" bIns="35713" anchor="ctr"/>
          <a:lstStyle/>
          <a:p>
            <a:pPr algn="ctr" defTabSz="410709"/>
            <a:r>
              <a:rPr lang="en-US" sz="1700" dirty="0">
                <a:latin typeface="Calibri"/>
                <a:cs typeface="Calibri"/>
                <a:sym typeface="Gill Sans" charset="0"/>
              </a:rPr>
              <a:t>adj. pixels share value</a:t>
            </a:r>
            <a:endParaRPr lang="en-US" dirty="0">
              <a:latin typeface="Calibri"/>
              <a:cs typeface="Calibri"/>
            </a:endParaRPr>
          </a:p>
        </p:txBody>
      </p:sp>
      <p:sp>
        <p:nvSpPr>
          <p:cNvPr id="54304" name="AutoShape 32"/>
          <p:cNvSpPr>
            <a:spLocks/>
          </p:cNvSpPr>
          <p:nvPr/>
        </p:nvSpPr>
        <p:spPr bwMode="auto">
          <a:xfrm>
            <a:off x="4438054" y="2661047"/>
            <a:ext cx="357188" cy="339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FF2B00">
              <a:alpha val="34000"/>
            </a:srgbClr>
          </a:solidFill>
          <a:ln w="25400" cap="flat" cmpd="sng">
            <a:solidFill>
              <a:srgbClr val="000000">
                <a:alpha val="0"/>
              </a:srgbClr>
            </a:solidFill>
            <a:prstDash val="solid"/>
            <a:miter lim="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defTabSz="410709"/>
            <a:endParaRPr lang="en-US" sz="2800">
              <a:solidFill>
                <a:srgbClr val="7EF331"/>
              </a:solidFill>
              <a:effectLst>
                <a:outerShdw blurRad="38100" dist="38100" dir="2700000" algn="tl">
                  <a:srgbClr val="000000"/>
                </a:outerShdw>
              </a:effectLst>
              <a:latin typeface="Gill Sans" charset="0"/>
              <a:cs typeface="Gill Sans" charset="0"/>
              <a:sym typeface="Gill Sans" charset="0"/>
            </a:endParaRPr>
          </a:p>
        </p:txBody>
      </p:sp>
    </p:spTree>
    <p:extLst>
      <p:ext uri="{BB962C8B-B14F-4D97-AF65-F5344CB8AC3E}">
        <p14:creationId xmlns:p14="http://schemas.microsoft.com/office/powerpoint/2010/main" val="380169076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28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4302"/>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5430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54300"/>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54291"/>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xit" presetSubtype="0" fill="hold" grpId="1" nodeType="afterEffect">
                                  <p:stCondLst>
                                    <p:cond delay="0"/>
                                  </p:stCondLst>
                                  <p:childTnLst>
                                    <p:set>
                                      <p:cBhvr>
                                        <p:cTn id="24" dur="1" fill="hold">
                                          <p:stCondLst>
                                            <p:cond delay="499"/>
                                          </p:stCondLst>
                                        </p:cTn>
                                        <p:tgtEl>
                                          <p:spTgt spid="54300"/>
                                        </p:tgtEl>
                                        <p:attrNameLst>
                                          <p:attrName>style.visibility</p:attrName>
                                        </p:attrNameLst>
                                      </p:cBhvr>
                                      <p:to>
                                        <p:strVal val="hidden"/>
                                      </p:to>
                                    </p:set>
                                  </p:childTnLst>
                                </p:cTn>
                              </p:par>
                            </p:childTnLst>
                          </p:cTn>
                        </p:par>
                        <p:par>
                          <p:cTn id="25" fill="hold" nodeType="afterGroup">
                            <p:stCondLst>
                              <p:cond delay="1000"/>
                            </p:stCondLst>
                            <p:childTnLst>
                              <p:par>
                                <p:cTn id="26" presetID="1" presetClass="entr" presetSubtype="0" fill="hold" grpId="0" nodeType="afterEffect">
                                  <p:stCondLst>
                                    <p:cond delay="0"/>
                                  </p:stCondLst>
                                  <p:childTnLst>
                                    <p:set>
                                      <p:cBhvr>
                                        <p:cTn id="27" dur="1" fill="hold">
                                          <p:stCondLst>
                                            <p:cond delay="499"/>
                                          </p:stCondLst>
                                        </p:cTn>
                                        <p:tgtEl>
                                          <p:spTgt spid="54303"/>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54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0" grpId="0" animBg="1" autoUpdateAnimBg="0"/>
      <p:bldP spid="54300" grpId="1" animBg="1" autoUpdateAnimBg="0"/>
      <p:bldP spid="54301" grpId="0" animBg="1" autoUpdateAnimBg="0"/>
      <p:bldP spid="54302" grpId="0" autoUpdateAnimBg="0"/>
      <p:bldP spid="54303" grpId="0" autoUpdateAnimBg="0"/>
      <p:bldP spid="54304"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sp>
        <p:nvSpPr>
          <p:cNvPr id="1371" name="Result: Participants learn features appropriate to their training condition."/>
          <p:cNvSpPr txBox="1"/>
          <p:nvPr/>
        </p:nvSpPr>
        <p:spPr>
          <a:xfrm>
            <a:off x="89297" y="5810422"/>
            <a:ext cx="8501063" cy="7646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3200">
                <a:latin typeface="+mn-lt"/>
                <a:ea typeface="+mn-ea"/>
                <a:cs typeface="+mn-cs"/>
                <a:sym typeface="Gill Sans"/>
              </a:defRPr>
            </a:lvl1pPr>
          </a:lstStyle>
          <a:p>
            <a:r>
              <a:rPr sz="2250"/>
              <a:t>Result: Participants learn features appropriate to their training condition.</a:t>
            </a:r>
          </a:p>
        </p:txBody>
      </p:sp>
      <p:sp>
        <p:nvSpPr>
          <p:cNvPr id="1372" name="Task: Object categorization with feedback"/>
          <p:cNvSpPr txBox="1"/>
          <p:nvPr/>
        </p:nvSpPr>
        <p:spPr>
          <a:xfrm>
            <a:off x="89297" y="5559387"/>
            <a:ext cx="4928337" cy="418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3200">
                <a:latin typeface="+mn-lt"/>
                <a:ea typeface="+mn-ea"/>
                <a:cs typeface="+mn-cs"/>
                <a:sym typeface="Gill Sans"/>
              </a:defRPr>
            </a:lvl1pPr>
          </a:lstStyle>
          <a:p>
            <a:r>
              <a:rPr sz="2250"/>
              <a:t>Task: Object categorization with feedback</a:t>
            </a:r>
          </a:p>
        </p:txBody>
      </p:sp>
      <p:sp>
        <p:nvSpPr>
          <p:cNvPr id="1373" name="Pevtzow &amp; Goldstone (1994)"/>
          <p:cNvSpPr txBox="1"/>
          <p:nvPr/>
        </p:nvSpPr>
        <p:spPr>
          <a:xfrm>
            <a:off x="6939156" y="6548563"/>
            <a:ext cx="2205634"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ctr" defTabSz="584200">
              <a:defRPr sz="2000">
                <a:latin typeface="+mn-lt"/>
                <a:ea typeface="+mn-ea"/>
                <a:cs typeface="+mn-cs"/>
                <a:sym typeface="Gill Sans"/>
              </a:defRPr>
            </a:lvl1pPr>
          </a:lstStyle>
          <a:p>
            <a:r>
              <a:rPr sz="1406"/>
              <a:t>Pevtzow &amp; Goldstone (1994)</a:t>
            </a:r>
          </a:p>
        </p:txBody>
      </p:sp>
      <p:pic>
        <p:nvPicPr>
          <p:cNvPr id="1374" name="pevt-gold-stimuli.pdf" descr="pevt-gold-stimuli.pdf"/>
          <p:cNvPicPr>
            <a:picLocks noChangeAspect="1"/>
          </p:cNvPicPr>
          <p:nvPr/>
        </p:nvPicPr>
        <p:blipFill>
          <a:blip r:embed="rId2"/>
          <a:stretch>
            <a:fillRect/>
          </a:stretch>
        </p:blipFill>
        <p:spPr>
          <a:xfrm>
            <a:off x="1605447" y="1029430"/>
            <a:ext cx="4988475" cy="4161238"/>
          </a:xfrm>
          <a:prstGeom prst="rect">
            <a:avLst/>
          </a:prstGeom>
          <a:ln w="12700">
            <a:miter lim="400000"/>
          </a:ln>
        </p:spPr>
      </p:pic>
      <p:grpSp>
        <p:nvGrpSpPr>
          <p:cNvPr id="1381" name="Group"/>
          <p:cNvGrpSpPr/>
          <p:nvPr/>
        </p:nvGrpSpPr>
        <p:grpSpPr>
          <a:xfrm>
            <a:off x="80368" y="1163523"/>
            <a:ext cx="4353579" cy="2667748"/>
            <a:chOff x="0" y="0"/>
            <a:chExt cx="6191756" cy="3794128"/>
          </a:xfrm>
        </p:grpSpPr>
        <p:grpSp>
          <p:nvGrpSpPr>
            <p:cNvPr id="1377" name="Group"/>
            <p:cNvGrpSpPr/>
            <p:nvPr/>
          </p:nvGrpSpPr>
          <p:grpSpPr>
            <a:xfrm>
              <a:off x="2181702" y="0"/>
              <a:ext cx="4010054" cy="3794128"/>
              <a:chOff x="0" y="0"/>
              <a:chExt cx="4010053" cy="3794127"/>
            </a:xfrm>
          </p:grpSpPr>
          <p:sp>
            <p:nvSpPr>
              <p:cNvPr id="1375" name="Rectangle"/>
              <p:cNvSpPr/>
              <p:nvPr/>
            </p:nvSpPr>
            <p:spPr>
              <a:xfrm>
                <a:off x="0" y="0"/>
                <a:ext cx="4010054" cy="1881640"/>
              </a:xfrm>
              <a:prstGeom prst="rect">
                <a:avLst/>
              </a:prstGeom>
              <a:blipFill rotWithShape="1">
                <a:blip r:embed="rId3">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sp>
            <p:nvSpPr>
              <p:cNvPr id="1376" name="Rectangle"/>
              <p:cNvSpPr/>
              <p:nvPr/>
            </p:nvSpPr>
            <p:spPr>
              <a:xfrm>
                <a:off x="0" y="1912487"/>
                <a:ext cx="4010054" cy="1881641"/>
              </a:xfrm>
              <a:prstGeom prst="rect">
                <a:avLst/>
              </a:prstGeom>
              <a:blipFill rotWithShape="1">
                <a:blip r:embed="rId4">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grpSp>
        <p:grpSp>
          <p:nvGrpSpPr>
            <p:cNvPr id="1380" name="Group"/>
            <p:cNvGrpSpPr/>
            <p:nvPr/>
          </p:nvGrpSpPr>
          <p:grpSpPr>
            <a:xfrm>
              <a:off x="0" y="529526"/>
              <a:ext cx="2051395" cy="2502071"/>
              <a:chOff x="0" y="-12785"/>
              <a:chExt cx="2051394" cy="2502070"/>
            </a:xfrm>
          </p:grpSpPr>
          <p:sp>
            <p:nvSpPr>
              <p:cNvPr id="1378" name="cat 1 = {A, B}"/>
              <p:cNvSpPr txBox="1"/>
              <p:nvPr/>
            </p:nvSpPr>
            <p:spPr>
              <a:xfrm>
                <a:off x="50800" y="-12785"/>
                <a:ext cx="2000594" cy="5335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pPr>
                  <a:defRPr b="1"/>
                </a:pPr>
                <a:r>
                  <a:rPr sz="1969"/>
                  <a:t>cat 1 = {A, B}</a:t>
                </a:r>
              </a:p>
            </p:txBody>
          </p:sp>
          <p:sp>
            <p:nvSpPr>
              <p:cNvPr id="1379" name="cat 2 = {C, D}"/>
              <p:cNvSpPr txBox="1"/>
              <p:nvPr/>
            </p:nvSpPr>
            <p:spPr>
              <a:xfrm>
                <a:off x="0" y="1955715"/>
                <a:ext cx="1992752" cy="5335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pPr>
                  <a:defRPr b="1"/>
                </a:pPr>
                <a:r>
                  <a:rPr sz="1969"/>
                  <a:t>cat 2 = {C, D}</a:t>
                </a:r>
              </a:p>
            </p:txBody>
          </p:sp>
        </p:grpSp>
      </p:grpSp>
      <p:sp>
        <p:nvSpPr>
          <p:cNvPr id="1382" name="Rectangle"/>
          <p:cNvSpPr/>
          <p:nvPr/>
        </p:nvSpPr>
        <p:spPr>
          <a:xfrm>
            <a:off x="1589484" y="3964781"/>
            <a:ext cx="3027164" cy="1125141"/>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389" name="Group"/>
          <p:cNvGrpSpPr/>
          <p:nvPr/>
        </p:nvGrpSpPr>
        <p:grpSpPr>
          <a:xfrm>
            <a:off x="1500188" y="723245"/>
            <a:ext cx="2966530" cy="3143668"/>
            <a:chOff x="0" y="-12785"/>
            <a:chExt cx="4219064" cy="4470994"/>
          </a:xfrm>
        </p:grpSpPr>
        <p:grpSp>
          <p:nvGrpSpPr>
            <p:cNvPr id="1385" name="Group"/>
            <p:cNvGrpSpPr/>
            <p:nvPr/>
          </p:nvGrpSpPr>
          <p:grpSpPr>
            <a:xfrm rot="16199993">
              <a:off x="223229" y="491341"/>
              <a:ext cx="3886667" cy="4047070"/>
              <a:chOff x="0" y="0"/>
              <a:chExt cx="3886666" cy="4047068"/>
            </a:xfrm>
          </p:grpSpPr>
          <p:sp>
            <p:nvSpPr>
              <p:cNvPr id="1383" name="Rectangle"/>
              <p:cNvSpPr/>
              <p:nvPr/>
            </p:nvSpPr>
            <p:spPr>
              <a:xfrm>
                <a:off x="0" y="0"/>
                <a:ext cx="3886667" cy="2002457"/>
              </a:xfrm>
              <a:prstGeom prst="rect">
                <a:avLst/>
              </a:prstGeom>
              <a:blipFill rotWithShape="1">
                <a:blip r:embed="rId3">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sp>
            <p:nvSpPr>
              <p:cNvPr id="1384" name="Rectangle"/>
              <p:cNvSpPr/>
              <p:nvPr/>
            </p:nvSpPr>
            <p:spPr>
              <a:xfrm>
                <a:off x="0" y="2044612"/>
                <a:ext cx="3886667" cy="2002457"/>
              </a:xfrm>
              <a:prstGeom prst="rect">
                <a:avLst/>
              </a:prstGeom>
              <a:blipFill rotWithShape="1">
                <a:blip r:embed="rId4">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grpSp>
        <p:grpSp>
          <p:nvGrpSpPr>
            <p:cNvPr id="1388" name="Group"/>
            <p:cNvGrpSpPr/>
            <p:nvPr/>
          </p:nvGrpSpPr>
          <p:grpSpPr>
            <a:xfrm>
              <a:off x="0" y="-12785"/>
              <a:ext cx="4219064" cy="533572"/>
              <a:chOff x="0" y="-12785"/>
              <a:chExt cx="4219063" cy="533572"/>
            </a:xfrm>
          </p:grpSpPr>
          <p:sp>
            <p:nvSpPr>
              <p:cNvPr id="1386" name="cat 1 = {A, C}"/>
              <p:cNvSpPr txBox="1"/>
              <p:nvPr/>
            </p:nvSpPr>
            <p:spPr>
              <a:xfrm>
                <a:off x="0" y="-12785"/>
                <a:ext cx="1947792" cy="53357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r>
                  <a:rPr sz="1969"/>
                  <a:t>cat 1 = {A, C}</a:t>
                </a:r>
              </a:p>
            </p:txBody>
          </p:sp>
          <p:sp>
            <p:nvSpPr>
              <p:cNvPr id="1387" name="cat 2 = {B, D}"/>
              <p:cNvSpPr txBox="1"/>
              <p:nvPr/>
            </p:nvSpPr>
            <p:spPr>
              <a:xfrm>
                <a:off x="2260600" y="-12785"/>
                <a:ext cx="1958463" cy="5335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r>
                  <a:rPr sz="1969"/>
                  <a:t>cat 2 = {B, D}</a:t>
                </a:r>
              </a:p>
            </p:txBody>
          </p:sp>
        </p:grpSp>
      </p:grpSp>
      <p:sp>
        <p:nvSpPr>
          <p:cNvPr id="1390" name="Rectangle"/>
          <p:cNvSpPr/>
          <p:nvPr/>
        </p:nvSpPr>
        <p:spPr>
          <a:xfrm>
            <a:off x="4679156" y="1089422"/>
            <a:ext cx="1348383" cy="2714625"/>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391" name="Rectangle"/>
          <p:cNvSpPr/>
          <p:nvPr/>
        </p:nvSpPr>
        <p:spPr>
          <a:xfrm>
            <a:off x="4679156" y="1089422"/>
            <a:ext cx="1250156" cy="2714625"/>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392" name="Line"/>
          <p:cNvSpPr/>
          <p:nvPr/>
        </p:nvSpPr>
        <p:spPr>
          <a:xfrm flipH="1">
            <a:off x="5376537" y="1366689"/>
            <a:ext cx="416264" cy="315637"/>
          </a:xfrm>
          <a:prstGeom prst="line">
            <a:avLst/>
          </a:prstGeom>
          <a:ln w="101600">
            <a:solidFill>
              <a:srgbClr val="F52800"/>
            </a:solidFill>
            <a:miter lim="400000"/>
          </a:ln>
        </p:spPr>
        <p:txBody>
          <a:bodyPr lIns="35719" tIns="35719" rIns="35719" bIns="35719" anchor="ctr"/>
          <a:lstStyle/>
          <a:p>
            <a:endParaRPr sz="1266"/>
          </a:p>
        </p:txBody>
      </p:sp>
      <p:grpSp>
        <p:nvGrpSpPr>
          <p:cNvPr id="1399" name="Group"/>
          <p:cNvGrpSpPr/>
          <p:nvPr/>
        </p:nvGrpSpPr>
        <p:grpSpPr>
          <a:xfrm>
            <a:off x="1732359" y="2668779"/>
            <a:ext cx="4152658" cy="862457"/>
            <a:chOff x="0" y="87197"/>
            <a:chExt cx="5906000" cy="1226604"/>
          </a:xfrm>
        </p:grpSpPr>
        <p:sp>
          <p:nvSpPr>
            <p:cNvPr id="1393" name="Line"/>
            <p:cNvSpPr/>
            <p:nvPr/>
          </p:nvSpPr>
          <p:spPr>
            <a:xfrm>
              <a:off x="4453699" y="133997"/>
              <a:ext cx="1354202"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4" name="Line"/>
            <p:cNvSpPr/>
            <p:nvPr/>
          </p:nvSpPr>
          <p:spPr>
            <a:xfrm>
              <a:off x="5201974" y="791400"/>
              <a:ext cx="704027" cy="1"/>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5" name="Line"/>
            <p:cNvSpPr/>
            <p:nvPr/>
          </p:nvSpPr>
          <p:spPr>
            <a:xfrm>
              <a:off x="2235199" y="99897"/>
              <a:ext cx="1354202"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6" name="Line"/>
            <p:cNvSpPr/>
            <p:nvPr/>
          </p:nvSpPr>
          <p:spPr>
            <a:xfrm>
              <a:off x="2984499" y="7584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7" name="Line"/>
            <p:cNvSpPr/>
            <p:nvPr/>
          </p:nvSpPr>
          <p:spPr>
            <a:xfrm>
              <a:off x="0" y="87197"/>
              <a:ext cx="1354201"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8" name="Line"/>
            <p:cNvSpPr/>
            <p:nvPr/>
          </p:nvSpPr>
          <p:spPr>
            <a:xfrm>
              <a:off x="749300" y="7457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07" name="Group"/>
          <p:cNvGrpSpPr/>
          <p:nvPr/>
        </p:nvGrpSpPr>
        <p:grpSpPr>
          <a:xfrm>
            <a:off x="2241351" y="1268016"/>
            <a:ext cx="3125391" cy="910828"/>
            <a:chOff x="0" y="0"/>
            <a:chExt cx="4444999" cy="1295399"/>
          </a:xfrm>
        </p:grpSpPr>
        <p:grpSp>
          <p:nvGrpSpPr>
            <p:cNvPr id="1402" name="Group"/>
            <p:cNvGrpSpPr/>
            <p:nvPr/>
          </p:nvGrpSpPr>
          <p:grpSpPr>
            <a:xfrm>
              <a:off x="2133600" y="38100"/>
              <a:ext cx="602179" cy="1257300"/>
              <a:chOff x="0" y="0"/>
              <a:chExt cx="602178" cy="1257299"/>
            </a:xfrm>
          </p:grpSpPr>
          <p:sp>
            <p:nvSpPr>
              <p:cNvPr id="1400" name="Line"/>
              <p:cNvSpPr/>
              <p:nvPr/>
            </p:nvSpPr>
            <p:spPr>
              <a:xfrm flipH="1">
                <a:off x="-1" y="0"/>
                <a:ext cx="2"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1" name="Line"/>
              <p:cNvSpPr/>
              <p:nvPr/>
            </p:nvSpPr>
            <p:spPr>
              <a:xfrm flipH="1">
                <a:off x="39511" y="51831"/>
                <a:ext cx="562668" cy="454618"/>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05" name="Group"/>
            <p:cNvGrpSpPr/>
            <p:nvPr/>
          </p:nvGrpSpPr>
          <p:grpSpPr>
            <a:xfrm>
              <a:off x="-1" y="0"/>
              <a:ext cx="613213" cy="1257300"/>
              <a:chOff x="0" y="0"/>
              <a:chExt cx="613211" cy="1257299"/>
            </a:xfrm>
          </p:grpSpPr>
          <p:sp>
            <p:nvSpPr>
              <p:cNvPr id="1403" name="Line"/>
              <p:cNvSpPr/>
              <p:nvPr/>
            </p:nvSpPr>
            <p:spPr>
              <a:xfrm flipH="1">
                <a:off x="-1" y="0"/>
                <a:ext cx="2"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4" name="Line"/>
              <p:cNvSpPr/>
              <p:nvPr/>
            </p:nvSpPr>
            <p:spPr>
              <a:xfrm flipH="1">
                <a:off x="39511" y="36472"/>
                <a:ext cx="573701" cy="46997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sp>
          <p:nvSpPr>
            <p:cNvPr id="1406" name="Line"/>
            <p:cNvSpPr/>
            <p:nvPr/>
          </p:nvSpPr>
          <p:spPr>
            <a:xfrm>
              <a:off x="4444999" y="38100"/>
              <a:ext cx="1"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20" name="Group"/>
          <p:cNvGrpSpPr/>
          <p:nvPr/>
        </p:nvGrpSpPr>
        <p:grpSpPr>
          <a:xfrm>
            <a:off x="1741289" y="1249518"/>
            <a:ext cx="975325" cy="3253250"/>
            <a:chOff x="0" y="24491"/>
            <a:chExt cx="1387127" cy="4626843"/>
          </a:xfrm>
        </p:grpSpPr>
        <p:grpSp>
          <p:nvGrpSpPr>
            <p:cNvPr id="1411" name="Group"/>
            <p:cNvGrpSpPr/>
            <p:nvPr/>
          </p:nvGrpSpPr>
          <p:grpSpPr>
            <a:xfrm>
              <a:off x="0" y="4060029"/>
              <a:ext cx="1387128" cy="591307"/>
              <a:chOff x="0" y="24491"/>
              <a:chExt cx="1387127" cy="591305"/>
            </a:xfrm>
          </p:grpSpPr>
          <p:sp>
            <p:nvSpPr>
              <p:cNvPr id="1408"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9"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0"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15" name="Group"/>
            <p:cNvGrpSpPr/>
            <p:nvPr/>
          </p:nvGrpSpPr>
          <p:grpSpPr>
            <a:xfrm>
              <a:off x="0" y="2081891"/>
              <a:ext cx="1387128" cy="591307"/>
              <a:chOff x="0" y="24491"/>
              <a:chExt cx="1387127" cy="591305"/>
            </a:xfrm>
          </p:grpSpPr>
          <p:sp>
            <p:nvSpPr>
              <p:cNvPr id="1412"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3"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4"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19" name="Group"/>
            <p:cNvGrpSpPr/>
            <p:nvPr/>
          </p:nvGrpSpPr>
          <p:grpSpPr>
            <a:xfrm>
              <a:off x="0" y="24491"/>
              <a:ext cx="1387128" cy="591307"/>
              <a:chOff x="0" y="24491"/>
              <a:chExt cx="1387127" cy="591305"/>
            </a:xfrm>
          </p:grpSpPr>
          <p:sp>
            <p:nvSpPr>
              <p:cNvPr id="1416"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7"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8"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grpSp>
        <p:nvGrpSpPr>
          <p:cNvPr id="1433" name="Group"/>
          <p:cNvGrpSpPr/>
          <p:nvPr/>
        </p:nvGrpSpPr>
        <p:grpSpPr>
          <a:xfrm>
            <a:off x="3277195" y="1669852"/>
            <a:ext cx="1030800" cy="3293678"/>
            <a:chOff x="0" y="304800"/>
            <a:chExt cx="1466025" cy="4684341"/>
          </a:xfrm>
        </p:grpSpPr>
        <p:grpSp>
          <p:nvGrpSpPr>
            <p:cNvPr id="1424" name="Group"/>
            <p:cNvGrpSpPr/>
            <p:nvPr/>
          </p:nvGrpSpPr>
          <p:grpSpPr>
            <a:xfrm>
              <a:off x="88900" y="4330700"/>
              <a:ext cx="1377126" cy="658442"/>
              <a:chOff x="0" y="304800"/>
              <a:chExt cx="1377125" cy="658441"/>
            </a:xfrm>
          </p:grpSpPr>
          <p:sp>
            <p:nvSpPr>
              <p:cNvPr id="1421"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2"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3"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28" name="Group"/>
            <p:cNvGrpSpPr/>
            <p:nvPr/>
          </p:nvGrpSpPr>
          <p:grpSpPr>
            <a:xfrm>
              <a:off x="63500" y="2362200"/>
              <a:ext cx="1377126" cy="658442"/>
              <a:chOff x="0" y="304800"/>
              <a:chExt cx="1377125" cy="658441"/>
            </a:xfrm>
          </p:grpSpPr>
          <p:sp>
            <p:nvSpPr>
              <p:cNvPr id="1425"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6"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7"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32" name="Group"/>
            <p:cNvGrpSpPr/>
            <p:nvPr/>
          </p:nvGrpSpPr>
          <p:grpSpPr>
            <a:xfrm>
              <a:off x="0" y="304800"/>
              <a:ext cx="1377126" cy="658442"/>
              <a:chOff x="0" y="304800"/>
              <a:chExt cx="1377125" cy="658441"/>
            </a:xfrm>
          </p:grpSpPr>
          <p:sp>
            <p:nvSpPr>
              <p:cNvPr id="1429"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30"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31"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spTree>
    <p:extLst>
      <p:ext uri="{BB962C8B-B14F-4D97-AF65-F5344CB8AC3E}">
        <p14:creationId xmlns:p14="http://schemas.microsoft.com/office/powerpoint/2010/main" val="76796330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1"/>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0" nodeType="afterEffect">
                                  <p:stCondLst>
                                    <p:cond delay="0"/>
                                  </p:stCondLst>
                                  <p:iterate>
                                    <p:tmAbs val="0"/>
                                  </p:iterate>
                                  <p:childTnLst>
                                    <p:set>
                                      <p:cBhvr>
                                        <p:cTn id="9" fill="hold">
                                          <p:stCondLst>
                                            <p:cond delay="0"/>
                                          </p:stCondLst>
                                        </p:cTn>
                                        <p:tgtEl>
                                          <p:spTgt spid="1390"/>
                                        </p:tgtEl>
                                        <p:attrNameLst>
                                          <p:attrName>style.visibility</p:attrName>
                                        </p:attrNameLst>
                                      </p:cBhvr>
                                      <p:to>
                                        <p:strVal val="hidden"/>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39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1407"/>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3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389"/>
                                        </p:tgtEl>
                                        <p:attrNameLst>
                                          <p:attrName>style.visibility</p:attrName>
                                        </p:attrNameLst>
                                      </p:cBhvr>
                                      <p:to>
                                        <p:strVal val="visible"/>
                                      </p:to>
                                    </p:set>
                                  </p:childTnLst>
                                </p:cTn>
                              </p:par>
                            </p:childTnLst>
                          </p:cTn>
                        </p:par>
                        <p:par>
                          <p:cTn id="23" fill="hold">
                            <p:stCondLst>
                              <p:cond delay="0"/>
                            </p:stCondLst>
                            <p:childTnLst>
                              <p:par>
                                <p:cTn id="24" presetID="1" presetClass="exit" presetSubtype="0" fill="hold" grpId="0" nodeType="afterEffect">
                                  <p:stCondLst>
                                    <p:cond delay="0"/>
                                  </p:stCondLst>
                                  <p:iterate>
                                    <p:tmAbs val="0"/>
                                  </p:iterate>
                                  <p:childTnLst>
                                    <p:set>
                                      <p:cBhvr>
                                        <p:cTn id="25" fill="hold">
                                          <p:stCondLst>
                                            <p:cond delay="0"/>
                                          </p:stCondLst>
                                        </p:cTn>
                                        <p:tgtEl>
                                          <p:spTgt spid="1382"/>
                                        </p:tgtEl>
                                        <p:attrNameLst>
                                          <p:attrName>style.visibility</p:attrName>
                                        </p:attrNameLst>
                                      </p:cBhvr>
                                      <p:to>
                                        <p:strVal val="hidden"/>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1391"/>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1" nodeType="afterEffect">
                                  <p:stCondLst>
                                    <p:cond delay="0"/>
                                  </p:stCondLst>
                                  <p:iterate>
                                    <p:tmAbs val="0"/>
                                  </p:iterate>
                                  <p:childTnLst>
                                    <p:set>
                                      <p:cBhvr>
                                        <p:cTn id="31" fill="hold">
                                          <p:stCondLst>
                                            <p:cond delay="0"/>
                                          </p:stCondLst>
                                        </p:cTn>
                                        <p:tgtEl>
                                          <p:spTgt spid="1381"/>
                                        </p:tgtEl>
                                        <p:attrNameLst>
                                          <p:attrName>style.visibility</p:attrName>
                                        </p:attrNameLst>
                                      </p:cBhvr>
                                      <p:to>
                                        <p:strVal val="hidden"/>
                                      </p:to>
                                    </p:set>
                                  </p:childTnLst>
                                </p:cTn>
                              </p:par>
                            </p:childTnLst>
                          </p:cTn>
                        </p:par>
                        <p:par>
                          <p:cTn id="32" fill="hold">
                            <p:stCondLst>
                              <p:cond delay="0"/>
                            </p:stCondLst>
                            <p:childTnLst>
                              <p:par>
                                <p:cTn id="33" presetID="1" presetClass="exit" presetSubtype="0" fill="hold" grpId="1" nodeType="afterEffect">
                                  <p:stCondLst>
                                    <p:cond delay="0"/>
                                  </p:stCondLst>
                                  <p:iterate>
                                    <p:tmAbs val="0"/>
                                  </p:iterate>
                                  <p:childTnLst>
                                    <p:set>
                                      <p:cBhvr>
                                        <p:cTn id="34" fill="hold">
                                          <p:stCondLst>
                                            <p:cond delay="0"/>
                                          </p:stCondLst>
                                        </p:cTn>
                                        <p:tgtEl>
                                          <p:spTgt spid="1399"/>
                                        </p:tgtEl>
                                        <p:attrNameLst>
                                          <p:attrName>style.visibility</p:attrName>
                                        </p:attrNameLst>
                                      </p:cBhvr>
                                      <p:to>
                                        <p:strVal val="hidden"/>
                                      </p:to>
                                    </p:set>
                                  </p:childTnLst>
                                </p:cTn>
                              </p:par>
                            </p:childTnLst>
                          </p:cTn>
                        </p:par>
                        <p:par>
                          <p:cTn id="35" fill="hold">
                            <p:stCondLst>
                              <p:cond delay="0"/>
                            </p:stCondLst>
                            <p:childTnLst>
                              <p:par>
                                <p:cTn id="36" presetID="1" presetClass="exit" presetSubtype="0" fill="hold" grpId="1" nodeType="afterEffect">
                                  <p:stCondLst>
                                    <p:cond delay="0"/>
                                  </p:stCondLst>
                                  <p:iterate>
                                    <p:tmAbs val="0"/>
                                  </p:iterate>
                                  <p:childTnLst>
                                    <p:set>
                                      <p:cBhvr>
                                        <p:cTn id="37" fill="hold">
                                          <p:stCondLst>
                                            <p:cond delay="0"/>
                                          </p:stCondLst>
                                        </p:cTn>
                                        <p:tgtEl>
                                          <p:spTgt spid="1407"/>
                                        </p:tgtEl>
                                        <p:attrNameLst>
                                          <p:attrName>style.visibility</p:attrName>
                                        </p:attrNameLst>
                                      </p:cBhvr>
                                      <p:to>
                                        <p:strVal val="hidden"/>
                                      </p:to>
                                    </p:set>
                                  </p:childTnLst>
                                </p:cTn>
                              </p:par>
                            </p:childTnLst>
                          </p:cTn>
                        </p:par>
                        <p:par>
                          <p:cTn id="38" fill="hold">
                            <p:stCondLst>
                              <p:cond delay="0"/>
                            </p:stCondLst>
                            <p:childTnLst>
                              <p:par>
                                <p:cTn id="39" presetID="1" presetClass="entr" presetSubtype="0" fill="hold" grpId="0" nodeType="afterEffect">
                                  <p:stCondLst>
                                    <p:cond delay="0"/>
                                  </p:stCondLst>
                                  <p:iterate>
                                    <p:tmAbs val="0"/>
                                  </p:iterate>
                                  <p:childTnLst>
                                    <p:set>
                                      <p:cBhvr>
                                        <p:cTn id="40" fill="hold"/>
                                        <p:tgtEl>
                                          <p:spTgt spid="1420"/>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iterate>
                                    <p:tmAbs val="0"/>
                                  </p:iterate>
                                  <p:childTnLst>
                                    <p:set>
                                      <p:cBhvr>
                                        <p:cTn id="43" fill="hold"/>
                                        <p:tgtEl>
                                          <p:spTgt spid="1433"/>
                                        </p:tgtEl>
                                        <p:attrNameLst>
                                          <p:attrName>style.visibility</p:attrName>
                                        </p:attrNameLst>
                                      </p:cBhvr>
                                      <p:to>
                                        <p:strVal val="visible"/>
                                      </p:to>
                                    </p:set>
                                  </p:childTnLst>
                                </p:cTn>
                              </p:par>
                            </p:childTnLst>
                          </p:cTn>
                        </p:par>
                        <p:par>
                          <p:cTn id="44" fill="hold">
                            <p:stCondLst>
                              <p:cond delay="0"/>
                            </p:stCondLst>
                            <p:childTnLst>
                              <p:par>
                                <p:cTn id="45" presetID="1" presetClass="exit" presetSubtype="0" fill="hold" grpId="1" nodeType="afterEffect">
                                  <p:stCondLst>
                                    <p:cond delay="0"/>
                                  </p:stCondLst>
                                  <p:iterate>
                                    <p:tmAbs val="0"/>
                                  </p:iterate>
                                  <p:childTnLst>
                                    <p:set>
                                      <p:cBhvr>
                                        <p:cTn id="46" fill="hold">
                                          <p:stCondLst>
                                            <p:cond delay="0"/>
                                          </p:stCondLst>
                                        </p:cTn>
                                        <p:tgtEl>
                                          <p:spTgt spid="13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 grpId="0" animBg="1" advAuto="0"/>
      <p:bldP spid="1381" grpId="1" animBg="1" advAuto="0"/>
      <p:bldP spid="1382" grpId="0" animBg="1" advAuto="0"/>
      <p:bldP spid="1389" grpId="0" animBg="1" advAuto="0"/>
      <p:bldP spid="1390" grpId="0" animBg="1" advAuto="0"/>
      <p:bldP spid="1391" grpId="0" animBg="1" advAuto="0"/>
      <p:bldP spid="1392" grpId="0" animBg="1" advAuto="0"/>
      <p:bldP spid="1392" grpId="1" animBg="1" advAuto="0"/>
      <p:bldP spid="1399" grpId="0" animBg="1" advAuto="0"/>
      <p:bldP spid="1399" grpId="1" animBg="1" advAuto="0"/>
      <p:bldP spid="1407" grpId="0" animBg="1" advAuto="0"/>
      <p:bldP spid="1407" grpId="1" animBg="1" advAuto="0"/>
      <p:bldP spid="1420" grpId="0" animBg="1" advAuto="0"/>
      <p:bldP spid="1433" grpId="0" animBg="1" advAuto="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pic>
        <p:nvPicPr>
          <p:cNvPr id="1436" name="pevt-gold-stimuli.pdf" descr="pevt-gold-stimuli.pdf"/>
          <p:cNvPicPr>
            <a:picLocks noChangeAspect="1"/>
          </p:cNvPicPr>
          <p:nvPr/>
        </p:nvPicPr>
        <p:blipFill>
          <a:blip r:embed="rId2"/>
          <a:stretch>
            <a:fillRect/>
          </a:stretch>
        </p:blipFill>
        <p:spPr>
          <a:xfrm>
            <a:off x="1605447" y="1029430"/>
            <a:ext cx="4988475" cy="4161238"/>
          </a:xfrm>
          <a:prstGeom prst="rect">
            <a:avLst/>
          </a:prstGeom>
          <a:ln w="12700">
            <a:miter lim="400000"/>
          </a:ln>
        </p:spPr>
      </p:pic>
      <p:sp>
        <p:nvSpPr>
          <p:cNvPr id="1437" name="cat 1 = {A, B}"/>
          <p:cNvSpPr txBox="1"/>
          <p:nvPr/>
        </p:nvSpPr>
        <p:spPr>
          <a:xfrm>
            <a:off x="116086" y="1535847"/>
            <a:ext cx="1406668"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1 = {A, B}</a:t>
            </a:r>
          </a:p>
        </p:txBody>
      </p:sp>
      <p:sp>
        <p:nvSpPr>
          <p:cNvPr id="1438" name="cat 2 = {C, D}"/>
          <p:cNvSpPr txBox="1"/>
          <p:nvPr/>
        </p:nvSpPr>
        <p:spPr>
          <a:xfrm>
            <a:off x="80367" y="2919948"/>
            <a:ext cx="1401154"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2 = {C, D}</a:t>
            </a:r>
          </a:p>
        </p:txBody>
      </p:sp>
      <p:sp>
        <p:nvSpPr>
          <p:cNvPr id="1439" name="cat 1 = {A, C}"/>
          <p:cNvSpPr txBox="1"/>
          <p:nvPr/>
        </p:nvSpPr>
        <p:spPr>
          <a:xfrm>
            <a:off x="1500188" y="723245"/>
            <a:ext cx="1369542"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1 = {A, C}</a:t>
            </a:r>
          </a:p>
        </p:txBody>
      </p:sp>
      <p:sp>
        <p:nvSpPr>
          <p:cNvPr id="1440" name="cat 2 = {B, D}"/>
          <p:cNvSpPr txBox="1"/>
          <p:nvPr/>
        </p:nvSpPr>
        <p:spPr>
          <a:xfrm>
            <a:off x="3089672" y="723245"/>
            <a:ext cx="1377045"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2 = {B, D}</a:t>
            </a:r>
          </a:p>
        </p:txBody>
      </p:sp>
      <p:grpSp>
        <p:nvGrpSpPr>
          <p:cNvPr id="1443" name="Group"/>
          <p:cNvGrpSpPr/>
          <p:nvPr/>
        </p:nvGrpSpPr>
        <p:grpSpPr>
          <a:xfrm>
            <a:off x="6182386" y="1241423"/>
            <a:ext cx="1163512" cy="2449387"/>
            <a:chOff x="0" y="0"/>
            <a:chExt cx="1654772" cy="3483571"/>
          </a:xfrm>
        </p:grpSpPr>
        <p:pic>
          <p:nvPicPr>
            <p:cNvPr id="1441" name="droppedImage.png" descr="droppedImage.png"/>
            <p:cNvPicPr>
              <a:picLocks noChangeAspect="1"/>
            </p:cNvPicPr>
            <p:nvPr/>
          </p:nvPicPr>
          <p:blipFill>
            <a:blip r:embed="rId3"/>
            <a:stretch>
              <a:fillRect/>
            </a:stretch>
          </p:blipFill>
          <p:spPr>
            <a:xfrm>
              <a:off x="0" y="0"/>
              <a:ext cx="1654773" cy="1644863"/>
            </a:xfrm>
            <a:prstGeom prst="rect">
              <a:avLst/>
            </a:prstGeom>
            <a:ln w="12700" cap="flat">
              <a:noFill/>
              <a:miter lim="400000"/>
            </a:ln>
            <a:effectLst/>
          </p:spPr>
        </p:pic>
        <p:pic>
          <p:nvPicPr>
            <p:cNvPr id="1442" name="droppedImage.png" descr="droppedImage.png"/>
            <p:cNvPicPr>
              <a:picLocks noChangeAspect="1"/>
            </p:cNvPicPr>
            <p:nvPr/>
          </p:nvPicPr>
          <p:blipFill>
            <a:blip r:embed="rId4"/>
            <a:stretch>
              <a:fillRect/>
            </a:stretch>
          </p:blipFill>
          <p:spPr>
            <a:xfrm>
              <a:off x="6840" y="1818891"/>
              <a:ext cx="1644864" cy="1664681"/>
            </a:xfrm>
            <a:prstGeom prst="rect">
              <a:avLst/>
            </a:prstGeom>
            <a:ln w="12700" cap="flat">
              <a:noFill/>
              <a:miter lim="400000"/>
            </a:ln>
            <a:effectLst/>
          </p:spPr>
        </p:pic>
      </p:grpSp>
      <p:grpSp>
        <p:nvGrpSpPr>
          <p:cNvPr id="1446" name="Group"/>
          <p:cNvGrpSpPr/>
          <p:nvPr/>
        </p:nvGrpSpPr>
        <p:grpSpPr>
          <a:xfrm>
            <a:off x="1629423" y="5306393"/>
            <a:ext cx="2722088" cy="1165474"/>
            <a:chOff x="0" y="0"/>
            <a:chExt cx="3871412" cy="1657562"/>
          </a:xfrm>
        </p:grpSpPr>
        <p:pic>
          <p:nvPicPr>
            <p:cNvPr id="1444" name="droppedImage.png" descr="droppedImage.png"/>
            <p:cNvPicPr>
              <a:picLocks noChangeAspect="1"/>
            </p:cNvPicPr>
            <p:nvPr/>
          </p:nvPicPr>
          <p:blipFill>
            <a:blip r:embed="rId5"/>
            <a:stretch>
              <a:fillRect/>
            </a:stretch>
          </p:blipFill>
          <p:spPr>
            <a:xfrm>
              <a:off x="0" y="0"/>
              <a:ext cx="1674590" cy="1644864"/>
            </a:xfrm>
            <a:prstGeom prst="rect">
              <a:avLst/>
            </a:prstGeom>
            <a:ln w="12700" cap="flat">
              <a:noFill/>
              <a:miter lim="400000"/>
            </a:ln>
            <a:effectLst/>
          </p:spPr>
        </p:pic>
        <p:pic>
          <p:nvPicPr>
            <p:cNvPr id="1445" name="droppedImage.png" descr="droppedImage.png"/>
            <p:cNvPicPr>
              <a:picLocks noChangeAspect="1"/>
            </p:cNvPicPr>
            <p:nvPr/>
          </p:nvPicPr>
          <p:blipFill>
            <a:blip r:embed="rId6"/>
            <a:stretch>
              <a:fillRect/>
            </a:stretch>
          </p:blipFill>
          <p:spPr>
            <a:xfrm>
              <a:off x="2226550" y="12700"/>
              <a:ext cx="1644863" cy="1644863"/>
            </a:xfrm>
            <a:prstGeom prst="rect">
              <a:avLst/>
            </a:prstGeom>
            <a:ln w="12700" cap="flat">
              <a:noFill/>
              <a:miter lim="400000"/>
            </a:ln>
            <a:effectLst/>
          </p:spPr>
        </p:pic>
      </p:grpSp>
      <p:sp>
        <p:nvSpPr>
          <p:cNvPr id="1447" name="Include category label as part of an object’s “sensory inputs.”"/>
          <p:cNvSpPr txBox="1"/>
          <p:nvPr/>
        </p:nvSpPr>
        <p:spPr>
          <a:xfrm>
            <a:off x="4554141" y="3904938"/>
            <a:ext cx="3652242" cy="11108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3200">
                <a:latin typeface="+mn-lt"/>
                <a:ea typeface="+mn-ea"/>
                <a:cs typeface="+mn-cs"/>
                <a:sym typeface="Gill Sans"/>
              </a:defRPr>
            </a:lvl1pPr>
          </a:lstStyle>
          <a:p>
            <a:r>
              <a:rPr sz="2250"/>
              <a:t>Include category label as part of an object’s “sensory inputs.”</a:t>
            </a:r>
          </a:p>
        </p:txBody>
      </p:sp>
      <p:grpSp>
        <p:nvGrpSpPr>
          <p:cNvPr id="1450" name="Group"/>
          <p:cNvGrpSpPr/>
          <p:nvPr/>
        </p:nvGrpSpPr>
        <p:grpSpPr>
          <a:xfrm>
            <a:off x="4554141" y="4939777"/>
            <a:ext cx="4634508" cy="1621883"/>
            <a:chOff x="0" y="-35739"/>
            <a:chExt cx="6591300" cy="2306678"/>
          </a:xfrm>
        </p:grpSpPr>
        <p:sp>
          <p:nvSpPr>
            <p:cNvPr id="1448" name="... but, only representing an object with its diagnostic feature is not enough!"/>
            <p:cNvSpPr txBox="1"/>
            <p:nvPr/>
          </p:nvSpPr>
          <p:spPr>
            <a:xfrm>
              <a:off x="0" y="-35739"/>
              <a:ext cx="6591300" cy="10874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584200">
                <a:defRPr sz="3200">
                  <a:latin typeface="+mn-lt"/>
                  <a:ea typeface="+mn-ea"/>
                  <a:cs typeface="+mn-cs"/>
                  <a:sym typeface="Gill Sans"/>
                </a:defRPr>
              </a:lvl1pPr>
            </a:lstStyle>
            <a:p>
              <a:pPr>
                <a:defRPr i="1"/>
              </a:pPr>
              <a:r>
                <a:rPr sz="2250"/>
                <a:t>... but, only representing an object with its diagnostic feature is not enough! </a:t>
              </a:r>
            </a:p>
          </p:txBody>
        </p:sp>
        <p:sp>
          <p:nvSpPr>
            <p:cNvPr id="1449" name="How else can categorization influence the features inferred by a model?"/>
            <p:cNvSpPr txBox="1"/>
            <p:nvPr/>
          </p:nvSpPr>
          <p:spPr>
            <a:xfrm>
              <a:off x="0" y="1183461"/>
              <a:ext cx="6362701" cy="10874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584200">
                <a:defRPr sz="3200">
                  <a:latin typeface="+mn-lt"/>
                  <a:ea typeface="+mn-ea"/>
                  <a:cs typeface="+mn-cs"/>
                  <a:sym typeface="Gill Sans"/>
                </a:defRPr>
              </a:lvl1pPr>
            </a:lstStyle>
            <a:p>
              <a:pPr>
                <a:defRPr i="1"/>
              </a:pPr>
              <a:r>
                <a:rPr sz="2250"/>
                <a:t>How else can categorization influence the features inferred by a model?</a:t>
              </a:r>
            </a:p>
          </p:txBody>
        </p:sp>
      </p:grpSp>
    </p:spTree>
    <p:extLst>
      <p:ext uri="{BB962C8B-B14F-4D97-AF65-F5344CB8AC3E}">
        <p14:creationId xmlns:p14="http://schemas.microsoft.com/office/powerpoint/2010/main" val="80967597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4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44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 grpId="0" animBg="1" advAuto="0"/>
      <p:bldP spid="1446" grpId="0" animBg="1" advAuto="0"/>
      <p:bldP spid="1450" grpId="0" animBg="1" advAuto="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 name="The Indian buffet franchise"/>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The Indian buffet franchise</a:t>
            </a:r>
          </a:p>
        </p:txBody>
      </p:sp>
      <p:pic>
        <p:nvPicPr>
          <p:cNvPr id="1453" name="pevt-gold-stimuli.pdf" descr="pevt-gold-stimuli.pdf"/>
          <p:cNvPicPr>
            <a:picLocks noChangeAspect="1"/>
          </p:cNvPicPr>
          <p:nvPr/>
        </p:nvPicPr>
        <p:blipFill>
          <a:blip r:embed="rId2"/>
          <a:srcRect l="358" t="1287" r="75476" b="72961"/>
          <a:stretch>
            <a:fillRect/>
          </a:stretch>
        </p:blipFill>
        <p:spPr>
          <a:xfrm>
            <a:off x="1000125" y="3161110"/>
            <a:ext cx="617038" cy="548478"/>
          </a:xfrm>
          <a:prstGeom prst="rect">
            <a:avLst/>
          </a:prstGeom>
          <a:ln w="12700">
            <a:miter lim="400000"/>
          </a:ln>
        </p:spPr>
      </p:pic>
      <p:pic>
        <p:nvPicPr>
          <p:cNvPr id="1454" name="pevt-gold-stimuli.pdf" descr="pevt-gold-stimuli.pdf"/>
          <p:cNvPicPr>
            <a:picLocks noChangeAspect="1"/>
          </p:cNvPicPr>
          <p:nvPr/>
        </p:nvPicPr>
        <p:blipFill>
          <a:blip r:embed="rId2"/>
          <a:srcRect l="30089" t="2360" r="45744" b="71888"/>
          <a:stretch>
            <a:fillRect/>
          </a:stretch>
        </p:blipFill>
        <p:spPr>
          <a:xfrm>
            <a:off x="1004610" y="3804047"/>
            <a:ext cx="617039" cy="548478"/>
          </a:xfrm>
          <a:prstGeom prst="rect">
            <a:avLst/>
          </a:prstGeom>
          <a:ln w="12700">
            <a:miter lim="400000"/>
          </a:ln>
        </p:spPr>
      </p:pic>
      <p:pic>
        <p:nvPicPr>
          <p:cNvPr id="1455" name="pevt-gold-stimuli.pdf" descr="pevt-gold-stimuli.pdf"/>
          <p:cNvPicPr>
            <a:picLocks noChangeAspect="1"/>
          </p:cNvPicPr>
          <p:nvPr/>
        </p:nvPicPr>
        <p:blipFill>
          <a:blip r:embed="rId2"/>
          <a:srcRect l="62831" t="4291" r="13003" b="69957"/>
          <a:stretch>
            <a:fillRect/>
          </a:stretch>
        </p:blipFill>
        <p:spPr>
          <a:xfrm>
            <a:off x="1848487" y="2553891"/>
            <a:ext cx="617039" cy="548478"/>
          </a:xfrm>
          <a:prstGeom prst="rect">
            <a:avLst/>
          </a:prstGeom>
          <a:ln w="50800">
            <a:solidFill>
              <a:srgbClr val="EA2A67"/>
            </a:solidFill>
            <a:miter lim="400000"/>
          </a:ln>
        </p:spPr>
      </p:pic>
      <p:pic>
        <p:nvPicPr>
          <p:cNvPr id="1456" name="pevt-gold-stimuli.pdf" descr="pevt-gold-stimuli.pdf"/>
          <p:cNvPicPr>
            <a:picLocks noChangeAspect="1"/>
          </p:cNvPicPr>
          <p:nvPr/>
        </p:nvPicPr>
        <p:blipFill>
          <a:blip r:embed="rId2"/>
          <a:srcRect l="716" t="70600" r="75118" b="3648"/>
          <a:stretch>
            <a:fillRect/>
          </a:stretch>
        </p:blipFill>
        <p:spPr>
          <a:xfrm>
            <a:off x="2678907" y="2550124"/>
            <a:ext cx="617038" cy="548479"/>
          </a:xfrm>
          <a:prstGeom prst="rect">
            <a:avLst/>
          </a:prstGeom>
          <a:ln w="50800">
            <a:solidFill>
              <a:srgbClr val="E97216"/>
            </a:solidFill>
            <a:miter lim="400000"/>
          </a:ln>
        </p:spPr>
      </p:pic>
      <p:pic>
        <p:nvPicPr>
          <p:cNvPr id="1457" name="pevt-gold-stimuli.pdf" descr="pevt-gold-stimuli.pdf"/>
          <p:cNvPicPr>
            <a:picLocks noChangeAspect="1"/>
          </p:cNvPicPr>
          <p:nvPr/>
        </p:nvPicPr>
        <p:blipFill>
          <a:blip r:embed="rId2"/>
          <a:srcRect l="32579" t="70815" r="43255" b="3433"/>
          <a:stretch>
            <a:fillRect/>
          </a:stretch>
        </p:blipFill>
        <p:spPr>
          <a:xfrm>
            <a:off x="3513852" y="2550124"/>
            <a:ext cx="617039" cy="548479"/>
          </a:xfrm>
          <a:prstGeom prst="rect">
            <a:avLst/>
          </a:prstGeom>
          <a:ln w="50800">
            <a:solidFill>
              <a:srgbClr val="FFC900"/>
            </a:solidFill>
            <a:miter lim="400000"/>
          </a:ln>
        </p:spPr>
      </p:pic>
      <p:graphicFrame>
        <p:nvGraphicFramePr>
          <p:cNvPr id="1458" name="Table"/>
          <p:cNvGraphicFramePr/>
          <p:nvPr/>
        </p:nvGraphicFramePr>
        <p:xfrm>
          <a:off x="1768077" y="3187898"/>
          <a:ext cx="2455662" cy="1151930"/>
        </p:xfrm>
        <a:graphic>
          <a:graphicData uri="http://schemas.openxmlformats.org/drawingml/2006/table">
            <a:tbl>
              <a:tblPr/>
              <a:tblGrid>
                <a:gridCol w="818554">
                  <a:extLst>
                    <a:ext uri="{9D8B030D-6E8A-4147-A177-3AD203B41FA5}">
                      <a16:colId xmlns:a16="http://schemas.microsoft.com/office/drawing/2014/main" val="20000"/>
                    </a:ext>
                  </a:extLst>
                </a:gridCol>
                <a:gridCol w="818554">
                  <a:extLst>
                    <a:ext uri="{9D8B030D-6E8A-4147-A177-3AD203B41FA5}">
                      <a16:colId xmlns:a16="http://schemas.microsoft.com/office/drawing/2014/main" val="20001"/>
                    </a:ext>
                  </a:extLst>
                </a:gridCol>
                <a:gridCol w="818554">
                  <a:extLst>
                    <a:ext uri="{9D8B030D-6E8A-4147-A177-3AD203B41FA5}">
                      <a16:colId xmlns:a16="http://schemas.microsoft.com/office/drawing/2014/main" val="20002"/>
                    </a:ext>
                  </a:extLst>
                </a:gridCol>
              </a:tblGrid>
              <a:tr h="575965">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extLst>
                  <a:ext uri="{0D108BD9-81ED-4DB2-BD59-A6C34878D82A}">
                    <a16:rowId xmlns:a16="http://schemas.microsoft.com/office/drawing/2014/main" val="10000"/>
                  </a:ext>
                </a:extLst>
              </a:tr>
              <a:tr h="575965">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extLst>
                  <a:ext uri="{0D108BD9-81ED-4DB2-BD59-A6C34878D82A}">
                    <a16:rowId xmlns:a16="http://schemas.microsoft.com/office/drawing/2014/main" val="10001"/>
                  </a:ext>
                </a:extLst>
              </a:tr>
            </a:tbl>
          </a:graphicData>
        </a:graphic>
      </p:graphicFrame>
      <p:sp>
        <p:nvSpPr>
          <p:cNvPr id="1459" name="Category 1’s Indian buffet process"/>
          <p:cNvSpPr txBox="1"/>
          <p:nvPr/>
        </p:nvSpPr>
        <p:spPr>
          <a:xfrm>
            <a:off x="1138333" y="4339148"/>
            <a:ext cx="303807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1’s Indian buffet process</a:t>
            </a:r>
          </a:p>
        </p:txBody>
      </p:sp>
      <p:sp>
        <p:nvSpPr>
          <p:cNvPr id="1460" name="... But should feature images be shared across categories? If so, how?…"/>
          <p:cNvSpPr txBox="1"/>
          <p:nvPr/>
        </p:nvSpPr>
        <p:spPr>
          <a:xfrm>
            <a:off x="321469" y="4689300"/>
            <a:ext cx="8501063" cy="21496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defTabSz="410751">
              <a:defRPr sz="3200">
                <a:latin typeface="+mn-lt"/>
                <a:ea typeface="+mn-ea"/>
                <a:cs typeface="+mn-cs"/>
                <a:sym typeface="Gill Sans"/>
              </a:defRPr>
            </a:pPr>
            <a:r>
              <a:rPr sz="2250"/>
              <a:t>... But should feature images be shared across categories? If so, how?</a:t>
            </a:r>
          </a:p>
          <a:p>
            <a:pPr defTabSz="410751">
              <a:defRPr sz="1600">
                <a:latin typeface="+mn-lt"/>
                <a:ea typeface="+mn-ea"/>
                <a:cs typeface="+mn-cs"/>
                <a:sym typeface="Gill Sans"/>
              </a:defRPr>
            </a:pPr>
            <a:endParaRPr sz="1125"/>
          </a:p>
          <a:p>
            <a:pPr defTabSz="410751">
              <a:defRPr sz="3200">
                <a:latin typeface="+mn-lt"/>
                <a:ea typeface="+mn-ea"/>
                <a:cs typeface="+mn-cs"/>
                <a:sym typeface="Gill Sans"/>
              </a:defRPr>
            </a:pPr>
            <a:r>
              <a:rPr sz="2250"/>
              <a:t>Assume that the feature images come from a common source:</a:t>
            </a:r>
          </a:p>
          <a:p>
            <a:pPr lvl="1" indent="241093" defTabSz="410751">
              <a:defRPr sz="3200">
                <a:latin typeface="+mn-lt"/>
                <a:ea typeface="+mn-ea"/>
                <a:cs typeface="+mn-cs"/>
                <a:sym typeface="Gill Sans"/>
              </a:defRPr>
            </a:pPr>
            <a:r>
              <a:rPr sz="2250"/>
              <a:t>a Chinese restaurant process </a:t>
            </a:r>
            <a:r>
              <a:rPr sz="1687"/>
              <a:t>(Aldous, 1983)</a:t>
            </a:r>
            <a:r>
              <a:rPr sz="2250"/>
              <a:t>.</a:t>
            </a:r>
          </a:p>
          <a:p>
            <a:pPr defTabSz="410751">
              <a:defRPr sz="1600">
                <a:latin typeface="+mn-lt"/>
                <a:ea typeface="+mn-ea"/>
                <a:cs typeface="+mn-cs"/>
                <a:sym typeface="Gill Sans"/>
              </a:defRPr>
            </a:pPr>
            <a:endParaRPr sz="1125"/>
          </a:p>
          <a:p>
            <a:pPr defTabSz="410751">
              <a:defRPr sz="3200">
                <a:latin typeface="+mn-lt"/>
                <a:ea typeface="+mn-ea"/>
                <a:cs typeface="+mn-cs"/>
                <a:sym typeface="Gill Sans"/>
              </a:defRPr>
            </a:pPr>
            <a:r>
              <a:rPr sz="2250"/>
              <a:t>This method for sharing information across categories is used to model human learning of hierarchical categories </a:t>
            </a:r>
            <a:r>
              <a:rPr sz="1687"/>
              <a:t>(Griffiths et al., 2011)</a:t>
            </a:r>
            <a:r>
              <a:rPr sz="2250"/>
              <a:t>.</a:t>
            </a:r>
          </a:p>
        </p:txBody>
      </p:sp>
      <p:sp>
        <p:nvSpPr>
          <p:cNvPr id="1461" name="Features"/>
          <p:cNvSpPr txBox="1"/>
          <p:nvPr/>
        </p:nvSpPr>
        <p:spPr>
          <a:xfrm>
            <a:off x="2592140" y="2200488"/>
            <a:ext cx="828818"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Features</a:t>
            </a:r>
          </a:p>
        </p:txBody>
      </p:sp>
      <p:sp>
        <p:nvSpPr>
          <p:cNvPr id="1462" name="Rectangle"/>
          <p:cNvSpPr/>
          <p:nvPr/>
        </p:nvSpPr>
        <p:spPr>
          <a:xfrm>
            <a:off x="294680" y="2196703"/>
            <a:ext cx="4036219" cy="2509242"/>
          </a:xfrm>
          <a:prstGeom prst="rect">
            <a:avLst/>
          </a:prstGeom>
          <a:ln w="25400">
            <a:solidFill>
              <a:srgbClr val="0000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63" name="Obj. 1"/>
          <p:cNvSpPr txBox="1"/>
          <p:nvPr/>
        </p:nvSpPr>
        <p:spPr>
          <a:xfrm>
            <a:off x="344359" y="3334559"/>
            <a:ext cx="593112"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Obj. 1</a:t>
            </a:r>
          </a:p>
        </p:txBody>
      </p:sp>
      <p:sp>
        <p:nvSpPr>
          <p:cNvPr id="1464" name="Obj. 2"/>
          <p:cNvSpPr txBox="1"/>
          <p:nvPr/>
        </p:nvSpPr>
        <p:spPr>
          <a:xfrm>
            <a:off x="344359" y="3888199"/>
            <a:ext cx="593112"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Obj. 2</a:t>
            </a:r>
          </a:p>
        </p:txBody>
      </p:sp>
      <p:grpSp>
        <p:nvGrpSpPr>
          <p:cNvPr id="1482" name="Group"/>
          <p:cNvGrpSpPr/>
          <p:nvPr/>
        </p:nvGrpSpPr>
        <p:grpSpPr>
          <a:xfrm>
            <a:off x="294680" y="628863"/>
            <a:ext cx="8304609" cy="1442825"/>
            <a:chOff x="0" y="-7318"/>
            <a:chExt cx="11811000" cy="2052018"/>
          </a:xfrm>
        </p:grpSpPr>
        <p:grpSp>
          <p:nvGrpSpPr>
            <p:cNvPr id="1467" name="Group"/>
            <p:cNvGrpSpPr/>
            <p:nvPr/>
          </p:nvGrpSpPr>
          <p:grpSpPr>
            <a:xfrm>
              <a:off x="457200" y="596900"/>
              <a:ext cx="1066800" cy="1066800"/>
              <a:chOff x="0" y="0"/>
              <a:chExt cx="1066800" cy="1066800"/>
            </a:xfrm>
          </p:grpSpPr>
          <p:pic>
            <p:nvPicPr>
              <p:cNvPr id="1465" name="pevt-gold-stimuli.pdf" descr="pevt-gold-stimuli.pdf"/>
              <p:cNvPicPr>
                <a:picLocks noChangeAspect="1"/>
              </p:cNvPicPr>
              <p:nvPr/>
            </p:nvPicPr>
            <p:blipFill>
              <a:blip r:embed="rId2"/>
              <a:srcRect l="62831" t="4291" r="13003" b="69957"/>
              <a:stretch>
                <a:fillRect/>
              </a:stretch>
            </p:blipFill>
            <p:spPr>
              <a:xfrm>
                <a:off x="88900" y="139700"/>
                <a:ext cx="877565" cy="780058"/>
              </a:xfrm>
              <a:prstGeom prst="rect">
                <a:avLst/>
              </a:prstGeom>
              <a:ln w="12700" cap="flat">
                <a:noFill/>
                <a:miter lim="400000"/>
              </a:ln>
              <a:effectLst/>
            </p:spPr>
          </p:pic>
          <p:sp>
            <p:nvSpPr>
              <p:cNvPr id="1466"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sp>
          <p:nvSpPr>
            <p:cNvPr id="1468" name="Rectangle"/>
            <p:cNvSpPr/>
            <p:nvPr/>
          </p:nvSpPr>
          <p:spPr>
            <a:xfrm>
              <a:off x="0" y="50800"/>
              <a:ext cx="11811000" cy="1993900"/>
            </a:xfrm>
            <a:prstGeom prst="rect">
              <a:avLst/>
            </a:prstGeom>
            <a:noFill/>
            <a:ln w="508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69" name="Shared Chinese restaurant process"/>
            <p:cNvSpPr txBox="1"/>
            <p:nvPr/>
          </p:nvSpPr>
          <p:spPr>
            <a:xfrm>
              <a:off x="3695517" y="-7318"/>
              <a:ext cx="4411830" cy="47183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Shared Chinese restaurant process</a:t>
              </a:r>
            </a:p>
          </p:txBody>
        </p:sp>
        <p:grpSp>
          <p:nvGrpSpPr>
            <p:cNvPr id="1472" name="Group"/>
            <p:cNvGrpSpPr/>
            <p:nvPr/>
          </p:nvGrpSpPr>
          <p:grpSpPr>
            <a:xfrm>
              <a:off x="2197100" y="584200"/>
              <a:ext cx="1066800" cy="1066800"/>
              <a:chOff x="0" y="0"/>
              <a:chExt cx="1066800" cy="1066800"/>
            </a:xfrm>
          </p:grpSpPr>
          <p:pic>
            <p:nvPicPr>
              <p:cNvPr id="1470" name="pevt-gold-stimuli.pdf" descr="pevt-gold-stimuli.pdf"/>
              <p:cNvPicPr>
                <a:picLocks noChangeAspect="1"/>
              </p:cNvPicPr>
              <p:nvPr/>
            </p:nvPicPr>
            <p:blipFill>
              <a:blip r:embed="rId2"/>
              <a:srcRect l="716" t="70600" r="75118" b="3648"/>
              <a:stretch>
                <a:fillRect/>
              </a:stretch>
            </p:blipFill>
            <p:spPr>
              <a:xfrm>
                <a:off x="88900" y="139700"/>
                <a:ext cx="877565" cy="780058"/>
              </a:xfrm>
              <a:prstGeom prst="rect">
                <a:avLst/>
              </a:prstGeom>
              <a:ln w="12700" cap="flat">
                <a:noFill/>
                <a:miter lim="400000"/>
              </a:ln>
              <a:effectLst/>
            </p:spPr>
          </p:pic>
          <p:sp>
            <p:nvSpPr>
              <p:cNvPr id="1471"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nvGrpSpPr>
            <p:cNvPr id="1475" name="Group"/>
            <p:cNvGrpSpPr/>
            <p:nvPr/>
          </p:nvGrpSpPr>
          <p:grpSpPr>
            <a:xfrm>
              <a:off x="3937000" y="584200"/>
              <a:ext cx="1066800" cy="1066800"/>
              <a:chOff x="0" y="0"/>
              <a:chExt cx="1066800" cy="1066800"/>
            </a:xfrm>
          </p:grpSpPr>
          <p:pic>
            <p:nvPicPr>
              <p:cNvPr id="1473" name="pevt-gold-stimuli.pdf" descr="pevt-gold-stimuli.pdf"/>
              <p:cNvPicPr>
                <a:picLocks noChangeAspect="1"/>
              </p:cNvPicPr>
              <p:nvPr/>
            </p:nvPicPr>
            <p:blipFill>
              <a:blip r:embed="rId2"/>
              <a:srcRect l="32579" t="70815" r="43255" b="3433"/>
              <a:stretch>
                <a:fillRect/>
              </a:stretch>
            </p:blipFill>
            <p:spPr>
              <a:xfrm>
                <a:off x="101600" y="139700"/>
                <a:ext cx="877565" cy="780058"/>
              </a:xfrm>
              <a:prstGeom prst="rect">
                <a:avLst/>
              </a:prstGeom>
              <a:ln w="12700" cap="flat">
                <a:noFill/>
                <a:miter lim="400000"/>
              </a:ln>
              <a:effectLst/>
            </p:spPr>
          </p:pic>
          <p:sp>
            <p:nvSpPr>
              <p:cNvPr id="1474"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nvGrpSpPr>
            <p:cNvPr id="1478" name="Group"/>
            <p:cNvGrpSpPr/>
            <p:nvPr/>
          </p:nvGrpSpPr>
          <p:grpSpPr>
            <a:xfrm>
              <a:off x="5676900" y="584200"/>
              <a:ext cx="1066800" cy="1066800"/>
              <a:chOff x="0" y="0"/>
              <a:chExt cx="1066800" cy="1066800"/>
            </a:xfrm>
          </p:grpSpPr>
          <p:pic>
            <p:nvPicPr>
              <p:cNvPr id="1476" name="pevt-gold-stimuli.pdf" descr="pevt-gold-stimuli.pdf"/>
              <p:cNvPicPr>
                <a:picLocks noChangeAspect="1"/>
              </p:cNvPicPr>
              <p:nvPr/>
            </p:nvPicPr>
            <p:blipFill>
              <a:blip r:embed="rId2"/>
              <a:srcRect l="63368" t="37768" r="12466" b="36480"/>
              <a:stretch>
                <a:fillRect/>
              </a:stretch>
            </p:blipFill>
            <p:spPr>
              <a:xfrm>
                <a:off x="88900" y="139700"/>
                <a:ext cx="877565" cy="780058"/>
              </a:xfrm>
              <a:prstGeom prst="rect">
                <a:avLst/>
              </a:prstGeom>
              <a:ln w="12700" cap="flat">
                <a:noFill/>
                <a:miter lim="400000"/>
              </a:ln>
              <a:effectLst/>
            </p:spPr>
          </p:pic>
          <p:sp>
            <p:nvSpPr>
              <p:cNvPr id="1477"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sp>
          <p:nvSpPr>
            <p:cNvPr id="1479" name="Circle"/>
            <p:cNvSpPr/>
            <p:nvPr/>
          </p:nvSpPr>
          <p:spPr>
            <a:xfrm>
              <a:off x="7416800" y="58420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0" name="Circle"/>
            <p:cNvSpPr/>
            <p:nvPr/>
          </p:nvSpPr>
          <p:spPr>
            <a:xfrm>
              <a:off x="10033000" y="59690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1" name="..."/>
            <p:cNvSpPr txBox="1"/>
            <p:nvPr/>
          </p:nvSpPr>
          <p:spPr>
            <a:xfrm>
              <a:off x="8996591" y="647911"/>
              <a:ext cx="512961" cy="7488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4200">
                  <a:latin typeface="+mn-lt"/>
                  <a:ea typeface="+mn-ea"/>
                  <a:cs typeface="+mn-cs"/>
                  <a:sym typeface="Gill Sans"/>
                </a:defRPr>
              </a:lvl1pPr>
            </a:lstStyle>
            <a:p>
              <a:r>
                <a:rPr sz="2953"/>
                <a:t>...</a:t>
              </a:r>
            </a:p>
          </p:txBody>
        </p:sp>
      </p:grpSp>
      <p:sp>
        <p:nvSpPr>
          <p:cNvPr id="1483" name="Circle"/>
          <p:cNvSpPr/>
          <p:nvPr/>
        </p:nvSpPr>
        <p:spPr>
          <a:xfrm>
            <a:off x="2085082" y="2754623"/>
            <a:ext cx="151805" cy="151805"/>
          </a:xfrm>
          <a:prstGeom prst="ellipse">
            <a:avLst/>
          </a:prstGeom>
          <a:solidFill>
            <a:srgbClr val="EA2A67">
              <a:alpha val="32000"/>
            </a:srgbClr>
          </a:solidFill>
          <a:ln w="50800">
            <a:solidFill>
              <a:srgbClr val="EA2A67"/>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4" name="Rectangle"/>
          <p:cNvSpPr/>
          <p:nvPr/>
        </p:nvSpPr>
        <p:spPr>
          <a:xfrm>
            <a:off x="1848445" y="2544961"/>
            <a:ext cx="607219" cy="544711"/>
          </a:xfrm>
          <a:prstGeom prst="rect">
            <a:avLst/>
          </a:prstGeom>
          <a:solidFill>
            <a:srgbClr val="EA2A67">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5" name="Rectangle"/>
          <p:cNvSpPr/>
          <p:nvPr/>
        </p:nvSpPr>
        <p:spPr>
          <a:xfrm>
            <a:off x="2678906" y="2553891"/>
            <a:ext cx="607219" cy="544711"/>
          </a:xfrm>
          <a:prstGeom prst="rect">
            <a:avLst/>
          </a:prstGeom>
          <a:solidFill>
            <a:srgbClr val="E97216">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6" name="Rectangle"/>
          <p:cNvSpPr/>
          <p:nvPr/>
        </p:nvSpPr>
        <p:spPr>
          <a:xfrm>
            <a:off x="3509367" y="2553891"/>
            <a:ext cx="607219" cy="544711"/>
          </a:xfrm>
          <a:prstGeom prst="rect">
            <a:avLst/>
          </a:prstGeom>
          <a:solidFill>
            <a:srgbClr val="E8B600">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503" name="Group"/>
          <p:cNvGrpSpPr/>
          <p:nvPr/>
        </p:nvGrpSpPr>
        <p:grpSpPr>
          <a:xfrm>
            <a:off x="4563070" y="2196703"/>
            <a:ext cx="4956967" cy="2629496"/>
            <a:chOff x="0" y="0"/>
            <a:chExt cx="7049908" cy="3739727"/>
          </a:xfrm>
        </p:grpSpPr>
        <p:grpSp>
          <p:nvGrpSpPr>
            <p:cNvPr id="1490" name="Group"/>
            <p:cNvGrpSpPr/>
            <p:nvPr/>
          </p:nvGrpSpPr>
          <p:grpSpPr>
            <a:xfrm>
              <a:off x="2197159" y="495300"/>
              <a:ext cx="3277806" cy="783129"/>
              <a:chOff x="0" y="0"/>
              <a:chExt cx="3277805" cy="783127"/>
            </a:xfrm>
          </p:grpSpPr>
          <p:pic>
            <p:nvPicPr>
              <p:cNvPr id="1487" name="pevt-gold-stimuli.pdf" descr="pevt-gold-stimuli.pdf"/>
              <p:cNvPicPr>
                <a:picLocks noChangeAspect="1"/>
              </p:cNvPicPr>
              <p:nvPr/>
            </p:nvPicPr>
            <p:blipFill>
              <a:blip r:embed="rId2"/>
              <a:srcRect l="63368" t="37768" r="12466" b="36480"/>
              <a:stretch>
                <a:fillRect/>
              </a:stretch>
            </p:blipFill>
            <p:spPr>
              <a:xfrm>
                <a:off x="0" y="3069"/>
                <a:ext cx="877565" cy="780059"/>
              </a:xfrm>
              <a:prstGeom prst="rect">
                <a:avLst/>
              </a:prstGeom>
              <a:ln w="50800" cap="flat">
                <a:solidFill>
                  <a:srgbClr val="469400"/>
                </a:solidFill>
                <a:prstDash val="solid"/>
                <a:miter lim="400000"/>
              </a:ln>
              <a:effectLst/>
            </p:spPr>
          </p:pic>
          <p:pic>
            <p:nvPicPr>
              <p:cNvPr id="1488" name="pevt-gold-stimuli.pdf" descr="pevt-gold-stimuli.pdf"/>
              <p:cNvPicPr>
                <a:picLocks noChangeAspect="1"/>
              </p:cNvPicPr>
              <p:nvPr/>
            </p:nvPicPr>
            <p:blipFill>
              <a:blip r:embed="rId2"/>
              <a:srcRect l="716" t="70600" r="75118" b="3648"/>
              <a:stretch>
                <a:fillRect/>
              </a:stretch>
            </p:blipFill>
            <p:spPr>
              <a:xfrm>
                <a:off x="1206440" y="0"/>
                <a:ext cx="877566" cy="780058"/>
              </a:xfrm>
              <a:prstGeom prst="rect">
                <a:avLst/>
              </a:prstGeom>
              <a:ln w="50800" cap="flat">
                <a:solidFill>
                  <a:srgbClr val="0061FF"/>
                </a:solidFill>
                <a:prstDash val="solid"/>
                <a:miter lim="400000"/>
              </a:ln>
              <a:effectLst/>
            </p:spPr>
          </p:pic>
          <p:pic>
            <p:nvPicPr>
              <p:cNvPr id="1489" name="pevt-gold-stimuli.pdf" descr="pevt-gold-stimuli.pdf"/>
              <p:cNvPicPr>
                <a:picLocks noChangeAspect="1"/>
              </p:cNvPicPr>
              <p:nvPr/>
            </p:nvPicPr>
            <p:blipFill>
              <a:blip r:embed="rId2"/>
              <a:srcRect l="32579" t="70815" r="43255" b="3433"/>
              <a:stretch>
                <a:fillRect/>
              </a:stretch>
            </p:blipFill>
            <p:spPr>
              <a:xfrm>
                <a:off x="2400240" y="0"/>
                <a:ext cx="877566" cy="780058"/>
              </a:xfrm>
              <a:prstGeom prst="rect">
                <a:avLst/>
              </a:prstGeom>
              <a:ln w="50800" cap="flat">
                <a:solidFill>
                  <a:srgbClr val="7330E8"/>
                </a:solidFill>
                <a:prstDash val="solid"/>
                <a:miter lim="400000"/>
              </a:ln>
              <a:effectLst/>
            </p:spPr>
          </p:pic>
        </p:grpSp>
        <p:grpSp>
          <p:nvGrpSpPr>
            <p:cNvPr id="1502" name="Group"/>
            <p:cNvGrpSpPr/>
            <p:nvPr/>
          </p:nvGrpSpPr>
          <p:grpSpPr>
            <a:xfrm>
              <a:off x="0" y="0"/>
              <a:ext cx="7049908" cy="3739727"/>
              <a:chOff x="0" y="0"/>
              <a:chExt cx="7049908" cy="3739727"/>
            </a:xfrm>
          </p:grpSpPr>
          <p:pic>
            <p:nvPicPr>
              <p:cNvPr id="1491" name="pevt-gold-stimuli.pdf" descr="pevt-gold-stimuli.pdf"/>
              <p:cNvPicPr>
                <a:picLocks noChangeAspect="1"/>
              </p:cNvPicPr>
              <p:nvPr/>
            </p:nvPicPr>
            <p:blipFill>
              <a:blip r:embed="rId2"/>
              <a:srcRect l="358" t="37124" r="75476" b="37124"/>
              <a:stretch>
                <a:fillRect/>
              </a:stretch>
            </p:blipFill>
            <p:spPr>
              <a:xfrm>
                <a:off x="1003300" y="1458874"/>
                <a:ext cx="877565" cy="780059"/>
              </a:xfrm>
              <a:prstGeom prst="rect">
                <a:avLst/>
              </a:prstGeom>
              <a:ln w="12700" cap="flat">
                <a:noFill/>
                <a:miter lim="400000"/>
              </a:ln>
              <a:effectLst/>
            </p:spPr>
          </p:pic>
          <p:pic>
            <p:nvPicPr>
              <p:cNvPr id="1492" name="pevt-gold-stimuli.pdf" descr="pevt-gold-stimuli.pdf"/>
              <p:cNvPicPr>
                <a:picLocks noChangeAspect="1"/>
              </p:cNvPicPr>
              <p:nvPr/>
            </p:nvPicPr>
            <p:blipFill>
              <a:blip r:embed="rId2"/>
              <a:srcRect l="31171" t="37124" r="44662" b="37124"/>
              <a:stretch>
                <a:fillRect/>
              </a:stretch>
            </p:blipFill>
            <p:spPr>
              <a:xfrm>
                <a:off x="996979" y="2289070"/>
                <a:ext cx="877566" cy="780059"/>
              </a:xfrm>
              <a:prstGeom prst="rect">
                <a:avLst/>
              </a:prstGeom>
              <a:ln w="12700" cap="flat">
                <a:noFill/>
                <a:miter lim="400000"/>
              </a:ln>
              <a:effectLst/>
            </p:spPr>
          </p:pic>
          <p:sp>
            <p:nvSpPr>
              <p:cNvPr id="1493" name="Rectangle"/>
              <p:cNvSpPr/>
              <p:nvPr/>
            </p:nvSpPr>
            <p:spPr>
              <a:xfrm>
                <a:off x="0" y="0"/>
                <a:ext cx="5740400" cy="3568700"/>
              </a:xfrm>
              <a:prstGeom prst="rect">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aphicFrame>
            <p:nvGraphicFramePr>
              <p:cNvPr id="1494" name="Table"/>
              <p:cNvGraphicFramePr/>
              <p:nvPr/>
            </p:nvGraphicFramePr>
            <p:xfrm>
              <a:off x="2082800" y="1409701"/>
              <a:ext cx="4967108" cy="2330026"/>
            </p:xfrm>
            <a:graphic>
              <a:graphicData uri="http://schemas.openxmlformats.org/drawingml/2006/table">
                <a:tbl>
                  <a:tblPr/>
                  <a:tblGrid>
                    <a:gridCol w="1164166">
                      <a:extLst>
                        <a:ext uri="{9D8B030D-6E8A-4147-A177-3AD203B41FA5}">
                          <a16:colId xmlns:a16="http://schemas.microsoft.com/office/drawing/2014/main" val="20000"/>
                        </a:ext>
                      </a:extLst>
                    </a:gridCol>
                    <a:gridCol w="1164166">
                      <a:extLst>
                        <a:ext uri="{9D8B030D-6E8A-4147-A177-3AD203B41FA5}">
                          <a16:colId xmlns:a16="http://schemas.microsoft.com/office/drawing/2014/main" val="20001"/>
                        </a:ext>
                      </a:extLst>
                    </a:gridCol>
                    <a:gridCol w="1164166">
                      <a:extLst>
                        <a:ext uri="{9D8B030D-6E8A-4147-A177-3AD203B41FA5}">
                          <a16:colId xmlns:a16="http://schemas.microsoft.com/office/drawing/2014/main" val="20002"/>
                        </a:ext>
                      </a:extLst>
                    </a:gridCol>
                  </a:tblGrid>
                  <a:tr h="819150">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extLst>
                      <a:ext uri="{0D108BD9-81ED-4DB2-BD59-A6C34878D82A}">
                        <a16:rowId xmlns:a16="http://schemas.microsoft.com/office/drawing/2014/main" val="10000"/>
                      </a:ext>
                    </a:extLst>
                  </a:tr>
                  <a:tr h="819150">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extLst>
                      <a:ext uri="{0D108BD9-81ED-4DB2-BD59-A6C34878D82A}">
                        <a16:rowId xmlns:a16="http://schemas.microsoft.com/office/drawing/2014/main" val="10001"/>
                      </a:ext>
                    </a:extLst>
                  </a:tr>
                </a:tbl>
              </a:graphicData>
            </a:graphic>
          </p:graphicFrame>
          <p:sp>
            <p:nvSpPr>
              <p:cNvPr id="1495" name="Category 2’s Indian buffet process"/>
              <p:cNvSpPr txBox="1"/>
              <p:nvPr/>
            </p:nvSpPr>
            <p:spPr>
              <a:xfrm>
                <a:off x="1191696" y="3053385"/>
                <a:ext cx="4320820"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Category 2’s Indian buffet process</a:t>
                </a:r>
              </a:p>
            </p:txBody>
          </p:sp>
          <p:sp>
            <p:nvSpPr>
              <p:cNvPr id="1496" name="Features"/>
              <p:cNvSpPr txBox="1"/>
              <p:nvPr/>
            </p:nvSpPr>
            <p:spPr>
              <a:xfrm>
                <a:off x="3173414" y="5385"/>
                <a:ext cx="1178763"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Features</a:t>
                </a:r>
              </a:p>
            </p:txBody>
          </p:sp>
          <p:sp>
            <p:nvSpPr>
              <p:cNvPr id="1497" name="Obj. 1"/>
              <p:cNvSpPr txBox="1"/>
              <p:nvPr/>
            </p:nvSpPr>
            <p:spPr>
              <a:xfrm>
                <a:off x="95013" y="1618285"/>
                <a:ext cx="843537"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Obj. 1</a:t>
                </a:r>
              </a:p>
            </p:txBody>
          </p:sp>
          <p:sp>
            <p:nvSpPr>
              <p:cNvPr id="1498" name="Obj. 2"/>
              <p:cNvSpPr txBox="1"/>
              <p:nvPr/>
            </p:nvSpPr>
            <p:spPr>
              <a:xfrm>
                <a:off x="96054" y="2405685"/>
                <a:ext cx="843537"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Obj. 2</a:t>
                </a:r>
              </a:p>
            </p:txBody>
          </p:sp>
          <p:sp>
            <p:nvSpPr>
              <p:cNvPr id="1499" name="Rectangle"/>
              <p:cNvSpPr/>
              <p:nvPr/>
            </p:nvSpPr>
            <p:spPr>
              <a:xfrm>
                <a:off x="2209800" y="469900"/>
                <a:ext cx="863600" cy="774701"/>
              </a:xfrm>
              <a:prstGeom prst="rect">
                <a:avLst/>
              </a:prstGeom>
              <a:solidFill>
                <a:srgbClr val="469400">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0" name="Rectangle"/>
              <p:cNvSpPr/>
              <p:nvPr/>
            </p:nvSpPr>
            <p:spPr>
              <a:xfrm>
                <a:off x="3390900" y="469900"/>
                <a:ext cx="863600" cy="774701"/>
              </a:xfrm>
              <a:prstGeom prst="rect">
                <a:avLst/>
              </a:prstGeom>
              <a:solidFill>
                <a:srgbClr val="0061FF">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1" name="Rectangle"/>
              <p:cNvSpPr/>
              <p:nvPr/>
            </p:nvSpPr>
            <p:spPr>
              <a:xfrm>
                <a:off x="4622800" y="469900"/>
                <a:ext cx="863600" cy="774701"/>
              </a:xfrm>
              <a:prstGeom prst="rect">
                <a:avLst/>
              </a:prstGeom>
              <a:solidFill>
                <a:srgbClr val="7330E8">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sp>
        <p:nvSpPr>
          <p:cNvPr id="1504" name="Circle"/>
          <p:cNvSpPr/>
          <p:nvPr/>
        </p:nvSpPr>
        <p:spPr>
          <a:xfrm>
            <a:off x="2893219" y="2750344"/>
            <a:ext cx="151805" cy="151805"/>
          </a:xfrm>
          <a:prstGeom prst="ellipse">
            <a:avLst/>
          </a:prstGeom>
          <a:solidFill>
            <a:srgbClr val="E97216">
              <a:alpha val="32000"/>
            </a:srgbClr>
          </a:solidFill>
          <a:ln w="50800">
            <a:solidFill>
              <a:srgbClr val="E97216"/>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5" name="Circle"/>
          <p:cNvSpPr/>
          <p:nvPr/>
        </p:nvSpPr>
        <p:spPr>
          <a:xfrm>
            <a:off x="3741539" y="2759273"/>
            <a:ext cx="151805" cy="151805"/>
          </a:xfrm>
          <a:prstGeom prst="ellipse">
            <a:avLst/>
          </a:prstGeom>
          <a:solidFill>
            <a:srgbClr val="E8B600">
              <a:alpha val="32000"/>
            </a:srgbClr>
          </a:solidFill>
          <a:ln w="50800">
            <a:solidFill>
              <a:srgbClr val="E8B6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6" name="Circle"/>
          <p:cNvSpPr/>
          <p:nvPr/>
        </p:nvSpPr>
        <p:spPr>
          <a:xfrm>
            <a:off x="7188398" y="2732484"/>
            <a:ext cx="151805" cy="151805"/>
          </a:xfrm>
          <a:prstGeom prst="ellipse">
            <a:avLst/>
          </a:prstGeom>
          <a:solidFill>
            <a:srgbClr val="0061FF">
              <a:alpha val="32000"/>
            </a:srgbClr>
          </a:solidFill>
          <a:ln w="50800">
            <a:solidFill>
              <a:srgbClr val="0061FF"/>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7" name="Circle"/>
          <p:cNvSpPr/>
          <p:nvPr/>
        </p:nvSpPr>
        <p:spPr>
          <a:xfrm>
            <a:off x="8027789" y="2750344"/>
            <a:ext cx="151805" cy="151805"/>
          </a:xfrm>
          <a:prstGeom prst="ellipse">
            <a:avLst/>
          </a:prstGeom>
          <a:solidFill>
            <a:srgbClr val="7330E8">
              <a:alpha val="32000"/>
            </a:srgbClr>
          </a:solidFill>
          <a:ln w="50800">
            <a:solidFill>
              <a:srgbClr val="7330E8"/>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8" name="Circle"/>
          <p:cNvSpPr/>
          <p:nvPr/>
        </p:nvSpPr>
        <p:spPr>
          <a:xfrm>
            <a:off x="6331148" y="2750344"/>
            <a:ext cx="151805" cy="151805"/>
          </a:xfrm>
          <a:prstGeom prst="ellipse">
            <a:avLst/>
          </a:prstGeom>
          <a:solidFill>
            <a:srgbClr val="469400">
              <a:alpha val="32000"/>
            </a:srgbClr>
          </a:solidFill>
          <a:ln w="50800">
            <a:solidFill>
              <a:srgbClr val="4694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9" name="(Austerweil &amp; Griffiths, in rev.)"/>
          <p:cNvSpPr txBox="1"/>
          <p:nvPr/>
        </p:nvSpPr>
        <p:spPr>
          <a:xfrm>
            <a:off x="5800210" y="224405"/>
            <a:ext cx="2501135" cy="3102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200">
                <a:latin typeface="+mn-lt"/>
                <a:ea typeface="+mn-ea"/>
                <a:cs typeface="+mn-cs"/>
                <a:sym typeface="Gill Sans"/>
              </a:defRPr>
            </a:lvl1pPr>
          </a:lstStyle>
          <a:p>
            <a:r>
              <a:rPr sz="1547"/>
              <a:t>(Austerweil &amp; Griffiths, in rev.)</a:t>
            </a:r>
          </a:p>
        </p:txBody>
      </p:sp>
    </p:spTree>
    <p:extLst>
      <p:ext uri="{BB962C8B-B14F-4D97-AF65-F5344CB8AC3E}">
        <p14:creationId xmlns:p14="http://schemas.microsoft.com/office/powerpoint/2010/main" val="410017332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60">
                                            <p:bg/>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460">
                                            <p:txEl>
                                              <p:pRg st="0" end="0"/>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148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460">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500"/>
                                  </p:stCondLst>
                                  <p:iterate>
                                    <p:tmAbs val="0"/>
                                  </p:iterate>
                                  <p:childTnLst>
                                    <p:set>
                                      <p:cBhvr>
                                        <p:cTn id="21" fill="hold"/>
                                        <p:tgtEl>
                                          <p:spTgt spid="1460">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148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path" presetSubtype="0" accel="50000" decel="50000" fill="hold" nodeType="clickEffect">
                                  <p:stCondLst>
                                    <p:cond delay="0"/>
                                  </p:stCondLst>
                                  <p:childTnLst>
                                    <p:animMotion origin="layout" path="M 0.000000 0.000000 L -0.167969 -0.160129" pathEditMode="relative">
                                      <p:cBhvr>
                                        <p:cTn id="29" dur="1000" fill="hold"/>
                                        <p:tgtEl>
                                          <p:spTgt spid="1483"/>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1504"/>
                                        </p:tgtEl>
                                        <p:attrNameLst>
                                          <p:attrName>style.visibility</p:attrName>
                                        </p:attrNameLst>
                                      </p:cBhvr>
                                      <p:to>
                                        <p:strVal val="visible"/>
                                      </p:to>
                                    </p:set>
                                  </p:childTnLst>
                                </p:cTn>
                              </p:par>
                            </p:childTnLst>
                          </p:cTn>
                        </p:par>
                        <p:par>
                          <p:cTn id="34" fill="hold">
                            <p:stCondLst>
                              <p:cond delay="0"/>
                            </p:stCondLst>
                            <p:childTnLst>
                              <p:par>
                                <p:cTn id="35" presetID="-1" presetClass="path" presetSubtype="0" accel="50000" decel="50000" fill="hold" nodeType="afterEffect">
                                  <p:stCondLst>
                                    <p:cond delay="0"/>
                                  </p:stCondLst>
                                  <p:childTnLst>
                                    <p:animMotion origin="layout" path="M 0.000000 0.000000 L -0.121251 -0.159505" pathEditMode="relative">
                                      <p:cBhvr>
                                        <p:cTn id="36" dur="1000" fill="hold"/>
                                        <p:tgtEl>
                                          <p:spTgt spid="1504"/>
                                        </p:tgtEl>
                                        <p:attrNameLst>
                                          <p:attrName>ppt_x</p:attrName>
                                          <p:attrName>ppt_y</p:attrName>
                                        </p:attrNameLst>
                                      </p:cBhvr>
                                    </p:animMotion>
                                  </p:childTnLst>
                                </p:cTn>
                              </p:par>
                            </p:childTnLst>
                          </p:cTn>
                        </p:par>
                        <p:par>
                          <p:cTn id="37" fill="hold">
                            <p:stCondLst>
                              <p:cond delay="1000"/>
                            </p:stCondLst>
                            <p:childTnLst>
                              <p:par>
                                <p:cTn id="38" presetID="1" presetClass="entr" presetSubtype="0" fill="hold" grpId="0" nodeType="afterEffect">
                                  <p:stCondLst>
                                    <p:cond delay="0"/>
                                  </p:stCondLst>
                                  <p:iterate>
                                    <p:tmAbs val="0"/>
                                  </p:iterate>
                                  <p:childTnLst>
                                    <p:set>
                                      <p:cBhvr>
                                        <p:cTn id="39" fill="hold"/>
                                        <p:tgtEl>
                                          <p:spTgt spid="1505"/>
                                        </p:tgtEl>
                                        <p:attrNameLst>
                                          <p:attrName>style.visibility</p:attrName>
                                        </p:attrNameLst>
                                      </p:cBhvr>
                                      <p:to>
                                        <p:strVal val="visible"/>
                                      </p:to>
                                    </p:set>
                                  </p:childTnLst>
                                </p:cTn>
                              </p:par>
                            </p:childTnLst>
                          </p:cTn>
                        </p:par>
                        <p:par>
                          <p:cTn id="40" fill="hold">
                            <p:stCondLst>
                              <p:cond delay="0"/>
                            </p:stCondLst>
                            <p:childTnLst>
                              <p:par>
                                <p:cTn id="41" presetID="-1" presetClass="path" presetSubtype="0" accel="50000" decel="50000" fill="hold" nodeType="afterEffect">
                                  <p:stCondLst>
                                    <p:cond delay="0"/>
                                  </p:stCondLst>
                                  <p:childTnLst>
                                    <p:animMotion origin="layout" path="M 0.000000 0.000000 L -0.080673 -0.160807" pathEditMode="relative">
                                      <p:cBhvr>
                                        <p:cTn id="42" dur="1000" fill="hold"/>
                                        <p:tgtEl>
                                          <p:spTgt spid="1505"/>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1508"/>
                                        </p:tgtEl>
                                        <p:attrNameLst>
                                          <p:attrName>style.visibility</p:attrName>
                                        </p:attrNameLst>
                                      </p:cBhvr>
                                      <p:to>
                                        <p:strVal val="visible"/>
                                      </p:to>
                                    </p:set>
                                  </p:childTnLst>
                                </p:cTn>
                              </p:par>
                            </p:childTnLst>
                          </p:cTn>
                        </p:par>
                        <p:par>
                          <p:cTn id="47" fill="hold">
                            <p:stCondLst>
                              <p:cond delay="0"/>
                            </p:stCondLst>
                            <p:childTnLst>
                              <p:par>
                                <p:cTn id="48" presetID="-1" presetClass="path" presetSubtype="0" accel="50000" decel="50000" fill="hold" nodeType="afterEffect">
                                  <p:stCondLst>
                                    <p:cond delay="0"/>
                                  </p:stCondLst>
                                  <p:childTnLst>
                                    <p:animMotion origin="layout" path="M 0.000000 0.000000 L -0.229960 -0.159505" pathEditMode="relative">
                                      <p:cBhvr>
                                        <p:cTn id="49" dur="1000" fill="hold"/>
                                        <p:tgtEl>
                                          <p:spTgt spid="1508"/>
                                        </p:tgtEl>
                                        <p:attrNameLst>
                                          <p:attrName>ppt_x</p:attrName>
                                          <p:attrName>ppt_y</p:attrName>
                                        </p:attrNameLst>
                                      </p:cBhvr>
                                    </p:animMotion>
                                  </p:childTnLst>
                                </p:cTn>
                              </p:par>
                            </p:childTnLst>
                          </p:cTn>
                        </p:par>
                        <p:par>
                          <p:cTn id="50" fill="hold">
                            <p:stCondLst>
                              <p:cond delay="1000"/>
                            </p:stCondLst>
                            <p:childTnLst>
                              <p:par>
                                <p:cTn id="51" presetID="1" presetClass="entr" presetSubtype="0" fill="hold" grpId="0" nodeType="afterEffect">
                                  <p:stCondLst>
                                    <p:cond delay="0"/>
                                  </p:stCondLst>
                                  <p:iterate>
                                    <p:tmAbs val="0"/>
                                  </p:iterate>
                                  <p:childTnLst>
                                    <p:set>
                                      <p:cBhvr>
                                        <p:cTn id="52" fill="hold"/>
                                        <p:tgtEl>
                                          <p:spTgt spid="1506"/>
                                        </p:tgtEl>
                                        <p:attrNameLst>
                                          <p:attrName>style.visibility</p:attrName>
                                        </p:attrNameLst>
                                      </p:cBhvr>
                                      <p:to>
                                        <p:strVal val="visible"/>
                                      </p:to>
                                    </p:set>
                                  </p:childTnLst>
                                </p:cTn>
                              </p:par>
                            </p:childTnLst>
                          </p:cTn>
                        </p:par>
                        <p:par>
                          <p:cTn id="53" fill="hold">
                            <p:stCondLst>
                              <p:cond delay="0"/>
                            </p:stCondLst>
                            <p:childTnLst>
                              <p:par>
                                <p:cTn id="54" presetID="-1" presetClass="path" presetSubtype="0" accel="50000" decel="50000" fill="hold" nodeType="afterEffect">
                                  <p:stCondLst>
                                    <p:cond delay="0"/>
                                  </p:stCondLst>
                                  <p:childTnLst>
                                    <p:animMotion origin="layout" path="M 0.000000 0.000000 L -0.513824 -0.156901" pathEditMode="relative">
                                      <p:cBhvr>
                                        <p:cTn id="55" dur="1000" fill="hold"/>
                                        <p:tgtEl>
                                          <p:spTgt spid="1506"/>
                                        </p:tgtEl>
                                        <p:attrNameLst>
                                          <p:attrName>ppt_x</p:attrName>
                                          <p:attrName>ppt_y</p:attrName>
                                        </p:attrNameLst>
                                      </p:cBhvr>
                                    </p:animMotion>
                                  </p:childTnLst>
                                </p:cTn>
                              </p:par>
                            </p:childTnLst>
                          </p:cTn>
                        </p:par>
                        <p:par>
                          <p:cTn id="56" fill="hold">
                            <p:stCondLst>
                              <p:cond delay="1000"/>
                            </p:stCondLst>
                            <p:childTnLst>
                              <p:par>
                                <p:cTn id="57" presetID="1" presetClass="entr" presetSubtype="0" fill="hold" grpId="0" nodeType="afterEffect">
                                  <p:stCondLst>
                                    <p:cond delay="0"/>
                                  </p:stCondLst>
                                  <p:iterate>
                                    <p:tmAbs val="0"/>
                                  </p:iterate>
                                  <p:childTnLst>
                                    <p:set>
                                      <p:cBhvr>
                                        <p:cTn id="58" fill="hold"/>
                                        <p:tgtEl>
                                          <p:spTgt spid="1507"/>
                                        </p:tgtEl>
                                        <p:attrNameLst>
                                          <p:attrName>style.visibility</p:attrName>
                                        </p:attrNameLst>
                                      </p:cBhvr>
                                      <p:to>
                                        <p:strVal val="visible"/>
                                      </p:to>
                                    </p:set>
                                  </p:childTnLst>
                                </p:cTn>
                              </p:par>
                            </p:childTnLst>
                          </p:cTn>
                        </p:par>
                        <p:par>
                          <p:cTn id="59" fill="hold">
                            <p:stCondLst>
                              <p:cond delay="0"/>
                            </p:stCondLst>
                            <p:childTnLst>
                              <p:par>
                                <p:cTn id="60" presetID="-1" presetClass="path" presetSubtype="0" accel="50000" decel="50000" fill="hold" nodeType="afterEffect">
                                  <p:stCondLst>
                                    <p:cond delay="0"/>
                                  </p:stCondLst>
                                  <p:childTnLst>
                                    <p:animMotion origin="layout" path="M 0.000000 0.000000 L -0.470215 -0.159505" pathEditMode="relative">
                                      <p:cBhvr>
                                        <p:cTn id="61" dur="1000" fill="hold"/>
                                        <p:tgtEl>
                                          <p:spTgt spid="150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0" grpId="0" build="p" bldLvl="5" animBg="1" advAuto="0"/>
      <p:bldP spid="1482" grpId="0" animBg="1" advAuto="0"/>
      <p:bldP spid="1483" grpId="0" animBg="1" advAuto="0"/>
      <p:bldP spid="1503" grpId="0" animBg="1" advAuto="0"/>
      <p:bldP spid="1504" grpId="0" animBg="1" advAuto="0"/>
      <p:bldP spid="1505" grpId="0" animBg="1" advAuto="0"/>
      <p:bldP spid="1506" grpId="0" animBg="1" advAuto="0"/>
      <p:bldP spid="1507" grpId="0" animBg="1" advAuto="0"/>
      <p:bldP spid="1508" grpId="0" animBg="1" advAuto="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pic>
        <p:nvPicPr>
          <p:cNvPr id="1512" name="pevt-gold-stimuli.pdf" descr="pevt-gold-stimuli.pdf"/>
          <p:cNvPicPr>
            <a:picLocks noChangeAspect="1"/>
          </p:cNvPicPr>
          <p:nvPr/>
        </p:nvPicPr>
        <p:blipFill>
          <a:blip r:embed="rId2"/>
          <a:stretch>
            <a:fillRect/>
          </a:stretch>
        </p:blipFill>
        <p:spPr>
          <a:xfrm>
            <a:off x="1641165" y="1029430"/>
            <a:ext cx="4988475" cy="4161238"/>
          </a:xfrm>
          <a:prstGeom prst="rect">
            <a:avLst/>
          </a:prstGeom>
          <a:ln w="12700">
            <a:miter lim="400000"/>
          </a:ln>
        </p:spPr>
      </p:pic>
      <p:sp>
        <p:nvSpPr>
          <p:cNvPr id="1513" name="cat 1 = {A, B}"/>
          <p:cNvSpPr txBox="1"/>
          <p:nvPr/>
        </p:nvSpPr>
        <p:spPr>
          <a:xfrm>
            <a:off x="116086" y="1535847"/>
            <a:ext cx="1406668"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1 = {A, B}</a:t>
            </a:r>
          </a:p>
        </p:txBody>
      </p:sp>
      <p:sp>
        <p:nvSpPr>
          <p:cNvPr id="1514" name="cat 2 = {C, D}"/>
          <p:cNvSpPr txBox="1"/>
          <p:nvPr/>
        </p:nvSpPr>
        <p:spPr>
          <a:xfrm>
            <a:off x="80367" y="2919948"/>
            <a:ext cx="1401154"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2 = {C, D}</a:t>
            </a:r>
          </a:p>
        </p:txBody>
      </p:sp>
      <p:sp>
        <p:nvSpPr>
          <p:cNvPr id="1515" name="cat 1 = {A, C}"/>
          <p:cNvSpPr txBox="1"/>
          <p:nvPr/>
        </p:nvSpPr>
        <p:spPr>
          <a:xfrm>
            <a:off x="1500188" y="723245"/>
            <a:ext cx="1369542"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1 = {A, C}</a:t>
            </a:r>
          </a:p>
        </p:txBody>
      </p:sp>
      <p:sp>
        <p:nvSpPr>
          <p:cNvPr id="1516" name="cat 2 = {B, D}"/>
          <p:cNvSpPr txBox="1"/>
          <p:nvPr/>
        </p:nvSpPr>
        <p:spPr>
          <a:xfrm>
            <a:off x="3089672" y="723245"/>
            <a:ext cx="1377045"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2 = {B, D}</a:t>
            </a:r>
          </a:p>
        </p:txBody>
      </p:sp>
      <p:grpSp>
        <p:nvGrpSpPr>
          <p:cNvPr id="1519" name="Group"/>
          <p:cNvGrpSpPr/>
          <p:nvPr/>
        </p:nvGrpSpPr>
        <p:grpSpPr>
          <a:xfrm>
            <a:off x="6182386" y="1223563"/>
            <a:ext cx="1163512" cy="2556544"/>
            <a:chOff x="0" y="0"/>
            <a:chExt cx="1654772" cy="3635971"/>
          </a:xfrm>
        </p:grpSpPr>
        <p:pic>
          <p:nvPicPr>
            <p:cNvPr id="1517" name="droppedImage.png" descr="droppedImage.png"/>
            <p:cNvPicPr>
              <a:picLocks noChangeAspect="1"/>
            </p:cNvPicPr>
            <p:nvPr/>
          </p:nvPicPr>
          <p:blipFill>
            <a:blip r:embed="rId3"/>
            <a:stretch>
              <a:fillRect/>
            </a:stretch>
          </p:blipFill>
          <p:spPr>
            <a:xfrm>
              <a:off x="0" y="0"/>
              <a:ext cx="1654773" cy="1644863"/>
            </a:xfrm>
            <a:prstGeom prst="rect">
              <a:avLst/>
            </a:prstGeom>
            <a:ln w="12700" cap="flat">
              <a:noFill/>
              <a:miter lim="400000"/>
            </a:ln>
            <a:effectLst/>
          </p:spPr>
        </p:pic>
        <p:pic>
          <p:nvPicPr>
            <p:cNvPr id="1518" name="droppedImage.png" descr="droppedImage.png"/>
            <p:cNvPicPr>
              <a:picLocks noChangeAspect="1"/>
            </p:cNvPicPr>
            <p:nvPr/>
          </p:nvPicPr>
          <p:blipFill>
            <a:blip r:embed="rId4"/>
            <a:stretch>
              <a:fillRect/>
            </a:stretch>
          </p:blipFill>
          <p:spPr>
            <a:xfrm>
              <a:off x="6840" y="1971291"/>
              <a:ext cx="1644864" cy="1664681"/>
            </a:xfrm>
            <a:prstGeom prst="rect">
              <a:avLst/>
            </a:prstGeom>
            <a:ln w="12700" cap="flat">
              <a:noFill/>
              <a:miter lim="400000"/>
            </a:ln>
            <a:effectLst/>
          </p:spPr>
        </p:pic>
      </p:grpSp>
      <p:grpSp>
        <p:nvGrpSpPr>
          <p:cNvPr id="1522" name="Group"/>
          <p:cNvGrpSpPr/>
          <p:nvPr/>
        </p:nvGrpSpPr>
        <p:grpSpPr>
          <a:xfrm>
            <a:off x="1629423" y="5484987"/>
            <a:ext cx="2722088" cy="1165474"/>
            <a:chOff x="0" y="0"/>
            <a:chExt cx="3871412" cy="1657562"/>
          </a:xfrm>
        </p:grpSpPr>
        <p:pic>
          <p:nvPicPr>
            <p:cNvPr id="1520" name="droppedImage.png" descr="droppedImage.png"/>
            <p:cNvPicPr>
              <a:picLocks noChangeAspect="1"/>
            </p:cNvPicPr>
            <p:nvPr/>
          </p:nvPicPr>
          <p:blipFill>
            <a:blip r:embed="rId5"/>
            <a:stretch>
              <a:fillRect/>
            </a:stretch>
          </p:blipFill>
          <p:spPr>
            <a:xfrm>
              <a:off x="0" y="0"/>
              <a:ext cx="1674590" cy="1644864"/>
            </a:xfrm>
            <a:prstGeom prst="rect">
              <a:avLst/>
            </a:prstGeom>
            <a:ln w="12700" cap="flat">
              <a:noFill/>
              <a:miter lim="400000"/>
            </a:ln>
            <a:effectLst/>
          </p:spPr>
        </p:pic>
        <p:pic>
          <p:nvPicPr>
            <p:cNvPr id="1521" name="droppedImage.png" descr="droppedImage.png"/>
            <p:cNvPicPr>
              <a:picLocks noChangeAspect="1"/>
            </p:cNvPicPr>
            <p:nvPr/>
          </p:nvPicPr>
          <p:blipFill>
            <a:blip r:embed="rId6"/>
            <a:stretch>
              <a:fillRect/>
            </a:stretch>
          </p:blipFill>
          <p:spPr>
            <a:xfrm>
              <a:off x="2226550" y="12700"/>
              <a:ext cx="1644863" cy="1644863"/>
            </a:xfrm>
            <a:prstGeom prst="rect">
              <a:avLst/>
            </a:prstGeom>
            <a:ln w="12700" cap="flat">
              <a:noFill/>
              <a:miter lim="400000"/>
            </a:ln>
            <a:effectLst/>
          </p:spPr>
        </p:pic>
      </p:grpSp>
      <p:pic>
        <p:nvPicPr>
          <p:cNvPr id="1523" name="droppedImage.png" descr="droppedImage.png"/>
          <p:cNvPicPr>
            <a:picLocks noChangeAspect="1"/>
          </p:cNvPicPr>
          <p:nvPr/>
        </p:nvPicPr>
        <p:blipFill>
          <a:blip r:embed="rId6"/>
          <a:stretch>
            <a:fillRect/>
          </a:stretch>
        </p:blipFill>
        <p:spPr>
          <a:xfrm>
            <a:off x="7581305" y="2616399"/>
            <a:ext cx="1156544" cy="1156544"/>
          </a:xfrm>
          <a:prstGeom prst="rect">
            <a:avLst/>
          </a:prstGeom>
          <a:ln w="12700">
            <a:miter lim="400000"/>
          </a:ln>
        </p:spPr>
      </p:pic>
      <p:pic>
        <p:nvPicPr>
          <p:cNvPr id="1524" name="droppedImage.png" descr="droppedImage.png"/>
          <p:cNvPicPr>
            <a:picLocks noChangeAspect="1"/>
          </p:cNvPicPr>
          <p:nvPr/>
        </p:nvPicPr>
        <p:blipFill>
          <a:blip r:embed="rId5"/>
          <a:stretch>
            <a:fillRect/>
          </a:stretch>
        </p:blipFill>
        <p:spPr>
          <a:xfrm>
            <a:off x="7572375" y="1223367"/>
            <a:ext cx="1177446" cy="1156545"/>
          </a:xfrm>
          <a:prstGeom prst="rect">
            <a:avLst/>
          </a:prstGeom>
          <a:ln w="12700">
            <a:miter lim="400000"/>
          </a:ln>
        </p:spPr>
      </p:pic>
      <p:pic>
        <p:nvPicPr>
          <p:cNvPr id="1525" name="droppedImage.png" descr="droppedImage.png"/>
          <p:cNvPicPr>
            <a:picLocks noChangeAspect="1"/>
          </p:cNvPicPr>
          <p:nvPr/>
        </p:nvPicPr>
        <p:blipFill>
          <a:blip r:embed="rId3"/>
          <a:stretch>
            <a:fillRect/>
          </a:stretch>
        </p:blipFill>
        <p:spPr>
          <a:xfrm>
            <a:off x="250032" y="5491758"/>
            <a:ext cx="1163512" cy="1156544"/>
          </a:xfrm>
          <a:prstGeom prst="rect">
            <a:avLst/>
          </a:prstGeom>
          <a:ln w="12700">
            <a:miter lim="400000"/>
          </a:ln>
        </p:spPr>
      </p:pic>
      <p:pic>
        <p:nvPicPr>
          <p:cNvPr id="1526" name="droppedImage.png" descr="droppedImage.png"/>
          <p:cNvPicPr>
            <a:picLocks noChangeAspect="1"/>
          </p:cNvPicPr>
          <p:nvPr/>
        </p:nvPicPr>
        <p:blipFill>
          <a:blip r:embed="rId4"/>
          <a:stretch>
            <a:fillRect/>
          </a:stretch>
        </p:blipFill>
        <p:spPr>
          <a:xfrm>
            <a:off x="250032" y="4018360"/>
            <a:ext cx="1156544" cy="1170479"/>
          </a:xfrm>
          <a:prstGeom prst="rect">
            <a:avLst/>
          </a:prstGeom>
          <a:ln w="12700">
            <a:miter lim="400000"/>
          </a:ln>
        </p:spPr>
      </p:pic>
      <p:sp>
        <p:nvSpPr>
          <p:cNvPr id="1527" name="Both"/>
          <p:cNvSpPr txBox="1"/>
          <p:nvPr/>
        </p:nvSpPr>
        <p:spPr>
          <a:xfrm>
            <a:off x="7913601" y="910148"/>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28" name="Category 1"/>
          <p:cNvSpPr txBox="1"/>
          <p:nvPr/>
        </p:nvSpPr>
        <p:spPr>
          <a:xfrm>
            <a:off x="6260187" y="914613"/>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a:t>
            </a:r>
          </a:p>
        </p:txBody>
      </p:sp>
      <p:sp>
        <p:nvSpPr>
          <p:cNvPr id="1529" name="Category 2"/>
          <p:cNvSpPr txBox="1"/>
          <p:nvPr/>
        </p:nvSpPr>
        <p:spPr>
          <a:xfrm>
            <a:off x="6262977" y="232550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2</a:t>
            </a:r>
          </a:p>
        </p:txBody>
      </p:sp>
      <p:sp>
        <p:nvSpPr>
          <p:cNvPr id="1530" name="Both"/>
          <p:cNvSpPr txBox="1"/>
          <p:nvPr/>
        </p:nvSpPr>
        <p:spPr>
          <a:xfrm>
            <a:off x="7916143" y="233443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31" name="Category 1"/>
          <p:cNvSpPr txBox="1"/>
          <p:nvPr/>
        </p:nvSpPr>
        <p:spPr>
          <a:xfrm>
            <a:off x="1726696" y="519193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a:t>
            </a:r>
          </a:p>
        </p:txBody>
      </p:sp>
      <p:sp>
        <p:nvSpPr>
          <p:cNvPr id="1532" name="Category 2"/>
          <p:cNvSpPr txBox="1"/>
          <p:nvPr/>
        </p:nvSpPr>
        <p:spPr>
          <a:xfrm>
            <a:off x="3271532" y="519193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2</a:t>
            </a:r>
          </a:p>
        </p:txBody>
      </p:sp>
      <p:sp>
        <p:nvSpPr>
          <p:cNvPr id="1533" name="Both"/>
          <p:cNvSpPr txBox="1"/>
          <p:nvPr/>
        </p:nvSpPr>
        <p:spPr>
          <a:xfrm>
            <a:off x="587660" y="519193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34" name="Both"/>
          <p:cNvSpPr txBox="1"/>
          <p:nvPr/>
        </p:nvSpPr>
        <p:spPr>
          <a:xfrm>
            <a:off x="584870" y="374532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Tree>
    <p:extLst>
      <p:ext uri="{BB962C8B-B14F-4D97-AF65-F5344CB8AC3E}">
        <p14:creationId xmlns:p14="http://schemas.microsoft.com/office/powerpoint/2010/main" val="1635086005"/>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1"/>
          <p:cNvSpPr>
            <a:spLocks noGrp="1" noChangeArrowheads="1"/>
          </p:cNvSpPr>
          <p:nvPr>
            <p:ph type="body" idx="1"/>
          </p:nvPr>
        </p:nvSpPr>
        <p:spPr>
          <a:xfrm>
            <a:off x="217586" y="1464594"/>
            <a:ext cx="3874921" cy="4782488"/>
          </a:xfrm>
        </p:spPr>
        <p:txBody>
          <a:bodyPr lIns="0" tIns="0" rIns="0" bIns="0">
            <a:noAutofit/>
          </a:bodyPr>
          <a:lstStyle/>
          <a:p>
            <a:pPr marL="187517" indent="0">
              <a:buNone/>
              <a:defRPr/>
            </a:pPr>
            <a:r>
              <a:rPr lang="en-US" sz="2400" dirty="0">
                <a:latin typeface="Helvetica"/>
                <a:cs typeface="Helvetica"/>
              </a:rPr>
              <a:t>Previous work focused on inferring features that occur the same way across presentations.</a:t>
            </a:r>
          </a:p>
          <a:p>
            <a:pPr marL="187517" indent="0">
              <a:buNone/>
              <a:defRPr/>
            </a:pPr>
            <a:endParaRPr lang="en-US" sz="2400" dirty="0">
              <a:latin typeface="Helvetica"/>
              <a:cs typeface="Helvetica"/>
            </a:endParaRPr>
          </a:p>
          <a:p>
            <a:pPr marL="187517" indent="0">
              <a:buNone/>
              <a:defRPr/>
            </a:pPr>
            <a:r>
              <a:rPr lang="en-US" sz="2400" dirty="0">
                <a:latin typeface="Helvetica"/>
                <a:cs typeface="Helvetica"/>
              </a:rPr>
              <a:t>However, features can be </a:t>
            </a:r>
            <a:r>
              <a:rPr lang="en-US" sz="2400" i="1" dirty="0">
                <a:latin typeface="Helvetica"/>
                <a:cs typeface="Helvetica"/>
              </a:rPr>
              <a:t>transformed </a:t>
            </a:r>
            <a:r>
              <a:rPr lang="en-US" sz="2400" dirty="0">
                <a:latin typeface="Helvetica"/>
                <a:cs typeface="Helvetica"/>
              </a:rPr>
              <a:t>across presentations </a:t>
            </a:r>
            <a:r>
              <a:rPr lang="en-US" sz="1600" dirty="0">
                <a:latin typeface="Helvetica"/>
                <a:cs typeface="Helvetica"/>
              </a:rPr>
              <a:t>(Palmer, 1983)</a:t>
            </a:r>
            <a:r>
              <a:rPr lang="en-US" sz="2400" dirty="0">
                <a:latin typeface="Helvetica"/>
                <a:cs typeface="Helvetica"/>
              </a:rPr>
              <a:t>.</a:t>
            </a:r>
          </a:p>
        </p:txBody>
      </p:sp>
      <p:grpSp>
        <p:nvGrpSpPr>
          <p:cNvPr id="116738" name="Group 10"/>
          <p:cNvGrpSpPr>
            <a:grpSpLocks/>
          </p:cNvGrpSpPr>
          <p:nvPr/>
        </p:nvGrpSpPr>
        <p:grpSpPr bwMode="auto">
          <a:xfrm>
            <a:off x="4358491" y="1436695"/>
            <a:ext cx="4431943" cy="1134556"/>
            <a:chOff x="847" y="0"/>
            <a:chExt cx="3968" cy="1016"/>
          </a:xfrm>
        </p:grpSpPr>
        <p:sp>
          <p:nvSpPr>
            <p:cNvPr id="116764" name="Rectangle 2"/>
            <p:cNvSpPr>
              <a:spLocks/>
            </p:cNvSpPr>
            <p:nvPr/>
          </p:nvSpPr>
          <p:spPr bwMode="auto">
            <a:xfrm>
              <a:off x="1906" y="184"/>
              <a:ext cx="1782"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Position</a:t>
              </a:r>
            </a:p>
          </p:txBody>
        </p:sp>
        <p:sp>
          <p:nvSpPr>
            <p:cNvPr id="116765" name="Line 3"/>
            <p:cNvSpPr>
              <a:spLocks noChangeShapeType="1"/>
            </p:cNvSpPr>
            <p:nvPr/>
          </p:nvSpPr>
          <p:spPr bwMode="auto">
            <a:xfrm flipH="1">
              <a:off x="1875" y="504"/>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16766" name="Group 6"/>
            <p:cNvGrpSpPr>
              <a:grpSpLocks/>
            </p:cNvGrpSpPr>
            <p:nvPr/>
          </p:nvGrpSpPr>
          <p:grpSpPr bwMode="auto">
            <a:xfrm>
              <a:off x="847" y="0"/>
              <a:ext cx="1016" cy="1016"/>
              <a:chOff x="847" y="0"/>
              <a:chExt cx="1016" cy="1016"/>
            </a:xfrm>
          </p:grpSpPr>
          <p:pic>
            <p:nvPicPr>
              <p:cNvPr id="1167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 y="504"/>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71" name="AutoShape 5"/>
              <p:cNvSpPr>
                <a:spLocks/>
              </p:cNvSpPr>
              <p:nvPr/>
            </p:nvSpPr>
            <p:spPr bwMode="auto">
              <a:xfrm>
                <a:off x="84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116767" name="Group 9"/>
            <p:cNvGrpSpPr>
              <a:grpSpLocks/>
            </p:cNvGrpSpPr>
            <p:nvPr/>
          </p:nvGrpSpPr>
          <p:grpSpPr bwMode="auto">
            <a:xfrm>
              <a:off x="3799" y="0"/>
              <a:ext cx="1016" cy="1016"/>
              <a:chOff x="0" y="0"/>
              <a:chExt cx="1016" cy="1016"/>
            </a:xfrm>
          </p:grpSpPr>
          <p:pic>
            <p:nvPicPr>
              <p:cNvPr id="11676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 y="15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9" name="AutoShape 8"/>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39" name="Group 18"/>
          <p:cNvGrpSpPr>
            <a:grpSpLocks/>
          </p:cNvGrpSpPr>
          <p:nvPr/>
        </p:nvGrpSpPr>
        <p:grpSpPr bwMode="auto">
          <a:xfrm>
            <a:off x="4358295" y="2677921"/>
            <a:ext cx="4432139" cy="1134556"/>
            <a:chOff x="847" y="0"/>
            <a:chExt cx="3969" cy="1016"/>
          </a:xfrm>
        </p:grpSpPr>
        <p:sp>
          <p:nvSpPr>
            <p:cNvPr id="116757" name="Rectangle 11"/>
            <p:cNvSpPr>
              <a:spLocks/>
            </p:cNvSpPr>
            <p:nvPr/>
          </p:nvSpPr>
          <p:spPr bwMode="auto">
            <a:xfrm>
              <a:off x="1863" y="192"/>
              <a:ext cx="1826"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Orientation</a:t>
              </a:r>
            </a:p>
          </p:txBody>
        </p:sp>
        <p:sp>
          <p:nvSpPr>
            <p:cNvPr id="116758" name="Line 12"/>
            <p:cNvSpPr>
              <a:spLocks noChangeShapeType="1"/>
            </p:cNvSpPr>
            <p:nvPr/>
          </p:nvSpPr>
          <p:spPr bwMode="auto">
            <a:xfrm flipH="1">
              <a:off x="1875"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59"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0" name="AutoShape 14"/>
            <p:cNvSpPr>
              <a:spLocks/>
            </p:cNvSpPr>
            <p:nvPr/>
          </p:nvSpPr>
          <p:spPr bwMode="auto">
            <a:xfrm>
              <a:off x="84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61" name="Group 17"/>
            <p:cNvGrpSpPr>
              <a:grpSpLocks/>
            </p:cNvGrpSpPr>
            <p:nvPr/>
          </p:nvGrpSpPr>
          <p:grpSpPr bwMode="auto">
            <a:xfrm>
              <a:off x="3800" y="0"/>
              <a:ext cx="1016" cy="1016"/>
              <a:chOff x="0" y="0"/>
              <a:chExt cx="1016" cy="1016"/>
            </a:xfrm>
          </p:grpSpPr>
          <p:pic>
            <p:nvPicPr>
              <p:cNvPr id="116762"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700000">
                <a:off x="103" y="312"/>
                <a:ext cx="820"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3" name="AutoShape 16"/>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40" name="Group 26"/>
          <p:cNvGrpSpPr>
            <a:grpSpLocks/>
          </p:cNvGrpSpPr>
          <p:nvPr/>
        </p:nvGrpSpPr>
        <p:grpSpPr bwMode="auto">
          <a:xfrm>
            <a:off x="4371689" y="3919148"/>
            <a:ext cx="4418739" cy="1134556"/>
            <a:chOff x="867" y="0"/>
            <a:chExt cx="3957" cy="1016"/>
          </a:xfrm>
        </p:grpSpPr>
        <p:sp>
          <p:nvSpPr>
            <p:cNvPr id="116750" name="Rectangle 19"/>
            <p:cNvSpPr>
              <a:spLocks/>
            </p:cNvSpPr>
            <p:nvPr/>
          </p:nvSpPr>
          <p:spPr bwMode="auto">
            <a:xfrm>
              <a:off x="1883" y="192"/>
              <a:ext cx="1814"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Size</a:t>
              </a:r>
            </a:p>
          </p:txBody>
        </p:sp>
        <p:sp>
          <p:nvSpPr>
            <p:cNvPr id="116751" name="Line 20"/>
            <p:cNvSpPr>
              <a:spLocks noChangeShapeType="1"/>
            </p:cNvSpPr>
            <p:nvPr/>
          </p:nvSpPr>
          <p:spPr bwMode="auto">
            <a:xfrm flipH="1">
              <a:off x="1883"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52"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53" name="AutoShape 22"/>
            <p:cNvSpPr>
              <a:spLocks/>
            </p:cNvSpPr>
            <p:nvPr/>
          </p:nvSpPr>
          <p:spPr bwMode="auto">
            <a:xfrm>
              <a:off x="86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54" name="Group 25"/>
            <p:cNvGrpSpPr>
              <a:grpSpLocks/>
            </p:cNvGrpSpPr>
            <p:nvPr/>
          </p:nvGrpSpPr>
          <p:grpSpPr bwMode="auto">
            <a:xfrm>
              <a:off x="3808" y="0"/>
              <a:ext cx="1016" cy="1016"/>
              <a:chOff x="0" y="0"/>
              <a:chExt cx="1016" cy="1016"/>
            </a:xfrm>
          </p:grpSpPr>
          <p:pic>
            <p:nvPicPr>
              <p:cNvPr id="116755"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 y="384"/>
                <a:ext cx="524" cy="2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56" name="AutoShape 24"/>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41" name="Group 34"/>
          <p:cNvGrpSpPr>
            <a:grpSpLocks/>
          </p:cNvGrpSpPr>
          <p:nvPr/>
        </p:nvGrpSpPr>
        <p:grpSpPr bwMode="auto">
          <a:xfrm>
            <a:off x="4371689" y="5160375"/>
            <a:ext cx="4418739" cy="1134556"/>
            <a:chOff x="867" y="0"/>
            <a:chExt cx="3957" cy="1016"/>
          </a:xfrm>
        </p:grpSpPr>
        <p:sp>
          <p:nvSpPr>
            <p:cNvPr id="116743" name="Rectangle 27"/>
            <p:cNvSpPr>
              <a:spLocks/>
            </p:cNvSpPr>
            <p:nvPr/>
          </p:nvSpPr>
          <p:spPr bwMode="auto">
            <a:xfrm>
              <a:off x="1914" y="176"/>
              <a:ext cx="1783"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Reflection</a:t>
              </a:r>
            </a:p>
          </p:txBody>
        </p:sp>
        <p:sp>
          <p:nvSpPr>
            <p:cNvPr id="116744" name="Line 28"/>
            <p:cNvSpPr>
              <a:spLocks noChangeShapeType="1"/>
            </p:cNvSpPr>
            <p:nvPr/>
          </p:nvSpPr>
          <p:spPr bwMode="auto">
            <a:xfrm flipH="1">
              <a:off x="1883"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45"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46" name="AutoShape 30"/>
            <p:cNvSpPr>
              <a:spLocks/>
            </p:cNvSpPr>
            <p:nvPr/>
          </p:nvSpPr>
          <p:spPr bwMode="auto">
            <a:xfrm>
              <a:off x="86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47" name="Group 33"/>
            <p:cNvGrpSpPr>
              <a:grpSpLocks/>
            </p:cNvGrpSpPr>
            <p:nvPr/>
          </p:nvGrpSpPr>
          <p:grpSpPr bwMode="auto">
            <a:xfrm>
              <a:off x="3808" y="0"/>
              <a:ext cx="1016" cy="1016"/>
              <a:chOff x="0" y="0"/>
              <a:chExt cx="1016" cy="1016"/>
            </a:xfrm>
          </p:grpSpPr>
          <p:pic>
            <p:nvPicPr>
              <p:cNvPr id="116748"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49" name="AutoShape 32"/>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sp>
        <p:nvSpPr>
          <p:cNvPr id="37"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Learning transform invariant features</a:t>
            </a:r>
          </a:p>
        </p:txBody>
      </p:sp>
    </p:spTree>
    <p:extLst>
      <p:ext uri="{BB962C8B-B14F-4D97-AF65-F5344CB8AC3E}">
        <p14:creationId xmlns:p14="http://schemas.microsoft.com/office/powerpoint/2010/main" val="1475307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1" name="Group 5"/>
          <p:cNvGrpSpPr>
            <a:grpSpLocks/>
          </p:cNvGrpSpPr>
          <p:nvPr/>
        </p:nvGrpSpPr>
        <p:grpSpPr bwMode="auto">
          <a:xfrm>
            <a:off x="4720457" y="1111746"/>
            <a:ext cx="4134445" cy="4530700"/>
            <a:chOff x="0" y="-60"/>
            <a:chExt cx="3704" cy="4059"/>
          </a:xfrm>
        </p:grpSpPr>
        <p:pic>
          <p:nvPicPr>
            <p:cNvPr id="11781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
              <a:ext cx="3430" cy="3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8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 y="1865"/>
              <a:ext cx="664"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812" name="Rectangle 3"/>
            <p:cNvSpPr>
              <a:spLocks/>
            </p:cNvSpPr>
            <p:nvPr/>
          </p:nvSpPr>
          <p:spPr bwMode="auto">
            <a:xfrm rot="1377605">
              <a:off x="37" y="3607"/>
              <a:ext cx="2697" cy="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400" dirty="0">
                  <a:latin typeface="Helvetica"/>
                  <a:ea typeface="ＭＳ Ｐゴシック" charset="0"/>
                  <a:cs typeface="Helvetica"/>
                </a:rPr>
                <a:t>Set of transformations</a:t>
              </a:r>
            </a:p>
          </p:txBody>
        </p:sp>
        <p:sp>
          <p:nvSpPr>
            <p:cNvPr id="117813" name="Rectangle 4"/>
            <p:cNvSpPr>
              <a:spLocks/>
            </p:cNvSpPr>
            <p:nvPr/>
          </p:nvSpPr>
          <p:spPr bwMode="auto">
            <a:xfrm>
              <a:off x="1129" y="-60"/>
              <a:ext cx="1380" cy="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400" b="1" dirty="0">
                  <a:latin typeface="Helvetica"/>
                  <a:ea typeface="ＭＳ Ｐゴシック" charset="0"/>
                  <a:cs typeface="Helvetica"/>
                </a:rPr>
                <a:t>Spice rack</a:t>
              </a:r>
            </a:p>
          </p:txBody>
        </p:sp>
      </p:grpSp>
      <p:sp>
        <p:nvSpPr>
          <p:cNvPr id="78854" name="AutoShape 6"/>
          <p:cNvSpPr>
            <a:spLocks/>
          </p:cNvSpPr>
          <p:nvPr/>
        </p:nvSpPr>
        <p:spPr bwMode="auto">
          <a:xfrm flipH="1">
            <a:off x="1000125" y="2884289"/>
            <a:ext cx="107156" cy="107156"/>
          </a:xfrm>
          <a:prstGeom prst="roundRect">
            <a:avLst>
              <a:gd name="adj" fmla="val 50000"/>
            </a:avLst>
          </a:prstGeom>
          <a:solidFill>
            <a:srgbClr val="002086"/>
          </a:solidFill>
          <a:ln w="25400">
            <a:solidFill>
              <a:srgbClr val="002086"/>
            </a:solidFill>
            <a:miter lim="800000"/>
            <a:headEnd/>
            <a:tailEnd/>
          </a:ln>
        </p:spPr>
        <p:txBody>
          <a:bodyPr lIns="0" tIns="0" rIns="0" bIns="0"/>
          <a:lstStyle/>
          <a:p>
            <a:endParaRPr lang="en-US"/>
          </a:p>
        </p:txBody>
      </p:sp>
      <p:sp>
        <p:nvSpPr>
          <p:cNvPr id="78855" name="AutoShape 7"/>
          <p:cNvSpPr>
            <a:spLocks/>
          </p:cNvSpPr>
          <p:nvPr/>
        </p:nvSpPr>
        <p:spPr bwMode="auto">
          <a:xfrm flipH="1">
            <a:off x="1285875" y="2884289"/>
            <a:ext cx="107156" cy="107156"/>
          </a:xfrm>
          <a:prstGeom prst="roundRect">
            <a:avLst>
              <a:gd name="adj" fmla="val 50000"/>
            </a:avLst>
          </a:prstGeom>
          <a:solidFill>
            <a:srgbClr val="388500"/>
          </a:solidFill>
          <a:ln w="25400">
            <a:solidFill>
              <a:srgbClr val="388500"/>
            </a:solidFill>
            <a:miter lim="800000"/>
            <a:headEnd/>
            <a:tailEnd/>
          </a:ln>
        </p:spPr>
        <p:txBody>
          <a:bodyPr lIns="0" tIns="0" rIns="0" bIns="0"/>
          <a:lstStyle/>
          <a:p>
            <a:endParaRPr lang="en-US"/>
          </a:p>
        </p:txBody>
      </p:sp>
      <p:sp>
        <p:nvSpPr>
          <p:cNvPr id="78856" name="AutoShape 8"/>
          <p:cNvSpPr>
            <a:spLocks/>
          </p:cNvSpPr>
          <p:nvPr/>
        </p:nvSpPr>
        <p:spPr bwMode="auto">
          <a:xfrm flipH="1">
            <a:off x="2669977" y="2884289"/>
            <a:ext cx="107156" cy="107156"/>
          </a:xfrm>
          <a:prstGeom prst="roundRect">
            <a:avLst>
              <a:gd name="adj" fmla="val 50000"/>
            </a:avLst>
          </a:prstGeom>
          <a:solidFill>
            <a:srgbClr val="B200CB"/>
          </a:solidFill>
          <a:ln w="25400">
            <a:solidFill>
              <a:srgbClr val="B200CB"/>
            </a:solidFill>
            <a:miter lim="800000"/>
            <a:headEnd/>
            <a:tailEnd/>
          </a:ln>
        </p:spPr>
        <p:txBody>
          <a:bodyPr lIns="0" tIns="0" rIns="0" bIns="0"/>
          <a:lstStyle/>
          <a:p>
            <a:endParaRPr lang="en-US"/>
          </a:p>
        </p:txBody>
      </p:sp>
      <p:grpSp>
        <p:nvGrpSpPr>
          <p:cNvPr id="117765" name="Group 11"/>
          <p:cNvGrpSpPr>
            <a:grpSpLocks/>
          </p:cNvGrpSpPr>
          <p:nvPr/>
        </p:nvGrpSpPr>
        <p:grpSpPr bwMode="auto">
          <a:xfrm>
            <a:off x="848320" y="1829470"/>
            <a:ext cx="1375172" cy="946547"/>
            <a:chOff x="0" y="0"/>
            <a:chExt cx="1232" cy="848"/>
          </a:xfrm>
        </p:grpSpPr>
        <p:sp>
          <p:nvSpPr>
            <p:cNvPr id="117808" name="AutoShape 9"/>
            <p:cNvSpPr>
              <a:spLocks/>
            </p:cNvSpPr>
            <p:nvPr/>
          </p:nvSpPr>
          <p:spPr bwMode="auto">
            <a:xfrm>
              <a:off x="63" y="227"/>
              <a:ext cx="1107"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9" name="AutoShape 10"/>
            <p:cNvSpPr>
              <a:spLocks/>
            </p:cNvSpPr>
            <p:nvPr/>
          </p:nvSpPr>
          <p:spPr bwMode="auto">
            <a:xfrm>
              <a:off x="0" y="0"/>
              <a:ext cx="1232" cy="848"/>
            </a:xfrm>
            <a:prstGeom prst="roundRect">
              <a:avLst>
                <a:gd name="adj" fmla="val 14148"/>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117766" name="Group 14"/>
          <p:cNvGrpSpPr>
            <a:grpSpLocks/>
          </p:cNvGrpSpPr>
          <p:nvPr/>
        </p:nvGrpSpPr>
        <p:grpSpPr bwMode="auto">
          <a:xfrm>
            <a:off x="2544961" y="1830586"/>
            <a:ext cx="1375172" cy="946547"/>
            <a:chOff x="0" y="0"/>
            <a:chExt cx="1232" cy="848"/>
          </a:xfrm>
        </p:grpSpPr>
        <p:sp>
          <p:nvSpPr>
            <p:cNvPr id="117806" name="AutoShape 12"/>
            <p:cNvSpPr>
              <a:spLocks/>
            </p:cNvSpPr>
            <p:nvPr/>
          </p:nvSpPr>
          <p:spPr bwMode="auto">
            <a:xfrm>
              <a:off x="216" y="64"/>
              <a:ext cx="736" cy="648"/>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7" name="AutoShape 13"/>
            <p:cNvSpPr>
              <a:spLocks/>
            </p:cNvSpPr>
            <p:nvPr/>
          </p:nvSpPr>
          <p:spPr bwMode="auto">
            <a:xfrm>
              <a:off x="0" y="0"/>
              <a:ext cx="1232" cy="848"/>
            </a:xfrm>
            <a:prstGeom prst="roundRect">
              <a:avLst>
                <a:gd name="adj" fmla="val 14148"/>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17767" name="Rectangle 15"/>
          <p:cNvSpPr>
            <a:spLocks/>
          </p:cNvSpPr>
          <p:nvPr/>
        </p:nvSpPr>
        <p:spPr bwMode="auto">
          <a:xfrm>
            <a:off x="1326059" y="1108843"/>
            <a:ext cx="238526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ja-JP" altLang="en-US" sz="2000" b="1" dirty="0">
                <a:latin typeface="Helvetica"/>
                <a:ea typeface="ＭＳ Ｐゴシック" charset="0"/>
                <a:cs typeface="Helvetica"/>
              </a:rPr>
              <a:t>“</a:t>
            </a:r>
            <a:r>
              <a:rPr lang="en-US" altLang="ja-JP" sz="2000" b="1" dirty="0">
                <a:latin typeface="Helvetica"/>
                <a:cs typeface="Helvetica"/>
              </a:rPr>
              <a:t>Buffet</a:t>
            </a:r>
            <a:r>
              <a:rPr lang="ja-JP" altLang="en-US" sz="2000" b="1" dirty="0">
                <a:latin typeface="Helvetica"/>
                <a:ea typeface="ＭＳ Ｐゴシック" charset="0"/>
                <a:cs typeface="Helvetica"/>
              </a:rPr>
              <a:t>”</a:t>
            </a:r>
            <a:r>
              <a:rPr lang="en-US" altLang="ja-JP" sz="2000" b="1" dirty="0">
                <a:latin typeface="Helvetica"/>
                <a:cs typeface="Helvetica"/>
              </a:rPr>
              <a:t> of features</a:t>
            </a:r>
            <a:endParaRPr lang="en-US" sz="2000" b="1" dirty="0">
              <a:latin typeface="Helvetica"/>
              <a:cs typeface="Helvetica"/>
            </a:endParaRPr>
          </a:p>
        </p:txBody>
      </p:sp>
      <p:sp>
        <p:nvSpPr>
          <p:cNvPr id="117768" name="Rectangle 16"/>
          <p:cNvSpPr>
            <a:spLocks/>
          </p:cNvSpPr>
          <p:nvPr/>
        </p:nvSpPr>
        <p:spPr bwMode="auto">
          <a:xfrm>
            <a:off x="1083842" y="1556905"/>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1</a:t>
            </a:r>
          </a:p>
        </p:txBody>
      </p:sp>
      <p:sp>
        <p:nvSpPr>
          <p:cNvPr id="117769" name="Rectangle 17"/>
          <p:cNvSpPr>
            <a:spLocks/>
          </p:cNvSpPr>
          <p:nvPr/>
        </p:nvSpPr>
        <p:spPr bwMode="auto">
          <a:xfrm>
            <a:off x="2777133" y="1556905"/>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2</a:t>
            </a:r>
          </a:p>
        </p:txBody>
      </p:sp>
      <p:grpSp>
        <p:nvGrpSpPr>
          <p:cNvPr id="78874" name="Group 26"/>
          <p:cNvGrpSpPr>
            <a:grpSpLocks/>
          </p:cNvGrpSpPr>
          <p:nvPr/>
        </p:nvGrpSpPr>
        <p:grpSpPr bwMode="auto">
          <a:xfrm>
            <a:off x="250031" y="4109889"/>
            <a:ext cx="4530701" cy="1185416"/>
            <a:chOff x="0" y="0"/>
            <a:chExt cx="4059" cy="1061"/>
          </a:xfrm>
        </p:grpSpPr>
        <p:grpSp>
          <p:nvGrpSpPr>
            <p:cNvPr id="117798" name="Group 24"/>
            <p:cNvGrpSpPr>
              <a:grpSpLocks/>
            </p:cNvGrpSpPr>
            <p:nvPr/>
          </p:nvGrpSpPr>
          <p:grpSpPr bwMode="auto">
            <a:xfrm>
              <a:off x="0" y="0"/>
              <a:ext cx="4059" cy="1061"/>
              <a:chOff x="0" y="0"/>
              <a:chExt cx="4059" cy="1061"/>
            </a:xfrm>
          </p:grpSpPr>
          <p:pic>
            <p:nvPicPr>
              <p:cNvPr id="11780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 y="525"/>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801" name="AutoShape 19"/>
              <p:cNvSpPr>
                <a:spLocks/>
              </p:cNvSpPr>
              <p:nvPr/>
            </p:nvSpPr>
            <p:spPr bwMode="auto">
              <a:xfrm>
                <a:off x="1136" y="413"/>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2" name="Line 20"/>
              <p:cNvSpPr>
                <a:spLocks noChangeShapeType="1"/>
              </p:cNvSpPr>
              <p:nvPr/>
            </p:nvSpPr>
            <p:spPr bwMode="auto">
              <a:xfrm flipH="1">
                <a:off x="2368" y="797"/>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803" name="AutoShape 21"/>
              <p:cNvSpPr>
                <a:spLocks/>
              </p:cNvSpPr>
              <p:nvPr/>
            </p:nvSpPr>
            <p:spPr bwMode="auto">
              <a:xfrm rot="-2700000">
                <a:off x="2976" y="333"/>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4" name="AutoShape 22"/>
              <p:cNvSpPr>
                <a:spLocks/>
              </p:cNvSpPr>
              <p:nvPr/>
            </p:nvSpPr>
            <p:spPr bwMode="auto">
              <a:xfrm flipH="1">
                <a:off x="0" y="541"/>
                <a:ext cx="96" cy="96"/>
              </a:xfrm>
              <a:prstGeom prst="roundRect">
                <a:avLst>
                  <a:gd name="adj" fmla="val 50000"/>
                </a:avLst>
              </a:prstGeom>
              <a:solidFill>
                <a:srgbClr val="388500"/>
              </a:solidFill>
              <a:ln w="25400">
                <a:solidFill>
                  <a:srgbClr val="388500"/>
                </a:solidFill>
                <a:miter lim="800000"/>
                <a:headEnd/>
                <a:tailEnd/>
              </a:ln>
            </p:spPr>
            <p:txBody>
              <a:bodyPr lIns="0" tIns="0" rIns="0" bIns="0"/>
              <a:lstStyle/>
              <a:p>
                <a:endParaRPr lang="en-US"/>
              </a:p>
            </p:txBody>
          </p:sp>
          <p:sp>
            <p:nvSpPr>
              <p:cNvPr id="117805" name="Rectangle 23"/>
              <p:cNvSpPr>
                <a:spLocks/>
              </p:cNvSpPr>
              <p:nvPr/>
            </p:nvSpPr>
            <p:spPr bwMode="auto">
              <a:xfrm>
                <a:off x="2536" y="493"/>
                <a:ext cx="168" cy="168"/>
              </a:xfrm>
              <a:prstGeom prst="rect">
                <a:avLst/>
              </a:prstGeom>
              <a:solidFill>
                <a:srgbClr val="FFFFFF"/>
              </a:solidFill>
              <a:ln>
                <a:noFill/>
              </a:ln>
              <a:extLst>
                <a:ext uri="{91240B29-F687-4f45-9708-019B960494DF}">
                  <a14:hiddenLine xmlns="" xmlns:a14="http://schemas.microsoft.com/office/drawing/2010/main" w="25400">
                    <a:solidFill>
                      <a:schemeClr val="tx1"/>
                    </a:solidFill>
                    <a:miter lim="800000"/>
                    <a:headEnd/>
                    <a:tailEnd/>
                  </a14:hiddenLine>
                </a:ext>
              </a:extLst>
            </p:spPr>
            <p:txBody>
              <a:bodyPr lIns="0" tIns="0" rIns="0" bIns="0"/>
              <a:lstStyle/>
              <a:p>
                <a:endParaRPr lang="en-US"/>
              </a:p>
            </p:txBody>
          </p:sp>
        </p:grpSp>
        <p:pic>
          <p:nvPicPr>
            <p:cNvPr id="117799"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0" y="149"/>
              <a:ext cx="464"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83" name="Group 35"/>
          <p:cNvGrpSpPr>
            <a:grpSpLocks/>
          </p:cNvGrpSpPr>
          <p:nvPr/>
        </p:nvGrpSpPr>
        <p:grpSpPr bwMode="auto">
          <a:xfrm>
            <a:off x="250032" y="3232547"/>
            <a:ext cx="4601021" cy="726654"/>
            <a:chOff x="0" y="0"/>
            <a:chExt cx="4122" cy="651"/>
          </a:xfrm>
        </p:grpSpPr>
        <p:grpSp>
          <p:nvGrpSpPr>
            <p:cNvPr id="117790" name="Group 33"/>
            <p:cNvGrpSpPr>
              <a:grpSpLocks/>
            </p:cNvGrpSpPr>
            <p:nvPr/>
          </p:nvGrpSpPr>
          <p:grpSpPr bwMode="auto">
            <a:xfrm>
              <a:off x="0" y="256"/>
              <a:ext cx="4122" cy="395"/>
              <a:chOff x="0" y="0"/>
              <a:chExt cx="4122" cy="395"/>
            </a:xfrm>
          </p:grpSpPr>
          <p:sp>
            <p:nvSpPr>
              <p:cNvPr id="117792" name="AutoShape 27"/>
              <p:cNvSpPr>
                <a:spLocks/>
              </p:cNvSpPr>
              <p:nvPr/>
            </p:nvSpPr>
            <p:spPr bwMode="auto">
              <a:xfrm>
                <a:off x="1136" y="0"/>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117793"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112"/>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794" name="Line 29"/>
              <p:cNvSpPr>
                <a:spLocks noChangeShapeType="1"/>
              </p:cNvSpPr>
              <p:nvPr/>
            </p:nvSpPr>
            <p:spPr bwMode="auto">
              <a:xfrm flipH="1">
                <a:off x="2368" y="384"/>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795" name="AutoShape 30"/>
              <p:cNvSpPr>
                <a:spLocks/>
              </p:cNvSpPr>
              <p:nvPr/>
            </p:nvSpPr>
            <p:spPr bwMode="auto">
              <a:xfrm>
                <a:off x="3016" y="0"/>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96" name="AutoShape 31"/>
              <p:cNvSpPr>
                <a:spLocks/>
              </p:cNvSpPr>
              <p:nvPr/>
            </p:nvSpPr>
            <p:spPr bwMode="auto">
              <a:xfrm flipH="1">
                <a:off x="0" y="128"/>
                <a:ext cx="96" cy="96"/>
              </a:xfrm>
              <a:prstGeom prst="roundRect">
                <a:avLst>
                  <a:gd name="adj" fmla="val 50000"/>
                </a:avLst>
              </a:prstGeom>
              <a:solidFill>
                <a:srgbClr val="002086"/>
              </a:solidFill>
              <a:ln w="25400">
                <a:solidFill>
                  <a:srgbClr val="002086"/>
                </a:solidFill>
                <a:miter lim="800000"/>
                <a:headEnd/>
                <a:tailEnd/>
              </a:ln>
            </p:spPr>
            <p:txBody>
              <a:bodyPr lIns="0" tIns="0" rIns="0" bIns="0"/>
              <a:lstStyle/>
              <a:p>
                <a:endParaRPr lang="en-US"/>
              </a:p>
            </p:txBody>
          </p:sp>
          <p:sp>
            <p:nvSpPr>
              <p:cNvPr id="117797" name="Rectangle 32"/>
              <p:cNvSpPr>
                <a:spLocks/>
              </p:cNvSpPr>
              <p:nvPr/>
            </p:nvSpPr>
            <p:spPr bwMode="auto">
              <a:xfrm>
                <a:off x="2528" y="72"/>
                <a:ext cx="168" cy="168"/>
              </a:xfrm>
              <a:prstGeom prst="rect">
                <a:avLst/>
              </a:prstGeom>
              <a:solidFill>
                <a:srgbClr val="FFFFFF"/>
              </a:solidFill>
              <a:ln>
                <a:noFill/>
              </a:ln>
              <a:extLst>
                <a:ext uri="{91240B29-F687-4f45-9708-019B960494DF}">
                  <a14:hiddenLine xmlns="" xmlns:a14="http://schemas.microsoft.com/office/drawing/2010/main" w="25400">
                    <a:solidFill>
                      <a:schemeClr val="tx1"/>
                    </a:solidFill>
                    <a:miter lim="800000"/>
                    <a:headEnd/>
                    <a:tailEnd/>
                  </a14:hiddenLine>
                </a:ext>
              </a:extLst>
            </p:spPr>
            <p:txBody>
              <a:bodyPr lIns="0" tIns="0" rIns="0" bIns="0"/>
              <a:lstStyle/>
              <a:p>
                <a:endParaRPr lang="en-US"/>
              </a:p>
            </p:txBody>
          </p:sp>
        </p:grpSp>
        <p:pic>
          <p:nvPicPr>
            <p:cNvPr id="117791"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6" y="0"/>
              <a:ext cx="200"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87" name="Group 39"/>
          <p:cNvGrpSpPr>
            <a:grpSpLocks/>
          </p:cNvGrpSpPr>
          <p:nvPr/>
        </p:nvGrpSpPr>
        <p:grpSpPr bwMode="auto">
          <a:xfrm>
            <a:off x="5589984" y="2241352"/>
            <a:ext cx="1937742" cy="964406"/>
            <a:chOff x="0" y="0"/>
            <a:chExt cx="1736" cy="864"/>
          </a:xfrm>
        </p:grpSpPr>
        <p:pic>
          <p:nvPicPr>
            <p:cNvPr id="117787"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 y="128"/>
              <a:ext cx="464"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78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00"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789" name="Picture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6" y="232"/>
              <a:ext cx="640"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91" name="Group 43"/>
          <p:cNvGrpSpPr>
            <a:grpSpLocks/>
          </p:cNvGrpSpPr>
          <p:nvPr/>
        </p:nvGrpSpPr>
        <p:grpSpPr bwMode="auto">
          <a:xfrm>
            <a:off x="5581055" y="3652242"/>
            <a:ext cx="1893094" cy="1071563"/>
            <a:chOff x="0" y="0"/>
            <a:chExt cx="1696" cy="960"/>
          </a:xfrm>
        </p:grpSpPr>
        <p:pic>
          <p:nvPicPr>
            <p:cNvPr id="117784" name="Picture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 y="312"/>
              <a:ext cx="504" cy="504"/>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85" name="Picture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6" y="0"/>
              <a:ext cx="960" cy="96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86" name="Picture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08"/>
              <a:ext cx="272" cy="272"/>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grpSp>
      <p:grpSp>
        <p:nvGrpSpPr>
          <p:cNvPr id="78899" name="Group 51"/>
          <p:cNvGrpSpPr>
            <a:grpSpLocks/>
          </p:cNvGrpSpPr>
          <p:nvPr/>
        </p:nvGrpSpPr>
        <p:grpSpPr bwMode="auto">
          <a:xfrm>
            <a:off x="250031" y="5429250"/>
            <a:ext cx="4232672" cy="892969"/>
            <a:chOff x="0" y="0"/>
            <a:chExt cx="3792" cy="800"/>
          </a:xfrm>
        </p:grpSpPr>
        <p:grpSp>
          <p:nvGrpSpPr>
            <p:cNvPr id="117777" name="Group 49"/>
            <p:cNvGrpSpPr>
              <a:grpSpLocks/>
            </p:cNvGrpSpPr>
            <p:nvPr/>
          </p:nvGrpSpPr>
          <p:grpSpPr bwMode="auto">
            <a:xfrm>
              <a:off x="0" y="0"/>
              <a:ext cx="3792" cy="800"/>
              <a:chOff x="0" y="0"/>
              <a:chExt cx="3792" cy="800"/>
            </a:xfrm>
          </p:grpSpPr>
          <p:pic>
            <p:nvPicPr>
              <p:cNvPr id="117779" name="Picture 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 y="264"/>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780" name="AutoShape 45"/>
              <p:cNvSpPr>
                <a:spLocks/>
              </p:cNvSpPr>
              <p:nvPr/>
            </p:nvSpPr>
            <p:spPr bwMode="auto">
              <a:xfrm>
                <a:off x="1184" y="0"/>
                <a:ext cx="800" cy="800"/>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81" name="Line 46"/>
              <p:cNvSpPr>
                <a:spLocks noChangeShapeType="1"/>
              </p:cNvSpPr>
              <p:nvPr/>
            </p:nvSpPr>
            <p:spPr bwMode="auto">
              <a:xfrm flipH="1">
                <a:off x="2368" y="592"/>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782" name="AutoShape 47"/>
              <p:cNvSpPr>
                <a:spLocks/>
              </p:cNvSpPr>
              <p:nvPr/>
            </p:nvSpPr>
            <p:spPr bwMode="auto">
              <a:xfrm>
                <a:off x="3392" y="168"/>
                <a:ext cx="400" cy="400"/>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83" name="AutoShape 48"/>
              <p:cNvSpPr>
                <a:spLocks/>
              </p:cNvSpPr>
              <p:nvPr/>
            </p:nvSpPr>
            <p:spPr bwMode="auto">
              <a:xfrm flipH="1">
                <a:off x="0" y="304"/>
                <a:ext cx="96" cy="96"/>
              </a:xfrm>
              <a:prstGeom prst="roundRect">
                <a:avLst>
                  <a:gd name="adj" fmla="val 50000"/>
                </a:avLst>
              </a:prstGeom>
              <a:solidFill>
                <a:srgbClr val="B200CB"/>
              </a:solidFill>
              <a:ln w="25400">
                <a:solidFill>
                  <a:srgbClr val="B200CB"/>
                </a:solidFill>
                <a:miter lim="800000"/>
                <a:headEnd/>
                <a:tailEnd/>
              </a:ln>
            </p:spPr>
            <p:txBody>
              <a:bodyPr lIns="0" tIns="0" rIns="0" bIns="0"/>
              <a:lstStyle/>
              <a:p>
                <a:endParaRPr lang="en-US"/>
              </a:p>
            </p:txBody>
          </p:sp>
        </p:grpSp>
        <p:pic>
          <p:nvPicPr>
            <p:cNvPr id="117778" name="Picture 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8" y="296"/>
              <a:ext cx="272"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7776" name="Rectangle 53"/>
          <p:cNvSpPr>
            <a:spLocks/>
          </p:cNvSpPr>
          <p:nvPr/>
        </p:nvSpPr>
        <p:spPr bwMode="auto">
          <a:xfrm>
            <a:off x="5199529" y="6540996"/>
            <a:ext cx="3852943"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
        <p:nvSpPr>
          <p:cNvPr id="56"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transformed Indian buffet process</a:t>
            </a:r>
          </a:p>
        </p:txBody>
      </p:sp>
    </p:spTree>
    <p:extLst>
      <p:ext uri="{BB962C8B-B14F-4D97-AF65-F5344CB8AC3E}">
        <p14:creationId xmlns:p14="http://schemas.microsoft.com/office/powerpoint/2010/main" val="205138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88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88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4"/>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7888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78855"/>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7887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8856"/>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788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animBg="1"/>
      <p:bldP spid="78855" grpId="0" animBg="1"/>
      <p:bldP spid="7885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03" y="4433081"/>
            <a:ext cx="3614738" cy="3045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9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659" y="4442245"/>
            <a:ext cx="4567536" cy="3045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3" name="Group 2"/>
          <p:cNvGrpSpPr/>
          <p:nvPr/>
        </p:nvGrpSpPr>
        <p:grpSpPr>
          <a:xfrm>
            <a:off x="3100298" y="2658417"/>
            <a:ext cx="2315882" cy="1090822"/>
            <a:chOff x="2629648" y="4213412"/>
            <a:chExt cx="2315882" cy="1090822"/>
          </a:xfrm>
        </p:grpSpPr>
        <p:sp>
          <p:nvSpPr>
            <p:cNvPr id="2" name="Rectangle 1"/>
            <p:cNvSpPr/>
            <p:nvPr/>
          </p:nvSpPr>
          <p:spPr>
            <a:xfrm>
              <a:off x="2629648" y="4213412"/>
              <a:ext cx="2315882" cy="1090822"/>
            </a:xfrm>
            <a:prstGeom prst="rect">
              <a:avLst/>
            </a:prstGeom>
            <a:solidFill>
              <a:srgbClr val="D2E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878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146" y="4840006"/>
              <a:ext cx="1321594"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8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8028" y="4424660"/>
              <a:ext cx="1598414"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11879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7776" y="1886784"/>
            <a:ext cx="1464469" cy="20181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9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894" y="967026"/>
            <a:ext cx="2089547" cy="29378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8791"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
        <p:nvSpPr>
          <p:cNvPr id="118792" name="Rectangle 15"/>
          <p:cNvSpPr>
            <a:spLocks/>
          </p:cNvSpPr>
          <p:nvPr/>
        </p:nvSpPr>
        <p:spPr bwMode="auto">
          <a:xfrm>
            <a:off x="1237776" y="1256447"/>
            <a:ext cx="1464469"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IBP</a:t>
            </a:r>
          </a:p>
        </p:txBody>
      </p:sp>
      <p:sp>
        <p:nvSpPr>
          <p:cNvPr id="118793" name="Rectangle 16"/>
          <p:cNvSpPr>
            <a:spLocks/>
          </p:cNvSpPr>
          <p:nvPr/>
        </p:nvSpPr>
        <p:spPr bwMode="auto">
          <a:xfrm>
            <a:off x="4189979" y="1256447"/>
            <a:ext cx="2793333"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transformed IBP</a:t>
            </a:r>
          </a:p>
        </p:txBody>
      </p:sp>
      <p:sp>
        <p:nvSpPr>
          <p:cNvPr id="18"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transformed Indian buffet process</a:t>
            </a:r>
          </a:p>
        </p:txBody>
      </p:sp>
      <p:pic>
        <p:nvPicPr>
          <p:cNvPr id="19"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0368" y="1346093"/>
            <a:ext cx="1473399"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21" name="Line 2"/>
          <p:cNvSpPr>
            <a:spLocks noChangeShapeType="1"/>
          </p:cNvSpPr>
          <p:nvPr/>
        </p:nvSpPr>
        <p:spPr bwMode="auto">
          <a:xfrm rot="10800000" flipH="1">
            <a:off x="2521806" y="3861822"/>
            <a:ext cx="1061496" cy="392311"/>
          </a:xfrm>
          <a:prstGeom prst="line">
            <a:avLst/>
          </a:prstGeom>
          <a:noFill/>
          <a:ln w="635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3" name="Line 2"/>
          <p:cNvSpPr>
            <a:spLocks noChangeShapeType="1"/>
          </p:cNvSpPr>
          <p:nvPr/>
        </p:nvSpPr>
        <p:spPr bwMode="auto">
          <a:xfrm rot="10800000">
            <a:off x="4973720" y="3882793"/>
            <a:ext cx="1061496" cy="392311"/>
          </a:xfrm>
          <a:prstGeom prst="line">
            <a:avLst/>
          </a:prstGeom>
          <a:noFill/>
          <a:ln w="635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Tree>
    <p:extLst>
      <p:ext uri="{BB962C8B-B14F-4D97-AF65-F5344CB8AC3E}">
        <p14:creationId xmlns:p14="http://schemas.microsoft.com/office/powerpoint/2010/main" val="8556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7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7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79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79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8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p:bldP spid="118793" grpId="0"/>
      <p:bldP spid="21" grpId="0" animBg="1"/>
      <p:bldP spid="2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
          <p:cNvSpPr>
            <a:spLocks noGrp="1" noChangeArrowheads="1"/>
          </p:cNvSpPr>
          <p:nvPr>
            <p:ph type="body" idx="1"/>
          </p:nvPr>
        </p:nvSpPr>
        <p:spPr>
          <a:xfrm>
            <a:off x="90190" y="909864"/>
            <a:ext cx="9017199" cy="1700090"/>
          </a:xfrm>
        </p:spPr>
        <p:txBody>
          <a:bodyPr>
            <a:noAutofit/>
          </a:bodyPr>
          <a:lstStyle/>
          <a:p>
            <a:pPr marL="187517" indent="0">
              <a:buNone/>
              <a:defRPr/>
            </a:pPr>
            <a:r>
              <a:rPr lang="en-US" sz="3000" dirty="0">
                <a:latin typeface="Helvetica"/>
                <a:cs typeface="Helvetica"/>
              </a:rPr>
              <a:t>Features occur differently across presentations.</a:t>
            </a:r>
          </a:p>
          <a:p>
            <a:pPr marL="187517" indent="0">
              <a:buNone/>
              <a:defRPr/>
            </a:pPr>
            <a:r>
              <a:rPr lang="en-US" sz="3000" dirty="0">
                <a:latin typeface="Helvetica"/>
                <a:cs typeface="Helvetica"/>
              </a:rPr>
              <a:t>Are parts separate features or the same feature with different transformations?</a:t>
            </a:r>
          </a:p>
        </p:txBody>
      </p:sp>
      <p:sp>
        <p:nvSpPr>
          <p:cNvPr id="119811" name="Rectangle 3"/>
          <p:cNvSpPr>
            <a:spLocks/>
          </p:cNvSpPr>
          <p:nvPr/>
        </p:nvSpPr>
        <p:spPr bwMode="auto">
          <a:xfrm>
            <a:off x="2536031" y="2720322"/>
            <a:ext cx="3857625" cy="2803922"/>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9812" name="Group 6"/>
          <p:cNvGrpSpPr>
            <a:grpSpLocks/>
          </p:cNvGrpSpPr>
          <p:nvPr/>
        </p:nvGrpSpPr>
        <p:grpSpPr bwMode="auto">
          <a:xfrm>
            <a:off x="554757" y="2974510"/>
            <a:ext cx="1770311" cy="925338"/>
            <a:chOff x="0" y="-23"/>
            <a:chExt cx="1585" cy="829"/>
          </a:xfrm>
        </p:grpSpPr>
        <p:sp>
          <p:nvSpPr>
            <p:cNvPr id="119839" name="Rectangle 4"/>
            <p:cNvSpPr>
              <a:spLocks/>
            </p:cNvSpPr>
            <p:nvPr/>
          </p:nvSpPr>
          <p:spPr bwMode="auto">
            <a:xfrm>
              <a:off x="0" y="-23"/>
              <a:ext cx="1463" cy="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2200" b="1" dirty="0">
                  <a:ea typeface="ＭＳ Ｐゴシック" charset="0"/>
                  <a:cs typeface="ＭＳ Ｐゴシック" charset="0"/>
                </a:rPr>
                <a:t>Input</a:t>
              </a:r>
            </a:p>
            <a:p>
              <a:pPr algn="ctr">
                <a:lnSpc>
                  <a:spcPct val="140000"/>
                </a:lnSpc>
              </a:pPr>
              <a:r>
                <a:rPr lang="en-US" sz="2200" dirty="0">
                  <a:ea typeface="ＭＳ Ｐゴシック" charset="0"/>
                  <a:cs typeface="ＭＳ Ｐゴシック" charset="0"/>
                </a:rPr>
                <a:t>[sensory data]</a:t>
              </a:r>
            </a:p>
          </p:txBody>
        </p:sp>
        <p:sp>
          <p:nvSpPr>
            <p:cNvPr id="119840" name="Line 5"/>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19813" name="Group 9"/>
          <p:cNvGrpSpPr>
            <a:grpSpLocks/>
          </p:cNvGrpSpPr>
          <p:nvPr/>
        </p:nvGrpSpPr>
        <p:grpSpPr bwMode="auto">
          <a:xfrm>
            <a:off x="6644804" y="2970045"/>
            <a:ext cx="1629668" cy="925338"/>
            <a:chOff x="0" y="-23"/>
            <a:chExt cx="1460" cy="829"/>
          </a:xfrm>
        </p:grpSpPr>
        <p:sp>
          <p:nvSpPr>
            <p:cNvPr id="119837" name="Line 7"/>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9838" name="Rectangle 8"/>
            <p:cNvSpPr>
              <a:spLocks/>
            </p:cNvSpPr>
            <p:nvPr/>
          </p:nvSpPr>
          <p:spPr bwMode="auto">
            <a:xfrm>
              <a:off x="217" y="-23"/>
              <a:ext cx="1061" cy="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2200" b="1" dirty="0">
                  <a:ea typeface="ＭＳ Ｐゴシック" charset="0"/>
                  <a:cs typeface="ＭＳ Ｐゴシック" charset="0"/>
                </a:rPr>
                <a:t>Output</a:t>
              </a:r>
            </a:p>
            <a:p>
              <a:pPr algn="ctr">
                <a:lnSpc>
                  <a:spcPct val="140000"/>
                </a:lnSpc>
              </a:pPr>
              <a:r>
                <a:rPr lang="en-US" sz="2200" dirty="0">
                  <a:ea typeface="ＭＳ Ｐゴシック" charset="0"/>
                  <a:cs typeface="ＭＳ Ｐゴシック" charset="0"/>
                </a:rPr>
                <a:t>[behavior]</a:t>
              </a:r>
            </a:p>
          </p:txBody>
        </p:sp>
      </p:grpSp>
      <p:sp>
        <p:nvSpPr>
          <p:cNvPr id="119814" name="Rectangle 10"/>
          <p:cNvSpPr>
            <a:spLocks/>
          </p:cNvSpPr>
          <p:nvPr/>
        </p:nvSpPr>
        <p:spPr bwMode="auto">
          <a:xfrm>
            <a:off x="3799582" y="5631027"/>
            <a:ext cx="1223229"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ea typeface="ＭＳ Ｐゴシック" charset="0"/>
                <a:cs typeface="ＭＳ Ｐゴシック" charset="0"/>
              </a:rPr>
              <a:t>The mind</a:t>
            </a:r>
          </a:p>
        </p:txBody>
      </p:sp>
      <p:sp>
        <p:nvSpPr>
          <p:cNvPr id="119815" name="Rectangle 11"/>
          <p:cNvSpPr>
            <a:spLocks/>
          </p:cNvSpPr>
          <p:nvPr/>
        </p:nvSpPr>
        <p:spPr bwMode="auto">
          <a:xfrm>
            <a:off x="3356973" y="2876232"/>
            <a:ext cx="2180021" cy="384721"/>
          </a:xfrm>
          <a:prstGeom prst="rect">
            <a:avLst/>
          </a:prstGeom>
          <a:solidFill>
            <a:srgbClr val="FFFFFF"/>
          </a:solidFill>
          <a:ln>
            <a:noFill/>
          </a:ln>
          <a:extLs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b="1" dirty="0">
                <a:ea typeface="ＭＳ Ｐゴシック" charset="0"/>
                <a:cs typeface="ＭＳ Ｐゴシック" charset="0"/>
              </a:rPr>
              <a:t>Representations</a:t>
            </a:r>
          </a:p>
        </p:txBody>
      </p:sp>
      <p:pic>
        <p:nvPicPr>
          <p:cNvPr id="11981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984" y="4111929"/>
            <a:ext cx="1464469" cy="4297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119817" name="Group 15"/>
          <p:cNvGrpSpPr>
            <a:grpSpLocks/>
          </p:cNvGrpSpPr>
          <p:nvPr/>
        </p:nvGrpSpPr>
        <p:grpSpPr bwMode="auto">
          <a:xfrm>
            <a:off x="703214" y="4113046"/>
            <a:ext cx="1460002" cy="829309"/>
            <a:chOff x="52" y="0"/>
            <a:chExt cx="1308" cy="742"/>
          </a:xfrm>
        </p:grpSpPr>
        <p:pic>
          <p:nvPicPr>
            <p:cNvPr id="119835" name="Picture 13"/>
            <p:cNvPicPr>
              <a:picLocks noChangeAspect="1" noChangeArrowheads="1"/>
            </p:cNvPicPr>
            <p:nvPr/>
          </p:nvPicPr>
          <p:blipFill>
            <a:blip r:embed="rId3">
              <a:extLst>
                <a:ext uri="{28A0092B-C50C-407E-A947-70E740481C1C}">
                  <a14:useLocalDpi xmlns:a14="http://schemas.microsoft.com/office/drawing/2010/main" val="0"/>
                </a:ext>
              </a:extLst>
            </a:blip>
            <a:srcRect t="39560" r="70622" b="41208"/>
            <a:stretch>
              <a:fillRect/>
            </a:stretch>
          </p:blipFill>
          <p:spPr bwMode="auto">
            <a:xfrm>
              <a:off x="52" y="0"/>
              <a:ext cx="1308"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9836" name="Rectangle 14"/>
            <p:cNvSpPr>
              <a:spLocks/>
            </p:cNvSpPr>
            <p:nvPr/>
          </p:nvSpPr>
          <p:spPr bwMode="auto">
            <a:xfrm>
              <a:off x="52" y="439"/>
              <a:ext cx="1289"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This is a </a:t>
              </a:r>
              <a:r>
                <a:rPr lang="en-US" sz="2200" dirty="0" err="1">
                  <a:ea typeface="ＭＳ Ｐゴシック" charset="0"/>
                  <a:cs typeface="ＭＳ Ｐゴシック" charset="0"/>
                </a:rPr>
                <a:t>dax</a:t>
              </a:r>
              <a:r>
                <a:rPr lang="en-US" sz="2200" dirty="0">
                  <a:ea typeface="ＭＳ Ｐゴシック" charset="0"/>
                  <a:cs typeface="ＭＳ Ｐゴシック" charset="0"/>
                </a:rPr>
                <a:t>.</a:t>
              </a:r>
            </a:p>
          </p:txBody>
        </p:sp>
      </p:grpSp>
      <p:grpSp>
        <p:nvGrpSpPr>
          <p:cNvPr id="119818" name="Group 18"/>
          <p:cNvGrpSpPr>
            <a:grpSpLocks/>
          </p:cNvGrpSpPr>
          <p:nvPr/>
        </p:nvGrpSpPr>
        <p:grpSpPr bwMode="auto">
          <a:xfrm>
            <a:off x="3911203" y="3550783"/>
            <a:ext cx="1107281" cy="473273"/>
            <a:chOff x="0" y="0"/>
            <a:chExt cx="992" cy="424"/>
          </a:xfrm>
        </p:grpSpPr>
        <p:pic>
          <p:nvPicPr>
            <p:cNvPr id="119833"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4"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9819" name="Rectangle 19"/>
          <p:cNvSpPr>
            <a:spLocks/>
          </p:cNvSpPr>
          <p:nvPr/>
        </p:nvSpPr>
        <p:spPr bwMode="auto">
          <a:xfrm>
            <a:off x="6738566" y="4603449"/>
            <a:ext cx="1462026"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Is this a </a:t>
            </a:r>
            <a:r>
              <a:rPr lang="en-US" sz="2200" dirty="0" err="1">
                <a:ea typeface="ＭＳ Ｐゴシック" charset="0"/>
                <a:cs typeface="ＭＳ Ｐゴシック" charset="0"/>
              </a:rPr>
              <a:t>dax</a:t>
            </a:r>
            <a:r>
              <a:rPr lang="en-US" sz="2200" dirty="0">
                <a:ea typeface="ＭＳ Ｐゴシック" charset="0"/>
                <a:cs typeface="ＭＳ Ｐゴシック" charset="0"/>
              </a:rPr>
              <a:t>?</a:t>
            </a:r>
          </a:p>
        </p:txBody>
      </p:sp>
      <p:grpSp>
        <p:nvGrpSpPr>
          <p:cNvPr id="119820" name="Group 31"/>
          <p:cNvGrpSpPr>
            <a:grpSpLocks/>
          </p:cNvGrpSpPr>
          <p:nvPr/>
        </p:nvGrpSpPr>
        <p:grpSpPr bwMode="auto">
          <a:xfrm>
            <a:off x="2821781" y="4184790"/>
            <a:ext cx="3295055" cy="1089422"/>
            <a:chOff x="0" y="24"/>
            <a:chExt cx="2952" cy="976"/>
          </a:xfrm>
        </p:grpSpPr>
        <p:grpSp>
          <p:nvGrpSpPr>
            <p:cNvPr id="119822" name="Group 29"/>
            <p:cNvGrpSpPr>
              <a:grpSpLocks/>
            </p:cNvGrpSpPr>
            <p:nvPr/>
          </p:nvGrpSpPr>
          <p:grpSpPr bwMode="auto">
            <a:xfrm>
              <a:off x="0" y="440"/>
              <a:ext cx="2952" cy="560"/>
              <a:chOff x="0" y="0"/>
              <a:chExt cx="2952" cy="560"/>
            </a:xfrm>
          </p:grpSpPr>
          <p:pic>
            <p:nvPicPr>
              <p:cNvPr id="119824"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19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5"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6"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7"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8"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6"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9"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4"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2"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1"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2"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48"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9823" name="Rectangle 30"/>
            <p:cNvSpPr>
              <a:spLocks/>
            </p:cNvSpPr>
            <p:nvPr/>
          </p:nvSpPr>
          <p:spPr bwMode="auto">
            <a:xfrm>
              <a:off x="1254" y="24"/>
              <a:ext cx="305"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OR</a:t>
              </a:r>
            </a:p>
          </p:txBody>
        </p:sp>
      </p:grpSp>
      <p:sp>
        <p:nvSpPr>
          <p:cNvPr id="34" name="Rectangle 2"/>
          <p:cNvSpPr>
            <a:spLocks/>
          </p:cNvSpPr>
          <p:nvPr/>
        </p:nvSpPr>
        <p:spPr bwMode="auto">
          <a:xfrm>
            <a:off x="214659" y="1403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400" b="1" dirty="0">
                <a:latin typeface="Helvetica"/>
                <a:ea typeface="ＭＳ Ｐゴシック" charset="0"/>
                <a:cs typeface="Helvetica"/>
              </a:rPr>
              <a:t>Learning transformation-invariant features</a:t>
            </a:r>
          </a:p>
        </p:txBody>
      </p:sp>
      <p:sp>
        <p:nvSpPr>
          <p:cNvPr id="35"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Tree>
    <p:extLst>
      <p:ext uri="{BB962C8B-B14F-4D97-AF65-F5344CB8AC3E}">
        <p14:creationId xmlns:p14="http://schemas.microsoft.com/office/powerpoint/2010/main" val="11202551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853" name="Group 9"/>
          <p:cNvGrpSpPr>
            <a:grpSpLocks/>
          </p:cNvGrpSpPr>
          <p:nvPr/>
        </p:nvGrpSpPr>
        <p:grpSpPr bwMode="auto">
          <a:xfrm>
            <a:off x="4836318" y="1897533"/>
            <a:ext cx="4086749" cy="697726"/>
            <a:chOff x="0" y="0"/>
            <a:chExt cx="6120" cy="950"/>
          </a:xfrm>
        </p:grpSpPr>
        <p:pic>
          <p:nvPicPr>
            <p:cNvPr id="12085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20843" name="Group 20"/>
          <p:cNvGrpSpPr>
            <a:grpSpLocks/>
          </p:cNvGrpSpPr>
          <p:nvPr/>
        </p:nvGrpSpPr>
        <p:grpSpPr bwMode="auto">
          <a:xfrm>
            <a:off x="4836319" y="3257183"/>
            <a:ext cx="4086746" cy="732979"/>
            <a:chOff x="0" y="0"/>
            <a:chExt cx="6120" cy="998"/>
          </a:xfrm>
        </p:grpSpPr>
        <p:pic>
          <p:nvPicPr>
            <p:cNvPr id="12084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6"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7"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8"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9"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0" name="Picture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4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1" name="Picture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8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2" name="Picture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2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20835" name="Rectangle 23"/>
          <p:cNvSpPr>
            <a:spLocks/>
          </p:cNvSpPr>
          <p:nvPr/>
        </p:nvSpPr>
        <p:spPr bwMode="auto">
          <a:xfrm>
            <a:off x="314423" y="1796878"/>
            <a:ext cx="3928805" cy="859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2800" dirty="0">
                <a:solidFill>
                  <a:srgbClr val="0077AE"/>
                </a:solidFill>
                <a:latin typeface="Helvetica"/>
                <a:ea typeface="ＭＳ Ｐゴシック" charset="0"/>
                <a:cs typeface="Helvetica"/>
              </a:rPr>
              <a:t>Unitized</a:t>
            </a:r>
            <a:r>
              <a:rPr lang="en-US" sz="2800" dirty="0">
                <a:latin typeface="Helvetica"/>
                <a:ea typeface="ＭＳ Ｐゴシック" charset="0"/>
                <a:cs typeface="Helvetica"/>
              </a:rPr>
              <a:t>: vertical bars translated together</a:t>
            </a:r>
          </a:p>
        </p:txBody>
      </p:sp>
      <p:sp>
        <p:nvSpPr>
          <p:cNvPr id="82968" name="Rectangle 24"/>
          <p:cNvSpPr>
            <a:spLocks/>
          </p:cNvSpPr>
          <p:nvPr/>
        </p:nvSpPr>
        <p:spPr bwMode="auto">
          <a:xfrm>
            <a:off x="4705106" y="1828936"/>
            <a:ext cx="1019584" cy="3944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82969" name="Rectangle 25"/>
          <p:cNvSpPr>
            <a:spLocks/>
          </p:cNvSpPr>
          <p:nvPr/>
        </p:nvSpPr>
        <p:spPr bwMode="auto">
          <a:xfrm>
            <a:off x="4705106" y="3182798"/>
            <a:ext cx="1019584" cy="3944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82971" name="Rectangle 27"/>
          <p:cNvSpPr>
            <a:spLocks/>
          </p:cNvSpPr>
          <p:nvPr/>
        </p:nvSpPr>
        <p:spPr bwMode="auto">
          <a:xfrm>
            <a:off x="379011" y="4224153"/>
            <a:ext cx="8764989" cy="1928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Hypothesis</a:t>
            </a:r>
          </a:p>
          <a:p>
            <a:pPr algn="l"/>
            <a:r>
              <a:rPr lang="en-US" sz="3000" dirty="0">
                <a:latin typeface="Helvetica"/>
                <a:ea typeface="ＭＳ Ｐゴシック" charset="0"/>
                <a:cs typeface="Helvetica"/>
              </a:rPr>
              <a:t>People infer the representation that encodes the observed objects with the fewest features.</a:t>
            </a:r>
          </a:p>
        </p:txBody>
      </p:sp>
      <p:sp>
        <p:nvSpPr>
          <p:cNvPr id="32" name="Rectangle 2"/>
          <p:cNvSpPr>
            <a:spLocks/>
          </p:cNvSpPr>
          <p:nvPr/>
        </p:nvSpPr>
        <p:spPr bwMode="auto">
          <a:xfrm>
            <a:off x="319246" y="9977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Stimuli</a:t>
            </a:r>
          </a:p>
        </p:txBody>
      </p:sp>
      <p:sp>
        <p:nvSpPr>
          <p:cNvPr id="33" name="Rectangle 23"/>
          <p:cNvSpPr>
            <a:spLocks/>
          </p:cNvSpPr>
          <p:nvPr/>
        </p:nvSpPr>
        <p:spPr bwMode="auto">
          <a:xfrm>
            <a:off x="341787" y="3159302"/>
            <a:ext cx="4321686" cy="9354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2800" dirty="0">
                <a:solidFill>
                  <a:srgbClr val="B200CB"/>
                </a:solidFill>
                <a:latin typeface="Helvetica"/>
                <a:ea typeface="ＭＳ Ｐゴシック" charset="0"/>
                <a:cs typeface="Helvetica"/>
              </a:rPr>
              <a:t>Separate: </a:t>
            </a:r>
            <a:r>
              <a:rPr lang="en-US" sz="2800" dirty="0">
                <a:latin typeface="Helvetica"/>
                <a:ea typeface="ＭＳ Ｐゴシック" charset="0"/>
                <a:cs typeface="Helvetica"/>
              </a:rPr>
              <a:t>vertical bars translated independently</a:t>
            </a:r>
          </a:p>
        </p:txBody>
      </p:sp>
      <p:sp>
        <p:nvSpPr>
          <p:cNvPr id="34" name="Rectangle 23"/>
          <p:cNvSpPr>
            <a:spLocks/>
          </p:cNvSpPr>
          <p:nvPr/>
        </p:nvSpPr>
        <p:spPr bwMode="auto">
          <a:xfrm>
            <a:off x="357885" y="854599"/>
            <a:ext cx="3571641" cy="563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3200" b="1" dirty="0">
                <a:latin typeface="Helvetica"/>
                <a:ea typeface="ＭＳ Ｐゴシック" charset="0"/>
                <a:cs typeface="Helvetica"/>
              </a:rPr>
              <a:t>Two object sets </a:t>
            </a:r>
          </a:p>
        </p:txBody>
      </p:sp>
      <p:sp>
        <p:nvSpPr>
          <p:cNvPr id="35"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Tree>
    <p:extLst>
      <p:ext uri="{BB962C8B-B14F-4D97-AF65-F5344CB8AC3E}">
        <p14:creationId xmlns:p14="http://schemas.microsoft.com/office/powerpoint/2010/main" val="77173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8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29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8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296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829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P spid="82968" grpId="0" animBg="1"/>
      <p:bldP spid="82969" grpId="0" animBg="1"/>
      <p:bldP spid="82971" grpId="0" autoUpdateAnimBg="0"/>
      <p:bldP spid="33" grpId="0"/>
      <p:bldP spid="3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4" name="Group 6"/>
          <p:cNvGrpSpPr>
            <a:grpSpLocks/>
          </p:cNvGrpSpPr>
          <p:nvPr/>
        </p:nvGrpSpPr>
        <p:grpSpPr bwMode="auto">
          <a:xfrm>
            <a:off x="1384101" y="1607960"/>
            <a:ext cx="357188" cy="1686594"/>
            <a:chOff x="0" y="0"/>
            <a:chExt cx="320" cy="1510"/>
          </a:xfrm>
        </p:grpSpPr>
        <p:sp>
          <p:nvSpPr>
            <p:cNvPr id="121920" name="Rectangle 1"/>
            <p:cNvSpPr>
              <a:spLocks/>
            </p:cNvSpPr>
            <p:nvPr/>
          </p:nvSpPr>
          <p:spPr bwMode="auto">
            <a:xfrm>
              <a:off x="0" y="86"/>
              <a:ext cx="320" cy="1424"/>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nvGrpSpPr>
            <p:cNvPr id="121921" name="Group 5"/>
            <p:cNvGrpSpPr>
              <a:grpSpLocks/>
            </p:cNvGrpSpPr>
            <p:nvPr/>
          </p:nvGrpSpPr>
          <p:grpSpPr bwMode="auto">
            <a:xfrm>
              <a:off x="80" y="0"/>
              <a:ext cx="160" cy="177"/>
              <a:chOff x="0" y="0"/>
              <a:chExt cx="160" cy="177"/>
            </a:xfrm>
          </p:grpSpPr>
          <p:sp>
            <p:nvSpPr>
              <p:cNvPr id="121922" name="Line 2"/>
              <p:cNvSpPr>
                <a:spLocks noChangeShapeType="1"/>
              </p:cNvSpPr>
              <p:nvPr/>
            </p:nvSpPr>
            <p:spPr bwMode="auto">
              <a:xfrm flipH="1">
                <a:off x="80" y="0"/>
                <a:ext cx="0" cy="177"/>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23" name="Line 3"/>
              <p:cNvSpPr>
                <a:spLocks noChangeShapeType="1"/>
              </p:cNvSpPr>
              <p:nvPr/>
            </p:nvSpPr>
            <p:spPr bwMode="auto">
              <a:xfrm flipH="1">
                <a:off x="0" y="169"/>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24" name="Line 4"/>
              <p:cNvSpPr>
                <a:spLocks noChangeShapeType="1"/>
              </p:cNvSpPr>
              <p:nvPr/>
            </p:nvSpPr>
            <p:spPr bwMode="auto">
              <a:xfrm flipH="1">
                <a:off x="0" y="6"/>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80" name="Group 12"/>
          <p:cNvGrpSpPr>
            <a:grpSpLocks/>
          </p:cNvGrpSpPr>
          <p:nvPr/>
        </p:nvGrpSpPr>
        <p:grpSpPr bwMode="auto">
          <a:xfrm>
            <a:off x="1830586" y="1749718"/>
            <a:ext cx="357188" cy="1544836"/>
            <a:chOff x="0" y="0"/>
            <a:chExt cx="320" cy="1384"/>
          </a:xfrm>
        </p:grpSpPr>
        <p:sp>
          <p:nvSpPr>
            <p:cNvPr id="121915" name="Rectangle 7"/>
            <p:cNvSpPr>
              <a:spLocks/>
            </p:cNvSpPr>
            <p:nvPr/>
          </p:nvSpPr>
          <p:spPr bwMode="auto">
            <a:xfrm>
              <a:off x="0" y="96"/>
              <a:ext cx="320" cy="1288"/>
            </a:xfrm>
            <a:prstGeom prst="rect">
              <a:avLst/>
            </a:prstGeom>
            <a:solidFill>
              <a:srgbClr val="B200CB"/>
            </a:solidFill>
            <a:ln w="25400">
              <a:solidFill>
                <a:schemeClr val="tx1"/>
              </a:solidFill>
              <a:miter lim="800000"/>
              <a:headEnd/>
              <a:tailEnd/>
            </a:ln>
          </p:spPr>
          <p:txBody>
            <a:bodyPr lIns="0" tIns="0" rIns="0" bIns="0"/>
            <a:lstStyle/>
            <a:p>
              <a:endParaRPr lang="en-US"/>
            </a:p>
          </p:txBody>
        </p:sp>
        <p:grpSp>
          <p:nvGrpSpPr>
            <p:cNvPr id="121916" name="Group 11"/>
            <p:cNvGrpSpPr>
              <a:grpSpLocks/>
            </p:cNvGrpSpPr>
            <p:nvPr/>
          </p:nvGrpSpPr>
          <p:grpSpPr bwMode="auto">
            <a:xfrm>
              <a:off x="80" y="0"/>
              <a:ext cx="160" cy="184"/>
              <a:chOff x="0" y="0"/>
              <a:chExt cx="160" cy="184"/>
            </a:xfrm>
          </p:grpSpPr>
          <p:sp>
            <p:nvSpPr>
              <p:cNvPr id="121917" name="Line 8"/>
              <p:cNvSpPr>
                <a:spLocks noChangeShapeType="1"/>
              </p:cNvSpPr>
              <p:nvPr/>
            </p:nvSpPr>
            <p:spPr bwMode="auto">
              <a:xfrm flipH="1">
                <a:off x="79" y="0"/>
                <a:ext cx="0" cy="184"/>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8" name="Line 9"/>
              <p:cNvSpPr>
                <a:spLocks noChangeShapeType="1"/>
              </p:cNvSpPr>
              <p:nvPr/>
            </p:nvSpPr>
            <p:spPr bwMode="auto">
              <a:xfrm flipH="1">
                <a:off x="0" y="168"/>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9" name="Line 10"/>
              <p:cNvSpPr>
                <a:spLocks noChangeShapeType="1"/>
              </p:cNvSpPr>
              <p:nvPr/>
            </p:nvSpPr>
            <p:spPr bwMode="auto">
              <a:xfrm flipH="1">
                <a:off x="0" y="15"/>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86" name="Group 18"/>
          <p:cNvGrpSpPr>
            <a:grpSpLocks/>
          </p:cNvGrpSpPr>
          <p:nvPr/>
        </p:nvGrpSpPr>
        <p:grpSpPr bwMode="auto">
          <a:xfrm>
            <a:off x="2920008" y="2822397"/>
            <a:ext cx="357188" cy="472157"/>
            <a:chOff x="0" y="0"/>
            <a:chExt cx="320" cy="422"/>
          </a:xfrm>
        </p:grpSpPr>
        <p:sp>
          <p:nvSpPr>
            <p:cNvPr id="121910" name="Rectangle 13"/>
            <p:cNvSpPr>
              <a:spLocks/>
            </p:cNvSpPr>
            <p:nvPr/>
          </p:nvSpPr>
          <p:spPr bwMode="auto">
            <a:xfrm>
              <a:off x="0" y="62"/>
              <a:ext cx="320" cy="360"/>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nvGrpSpPr>
            <p:cNvPr id="121911" name="Group 17"/>
            <p:cNvGrpSpPr>
              <a:grpSpLocks/>
            </p:cNvGrpSpPr>
            <p:nvPr/>
          </p:nvGrpSpPr>
          <p:grpSpPr bwMode="auto">
            <a:xfrm>
              <a:off x="80" y="0"/>
              <a:ext cx="160" cy="161"/>
              <a:chOff x="0" y="0"/>
              <a:chExt cx="160" cy="161"/>
            </a:xfrm>
          </p:grpSpPr>
          <p:sp>
            <p:nvSpPr>
              <p:cNvPr id="121912" name="Line 14"/>
              <p:cNvSpPr>
                <a:spLocks noChangeShapeType="1"/>
              </p:cNvSpPr>
              <p:nvPr/>
            </p:nvSpPr>
            <p:spPr bwMode="auto">
              <a:xfrm>
                <a:off x="79" y="1"/>
                <a:ext cx="0" cy="16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3" name="Line 15"/>
              <p:cNvSpPr>
                <a:spLocks noChangeShapeType="1"/>
              </p:cNvSpPr>
              <p:nvPr/>
            </p:nvSpPr>
            <p:spPr bwMode="auto">
              <a:xfrm flipH="1">
                <a:off x="0" y="147"/>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4" name="Line 16"/>
              <p:cNvSpPr>
                <a:spLocks noChangeShapeType="1"/>
              </p:cNvSpPr>
              <p:nvPr/>
            </p:nvSpPr>
            <p:spPr bwMode="auto">
              <a:xfrm flipH="1">
                <a:off x="0" y="0"/>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92" name="Group 24"/>
          <p:cNvGrpSpPr>
            <a:grpSpLocks/>
          </p:cNvGrpSpPr>
          <p:nvPr/>
        </p:nvGrpSpPr>
        <p:grpSpPr bwMode="auto">
          <a:xfrm>
            <a:off x="3366492" y="1887013"/>
            <a:ext cx="357188" cy="1416471"/>
            <a:chOff x="0" y="0"/>
            <a:chExt cx="320" cy="1268"/>
          </a:xfrm>
        </p:grpSpPr>
        <p:sp>
          <p:nvSpPr>
            <p:cNvPr id="121905" name="Rectangle 19"/>
            <p:cNvSpPr>
              <a:spLocks/>
            </p:cNvSpPr>
            <p:nvPr/>
          </p:nvSpPr>
          <p:spPr bwMode="auto">
            <a:xfrm>
              <a:off x="0" y="132"/>
              <a:ext cx="320" cy="1136"/>
            </a:xfrm>
            <a:prstGeom prst="rect">
              <a:avLst/>
            </a:prstGeom>
            <a:solidFill>
              <a:srgbClr val="B200CB"/>
            </a:solidFill>
            <a:ln w="25400">
              <a:solidFill>
                <a:schemeClr val="tx1"/>
              </a:solidFill>
              <a:miter lim="800000"/>
              <a:headEnd/>
              <a:tailEnd/>
            </a:ln>
          </p:spPr>
          <p:txBody>
            <a:bodyPr lIns="0" tIns="0" rIns="0" bIns="0"/>
            <a:lstStyle/>
            <a:p>
              <a:endParaRPr lang="en-US"/>
            </a:p>
          </p:txBody>
        </p:sp>
        <p:grpSp>
          <p:nvGrpSpPr>
            <p:cNvPr id="121906" name="Group 23"/>
            <p:cNvGrpSpPr>
              <a:grpSpLocks/>
            </p:cNvGrpSpPr>
            <p:nvPr/>
          </p:nvGrpSpPr>
          <p:grpSpPr bwMode="auto">
            <a:xfrm>
              <a:off x="80" y="0"/>
              <a:ext cx="160" cy="245"/>
              <a:chOff x="0" y="0"/>
              <a:chExt cx="160" cy="245"/>
            </a:xfrm>
          </p:grpSpPr>
          <p:sp>
            <p:nvSpPr>
              <p:cNvPr id="121907" name="Line 20"/>
              <p:cNvSpPr>
                <a:spLocks noChangeShapeType="1"/>
              </p:cNvSpPr>
              <p:nvPr/>
            </p:nvSpPr>
            <p:spPr bwMode="auto">
              <a:xfrm flipH="1">
                <a:off x="79" y="0"/>
                <a:ext cx="0" cy="244"/>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08" name="Line 21"/>
              <p:cNvSpPr>
                <a:spLocks noChangeShapeType="1"/>
              </p:cNvSpPr>
              <p:nvPr/>
            </p:nvSpPr>
            <p:spPr bwMode="auto">
              <a:xfrm flipH="1">
                <a:off x="0" y="245"/>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09" name="Line 22"/>
              <p:cNvSpPr>
                <a:spLocks noChangeShapeType="1"/>
              </p:cNvSpPr>
              <p:nvPr/>
            </p:nvSpPr>
            <p:spPr bwMode="auto">
              <a:xfrm flipH="1">
                <a:off x="0" y="11"/>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4006" name="Group 38"/>
          <p:cNvGrpSpPr>
            <a:grpSpLocks/>
          </p:cNvGrpSpPr>
          <p:nvPr/>
        </p:nvGrpSpPr>
        <p:grpSpPr bwMode="auto">
          <a:xfrm>
            <a:off x="377280" y="963905"/>
            <a:ext cx="3922365" cy="3607594"/>
            <a:chOff x="0" y="0"/>
            <a:chExt cx="3513" cy="3232"/>
          </a:xfrm>
        </p:grpSpPr>
        <p:sp>
          <p:nvSpPr>
            <p:cNvPr id="121892" name="Line 25"/>
            <p:cNvSpPr>
              <a:spLocks noChangeShapeType="1"/>
            </p:cNvSpPr>
            <p:nvPr/>
          </p:nvSpPr>
          <p:spPr bwMode="auto">
            <a:xfrm>
              <a:off x="661" y="424"/>
              <a:ext cx="0" cy="168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21893" name="Group 37"/>
            <p:cNvGrpSpPr>
              <a:grpSpLocks/>
            </p:cNvGrpSpPr>
            <p:nvPr/>
          </p:nvGrpSpPr>
          <p:grpSpPr bwMode="auto">
            <a:xfrm>
              <a:off x="0" y="0"/>
              <a:ext cx="3513" cy="3232"/>
              <a:chOff x="0" y="0"/>
              <a:chExt cx="3513" cy="3232"/>
            </a:xfrm>
          </p:grpSpPr>
          <p:pic>
            <p:nvPicPr>
              <p:cNvPr id="121894" name="Picture 26"/>
              <p:cNvPicPr>
                <a:picLocks noChangeAspect="1" noChangeArrowheads="1"/>
              </p:cNvPicPr>
              <p:nvPr/>
            </p:nvPicPr>
            <p:blipFill>
              <a:blip r:embed="rId3">
                <a:extLst>
                  <a:ext uri="{28A0092B-C50C-407E-A947-70E740481C1C}">
                    <a14:useLocalDpi xmlns:a14="http://schemas.microsoft.com/office/drawing/2010/main" val="0"/>
                  </a:ext>
                </a:extLst>
              </a:blip>
              <a:srcRect l="9901" t="72876" r="71558" b="11084"/>
              <a:stretch>
                <a:fillRect/>
              </a:stretch>
            </p:blipFill>
            <p:spPr bwMode="auto">
              <a:xfrm>
                <a:off x="557" y="2688"/>
                <a:ext cx="1408" cy="5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95" name="Line 27"/>
              <p:cNvSpPr>
                <a:spLocks noChangeShapeType="1"/>
              </p:cNvSpPr>
              <p:nvPr/>
            </p:nvSpPr>
            <p:spPr bwMode="auto">
              <a:xfrm flipH="1">
                <a:off x="653" y="2088"/>
                <a:ext cx="257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96" name="Rectangle 28"/>
              <p:cNvSpPr>
                <a:spLocks/>
              </p:cNvSpPr>
              <p:nvPr/>
            </p:nvSpPr>
            <p:spPr bwMode="auto">
              <a:xfrm>
                <a:off x="383" y="1815"/>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0</a:t>
                </a:r>
              </a:p>
            </p:txBody>
          </p:sp>
          <p:sp>
            <p:nvSpPr>
              <p:cNvPr id="121897" name="Rectangle 29"/>
              <p:cNvSpPr>
                <a:spLocks/>
              </p:cNvSpPr>
              <p:nvPr/>
            </p:nvSpPr>
            <p:spPr bwMode="auto">
              <a:xfrm>
                <a:off x="380" y="1223"/>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2</a:t>
                </a:r>
              </a:p>
            </p:txBody>
          </p:sp>
          <p:sp>
            <p:nvSpPr>
              <p:cNvPr id="121898" name="Rectangle 30"/>
              <p:cNvSpPr>
                <a:spLocks/>
              </p:cNvSpPr>
              <p:nvPr/>
            </p:nvSpPr>
            <p:spPr bwMode="auto">
              <a:xfrm>
                <a:off x="380" y="679"/>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4</a:t>
                </a:r>
              </a:p>
            </p:txBody>
          </p:sp>
          <p:sp>
            <p:nvSpPr>
              <p:cNvPr id="121899" name="Rectangle 31"/>
              <p:cNvSpPr>
                <a:spLocks/>
              </p:cNvSpPr>
              <p:nvPr/>
            </p:nvSpPr>
            <p:spPr bwMode="auto">
              <a:xfrm>
                <a:off x="380" y="143"/>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6</a:t>
                </a:r>
              </a:p>
            </p:txBody>
          </p:sp>
          <p:sp>
            <p:nvSpPr>
              <p:cNvPr id="121900" name="Rectangle 32"/>
              <p:cNvSpPr>
                <a:spLocks/>
              </p:cNvSpPr>
              <p:nvPr/>
            </p:nvSpPr>
            <p:spPr bwMode="auto">
              <a:xfrm rot="-5400000">
                <a:off x="-1012" y="1088"/>
                <a:ext cx="2375"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latin typeface="Helvetica" charset="0"/>
                    <a:ea typeface="ＭＳ Ｐゴシック" charset="0"/>
                    <a:cs typeface="ＭＳ Ｐゴシック" charset="0"/>
                    <a:sym typeface="Helvetica" charset="0"/>
                  </a:rPr>
                  <a:t>Human Rating</a:t>
                </a:r>
              </a:p>
            </p:txBody>
          </p:sp>
          <p:sp>
            <p:nvSpPr>
              <p:cNvPr id="121901" name="Rectangle 33"/>
              <p:cNvSpPr>
                <a:spLocks/>
              </p:cNvSpPr>
              <p:nvPr/>
            </p:nvSpPr>
            <p:spPr bwMode="auto">
              <a:xfrm>
                <a:off x="636" y="2080"/>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0077AE"/>
                    </a:solidFill>
                    <a:latin typeface="Helvetica" charset="0"/>
                    <a:ea typeface="ＭＳ Ｐゴシック" charset="0"/>
                    <a:cs typeface="ＭＳ Ｐゴシック" charset="0"/>
                    <a:sym typeface="Helvetica" charset="0"/>
                  </a:rPr>
                  <a:t>New Unitized</a:t>
                </a:r>
              </a:p>
            </p:txBody>
          </p:sp>
          <p:sp>
            <p:nvSpPr>
              <p:cNvPr id="121902" name="Rectangle 34"/>
              <p:cNvSpPr>
                <a:spLocks/>
              </p:cNvSpPr>
              <p:nvPr/>
            </p:nvSpPr>
            <p:spPr bwMode="auto">
              <a:xfrm>
                <a:off x="2005" y="2056"/>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B200CB"/>
                    </a:solidFill>
                    <a:latin typeface="Helvetica" charset="0"/>
                    <a:ea typeface="ＭＳ Ｐゴシック" charset="0"/>
                    <a:cs typeface="ＭＳ Ｐゴシック" charset="0"/>
                    <a:sym typeface="Helvetica" charset="0"/>
                  </a:rPr>
                  <a:t>New Separate</a:t>
                </a:r>
              </a:p>
            </p:txBody>
          </p:sp>
          <p:pic>
            <p:nvPicPr>
              <p:cNvPr id="121903" name="Picture 35"/>
              <p:cNvPicPr>
                <a:picLocks noChangeAspect="1" noChangeArrowheads="1"/>
              </p:cNvPicPr>
              <p:nvPr/>
            </p:nvPicPr>
            <p:blipFill>
              <a:blip r:embed="rId3">
                <a:extLst>
                  <a:ext uri="{28A0092B-C50C-407E-A947-70E740481C1C}">
                    <a14:useLocalDpi xmlns:a14="http://schemas.microsoft.com/office/drawing/2010/main" val="0"/>
                  </a:ext>
                </a:extLst>
              </a:blip>
              <a:srcRect l="28230" t="74527" r="53227" b="11084"/>
              <a:stretch>
                <a:fillRect/>
              </a:stretch>
            </p:blipFill>
            <p:spPr bwMode="auto">
              <a:xfrm>
                <a:off x="1925" y="2744"/>
                <a:ext cx="1408" cy="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904" name="Rectangle 36"/>
              <p:cNvSpPr>
                <a:spLocks/>
              </p:cNvSpPr>
              <p:nvPr/>
            </p:nvSpPr>
            <p:spPr bwMode="auto">
              <a:xfrm>
                <a:off x="401" y="0"/>
                <a:ext cx="3112" cy="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400" b="1" dirty="0">
                    <a:latin typeface="Helvetica" charset="0"/>
                    <a:ea typeface="ＭＳ Ｐゴシック" charset="0"/>
                    <a:cs typeface="ＭＳ Ｐゴシック" charset="0"/>
                    <a:sym typeface="Helvetica" charset="0"/>
                  </a:rPr>
                  <a:t>Human Experiment</a:t>
                </a:r>
              </a:p>
            </p:txBody>
          </p:sp>
        </p:grpSp>
      </p:grpSp>
      <p:grpSp>
        <p:nvGrpSpPr>
          <p:cNvPr id="84009" name="Group 41"/>
          <p:cNvGrpSpPr>
            <a:grpSpLocks/>
          </p:cNvGrpSpPr>
          <p:nvPr/>
        </p:nvGrpSpPr>
        <p:grpSpPr bwMode="auto">
          <a:xfrm>
            <a:off x="5786437" y="1801063"/>
            <a:ext cx="1893094" cy="1491258"/>
            <a:chOff x="0" y="0"/>
            <a:chExt cx="1696" cy="1336"/>
          </a:xfrm>
        </p:grpSpPr>
        <p:sp>
          <p:nvSpPr>
            <p:cNvPr id="121890" name="Rectangle 39"/>
            <p:cNvSpPr>
              <a:spLocks/>
            </p:cNvSpPr>
            <p:nvPr/>
          </p:nvSpPr>
          <p:spPr bwMode="auto">
            <a:xfrm>
              <a:off x="0" y="0"/>
              <a:ext cx="320" cy="1336"/>
            </a:xfrm>
            <a:prstGeom prst="rect">
              <a:avLst/>
            </a:prstGeom>
            <a:solidFill>
              <a:schemeClr val="accent1"/>
            </a:solidFill>
            <a:ln w="25400">
              <a:solidFill>
                <a:schemeClr val="tx1"/>
              </a:solidFill>
              <a:miter lim="800000"/>
              <a:headEnd/>
              <a:tailEnd/>
            </a:ln>
          </p:spPr>
          <p:txBody>
            <a:bodyPr lIns="0" tIns="0" rIns="0" bIns="0"/>
            <a:lstStyle/>
            <a:p>
              <a:endParaRPr lang="en-US"/>
            </a:p>
          </p:txBody>
        </p:sp>
        <p:sp>
          <p:nvSpPr>
            <p:cNvPr id="121891" name="Rectangle 40"/>
            <p:cNvSpPr>
              <a:spLocks/>
            </p:cNvSpPr>
            <p:nvPr/>
          </p:nvSpPr>
          <p:spPr bwMode="auto">
            <a:xfrm>
              <a:off x="1376" y="1247"/>
              <a:ext cx="320" cy="88"/>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grpSp>
        <p:nvGrpSpPr>
          <p:cNvPr id="84012" name="Group 44"/>
          <p:cNvGrpSpPr>
            <a:grpSpLocks/>
          </p:cNvGrpSpPr>
          <p:nvPr/>
        </p:nvGrpSpPr>
        <p:grpSpPr bwMode="auto">
          <a:xfrm>
            <a:off x="6232922" y="2481952"/>
            <a:ext cx="1893094" cy="817066"/>
            <a:chOff x="0" y="0"/>
            <a:chExt cx="1696" cy="732"/>
          </a:xfrm>
        </p:grpSpPr>
        <p:sp>
          <p:nvSpPr>
            <p:cNvPr id="121888" name="Rectangle 42"/>
            <p:cNvSpPr>
              <a:spLocks/>
            </p:cNvSpPr>
            <p:nvPr/>
          </p:nvSpPr>
          <p:spPr bwMode="auto">
            <a:xfrm>
              <a:off x="0" y="0"/>
              <a:ext cx="320" cy="728"/>
            </a:xfrm>
            <a:prstGeom prst="rect">
              <a:avLst/>
            </a:prstGeom>
            <a:solidFill>
              <a:srgbClr val="B200CB"/>
            </a:solidFill>
            <a:ln w="25400">
              <a:solidFill>
                <a:schemeClr val="tx1"/>
              </a:solidFill>
              <a:miter lim="800000"/>
              <a:headEnd/>
              <a:tailEnd/>
            </a:ln>
          </p:spPr>
          <p:txBody>
            <a:bodyPr lIns="0" tIns="0" rIns="0" bIns="0"/>
            <a:lstStyle/>
            <a:p>
              <a:endParaRPr lang="en-US"/>
            </a:p>
          </p:txBody>
        </p:sp>
        <p:sp>
          <p:nvSpPr>
            <p:cNvPr id="121889" name="Rectangle 43"/>
            <p:cNvSpPr>
              <a:spLocks/>
            </p:cNvSpPr>
            <p:nvPr/>
          </p:nvSpPr>
          <p:spPr bwMode="auto">
            <a:xfrm>
              <a:off x="1376" y="92"/>
              <a:ext cx="320" cy="640"/>
            </a:xfrm>
            <a:prstGeom prst="rect">
              <a:avLst/>
            </a:prstGeom>
            <a:solidFill>
              <a:srgbClr val="B200CB"/>
            </a:solidFill>
            <a:ln w="25400">
              <a:solidFill>
                <a:schemeClr val="tx1"/>
              </a:solidFill>
              <a:miter lim="800000"/>
              <a:headEnd/>
              <a:tailEnd/>
            </a:ln>
          </p:spPr>
          <p:txBody>
            <a:bodyPr lIns="0" tIns="0" rIns="0" bIns="0"/>
            <a:lstStyle/>
            <a:p>
              <a:endParaRPr lang="en-US"/>
            </a:p>
          </p:txBody>
        </p:sp>
      </p:grpSp>
      <p:grpSp>
        <p:nvGrpSpPr>
          <p:cNvPr id="84021" name="Group 53"/>
          <p:cNvGrpSpPr>
            <a:grpSpLocks/>
          </p:cNvGrpSpPr>
          <p:nvPr/>
        </p:nvGrpSpPr>
        <p:grpSpPr bwMode="auto">
          <a:xfrm>
            <a:off x="5045273" y="963905"/>
            <a:ext cx="3661172" cy="3607594"/>
            <a:chOff x="0" y="0"/>
            <a:chExt cx="3280" cy="3232"/>
          </a:xfrm>
        </p:grpSpPr>
        <p:pic>
          <p:nvPicPr>
            <p:cNvPr id="121880" name="Picture 45"/>
            <p:cNvPicPr>
              <a:picLocks noChangeAspect="1" noChangeArrowheads="1"/>
            </p:cNvPicPr>
            <p:nvPr/>
          </p:nvPicPr>
          <p:blipFill>
            <a:blip r:embed="rId3">
              <a:extLst>
                <a:ext uri="{28A0092B-C50C-407E-A947-70E740481C1C}">
                  <a14:useLocalDpi xmlns:a14="http://schemas.microsoft.com/office/drawing/2010/main" val="0"/>
                </a:ext>
              </a:extLst>
            </a:blip>
            <a:srcRect l="9901" t="72876" r="71558" b="11084"/>
            <a:stretch>
              <a:fillRect/>
            </a:stretch>
          </p:blipFill>
          <p:spPr bwMode="auto">
            <a:xfrm>
              <a:off x="320" y="2688"/>
              <a:ext cx="1408" cy="5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81" name="Line 46"/>
            <p:cNvSpPr>
              <a:spLocks noChangeShapeType="1"/>
            </p:cNvSpPr>
            <p:nvPr/>
          </p:nvSpPr>
          <p:spPr bwMode="auto">
            <a:xfrm>
              <a:off x="424" y="424"/>
              <a:ext cx="0" cy="168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82" name="Line 47"/>
            <p:cNvSpPr>
              <a:spLocks noChangeShapeType="1"/>
            </p:cNvSpPr>
            <p:nvPr/>
          </p:nvSpPr>
          <p:spPr bwMode="auto">
            <a:xfrm flipH="1">
              <a:off x="416" y="2088"/>
              <a:ext cx="257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83" name="Rectangle 48"/>
            <p:cNvSpPr>
              <a:spLocks/>
            </p:cNvSpPr>
            <p:nvPr/>
          </p:nvSpPr>
          <p:spPr bwMode="auto">
            <a:xfrm rot="-5400000">
              <a:off x="-1012" y="1092"/>
              <a:ext cx="2375"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latin typeface="Helvetica" charset="0"/>
                  <a:ea typeface="ＭＳ Ｐゴシック" charset="0"/>
                  <a:cs typeface="ＭＳ Ｐゴシック" charset="0"/>
                  <a:sym typeface="Helvetica" charset="0"/>
                </a:rPr>
                <a:t>Model Activation</a:t>
              </a:r>
            </a:p>
          </p:txBody>
        </p:sp>
        <p:sp>
          <p:nvSpPr>
            <p:cNvPr id="121884" name="Rectangle 49"/>
            <p:cNvSpPr>
              <a:spLocks/>
            </p:cNvSpPr>
            <p:nvPr/>
          </p:nvSpPr>
          <p:spPr bwMode="auto">
            <a:xfrm>
              <a:off x="400" y="2080"/>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0077AE"/>
                  </a:solidFill>
                  <a:latin typeface="Helvetica" charset="0"/>
                  <a:ea typeface="ＭＳ Ｐゴシック" charset="0"/>
                  <a:cs typeface="ＭＳ Ｐゴシック" charset="0"/>
                  <a:sym typeface="Helvetica" charset="0"/>
                </a:rPr>
                <a:t>New Unitized</a:t>
              </a:r>
            </a:p>
          </p:txBody>
        </p:sp>
        <p:sp>
          <p:nvSpPr>
            <p:cNvPr id="121885" name="Rectangle 50"/>
            <p:cNvSpPr>
              <a:spLocks/>
            </p:cNvSpPr>
            <p:nvPr/>
          </p:nvSpPr>
          <p:spPr bwMode="auto">
            <a:xfrm>
              <a:off x="1768" y="2056"/>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B200CB"/>
                  </a:solidFill>
                  <a:latin typeface="Helvetica" charset="0"/>
                  <a:ea typeface="ＭＳ Ｐゴシック" charset="0"/>
                  <a:cs typeface="ＭＳ Ｐゴシック" charset="0"/>
                  <a:sym typeface="Helvetica" charset="0"/>
                </a:rPr>
                <a:t>New Separate</a:t>
              </a:r>
            </a:p>
          </p:txBody>
        </p:sp>
        <p:pic>
          <p:nvPicPr>
            <p:cNvPr id="121886" name="Picture 51"/>
            <p:cNvPicPr>
              <a:picLocks noChangeAspect="1" noChangeArrowheads="1"/>
            </p:cNvPicPr>
            <p:nvPr/>
          </p:nvPicPr>
          <p:blipFill>
            <a:blip r:embed="rId3">
              <a:extLst>
                <a:ext uri="{28A0092B-C50C-407E-A947-70E740481C1C}">
                  <a14:useLocalDpi xmlns:a14="http://schemas.microsoft.com/office/drawing/2010/main" val="0"/>
                </a:ext>
              </a:extLst>
            </a:blip>
            <a:srcRect l="28230" t="74527" r="53227" b="11084"/>
            <a:stretch>
              <a:fillRect/>
            </a:stretch>
          </p:blipFill>
          <p:spPr bwMode="auto">
            <a:xfrm>
              <a:off x="1688" y="2744"/>
              <a:ext cx="1408" cy="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87" name="Rectangle 52"/>
            <p:cNvSpPr>
              <a:spLocks/>
            </p:cNvSpPr>
            <p:nvPr/>
          </p:nvSpPr>
          <p:spPr bwMode="auto">
            <a:xfrm>
              <a:off x="168" y="0"/>
              <a:ext cx="3112" cy="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400" b="1" dirty="0">
                  <a:latin typeface="Helvetica" charset="0"/>
                  <a:ea typeface="ＭＳ Ｐゴシック" charset="0"/>
                  <a:cs typeface="ＭＳ Ｐゴシック" charset="0"/>
                  <a:sym typeface="Helvetica" charset="0"/>
                </a:rPr>
                <a:t>Model Prediction</a:t>
              </a:r>
            </a:p>
          </p:txBody>
        </p:sp>
      </p:grpSp>
      <p:grpSp>
        <p:nvGrpSpPr>
          <p:cNvPr id="121865" name="Group 66"/>
          <p:cNvGrpSpPr>
            <a:grpSpLocks/>
          </p:cNvGrpSpPr>
          <p:nvPr/>
        </p:nvGrpSpPr>
        <p:grpSpPr bwMode="auto">
          <a:xfrm>
            <a:off x="1115018" y="4994717"/>
            <a:ext cx="6840141" cy="1260202"/>
            <a:chOff x="0" y="0"/>
            <a:chExt cx="6128" cy="1128"/>
          </a:xfrm>
        </p:grpSpPr>
        <p:grpSp>
          <p:nvGrpSpPr>
            <p:cNvPr id="121868" name="Group 58"/>
            <p:cNvGrpSpPr>
              <a:grpSpLocks/>
            </p:cNvGrpSpPr>
            <p:nvPr/>
          </p:nvGrpSpPr>
          <p:grpSpPr bwMode="auto">
            <a:xfrm>
              <a:off x="1713" y="141"/>
              <a:ext cx="4415" cy="283"/>
              <a:chOff x="0" y="0"/>
              <a:chExt cx="4414" cy="283"/>
            </a:xfrm>
          </p:grpSpPr>
          <p:pic>
            <p:nvPicPr>
              <p:cNvPr id="121876"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7"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8"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0" y="0"/>
                <a:ext cx="994"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9" name="Picture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1"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21869" name="Group 63"/>
            <p:cNvGrpSpPr>
              <a:grpSpLocks/>
            </p:cNvGrpSpPr>
            <p:nvPr/>
          </p:nvGrpSpPr>
          <p:grpSpPr bwMode="auto">
            <a:xfrm>
              <a:off x="1713" y="760"/>
              <a:ext cx="4415" cy="284"/>
              <a:chOff x="0" y="0"/>
              <a:chExt cx="4414" cy="283"/>
            </a:xfrm>
          </p:grpSpPr>
          <p:pic>
            <p:nvPicPr>
              <p:cNvPr id="121872"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3" name="Picture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4"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0" y="0"/>
                <a:ext cx="994"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5" name="Picture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1"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21870" name="Rectangle 64"/>
            <p:cNvSpPr>
              <a:spLocks/>
            </p:cNvSpPr>
            <p:nvPr/>
          </p:nvSpPr>
          <p:spPr bwMode="auto">
            <a:xfrm>
              <a:off x="0" y="0"/>
              <a:ext cx="1714" cy="4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3000" dirty="0">
                  <a:solidFill>
                    <a:srgbClr val="0077AE"/>
                  </a:solidFill>
                  <a:ea typeface="ＭＳ Ｐゴシック" charset="0"/>
                  <a:cs typeface="ＭＳ Ｐゴシック" charset="0"/>
                </a:rPr>
                <a:t>Unitized</a:t>
              </a:r>
            </a:p>
          </p:txBody>
        </p:sp>
        <p:sp>
          <p:nvSpPr>
            <p:cNvPr id="121871" name="Rectangle 65"/>
            <p:cNvSpPr>
              <a:spLocks/>
            </p:cNvSpPr>
            <p:nvPr/>
          </p:nvSpPr>
          <p:spPr bwMode="auto">
            <a:xfrm>
              <a:off x="0" y="672"/>
              <a:ext cx="1714"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3000" dirty="0">
                  <a:solidFill>
                    <a:srgbClr val="B200CB"/>
                  </a:solidFill>
                  <a:ea typeface="ＭＳ Ｐゴシック" charset="0"/>
                  <a:cs typeface="ＭＳ Ｐゴシック" charset="0"/>
                </a:rPr>
                <a:t>Separate</a:t>
              </a:r>
            </a:p>
          </p:txBody>
        </p:sp>
      </p:grpSp>
      <p:sp>
        <p:nvSpPr>
          <p:cNvPr id="121867" name="Rectangle 68"/>
          <p:cNvSpPr>
            <a:spLocks/>
          </p:cNvSpPr>
          <p:nvPr/>
        </p:nvSpPr>
        <p:spPr bwMode="auto">
          <a:xfrm>
            <a:off x="5927080" y="6540996"/>
            <a:ext cx="3125391"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7" tIns="35717" rIns="35717" bIns="35717" anchor="ctr"/>
          <a:lstStyle/>
          <a:p>
            <a:pPr algn="r"/>
            <a:r>
              <a:rPr lang="en-US" sz="1400">
                <a:ea typeface="ＭＳ Ｐゴシック" charset="0"/>
                <a:cs typeface="ＭＳ Ｐゴシック" charset="0"/>
              </a:rPr>
              <a:t>Austerweil &amp; Griffiths (2010; 2013)</a:t>
            </a:r>
          </a:p>
        </p:txBody>
      </p:sp>
      <p:sp>
        <p:nvSpPr>
          <p:cNvPr id="70"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400" b="1" dirty="0">
                <a:latin typeface="Helvetica"/>
                <a:ea typeface="ＭＳ Ｐゴシック" charset="0"/>
                <a:cs typeface="Helvetica"/>
              </a:rPr>
              <a:t>Learning transformation-invariant features</a:t>
            </a:r>
          </a:p>
        </p:txBody>
      </p:sp>
    </p:spTree>
    <p:extLst>
      <p:ext uri="{BB962C8B-B14F-4D97-AF65-F5344CB8AC3E}">
        <p14:creationId xmlns:p14="http://schemas.microsoft.com/office/powerpoint/2010/main" val="7771906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40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39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398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4021"/>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8400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8398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8399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84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 name="Should all transformations be included? (More invariance the better?)"/>
          <p:cNvSpPr txBox="1"/>
          <p:nvPr/>
        </p:nvSpPr>
        <p:spPr>
          <a:xfrm>
            <a:off x="391319" y="540989"/>
            <a:ext cx="8349259" cy="400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defTabSz="584200">
              <a:defRPr sz="3200">
                <a:latin typeface="+mn-lt"/>
                <a:ea typeface="+mn-ea"/>
                <a:cs typeface="+mn-cs"/>
                <a:sym typeface="Gill Sans"/>
              </a:defRPr>
            </a:lvl1pPr>
          </a:lstStyle>
          <a:p>
            <a:r>
              <a:rPr sz="2250"/>
              <a:t>Should all transformations be included? (More invariance the better?)</a:t>
            </a:r>
          </a:p>
        </p:txBody>
      </p:sp>
      <p:grpSp>
        <p:nvGrpSpPr>
          <p:cNvPr id="1807" name="Group"/>
          <p:cNvGrpSpPr/>
          <p:nvPr/>
        </p:nvGrpSpPr>
        <p:grpSpPr>
          <a:xfrm>
            <a:off x="1060049" y="1845226"/>
            <a:ext cx="1249521" cy="465612"/>
            <a:chOff x="0" y="0"/>
            <a:chExt cx="1777095" cy="662203"/>
          </a:xfrm>
        </p:grpSpPr>
        <p:sp>
          <p:nvSpPr>
            <p:cNvPr id="1805" name="Square"/>
            <p:cNvSpPr/>
            <p:nvPr/>
          </p:nvSpPr>
          <p:spPr>
            <a:xfrm>
              <a:off x="0" y="97617"/>
              <a:ext cx="469529" cy="466975"/>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06" name="Square"/>
            <p:cNvSpPr/>
            <p:nvPr/>
          </p:nvSpPr>
          <p:spPr>
            <a:xfrm rot="18909380">
              <a:off x="1211868" y="96976"/>
              <a:ext cx="468251" cy="468251"/>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08" name="Square or diamond? (Mach, 1914)"/>
          <p:cNvSpPr txBox="1"/>
          <p:nvPr/>
        </p:nvSpPr>
        <p:spPr>
          <a:xfrm>
            <a:off x="2464594" y="1714500"/>
            <a:ext cx="2312789" cy="9018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p>
            <a:pPr defTabSz="410751">
              <a:spcBef>
                <a:spcPts val="1617"/>
              </a:spcBef>
              <a:defRPr sz="3000">
                <a:latin typeface="+mn-lt"/>
                <a:ea typeface="+mn-ea"/>
                <a:cs typeface="+mn-cs"/>
                <a:sym typeface="Gill Sans"/>
              </a:defRPr>
            </a:pPr>
            <a:r>
              <a:rPr sz="2109"/>
              <a:t>Square or diamond? </a:t>
            </a:r>
            <a:r>
              <a:rPr sz="1687"/>
              <a:t>(Mach, 1914)</a:t>
            </a:r>
          </a:p>
        </p:txBody>
      </p:sp>
      <p:sp>
        <p:nvSpPr>
          <p:cNvPr id="1809" name="Hypothesis: people infer which transformations a feature undergoes."/>
          <p:cNvSpPr txBox="1"/>
          <p:nvPr/>
        </p:nvSpPr>
        <p:spPr>
          <a:xfrm>
            <a:off x="5366742" y="1453827"/>
            <a:ext cx="3589734" cy="10928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defTabSz="584200">
              <a:defRPr sz="3200">
                <a:latin typeface="+mn-lt"/>
                <a:ea typeface="+mn-ea"/>
                <a:cs typeface="+mn-cs"/>
                <a:sym typeface="Gill Sans"/>
              </a:defRPr>
            </a:lvl1pPr>
          </a:lstStyle>
          <a:p>
            <a:r>
              <a:rPr sz="2250"/>
              <a:t>Hypothesis: people infer which transformations a feature undergoes.</a:t>
            </a:r>
          </a:p>
        </p:txBody>
      </p:sp>
      <p:sp>
        <p:nvSpPr>
          <p:cNvPr id="1810"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grpSp>
        <p:nvGrpSpPr>
          <p:cNvPr id="1816" name="Group"/>
          <p:cNvGrpSpPr/>
          <p:nvPr/>
        </p:nvGrpSpPr>
        <p:grpSpPr>
          <a:xfrm>
            <a:off x="-155653" y="3902600"/>
            <a:ext cx="3986309" cy="726365"/>
            <a:chOff x="0" y="0"/>
            <a:chExt cx="5669415" cy="1033052"/>
          </a:xfrm>
        </p:grpSpPr>
        <p:sp>
          <p:nvSpPr>
            <p:cNvPr id="1811" name="Rotation"/>
            <p:cNvSpPr txBox="1"/>
            <p:nvPr/>
          </p:nvSpPr>
          <p:spPr>
            <a:xfrm>
              <a:off x="0" y="0"/>
              <a:ext cx="2616200" cy="952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r" defTabSz="584200">
                <a:defRPr sz="3600">
                  <a:solidFill>
                    <a:srgbClr val="0061FF"/>
                  </a:solidFill>
                  <a:latin typeface="+mn-lt"/>
                  <a:ea typeface="+mn-ea"/>
                  <a:cs typeface="+mn-cs"/>
                  <a:sym typeface="Gill Sans"/>
                </a:defRPr>
              </a:lvl1pPr>
            </a:lstStyle>
            <a:p>
              <a:r>
                <a:rPr sz="2531"/>
                <a:t>Rotation</a:t>
              </a:r>
            </a:p>
          </p:txBody>
        </p:sp>
        <p:grpSp>
          <p:nvGrpSpPr>
            <p:cNvPr id="1815" name="Group"/>
            <p:cNvGrpSpPr/>
            <p:nvPr/>
          </p:nvGrpSpPr>
          <p:grpSpPr>
            <a:xfrm>
              <a:off x="2722795" y="37585"/>
              <a:ext cx="2946621" cy="995468"/>
              <a:chOff x="0" y="0"/>
              <a:chExt cx="2946619" cy="995467"/>
            </a:xfrm>
          </p:grpSpPr>
          <p:sp>
            <p:nvSpPr>
              <p:cNvPr id="1812" name="Rectangle"/>
              <p:cNvSpPr/>
              <p:nvPr/>
            </p:nvSpPr>
            <p:spPr>
              <a:xfrm>
                <a:off x="0" y="133731"/>
                <a:ext cx="730307" cy="72800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13" name="Square"/>
              <p:cNvSpPr/>
              <p:nvPr/>
            </p:nvSpPr>
            <p:spPr>
              <a:xfrm rot="20702699">
                <a:off x="977399" y="133653"/>
                <a:ext cx="730152" cy="728158"/>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14" name="Square"/>
              <p:cNvSpPr/>
              <p:nvPr/>
            </p:nvSpPr>
            <p:spPr>
              <a:xfrm rot="19804680">
                <a:off x="2083810" y="133444"/>
                <a:ext cx="729730" cy="72858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sp>
        <p:nvSpPr>
          <p:cNvPr id="1817" name="Training Set"/>
          <p:cNvSpPr txBox="1"/>
          <p:nvPr/>
        </p:nvSpPr>
        <p:spPr>
          <a:xfrm>
            <a:off x="1795256" y="3277059"/>
            <a:ext cx="1932571" cy="4719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lgn="ctr" defTabSz="584200">
              <a:defRPr sz="4200" u="sng">
                <a:latin typeface="+mn-lt"/>
                <a:ea typeface="+mn-ea"/>
                <a:cs typeface="+mn-cs"/>
                <a:sym typeface="Gill Sans"/>
              </a:defRPr>
            </a:lvl1pPr>
          </a:lstStyle>
          <a:p>
            <a:r>
              <a:rPr sz="2953"/>
              <a:t>Training Set</a:t>
            </a:r>
          </a:p>
        </p:txBody>
      </p:sp>
      <p:sp>
        <p:nvSpPr>
          <p:cNvPr id="1818" name="Test Set"/>
          <p:cNvSpPr txBox="1"/>
          <p:nvPr/>
        </p:nvSpPr>
        <p:spPr>
          <a:xfrm>
            <a:off x="5965031" y="3255107"/>
            <a:ext cx="1535906" cy="5085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algn="ctr" defTabSz="584200">
              <a:defRPr sz="4200" u="sng">
                <a:latin typeface="+mn-lt"/>
                <a:ea typeface="+mn-ea"/>
                <a:cs typeface="+mn-cs"/>
                <a:sym typeface="Gill Sans"/>
              </a:defRPr>
            </a:lvl1pPr>
          </a:lstStyle>
          <a:p>
            <a:r>
              <a:rPr sz="2953"/>
              <a:t>Test Set</a:t>
            </a:r>
          </a:p>
        </p:txBody>
      </p:sp>
      <p:grpSp>
        <p:nvGrpSpPr>
          <p:cNvPr id="1825" name="Group"/>
          <p:cNvGrpSpPr/>
          <p:nvPr/>
        </p:nvGrpSpPr>
        <p:grpSpPr>
          <a:xfrm>
            <a:off x="401425" y="4846498"/>
            <a:ext cx="3273682" cy="1377900"/>
            <a:chOff x="0" y="-16002"/>
            <a:chExt cx="4655901" cy="1959679"/>
          </a:xfrm>
        </p:grpSpPr>
        <p:sp>
          <p:nvSpPr>
            <p:cNvPr id="1819" name="Size"/>
            <p:cNvSpPr txBox="1"/>
            <p:nvPr/>
          </p:nvSpPr>
          <p:spPr>
            <a:xfrm>
              <a:off x="0" y="914976"/>
              <a:ext cx="1562100" cy="1028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r" defTabSz="584200">
                <a:defRPr sz="3600">
                  <a:solidFill>
                    <a:srgbClr val="E32400"/>
                  </a:solidFill>
                  <a:latin typeface="+mn-lt"/>
                  <a:ea typeface="+mn-ea"/>
                  <a:cs typeface="+mn-cs"/>
                  <a:sym typeface="Gill Sans"/>
                </a:defRPr>
              </a:lvl1pPr>
            </a:lstStyle>
            <a:p>
              <a:r>
                <a:rPr sz="2531"/>
                <a:t>Size</a:t>
              </a:r>
            </a:p>
          </p:txBody>
        </p:sp>
        <p:grpSp>
          <p:nvGrpSpPr>
            <p:cNvPr id="1823" name="Group"/>
            <p:cNvGrpSpPr/>
            <p:nvPr/>
          </p:nvGrpSpPr>
          <p:grpSpPr>
            <a:xfrm>
              <a:off x="1927991" y="988900"/>
              <a:ext cx="2727910" cy="927101"/>
              <a:chOff x="0" y="0"/>
              <a:chExt cx="2727908" cy="927100"/>
            </a:xfrm>
          </p:grpSpPr>
          <p:sp>
            <p:nvSpPr>
              <p:cNvPr id="1820" name="Rectangle"/>
              <p:cNvSpPr/>
              <p:nvPr/>
            </p:nvSpPr>
            <p:spPr>
              <a:xfrm>
                <a:off x="0" y="113447"/>
                <a:ext cx="730307" cy="72800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1" name="Rectangle"/>
              <p:cNvSpPr/>
              <p:nvPr/>
            </p:nvSpPr>
            <p:spPr>
              <a:xfrm>
                <a:off x="982624" y="0"/>
                <a:ext cx="939801" cy="927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2" name="Square"/>
              <p:cNvSpPr/>
              <p:nvPr/>
            </p:nvSpPr>
            <p:spPr>
              <a:xfrm>
                <a:off x="2169439" y="284743"/>
                <a:ext cx="558470" cy="556712"/>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24" name="or"/>
            <p:cNvSpPr txBox="1"/>
            <p:nvPr/>
          </p:nvSpPr>
          <p:spPr>
            <a:xfrm>
              <a:off x="3037292" y="-16002"/>
              <a:ext cx="526070" cy="69240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4000">
                  <a:latin typeface="+mn-lt"/>
                  <a:ea typeface="+mn-ea"/>
                  <a:cs typeface="+mn-cs"/>
                  <a:sym typeface="Gill Sans"/>
                </a:defRPr>
              </a:lvl1pPr>
            </a:lstStyle>
            <a:p>
              <a:r>
                <a:rPr sz="2812"/>
                <a:t>or</a:t>
              </a:r>
            </a:p>
          </p:txBody>
        </p:sp>
      </p:grpSp>
      <p:grpSp>
        <p:nvGrpSpPr>
          <p:cNvPr id="1830" name="Group"/>
          <p:cNvGrpSpPr/>
          <p:nvPr/>
        </p:nvGrpSpPr>
        <p:grpSpPr>
          <a:xfrm>
            <a:off x="4938117" y="4187063"/>
            <a:ext cx="3589734" cy="1813687"/>
            <a:chOff x="0" y="0"/>
            <a:chExt cx="5105400" cy="2579465"/>
          </a:xfrm>
        </p:grpSpPr>
        <p:sp>
          <p:nvSpPr>
            <p:cNvPr id="1826" name="Square"/>
            <p:cNvSpPr/>
            <p:nvPr/>
          </p:nvSpPr>
          <p:spPr>
            <a:xfrm rot="18905424">
              <a:off x="805125" y="353062"/>
              <a:ext cx="729155" cy="729155"/>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7" name="Square"/>
            <p:cNvSpPr/>
            <p:nvPr/>
          </p:nvSpPr>
          <p:spPr>
            <a:xfrm>
              <a:off x="3072212" y="0"/>
              <a:ext cx="1409701" cy="14097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8" name="New Rotation"/>
            <p:cNvSpPr txBox="1"/>
            <p:nvPr/>
          </p:nvSpPr>
          <p:spPr>
            <a:xfrm>
              <a:off x="0" y="1347565"/>
              <a:ext cx="2616200" cy="1219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ctr" defTabSz="584200">
                <a:defRPr sz="3600">
                  <a:solidFill>
                    <a:srgbClr val="0061FF"/>
                  </a:solidFill>
                  <a:latin typeface="+mn-lt"/>
                  <a:ea typeface="+mn-ea"/>
                  <a:cs typeface="+mn-cs"/>
                  <a:sym typeface="Gill Sans"/>
                </a:defRPr>
              </a:lvl1pPr>
            </a:lstStyle>
            <a:p>
              <a:r>
                <a:rPr sz="2531"/>
                <a:t>New Rotation</a:t>
              </a:r>
            </a:p>
          </p:txBody>
        </p:sp>
        <p:sp>
          <p:nvSpPr>
            <p:cNvPr id="1829" name="New…"/>
            <p:cNvSpPr txBox="1"/>
            <p:nvPr/>
          </p:nvSpPr>
          <p:spPr>
            <a:xfrm>
              <a:off x="2489200" y="1360265"/>
              <a:ext cx="2616200" cy="1219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p>
              <a:pPr algn="ctr" defTabSz="410751">
                <a:defRPr sz="3600">
                  <a:solidFill>
                    <a:srgbClr val="E32400"/>
                  </a:solidFill>
                  <a:latin typeface="+mn-lt"/>
                  <a:ea typeface="+mn-ea"/>
                  <a:cs typeface="+mn-cs"/>
                  <a:sym typeface="Gill Sans"/>
                </a:defRPr>
              </a:pPr>
              <a:r>
                <a:rPr sz="2531"/>
                <a:t>New </a:t>
              </a:r>
            </a:p>
            <a:p>
              <a:pPr algn="ctr" defTabSz="410751">
                <a:defRPr sz="3600">
                  <a:solidFill>
                    <a:srgbClr val="E32400"/>
                  </a:solidFill>
                  <a:latin typeface="+mn-lt"/>
                  <a:ea typeface="+mn-ea"/>
                  <a:cs typeface="+mn-cs"/>
                  <a:sym typeface="Gill Sans"/>
                </a:defRPr>
              </a:pPr>
              <a:r>
                <a:rPr sz="2531"/>
                <a:t>Size</a:t>
              </a:r>
            </a:p>
          </p:txBody>
        </p:sp>
      </p:grpSp>
      <p:sp>
        <p:nvSpPr>
          <p:cNvPr id="1831"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sp>
        <p:nvSpPr>
          <p:cNvPr id="1832" name="5"/>
          <p:cNvSpPr txBox="1"/>
          <p:nvPr/>
        </p:nvSpPr>
        <p:spPr>
          <a:xfrm>
            <a:off x="1057673" y="960973"/>
            <a:ext cx="328215"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5</a:t>
            </a:r>
          </a:p>
        </p:txBody>
      </p:sp>
      <p:sp>
        <p:nvSpPr>
          <p:cNvPr id="1833" name="5"/>
          <p:cNvSpPr txBox="1"/>
          <p:nvPr/>
        </p:nvSpPr>
        <p:spPr>
          <a:xfrm rot="16200000">
            <a:off x="1912045" y="965438"/>
            <a:ext cx="328215"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5</a:t>
            </a:r>
          </a:p>
        </p:txBody>
      </p:sp>
      <p:sp>
        <p:nvSpPr>
          <p:cNvPr id="1834" name="d"/>
          <p:cNvSpPr txBox="1"/>
          <p:nvPr/>
        </p:nvSpPr>
        <p:spPr>
          <a:xfrm>
            <a:off x="2746627" y="965438"/>
            <a:ext cx="337833"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d</a:t>
            </a:r>
          </a:p>
        </p:txBody>
      </p:sp>
      <p:sp>
        <p:nvSpPr>
          <p:cNvPr id="1835" name="d"/>
          <p:cNvSpPr txBox="1"/>
          <p:nvPr/>
        </p:nvSpPr>
        <p:spPr>
          <a:xfrm rot="16200000">
            <a:off x="3588634" y="1010086"/>
            <a:ext cx="337833"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d</a:t>
            </a:r>
          </a:p>
        </p:txBody>
      </p:sp>
    </p:spTree>
    <p:extLst>
      <p:ext uri="{BB962C8B-B14F-4D97-AF65-F5344CB8AC3E}">
        <p14:creationId xmlns:p14="http://schemas.microsoft.com/office/powerpoint/2010/main" val="45651499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8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18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183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18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6" grpId="0" animBg="1" advAuto="0"/>
      <p:bldP spid="1817" grpId="0" animBg="1" advAuto="0"/>
      <p:bldP spid="1818" grpId="0" animBg="1" advAuto="0"/>
      <p:bldP spid="1825" grpId="0" animBg="1" advAuto="0"/>
      <p:bldP spid="1830" grpId="0" animBg="1" advAuto="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 name="Rotation"/>
          <p:cNvSpPr txBox="1"/>
          <p:nvPr/>
        </p:nvSpPr>
        <p:spPr>
          <a:xfrm>
            <a:off x="2800073" y="1179045"/>
            <a:ext cx="1169790" cy="410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3200">
                <a:solidFill>
                  <a:srgbClr val="0061FF"/>
                </a:solidFill>
                <a:latin typeface="+mn-lt"/>
                <a:ea typeface="+mn-ea"/>
                <a:cs typeface="+mn-cs"/>
                <a:sym typeface="Gill Sans"/>
              </a:defRPr>
            </a:lvl1pPr>
          </a:lstStyle>
          <a:p>
            <a:r>
              <a:rPr sz="2250"/>
              <a:t>Rotation</a:t>
            </a:r>
          </a:p>
        </p:txBody>
      </p:sp>
      <p:sp>
        <p:nvSpPr>
          <p:cNvPr id="1838" name="Size"/>
          <p:cNvSpPr txBox="1"/>
          <p:nvPr/>
        </p:nvSpPr>
        <p:spPr>
          <a:xfrm>
            <a:off x="3137781" y="2037925"/>
            <a:ext cx="576559" cy="407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3200">
                <a:solidFill>
                  <a:srgbClr val="E32400"/>
                </a:solidFill>
                <a:latin typeface="+mn-lt"/>
                <a:ea typeface="+mn-ea"/>
                <a:cs typeface="+mn-cs"/>
                <a:sym typeface="Gill Sans"/>
              </a:defRPr>
            </a:lvl1pPr>
          </a:lstStyle>
          <a:p>
            <a:r>
              <a:rPr sz="2250"/>
              <a:t>Size</a:t>
            </a:r>
          </a:p>
        </p:txBody>
      </p:sp>
      <p:grpSp>
        <p:nvGrpSpPr>
          <p:cNvPr id="1842" name="Group"/>
          <p:cNvGrpSpPr/>
          <p:nvPr/>
        </p:nvGrpSpPr>
        <p:grpSpPr>
          <a:xfrm>
            <a:off x="4072781" y="1184258"/>
            <a:ext cx="1480539" cy="499765"/>
            <a:chOff x="0" y="0"/>
            <a:chExt cx="2105655" cy="710775"/>
          </a:xfrm>
        </p:grpSpPr>
        <p:sp>
          <p:nvSpPr>
            <p:cNvPr id="1839" name="Square"/>
            <p:cNvSpPr/>
            <p:nvPr/>
          </p:nvSpPr>
          <p:spPr>
            <a:xfrm>
              <a:off x="0" y="95601"/>
              <a:ext cx="521946" cy="51957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0" name="Square"/>
            <p:cNvSpPr/>
            <p:nvPr/>
          </p:nvSpPr>
          <p:spPr>
            <a:xfrm rot="20703896">
              <a:off x="698564" y="95520"/>
              <a:ext cx="521786" cy="519732"/>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1" name="Square"/>
            <p:cNvSpPr/>
            <p:nvPr/>
          </p:nvSpPr>
          <p:spPr>
            <a:xfrm rot="19806755">
              <a:off x="1489373" y="95304"/>
              <a:ext cx="521352" cy="52016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846" name="Group"/>
          <p:cNvGrpSpPr/>
          <p:nvPr/>
        </p:nvGrpSpPr>
        <p:grpSpPr>
          <a:xfrm>
            <a:off x="4071518" y="1999223"/>
            <a:ext cx="1370825" cy="465235"/>
            <a:chOff x="0" y="0"/>
            <a:chExt cx="1949617" cy="661667"/>
          </a:xfrm>
        </p:grpSpPr>
        <p:sp>
          <p:nvSpPr>
            <p:cNvPr id="1843" name="Square"/>
            <p:cNvSpPr/>
            <p:nvPr/>
          </p:nvSpPr>
          <p:spPr>
            <a:xfrm>
              <a:off x="0" y="80966"/>
              <a:ext cx="521945" cy="51957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4" name="Rectangle"/>
            <p:cNvSpPr/>
            <p:nvPr/>
          </p:nvSpPr>
          <p:spPr>
            <a:xfrm>
              <a:off x="702275" y="0"/>
              <a:ext cx="671669" cy="661668"/>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5" name="Square"/>
            <p:cNvSpPr/>
            <p:nvPr/>
          </p:nvSpPr>
          <p:spPr>
            <a:xfrm>
              <a:off x="1550483" y="203220"/>
              <a:ext cx="399135" cy="397324"/>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47"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sp>
        <p:nvSpPr>
          <p:cNvPr id="1848" name="Training Set"/>
          <p:cNvSpPr txBox="1"/>
          <p:nvPr/>
        </p:nvSpPr>
        <p:spPr>
          <a:xfrm>
            <a:off x="3795506" y="651731"/>
            <a:ext cx="1932571" cy="4719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lgn="ctr" defTabSz="584200">
              <a:defRPr sz="3600" u="sng">
                <a:latin typeface="+mn-lt"/>
                <a:ea typeface="+mn-ea"/>
                <a:cs typeface="+mn-cs"/>
                <a:sym typeface="Gill Sans"/>
              </a:defRPr>
            </a:lvl1pPr>
          </a:lstStyle>
          <a:p>
            <a:r>
              <a:rPr sz="2531"/>
              <a:t>Training Set</a:t>
            </a:r>
          </a:p>
        </p:txBody>
      </p:sp>
      <p:sp>
        <p:nvSpPr>
          <p:cNvPr id="1849"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grpSp>
        <p:nvGrpSpPr>
          <p:cNvPr id="1862" name="Group"/>
          <p:cNvGrpSpPr/>
          <p:nvPr/>
        </p:nvGrpSpPr>
        <p:grpSpPr>
          <a:xfrm>
            <a:off x="1357312" y="3412798"/>
            <a:ext cx="1893094" cy="1516390"/>
            <a:chOff x="0" y="0"/>
            <a:chExt cx="2692400" cy="2156642"/>
          </a:xfrm>
        </p:grpSpPr>
        <p:grpSp>
          <p:nvGrpSpPr>
            <p:cNvPr id="1855" name="Group"/>
            <p:cNvGrpSpPr/>
            <p:nvPr/>
          </p:nvGrpSpPr>
          <p:grpSpPr>
            <a:xfrm>
              <a:off x="0" y="0"/>
              <a:ext cx="508000" cy="2156643"/>
              <a:chOff x="0" y="0"/>
              <a:chExt cx="508000" cy="2156642"/>
            </a:xfrm>
          </p:grpSpPr>
          <p:sp>
            <p:nvSpPr>
              <p:cNvPr id="1850" name="Rectangle"/>
              <p:cNvSpPr/>
              <p:nvPr/>
            </p:nvSpPr>
            <p:spPr>
              <a:xfrm>
                <a:off x="0" y="238942"/>
                <a:ext cx="508000" cy="19177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4000">
                    <a:solidFill>
                      <a:srgbClr val="0056D6"/>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854" name="Group"/>
              <p:cNvGrpSpPr/>
              <p:nvPr/>
            </p:nvGrpSpPr>
            <p:grpSpPr>
              <a:xfrm>
                <a:off x="101703" y="0"/>
                <a:ext cx="254001" cy="431801"/>
                <a:chOff x="0" y="0"/>
                <a:chExt cx="254000" cy="431800"/>
              </a:xfrm>
            </p:grpSpPr>
            <p:sp>
              <p:nvSpPr>
                <p:cNvPr id="1851" name="Line"/>
                <p:cNvSpPr/>
                <p:nvPr/>
              </p:nvSpPr>
              <p:spPr>
                <a:xfrm flipH="1">
                  <a:off x="126896" y="0"/>
                  <a:ext cx="1" cy="43180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2" name="Line"/>
                <p:cNvSpPr/>
                <p:nvPr/>
              </p:nvSpPr>
              <p:spPr>
                <a:xfrm flipH="1">
                  <a:off x="0" y="412415"/>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3" name="Line"/>
                <p:cNvSpPr/>
                <p:nvPr/>
              </p:nvSpPr>
              <p:spPr>
                <a:xfrm flipH="1">
                  <a:off x="0" y="15838"/>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861" name="Group"/>
            <p:cNvGrpSpPr/>
            <p:nvPr/>
          </p:nvGrpSpPr>
          <p:grpSpPr>
            <a:xfrm>
              <a:off x="2184400" y="1206662"/>
              <a:ext cx="508000" cy="949981"/>
              <a:chOff x="0" y="0"/>
              <a:chExt cx="508000" cy="949980"/>
            </a:xfrm>
          </p:grpSpPr>
          <p:sp>
            <p:nvSpPr>
              <p:cNvPr id="1856" name="Rectangle"/>
              <p:cNvSpPr/>
              <p:nvPr/>
            </p:nvSpPr>
            <p:spPr>
              <a:xfrm>
                <a:off x="0" y="213380"/>
                <a:ext cx="508000" cy="7366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60" name="Group"/>
              <p:cNvGrpSpPr/>
              <p:nvPr/>
            </p:nvGrpSpPr>
            <p:grpSpPr>
              <a:xfrm>
                <a:off x="127103" y="0"/>
                <a:ext cx="254001" cy="462694"/>
                <a:chOff x="0" y="0"/>
                <a:chExt cx="254000" cy="462693"/>
              </a:xfrm>
            </p:grpSpPr>
            <p:sp>
              <p:nvSpPr>
                <p:cNvPr id="1857" name="Line"/>
                <p:cNvSpPr/>
                <p:nvPr/>
              </p:nvSpPr>
              <p:spPr>
                <a:xfrm flipH="1">
                  <a:off x="126896" y="5072"/>
                  <a:ext cx="1" cy="45641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8" name="Line"/>
                <p:cNvSpPr/>
                <p:nvPr/>
              </p:nvSpPr>
              <p:spPr>
                <a:xfrm flipH="1">
                  <a:off x="0" y="462693"/>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9" name="Line"/>
                <p:cNvSpPr/>
                <p:nvPr/>
              </p:nvSpPr>
              <p:spPr>
                <a:xfrm flipH="1">
                  <a:off x="0" y="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grpSp>
        <p:nvGrpSpPr>
          <p:cNvPr id="1875" name="Group"/>
          <p:cNvGrpSpPr/>
          <p:nvPr/>
        </p:nvGrpSpPr>
        <p:grpSpPr>
          <a:xfrm>
            <a:off x="1803797" y="3325975"/>
            <a:ext cx="1893094" cy="1612143"/>
            <a:chOff x="0" y="0"/>
            <a:chExt cx="2692400" cy="2292823"/>
          </a:xfrm>
        </p:grpSpPr>
        <p:grpSp>
          <p:nvGrpSpPr>
            <p:cNvPr id="1868" name="Group"/>
            <p:cNvGrpSpPr/>
            <p:nvPr/>
          </p:nvGrpSpPr>
          <p:grpSpPr>
            <a:xfrm>
              <a:off x="0" y="1332841"/>
              <a:ext cx="508000" cy="947283"/>
              <a:chOff x="0" y="0"/>
              <a:chExt cx="508000" cy="947281"/>
            </a:xfrm>
          </p:grpSpPr>
          <p:sp>
            <p:nvSpPr>
              <p:cNvPr id="1863" name="Rectangle"/>
              <p:cNvSpPr/>
              <p:nvPr/>
            </p:nvSpPr>
            <p:spPr>
              <a:xfrm>
                <a:off x="0" y="172581"/>
                <a:ext cx="508000" cy="7747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67" name="Group"/>
              <p:cNvGrpSpPr/>
              <p:nvPr/>
            </p:nvGrpSpPr>
            <p:grpSpPr>
              <a:xfrm>
                <a:off x="127103" y="0"/>
                <a:ext cx="254001" cy="343553"/>
                <a:chOff x="0" y="0"/>
                <a:chExt cx="254000" cy="343552"/>
              </a:xfrm>
            </p:grpSpPr>
            <p:sp>
              <p:nvSpPr>
                <p:cNvPr id="1864" name="Line"/>
                <p:cNvSpPr/>
                <p:nvPr/>
              </p:nvSpPr>
              <p:spPr>
                <a:xfrm flipH="1">
                  <a:off x="126896" y="0"/>
                  <a:ext cx="1" cy="327033"/>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65" name="Line"/>
                <p:cNvSpPr/>
                <p:nvPr/>
              </p:nvSpPr>
              <p:spPr>
                <a:xfrm flipH="1">
                  <a:off x="0" y="343552"/>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66" name="Line"/>
                <p:cNvSpPr/>
                <p:nvPr/>
              </p:nvSpPr>
              <p:spPr>
                <a:xfrm flipH="1">
                  <a:off x="0" y="14416"/>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874" name="Group"/>
            <p:cNvGrpSpPr/>
            <p:nvPr/>
          </p:nvGrpSpPr>
          <p:grpSpPr>
            <a:xfrm>
              <a:off x="2184400" y="0"/>
              <a:ext cx="508000" cy="2292824"/>
              <a:chOff x="0" y="0"/>
              <a:chExt cx="508000" cy="2292823"/>
            </a:xfrm>
          </p:grpSpPr>
          <p:sp>
            <p:nvSpPr>
              <p:cNvPr id="1869" name="Rectangle"/>
              <p:cNvSpPr/>
              <p:nvPr/>
            </p:nvSpPr>
            <p:spPr>
              <a:xfrm>
                <a:off x="0" y="146523"/>
                <a:ext cx="508000" cy="21463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73" name="Group"/>
              <p:cNvGrpSpPr/>
              <p:nvPr/>
            </p:nvGrpSpPr>
            <p:grpSpPr>
              <a:xfrm>
                <a:off x="127000" y="0"/>
                <a:ext cx="254000" cy="279400"/>
                <a:chOff x="0" y="0"/>
                <a:chExt cx="254000" cy="279399"/>
              </a:xfrm>
            </p:grpSpPr>
            <p:sp>
              <p:nvSpPr>
                <p:cNvPr id="1870" name="Line"/>
                <p:cNvSpPr/>
                <p:nvPr/>
              </p:nvSpPr>
              <p:spPr>
                <a:xfrm flipH="1">
                  <a:off x="126896" y="0"/>
                  <a:ext cx="1" cy="278209"/>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1" name="Line"/>
                <p:cNvSpPr/>
                <p:nvPr/>
              </p:nvSpPr>
              <p:spPr>
                <a:xfrm flipH="1">
                  <a:off x="0" y="279399"/>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2" name="Line"/>
                <p:cNvSpPr/>
                <p:nvPr/>
              </p:nvSpPr>
              <p:spPr>
                <a:xfrm flipH="1">
                  <a:off x="0" y="1286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grpSp>
        <p:nvGrpSpPr>
          <p:cNvPr id="1887" name="Group"/>
          <p:cNvGrpSpPr/>
          <p:nvPr/>
        </p:nvGrpSpPr>
        <p:grpSpPr>
          <a:xfrm>
            <a:off x="347412" y="2597376"/>
            <a:ext cx="3925445" cy="3062299"/>
            <a:chOff x="-5295" y="-1655"/>
            <a:chExt cx="5582854" cy="4355269"/>
          </a:xfrm>
        </p:grpSpPr>
        <p:sp>
          <p:nvSpPr>
            <p:cNvPr id="1876" name="Line"/>
            <p:cNvSpPr/>
            <p:nvPr/>
          </p:nvSpPr>
          <p:spPr>
            <a:xfrm flipH="1">
              <a:off x="1050007" y="673100"/>
              <a:ext cx="1"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nvGrpSpPr>
            <p:cNvPr id="1886" name="Group"/>
            <p:cNvGrpSpPr/>
            <p:nvPr/>
          </p:nvGrpSpPr>
          <p:grpSpPr>
            <a:xfrm>
              <a:off x="-5295" y="-1655"/>
              <a:ext cx="5582854" cy="4355269"/>
              <a:chOff x="-5294" y="-1655"/>
              <a:chExt cx="5582852" cy="4355269"/>
            </a:xfrm>
          </p:grpSpPr>
          <p:sp>
            <p:nvSpPr>
              <p:cNvPr id="1877" name="Line"/>
              <p:cNvSpPr/>
              <p:nvPr/>
            </p:nvSpPr>
            <p:spPr>
              <a:xfrm flipH="1">
                <a:off x="1037307"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8" name="0"/>
              <p:cNvSpPr txBox="1"/>
              <p:nvPr/>
            </p:nvSpPr>
            <p:spPr>
              <a:xfrm>
                <a:off x="625328" y="28623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0</a:t>
                </a:r>
              </a:p>
            </p:txBody>
          </p:sp>
          <p:sp>
            <p:nvSpPr>
              <p:cNvPr id="1879" name="2"/>
              <p:cNvSpPr txBox="1"/>
              <p:nvPr/>
            </p:nvSpPr>
            <p:spPr>
              <a:xfrm>
                <a:off x="621235" y="19225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2</a:t>
                </a:r>
              </a:p>
            </p:txBody>
          </p:sp>
          <p:sp>
            <p:nvSpPr>
              <p:cNvPr id="1880" name="4"/>
              <p:cNvSpPr txBox="1"/>
              <p:nvPr/>
            </p:nvSpPr>
            <p:spPr>
              <a:xfrm>
                <a:off x="621235" y="10589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4</a:t>
                </a:r>
              </a:p>
            </p:txBody>
          </p:sp>
          <p:sp>
            <p:nvSpPr>
              <p:cNvPr id="1881" name="6"/>
              <p:cNvSpPr txBox="1"/>
              <p:nvPr/>
            </p:nvSpPr>
            <p:spPr>
              <a:xfrm>
                <a:off x="621235" y="2080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6</a:t>
                </a:r>
              </a:p>
            </p:txBody>
          </p:sp>
          <p:sp>
            <p:nvSpPr>
              <p:cNvPr id="1882" name="Human Rating"/>
              <p:cNvSpPr txBox="1"/>
              <p:nvPr/>
            </p:nvSpPr>
            <p:spPr>
              <a:xfrm rot="16200000">
                <a:off x="-1606551" y="1721906"/>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Human Rating</a:t>
                </a:r>
              </a:p>
            </p:txBody>
          </p:sp>
          <p:sp>
            <p:nvSpPr>
              <p:cNvPr id="1883" name="New Rotation"/>
              <p:cNvSpPr txBox="1"/>
              <p:nvPr/>
            </p:nvSpPr>
            <p:spPr>
              <a:xfrm>
                <a:off x="1009650" y="3291786"/>
                <a:ext cx="2006599"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884" name="New…"/>
              <p:cNvSpPr txBox="1"/>
              <p:nvPr/>
            </p:nvSpPr>
            <p:spPr>
              <a:xfrm>
                <a:off x="3183607" y="3253686"/>
                <a:ext cx="2006601"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885" name="Human Experiment"/>
              <p:cNvSpPr txBox="1"/>
              <p:nvPr/>
            </p:nvSpPr>
            <p:spPr>
              <a:xfrm>
                <a:off x="637257" y="-1655"/>
                <a:ext cx="4940301"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Human Experiment</a:t>
                </a:r>
              </a:p>
            </p:txBody>
          </p:sp>
        </p:grpSp>
      </p:grpSp>
      <p:grpSp>
        <p:nvGrpSpPr>
          <p:cNvPr id="1890" name="Group"/>
          <p:cNvGrpSpPr/>
          <p:nvPr/>
        </p:nvGrpSpPr>
        <p:grpSpPr>
          <a:xfrm>
            <a:off x="5759648" y="3730952"/>
            <a:ext cx="1893094" cy="1196579"/>
            <a:chOff x="0" y="0"/>
            <a:chExt cx="2692400" cy="1701800"/>
          </a:xfrm>
        </p:grpSpPr>
        <p:sp>
          <p:nvSpPr>
            <p:cNvPr id="1888" name="Rectangle"/>
            <p:cNvSpPr/>
            <p:nvPr/>
          </p:nvSpPr>
          <p:spPr>
            <a:xfrm>
              <a:off x="0" y="0"/>
              <a:ext cx="508000" cy="1701800"/>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89" name="Rectangle"/>
            <p:cNvSpPr/>
            <p:nvPr/>
          </p:nvSpPr>
          <p:spPr>
            <a:xfrm>
              <a:off x="2184400" y="1396837"/>
              <a:ext cx="508000" cy="3048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893" name="Group"/>
          <p:cNvGrpSpPr/>
          <p:nvPr/>
        </p:nvGrpSpPr>
        <p:grpSpPr>
          <a:xfrm>
            <a:off x="6206133" y="3978508"/>
            <a:ext cx="1893094" cy="955477"/>
            <a:chOff x="0" y="0"/>
            <a:chExt cx="2692400" cy="1358900"/>
          </a:xfrm>
        </p:grpSpPr>
        <p:sp>
          <p:nvSpPr>
            <p:cNvPr id="1891" name="Rectangle"/>
            <p:cNvSpPr/>
            <p:nvPr/>
          </p:nvSpPr>
          <p:spPr>
            <a:xfrm>
              <a:off x="0" y="996477"/>
              <a:ext cx="508000" cy="3556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92" name="Rectangle"/>
            <p:cNvSpPr/>
            <p:nvPr/>
          </p:nvSpPr>
          <p:spPr>
            <a:xfrm>
              <a:off x="2184400" y="0"/>
              <a:ext cx="508000" cy="1358900"/>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00" name="Group"/>
          <p:cNvGrpSpPr/>
          <p:nvPr/>
        </p:nvGrpSpPr>
        <p:grpSpPr>
          <a:xfrm>
            <a:off x="5014761" y="2597376"/>
            <a:ext cx="3664895" cy="3062299"/>
            <a:chOff x="-5294" y="-1655"/>
            <a:chExt cx="5212294" cy="4355269"/>
          </a:xfrm>
        </p:grpSpPr>
        <p:sp>
          <p:nvSpPr>
            <p:cNvPr id="1894" name="Line"/>
            <p:cNvSpPr/>
            <p:nvPr/>
          </p:nvSpPr>
          <p:spPr>
            <a:xfrm flipH="1">
              <a:off x="673099" y="673100"/>
              <a:ext cx="2"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95" name="Line"/>
            <p:cNvSpPr/>
            <p:nvPr/>
          </p:nvSpPr>
          <p:spPr>
            <a:xfrm flipH="1">
              <a:off x="660400"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96" name="Model Activation"/>
            <p:cNvSpPr txBox="1"/>
            <p:nvPr/>
          </p:nvSpPr>
          <p:spPr>
            <a:xfrm rot="16200000">
              <a:off x="-1606551" y="1728257"/>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Model Activation</a:t>
              </a:r>
            </a:p>
          </p:txBody>
        </p:sp>
        <p:sp>
          <p:nvSpPr>
            <p:cNvPr id="1897" name="New Rotation"/>
            <p:cNvSpPr txBox="1"/>
            <p:nvPr/>
          </p:nvSpPr>
          <p:spPr>
            <a:xfrm>
              <a:off x="635000" y="32917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898" name="New…"/>
            <p:cNvSpPr txBox="1"/>
            <p:nvPr/>
          </p:nvSpPr>
          <p:spPr>
            <a:xfrm>
              <a:off x="2806700" y="32536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899" name="Model Prediction"/>
            <p:cNvSpPr txBox="1"/>
            <p:nvPr/>
          </p:nvSpPr>
          <p:spPr>
            <a:xfrm>
              <a:off x="266700" y="-1655"/>
              <a:ext cx="4940300"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Model Prediction</a:t>
              </a:r>
            </a:p>
          </p:txBody>
        </p:sp>
      </p:grpSp>
      <p:sp>
        <p:nvSpPr>
          <p:cNvPr id="1901" name="Square"/>
          <p:cNvSpPr/>
          <p:nvPr/>
        </p:nvSpPr>
        <p:spPr>
          <a:xfrm rot="18907815">
            <a:off x="1567679" y="587954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2" name="Square"/>
          <p:cNvSpPr/>
          <p:nvPr/>
        </p:nvSpPr>
        <p:spPr>
          <a:xfrm>
            <a:off x="2928938" y="569714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3" name="Square"/>
          <p:cNvSpPr/>
          <p:nvPr/>
        </p:nvSpPr>
        <p:spPr>
          <a:xfrm rot="18907815">
            <a:off x="5952156" y="588847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4" name="Square"/>
          <p:cNvSpPr/>
          <p:nvPr/>
        </p:nvSpPr>
        <p:spPr>
          <a:xfrm>
            <a:off x="7331274" y="570607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Tree>
    <p:extLst>
      <p:ext uri="{BB962C8B-B14F-4D97-AF65-F5344CB8AC3E}">
        <p14:creationId xmlns:p14="http://schemas.microsoft.com/office/powerpoint/2010/main" val="96147700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8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8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2" grpId="0" animBg="1" advAuto="0"/>
      <p:bldP spid="1875" grpId="0" animBg="1" advAuto="0"/>
      <p:bldP spid="1890" grpId="0" animBg="1" advAuto="0"/>
      <p:bldP spid="1893" grpId="0" animBg="1" advAuto="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15" name="Group"/>
          <p:cNvGrpSpPr/>
          <p:nvPr/>
        </p:nvGrpSpPr>
        <p:grpSpPr>
          <a:xfrm>
            <a:off x="4277320" y="723304"/>
            <a:ext cx="4742356" cy="1562668"/>
            <a:chOff x="0" y="0"/>
            <a:chExt cx="6744682" cy="2222461"/>
          </a:xfrm>
        </p:grpSpPr>
        <p:grpSp>
          <p:nvGrpSpPr>
            <p:cNvPr id="1908" name="Group"/>
            <p:cNvGrpSpPr/>
            <p:nvPr/>
          </p:nvGrpSpPr>
          <p:grpSpPr>
            <a:xfrm>
              <a:off x="5630" y="571539"/>
              <a:ext cx="6739052" cy="507922"/>
              <a:chOff x="0" y="-12661"/>
              <a:chExt cx="6739051" cy="507922"/>
            </a:xfrm>
          </p:grpSpPr>
          <p:sp>
            <p:nvSpPr>
              <p:cNvPr id="1906" name="Indicates type of transformation for feature   ."/>
              <p:cNvSpPr txBox="1"/>
              <p:nvPr/>
            </p:nvSpPr>
            <p:spPr>
              <a:xfrm>
                <a:off x="0" y="-12661"/>
                <a:ext cx="6739051"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defTabSz="584200">
                  <a:defRPr sz="2800">
                    <a:latin typeface="+mn-lt"/>
                    <a:ea typeface="+mn-ea"/>
                    <a:cs typeface="+mn-cs"/>
                    <a:sym typeface="Gill Sans"/>
                  </a:defRPr>
                </a:lvl1pPr>
              </a:lstStyle>
              <a:p>
                <a:r>
                  <a:rPr sz="1969"/>
                  <a:t>Indicates type of transformation for feature   .</a:t>
                </a:r>
              </a:p>
            </p:txBody>
          </p:sp>
          <p:pic>
            <p:nvPicPr>
              <p:cNvPr id="1907" name="ksmall.pdf" descr="ksmall.pdf"/>
              <p:cNvPicPr>
                <a:picLocks noChangeAspect="1"/>
              </p:cNvPicPr>
              <p:nvPr/>
            </p:nvPicPr>
            <p:blipFill>
              <a:blip r:embed="rId2"/>
              <a:stretch>
                <a:fillRect/>
              </a:stretch>
            </p:blipFill>
            <p:spPr>
              <a:xfrm>
                <a:off x="6357069" y="50800"/>
                <a:ext cx="215901" cy="330200"/>
              </a:xfrm>
              <a:prstGeom prst="rect">
                <a:avLst/>
              </a:prstGeom>
              <a:ln w="12700" cap="flat">
                <a:noFill/>
                <a:miter lim="400000"/>
              </a:ln>
              <a:effectLst/>
            </p:spPr>
          </p:pic>
        </p:grpSp>
        <p:grpSp>
          <p:nvGrpSpPr>
            <p:cNvPr id="1913" name="Group"/>
            <p:cNvGrpSpPr/>
            <p:nvPr/>
          </p:nvGrpSpPr>
          <p:grpSpPr>
            <a:xfrm>
              <a:off x="0" y="1130339"/>
              <a:ext cx="6058860" cy="1092122"/>
              <a:chOff x="0" y="-12661"/>
              <a:chExt cx="6058859" cy="1092122"/>
            </a:xfrm>
          </p:grpSpPr>
          <p:pic>
            <p:nvPicPr>
              <p:cNvPr id="1909" name="Phir.pdf" descr="Phir.pdf"/>
              <p:cNvPicPr>
                <a:picLocks noChangeAspect="1"/>
              </p:cNvPicPr>
              <p:nvPr/>
            </p:nvPicPr>
            <p:blipFill>
              <a:blip r:embed="rId3"/>
              <a:stretch>
                <a:fillRect/>
              </a:stretch>
            </p:blipFill>
            <p:spPr>
              <a:xfrm>
                <a:off x="0" y="50800"/>
                <a:ext cx="444500" cy="393700"/>
              </a:xfrm>
              <a:prstGeom prst="rect">
                <a:avLst/>
              </a:prstGeom>
              <a:ln w="12700" cap="flat">
                <a:noFill/>
                <a:miter lim="400000"/>
              </a:ln>
              <a:effectLst/>
            </p:spPr>
          </p:pic>
          <p:sp>
            <p:nvSpPr>
              <p:cNvPr id="1910" name="is a prior on rotation transformations."/>
              <p:cNvSpPr txBox="1"/>
              <p:nvPr/>
            </p:nvSpPr>
            <p:spPr>
              <a:xfrm>
                <a:off x="490819" y="-12661"/>
                <a:ext cx="5568040"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2800">
                    <a:latin typeface="+mn-lt"/>
                    <a:ea typeface="+mn-ea"/>
                    <a:cs typeface="+mn-cs"/>
                    <a:sym typeface="Gill Sans"/>
                  </a:defRPr>
                </a:lvl1pPr>
              </a:lstStyle>
              <a:p>
                <a:r>
                  <a:rPr sz="1969"/>
                  <a:t>is a prior on rotation transformations.</a:t>
                </a:r>
              </a:p>
            </p:txBody>
          </p:sp>
          <p:pic>
            <p:nvPicPr>
              <p:cNvPr id="1911" name="Phis.pdf" descr="Phis.pdf"/>
              <p:cNvPicPr>
                <a:picLocks noChangeAspect="1"/>
              </p:cNvPicPr>
              <p:nvPr/>
            </p:nvPicPr>
            <p:blipFill>
              <a:blip r:embed="rId4"/>
              <a:stretch>
                <a:fillRect/>
              </a:stretch>
            </p:blipFill>
            <p:spPr>
              <a:xfrm>
                <a:off x="0" y="635000"/>
                <a:ext cx="444500" cy="393700"/>
              </a:xfrm>
              <a:prstGeom prst="rect">
                <a:avLst/>
              </a:prstGeom>
              <a:ln w="12700" cap="flat">
                <a:noFill/>
                <a:miter lim="400000"/>
              </a:ln>
              <a:effectLst/>
            </p:spPr>
          </p:pic>
          <p:sp>
            <p:nvSpPr>
              <p:cNvPr id="1912" name="is a prior on scaling transformations."/>
              <p:cNvSpPr txBox="1"/>
              <p:nvPr/>
            </p:nvSpPr>
            <p:spPr>
              <a:xfrm>
                <a:off x="463836" y="571539"/>
                <a:ext cx="5377904"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2800">
                    <a:latin typeface="+mn-lt"/>
                    <a:ea typeface="+mn-ea"/>
                    <a:cs typeface="+mn-cs"/>
                    <a:sym typeface="Gill Sans"/>
                  </a:defRPr>
                </a:lvl1pPr>
              </a:lstStyle>
              <a:p>
                <a:r>
                  <a:rPr sz="1969"/>
                  <a:t>is a prior on scaling transformations.</a:t>
                </a:r>
              </a:p>
            </p:txBody>
          </p:sp>
        </p:grpSp>
        <p:pic>
          <p:nvPicPr>
            <p:cNvPr id="1914" name="wastDef.pdf" descr="wastDef.pdf"/>
            <p:cNvPicPr>
              <a:picLocks noChangeAspect="1"/>
            </p:cNvPicPr>
            <p:nvPr/>
          </p:nvPicPr>
          <p:blipFill>
            <a:blip r:embed="rId5"/>
            <a:stretch>
              <a:fillRect/>
            </a:stretch>
          </p:blipFill>
          <p:spPr>
            <a:xfrm>
              <a:off x="0" y="0"/>
              <a:ext cx="4978400" cy="469900"/>
            </a:xfrm>
            <a:prstGeom prst="rect">
              <a:avLst/>
            </a:prstGeom>
            <a:ln w="12700" cap="flat">
              <a:noFill/>
              <a:miter lim="400000"/>
            </a:ln>
            <a:effectLst/>
          </p:spPr>
        </p:pic>
      </p:grpSp>
      <p:sp>
        <p:nvSpPr>
          <p:cNvPr id="1916"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pic>
        <p:nvPicPr>
          <p:cNvPr id="1917" name="droppedImage.pdf" descr="droppedImage.pdf"/>
          <p:cNvPicPr>
            <a:picLocks noChangeAspect="1"/>
          </p:cNvPicPr>
          <p:nvPr/>
        </p:nvPicPr>
        <p:blipFill>
          <a:blip r:embed="rId6"/>
          <a:stretch>
            <a:fillRect/>
          </a:stretch>
        </p:blipFill>
        <p:spPr>
          <a:xfrm>
            <a:off x="678656" y="562571"/>
            <a:ext cx="2678906" cy="1937933"/>
          </a:xfrm>
          <a:prstGeom prst="rect">
            <a:avLst/>
          </a:prstGeom>
          <a:ln w="12700">
            <a:miter lim="400000"/>
          </a:ln>
        </p:spPr>
      </p:pic>
      <p:sp>
        <p:nvSpPr>
          <p:cNvPr id="1918"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grpSp>
        <p:nvGrpSpPr>
          <p:cNvPr id="1924" name="Group"/>
          <p:cNvGrpSpPr/>
          <p:nvPr/>
        </p:nvGrpSpPr>
        <p:grpSpPr>
          <a:xfrm>
            <a:off x="1357312" y="3412798"/>
            <a:ext cx="357188" cy="1516390"/>
            <a:chOff x="0" y="0"/>
            <a:chExt cx="508000" cy="2156642"/>
          </a:xfrm>
        </p:grpSpPr>
        <p:sp>
          <p:nvSpPr>
            <p:cNvPr id="1919" name="Rectangle"/>
            <p:cNvSpPr/>
            <p:nvPr/>
          </p:nvSpPr>
          <p:spPr>
            <a:xfrm>
              <a:off x="0" y="238942"/>
              <a:ext cx="508000" cy="19177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4000">
                  <a:solidFill>
                    <a:srgbClr val="0056D6"/>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923" name="Group"/>
            <p:cNvGrpSpPr/>
            <p:nvPr/>
          </p:nvGrpSpPr>
          <p:grpSpPr>
            <a:xfrm>
              <a:off x="101703" y="0"/>
              <a:ext cx="254001" cy="431801"/>
              <a:chOff x="0" y="0"/>
              <a:chExt cx="254000" cy="431800"/>
            </a:xfrm>
          </p:grpSpPr>
          <p:sp>
            <p:nvSpPr>
              <p:cNvPr id="1920" name="Line"/>
              <p:cNvSpPr/>
              <p:nvPr/>
            </p:nvSpPr>
            <p:spPr>
              <a:xfrm flipH="1">
                <a:off x="126896" y="0"/>
                <a:ext cx="1" cy="43180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1" name="Line"/>
              <p:cNvSpPr/>
              <p:nvPr/>
            </p:nvSpPr>
            <p:spPr>
              <a:xfrm flipH="1">
                <a:off x="0" y="412415"/>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2" name="Line"/>
              <p:cNvSpPr/>
              <p:nvPr/>
            </p:nvSpPr>
            <p:spPr>
              <a:xfrm flipH="1">
                <a:off x="0" y="15838"/>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30" name="Group"/>
          <p:cNvGrpSpPr/>
          <p:nvPr/>
        </p:nvGrpSpPr>
        <p:grpSpPr>
          <a:xfrm>
            <a:off x="1803797" y="4263130"/>
            <a:ext cx="357188" cy="666058"/>
            <a:chOff x="0" y="0"/>
            <a:chExt cx="508000" cy="947281"/>
          </a:xfrm>
        </p:grpSpPr>
        <p:sp>
          <p:nvSpPr>
            <p:cNvPr id="1925" name="Rectangle"/>
            <p:cNvSpPr/>
            <p:nvPr/>
          </p:nvSpPr>
          <p:spPr>
            <a:xfrm>
              <a:off x="0" y="172581"/>
              <a:ext cx="508000" cy="7747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29" name="Group"/>
            <p:cNvGrpSpPr/>
            <p:nvPr/>
          </p:nvGrpSpPr>
          <p:grpSpPr>
            <a:xfrm>
              <a:off x="127103" y="0"/>
              <a:ext cx="254001" cy="343553"/>
              <a:chOff x="0" y="0"/>
              <a:chExt cx="254000" cy="343552"/>
            </a:xfrm>
          </p:grpSpPr>
          <p:sp>
            <p:nvSpPr>
              <p:cNvPr id="1926" name="Line"/>
              <p:cNvSpPr/>
              <p:nvPr/>
            </p:nvSpPr>
            <p:spPr>
              <a:xfrm flipH="1">
                <a:off x="126896" y="0"/>
                <a:ext cx="1" cy="327033"/>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7" name="Line"/>
              <p:cNvSpPr/>
              <p:nvPr/>
            </p:nvSpPr>
            <p:spPr>
              <a:xfrm flipH="1">
                <a:off x="0" y="343552"/>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8" name="Line"/>
              <p:cNvSpPr/>
              <p:nvPr/>
            </p:nvSpPr>
            <p:spPr>
              <a:xfrm flipH="1">
                <a:off x="0" y="14416"/>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36" name="Group"/>
          <p:cNvGrpSpPr/>
          <p:nvPr/>
        </p:nvGrpSpPr>
        <p:grpSpPr>
          <a:xfrm>
            <a:off x="2893219" y="4261233"/>
            <a:ext cx="357188" cy="667955"/>
            <a:chOff x="0" y="0"/>
            <a:chExt cx="508000" cy="949980"/>
          </a:xfrm>
        </p:grpSpPr>
        <p:sp>
          <p:nvSpPr>
            <p:cNvPr id="1931" name="Rectangle"/>
            <p:cNvSpPr/>
            <p:nvPr/>
          </p:nvSpPr>
          <p:spPr>
            <a:xfrm>
              <a:off x="0" y="213380"/>
              <a:ext cx="508000" cy="7366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35" name="Group"/>
            <p:cNvGrpSpPr/>
            <p:nvPr/>
          </p:nvGrpSpPr>
          <p:grpSpPr>
            <a:xfrm>
              <a:off x="127103" y="0"/>
              <a:ext cx="254001" cy="462694"/>
              <a:chOff x="0" y="0"/>
              <a:chExt cx="254000" cy="462693"/>
            </a:xfrm>
          </p:grpSpPr>
          <p:sp>
            <p:nvSpPr>
              <p:cNvPr id="1932" name="Line"/>
              <p:cNvSpPr/>
              <p:nvPr/>
            </p:nvSpPr>
            <p:spPr>
              <a:xfrm flipH="1">
                <a:off x="126896" y="5072"/>
                <a:ext cx="1" cy="45641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3" name="Line"/>
              <p:cNvSpPr/>
              <p:nvPr/>
            </p:nvSpPr>
            <p:spPr>
              <a:xfrm flipH="1">
                <a:off x="0" y="462693"/>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4" name="Line"/>
              <p:cNvSpPr/>
              <p:nvPr/>
            </p:nvSpPr>
            <p:spPr>
              <a:xfrm flipH="1">
                <a:off x="0" y="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42" name="Group"/>
          <p:cNvGrpSpPr/>
          <p:nvPr/>
        </p:nvGrpSpPr>
        <p:grpSpPr>
          <a:xfrm>
            <a:off x="3339703" y="3325975"/>
            <a:ext cx="357188" cy="1612142"/>
            <a:chOff x="0" y="0"/>
            <a:chExt cx="508000" cy="2292823"/>
          </a:xfrm>
        </p:grpSpPr>
        <p:sp>
          <p:nvSpPr>
            <p:cNvPr id="1937" name="Rectangle"/>
            <p:cNvSpPr/>
            <p:nvPr/>
          </p:nvSpPr>
          <p:spPr>
            <a:xfrm>
              <a:off x="0" y="146523"/>
              <a:ext cx="508000" cy="21463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41" name="Group"/>
            <p:cNvGrpSpPr/>
            <p:nvPr/>
          </p:nvGrpSpPr>
          <p:grpSpPr>
            <a:xfrm>
              <a:off x="127000" y="0"/>
              <a:ext cx="254000" cy="279400"/>
              <a:chOff x="0" y="0"/>
              <a:chExt cx="254000" cy="279399"/>
            </a:xfrm>
          </p:grpSpPr>
          <p:sp>
            <p:nvSpPr>
              <p:cNvPr id="1938" name="Line"/>
              <p:cNvSpPr/>
              <p:nvPr/>
            </p:nvSpPr>
            <p:spPr>
              <a:xfrm flipH="1">
                <a:off x="126896" y="0"/>
                <a:ext cx="1" cy="278209"/>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9" name="Line"/>
              <p:cNvSpPr/>
              <p:nvPr/>
            </p:nvSpPr>
            <p:spPr>
              <a:xfrm flipH="1">
                <a:off x="0" y="279399"/>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40" name="Line"/>
              <p:cNvSpPr/>
              <p:nvPr/>
            </p:nvSpPr>
            <p:spPr>
              <a:xfrm flipH="1">
                <a:off x="0" y="1286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54" name="Group"/>
          <p:cNvGrpSpPr/>
          <p:nvPr/>
        </p:nvGrpSpPr>
        <p:grpSpPr>
          <a:xfrm>
            <a:off x="347412" y="2597376"/>
            <a:ext cx="3925445" cy="3062299"/>
            <a:chOff x="-5295" y="-1655"/>
            <a:chExt cx="5582854" cy="4355269"/>
          </a:xfrm>
        </p:grpSpPr>
        <p:sp>
          <p:nvSpPr>
            <p:cNvPr id="1943" name="Line"/>
            <p:cNvSpPr/>
            <p:nvPr/>
          </p:nvSpPr>
          <p:spPr>
            <a:xfrm flipH="1">
              <a:off x="1050007" y="673100"/>
              <a:ext cx="1"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nvGrpSpPr>
            <p:cNvPr id="1953" name="Group"/>
            <p:cNvGrpSpPr/>
            <p:nvPr/>
          </p:nvGrpSpPr>
          <p:grpSpPr>
            <a:xfrm>
              <a:off x="-5295" y="-1655"/>
              <a:ext cx="5582854" cy="4355269"/>
              <a:chOff x="-5294" y="-1655"/>
              <a:chExt cx="5582852" cy="4355269"/>
            </a:xfrm>
          </p:grpSpPr>
          <p:sp>
            <p:nvSpPr>
              <p:cNvPr id="1944" name="Line"/>
              <p:cNvSpPr/>
              <p:nvPr/>
            </p:nvSpPr>
            <p:spPr>
              <a:xfrm flipH="1">
                <a:off x="1037307"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45" name="0"/>
              <p:cNvSpPr txBox="1"/>
              <p:nvPr/>
            </p:nvSpPr>
            <p:spPr>
              <a:xfrm>
                <a:off x="625328" y="28623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0</a:t>
                </a:r>
              </a:p>
            </p:txBody>
          </p:sp>
          <p:sp>
            <p:nvSpPr>
              <p:cNvPr id="1946" name="2"/>
              <p:cNvSpPr txBox="1"/>
              <p:nvPr/>
            </p:nvSpPr>
            <p:spPr>
              <a:xfrm>
                <a:off x="621235" y="19225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2</a:t>
                </a:r>
              </a:p>
            </p:txBody>
          </p:sp>
          <p:sp>
            <p:nvSpPr>
              <p:cNvPr id="1947" name="4"/>
              <p:cNvSpPr txBox="1"/>
              <p:nvPr/>
            </p:nvSpPr>
            <p:spPr>
              <a:xfrm>
                <a:off x="621235" y="10589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4</a:t>
                </a:r>
              </a:p>
            </p:txBody>
          </p:sp>
          <p:sp>
            <p:nvSpPr>
              <p:cNvPr id="1948" name="6"/>
              <p:cNvSpPr txBox="1"/>
              <p:nvPr/>
            </p:nvSpPr>
            <p:spPr>
              <a:xfrm>
                <a:off x="621235" y="2080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6</a:t>
                </a:r>
              </a:p>
            </p:txBody>
          </p:sp>
          <p:sp>
            <p:nvSpPr>
              <p:cNvPr id="1949" name="Human Rating"/>
              <p:cNvSpPr txBox="1"/>
              <p:nvPr/>
            </p:nvSpPr>
            <p:spPr>
              <a:xfrm rot="16200000">
                <a:off x="-1606551" y="1721906"/>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Human Rating</a:t>
                </a:r>
              </a:p>
            </p:txBody>
          </p:sp>
          <p:sp>
            <p:nvSpPr>
              <p:cNvPr id="1950" name="New Rotation"/>
              <p:cNvSpPr txBox="1"/>
              <p:nvPr/>
            </p:nvSpPr>
            <p:spPr>
              <a:xfrm>
                <a:off x="1009650" y="3291786"/>
                <a:ext cx="2006599"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951" name="New…"/>
              <p:cNvSpPr txBox="1"/>
              <p:nvPr/>
            </p:nvSpPr>
            <p:spPr>
              <a:xfrm>
                <a:off x="3183607" y="3253686"/>
                <a:ext cx="2006601"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952" name="Human Experiment"/>
              <p:cNvSpPr txBox="1"/>
              <p:nvPr/>
            </p:nvSpPr>
            <p:spPr>
              <a:xfrm>
                <a:off x="637257" y="-1655"/>
                <a:ext cx="4940301"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Human Experiment</a:t>
                </a:r>
              </a:p>
            </p:txBody>
          </p:sp>
        </p:grpSp>
      </p:grpSp>
      <p:grpSp>
        <p:nvGrpSpPr>
          <p:cNvPr id="1957" name="Group"/>
          <p:cNvGrpSpPr/>
          <p:nvPr/>
        </p:nvGrpSpPr>
        <p:grpSpPr>
          <a:xfrm>
            <a:off x="5759648" y="3730952"/>
            <a:ext cx="1893094" cy="1196579"/>
            <a:chOff x="0" y="0"/>
            <a:chExt cx="2692400" cy="1701800"/>
          </a:xfrm>
        </p:grpSpPr>
        <p:sp>
          <p:nvSpPr>
            <p:cNvPr id="1955" name="Rectangle"/>
            <p:cNvSpPr/>
            <p:nvPr/>
          </p:nvSpPr>
          <p:spPr>
            <a:xfrm>
              <a:off x="0" y="0"/>
              <a:ext cx="508000" cy="1701800"/>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56" name="Rectangle"/>
            <p:cNvSpPr/>
            <p:nvPr/>
          </p:nvSpPr>
          <p:spPr>
            <a:xfrm>
              <a:off x="2184400" y="1396837"/>
              <a:ext cx="508000" cy="3048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60" name="Group"/>
          <p:cNvGrpSpPr/>
          <p:nvPr/>
        </p:nvGrpSpPr>
        <p:grpSpPr>
          <a:xfrm>
            <a:off x="6206133" y="3978508"/>
            <a:ext cx="1893094" cy="955477"/>
            <a:chOff x="0" y="0"/>
            <a:chExt cx="2692400" cy="1358900"/>
          </a:xfrm>
        </p:grpSpPr>
        <p:sp>
          <p:nvSpPr>
            <p:cNvPr id="1958" name="Rectangle"/>
            <p:cNvSpPr/>
            <p:nvPr/>
          </p:nvSpPr>
          <p:spPr>
            <a:xfrm>
              <a:off x="0" y="996477"/>
              <a:ext cx="508000" cy="3556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59" name="Rectangle"/>
            <p:cNvSpPr/>
            <p:nvPr/>
          </p:nvSpPr>
          <p:spPr>
            <a:xfrm>
              <a:off x="2184400" y="0"/>
              <a:ext cx="508000" cy="1358900"/>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67" name="Group"/>
          <p:cNvGrpSpPr/>
          <p:nvPr/>
        </p:nvGrpSpPr>
        <p:grpSpPr>
          <a:xfrm>
            <a:off x="5014761" y="2597376"/>
            <a:ext cx="3664895" cy="3062299"/>
            <a:chOff x="-5294" y="-1655"/>
            <a:chExt cx="5212294" cy="4355269"/>
          </a:xfrm>
        </p:grpSpPr>
        <p:sp>
          <p:nvSpPr>
            <p:cNvPr id="1961" name="Line"/>
            <p:cNvSpPr/>
            <p:nvPr/>
          </p:nvSpPr>
          <p:spPr>
            <a:xfrm flipH="1">
              <a:off x="673099" y="673100"/>
              <a:ext cx="2"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62" name="Line"/>
            <p:cNvSpPr/>
            <p:nvPr/>
          </p:nvSpPr>
          <p:spPr>
            <a:xfrm flipH="1">
              <a:off x="660400"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63" name="Model Activation"/>
            <p:cNvSpPr txBox="1"/>
            <p:nvPr/>
          </p:nvSpPr>
          <p:spPr>
            <a:xfrm rot="16200000">
              <a:off x="-1606551" y="1728257"/>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Model Activation</a:t>
              </a:r>
            </a:p>
          </p:txBody>
        </p:sp>
        <p:sp>
          <p:nvSpPr>
            <p:cNvPr id="1964" name="New Rotation"/>
            <p:cNvSpPr txBox="1"/>
            <p:nvPr/>
          </p:nvSpPr>
          <p:spPr>
            <a:xfrm>
              <a:off x="635000" y="32917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965" name="New…"/>
            <p:cNvSpPr txBox="1"/>
            <p:nvPr/>
          </p:nvSpPr>
          <p:spPr>
            <a:xfrm>
              <a:off x="2806700" y="32536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966" name="Model Prediction"/>
            <p:cNvSpPr txBox="1"/>
            <p:nvPr/>
          </p:nvSpPr>
          <p:spPr>
            <a:xfrm>
              <a:off x="266700" y="-1655"/>
              <a:ext cx="4940300"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Model Prediction</a:t>
              </a:r>
            </a:p>
          </p:txBody>
        </p:sp>
      </p:grpSp>
      <p:sp>
        <p:nvSpPr>
          <p:cNvPr id="1968" name="Square"/>
          <p:cNvSpPr/>
          <p:nvPr/>
        </p:nvSpPr>
        <p:spPr>
          <a:xfrm rot="18907815">
            <a:off x="1567679" y="587954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69" name="Square"/>
          <p:cNvSpPr/>
          <p:nvPr/>
        </p:nvSpPr>
        <p:spPr>
          <a:xfrm>
            <a:off x="2928938" y="569714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70" name="Square"/>
          <p:cNvSpPr/>
          <p:nvPr/>
        </p:nvSpPr>
        <p:spPr>
          <a:xfrm rot="18907815">
            <a:off x="5952156" y="588847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71" name="Square"/>
          <p:cNvSpPr/>
          <p:nvPr/>
        </p:nvSpPr>
        <p:spPr>
          <a:xfrm>
            <a:off x="7331274" y="570607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Tree>
    <p:extLst>
      <p:ext uri="{BB962C8B-B14F-4D97-AF65-F5344CB8AC3E}">
        <p14:creationId xmlns:p14="http://schemas.microsoft.com/office/powerpoint/2010/main" val="1515825421"/>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p:nvPr/>
        </p:nvSpPr>
        <p:spPr>
          <a:xfrm>
            <a:off x="6010469" y="6564832"/>
            <a:ext cx="3134321" cy="238079"/>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defRPr sz="2200">
                <a:latin typeface="Gill Sans"/>
                <a:ea typeface="Gill Sans"/>
                <a:cs typeface="Gill Sans"/>
                <a:sym typeface="Gill Sans"/>
              </a:defRPr>
            </a:lvl1pPr>
          </a:lstStyle>
          <a:p>
            <a:pPr lvl="0">
              <a:defRPr sz="1800"/>
            </a:pPr>
            <a:r>
              <a:rPr sz="1547"/>
              <a:t>Austerweil &amp; Griffiths (in revision)</a:t>
            </a:r>
          </a:p>
        </p:txBody>
      </p:sp>
      <p:sp>
        <p:nvSpPr>
          <p:cNvPr id="35" name="Shape 35"/>
          <p:cNvSpPr/>
          <p:nvPr/>
        </p:nvSpPr>
        <p:spPr>
          <a:xfrm>
            <a:off x="391319" y="719583"/>
            <a:ext cx="8349259" cy="400350"/>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Sometimes information is shared between the types of transformations.</a:t>
            </a:r>
          </a:p>
        </p:txBody>
      </p:sp>
      <p:sp>
        <p:nvSpPr>
          <p:cNvPr id="36" name="Shape 36"/>
          <p:cNvSpPr/>
          <p:nvPr/>
        </p:nvSpPr>
        <p:spPr>
          <a:xfrm>
            <a:off x="392906" y="1144748"/>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p>
            <a:pPr lvl="0" algn="l">
              <a:defRPr sz="1800"/>
            </a:pPr>
            <a:r>
              <a:rPr sz="2250">
                <a:latin typeface="Gill Sans"/>
                <a:ea typeface="Gill Sans"/>
                <a:cs typeface="Gill Sans"/>
                <a:sym typeface="Gill Sans"/>
              </a:rPr>
              <a:t>Smith (2005) taught children the name of a new object, which either moved </a:t>
            </a:r>
            <a:r>
              <a:rPr sz="2250" i="1">
                <a:latin typeface="Gill Sans"/>
                <a:ea typeface="Gill Sans"/>
                <a:cs typeface="Gill Sans"/>
                <a:sym typeface="Gill Sans"/>
              </a:rPr>
              <a:t>horizontally</a:t>
            </a:r>
            <a:r>
              <a:rPr sz="2250">
                <a:latin typeface="Gill Sans"/>
                <a:ea typeface="Gill Sans"/>
                <a:cs typeface="Gill Sans"/>
                <a:sym typeface="Gill Sans"/>
              </a:rPr>
              <a:t> or </a:t>
            </a:r>
            <a:r>
              <a:rPr sz="2250" i="1">
                <a:latin typeface="Gill Sans"/>
                <a:ea typeface="Gill Sans"/>
                <a:cs typeface="Gill Sans"/>
                <a:sym typeface="Gill Sans"/>
              </a:rPr>
              <a:t>vertically</a:t>
            </a:r>
            <a:r>
              <a:rPr sz="2250">
                <a:latin typeface="Gill Sans"/>
                <a:ea typeface="Gill Sans"/>
                <a:cs typeface="Gill Sans"/>
                <a:sym typeface="Gill Sans"/>
              </a:rPr>
              <a:t>.</a:t>
            </a:r>
          </a:p>
        </p:txBody>
      </p:sp>
      <p:sp>
        <p:nvSpPr>
          <p:cNvPr id="37" name="Shape 37"/>
          <p:cNvSpPr/>
          <p:nvPr/>
        </p:nvSpPr>
        <p:spPr>
          <a:xfrm>
            <a:off x="392906" y="1863588"/>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Children generalized to novel objects that were scaled in the same direction that the original object was moved.</a:t>
            </a:r>
          </a:p>
        </p:txBody>
      </p:sp>
      <p:sp>
        <p:nvSpPr>
          <p:cNvPr id="38" name="Shape 38"/>
          <p:cNvSpPr/>
          <p:nvPr/>
        </p:nvSpPr>
        <p:spPr>
          <a:xfrm>
            <a:off x="392906" y="2636006"/>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Information about translation transformations was shared with scaling transformations!</a:t>
            </a:r>
          </a:p>
        </p:txBody>
      </p:sp>
      <p:grpSp>
        <p:nvGrpSpPr>
          <p:cNvPr id="51" name="Group 51"/>
          <p:cNvGrpSpPr/>
          <p:nvPr/>
        </p:nvGrpSpPr>
        <p:grpSpPr>
          <a:xfrm>
            <a:off x="1580555" y="3094137"/>
            <a:ext cx="4031754" cy="3504496"/>
            <a:chOff x="0" y="0"/>
            <a:chExt cx="5734050" cy="4984171"/>
          </a:xfrm>
        </p:grpSpPr>
        <p:grpSp>
          <p:nvGrpSpPr>
            <p:cNvPr id="42" name="Group 42"/>
            <p:cNvGrpSpPr/>
            <p:nvPr/>
          </p:nvGrpSpPr>
          <p:grpSpPr>
            <a:xfrm>
              <a:off x="0" y="2000250"/>
              <a:ext cx="1880674" cy="673100"/>
              <a:chOff x="0" y="0"/>
              <a:chExt cx="1880673" cy="673100"/>
            </a:xfrm>
          </p:grpSpPr>
          <p:sp>
            <p:nvSpPr>
              <p:cNvPr id="39" name="Shape 39"/>
              <p:cNvSpPr/>
              <p:nvPr/>
            </p:nvSpPr>
            <p:spPr>
              <a:xfrm>
                <a:off x="609600" y="0"/>
                <a:ext cx="6731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0" name="Shape 40"/>
              <p:cNvSpPr/>
              <p:nvPr/>
            </p:nvSpPr>
            <p:spPr>
              <a:xfrm flipH="1">
                <a:off x="1397000" y="342900"/>
                <a:ext cx="483674"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41" name="Shape 41"/>
              <p:cNvSpPr/>
              <p:nvPr/>
            </p:nvSpPr>
            <p:spPr>
              <a:xfrm flipV="1">
                <a:off x="0" y="342899"/>
                <a:ext cx="483674"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46" name="Group 46"/>
            <p:cNvGrpSpPr/>
            <p:nvPr/>
          </p:nvGrpSpPr>
          <p:grpSpPr>
            <a:xfrm>
              <a:off x="596900" y="3079750"/>
              <a:ext cx="673100" cy="1904422"/>
              <a:chOff x="0" y="0"/>
              <a:chExt cx="673100" cy="1904421"/>
            </a:xfrm>
          </p:grpSpPr>
          <p:sp>
            <p:nvSpPr>
              <p:cNvPr id="43" name="Shape 43"/>
              <p:cNvSpPr/>
              <p:nvPr/>
            </p:nvSpPr>
            <p:spPr>
              <a:xfrm>
                <a:off x="0" y="609600"/>
                <a:ext cx="6731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4" name="Shape 44"/>
              <p:cNvSpPr/>
              <p:nvPr/>
            </p:nvSpPr>
            <p:spPr>
              <a:xfrm flipV="1">
                <a:off x="342900" y="1397000"/>
                <a:ext cx="1" cy="507422"/>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45" name="Shape 45"/>
              <p:cNvSpPr/>
              <p:nvPr/>
            </p:nvSpPr>
            <p:spPr>
              <a:xfrm flipH="1">
                <a:off x="342899" y="0"/>
                <a:ext cx="2" cy="507422"/>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47" name="Shape 47"/>
            <p:cNvSpPr/>
            <p:nvPr/>
          </p:nvSpPr>
          <p:spPr>
            <a:xfrm>
              <a:off x="2438400" y="361950"/>
              <a:ext cx="13970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8" name="Shape 48"/>
            <p:cNvSpPr/>
            <p:nvPr/>
          </p:nvSpPr>
          <p:spPr>
            <a:xfrm rot="16200000">
              <a:off x="4699000" y="361950"/>
              <a:ext cx="13970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aphicFrame>
        <p:nvGraphicFramePr>
          <p:cNvPr id="49" name="Table 49"/>
          <p:cNvGraphicFramePr/>
          <p:nvPr/>
        </p:nvGraphicFramePr>
        <p:xfrm>
          <a:off x="2982516" y="4188023"/>
          <a:ext cx="3205758" cy="2214562"/>
        </p:xfrm>
        <a:graphic>
          <a:graphicData uri="http://schemas.openxmlformats.org/drawingml/2006/table">
            <a:tbl>
              <a:tblPr/>
              <a:tblGrid>
                <a:gridCol w="1602879">
                  <a:extLst>
                    <a:ext uri="{9D8B030D-6E8A-4147-A177-3AD203B41FA5}">
                      <a16:colId xmlns:a16="http://schemas.microsoft.com/office/drawing/2014/main" val="20000"/>
                    </a:ext>
                  </a:extLst>
                </a:gridCol>
                <a:gridCol w="1602879">
                  <a:extLst>
                    <a:ext uri="{9D8B030D-6E8A-4147-A177-3AD203B41FA5}">
                      <a16:colId xmlns:a16="http://schemas.microsoft.com/office/drawing/2014/main" val="20001"/>
                    </a:ext>
                  </a:extLst>
                </a:gridCol>
              </a:tblGrid>
              <a:tr h="1107281">
                <a:tc>
                  <a:txBody>
                    <a:bodyPr/>
                    <a:lstStyle/>
                    <a:p>
                      <a:pPr lvl="0" defTabSz="914400">
                        <a:tabLst>
                          <a:tab pos="1168400" algn="l"/>
                        </a:tabLst>
                      </a:pPr>
                      <a:r>
                        <a:rPr sz="3200" b="1">
                          <a:solidFill>
                            <a:srgbClr val="469400"/>
                          </a:solidFill>
                          <a:latin typeface="Gill Sans"/>
                          <a:ea typeface="Gill Sans"/>
                          <a:cs typeface="Gill Sans"/>
                          <a:sym typeface="Gill Sans"/>
                        </a:rPr>
                        <a:t>0.78</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0.24</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1107281">
                <a:tc>
                  <a:txBody>
                    <a:bodyPr/>
                    <a:lstStyle/>
                    <a:p>
                      <a:pPr lvl="0" defTabSz="914400">
                        <a:tabLst>
                          <a:tab pos="1168400" algn="l"/>
                        </a:tabLst>
                      </a:pPr>
                      <a:r>
                        <a:rPr sz="3200">
                          <a:solidFill>
                            <a:srgbClr val="F63807"/>
                          </a:solidFill>
                          <a:latin typeface="Gill Sans"/>
                          <a:ea typeface="Gill Sans"/>
                          <a:cs typeface="Gill Sans"/>
                          <a:sym typeface="Gill Sans"/>
                        </a:rPr>
                        <a:t>0.2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0.81</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sp>
        <p:nvSpPr>
          <p:cNvPr id="50" name="Shape 50"/>
          <p:cNvSpPr/>
          <p:nvPr/>
        </p:nvSpPr>
        <p:spPr>
          <a:xfrm>
            <a:off x="2952901" y="6468967"/>
            <a:ext cx="3258376" cy="313724"/>
          </a:xfrm>
          <a:prstGeom prst="rect">
            <a:avLst/>
          </a:prstGeom>
          <a:ln w="12700">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400">
                <a:latin typeface="Gill Sans"/>
                <a:ea typeface="Gill Sans"/>
                <a:cs typeface="Gill Sans"/>
                <a:sym typeface="Gill Sans"/>
              </a:defRPr>
            </a:lvl1pPr>
          </a:lstStyle>
          <a:p>
            <a:pPr lvl="0">
              <a:defRPr sz="1800"/>
            </a:pPr>
            <a:r>
              <a:rPr sz="1687"/>
              <a:t>Children generalization probabilities.</a:t>
            </a:r>
          </a:p>
        </p:txBody>
      </p:sp>
      <p:sp>
        <p:nvSpPr>
          <p:cNvPr id="52" name="Shape 52"/>
          <p:cNvSpPr>
            <a:spLocks noGrp="1"/>
          </p:cNvSpPr>
          <p:nvPr>
            <p:ph type="sldNum" sz="quarter" idx="2"/>
          </p:nvPr>
        </p:nvSpPr>
        <p:spPr>
          <a:xfrm>
            <a:off x="3091392" y="4510069"/>
            <a:ext cx="192361" cy="353943"/>
          </a:xfrm>
          <a:prstGeom prst="rect">
            <a:avLst/>
          </a:prstGeom>
          <a:extLst>
            <a:ext uri="{C572A759-6A51-4108-AA02-DFA0A04FC94B}">
              <ma14:wrappingTextBoxFlag xmlns="" xmlns:ma14="http://schemas.microsoft.com/office/mac/drawingml/2011/main" val="1"/>
            </a:ext>
          </a:extLst>
        </p:spPr>
        <p:txBody>
          <a:bodyPr/>
          <a:lstStyle/>
          <a:p>
            <a:pPr lvl="0">
              <a:defRPr sz="1800"/>
            </a:pPr>
            <a:fld id="{86CB4B4D-7CA3-9044-876B-883B54F8677D}" type="slidenum">
              <a:rPr/>
              <a:t>84</a:t>
            </a:fld>
            <a:endParaRPr/>
          </a:p>
        </p:txBody>
      </p:sp>
      <p:sp>
        <p:nvSpPr>
          <p:cNvPr id="53" name="Shape 53"/>
          <p:cNvSpPr/>
          <p:nvPr/>
        </p:nvSpPr>
        <p:spPr>
          <a:xfrm>
            <a:off x="63297" y="50295"/>
            <a:ext cx="8965407" cy="497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l">
              <a:defRPr sz="4600" b="1">
                <a:latin typeface="Gill Sans"/>
                <a:ea typeface="Gill Sans"/>
                <a:cs typeface="Gill Sans"/>
                <a:sym typeface="Gill Sans"/>
              </a:defRPr>
            </a:lvl1pPr>
          </a:lstStyle>
          <a:p>
            <a:pPr lvl="0">
              <a:defRPr sz="1800" b="0"/>
            </a:pPr>
            <a:r>
              <a:rPr sz="3234"/>
              <a:t>Learning feature transformation structure</a:t>
            </a:r>
          </a:p>
        </p:txBody>
      </p:sp>
    </p:spTree>
    <p:extLst>
      <p:ext uri="{BB962C8B-B14F-4D97-AF65-F5344CB8AC3E}">
        <p14:creationId xmlns:p14="http://schemas.microsoft.com/office/powerpoint/2010/main" val="240600648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1"/>
                                        </p:tgtEl>
                                        <p:attrNameLst>
                                          <p:attrName>style.visibility</p:attrName>
                                        </p:attrNameLst>
                                      </p:cBhvr>
                                      <p:to>
                                        <p:strVal val="visible"/>
                                      </p:to>
                                    </p:set>
                                  </p:childTnLst>
                                </p:cTn>
                              </p:par>
                              <p:par>
                                <p:cTn id="7" presetID="1" presetClass="entr" presetSubtype="0" fill="hold">
                                  <p:stCondLst>
                                    <p:cond delay="0"/>
                                  </p:stCondLst>
                                  <p:iterate>
                                    <p:tmAbs val="0"/>
                                  </p:iterate>
                                  <p:childTnLst>
                                    <p:set>
                                      <p:cBhvr>
                                        <p:cTn id="8" fill="hold"/>
                                        <p:tgtEl>
                                          <p:spTgt spid="50"/>
                                        </p:tgtEl>
                                        <p:attrNameLst>
                                          <p:attrName>style.visibility</p:attrName>
                                        </p:attrNameLst>
                                      </p:cBhvr>
                                      <p:to>
                                        <p:strVal val="visible"/>
                                      </p:to>
                                    </p:set>
                                  </p:childTnLst>
                                </p:cTn>
                              </p:par>
                              <p:par>
                                <p:cTn id="9" presetID="1" presetClass="entr" presetSubtype="0" fill="hold">
                                  <p:stCondLst>
                                    <p:cond delay="0"/>
                                  </p:stCondLst>
                                  <p:iterate>
                                    <p:tmAbs val="0"/>
                                  </p:iterate>
                                  <p:childTnLst>
                                    <p:set>
                                      <p:cBhvr>
                                        <p:cTn id="10" fill="hold"/>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advAuto="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55"/>
          <p:cNvSpPr/>
          <p:nvPr/>
        </p:nvSpPr>
        <p:spPr>
          <a:xfrm>
            <a:off x="6010469" y="6564832"/>
            <a:ext cx="3134321" cy="238079"/>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defRPr sz="2200">
                <a:latin typeface="Gill Sans"/>
                <a:ea typeface="Gill Sans"/>
                <a:cs typeface="Gill Sans"/>
                <a:sym typeface="Gill Sans"/>
              </a:defRPr>
            </a:lvl1pPr>
          </a:lstStyle>
          <a:p>
            <a:pPr lvl="0">
              <a:defRPr sz="1800"/>
            </a:pPr>
            <a:r>
              <a:rPr sz="1547"/>
              <a:t>Austerweil &amp; Griffiths (in revision)</a:t>
            </a:r>
          </a:p>
        </p:txBody>
      </p:sp>
      <p:pic>
        <p:nvPicPr>
          <p:cNvPr id="56" name="snkDef.pdf"/>
          <p:cNvPicPr/>
          <p:nvPr/>
        </p:nvPicPr>
        <p:blipFill>
          <a:blip r:embed="rId2"/>
          <a:stretch>
            <a:fillRect/>
          </a:stretch>
        </p:blipFill>
        <p:spPr>
          <a:xfrm>
            <a:off x="413912" y="834479"/>
            <a:ext cx="1940379" cy="384870"/>
          </a:xfrm>
          <a:prstGeom prst="rect">
            <a:avLst/>
          </a:prstGeom>
          <a:ln w="12700">
            <a:miter lim="400000"/>
          </a:ln>
        </p:spPr>
      </p:pic>
      <p:pic>
        <p:nvPicPr>
          <p:cNvPr id="57" name="tnkDef.pdf"/>
          <p:cNvPicPr/>
          <p:nvPr/>
        </p:nvPicPr>
        <p:blipFill>
          <a:blip r:embed="rId3"/>
          <a:stretch>
            <a:fillRect/>
          </a:stretch>
        </p:blipFill>
        <p:spPr>
          <a:xfrm>
            <a:off x="413823" y="1361775"/>
            <a:ext cx="1895908" cy="383982"/>
          </a:xfrm>
          <a:prstGeom prst="rect">
            <a:avLst/>
          </a:prstGeom>
          <a:ln w="12700">
            <a:miter lim="400000"/>
          </a:ln>
        </p:spPr>
      </p:pic>
      <p:pic>
        <p:nvPicPr>
          <p:cNvPr id="58" name="wnkGen.pdf"/>
          <p:cNvPicPr/>
          <p:nvPr/>
        </p:nvPicPr>
        <p:blipFill>
          <a:blip r:embed="rId4"/>
          <a:stretch>
            <a:fillRect/>
          </a:stretch>
        </p:blipFill>
        <p:spPr>
          <a:xfrm>
            <a:off x="414944" y="1891045"/>
            <a:ext cx="2795565" cy="397004"/>
          </a:xfrm>
          <a:prstGeom prst="rect">
            <a:avLst/>
          </a:prstGeom>
          <a:ln w="12700">
            <a:miter lim="400000"/>
          </a:ln>
        </p:spPr>
      </p:pic>
      <p:pic>
        <p:nvPicPr>
          <p:cNvPr id="59" name="rnkDef.pdf"/>
          <p:cNvPicPr/>
          <p:nvPr/>
        </p:nvPicPr>
        <p:blipFill>
          <a:blip r:embed="rId5"/>
          <a:stretch>
            <a:fillRect/>
          </a:stretch>
        </p:blipFill>
        <p:spPr>
          <a:xfrm>
            <a:off x="412864" y="2428710"/>
            <a:ext cx="2969390" cy="723634"/>
          </a:xfrm>
          <a:prstGeom prst="rect">
            <a:avLst/>
          </a:prstGeom>
          <a:ln w="12700">
            <a:miter lim="400000"/>
          </a:ln>
        </p:spPr>
      </p:pic>
      <p:grpSp>
        <p:nvGrpSpPr>
          <p:cNvPr id="71" name="Group 71"/>
          <p:cNvGrpSpPr/>
          <p:nvPr/>
        </p:nvGrpSpPr>
        <p:grpSpPr>
          <a:xfrm>
            <a:off x="160735" y="3535748"/>
            <a:ext cx="3047261" cy="2652119"/>
            <a:chOff x="0" y="-1"/>
            <a:chExt cx="4333882" cy="3771901"/>
          </a:xfrm>
        </p:grpSpPr>
        <p:grpSp>
          <p:nvGrpSpPr>
            <p:cNvPr id="63" name="Group 63"/>
            <p:cNvGrpSpPr/>
            <p:nvPr/>
          </p:nvGrpSpPr>
          <p:grpSpPr>
            <a:xfrm>
              <a:off x="0" y="1513739"/>
              <a:ext cx="1421440" cy="509387"/>
              <a:chOff x="0" y="0"/>
              <a:chExt cx="1421439" cy="509385"/>
            </a:xfrm>
          </p:grpSpPr>
          <p:sp>
            <p:nvSpPr>
              <p:cNvPr id="60" name="Shape 60"/>
              <p:cNvSpPr/>
              <p:nvPr/>
            </p:nvSpPr>
            <p:spPr>
              <a:xfrm>
                <a:off x="460744" y="0"/>
                <a:ext cx="508739" cy="509386"/>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1" name="Shape 61"/>
              <p:cNvSpPr/>
              <p:nvPr/>
            </p:nvSpPr>
            <p:spPr>
              <a:xfrm flipH="1">
                <a:off x="1055871" y="259498"/>
                <a:ext cx="365569"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62" name="Shape 62"/>
              <p:cNvSpPr/>
              <p:nvPr/>
            </p:nvSpPr>
            <p:spPr>
              <a:xfrm flipV="1">
                <a:off x="0" y="259498"/>
                <a:ext cx="365568"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67" name="Group 67"/>
            <p:cNvGrpSpPr/>
            <p:nvPr/>
          </p:nvGrpSpPr>
          <p:grpSpPr>
            <a:xfrm>
              <a:off x="451145" y="2330680"/>
              <a:ext cx="508739" cy="1441221"/>
              <a:chOff x="0" y="0"/>
              <a:chExt cx="508738" cy="1441219"/>
            </a:xfrm>
          </p:grpSpPr>
          <p:sp>
            <p:nvSpPr>
              <p:cNvPr id="64" name="Shape 64"/>
              <p:cNvSpPr/>
              <p:nvPr/>
            </p:nvSpPr>
            <p:spPr>
              <a:xfrm>
                <a:off x="0" y="461330"/>
                <a:ext cx="508739"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5" name="Shape 65"/>
              <p:cNvSpPr/>
              <p:nvPr/>
            </p:nvSpPr>
            <p:spPr>
              <a:xfrm flipV="1">
                <a:off x="259168" y="1057215"/>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66" name="Shape 66"/>
              <p:cNvSpPr/>
              <p:nvPr/>
            </p:nvSpPr>
            <p:spPr>
              <a:xfrm flipH="1">
                <a:off x="259168" y="0"/>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68" name="Shape 68"/>
            <p:cNvSpPr/>
            <p:nvPr/>
          </p:nvSpPr>
          <p:spPr>
            <a:xfrm>
              <a:off x="1842977" y="273914"/>
              <a:ext cx="1055873"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9" name="Shape 69"/>
            <p:cNvSpPr/>
            <p:nvPr/>
          </p:nvSpPr>
          <p:spPr>
            <a:xfrm rot="16199985">
              <a:off x="3550903" y="274238"/>
              <a:ext cx="1057216" cy="508739"/>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aphicFrame>
        <p:nvGraphicFramePr>
          <p:cNvPr id="70" name="Table 70"/>
          <p:cNvGraphicFramePr/>
          <p:nvPr/>
        </p:nvGraphicFramePr>
        <p:xfrm>
          <a:off x="1220357" y="4363576"/>
          <a:ext cx="2422954" cy="1675926"/>
        </p:xfrm>
        <a:graphic>
          <a:graphicData uri="http://schemas.openxmlformats.org/drawingml/2006/table">
            <a:tbl>
              <a:tblPr/>
              <a:tblGrid>
                <a:gridCol w="1211477">
                  <a:extLst>
                    <a:ext uri="{9D8B030D-6E8A-4147-A177-3AD203B41FA5}">
                      <a16:colId xmlns:a16="http://schemas.microsoft.com/office/drawing/2014/main" val="20000"/>
                    </a:ext>
                  </a:extLst>
                </a:gridCol>
                <a:gridCol w="1211477">
                  <a:extLst>
                    <a:ext uri="{9D8B030D-6E8A-4147-A177-3AD203B41FA5}">
                      <a16:colId xmlns:a16="http://schemas.microsoft.com/office/drawing/2014/main" val="20001"/>
                    </a:ext>
                  </a:extLst>
                </a:gridCol>
              </a:tblGrid>
              <a:tr h="837963">
                <a:tc>
                  <a:txBody>
                    <a:bodyPr/>
                    <a:lstStyle/>
                    <a:p>
                      <a:pPr lvl="0" defTabSz="914400">
                        <a:tabLst>
                          <a:tab pos="1168400" algn="l"/>
                        </a:tabLst>
                      </a:pPr>
                      <a:r>
                        <a:rPr sz="3200" b="1">
                          <a:solidFill>
                            <a:srgbClr val="469400"/>
                          </a:solidFill>
                          <a:latin typeface="Gill Sans"/>
                          <a:ea typeface="Gill Sans"/>
                          <a:cs typeface="Gill Sans"/>
                          <a:sym typeface="Gill Sans"/>
                        </a:rPr>
                        <a:t>0.78</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0.24</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837963">
                <a:tc>
                  <a:txBody>
                    <a:bodyPr/>
                    <a:lstStyle/>
                    <a:p>
                      <a:pPr lvl="0" defTabSz="914400">
                        <a:tabLst>
                          <a:tab pos="1168400" algn="l"/>
                        </a:tabLst>
                      </a:pPr>
                      <a:r>
                        <a:rPr sz="3200">
                          <a:solidFill>
                            <a:srgbClr val="F63807"/>
                          </a:solidFill>
                          <a:latin typeface="Gill Sans"/>
                          <a:ea typeface="Gill Sans"/>
                          <a:cs typeface="Gill Sans"/>
                          <a:sym typeface="Gill Sans"/>
                        </a:rPr>
                        <a:t>0.2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0.81</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grpSp>
        <p:nvGrpSpPr>
          <p:cNvPr id="86" name="Group 86"/>
          <p:cNvGrpSpPr/>
          <p:nvPr/>
        </p:nvGrpSpPr>
        <p:grpSpPr>
          <a:xfrm>
            <a:off x="458222" y="3536155"/>
            <a:ext cx="6500244" cy="3032223"/>
            <a:chOff x="423093" y="577"/>
            <a:chExt cx="9244790" cy="4312494"/>
          </a:xfrm>
        </p:grpSpPr>
        <p:sp>
          <p:nvSpPr>
            <p:cNvPr id="72" name="Shape 72"/>
            <p:cNvSpPr/>
            <p:nvPr/>
          </p:nvSpPr>
          <p:spPr>
            <a:xfrm>
              <a:off x="423093" y="3866886"/>
              <a:ext cx="4565739" cy="44618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89" tIns="26789" rIns="26789" bIns="26789" numCol="1" anchor="ctr">
              <a:spAutoFit/>
            </a:bodyPr>
            <a:lstStyle>
              <a:lvl1pPr>
                <a:defRPr sz="2400">
                  <a:latin typeface="Gill Sans"/>
                  <a:ea typeface="Gill Sans"/>
                  <a:cs typeface="Gill Sans"/>
                  <a:sym typeface="Gill Sans"/>
                </a:defRPr>
              </a:lvl1pPr>
            </a:lstStyle>
            <a:p>
              <a:pPr lvl="0">
                <a:defRPr sz="1800"/>
              </a:pPr>
              <a:r>
                <a:rPr sz="1687"/>
                <a:t>Children generalization probabilities</a:t>
              </a:r>
            </a:p>
          </p:txBody>
        </p:sp>
        <p:grpSp>
          <p:nvGrpSpPr>
            <p:cNvPr id="84" name="Group 84"/>
            <p:cNvGrpSpPr/>
            <p:nvPr/>
          </p:nvGrpSpPr>
          <p:grpSpPr>
            <a:xfrm>
              <a:off x="5334000" y="577"/>
              <a:ext cx="4333883" cy="3771902"/>
              <a:chOff x="0" y="-1"/>
              <a:chExt cx="4333882" cy="3771901"/>
            </a:xfrm>
          </p:grpSpPr>
          <p:grpSp>
            <p:nvGrpSpPr>
              <p:cNvPr id="76" name="Group 76"/>
              <p:cNvGrpSpPr/>
              <p:nvPr/>
            </p:nvGrpSpPr>
            <p:grpSpPr>
              <a:xfrm>
                <a:off x="0" y="1513739"/>
                <a:ext cx="1421440" cy="509387"/>
                <a:chOff x="0" y="0"/>
                <a:chExt cx="1421439" cy="509385"/>
              </a:xfrm>
            </p:grpSpPr>
            <p:sp>
              <p:nvSpPr>
                <p:cNvPr id="73" name="Shape 73"/>
                <p:cNvSpPr/>
                <p:nvPr/>
              </p:nvSpPr>
              <p:spPr>
                <a:xfrm>
                  <a:off x="460744" y="0"/>
                  <a:ext cx="508739" cy="509386"/>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74" name="Shape 74"/>
                <p:cNvSpPr/>
                <p:nvPr/>
              </p:nvSpPr>
              <p:spPr>
                <a:xfrm flipH="1">
                  <a:off x="1055871" y="259498"/>
                  <a:ext cx="365569"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75" name="Shape 75"/>
                <p:cNvSpPr/>
                <p:nvPr/>
              </p:nvSpPr>
              <p:spPr>
                <a:xfrm flipV="1">
                  <a:off x="0" y="259498"/>
                  <a:ext cx="365568"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80" name="Group 80"/>
              <p:cNvGrpSpPr/>
              <p:nvPr/>
            </p:nvGrpSpPr>
            <p:grpSpPr>
              <a:xfrm>
                <a:off x="451145" y="2330680"/>
                <a:ext cx="508739" cy="1441221"/>
                <a:chOff x="0" y="0"/>
                <a:chExt cx="508738" cy="1441219"/>
              </a:xfrm>
            </p:grpSpPr>
            <p:sp>
              <p:nvSpPr>
                <p:cNvPr id="77" name="Shape 77"/>
                <p:cNvSpPr/>
                <p:nvPr/>
              </p:nvSpPr>
              <p:spPr>
                <a:xfrm>
                  <a:off x="0" y="461330"/>
                  <a:ext cx="508739"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78" name="Shape 78"/>
                <p:cNvSpPr/>
                <p:nvPr/>
              </p:nvSpPr>
              <p:spPr>
                <a:xfrm flipV="1">
                  <a:off x="259168" y="1057215"/>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79" name="Shape 79"/>
                <p:cNvSpPr/>
                <p:nvPr/>
              </p:nvSpPr>
              <p:spPr>
                <a:xfrm flipH="1">
                  <a:off x="259168" y="0"/>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81" name="Shape 81"/>
              <p:cNvSpPr/>
              <p:nvPr/>
            </p:nvSpPr>
            <p:spPr>
              <a:xfrm>
                <a:off x="1842977" y="273914"/>
                <a:ext cx="1055873"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82" name="Shape 82"/>
              <p:cNvSpPr/>
              <p:nvPr/>
            </p:nvSpPr>
            <p:spPr>
              <a:xfrm rot="16199985">
                <a:off x="3550903" y="274238"/>
                <a:ext cx="1057216" cy="508739"/>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pSp>
      <p:graphicFrame>
        <p:nvGraphicFramePr>
          <p:cNvPr id="83" name="Table 83"/>
          <p:cNvGraphicFramePr/>
          <p:nvPr/>
        </p:nvGraphicFramePr>
        <p:xfrm>
          <a:off x="4970826" y="4363983"/>
          <a:ext cx="2422954" cy="1675926"/>
        </p:xfrm>
        <a:graphic>
          <a:graphicData uri="http://schemas.openxmlformats.org/drawingml/2006/table">
            <a:tbl>
              <a:tblPr/>
              <a:tblGrid>
                <a:gridCol w="1211477">
                  <a:extLst>
                    <a:ext uri="{9D8B030D-6E8A-4147-A177-3AD203B41FA5}">
                      <a16:colId xmlns:a16="http://schemas.microsoft.com/office/drawing/2014/main" val="20000"/>
                    </a:ext>
                  </a:extLst>
                </a:gridCol>
                <a:gridCol w="1211477">
                  <a:extLst>
                    <a:ext uri="{9D8B030D-6E8A-4147-A177-3AD203B41FA5}">
                      <a16:colId xmlns:a16="http://schemas.microsoft.com/office/drawing/2014/main" val="20001"/>
                    </a:ext>
                  </a:extLst>
                </a:gridCol>
              </a:tblGrid>
              <a:tr h="837963">
                <a:tc>
                  <a:txBody>
                    <a:bodyPr/>
                    <a:lstStyle/>
                    <a:p>
                      <a:pPr lvl="0" defTabSz="914400">
                        <a:tabLst>
                          <a:tab pos="1168400" algn="l"/>
                        </a:tabLst>
                      </a:pPr>
                      <a:r>
                        <a:rPr sz="3200" b="1">
                          <a:solidFill>
                            <a:srgbClr val="469400"/>
                          </a:solidFill>
                          <a:latin typeface="Gill Sans"/>
                          <a:ea typeface="Gill Sans"/>
                          <a:cs typeface="Gill Sans"/>
                          <a:sym typeface="Gill Sans"/>
                        </a:rPr>
                        <a:t>0.87</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0.12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837963">
                <a:tc>
                  <a:txBody>
                    <a:bodyPr/>
                    <a:lstStyle/>
                    <a:p>
                      <a:pPr lvl="0" defTabSz="914400">
                        <a:tabLst>
                          <a:tab pos="1168400" algn="l"/>
                        </a:tabLst>
                      </a:pPr>
                      <a:r>
                        <a:rPr sz="3200">
                          <a:solidFill>
                            <a:srgbClr val="F63807"/>
                          </a:solidFill>
                          <a:latin typeface="Gill Sans"/>
                          <a:ea typeface="Gill Sans"/>
                          <a:cs typeface="Gill Sans"/>
                          <a:sym typeface="Gill Sans"/>
                        </a:rPr>
                        <a:t>0.12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0.87</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sp>
        <p:nvSpPr>
          <p:cNvPr id="85" name="Shape 85"/>
          <p:cNvSpPr/>
          <p:nvPr/>
        </p:nvSpPr>
        <p:spPr>
          <a:xfrm>
            <a:off x="4461705" y="6254654"/>
            <a:ext cx="2999844" cy="313724"/>
          </a:xfrm>
          <a:prstGeom prst="rect">
            <a:avLst/>
          </a:prstGeom>
          <a:ln w="12700">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400">
                <a:latin typeface="Gill Sans"/>
                <a:ea typeface="Gill Sans"/>
                <a:cs typeface="Gill Sans"/>
                <a:sym typeface="Gill Sans"/>
              </a:defRPr>
            </a:lvl1pPr>
          </a:lstStyle>
          <a:p>
            <a:pPr lvl="0">
              <a:defRPr sz="1800"/>
            </a:pPr>
            <a:r>
              <a:rPr sz="1687"/>
              <a:t>Model generalization probabilities</a:t>
            </a:r>
          </a:p>
        </p:txBody>
      </p:sp>
      <p:pic>
        <p:nvPicPr>
          <p:cNvPr id="87" name="droppedImage.pdf"/>
          <p:cNvPicPr/>
          <p:nvPr/>
        </p:nvPicPr>
        <p:blipFill>
          <a:blip r:embed="rId6"/>
          <a:stretch>
            <a:fillRect/>
          </a:stretch>
        </p:blipFill>
        <p:spPr>
          <a:xfrm>
            <a:off x="4214813" y="705445"/>
            <a:ext cx="4679156" cy="2803922"/>
          </a:xfrm>
          <a:prstGeom prst="rect">
            <a:avLst/>
          </a:prstGeom>
          <a:ln w="12700">
            <a:miter lim="400000"/>
          </a:ln>
        </p:spPr>
      </p:pic>
      <p:sp>
        <p:nvSpPr>
          <p:cNvPr id="88" name="Shape 88"/>
          <p:cNvSpPr/>
          <p:nvPr/>
        </p:nvSpPr>
        <p:spPr>
          <a:xfrm>
            <a:off x="63297" y="50295"/>
            <a:ext cx="8965407" cy="497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l">
              <a:defRPr sz="4600" b="1">
                <a:latin typeface="Gill Sans"/>
                <a:ea typeface="Gill Sans"/>
                <a:cs typeface="Gill Sans"/>
                <a:sym typeface="Gill Sans"/>
              </a:defRPr>
            </a:lvl1pPr>
          </a:lstStyle>
          <a:p>
            <a:pPr lvl="0">
              <a:defRPr sz="1800" b="0"/>
            </a:pPr>
            <a:r>
              <a:rPr sz="3234"/>
              <a:t>Learning feature transformation structure</a:t>
            </a:r>
          </a:p>
        </p:txBody>
      </p:sp>
    </p:spTree>
    <p:extLst>
      <p:ext uri="{BB962C8B-B14F-4D97-AF65-F5344CB8AC3E}">
        <p14:creationId xmlns:p14="http://schemas.microsoft.com/office/powerpoint/2010/main" val="36339073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71"/>
                                        </p:tgtEl>
                                        <p:attrNameLst>
                                          <p:attrName>style.visibility</p:attrName>
                                        </p:attrNameLst>
                                      </p:cBhvr>
                                      <p:to>
                                        <p:strVal val="visible"/>
                                      </p:to>
                                    </p:set>
                                  </p:childTnLst>
                                </p:cTn>
                              </p:par>
                              <p:par>
                                <p:cTn id="11" presetID="1" presetClass="entr" presetSubtype="0" fill="hold">
                                  <p:stCondLst>
                                    <p:cond delay="0"/>
                                  </p:stCondLst>
                                  <p:iterate>
                                    <p:tmAbs val="0"/>
                                  </p:iterate>
                                  <p:childTnLst>
                                    <p:set>
                                      <p:cBhvr>
                                        <p:cTn id="12" fill="hold"/>
                                        <p:tgtEl>
                                          <p:spTgt spid="86"/>
                                        </p:tgtEl>
                                        <p:attrNameLst>
                                          <p:attrName>style.visibility</p:attrName>
                                        </p:attrNameLst>
                                      </p:cBhvr>
                                      <p:to>
                                        <p:strVal val="visible"/>
                                      </p:to>
                                    </p:set>
                                  </p:childTnLst>
                                </p:cTn>
                              </p:par>
                              <p:par>
                                <p:cTn id="13" presetID="1" presetClass="entr" presetSubtype="0" fill="hold">
                                  <p:stCondLst>
                                    <p:cond delay="0"/>
                                  </p:stCondLst>
                                  <p:iterate>
                                    <p:tmAbs val="0"/>
                                  </p:iterate>
                                  <p:childTnLst>
                                    <p:set>
                                      <p:cBhvr>
                                        <p:cTn id="14" fill="hold"/>
                                        <p:tgtEl>
                                          <p:spTgt spid="83"/>
                                        </p:tgtEl>
                                        <p:attrNameLst>
                                          <p:attrName>style.visibility</p:attrName>
                                        </p:attrNameLst>
                                      </p:cBhvr>
                                      <p:to>
                                        <p:strVal val="visible"/>
                                      </p:to>
                                    </p:set>
                                  </p:childTnLst>
                                </p:cTn>
                              </p:par>
                              <p:par>
                                <p:cTn id="15" presetID="1" presetClass="entr" presetSubtype="0" fill="hold">
                                  <p:stCondLst>
                                    <p:cond delay="0"/>
                                  </p:stCondLst>
                                  <p:iterate>
                                    <p:tmAbs val="0"/>
                                  </p:iterate>
                                  <p:childTnLst>
                                    <p:set>
                                      <p:cBhvr>
                                        <p:cTn id="16" fill="hold"/>
                                        <p:tgtEl>
                                          <p:spTgt spid="85"/>
                                        </p:tgtEl>
                                        <p:attrNameLst>
                                          <p:attrName>style.visibility</p:attrName>
                                        </p:attrNameLst>
                                      </p:cBhvr>
                                      <p:to>
                                        <p:strVal val="visible"/>
                                      </p:to>
                                    </p:set>
                                  </p:childTnLst>
                                </p:cTn>
                              </p:par>
                              <p:par>
                                <p:cTn id="17" presetID="1" presetClass="entr" presetSubtype="0" fill="hold">
                                  <p:stCondLst>
                                    <p:cond delay="0"/>
                                  </p:stCondLst>
                                  <p:iterate>
                                    <p:tmAbs val="0"/>
                                  </p:iterate>
                                  <p:childTnLst>
                                    <p:set>
                                      <p:cBhvr>
                                        <p:cTn id="18" fill="hold"/>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advAuto="0"/>
      <p:bldP spid="87" grpId="0" animBg="1" advAuto="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p:cNvSpPr>
          <p:nvPr/>
        </p:nvSpPr>
        <p:spPr bwMode="auto">
          <a:xfrm>
            <a:off x="170614"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Inferring substitutive features</a:t>
            </a:r>
          </a:p>
        </p:txBody>
      </p:sp>
      <p:sp>
        <p:nvSpPr>
          <p:cNvPr id="2" name="TextBox 1"/>
          <p:cNvSpPr txBox="1"/>
          <p:nvPr/>
        </p:nvSpPr>
        <p:spPr>
          <a:xfrm>
            <a:off x="224662" y="938310"/>
            <a:ext cx="8606118" cy="1477328"/>
          </a:xfrm>
          <a:prstGeom prst="rect">
            <a:avLst/>
          </a:prstGeom>
          <a:noFill/>
        </p:spPr>
        <p:txBody>
          <a:bodyPr wrap="square" rtlCol="0">
            <a:spAutoFit/>
          </a:bodyPr>
          <a:lstStyle/>
          <a:p>
            <a:r>
              <a:rPr lang="en-US" sz="3000" dirty="0">
                <a:latin typeface="Helvetica"/>
                <a:cs typeface="Helvetica"/>
              </a:rPr>
              <a:t>Previous models used additive features to compose objects. </a:t>
            </a:r>
          </a:p>
          <a:p>
            <a:r>
              <a:rPr lang="en-US" sz="3000" dirty="0">
                <a:latin typeface="Helvetica"/>
                <a:cs typeface="Helvetica"/>
              </a:rPr>
              <a:t>For example...</a:t>
            </a:r>
          </a:p>
        </p:txBody>
      </p:sp>
      <p:sp>
        <p:nvSpPr>
          <p:cNvPr id="5" name="TextBox 4"/>
          <p:cNvSpPr txBox="1"/>
          <p:nvPr/>
        </p:nvSpPr>
        <p:spPr>
          <a:xfrm>
            <a:off x="214918" y="2483188"/>
            <a:ext cx="2905060" cy="2215991"/>
          </a:xfrm>
          <a:prstGeom prst="rect">
            <a:avLst/>
          </a:prstGeom>
          <a:noFill/>
        </p:spPr>
        <p:txBody>
          <a:bodyPr wrap="square" rtlCol="0">
            <a:spAutoFit/>
          </a:bodyPr>
          <a:lstStyle/>
          <a:p>
            <a:r>
              <a:rPr lang="en-US" sz="2800" dirty="0">
                <a:latin typeface="Helvetica"/>
                <a:cs typeface="Helvetica"/>
              </a:rPr>
              <a:t>Cat features:</a:t>
            </a:r>
            <a:endParaRPr lang="en-US" sz="2800" dirty="0">
              <a:latin typeface="Courier"/>
              <a:cs typeface="Courier"/>
            </a:endParaRPr>
          </a:p>
          <a:p>
            <a:r>
              <a:rPr lang="en-US" sz="2200" dirty="0">
                <a:latin typeface="Courier"/>
                <a:cs typeface="Courier"/>
              </a:rPr>
              <a:t>	HAS WHISKERS</a:t>
            </a:r>
            <a:endParaRPr lang="en-US" sz="2200" dirty="0">
              <a:cs typeface="Calibri"/>
            </a:endParaRPr>
          </a:p>
          <a:p>
            <a:r>
              <a:rPr lang="en-US" sz="2200" dirty="0">
                <a:latin typeface="Courier"/>
                <a:cs typeface="Courier"/>
              </a:rPr>
              <a:t>	MEOWS</a:t>
            </a:r>
            <a:endParaRPr lang="en-US" sz="2200" dirty="0">
              <a:cs typeface="Calibri"/>
            </a:endParaRPr>
          </a:p>
          <a:p>
            <a:r>
              <a:rPr lang="en-US" sz="2200" dirty="0">
                <a:latin typeface="Courier"/>
                <a:cs typeface="Courier"/>
              </a:rPr>
              <a:t>	HAS SHORT HAIR</a:t>
            </a:r>
            <a:endParaRPr lang="en-US" sz="2200" dirty="0">
              <a:cs typeface="Calibri"/>
            </a:endParaRPr>
          </a:p>
          <a:p>
            <a:r>
              <a:rPr lang="en-US" sz="2200" dirty="0">
                <a:latin typeface="Courier"/>
                <a:cs typeface="Courier"/>
              </a:rPr>
              <a:t>	HAS TAIL</a:t>
            </a:r>
            <a:endParaRPr lang="en-US" sz="2200" dirty="0">
              <a:cs typeface="Calibri"/>
            </a:endParaRPr>
          </a:p>
          <a:p>
            <a:r>
              <a:rPr lang="en-US" sz="2200" dirty="0">
                <a:latin typeface="Courier"/>
                <a:cs typeface="Courier"/>
              </a:rPr>
              <a:t>	IS HAIRLESS</a:t>
            </a:r>
            <a:endParaRPr lang="en-US" sz="2200" dirty="0">
              <a:latin typeface="Helvetica"/>
              <a:cs typeface="Helvetica"/>
            </a:endParaRPr>
          </a:p>
        </p:txBody>
      </p:sp>
      <p:sp>
        <p:nvSpPr>
          <p:cNvPr id="6" name="Rectangle 5"/>
          <p:cNvSpPr/>
          <p:nvPr/>
        </p:nvSpPr>
        <p:spPr>
          <a:xfrm>
            <a:off x="4590590" y="3891496"/>
            <a:ext cx="4553410" cy="707886"/>
          </a:xfrm>
          <a:prstGeom prst="rect">
            <a:avLst/>
          </a:prstGeom>
        </p:spPr>
        <p:txBody>
          <a:bodyPr wrap="square">
            <a:spAutoFit/>
          </a:bodyPr>
          <a:lstStyle/>
          <a:p>
            <a:r>
              <a:rPr lang="en-US" sz="2000" dirty="0">
                <a:latin typeface="Courier"/>
                <a:cs typeface="Courier"/>
              </a:rPr>
              <a:t>MANX </a:t>
            </a:r>
            <a:r>
              <a:rPr lang="en-US" sz="2000" dirty="0">
                <a:latin typeface="ＭＳ ゴシック"/>
                <a:ea typeface="ＭＳ ゴシック"/>
                <a:cs typeface="ＭＳ ゴシック"/>
              </a:rPr>
              <a:t>≅</a:t>
            </a:r>
            <a:r>
              <a:rPr lang="en-US" sz="2000" dirty="0">
                <a:latin typeface="Courier"/>
                <a:cs typeface="Courier"/>
              </a:rPr>
              <a:t> HAS SHORT HAIR &amp; 			MEOWS &amp; HAS WHISKERS</a:t>
            </a:r>
          </a:p>
        </p:txBody>
      </p:sp>
      <p:pic>
        <p:nvPicPr>
          <p:cNvPr id="7" name="Picture 6" descr="imgre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9266" y="1716638"/>
            <a:ext cx="3071091" cy="2182091"/>
          </a:xfrm>
          <a:prstGeom prst="rect">
            <a:avLst/>
          </a:prstGeom>
        </p:spPr>
      </p:pic>
      <p:sp>
        <p:nvSpPr>
          <p:cNvPr id="8" name="TextBox 7"/>
          <p:cNvSpPr txBox="1"/>
          <p:nvPr/>
        </p:nvSpPr>
        <p:spPr>
          <a:xfrm>
            <a:off x="281153" y="4847595"/>
            <a:ext cx="9676915" cy="1354217"/>
          </a:xfrm>
          <a:prstGeom prst="rect">
            <a:avLst/>
          </a:prstGeom>
          <a:noFill/>
        </p:spPr>
        <p:txBody>
          <a:bodyPr wrap="square" rtlCol="0">
            <a:spAutoFit/>
          </a:bodyPr>
          <a:lstStyle/>
          <a:p>
            <a:r>
              <a:rPr lang="en-US" sz="2800" dirty="0">
                <a:latin typeface="Helvetica"/>
                <a:cs typeface="Helvetica"/>
              </a:rPr>
              <a:t>Is any valid combinations of features a cat?</a:t>
            </a:r>
          </a:p>
          <a:p>
            <a:r>
              <a:rPr lang="en-US" sz="2800" dirty="0">
                <a:latin typeface="Helvetica"/>
                <a:cs typeface="Helvetica"/>
              </a:rPr>
              <a:t>  No—</a:t>
            </a:r>
          </a:p>
          <a:p>
            <a:r>
              <a:rPr lang="en-US" sz="2600" dirty="0">
                <a:latin typeface="Helvetica"/>
                <a:cs typeface="Helvetica"/>
              </a:rPr>
              <a:t>  Cat cannot have </a:t>
            </a:r>
            <a:r>
              <a:rPr lang="en-US" sz="2600" u="sng" dirty="0">
                <a:latin typeface="Courier"/>
                <a:cs typeface="Courier"/>
              </a:rPr>
              <a:t>HAS SHORT HAIR</a:t>
            </a:r>
            <a:r>
              <a:rPr lang="en-US" sz="2600" dirty="0">
                <a:latin typeface="Courier"/>
                <a:cs typeface="Courier"/>
              </a:rPr>
              <a:t> </a:t>
            </a:r>
            <a:r>
              <a:rPr lang="en-US" sz="2600" dirty="0">
                <a:latin typeface="Helvetica"/>
                <a:cs typeface="Helvetica"/>
              </a:rPr>
              <a:t>and</a:t>
            </a:r>
            <a:r>
              <a:rPr lang="en-US" sz="2600" dirty="0">
                <a:latin typeface="Courier"/>
                <a:cs typeface="Courier"/>
              </a:rPr>
              <a:t> </a:t>
            </a:r>
            <a:r>
              <a:rPr lang="en-US" sz="2600" u="sng" dirty="0">
                <a:latin typeface="Courier"/>
                <a:cs typeface="Courier"/>
              </a:rPr>
              <a:t>IS HAIRLESS</a:t>
            </a:r>
            <a:r>
              <a:rPr lang="en-US" sz="2600" dirty="0">
                <a:latin typeface="Helvetica"/>
                <a:cs typeface="Helvetica"/>
              </a:rPr>
              <a:t>.</a:t>
            </a:r>
          </a:p>
        </p:txBody>
      </p:sp>
    </p:spTree>
    <p:extLst>
      <p:ext uri="{BB962C8B-B14F-4D97-AF65-F5344CB8AC3E}">
        <p14:creationId xmlns:p14="http://schemas.microsoft.com/office/powerpoint/2010/main" val="124086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64496" y="3850821"/>
            <a:ext cx="8679504" cy="2715026"/>
          </a:xfrm>
        </p:spPr>
        <p:txBody>
          <a:bodyPr>
            <a:noAutofit/>
          </a:bodyPr>
          <a:lstStyle/>
          <a:p>
            <a:pPr marL="0" indent="0">
              <a:buNone/>
            </a:pPr>
            <a:r>
              <a:rPr lang="en-US" sz="2400" dirty="0">
                <a:latin typeface="Helvetica"/>
                <a:cs typeface="Helvetica"/>
              </a:rPr>
              <a:t>Additive/substitutive features influence processes in higher-level cognition (e.g., category learning; Kemp, 2012). </a:t>
            </a:r>
          </a:p>
          <a:p>
            <a:pPr marL="0" indent="0">
              <a:lnSpc>
                <a:spcPct val="50000"/>
              </a:lnSpc>
              <a:buNone/>
            </a:pPr>
            <a:endParaRPr lang="en-US" sz="2400" dirty="0">
              <a:latin typeface="Helvetica"/>
              <a:cs typeface="Helvetica"/>
            </a:endParaRPr>
          </a:p>
          <a:p>
            <a:pPr marL="0" indent="0">
              <a:lnSpc>
                <a:spcPct val="50000"/>
              </a:lnSpc>
              <a:buNone/>
            </a:pPr>
            <a:endParaRPr lang="en-US" sz="2400" b="1" dirty="0">
              <a:latin typeface="Helvetica"/>
              <a:cs typeface="Helvetica"/>
            </a:endParaRPr>
          </a:p>
        </p:txBody>
      </p:sp>
      <p:sp>
        <p:nvSpPr>
          <p:cNvPr id="5"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Inferring substitutive features</a:t>
            </a:r>
          </a:p>
        </p:txBody>
      </p:sp>
      <p:grpSp>
        <p:nvGrpSpPr>
          <p:cNvPr id="6" name="Group 5"/>
          <p:cNvGrpSpPr/>
          <p:nvPr/>
        </p:nvGrpSpPr>
        <p:grpSpPr>
          <a:xfrm>
            <a:off x="523075" y="1162900"/>
            <a:ext cx="1598252" cy="2410245"/>
            <a:chOff x="553641" y="1446610"/>
            <a:chExt cx="2732484" cy="4120724"/>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0797" y="1446610"/>
              <a:ext cx="2518172" cy="34658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553641" y="4982765"/>
              <a:ext cx="2732484" cy="5845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ctr" eaLnBrk="1" hangingPunct="1"/>
              <a:r>
                <a:rPr lang="en-US" sz="1800" dirty="0">
                  <a:latin typeface="Helvetica"/>
                  <a:cs typeface="Helvetica"/>
                </a:rPr>
                <a:t>Garner (1978)</a:t>
              </a:r>
            </a:p>
          </p:txBody>
        </p:sp>
      </p:grpSp>
      <p:sp>
        <p:nvSpPr>
          <p:cNvPr id="9" name="Rectangle 8"/>
          <p:cNvSpPr/>
          <p:nvPr/>
        </p:nvSpPr>
        <p:spPr>
          <a:xfrm>
            <a:off x="2229420" y="1111012"/>
            <a:ext cx="7107114" cy="2215991"/>
          </a:xfrm>
          <a:prstGeom prst="rect">
            <a:avLst/>
          </a:prstGeom>
        </p:spPr>
        <p:txBody>
          <a:bodyPr wrap="square">
            <a:spAutoFit/>
          </a:bodyPr>
          <a:lstStyle/>
          <a:p>
            <a:r>
              <a:rPr lang="en-US" sz="2400" b="1" dirty="0">
                <a:latin typeface="Helvetica"/>
                <a:cs typeface="Helvetica"/>
              </a:rPr>
              <a:t>Additive </a:t>
            </a:r>
            <a:r>
              <a:rPr lang="en-US" sz="2400" dirty="0">
                <a:latin typeface="Helvetica"/>
                <a:cs typeface="Helvetica"/>
              </a:rPr>
              <a:t>features only have one value </a:t>
            </a:r>
          </a:p>
          <a:p>
            <a:r>
              <a:rPr lang="en-US" sz="2000" dirty="0">
                <a:latin typeface="Helvetica"/>
                <a:cs typeface="Helvetica"/>
              </a:rPr>
              <a:t>E.g., has tail [yes, no]</a:t>
            </a:r>
          </a:p>
          <a:p>
            <a:pPr>
              <a:lnSpc>
                <a:spcPct val="50000"/>
              </a:lnSpc>
            </a:pPr>
            <a:r>
              <a:rPr lang="en-US" sz="2000" dirty="0">
                <a:latin typeface="Helvetica"/>
                <a:cs typeface="Helvetica"/>
              </a:rPr>
              <a:t> </a:t>
            </a:r>
            <a:r>
              <a:rPr lang="en-US" sz="1100" dirty="0">
                <a:latin typeface="Helvetica"/>
                <a:cs typeface="Helvetica"/>
              </a:rPr>
              <a:t> </a:t>
            </a:r>
          </a:p>
          <a:p>
            <a:r>
              <a:rPr lang="en-US" sz="2400" b="1" dirty="0">
                <a:latin typeface="Helvetica"/>
                <a:cs typeface="Helvetica"/>
              </a:rPr>
              <a:t>Substitutive </a:t>
            </a:r>
            <a:r>
              <a:rPr lang="en-US" sz="2400" dirty="0">
                <a:latin typeface="Helvetica"/>
                <a:cs typeface="Helvetica"/>
              </a:rPr>
              <a:t>features take one of multiple values</a:t>
            </a:r>
          </a:p>
          <a:p>
            <a:r>
              <a:rPr lang="en-US" sz="2000" dirty="0">
                <a:latin typeface="Helvetica"/>
                <a:cs typeface="Helvetica"/>
              </a:rPr>
              <a:t>E.g.,</a:t>
            </a:r>
            <a:r>
              <a:rPr lang="en-US" sz="2000" b="1" dirty="0">
                <a:latin typeface="Helvetica"/>
                <a:cs typeface="Helvetica"/>
              </a:rPr>
              <a:t> </a:t>
            </a:r>
            <a:r>
              <a:rPr lang="en-US" sz="2000" dirty="0">
                <a:latin typeface="Helvetica"/>
                <a:cs typeface="Helvetica"/>
              </a:rPr>
              <a:t>cat</a:t>
            </a:r>
            <a:r>
              <a:rPr lang="en-US" sz="2000" b="1" dirty="0">
                <a:latin typeface="Helvetica"/>
                <a:cs typeface="Helvetica"/>
              </a:rPr>
              <a:t> </a:t>
            </a:r>
            <a:r>
              <a:rPr lang="en-US" sz="2000" dirty="0">
                <a:latin typeface="Helvetica"/>
                <a:cs typeface="Helvetica"/>
              </a:rPr>
              <a:t>hair type	[long hair, short hair, hairless]</a:t>
            </a:r>
          </a:p>
          <a:p>
            <a:r>
              <a:rPr lang="en-US" sz="2000" b="1" dirty="0">
                <a:latin typeface="Helvetica"/>
                <a:cs typeface="Helvetica"/>
              </a:rPr>
              <a:t>	  </a:t>
            </a:r>
            <a:r>
              <a:rPr lang="en-US" sz="2000" dirty="0">
                <a:latin typeface="Helvetica"/>
                <a:cs typeface="Helvetica"/>
              </a:rPr>
              <a:t>line style 		[ ____ 	 	_ _ _ _		........]</a:t>
            </a:r>
          </a:p>
          <a:p>
            <a:r>
              <a:rPr lang="en-US" sz="2000" dirty="0">
                <a:latin typeface="Helvetica"/>
                <a:cs typeface="Helvetica"/>
              </a:rPr>
              <a:t>	  political party 	[Republican, Democrat, Independent]</a:t>
            </a:r>
          </a:p>
        </p:txBody>
      </p:sp>
      <p:sp>
        <p:nvSpPr>
          <p:cNvPr id="2" name="Rectangle 1"/>
          <p:cNvSpPr/>
          <p:nvPr/>
        </p:nvSpPr>
        <p:spPr>
          <a:xfrm>
            <a:off x="890374" y="2206337"/>
            <a:ext cx="7363252" cy="2527954"/>
          </a:xfrm>
          <a:prstGeom prst="rect">
            <a:avLst/>
          </a:prstGeom>
          <a:solidFill>
            <a:schemeClr val="tx1">
              <a:alpha val="89000"/>
            </a:schemeClr>
          </a:solidFill>
        </p:spPr>
        <p:txBody>
          <a:bodyPr anchor="ctr">
            <a:spAutoFit/>
          </a:bodyPr>
          <a:lstStyle/>
          <a:p>
            <a:r>
              <a:rPr lang="en-US" sz="3200" b="1" dirty="0">
                <a:solidFill>
                  <a:srgbClr val="FFFFFF"/>
                </a:solidFill>
                <a:effectLst>
                  <a:outerShdw blurRad="50800" dist="38100" dir="2700000" algn="tl" rotWithShape="0">
                    <a:prstClr val="black">
                      <a:alpha val="40000"/>
                    </a:prstClr>
                  </a:outerShdw>
                </a:effectLst>
                <a:latin typeface="Helvetica"/>
                <a:cs typeface="Helvetica"/>
              </a:rPr>
              <a:t>Question: </a:t>
            </a:r>
            <a:r>
              <a:rPr lang="en-US" sz="3200" dirty="0">
                <a:solidFill>
                  <a:srgbClr val="FFFFFF"/>
                </a:solidFill>
                <a:effectLst>
                  <a:outerShdw blurRad="50800" dist="38100" dir="2700000" algn="tl" rotWithShape="0">
                    <a:prstClr val="black">
                      <a:alpha val="40000"/>
                    </a:prstClr>
                  </a:outerShdw>
                </a:effectLst>
                <a:latin typeface="Helvetica"/>
                <a:cs typeface="Helvetica"/>
              </a:rPr>
              <a:t>While learning feature sets, how do people infer which whether features additive vs. substitutive? </a:t>
            </a:r>
          </a:p>
        </p:txBody>
      </p:sp>
    </p:spTree>
    <p:extLst>
      <p:ext uri="{BB962C8B-B14F-4D97-AF65-F5344CB8AC3E}">
        <p14:creationId xmlns:p14="http://schemas.microsoft.com/office/powerpoint/2010/main" val="26677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536044" y="6536061"/>
            <a:ext cx="2607956" cy="369332"/>
          </a:xfrm>
          <a:prstGeom prst="rect">
            <a:avLst/>
          </a:prstGeom>
          <a:noFill/>
        </p:spPr>
        <p:txBody>
          <a:bodyPr wrap="none" rtlCol="0">
            <a:spAutoFit/>
          </a:bodyPr>
          <a:lstStyle/>
          <a:p>
            <a:r>
              <a:rPr lang="en-US" dirty="0"/>
              <a:t>(</a:t>
            </a:r>
            <a:r>
              <a:rPr lang="en-US" dirty="0" err="1"/>
              <a:t>Qian</a:t>
            </a:r>
            <a:r>
              <a:rPr lang="en-US" dirty="0"/>
              <a:t> &amp; Austerweil, 2015)</a:t>
            </a:r>
          </a:p>
        </p:txBody>
      </p:sp>
      <p:sp>
        <p:nvSpPr>
          <p:cNvPr id="5" name="TextBox 4"/>
          <p:cNvSpPr txBox="1"/>
          <p:nvPr/>
        </p:nvSpPr>
        <p:spPr>
          <a:xfrm>
            <a:off x="264600" y="1015552"/>
            <a:ext cx="8537634" cy="892552"/>
          </a:xfrm>
          <a:prstGeom prst="rect">
            <a:avLst/>
          </a:prstGeom>
          <a:noFill/>
        </p:spPr>
        <p:txBody>
          <a:bodyPr wrap="square" rtlCol="0">
            <a:spAutoFit/>
          </a:bodyPr>
          <a:lstStyle/>
          <a:p>
            <a:r>
              <a:rPr lang="en-US" sz="2400" dirty="0">
                <a:latin typeface="Helvetica"/>
                <a:cs typeface="Helvetica"/>
              </a:rPr>
              <a:t>For simplicity, assume each feature takes one of two values.</a:t>
            </a:r>
          </a:p>
          <a:p>
            <a:r>
              <a:rPr lang="en-US" sz="2800" b="1" dirty="0">
                <a:latin typeface="Times New Roman"/>
                <a:cs typeface="Times New Roman"/>
              </a:rPr>
              <a:t>F</a:t>
            </a:r>
            <a:r>
              <a:rPr lang="en-US" sz="2800" dirty="0"/>
              <a:t> </a:t>
            </a:r>
            <a:r>
              <a:rPr lang="en-US" sz="2400" dirty="0">
                <a:latin typeface="Helvetica"/>
                <a:cs typeface="Helvetica"/>
              </a:rPr>
              <a:t>is encode which value each feature has for a given object.</a:t>
            </a:r>
          </a:p>
        </p:txBody>
      </p:sp>
      <p:pic>
        <p:nvPicPr>
          <p:cNvPr id="8" name="Picture 7"/>
          <p:cNvPicPr>
            <a:picLocks noChangeAspect="1"/>
          </p:cNvPicPr>
          <p:nvPr/>
        </p:nvPicPr>
        <p:blipFill>
          <a:blip r:embed="rId3"/>
          <a:stretch>
            <a:fillRect/>
          </a:stretch>
        </p:blipFill>
        <p:spPr>
          <a:xfrm>
            <a:off x="1181875" y="1954836"/>
            <a:ext cx="7038244" cy="3107671"/>
          </a:xfrm>
          <a:prstGeom prst="rect">
            <a:avLst/>
          </a:prstGeom>
        </p:spPr>
      </p:pic>
      <p:grpSp>
        <p:nvGrpSpPr>
          <p:cNvPr id="7" name="Group 6"/>
          <p:cNvGrpSpPr/>
          <p:nvPr/>
        </p:nvGrpSpPr>
        <p:grpSpPr>
          <a:xfrm>
            <a:off x="2880166" y="2782715"/>
            <a:ext cx="5374888" cy="2285092"/>
            <a:chOff x="1851697" y="2893625"/>
            <a:chExt cx="6893659" cy="2930784"/>
          </a:xfrm>
        </p:grpSpPr>
        <p:sp>
          <p:nvSpPr>
            <p:cNvPr id="10" name="TextBox 9"/>
            <p:cNvSpPr txBox="1"/>
            <p:nvPr/>
          </p:nvSpPr>
          <p:spPr>
            <a:xfrm>
              <a:off x="5813195" y="2893625"/>
              <a:ext cx="2932161" cy="552642"/>
            </a:xfrm>
            <a:prstGeom prst="rect">
              <a:avLst/>
            </a:prstGeom>
            <a:noFill/>
          </p:spPr>
          <p:txBody>
            <a:bodyPr wrap="none" rtlCol="0">
              <a:spAutoFit/>
            </a:bodyPr>
            <a:lstStyle/>
            <a:p>
              <a:r>
                <a:rPr lang="en-US" sz="2200" dirty="0">
                  <a:latin typeface="Helvetica"/>
                  <a:cs typeface="Helvetica"/>
                </a:rPr>
                <a:t>Feature values 1</a:t>
              </a:r>
            </a:p>
          </p:txBody>
        </p:sp>
        <p:sp>
          <p:nvSpPr>
            <p:cNvPr id="11" name="TextBox 10"/>
            <p:cNvSpPr txBox="1"/>
            <p:nvPr/>
          </p:nvSpPr>
          <p:spPr>
            <a:xfrm>
              <a:off x="5799908" y="5271767"/>
              <a:ext cx="2934266" cy="552642"/>
            </a:xfrm>
            <a:prstGeom prst="rect">
              <a:avLst/>
            </a:prstGeom>
            <a:noFill/>
          </p:spPr>
          <p:txBody>
            <a:bodyPr wrap="none" rtlCol="0">
              <a:spAutoFit/>
            </a:bodyPr>
            <a:lstStyle/>
            <a:p>
              <a:r>
                <a:rPr lang="en-US" sz="2200" dirty="0">
                  <a:latin typeface="Helvetica"/>
                  <a:cs typeface="Helvetica"/>
                </a:rPr>
                <a:t>Feature values 2</a:t>
              </a:r>
            </a:p>
          </p:txBody>
        </p:sp>
        <p:sp>
          <p:nvSpPr>
            <p:cNvPr id="12" name="TextBox 11"/>
            <p:cNvSpPr txBox="1"/>
            <p:nvPr/>
          </p:nvSpPr>
          <p:spPr>
            <a:xfrm>
              <a:off x="1851697" y="4205190"/>
              <a:ext cx="2008095" cy="1065809"/>
            </a:xfrm>
            <a:prstGeom prst="rect">
              <a:avLst/>
            </a:prstGeom>
            <a:noFill/>
          </p:spPr>
          <p:txBody>
            <a:bodyPr wrap="square" rtlCol="0">
              <a:spAutoFit/>
            </a:bodyPr>
            <a:lstStyle/>
            <a:p>
              <a:pPr algn="ctr"/>
              <a:r>
                <a:rPr lang="en-US" sz="2400" dirty="0">
                  <a:latin typeface="Helvetica"/>
                  <a:cs typeface="Helvetica"/>
                </a:rPr>
                <a:t>Gating matrix</a:t>
              </a:r>
            </a:p>
          </p:txBody>
        </p:sp>
      </p:grpSp>
      <p:sp>
        <p:nvSpPr>
          <p:cNvPr id="14" name="TextBox 13"/>
          <p:cNvSpPr txBox="1"/>
          <p:nvPr/>
        </p:nvSpPr>
        <p:spPr>
          <a:xfrm>
            <a:off x="88199" y="5184624"/>
            <a:ext cx="8879403" cy="830997"/>
          </a:xfrm>
          <a:prstGeom prst="rect">
            <a:avLst/>
          </a:prstGeom>
          <a:noFill/>
        </p:spPr>
        <p:txBody>
          <a:bodyPr wrap="square" rtlCol="0">
            <a:spAutoFit/>
          </a:bodyPr>
          <a:lstStyle/>
          <a:p>
            <a:r>
              <a:rPr lang="en-US" sz="2400" dirty="0">
                <a:latin typeface="Helvetica"/>
                <a:cs typeface="Helvetica"/>
              </a:rPr>
              <a:t>Note: Additive features are a special case where the second feature value is empty.</a:t>
            </a:r>
          </a:p>
        </p:txBody>
      </p:sp>
      <p:sp>
        <p:nvSpPr>
          <p:cNvPr id="13" name="TextBox 12"/>
          <p:cNvSpPr txBox="1"/>
          <p:nvPr/>
        </p:nvSpPr>
        <p:spPr>
          <a:xfrm>
            <a:off x="617392" y="4631175"/>
            <a:ext cx="4286446" cy="461665"/>
          </a:xfrm>
          <a:prstGeom prst="rect">
            <a:avLst/>
          </a:prstGeom>
          <a:noFill/>
        </p:spPr>
        <p:txBody>
          <a:bodyPr wrap="square" rtlCol="0">
            <a:spAutoFit/>
          </a:bodyPr>
          <a:lstStyle/>
          <a:p>
            <a:pPr algn="ctr"/>
            <a:r>
              <a:rPr lang="en-US" sz="2400" dirty="0">
                <a:latin typeface="Helvetica"/>
                <a:cs typeface="Helvetica"/>
              </a:rPr>
              <a:t>(product is </a:t>
            </a:r>
            <a:r>
              <a:rPr lang="en-US" sz="2400" dirty="0" err="1">
                <a:latin typeface="Helvetica"/>
                <a:cs typeface="Helvetica"/>
              </a:rPr>
              <a:t>elementwise</a:t>
            </a:r>
            <a:r>
              <a:rPr lang="en-US" sz="2400" dirty="0">
                <a:latin typeface="Helvetica"/>
                <a:cs typeface="Helvetica"/>
              </a:rPr>
              <a:t>)</a:t>
            </a:r>
          </a:p>
        </p:txBody>
      </p:sp>
      <p:sp>
        <p:nvSpPr>
          <p:cNvPr id="15" name="Rectangle 2"/>
          <p:cNvSpPr>
            <a:spLocks/>
          </p:cNvSpPr>
          <p:nvPr/>
        </p:nvSpPr>
        <p:spPr bwMode="auto">
          <a:xfrm>
            <a:off x="24868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400" b="1" dirty="0">
                <a:latin typeface="Helvetica"/>
                <a:ea typeface="ＭＳ Ｐゴシック" charset="0"/>
                <a:cs typeface="Helvetica"/>
              </a:rPr>
              <a:t>A model for inferring substitutive features</a:t>
            </a:r>
          </a:p>
        </p:txBody>
      </p:sp>
    </p:spTree>
    <p:extLst>
      <p:ext uri="{BB962C8B-B14F-4D97-AF65-F5344CB8AC3E}">
        <p14:creationId xmlns:p14="http://schemas.microsoft.com/office/powerpoint/2010/main" val="420059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30713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904542"/>
          </a:xfrm>
        </p:spPr>
        <p:txBody>
          <a:bodyPr/>
          <a:lstStyle/>
          <a:p>
            <a:r>
              <a:rPr lang="en-US" dirty="0"/>
              <a:t>One-Dimensional GP</a:t>
            </a:r>
          </a:p>
        </p:txBody>
      </p:sp>
      <p:sp>
        <p:nvSpPr>
          <p:cNvPr id="461828" name="Rectangle 4"/>
          <p:cNvSpPr>
            <a:spLocks noChangeArrowheads="1"/>
          </p:cNvSpPr>
          <p:nvPr/>
        </p:nvSpPr>
        <p:spPr bwMode="auto">
          <a:xfrm>
            <a:off x="152400" y="983717"/>
            <a:ext cx="8686800" cy="43558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Lets look at a simple* one-d GP:</a:t>
            </a:r>
          </a:p>
          <a:p>
            <a:pPr algn="l"/>
            <a:endParaRPr lang="en-US" sz="3200" dirty="0"/>
          </a:p>
          <a:p>
            <a:pPr algn="l"/>
            <a:endParaRPr lang="en-US" sz="3200" dirty="0"/>
          </a:p>
          <a:p>
            <a:pPr algn="l"/>
            <a:r>
              <a:rPr lang="en-US" sz="3200" dirty="0"/>
              <a:t>Well what’s that mean?</a:t>
            </a:r>
          </a:p>
          <a:p>
            <a:pPr algn="l"/>
            <a:r>
              <a:rPr lang="en-US" sz="3200" dirty="0"/>
              <a:t>Lets say we want the value of </a:t>
            </a:r>
            <a:r>
              <a:rPr lang="en-US" sz="3200" i="1" dirty="0">
                <a:latin typeface="Times New Roman"/>
                <a:cs typeface="Times New Roman"/>
              </a:rPr>
              <a:t>f</a:t>
            </a:r>
            <a:r>
              <a:rPr lang="en-US" sz="3200" dirty="0"/>
              <a:t> at                      .</a:t>
            </a:r>
          </a:p>
          <a:p>
            <a:pPr algn="l"/>
            <a:endParaRPr lang="en-US" sz="1600" dirty="0"/>
          </a:p>
          <a:p>
            <a:pPr algn="l"/>
            <a:r>
              <a:rPr lang="en-US" sz="3200" dirty="0"/>
              <a:t>Well we actually have enough info to sample...</a:t>
            </a:r>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873" y="1643185"/>
            <a:ext cx="8896327" cy="900154"/>
          </a:xfrm>
          <a:prstGeom prst="rect">
            <a:avLst/>
          </a:prstGeom>
        </p:spPr>
      </p:pic>
      <p:sp>
        <p:nvSpPr>
          <p:cNvPr id="7" name="TextBox 6"/>
          <p:cNvSpPr txBox="1"/>
          <p:nvPr/>
        </p:nvSpPr>
        <p:spPr>
          <a:xfrm>
            <a:off x="76502" y="6397821"/>
            <a:ext cx="3931034" cy="461665"/>
          </a:xfrm>
          <a:prstGeom prst="rect">
            <a:avLst/>
          </a:prstGeom>
          <a:noFill/>
        </p:spPr>
        <p:txBody>
          <a:bodyPr wrap="none" rtlCol="0">
            <a:spAutoFit/>
          </a:bodyPr>
          <a:lstStyle/>
          <a:p>
            <a:r>
              <a:rPr lang="en-US" sz="2400" dirty="0"/>
              <a:t>*simple isn’t even </a:t>
            </a:r>
            <a:r>
              <a:rPr lang="en-US" sz="2400" b="1" dirty="0"/>
              <a:t>that</a:t>
            </a:r>
            <a:r>
              <a:rPr lang="en-US" sz="2400" dirty="0"/>
              <a:t> simple</a:t>
            </a:r>
          </a:p>
        </p:txBody>
      </p:sp>
      <p:pic>
        <p:nvPicPr>
          <p:cNvPr id="9" name="Picture 8"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4799" y="3177950"/>
            <a:ext cx="1816100" cy="266700"/>
          </a:xfrm>
          <a:prstGeom prst="rect">
            <a:avLst/>
          </a:prstGeom>
        </p:spPr>
      </p:pic>
      <p:pic>
        <p:nvPicPr>
          <p:cNvPr id="10" name="Picture 9"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066" y="4440127"/>
            <a:ext cx="7200900" cy="419100"/>
          </a:xfrm>
          <a:prstGeom prst="rect">
            <a:avLst/>
          </a:prstGeom>
        </p:spPr>
      </p:pic>
      <p:pic>
        <p:nvPicPr>
          <p:cNvPr id="11" name="Picture 10"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1238" y="5129974"/>
            <a:ext cx="5118100" cy="419100"/>
          </a:xfrm>
          <a:prstGeom prst="rect">
            <a:avLst/>
          </a:prstGeom>
        </p:spPr>
      </p:pic>
      <p:pic>
        <p:nvPicPr>
          <p:cNvPr id="12" name="Picture 11" descr="latex-image-1.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9384" y="5790452"/>
            <a:ext cx="2552700" cy="444500"/>
          </a:xfrm>
          <a:prstGeom prst="rect">
            <a:avLst/>
          </a:prstGeom>
        </p:spPr>
      </p:pic>
    </p:spTree>
    <p:extLst>
      <p:ext uri="{BB962C8B-B14F-4D97-AF65-F5344CB8AC3E}">
        <p14:creationId xmlns:p14="http://schemas.microsoft.com/office/powerpoint/2010/main" val="278225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82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182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582054"/>
          </a:xfrm>
        </p:spPr>
        <p:txBody>
          <a:bodyPr>
            <a:normAutofit fontScale="90000"/>
          </a:bodyPr>
          <a:lstStyle/>
          <a:p>
            <a:r>
              <a:rPr lang="en-US" dirty="0"/>
              <a:t>One-Dimensional GP</a:t>
            </a:r>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pic>
        <p:nvPicPr>
          <p:cNvPr id="2" name="Picture 1"/>
          <p:cNvPicPr>
            <a:picLocks noChangeAspect="1"/>
          </p:cNvPicPr>
          <p:nvPr/>
        </p:nvPicPr>
        <p:blipFill>
          <a:blip r:embed="rId3"/>
          <a:stretch>
            <a:fillRect/>
          </a:stretch>
        </p:blipFill>
        <p:spPr>
          <a:xfrm>
            <a:off x="781342" y="636325"/>
            <a:ext cx="7677881" cy="5899187"/>
          </a:xfrm>
          <a:prstGeom prst="rect">
            <a:avLst/>
          </a:prstGeom>
        </p:spPr>
      </p:pic>
    </p:spTree>
    <p:extLst>
      <p:ext uri="{BB962C8B-B14F-4D97-AF65-F5344CB8AC3E}">
        <p14:creationId xmlns:p14="http://schemas.microsoft.com/office/powerpoint/2010/main" val="26485674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1" y="54271"/>
            <a:ext cx="9144000" cy="710704"/>
          </a:xfrm>
        </p:spPr>
        <p:txBody>
          <a:bodyPr>
            <a:normAutofit fontScale="90000"/>
          </a:bodyPr>
          <a:lstStyle/>
          <a:p>
            <a:r>
              <a:rPr lang="en-US" dirty="0"/>
              <a:t>Lots of different covariance functions</a:t>
            </a:r>
          </a:p>
        </p:txBody>
      </p:sp>
      <p:sp>
        <p:nvSpPr>
          <p:cNvPr id="3" name="TextBox 2"/>
          <p:cNvSpPr txBox="1"/>
          <p:nvPr/>
        </p:nvSpPr>
        <p:spPr>
          <a:xfrm>
            <a:off x="198907" y="853735"/>
            <a:ext cx="7517252" cy="1815882"/>
          </a:xfrm>
          <a:prstGeom prst="rect">
            <a:avLst/>
          </a:prstGeom>
          <a:noFill/>
        </p:spPr>
        <p:txBody>
          <a:bodyPr wrap="none" rtlCol="0">
            <a:spAutoFit/>
          </a:bodyPr>
          <a:lstStyle/>
          <a:p>
            <a:r>
              <a:rPr lang="en-US" sz="2800" dirty="0"/>
              <a:t>We already met the Gaussian covariance function.</a:t>
            </a:r>
            <a:endParaRPr lang="en-US" sz="1400" dirty="0"/>
          </a:p>
          <a:p>
            <a:r>
              <a:rPr lang="en-US" sz="2800" dirty="0"/>
              <a:t>Another is the </a:t>
            </a:r>
            <a:r>
              <a:rPr lang="en-US" sz="2800" i="1" dirty="0"/>
              <a:t>Rational Quadratic</a:t>
            </a:r>
          </a:p>
          <a:p>
            <a:endParaRPr lang="en-US" sz="2800" dirty="0"/>
          </a:p>
          <a:p>
            <a:endParaRPr lang="en-US" sz="2800" dirty="0"/>
          </a:p>
        </p:txBody>
      </p:sp>
      <p:pic>
        <p:nvPicPr>
          <p:cNvPr id="4" name="Picture 3"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013" y="1693338"/>
            <a:ext cx="6096000" cy="1016000"/>
          </a:xfrm>
          <a:prstGeom prst="rect">
            <a:avLst/>
          </a:prstGeom>
        </p:spPr>
      </p:pic>
      <p:pic>
        <p:nvPicPr>
          <p:cNvPr id="5" name="Picture 4"/>
          <p:cNvPicPr>
            <a:picLocks noChangeAspect="1"/>
          </p:cNvPicPr>
          <p:nvPr/>
        </p:nvPicPr>
        <p:blipFill>
          <a:blip r:embed="rId4"/>
          <a:stretch>
            <a:fillRect/>
          </a:stretch>
        </p:blipFill>
        <p:spPr>
          <a:xfrm>
            <a:off x="0" y="2885060"/>
            <a:ext cx="9144000" cy="3794289"/>
          </a:xfrm>
          <a:prstGeom prst="rect">
            <a:avLst/>
          </a:prstGeom>
        </p:spPr>
      </p:pic>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sp>
        <p:nvSpPr>
          <p:cNvPr id="6" name="TextBox 5"/>
          <p:cNvSpPr txBox="1"/>
          <p:nvPr/>
        </p:nvSpPr>
        <p:spPr>
          <a:xfrm>
            <a:off x="1444179" y="2654227"/>
            <a:ext cx="2163273" cy="461665"/>
          </a:xfrm>
          <a:prstGeom prst="rect">
            <a:avLst/>
          </a:prstGeom>
          <a:noFill/>
        </p:spPr>
        <p:txBody>
          <a:bodyPr wrap="none" rtlCol="0">
            <a:spAutoFit/>
          </a:bodyPr>
          <a:lstStyle/>
          <a:p>
            <a:r>
              <a:rPr lang="en-US" sz="2400" dirty="0"/>
              <a:t>Kernel behavior</a:t>
            </a:r>
          </a:p>
        </p:txBody>
      </p:sp>
      <p:sp>
        <p:nvSpPr>
          <p:cNvPr id="9" name="TextBox 8"/>
          <p:cNvSpPr txBox="1"/>
          <p:nvPr/>
        </p:nvSpPr>
        <p:spPr>
          <a:xfrm>
            <a:off x="5784901" y="2663984"/>
            <a:ext cx="2499452" cy="461665"/>
          </a:xfrm>
          <a:prstGeom prst="rect">
            <a:avLst/>
          </a:prstGeom>
          <a:noFill/>
        </p:spPr>
        <p:txBody>
          <a:bodyPr wrap="none" rtlCol="0">
            <a:spAutoFit/>
          </a:bodyPr>
          <a:lstStyle/>
          <a:p>
            <a:r>
              <a:rPr lang="en-US" sz="2400" dirty="0"/>
              <a:t>Sampled functions</a:t>
            </a:r>
          </a:p>
        </p:txBody>
      </p:sp>
    </p:spTree>
    <p:extLst>
      <p:ext uri="{BB962C8B-B14F-4D97-AF65-F5344CB8AC3E}">
        <p14:creationId xmlns:p14="http://schemas.microsoft.com/office/powerpoint/2010/main" val="180861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1" y="54271"/>
            <a:ext cx="9144000" cy="710704"/>
          </a:xfrm>
        </p:spPr>
        <p:txBody>
          <a:bodyPr>
            <a:normAutofit fontScale="90000"/>
          </a:bodyPr>
          <a:lstStyle/>
          <a:p>
            <a:r>
              <a:rPr lang="en-US" dirty="0"/>
              <a:t>What about NNs?</a:t>
            </a:r>
          </a:p>
        </p:txBody>
      </p:sp>
      <p:sp>
        <p:nvSpPr>
          <p:cNvPr id="3" name="TextBox 2"/>
          <p:cNvSpPr txBox="1"/>
          <p:nvPr/>
        </p:nvSpPr>
        <p:spPr>
          <a:xfrm>
            <a:off x="198907" y="732791"/>
            <a:ext cx="9190798" cy="954107"/>
          </a:xfrm>
          <a:prstGeom prst="rect">
            <a:avLst/>
          </a:prstGeom>
          <a:noFill/>
        </p:spPr>
        <p:txBody>
          <a:bodyPr wrap="square" rtlCol="0">
            <a:spAutoFit/>
          </a:bodyPr>
          <a:lstStyle/>
          <a:p>
            <a:r>
              <a:rPr lang="en-US" sz="2800" dirty="0"/>
              <a:t>A NN with infinite hidden layer is a GP with kernel function</a:t>
            </a:r>
            <a:r>
              <a:rPr lang="en-US" sz="1400" dirty="0"/>
              <a:t>.</a:t>
            </a:r>
            <a:endParaRPr lang="en-US" sz="2800" dirty="0"/>
          </a:p>
          <a:p>
            <a:endParaRPr lang="en-US" sz="2800" dirty="0"/>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Mackay’s Tutorial</a:t>
            </a:r>
          </a:p>
        </p:txBody>
      </p:sp>
      <p:sp>
        <p:nvSpPr>
          <p:cNvPr id="9" name="TextBox 8"/>
          <p:cNvSpPr txBox="1"/>
          <p:nvPr/>
        </p:nvSpPr>
        <p:spPr>
          <a:xfrm>
            <a:off x="3033007" y="2613135"/>
            <a:ext cx="2499452" cy="461665"/>
          </a:xfrm>
          <a:prstGeom prst="rect">
            <a:avLst/>
          </a:prstGeom>
          <a:noFill/>
        </p:spPr>
        <p:txBody>
          <a:bodyPr wrap="none" rtlCol="0">
            <a:spAutoFit/>
          </a:bodyPr>
          <a:lstStyle/>
          <a:p>
            <a:r>
              <a:rPr lang="en-US" sz="2400" dirty="0"/>
              <a:t>Sampled functions</a:t>
            </a:r>
          </a:p>
        </p:txBody>
      </p:sp>
      <p:pic>
        <p:nvPicPr>
          <p:cNvPr id="2" name="Picture 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907" y="1316673"/>
            <a:ext cx="8769773" cy="1355226"/>
          </a:xfrm>
          <a:prstGeom prst="rect">
            <a:avLst/>
          </a:prstGeom>
        </p:spPr>
      </p:pic>
      <p:pic>
        <p:nvPicPr>
          <p:cNvPr id="7" name="Picture 6"/>
          <p:cNvPicPr>
            <a:picLocks noChangeAspect="1"/>
          </p:cNvPicPr>
          <p:nvPr/>
        </p:nvPicPr>
        <p:blipFill>
          <a:blip r:embed="rId4"/>
          <a:stretch>
            <a:fillRect/>
          </a:stretch>
        </p:blipFill>
        <p:spPr>
          <a:xfrm>
            <a:off x="1874917" y="3028455"/>
            <a:ext cx="5049993" cy="3519062"/>
          </a:xfrm>
          <a:prstGeom prst="rect">
            <a:avLst/>
          </a:prstGeom>
        </p:spPr>
      </p:pic>
    </p:spTree>
    <p:extLst>
      <p:ext uri="{BB962C8B-B14F-4D97-AF65-F5344CB8AC3E}">
        <p14:creationId xmlns:p14="http://schemas.microsoft.com/office/powerpoint/2010/main" val="889218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DA61C-ECE7-4E5B-814E-55B14CD76A4B}"/>
              </a:ext>
            </a:extLst>
          </p:cNvPr>
          <p:cNvSpPr>
            <a:spLocks noGrp="1"/>
          </p:cNvSpPr>
          <p:nvPr>
            <p:ph idx="1"/>
          </p:nvPr>
        </p:nvSpPr>
        <p:spPr/>
        <p:txBody>
          <a:bodyPr/>
          <a:lstStyle/>
          <a:p>
            <a:r>
              <a:rPr lang="en-US" dirty="0">
                <a:hlinkClick r:id="rId2"/>
              </a:rPr>
              <a:t>https://chi-feng.github.io/gp-demo/</a:t>
            </a:r>
            <a:endParaRPr lang="en-US" dirty="0"/>
          </a:p>
        </p:txBody>
      </p:sp>
    </p:spTree>
    <p:extLst>
      <p:ext uri="{BB962C8B-B14F-4D97-AF65-F5344CB8AC3E}">
        <p14:creationId xmlns:p14="http://schemas.microsoft.com/office/powerpoint/2010/main" val="37956980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p:nvPr/>
        </p:nvSpPr>
        <p:spPr>
          <a:xfrm>
            <a:off x="846411" y="1684998"/>
            <a:ext cx="7448005"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“Bayesian” about Bayesian nonparametrics?</a:t>
            </a:r>
          </a:p>
        </p:txBody>
      </p:sp>
      <p:sp>
        <p:nvSpPr>
          <p:cNvPr id="396" name="Shape 396"/>
          <p:cNvSpPr/>
          <p:nvPr/>
        </p:nvSpPr>
        <p:spPr>
          <a:xfrm>
            <a:off x="243881" y="2881576"/>
            <a:ext cx="8656832"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Are there no parameters in nonparametric Bayesian models?</a:t>
            </a:r>
          </a:p>
        </p:txBody>
      </p:sp>
      <p:sp>
        <p:nvSpPr>
          <p:cNvPr id="397" name="Shape 397"/>
          <p:cNvSpPr/>
          <p:nvPr/>
        </p:nvSpPr>
        <p:spPr>
          <a:xfrm>
            <a:off x="204992" y="3890630"/>
            <a:ext cx="8728854"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Are Gibbs samplers a type of nonparametric Bayesian model?</a:t>
            </a:r>
          </a:p>
        </p:txBody>
      </p:sp>
      <p:sp>
        <p:nvSpPr>
          <p:cNvPr id="398" name="Shape 398"/>
          <p:cNvSpPr/>
          <p:nvPr/>
        </p:nvSpPr>
        <p:spPr>
          <a:xfrm>
            <a:off x="644972" y="4810388"/>
            <a:ext cx="7847848"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the distinction between models and inference?</a:t>
            </a:r>
          </a:p>
        </p:txBody>
      </p:sp>
      <p:sp>
        <p:nvSpPr>
          <p:cNvPr id="399" name="Shape 399"/>
          <p:cNvSpPr/>
          <p:nvPr/>
        </p:nvSpPr>
        <p:spPr>
          <a:xfrm>
            <a:off x="296" y="30639"/>
            <a:ext cx="9144001" cy="903128"/>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700">
                <a:sym typeface="Gill Sans"/>
              </a:rPr>
              <a:t>What does nonparametric mean? </a:t>
            </a:r>
          </a:p>
          <a:p>
            <a:pPr algn="ctr" defTabSz="410751">
              <a:defRPr sz="1800"/>
            </a:pPr>
            <a:r>
              <a:rPr sz="2700">
                <a:sym typeface="Gill Sans"/>
              </a:rPr>
              <a:t>How does it differ from parametric?</a:t>
            </a:r>
          </a:p>
        </p:txBody>
      </p:sp>
      <p:sp>
        <p:nvSpPr>
          <p:cNvPr id="400" name="Shape 400"/>
          <p:cNvSpPr/>
          <p:nvPr/>
        </p:nvSpPr>
        <p:spPr>
          <a:xfrm>
            <a:off x="129909" y="3337273"/>
            <a:ext cx="8881009"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Nonparametric models have parameters. They just have an infinite number of them!</a:t>
            </a:r>
          </a:p>
        </p:txBody>
      </p:sp>
      <p:sp>
        <p:nvSpPr>
          <p:cNvPr id="401" name="Shape 401"/>
          <p:cNvSpPr/>
          <p:nvPr/>
        </p:nvSpPr>
        <p:spPr>
          <a:xfrm>
            <a:off x="1953" y="861666"/>
            <a:ext cx="9144001"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Nonparametric models can learn any possible distribution.*</a:t>
            </a:r>
          </a:p>
          <a:p>
            <a:pPr algn="ctr" defTabSz="410751">
              <a:defRPr sz="1800"/>
            </a:pPr>
            <a:r>
              <a:rPr sz="2000">
                <a:solidFill>
                  <a:srgbClr val="FF4013"/>
                </a:solidFill>
                <a:sym typeface="Gill Sans"/>
              </a:rPr>
              <a:t>Parametric models are restricted to a family (e.g., Gaussians with different means).</a:t>
            </a:r>
          </a:p>
        </p:txBody>
      </p:sp>
      <p:sp>
        <p:nvSpPr>
          <p:cNvPr id="402" name="Shape 402"/>
          <p:cNvSpPr/>
          <p:nvPr/>
        </p:nvSpPr>
        <p:spPr>
          <a:xfrm>
            <a:off x="259065" y="6265644"/>
            <a:ext cx="8617149" cy="595352"/>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1700">
                <a:solidFill>
                  <a:srgbClr val="FF4013"/>
                </a:solidFill>
                <a:sym typeface="Gill Sans"/>
              </a:rPr>
              <a:t>*Nonparametric can also mean models whose structure grow with the amount of data. </a:t>
            </a:r>
          </a:p>
          <a:p>
            <a:pPr algn="ctr" defTabSz="410751">
              <a:defRPr sz="1800"/>
            </a:pPr>
            <a:r>
              <a:rPr sz="1700">
                <a:solidFill>
                  <a:srgbClr val="FF4013"/>
                </a:solidFill>
                <a:sym typeface="Gill Sans"/>
              </a:rPr>
              <a:t>These two definitions are strongly, but not perfectly correlated.</a:t>
            </a:r>
          </a:p>
        </p:txBody>
      </p:sp>
      <p:sp>
        <p:nvSpPr>
          <p:cNvPr id="403" name="Shape 403"/>
          <p:cNvSpPr/>
          <p:nvPr/>
        </p:nvSpPr>
        <p:spPr>
          <a:xfrm>
            <a:off x="0" y="2120752"/>
            <a:ext cx="9144000"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Bayesian nonparametric models can learn any possible distribution, </a:t>
            </a:r>
          </a:p>
          <a:p>
            <a:pPr algn="ctr" defTabSz="410751">
              <a:defRPr sz="1800"/>
            </a:pPr>
            <a:r>
              <a:rPr sz="2000">
                <a:solidFill>
                  <a:srgbClr val="FF4013"/>
                </a:solidFill>
                <a:sym typeface="Gill Sans"/>
              </a:rPr>
              <a:t>but they are </a:t>
            </a:r>
            <a:r>
              <a:rPr sz="2000" i="1">
                <a:solidFill>
                  <a:srgbClr val="FF4013"/>
                </a:solidFill>
                <a:sym typeface="Gill Sans"/>
              </a:rPr>
              <a:t>biased </a:t>
            </a:r>
            <a:r>
              <a:rPr sz="2000">
                <a:solidFill>
                  <a:srgbClr val="FF4013"/>
                </a:solidFill>
                <a:sym typeface="Gill Sans"/>
              </a:rPr>
              <a:t>towards particular </a:t>
            </a:r>
            <a:r>
              <a:rPr sz="2000" i="1">
                <a:solidFill>
                  <a:srgbClr val="FF4013"/>
                </a:solidFill>
                <a:sym typeface="Gill Sans"/>
              </a:rPr>
              <a:t>types</a:t>
            </a:r>
            <a:r>
              <a:rPr sz="2000">
                <a:solidFill>
                  <a:srgbClr val="FF4013"/>
                </a:solidFill>
                <a:sym typeface="Gill Sans"/>
              </a:rPr>
              <a:t> of distributions.</a:t>
            </a:r>
          </a:p>
        </p:txBody>
      </p:sp>
      <p:sp>
        <p:nvSpPr>
          <p:cNvPr id="404" name="Shape 404"/>
          <p:cNvSpPr/>
          <p:nvPr/>
        </p:nvSpPr>
        <p:spPr>
          <a:xfrm>
            <a:off x="1273836" y="4292749"/>
            <a:ext cx="6600236"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Gibbs sampling is an inference method. It is applied to models.</a:t>
            </a:r>
          </a:p>
        </p:txBody>
      </p:sp>
      <p:sp>
        <p:nvSpPr>
          <p:cNvPr id="405" name="Shape 405"/>
          <p:cNvSpPr/>
          <p:nvPr/>
        </p:nvSpPr>
        <p:spPr>
          <a:xfrm>
            <a:off x="483938" y="5237213"/>
            <a:ext cx="8183326" cy="687685"/>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algn="ctr" defTabSz="410751">
              <a:defRPr sz="1800"/>
            </a:pPr>
            <a:r>
              <a:rPr sz="2000">
                <a:solidFill>
                  <a:srgbClr val="FF4013"/>
                </a:solidFill>
                <a:sym typeface="Gill Sans"/>
              </a:rPr>
              <a:t>Models specify a probability distribution over data and possibly latent factors.</a:t>
            </a:r>
          </a:p>
          <a:p>
            <a:pPr algn="ctr" defTabSz="410751">
              <a:defRPr sz="1800"/>
            </a:pPr>
            <a:r>
              <a:rPr sz="2000">
                <a:solidFill>
                  <a:srgbClr val="FF4013"/>
                </a:solidFill>
                <a:sym typeface="Gill Sans"/>
              </a:rPr>
              <a:t>Inference methods sample from (or find the max) the posterior distribution.</a:t>
            </a:r>
          </a:p>
        </p:txBody>
      </p:sp>
    </p:spTree>
    <p:extLst>
      <p:ext uri="{BB962C8B-B14F-4D97-AF65-F5344CB8AC3E}">
        <p14:creationId xmlns:p14="http://schemas.microsoft.com/office/powerpoint/2010/main" val="1977086928"/>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0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40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39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40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39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40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39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40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39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p:tmAbs val="0"/>
                                  </p:iterate>
                                  <p:childTnLst>
                                    <p:set>
                                      <p:cBhvr>
                                        <p:cTn id="41" fill="hold"/>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animBg="1" advAuto="0"/>
      <p:bldP spid="396" grpId="0" animBg="1" advAuto="0"/>
      <p:bldP spid="397" grpId="0" animBg="1" advAuto="0"/>
      <p:bldP spid="398" grpId="0" animBg="1" advAuto="0"/>
      <p:bldP spid="400" grpId="0" animBg="1" advAuto="0"/>
      <p:bldP spid="401" grpId="0" animBg="1" advAuto="0"/>
      <p:bldP spid="402" grpId="0" animBg="1" advAuto="0"/>
      <p:bldP spid="403" grpId="0" animBg="1" advAuto="0"/>
      <p:bldP spid="404" grpId="0" animBg="1" advAuto="0"/>
      <p:bldP spid="405" grpId="0" animBg="1" advAuto="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6441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6603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x-none"/>
              <a:t>Latent variable models</a:t>
            </a:r>
          </a:p>
        </p:txBody>
      </p:sp>
      <p:sp>
        <p:nvSpPr>
          <p:cNvPr id="8196" name="Oval 4"/>
          <p:cNvSpPr>
            <a:spLocks noChangeArrowheads="1"/>
          </p:cNvSpPr>
          <p:nvPr/>
        </p:nvSpPr>
        <p:spPr bwMode="auto">
          <a:xfrm>
            <a:off x="774700" y="2438400"/>
            <a:ext cx="866775" cy="9048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7" name="Oval 5"/>
          <p:cNvSpPr>
            <a:spLocks noChangeArrowheads="1"/>
          </p:cNvSpPr>
          <p:nvPr/>
        </p:nvSpPr>
        <p:spPr bwMode="auto">
          <a:xfrm>
            <a:off x="774700" y="4568825"/>
            <a:ext cx="866775" cy="8413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8" name="Text Box 6"/>
          <p:cNvSpPr txBox="1">
            <a:spLocks noChangeArrowheads="1"/>
          </p:cNvSpPr>
          <p:nvPr/>
        </p:nvSpPr>
        <p:spPr bwMode="auto">
          <a:xfrm>
            <a:off x="1905000" y="2438400"/>
            <a:ext cx="11144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4400" i="1">
                <a:latin typeface="Times New Roman" charset="0"/>
              </a:rPr>
              <a:t>P</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199" name="Text Box 7"/>
          <p:cNvSpPr txBox="1">
            <a:spLocks noChangeArrowheads="1"/>
          </p:cNvSpPr>
          <p:nvPr/>
        </p:nvSpPr>
        <p:spPr bwMode="auto">
          <a:xfrm>
            <a:off x="1765300" y="4584700"/>
            <a:ext cx="1474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P</a:t>
            </a:r>
            <a:r>
              <a:rPr lang="en-US" altLang="x-none" sz="4400">
                <a:latin typeface="Times New Roman" charset="0"/>
              </a:rPr>
              <a:t>(</a:t>
            </a:r>
            <a:r>
              <a:rPr lang="en-US" altLang="x-none" sz="4400" i="1">
                <a:latin typeface="Times New Roman" charset="0"/>
              </a:rPr>
              <a:t>x</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200" name="Line 8"/>
          <p:cNvSpPr>
            <a:spLocks noChangeShapeType="1"/>
          </p:cNvSpPr>
          <p:nvPr/>
        </p:nvSpPr>
        <p:spPr bwMode="auto">
          <a:xfrm>
            <a:off x="1190625" y="3343275"/>
            <a:ext cx="3175" cy="12255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1" name="Text Box 9"/>
          <p:cNvSpPr txBox="1">
            <a:spLocks noChangeArrowheads="1"/>
          </p:cNvSpPr>
          <p:nvPr/>
        </p:nvSpPr>
        <p:spPr bwMode="auto">
          <a:xfrm>
            <a:off x="1025525" y="2438400"/>
            <a:ext cx="4016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z</a:t>
            </a:r>
          </a:p>
        </p:txBody>
      </p:sp>
      <p:sp>
        <p:nvSpPr>
          <p:cNvPr id="8202" name="Text Box 10"/>
          <p:cNvSpPr txBox="1">
            <a:spLocks noChangeArrowheads="1"/>
          </p:cNvSpPr>
          <p:nvPr/>
        </p:nvSpPr>
        <p:spPr bwMode="auto">
          <a:xfrm>
            <a:off x="1009650" y="4495800"/>
            <a:ext cx="4318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x</a:t>
            </a:r>
          </a:p>
        </p:txBody>
      </p:sp>
      <p:sp>
        <p:nvSpPr>
          <p:cNvPr id="8203" name="Text Box 11"/>
          <p:cNvSpPr txBox="1">
            <a:spLocks noChangeArrowheads="1"/>
          </p:cNvSpPr>
          <p:nvPr/>
        </p:nvSpPr>
        <p:spPr bwMode="auto">
          <a:xfrm>
            <a:off x="3414713" y="2590800"/>
            <a:ext cx="3367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Latent (unobserved)</a:t>
            </a:r>
          </a:p>
        </p:txBody>
      </p:sp>
      <p:sp>
        <p:nvSpPr>
          <p:cNvPr id="8204" name="Text Box 12"/>
          <p:cNvSpPr txBox="1">
            <a:spLocks noChangeArrowheads="1"/>
          </p:cNvSpPr>
          <p:nvPr/>
        </p:nvSpPr>
        <p:spPr bwMode="auto">
          <a:xfrm>
            <a:off x="3352800" y="4800600"/>
            <a:ext cx="17256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Observed</a:t>
            </a:r>
          </a:p>
        </p:txBody>
      </p:sp>
      <p:graphicFrame>
        <p:nvGraphicFramePr>
          <p:cNvPr id="8205" name="Object 13"/>
          <p:cNvGraphicFramePr>
            <a:graphicFrameLocks noChangeAspect="1"/>
          </p:cNvGraphicFramePr>
          <p:nvPr/>
        </p:nvGraphicFramePr>
        <p:xfrm>
          <a:off x="3505200" y="3482975"/>
          <a:ext cx="4495800" cy="1165225"/>
        </p:xfrm>
        <a:graphic>
          <a:graphicData uri="http://schemas.openxmlformats.org/presentationml/2006/ole">
            <mc:AlternateContent xmlns:mc="http://schemas.openxmlformats.org/markup-compatibility/2006">
              <mc:Choice xmlns:v="urn:schemas-microsoft-com:vml" Requires="v">
                <p:oleObj name="Equation" r:id="rId3" imgW="1371600" imgH="355600" progId="Equation.3">
                  <p:embed/>
                </p:oleObj>
              </mc:Choice>
              <mc:Fallback>
                <p:oleObj name="Equation" r:id="rId3" imgW="1371600" imgH="355600" progId="Equation.3">
                  <p:embed/>
                  <p:pic>
                    <p:nvPicPr>
                      <p:cNvPr id="820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3482975"/>
                        <a:ext cx="449580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206" name="Line 14"/>
          <p:cNvSpPr>
            <a:spLocks noChangeShapeType="1"/>
          </p:cNvSpPr>
          <p:nvPr/>
        </p:nvSpPr>
        <p:spPr bwMode="auto">
          <a:xfrm flipH="1" flipV="1">
            <a:off x="5410200" y="4572000"/>
            <a:ext cx="685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7" name="Text Box 15"/>
          <p:cNvSpPr txBox="1">
            <a:spLocks noChangeArrowheads="1"/>
          </p:cNvSpPr>
          <p:nvPr/>
        </p:nvSpPr>
        <p:spPr bwMode="auto">
          <a:xfrm>
            <a:off x="6062663" y="4495800"/>
            <a:ext cx="2251075" cy="118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a:t>Marginalize out</a:t>
            </a:r>
          </a:p>
          <a:p>
            <a:pPr algn="ctr"/>
            <a:r>
              <a:rPr lang="en-US" altLang="x-none"/>
              <a:t>(i.e. sum over) </a:t>
            </a:r>
          </a:p>
          <a:p>
            <a:pPr algn="ctr"/>
            <a:r>
              <a:rPr lang="en-US" altLang="x-none"/>
              <a:t>latent structure</a:t>
            </a:r>
          </a:p>
        </p:txBody>
      </p:sp>
    </p:spTree>
    <p:extLst>
      <p:ext uri="{BB962C8B-B14F-4D97-AF65-F5344CB8AC3E}">
        <p14:creationId xmlns:p14="http://schemas.microsoft.com/office/powerpoint/2010/main" val="36129058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Dirichlet</a:t>
            </a:r>
            <a:r>
              <a:rPr lang="en-US" dirty="0"/>
              <a:t>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112" y="1984238"/>
            <a:ext cx="5363688" cy="3863199"/>
          </a:xfrm>
          <a:prstGeom prst="rect">
            <a:avLst/>
          </a:prstGeom>
        </p:spPr>
      </p:pic>
      <p:sp>
        <p:nvSpPr>
          <p:cNvPr id="5" name="TextBox 4"/>
          <p:cNvSpPr txBox="1"/>
          <p:nvPr/>
        </p:nvSpPr>
        <p:spPr>
          <a:xfrm>
            <a:off x="285007" y="1838345"/>
            <a:ext cx="2921330" cy="4154984"/>
          </a:xfrm>
          <a:prstGeom prst="rect">
            <a:avLst/>
          </a:prstGeom>
          <a:noFill/>
        </p:spPr>
        <p:txBody>
          <a:bodyPr wrap="square" rtlCol="0">
            <a:spAutoFit/>
          </a:bodyPr>
          <a:lstStyle/>
          <a:p>
            <a:r>
              <a:rPr lang="en-US" sz="2400" dirty="0"/>
              <a:t>Multidimensional extension of Beta distribution.</a:t>
            </a:r>
          </a:p>
          <a:p>
            <a:endParaRPr lang="en-US" sz="2400" dirty="0"/>
          </a:p>
          <a:p>
            <a:r>
              <a:rPr lang="en-US" sz="2400" dirty="0"/>
              <a:t>It is a </a:t>
            </a:r>
            <a:r>
              <a:rPr lang="en-US" sz="2400" dirty="0" err="1"/>
              <a:t>prob</a:t>
            </a:r>
            <a:r>
              <a:rPr lang="en-US" sz="2400" dirty="0"/>
              <a:t> </a:t>
            </a:r>
            <a:r>
              <a:rPr lang="en-US" sz="2400" dirty="0" err="1"/>
              <a:t>dist</a:t>
            </a:r>
            <a:r>
              <a:rPr lang="en-US" sz="2400" dirty="0"/>
              <a:t> over k-dim </a:t>
            </a:r>
            <a:r>
              <a:rPr lang="en-US" sz="2400" dirty="0" err="1"/>
              <a:t>prob</a:t>
            </a:r>
            <a:r>
              <a:rPr lang="en-US" sz="2400" dirty="0"/>
              <a:t> </a:t>
            </a:r>
            <a:r>
              <a:rPr lang="en-US" sz="2400" dirty="0" err="1"/>
              <a:t>dists</a:t>
            </a:r>
            <a:r>
              <a:rPr lang="en-US" sz="2400" dirty="0"/>
              <a:t>. </a:t>
            </a:r>
          </a:p>
          <a:p>
            <a:endParaRPr lang="en-US" sz="2400" dirty="0"/>
          </a:p>
          <a:p>
            <a:r>
              <a:rPr lang="en-US" sz="2400" dirty="0"/>
              <a:t>Conjugate to Multinomial (multidimensional version of Binomial)</a:t>
            </a:r>
          </a:p>
        </p:txBody>
      </p:sp>
      <p:sp>
        <p:nvSpPr>
          <p:cNvPr id="6" name="TextBox 5"/>
          <p:cNvSpPr txBox="1"/>
          <p:nvPr/>
        </p:nvSpPr>
        <p:spPr>
          <a:xfrm>
            <a:off x="855023" y="6175169"/>
            <a:ext cx="7627601" cy="461665"/>
          </a:xfrm>
          <a:prstGeom prst="rect">
            <a:avLst/>
          </a:prstGeom>
          <a:noFill/>
        </p:spPr>
        <p:txBody>
          <a:bodyPr wrap="none" rtlCol="0">
            <a:spAutoFit/>
          </a:bodyPr>
          <a:lstStyle/>
          <a:p>
            <a:r>
              <a:rPr lang="en-US" sz="2400" dirty="0"/>
              <a:t>Discrete = multidimensional version of </a:t>
            </a:r>
            <a:r>
              <a:rPr lang="en-US" sz="2400"/>
              <a:t>a coin flip (Bernoulli)</a:t>
            </a:r>
          </a:p>
        </p:txBody>
      </p:sp>
    </p:spTree>
    <p:extLst>
      <p:ext uri="{BB962C8B-B14F-4D97-AF65-F5344CB8AC3E}">
        <p14:creationId xmlns:p14="http://schemas.microsoft.com/office/powerpoint/2010/main" val="41406079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58E4EDB-58BF-4263-8659-70B681DD00BA}"/>
                  </a:ext>
                </a:extLst>
              </p:cNvPr>
              <p:cNvSpPr txBox="1"/>
              <p:nvPr/>
            </p:nvSpPr>
            <p:spPr>
              <a:xfrm>
                <a:off x="324196" y="538560"/>
                <a:ext cx="8412480" cy="3785652"/>
              </a:xfrm>
              <a:prstGeom prst="rect">
                <a:avLst/>
              </a:prstGeom>
              <a:noFill/>
            </p:spPr>
            <p:txBody>
              <a:bodyPr wrap="square">
                <a:spAutoFit/>
              </a:bodyPr>
              <a:lstStyle/>
              <a:p>
                <a:pPr defTabSz="410751">
                  <a:defRPr sz="1800"/>
                </a:pPr>
                <a:r>
                  <a:rPr lang="en-US" sz="2400" dirty="0">
                    <a:sym typeface="Gill Sans"/>
                  </a:rPr>
                  <a:t>This probability distribution can be generated by the Chinese restaurant process (CRP). </a:t>
                </a:r>
              </a:p>
              <a:p>
                <a:pPr defTabSz="410751">
                  <a:defRPr sz="1800"/>
                </a:pPr>
                <a:endParaRPr lang="en-US" sz="2400" dirty="0">
                  <a:sym typeface="Gill Sans"/>
                </a:endParaRPr>
              </a:p>
              <a:p>
                <a:pPr defTabSz="410751">
                  <a:defRPr sz="1800"/>
                </a:pPr>
                <a:r>
                  <a:rPr lang="en-US" sz="2400" dirty="0">
                    <a:sym typeface="Gill Sans"/>
                  </a:rPr>
                  <a:t>Customers (objects) arrive at a restaurant with an infinite number of infinitely-sized tables (categories).</a:t>
                </a:r>
              </a:p>
              <a:p>
                <a:pPr defTabSz="410751">
                  <a:defRPr sz="1800"/>
                </a:pPr>
                <a:endParaRPr lang="en-US" sz="2400" dirty="0">
                  <a:sym typeface="Gill Sans"/>
                </a:endParaRPr>
              </a:p>
              <a:p>
                <a:pPr defTabSz="410751">
                  <a:defRPr sz="1800"/>
                </a:pPr>
                <a:r>
                  <a:rPr lang="en-US" sz="2400" dirty="0">
                    <a:sym typeface="Gill Sans"/>
                  </a:rPr>
                  <a:t>A customer sits down at an occupied table with probability proportional to the number of occupants.</a:t>
                </a:r>
              </a:p>
              <a:p>
                <a:pPr defTabSz="410751">
                  <a:defRPr sz="1800"/>
                </a:pPr>
                <a:endParaRPr lang="en-US" sz="2400" dirty="0">
                  <a:sym typeface="Gill Sans"/>
                </a:endParaRPr>
              </a:p>
              <a:p>
                <a:pPr defTabSz="410751">
                  <a:defRPr sz="1800"/>
                </a:pPr>
                <a:r>
                  <a:rPr lang="en-US" sz="2400" dirty="0">
                    <a:sym typeface="Gill Sans"/>
                  </a:rPr>
                  <a:t>A customer starts a new table with probability proportional to </a:t>
                </a:r>
                <a14:m>
                  <m:oMath xmlns:m="http://schemas.openxmlformats.org/officeDocument/2006/math">
                    <m:r>
                      <m:rPr>
                        <m:sty m:val="p"/>
                      </m:rPr>
                      <a:rPr lang="en-US" sz="2400" b="0" i="1" smtClean="0">
                        <a:latin typeface="Cambria Math" panose="02040503050406030204" pitchFamily="18" charset="0"/>
                        <a:sym typeface="Gill Sans"/>
                      </a:rPr>
                      <m:t>α</m:t>
                    </m:r>
                  </m:oMath>
                </a14:m>
                <a:r>
                  <a:rPr lang="en-US" sz="2400" dirty="0">
                    <a:sym typeface="Gill Sans"/>
                  </a:rPr>
                  <a:t> .</a:t>
                </a:r>
              </a:p>
            </p:txBody>
          </p:sp>
        </mc:Choice>
        <mc:Fallback>
          <p:sp>
            <p:nvSpPr>
              <p:cNvPr id="3" name="TextBox 2">
                <a:extLst>
                  <a:ext uri="{FF2B5EF4-FFF2-40B4-BE49-F238E27FC236}">
                    <a16:creationId xmlns:a16="http://schemas.microsoft.com/office/drawing/2014/main" id="{458E4EDB-58BF-4263-8659-70B681DD00BA}"/>
                  </a:ext>
                </a:extLst>
              </p:cNvPr>
              <p:cNvSpPr txBox="1">
                <a:spLocks noRot="1" noChangeAspect="1" noMove="1" noResize="1" noEditPoints="1" noAdjustHandles="1" noChangeArrowheads="1" noChangeShapeType="1" noTextEdit="1"/>
              </p:cNvSpPr>
              <p:nvPr/>
            </p:nvSpPr>
            <p:spPr>
              <a:xfrm>
                <a:off x="324196" y="538560"/>
                <a:ext cx="8412480" cy="3785652"/>
              </a:xfrm>
              <a:prstGeom prst="rect">
                <a:avLst/>
              </a:prstGeom>
              <a:blipFill>
                <a:blip r:embed="rId2"/>
                <a:stretch>
                  <a:fillRect l="-1087" t="-1288" r="-507" b="-2738"/>
                </a:stretch>
              </a:blipFill>
            </p:spPr>
            <p:txBody>
              <a:bodyPr/>
              <a:lstStyle/>
              <a:p>
                <a:r>
                  <a:rPr lang="en-US">
                    <a:noFill/>
                  </a:rPr>
                  <a:t> </a:t>
                </a:r>
              </a:p>
            </p:txBody>
          </p:sp>
        </mc:Fallback>
      </mc:AlternateContent>
      <p:grpSp>
        <p:nvGrpSpPr>
          <p:cNvPr id="4" name="Group 157">
            <a:extLst>
              <a:ext uri="{FF2B5EF4-FFF2-40B4-BE49-F238E27FC236}">
                <a16:creationId xmlns:a16="http://schemas.microsoft.com/office/drawing/2014/main" id="{3D8D6EC8-3D80-4D2A-B52F-B309419548AD}"/>
              </a:ext>
            </a:extLst>
          </p:cNvPr>
          <p:cNvGrpSpPr/>
          <p:nvPr/>
        </p:nvGrpSpPr>
        <p:grpSpPr>
          <a:xfrm>
            <a:off x="567914" y="5113824"/>
            <a:ext cx="8474908" cy="651867"/>
            <a:chOff x="0" y="0"/>
            <a:chExt cx="12053201" cy="927100"/>
          </a:xfrm>
        </p:grpSpPr>
        <p:pic>
          <p:nvPicPr>
            <p:cNvPr id="5" name="droppedImage.pdf">
              <a:extLst>
                <a:ext uri="{FF2B5EF4-FFF2-40B4-BE49-F238E27FC236}">
                  <a16:creationId xmlns:a16="http://schemas.microsoft.com/office/drawing/2014/main" id="{07A00681-042C-46F9-B3B8-9544B91D0F9F}"/>
                </a:ext>
              </a:extLst>
            </p:cNvPr>
            <p:cNvPicPr/>
            <p:nvPr/>
          </p:nvPicPr>
          <p:blipFill>
            <a:blip r:embed="rId3"/>
            <a:stretch>
              <a:fillRect/>
            </a:stretch>
          </p:blipFill>
          <p:spPr>
            <a:xfrm>
              <a:off x="0" y="0"/>
              <a:ext cx="5283200" cy="927100"/>
            </a:xfrm>
            <a:prstGeom prst="rect">
              <a:avLst/>
            </a:prstGeom>
            <a:ln w="12700" cap="flat">
              <a:noFill/>
              <a:miter lim="400000"/>
            </a:ln>
            <a:effectLst/>
          </p:spPr>
        </p:pic>
        <p:grpSp>
          <p:nvGrpSpPr>
            <p:cNvPr id="6" name="Group 156">
              <a:extLst>
                <a:ext uri="{FF2B5EF4-FFF2-40B4-BE49-F238E27FC236}">
                  <a16:creationId xmlns:a16="http://schemas.microsoft.com/office/drawing/2014/main" id="{5313BDD8-D444-4AFA-B24D-ABE5A24E8FC4}"/>
                </a:ext>
              </a:extLst>
            </p:cNvPr>
            <p:cNvGrpSpPr/>
            <p:nvPr/>
          </p:nvGrpSpPr>
          <p:grpSpPr>
            <a:xfrm>
              <a:off x="5737990" y="199970"/>
              <a:ext cx="6315211" cy="539863"/>
              <a:chOff x="-94584" y="-41330"/>
              <a:chExt cx="6315210" cy="539863"/>
            </a:xfrm>
          </p:grpSpPr>
          <p:sp>
            <p:nvSpPr>
              <p:cNvPr id="7" name="Shape 155">
                <a:extLst>
                  <a:ext uri="{FF2B5EF4-FFF2-40B4-BE49-F238E27FC236}">
                    <a16:creationId xmlns:a16="http://schemas.microsoft.com/office/drawing/2014/main" id="{13A75880-379F-4BE2-B731-5FBFBC327787}"/>
                  </a:ext>
                </a:extLst>
              </p:cNvPr>
              <p:cNvSpPr/>
              <p:nvPr/>
            </p:nvSpPr>
            <p:spPr>
              <a:xfrm>
                <a:off x="-94584" y="-41330"/>
                <a:ext cx="6315210" cy="53986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defTabSz="584200">
                  <a:defRPr sz="2400">
                    <a:latin typeface="+mn-lt"/>
                    <a:ea typeface="+mn-ea"/>
                    <a:cs typeface="+mn-cs"/>
                    <a:sym typeface="Gill Sans"/>
                  </a:defRPr>
                </a:lvl1pPr>
              </a:lstStyle>
              <a:p>
                <a:pPr lvl="0">
                  <a:defRPr sz="1800"/>
                </a:pPr>
                <a:r>
                  <a:rPr sz="1800" dirty="0"/>
                  <a:t>where      </a:t>
                </a:r>
                <a:r>
                  <a:rPr lang="en-US" sz="1800" dirty="0"/>
                  <a:t>  </a:t>
                </a:r>
                <a:r>
                  <a:rPr sz="1800" dirty="0"/>
                  <a:t>is the number of “used” categories.</a:t>
                </a:r>
              </a:p>
            </p:txBody>
          </p:sp>
          <p:pic>
            <p:nvPicPr>
              <p:cNvPr id="8" name="droppedImage.pdf">
                <a:extLst>
                  <a:ext uri="{FF2B5EF4-FFF2-40B4-BE49-F238E27FC236}">
                    <a16:creationId xmlns:a16="http://schemas.microsoft.com/office/drawing/2014/main" id="{C9A9836F-EBD5-4677-AB2B-2DCE53373F13}"/>
                  </a:ext>
                </a:extLst>
              </p:cNvPr>
              <p:cNvPicPr/>
              <p:nvPr/>
            </p:nvPicPr>
            <p:blipFill>
              <a:blip r:embed="rId4"/>
              <a:stretch>
                <a:fillRect/>
              </a:stretch>
            </p:blipFill>
            <p:spPr>
              <a:xfrm>
                <a:off x="992367" y="114422"/>
                <a:ext cx="419100" cy="292100"/>
              </a:xfrm>
              <a:prstGeom prst="rect">
                <a:avLst/>
              </a:prstGeom>
              <a:ln w="12700" cap="flat">
                <a:noFill/>
                <a:miter lim="400000"/>
              </a:ln>
              <a:effectLst/>
            </p:spPr>
          </p:pic>
        </p:grpSp>
      </p:grpSp>
    </p:spTree>
    <p:extLst>
      <p:ext uri="{BB962C8B-B14F-4D97-AF65-F5344CB8AC3E}">
        <p14:creationId xmlns:p14="http://schemas.microsoft.com/office/powerpoint/2010/main" val="293696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0" y="274638"/>
            <a:ext cx="9144000" cy="1143000"/>
          </a:xfrm>
        </p:spPr>
        <p:txBody>
          <a:bodyPr>
            <a:normAutofit fontScale="90000"/>
          </a:bodyPr>
          <a:lstStyle/>
          <a:p>
            <a:r>
              <a:rPr lang="en-US" dirty="0">
                <a:latin typeface="Calibri" charset="0"/>
              </a:rPr>
              <a:t>Internal models in acquisition and extinction</a:t>
            </a:r>
          </a:p>
        </p:txBody>
      </p:sp>
      <p:sp>
        <p:nvSpPr>
          <p:cNvPr id="4099" name="Content Placeholder 2"/>
          <p:cNvSpPr>
            <a:spLocks noGrp="1"/>
          </p:cNvSpPr>
          <p:nvPr>
            <p:ph idx="1"/>
          </p:nvPr>
        </p:nvSpPr>
        <p:spPr>
          <a:xfrm>
            <a:off x="233926" y="1600200"/>
            <a:ext cx="8452874" cy="4525963"/>
          </a:xfrm>
        </p:spPr>
        <p:txBody>
          <a:bodyPr/>
          <a:lstStyle/>
          <a:p>
            <a:pPr marL="0" indent="0">
              <a:buNone/>
            </a:pPr>
            <a:r>
              <a:rPr lang="en-US" dirty="0">
                <a:latin typeface="Calibri" charset="0"/>
              </a:rPr>
              <a:t>The central argument is that animals build </a:t>
            </a:r>
            <a:r>
              <a:rPr lang="en-US" i="1" dirty="0">
                <a:solidFill>
                  <a:srgbClr val="FF0000"/>
                </a:solidFill>
                <a:latin typeface="Calibri" charset="0"/>
              </a:rPr>
              <a:t>internal models </a:t>
            </a:r>
            <a:r>
              <a:rPr lang="en-US" dirty="0">
                <a:latin typeface="Calibri" charset="0"/>
              </a:rPr>
              <a:t>of their environments that describe causal relationships between cues, </a:t>
            </a:r>
            <a:r>
              <a:rPr lang="en-US" dirty="0" err="1">
                <a:latin typeface="Calibri" charset="0"/>
              </a:rPr>
              <a:t>reinforcers</a:t>
            </a:r>
            <a:r>
              <a:rPr lang="en-US" dirty="0">
                <a:latin typeface="Calibri" charset="0"/>
              </a:rPr>
              <a:t>, contexts and latent causes.</a:t>
            </a:r>
          </a:p>
          <a:p>
            <a:pPr marL="0" indent="0">
              <a:buNone/>
            </a:pPr>
            <a:endParaRPr lang="en-US" sz="1600" dirty="0">
              <a:latin typeface="Calibri" charset="0"/>
            </a:endParaRPr>
          </a:p>
          <a:p>
            <a:pPr marL="0" indent="0">
              <a:buNone/>
            </a:pPr>
            <a:r>
              <a:rPr lang="en-US" dirty="0">
                <a:latin typeface="Calibri" charset="0"/>
              </a:rPr>
              <a:t>Classical conditioning procedures lead to changes in the structure of an animal</a:t>
            </a:r>
            <a:r>
              <a:rPr lang="ja-JP" altLang="en-US" dirty="0">
                <a:latin typeface="Calibri" charset="0"/>
              </a:rPr>
              <a:t>’</a:t>
            </a:r>
            <a:r>
              <a:rPr lang="en-US" dirty="0">
                <a:latin typeface="Calibri" charset="0"/>
              </a:rPr>
              <a:t>s internal model</a:t>
            </a:r>
          </a:p>
        </p:txBody>
      </p:sp>
      <p:pic>
        <p:nvPicPr>
          <p:cNvPr id="4100" name="Picture 2" descr="http://www.clipartreview.com/_gallery/_TN/r_209.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638800"/>
            <a:ext cx="1428750" cy="819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Cloud 4"/>
          <p:cNvSpPr/>
          <p:nvPr/>
        </p:nvSpPr>
        <p:spPr>
          <a:xfrm>
            <a:off x="1524000" y="5257800"/>
            <a:ext cx="3200400" cy="1600200"/>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Oval 5"/>
          <p:cNvSpPr/>
          <p:nvPr/>
        </p:nvSpPr>
        <p:spPr>
          <a:xfrm>
            <a:off x="5867400" y="5638800"/>
            <a:ext cx="152400" cy="152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5562600" y="5562600"/>
            <a:ext cx="152400" cy="152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5257800" y="5486400"/>
            <a:ext cx="152400" cy="152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p:cNvSpPr/>
          <p:nvPr/>
        </p:nvSpPr>
        <p:spPr>
          <a:xfrm>
            <a:off x="4953000" y="5486400"/>
            <a:ext cx="152400" cy="152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06" name="Picture 4" descr="http://img.tfd.com/wn/77/666AB-rin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5562600"/>
            <a:ext cx="45720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07" name="Picture 6" descr="http://i66.photobucket.com/albums/h262/jessie_008/lightning_bolt-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538" y="5486400"/>
            <a:ext cx="169862" cy="53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08" name="Picture 26" descr="http://www.iemrams.spb.ru/figures/2006/pavlov07.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6019800"/>
            <a:ext cx="482600" cy="574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16" name="Straight Connector 15"/>
          <p:cNvCxnSpPr/>
          <p:nvPr/>
        </p:nvCxnSpPr>
        <p:spPr>
          <a:xfrm>
            <a:off x="2743200" y="5715000"/>
            <a:ext cx="990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2705100" y="6057900"/>
            <a:ext cx="22860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flipH="1" flipV="1">
            <a:off x="3505200" y="6096000"/>
            <a:ext cx="30480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5537746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a:ea typeface="+mj-ea"/>
              </a:rPr>
              <a:t>What do animals learn about their environment in classical conditioning?</a:t>
            </a:r>
          </a:p>
        </p:txBody>
      </p:sp>
      <p:pic>
        <p:nvPicPr>
          <p:cNvPr id="5123" name="Picture 2" descr="http://www.few.vu.nl/~wrvhage/images/pavlov.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263" y="1647825"/>
            <a:ext cx="5951537" cy="4752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2591360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atin typeface="Calibri" charset="0"/>
              </a:rPr>
              <a:t>The challenge</a:t>
            </a:r>
          </a:p>
        </p:txBody>
      </p:sp>
      <p:sp>
        <p:nvSpPr>
          <p:cNvPr id="6147" name="Content Placeholder 2"/>
          <p:cNvSpPr>
            <a:spLocks noGrp="1"/>
          </p:cNvSpPr>
          <p:nvPr>
            <p:ph sz="quarter" idx="1"/>
          </p:nvPr>
        </p:nvSpPr>
        <p:spPr/>
        <p:txBody>
          <a:bodyPr/>
          <a:lstStyle/>
          <a:p>
            <a:pPr eaLnBrk="1" hangingPunct="1">
              <a:buFont typeface="Wingdings 2" charset="0"/>
              <a:buNone/>
            </a:pPr>
            <a:endParaRPr lang="en-US" sz="3600">
              <a:latin typeface="Calibri" charset="0"/>
            </a:endParaRPr>
          </a:p>
          <a:p>
            <a:pPr eaLnBrk="1" hangingPunct="1">
              <a:buFont typeface="Wingdings 2" charset="0"/>
              <a:buNone/>
            </a:pPr>
            <a:r>
              <a:rPr lang="en-US" sz="3600">
                <a:latin typeface="Calibri" charset="0"/>
              </a:rPr>
              <a:t>	Animals need internal models of the environment that are both </a:t>
            </a:r>
            <a:r>
              <a:rPr lang="en-US" sz="3600" b="1" i="1">
                <a:solidFill>
                  <a:srgbClr val="00B050"/>
                </a:solidFill>
                <a:latin typeface="Calibri" charset="0"/>
              </a:rPr>
              <a:t>flexible</a:t>
            </a:r>
            <a:r>
              <a:rPr lang="en-US" sz="3600">
                <a:latin typeface="Calibri" charset="0"/>
              </a:rPr>
              <a:t> enough to capture the richness of its structure while being </a:t>
            </a:r>
            <a:r>
              <a:rPr lang="en-US" sz="3600" b="1" i="1">
                <a:solidFill>
                  <a:srgbClr val="FF0000"/>
                </a:solidFill>
                <a:latin typeface="Calibri" charset="0"/>
              </a:rPr>
              <a:t>constrained</a:t>
            </a:r>
            <a:r>
              <a:rPr lang="en-US" sz="3600" i="1">
                <a:latin typeface="Calibri" charset="0"/>
              </a:rPr>
              <a:t> </a:t>
            </a:r>
            <a:r>
              <a:rPr lang="en-US" sz="3600">
                <a:latin typeface="Calibri" charset="0"/>
              </a:rPr>
              <a:t>so as to disallow implausible inferences.</a:t>
            </a:r>
          </a:p>
        </p:txBody>
      </p:sp>
      <p:sp>
        <p:nvSpPr>
          <p:cNvPr id="4" name="TextBox 3"/>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347214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fontScale="90000"/>
          </a:bodyPr>
          <a:lstStyle/>
          <a:p>
            <a:r>
              <a:rPr lang="en-US">
                <a:latin typeface="Calibri" charset="0"/>
              </a:rPr>
              <a:t>What do animals learn during classical conditioning?</a:t>
            </a:r>
          </a:p>
        </p:txBody>
      </p:sp>
      <p:pic>
        <p:nvPicPr>
          <p:cNvPr id="71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514600"/>
            <a:ext cx="3352800" cy="3195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5536951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atin typeface="Calibri" charset="0"/>
              </a:rPr>
              <a:t>Some possibilities</a:t>
            </a:r>
          </a:p>
        </p:txBody>
      </p:sp>
      <p:sp>
        <p:nvSpPr>
          <p:cNvPr id="11" name="Oval 10"/>
          <p:cNvSpPr/>
          <p:nvPr/>
        </p:nvSpPr>
        <p:spPr>
          <a:xfrm>
            <a:off x="1295400" y="41148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196" name="TextBox 11"/>
          <p:cNvSpPr txBox="1">
            <a:spLocks noChangeArrowheads="1"/>
          </p:cNvSpPr>
          <p:nvPr/>
        </p:nvSpPr>
        <p:spPr bwMode="auto">
          <a:xfrm>
            <a:off x="1447800" y="4092575"/>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sp>
        <p:nvSpPr>
          <p:cNvPr id="14" name="Oval 13"/>
          <p:cNvSpPr/>
          <p:nvPr/>
        </p:nvSpPr>
        <p:spPr>
          <a:xfrm>
            <a:off x="1295400" y="307022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198" name="TextBox 14"/>
          <p:cNvSpPr txBox="1">
            <a:spLocks noChangeArrowheads="1"/>
          </p:cNvSpPr>
          <p:nvPr/>
        </p:nvSpPr>
        <p:spPr bwMode="auto">
          <a:xfrm>
            <a:off x="1447800" y="3048000"/>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16" name="Straight Arrow Connector 15"/>
          <p:cNvCxnSpPr/>
          <p:nvPr/>
        </p:nvCxnSpPr>
        <p:spPr>
          <a:xfrm rot="16440000" flipH="1">
            <a:off x="1475582" y="3913981"/>
            <a:ext cx="336550" cy="20637"/>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3276600" y="41148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201" name="TextBox 27"/>
          <p:cNvSpPr txBox="1">
            <a:spLocks noChangeArrowheads="1"/>
          </p:cNvSpPr>
          <p:nvPr/>
        </p:nvSpPr>
        <p:spPr bwMode="auto">
          <a:xfrm>
            <a:off x="3429000" y="4092575"/>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sp>
        <p:nvSpPr>
          <p:cNvPr id="29" name="Oval 28"/>
          <p:cNvSpPr/>
          <p:nvPr/>
        </p:nvSpPr>
        <p:spPr>
          <a:xfrm>
            <a:off x="3276600" y="307022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203" name="TextBox 29"/>
          <p:cNvSpPr txBox="1">
            <a:spLocks noChangeArrowheads="1"/>
          </p:cNvSpPr>
          <p:nvPr/>
        </p:nvSpPr>
        <p:spPr bwMode="auto">
          <a:xfrm>
            <a:off x="3429000" y="3048000"/>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31" name="Straight Arrow Connector 30"/>
          <p:cNvCxnSpPr/>
          <p:nvPr/>
        </p:nvCxnSpPr>
        <p:spPr>
          <a:xfrm rot="16380000" flipV="1">
            <a:off x="3456782" y="3913981"/>
            <a:ext cx="336550" cy="20637"/>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5334000" y="3657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206" name="TextBox 36"/>
          <p:cNvSpPr txBox="1">
            <a:spLocks noChangeArrowheads="1"/>
          </p:cNvSpPr>
          <p:nvPr/>
        </p:nvSpPr>
        <p:spPr bwMode="auto">
          <a:xfrm>
            <a:off x="5486400" y="3635375"/>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z</a:t>
            </a:r>
          </a:p>
        </p:txBody>
      </p:sp>
      <p:sp>
        <p:nvSpPr>
          <p:cNvPr id="38" name="Oval 37"/>
          <p:cNvSpPr/>
          <p:nvPr/>
        </p:nvSpPr>
        <p:spPr>
          <a:xfrm>
            <a:off x="7086600" y="409257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208" name="TextBox 38"/>
          <p:cNvSpPr txBox="1">
            <a:spLocks noChangeArrowheads="1"/>
          </p:cNvSpPr>
          <p:nvPr/>
        </p:nvSpPr>
        <p:spPr bwMode="auto">
          <a:xfrm>
            <a:off x="7239000" y="4070350"/>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cxnSp>
        <p:nvCxnSpPr>
          <p:cNvPr id="40" name="Straight Arrow Connector 39"/>
          <p:cNvCxnSpPr>
            <a:stCxn id="36" idx="6"/>
            <a:endCxn id="38" idx="2"/>
          </p:cNvCxnSpPr>
          <p:nvPr/>
        </p:nvCxnSpPr>
        <p:spPr>
          <a:xfrm>
            <a:off x="6019800" y="4000500"/>
            <a:ext cx="1066800" cy="4349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7086600" y="30480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211" name="TextBox 41"/>
          <p:cNvSpPr txBox="1">
            <a:spLocks noChangeArrowheads="1"/>
          </p:cNvSpPr>
          <p:nvPr/>
        </p:nvSpPr>
        <p:spPr bwMode="auto">
          <a:xfrm>
            <a:off x="7239000" y="3025775"/>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43" name="Straight Arrow Connector 42"/>
          <p:cNvCxnSpPr>
            <a:stCxn id="36" idx="6"/>
            <a:endCxn id="41" idx="2"/>
          </p:cNvCxnSpPr>
          <p:nvPr/>
        </p:nvCxnSpPr>
        <p:spPr>
          <a:xfrm flipV="1">
            <a:off x="6019800" y="3390900"/>
            <a:ext cx="1066800" cy="6096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13" name="TextBox 43"/>
          <p:cNvSpPr txBox="1">
            <a:spLocks noChangeArrowheads="1"/>
          </p:cNvSpPr>
          <p:nvPr/>
        </p:nvSpPr>
        <p:spPr bwMode="auto">
          <a:xfrm>
            <a:off x="914400" y="2263775"/>
            <a:ext cx="1905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Bell (a) causes shock (b)</a:t>
            </a:r>
          </a:p>
        </p:txBody>
      </p:sp>
      <p:sp>
        <p:nvSpPr>
          <p:cNvPr id="8214" name="TextBox 43"/>
          <p:cNvSpPr txBox="1">
            <a:spLocks noChangeArrowheads="1"/>
          </p:cNvSpPr>
          <p:nvPr/>
        </p:nvSpPr>
        <p:spPr bwMode="auto">
          <a:xfrm>
            <a:off x="2971800" y="2263775"/>
            <a:ext cx="1905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Shock causes bell</a:t>
            </a:r>
          </a:p>
        </p:txBody>
      </p:sp>
      <p:sp>
        <p:nvSpPr>
          <p:cNvPr id="8215" name="TextBox 43"/>
          <p:cNvSpPr txBox="1">
            <a:spLocks noChangeArrowheads="1"/>
          </p:cNvSpPr>
          <p:nvPr/>
        </p:nvSpPr>
        <p:spPr bwMode="auto">
          <a:xfrm>
            <a:off x="5334000" y="2263775"/>
            <a:ext cx="29718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Something else (z) causes both bell and shock</a:t>
            </a:r>
          </a:p>
        </p:txBody>
      </p:sp>
      <p:pic>
        <p:nvPicPr>
          <p:cNvPr id="8216"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24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17"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267200"/>
            <a:ext cx="169863"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18"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124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19"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338" y="42672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20"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30480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21"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4191000"/>
            <a:ext cx="169863"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222" name="Picture 26" descr="http://www.iemrams.spb.ru/figures/2006/pavlov0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3657600"/>
            <a:ext cx="609600" cy="727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 name="TextBox 31"/>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5581027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atin typeface="Calibri" charset="0"/>
              </a:rPr>
              <a:t>Some possibilities</a:t>
            </a:r>
          </a:p>
        </p:txBody>
      </p:sp>
      <p:sp>
        <p:nvSpPr>
          <p:cNvPr id="11" name="Oval 10"/>
          <p:cNvSpPr/>
          <p:nvPr/>
        </p:nvSpPr>
        <p:spPr>
          <a:xfrm>
            <a:off x="1295400" y="41148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20" name="TextBox 11"/>
          <p:cNvSpPr txBox="1">
            <a:spLocks noChangeArrowheads="1"/>
          </p:cNvSpPr>
          <p:nvPr/>
        </p:nvSpPr>
        <p:spPr bwMode="auto">
          <a:xfrm>
            <a:off x="1447800" y="4092575"/>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sp>
        <p:nvSpPr>
          <p:cNvPr id="14" name="Oval 13"/>
          <p:cNvSpPr/>
          <p:nvPr/>
        </p:nvSpPr>
        <p:spPr>
          <a:xfrm>
            <a:off x="1295400" y="307022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22" name="TextBox 14"/>
          <p:cNvSpPr txBox="1">
            <a:spLocks noChangeArrowheads="1"/>
          </p:cNvSpPr>
          <p:nvPr/>
        </p:nvSpPr>
        <p:spPr bwMode="auto">
          <a:xfrm>
            <a:off x="1447800" y="3048000"/>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16" name="Straight Arrow Connector 15"/>
          <p:cNvCxnSpPr/>
          <p:nvPr/>
        </p:nvCxnSpPr>
        <p:spPr>
          <a:xfrm rot="16440000" flipH="1">
            <a:off x="1475582" y="3913981"/>
            <a:ext cx="336550" cy="20637"/>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3276600" y="41148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25" name="TextBox 27"/>
          <p:cNvSpPr txBox="1">
            <a:spLocks noChangeArrowheads="1"/>
          </p:cNvSpPr>
          <p:nvPr/>
        </p:nvSpPr>
        <p:spPr bwMode="auto">
          <a:xfrm>
            <a:off x="3429000" y="4092575"/>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sp>
        <p:nvSpPr>
          <p:cNvPr id="29" name="Oval 28"/>
          <p:cNvSpPr/>
          <p:nvPr/>
        </p:nvSpPr>
        <p:spPr>
          <a:xfrm>
            <a:off x="3276600" y="307022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27" name="TextBox 29"/>
          <p:cNvSpPr txBox="1">
            <a:spLocks noChangeArrowheads="1"/>
          </p:cNvSpPr>
          <p:nvPr/>
        </p:nvSpPr>
        <p:spPr bwMode="auto">
          <a:xfrm>
            <a:off x="3429000" y="3048000"/>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31" name="Straight Arrow Connector 30"/>
          <p:cNvCxnSpPr/>
          <p:nvPr/>
        </p:nvCxnSpPr>
        <p:spPr>
          <a:xfrm rot="16380000" flipV="1">
            <a:off x="3456782" y="3913981"/>
            <a:ext cx="336550" cy="20637"/>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5334000" y="3657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30" name="TextBox 36"/>
          <p:cNvSpPr txBox="1">
            <a:spLocks noChangeArrowheads="1"/>
          </p:cNvSpPr>
          <p:nvPr/>
        </p:nvSpPr>
        <p:spPr bwMode="auto">
          <a:xfrm>
            <a:off x="5486400" y="3635375"/>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z</a:t>
            </a:r>
          </a:p>
        </p:txBody>
      </p:sp>
      <p:sp>
        <p:nvSpPr>
          <p:cNvPr id="38" name="Oval 37"/>
          <p:cNvSpPr/>
          <p:nvPr/>
        </p:nvSpPr>
        <p:spPr>
          <a:xfrm>
            <a:off x="7086600" y="409257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32" name="TextBox 38"/>
          <p:cNvSpPr txBox="1">
            <a:spLocks noChangeArrowheads="1"/>
          </p:cNvSpPr>
          <p:nvPr/>
        </p:nvSpPr>
        <p:spPr bwMode="auto">
          <a:xfrm>
            <a:off x="7239000" y="4070350"/>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cxnSp>
        <p:nvCxnSpPr>
          <p:cNvPr id="40" name="Straight Arrow Connector 39"/>
          <p:cNvCxnSpPr>
            <a:stCxn id="36" idx="6"/>
            <a:endCxn id="38" idx="2"/>
          </p:cNvCxnSpPr>
          <p:nvPr/>
        </p:nvCxnSpPr>
        <p:spPr>
          <a:xfrm>
            <a:off x="6019800" y="4000500"/>
            <a:ext cx="1066800" cy="4349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7086600" y="30480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35" name="TextBox 41"/>
          <p:cNvSpPr txBox="1">
            <a:spLocks noChangeArrowheads="1"/>
          </p:cNvSpPr>
          <p:nvPr/>
        </p:nvSpPr>
        <p:spPr bwMode="auto">
          <a:xfrm>
            <a:off x="7239000" y="3025775"/>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43" name="Straight Arrow Connector 42"/>
          <p:cNvCxnSpPr>
            <a:stCxn id="36" idx="6"/>
            <a:endCxn id="41" idx="2"/>
          </p:cNvCxnSpPr>
          <p:nvPr/>
        </p:nvCxnSpPr>
        <p:spPr>
          <a:xfrm flipV="1">
            <a:off x="6019800" y="3390900"/>
            <a:ext cx="1066800" cy="6096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37" name="TextBox 43"/>
          <p:cNvSpPr txBox="1">
            <a:spLocks noChangeArrowheads="1"/>
          </p:cNvSpPr>
          <p:nvPr/>
        </p:nvSpPr>
        <p:spPr bwMode="auto">
          <a:xfrm>
            <a:off x="914400" y="2263775"/>
            <a:ext cx="1905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Bell (a) causes shock (b)</a:t>
            </a:r>
          </a:p>
        </p:txBody>
      </p:sp>
      <p:sp>
        <p:nvSpPr>
          <p:cNvPr id="9238" name="TextBox 43"/>
          <p:cNvSpPr txBox="1">
            <a:spLocks noChangeArrowheads="1"/>
          </p:cNvSpPr>
          <p:nvPr/>
        </p:nvSpPr>
        <p:spPr bwMode="auto">
          <a:xfrm>
            <a:off x="2971800" y="2263775"/>
            <a:ext cx="1905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Shock causes bell</a:t>
            </a:r>
          </a:p>
        </p:txBody>
      </p:sp>
      <p:sp>
        <p:nvSpPr>
          <p:cNvPr id="9239" name="TextBox 43"/>
          <p:cNvSpPr txBox="1">
            <a:spLocks noChangeArrowheads="1"/>
          </p:cNvSpPr>
          <p:nvPr/>
        </p:nvSpPr>
        <p:spPr bwMode="auto">
          <a:xfrm>
            <a:off x="5334000" y="2263775"/>
            <a:ext cx="29718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Something else (z) causes both bell and shock</a:t>
            </a:r>
          </a:p>
        </p:txBody>
      </p:sp>
      <p:pic>
        <p:nvPicPr>
          <p:cNvPr id="9240"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24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1"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267200"/>
            <a:ext cx="169863"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2"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124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3"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338" y="42672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4"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30480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5"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4191000"/>
            <a:ext cx="169863"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246" name="Picture 26" descr="http://www.iemrams.spb.ru/figures/2006/pavlov0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3657600"/>
            <a:ext cx="609600" cy="727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42" name="Straight Connector 41"/>
          <p:cNvCxnSpPr/>
          <p:nvPr/>
        </p:nvCxnSpPr>
        <p:spPr>
          <a:xfrm>
            <a:off x="914400" y="5257800"/>
            <a:ext cx="327660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248" name="TextBox 43"/>
          <p:cNvSpPr txBox="1">
            <a:spLocks noChangeArrowheads="1"/>
          </p:cNvSpPr>
          <p:nvPr/>
        </p:nvSpPr>
        <p:spPr bwMode="auto">
          <a:xfrm>
            <a:off x="1524000" y="5410200"/>
            <a:ext cx="2160588"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solidFill>
                  <a:srgbClr val="FF0000"/>
                </a:solidFill>
              </a:rPr>
              <a:t>Too constrained</a:t>
            </a:r>
          </a:p>
        </p:txBody>
      </p:sp>
      <p:cxnSp>
        <p:nvCxnSpPr>
          <p:cNvPr id="45" name="Straight Connector 44"/>
          <p:cNvCxnSpPr/>
          <p:nvPr/>
        </p:nvCxnSpPr>
        <p:spPr>
          <a:xfrm>
            <a:off x="4724400" y="5257800"/>
            <a:ext cx="3276600" cy="158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9250" name="TextBox 45"/>
          <p:cNvSpPr txBox="1">
            <a:spLocks noChangeArrowheads="1"/>
          </p:cNvSpPr>
          <p:nvPr/>
        </p:nvSpPr>
        <p:spPr bwMode="auto">
          <a:xfrm>
            <a:off x="5492750" y="5410200"/>
            <a:ext cx="174625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solidFill>
                  <a:srgbClr val="00B050"/>
                </a:solidFill>
              </a:rPr>
              <a:t>Too flexible?</a:t>
            </a:r>
          </a:p>
        </p:txBody>
      </p:sp>
      <p:sp>
        <p:nvSpPr>
          <p:cNvPr id="35" name="TextBox 34"/>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9027469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atin typeface="Calibri" charset="0"/>
              </a:rPr>
              <a:t>Too flexible?</a:t>
            </a:r>
          </a:p>
        </p:txBody>
      </p:sp>
      <p:pic>
        <p:nvPicPr>
          <p:cNvPr id="10243" name="Picture 2" descr="http://cultblender.files.wordpress.com/2008/07/bfskinn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676400"/>
            <a:ext cx="479425" cy="681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Oval 4"/>
          <p:cNvSpPr/>
          <p:nvPr/>
        </p:nvSpPr>
        <p:spPr>
          <a:xfrm>
            <a:off x="3429000" y="2765425"/>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Oval 6"/>
          <p:cNvSpPr/>
          <p:nvPr/>
        </p:nvSpPr>
        <p:spPr>
          <a:xfrm>
            <a:off x="5181600" y="3200400"/>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46" name="TextBox 38"/>
          <p:cNvSpPr txBox="1">
            <a:spLocks noChangeArrowheads="1"/>
          </p:cNvSpPr>
          <p:nvPr/>
        </p:nvSpPr>
        <p:spPr bwMode="auto">
          <a:xfrm>
            <a:off x="5334000" y="3178175"/>
            <a:ext cx="41433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b</a:t>
            </a:r>
          </a:p>
        </p:txBody>
      </p:sp>
      <p:cxnSp>
        <p:nvCxnSpPr>
          <p:cNvPr id="9" name="Straight Arrow Connector 8"/>
          <p:cNvCxnSpPr>
            <a:stCxn id="5" idx="6"/>
            <a:endCxn id="7" idx="2"/>
          </p:cNvCxnSpPr>
          <p:nvPr/>
        </p:nvCxnSpPr>
        <p:spPr>
          <a:xfrm>
            <a:off x="4114800" y="3108325"/>
            <a:ext cx="1066800" cy="4349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5181600" y="2155825"/>
            <a:ext cx="685800" cy="685800"/>
          </a:xfrm>
          <a:prstGeom prst="ellipse">
            <a:avLst/>
          </a:prstGeom>
          <a:solidFill>
            <a:schemeClr val="accent6">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49" name="TextBox 41"/>
          <p:cNvSpPr txBox="1">
            <a:spLocks noChangeArrowheads="1"/>
          </p:cNvSpPr>
          <p:nvPr/>
        </p:nvSpPr>
        <p:spPr bwMode="auto">
          <a:xfrm>
            <a:off x="5334000" y="2133600"/>
            <a:ext cx="3714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4000">
                <a:latin typeface="Perpetua" charset="0"/>
              </a:rPr>
              <a:t>a</a:t>
            </a:r>
          </a:p>
        </p:txBody>
      </p:sp>
      <p:cxnSp>
        <p:nvCxnSpPr>
          <p:cNvPr id="12" name="Straight Arrow Connector 11"/>
          <p:cNvCxnSpPr>
            <a:stCxn id="5" idx="6"/>
            <a:endCxn id="10" idx="2"/>
          </p:cNvCxnSpPr>
          <p:nvPr/>
        </p:nvCxnSpPr>
        <p:spPr>
          <a:xfrm flipV="1">
            <a:off x="4114800" y="2498725"/>
            <a:ext cx="1066800" cy="6096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51" name="Picture 4" descr="http://img.tfd.com/wn/77/666AB-rin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2155825"/>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52" name="Picture 6" descr="http://i66.photobucket.com/albums/h262/jessie_008/lightning_bolt-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3298825"/>
            <a:ext cx="169863"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53" name="Picture 26" descr="http://www.iemrams.spb.ru/figures/2006/pavlov07.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765425"/>
            <a:ext cx="609600" cy="727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 name="Oval 16"/>
          <p:cNvSpPr/>
          <p:nvPr/>
        </p:nvSpPr>
        <p:spPr>
          <a:xfrm>
            <a:off x="3429000" y="17145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9" name="Straight Arrow Connector 18"/>
          <p:cNvCxnSpPr>
            <a:stCxn id="17" idx="6"/>
          </p:cNvCxnSpPr>
          <p:nvPr/>
        </p:nvCxnSpPr>
        <p:spPr>
          <a:xfrm>
            <a:off x="4114800" y="2057400"/>
            <a:ext cx="1066800" cy="4349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7" idx="6"/>
            <a:endCxn id="7" idx="2"/>
          </p:cNvCxnSpPr>
          <p:nvPr/>
        </p:nvCxnSpPr>
        <p:spPr>
          <a:xfrm>
            <a:off x="4114800" y="2057400"/>
            <a:ext cx="1066800" cy="14859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57" name="Picture 4" descr="http://web.syr.edu/~jlbirkla/kb/images/Tolman.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810000"/>
            <a:ext cx="457200" cy="700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 name="Oval 23"/>
          <p:cNvSpPr/>
          <p:nvPr/>
        </p:nvSpPr>
        <p:spPr>
          <a:xfrm>
            <a:off x="3429000" y="38100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25" name="Straight Arrow Connector 24"/>
          <p:cNvCxnSpPr>
            <a:stCxn id="24" idx="6"/>
            <a:endCxn id="10" idx="2"/>
          </p:cNvCxnSpPr>
          <p:nvPr/>
        </p:nvCxnSpPr>
        <p:spPr>
          <a:xfrm flipV="1">
            <a:off x="4114800" y="2498725"/>
            <a:ext cx="1066800" cy="1654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4" idx="6"/>
            <a:endCxn id="7" idx="2"/>
          </p:cNvCxnSpPr>
          <p:nvPr/>
        </p:nvCxnSpPr>
        <p:spPr>
          <a:xfrm flipV="1">
            <a:off x="4114800" y="3543300"/>
            <a:ext cx="1066800" cy="6096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1" name="Picture 8" descr="http://psych.wisc.edu/henriques/resources/thorndike.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4876800"/>
            <a:ext cx="476250" cy="650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 name="Oval 29"/>
          <p:cNvSpPr/>
          <p:nvPr/>
        </p:nvSpPr>
        <p:spPr>
          <a:xfrm>
            <a:off x="3429000" y="4800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31" name="Straight Arrow Connector 30"/>
          <p:cNvCxnSpPr>
            <a:stCxn id="30" idx="6"/>
          </p:cNvCxnSpPr>
          <p:nvPr/>
        </p:nvCxnSpPr>
        <p:spPr>
          <a:xfrm flipV="1">
            <a:off x="4114800" y="3489325"/>
            <a:ext cx="1066800" cy="1654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0" idx="2"/>
          </p:cNvCxnSpPr>
          <p:nvPr/>
        </p:nvCxnSpPr>
        <p:spPr>
          <a:xfrm flipV="1">
            <a:off x="4114800" y="2498725"/>
            <a:ext cx="1066800" cy="26447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65" name="TextBox 33"/>
          <p:cNvSpPr txBox="1">
            <a:spLocks noChangeArrowheads="1"/>
          </p:cNvSpPr>
          <p:nvPr/>
        </p:nvSpPr>
        <p:spPr bwMode="auto">
          <a:xfrm>
            <a:off x="3657600" y="5562600"/>
            <a:ext cx="1524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b="1"/>
              <a:t>...</a:t>
            </a:r>
          </a:p>
        </p:txBody>
      </p:sp>
      <p:sp>
        <p:nvSpPr>
          <p:cNvPr id="27" name="TextBox 26"/>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5919706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53000" y="762000"/>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67"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838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268"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7538" y="8382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Oval 7"/>
          <p:cNvSpPr/>
          <p:nvPr/>
        </p:nvSpPr>
        <p:spPr>
          <a:xfrm>
            <a:off x="4343400" y="152400"/>
            <a:ext cx="4267200" cy="350520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6324600" y="457200"/>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71"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5334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272"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9138" y="5334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1"/>
          <p:cNvSpPr/>
          <p:nvPr/>
        </p:nvSpPr>
        <p:spPr>
          <a:xfrm>
            <a:off x="4724400" y="1752600"/>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74"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8288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275"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8938" y="18288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 name="Rectangle 14"/>
          <p:cNvSpPr/>
          <p:nvPr/>
        </p:nvSpPr>
        <p:spPr>
          <a:xfrm>
            <a:off x="5562600" y="2667000"/>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77"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7432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278" name="Picture 6" descr="http://i66.photobucket.com/albums/h262/jessie_008/lightning_bolt-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7138" y="2743200"/>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1" name="Oval 30"/>
          <p:cNvSpPr/>
          <p:nvPr/>
        </p:nvSpPr>
        <p:spPr>
          <a:xfrm>
            <a:off x="3581400" y="4191000"/>
            <a:ext cx="5181600" cy="2438400"/>
          </a:xfrm>
          <a:prstGeom prst="ellipse">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6172200" y="4419600"/>
            <a:ext cx="1143000" cy="68580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81"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44958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Rectangle 34"/>
          <p:cNvSpPr/>
          <p:nvPr/>
        </p:nvSpPr>
        <p:spPr>
          <a:xfrm>
            <a:off x="7391400" y="5029200"/>
            <a:ext cx="1143000" cy="68580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83"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51054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 name="Rectangle 36"/>
          <p:cNvSpPr/>
          <p:nvPr/>
        </p:nvSpPr>
        <p:spPr>
          <a:xfrm>
            <a:off x="6019800" y="5638800"/>
            <a:ext cx="1143000" cy="68580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85"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7150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9" name="Rectangle 38"/>
          <p:cNvSpPr/>
          <p:nvPr/>
        </p:nvSpPr>
        <p:spPr>
          <a:xfrm>
            <a:off x="4419600" y="5410200"/>
            <a:ext cx="1143000" cy="68580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287" name="Picture 4" descr="http://img.tfd.com/wn/77/666AB-r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5486400"/>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288" name="Picture 26" descr="http://twistedphysics.typepad.com/cocktail_party_physics/images/2008/02/21/rat_whiskers_lg.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143000"/>
            <a:ext cx="2641600" cy="198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289" name="TextBox 26"/>
          <p:cNvSpPr txBox="1">
            <a:spLocks noChangeArrowheads="1"/>
          </p:cNvSpPr>
          <p:nvPr/>
        </p:nvSpPr>
        <p:spPr bwMode="auto">
          <a:xfrm>
            <a:off x="50800" y="457200"/>
            <a:ext cx="4060825"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400" b="1" u="sng"/>
              <a:t>Conditioning as clustering</a:t>
            </a:r>
          </a:p>
        </p:txBody>
      </p:sp>
      <p:sp>
        <p:nvSpPr>
          <p:cNvPr id="11290" name="TextBox 25"/>
          <p:cNvSpPr txBox="1">
            <a:spLocks noChangeArrowheads="1"/>
          </p:cNvSpPr>
          <p:nvPr/>
        </p:nvSpPr>
        <p:spPr bwMode="auto">
          <a:xfrm>
            <a:off x="0" y="3445252"/>
            <a:ext cx="3943324" cy="31393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200" dirty="0"/>
              <a:t>Only one latent cause active on a given trial</a:t>
            </a:r>
          </a:p>
          <a:p>
            <a:pPr eaLnBrk="1" hangingPunct="1"/>
            <a:endParaRPr lang="en-US" sz="2200" dirty="0"/>
          </a:p>
          <a:p>
            <a:pPr eaLnBrk="1" hangingPunct="1"/>
            <a:r>
              <a:rPr lang="en-US" sz="2200" dirty="0"/>
              <a:t>Potentially infinite number of causes</a:t>
            </a:r>
          </a:p>
          <a:p>
            <a:pPr eaLnBrk="1" hangingPunct="1"/>
            <a:endParaRPr lang="en-US" sz="2200" dirty="0"/>
          </a:p>
          <a:p>
            <a:pPr eaLnBrk="1" hangingPunct="1"/>
            <a:r>
              <a:rPr lang="en-US" sz="2200" b="1" i="1" dirty="0"/>
              <a:t>Simplicity bias</a:t>
            </a:r>
            <a:r>
              <a:rPr lang="en-US" sz="2200" b="1" dirty="0"/>
              <a:t>:</a:t>
            </a:r>
          </a:p>
          <a:p>
            <a:pPr eaLnBrk="1" hangingPunct="1"/>
            <a:r>
              <a:rPr lang="en-US" sz="2200" dirty="0"/>
              <a:t>prefer a small number of causes</a:t>
            </a:r>
          </a:p>
        </p:txBody>
      </p:sp>
      <p:sp>
        <p:nvSpPr>
          <p:cNvPr id="27" name="TextBox 26"/>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0200969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3965"/>
            <a:ext cx="8229600" cy="1143000"/>
          </a:xfrm>
        </p:spPr>
        <p:txBody>
          <a:bodyPr/>
          <a:lstStyle/>
          <a:p>
            <a:r>
              <a:rPr lang="en-US" dirty="0">
                <a:latin typeface="Calibri" charset="0"/>
              </a:rPr>
              <a:t>The model</a:t>
            </a:r>
          </a:p>
        </p:txBody>
      </p:sp>
      <p:sp>
        <p:nvSpPr>
          <p:cNvPr id="12291" name="TextBox 3"/>
          <p:cNvSpPr txBox="1">
            <a:spLocks noChangeArrowheads="1"/>
          </p:cNvSpPr>
          <p:nvPr/>
        </p:nvSpPr>
        <p:spPr bwMode="auto">
          <a:xfrm>
            <a:off x="304800" y="1316096"/>
            <a:ext cx="8458200" cy="4893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400" i="1" dirty="0"/>
              <a:t>Bayes</a:t>
            </a:r>
            <a:r>
              <a:rPr lang="ja-JP" altLang="en-US" sz="2400" i="1" dirty="0"/>
              <a:t>’</a:t>
            </a:r>
            <a:r>
              <a:rPr lang="en-US" sz="2400" i="1" dirty="0"/>
              <a:t> rule inverts internal model to recover latent causes:</a:t>
            </a:r>
          </a:p>
          <a:p>
            <a:pPr eaLnBrk="1" hangingPunct="1"/>
            <a:r>
              <a:rPr lang="en-US" sz="2400" b="1" dirty="0">
                <a:solidFill>
                  <a:srgbClr val="00B050"/>
                </a:solidFill>
              </a:rPr>
              <a:t>	P(</a:t>
            </a:r>
            <a:r>
              <a:rPr lang="en-US" sz="2400" b="1" dirty="0" err="1">
                <a:solidFill>
                  <a:srgbClr val="00B050"/>
                </a:solidFill>
              </a:rPr>
              <a:t>cause|data</a:t>
            </a:r>
            <a:r>
              <a:rPr lang="en-US" sz="2400" b="1" dirty="0">
                <a:solidFill>
                  <a:srgbClr val="00B050"/>
                </a:solidFill>
              </a:rPr>
              <a:t>) </a:t>
            </a:r>
            <a:r>
              <a:rPr lang="en-US" sz="2400" b="1" dirty="0">
                <a:solidFill>
                  <a:srgbClr val="00B050"/>
                </a:solidFill>
                <a:latin typeface="Arial Unicode MS" charset="0"/>
                <a:cs typeface="Arial Unicode MS" charset="0"/>
              </a:rPr>
              <a:t>∝</a:t>
            </a:r>
            <a:r>
              <a:rPr lang="en-US" sz="2400" b="1" dirty="0">
                <a:solidFill>
                  <a:srgbClr val="00B050"/>
                </a:solidFill>
              </a:rPr>
              <a:t> P(</a:t>
            </a:r>
            <a:r>
              <a:rPr lang="en-US" sz="2400" b="1" dirty="0" err="1">
                <a:solidFill>
                  <a:srgbClr val="00B050"/>
                </a:solidFill>
              </a:rPr>
              <a:t>data|cause</a:t>
            </a:r>
            <a:r>
              <a:rPr lang="en-US" sz="2400" b="1" dirty="0">
                <a:solidFill>
                  <a:srgbClr val="00B050"/>
                </a:solidFill>
              </a:rPr>
              <a:t>)P(cause)</a:t>
            </a:r>
          </a:p>
          <a:p>
            <a:pPr eaLnBrk="1" hangingPunct="1"/>
            <a:endParaRPr lang="en-US" sz="2400" b="1" dirty="0">
              <a:solidFill>
                <a:srgbClr val="00B050"/>
              </a:solidFill>
            </a:endParaRPr>
          </a:p>
          <a:p>
            <a:pPr eaLnBrk="1" hangingPunct="1"/>
            <a:endParaRPr lang="en-US" sz="2400" b="1" dirty="0">
              <a:solidFill>
                <a:srgbClr val="00B050"/>
              </a:solidFill>
            </a:endParaRPr>
          </a:p>
          <a:p>
            <a:pPr eaLnBrk="1" hangingPunct="1"/>
            <a:endParaRPr lang="en-US" sz="2400" b="1" dirty="0">
              <a:solidFill>
                <a:srgbClr val="00B050"/>
              </a:solidFill>
            </a:endParaRPr>
          </a:p>
          <a:p>
            <a:pPr eaLnBrk="1" hangingPunct="1"/>
            <a:endParaRPr lang="en-US" sz="2400" b="1" dirty="0"/>
          </a:p>
          <a:p>
            <a:pPr eaLnBrk="1" hangingPunct="1"/>
            <a:endParaRPr lang="en-US" sz="2400" b="1" dirty="0"/>
          </a:p>
          <a:p>
            <a:pPr eaLnBrk="1" hangingPunct="1"/>
            <a:endParaRPr lang="en-US" sz="2400" b="1" dirty="0"/>
          </a:p>
          <a:p>
            <a:pPr eaLnBrk="1" hangingPunct="1"/>
            <a:r>
              <a:rPr lang="en-US" sz="2400" b="1" dirty="0">
                <a:solidFill>
                  <a:srgbClr val="00B050"/>
                </a:solidFill>
              </a:rPr>
              <a:t>P(</a:t>
            </a:r>
            <a:r>
              <a:rPr lang="en-US" sz="2400" b="1" dirty="0" err="1">
                <a:solidFill>
                  <a:srgbClr val="00B050"/>
                </a:solidFill>
              </a:rPr>
              <a:t>data|cause</a:t>
            </a:r>
            <a:r>
              <a:rPr lang="en-US" sz="2400" b="1" dirty="0">
                <a:solidFill>
                  <a:srgbClr val="00B050"/>
                </a:solidFill>
              </a:rPr>
              <a:t>)</a:t>
            </a:r>
            <a:r>
              <a:rPr lang="en-US" sz="2400" dirty="0"/>
              <a:t>: the probability that the observed data was generated by a hypothetical latent cause</a:t>
            </a:r>
          </a:p>
          <a:p>
            <a:pPr eaLnBrk="1" hangingPunct="1"/>
            <a:endParaRPr lang="en-US" sz="2400" dirty="0"/>
          </a:p>
          <a:p>
            <a:pPr eaLnBrk="1" hangingPunct="1"/>
            <a:r>
              <a:rPr lang="en-US" sz="2400" b="1" dirty="0">
                <a:solidFill>
                  <a:srgbClr val="00B050"/>
                </a:solidFill>
              </a:rPr>
              <a:t>P(cause)</a:t>
            </a:r>
            <a:r>
              <a:rPr lang="en-US" sz="2400" dirty="0"/>
              <a:t>: the prior probability of a cause. They use the CRP, a prior that prefers fewer causes but allows infinitely many.</a:t>
            </a:r>
          </a:p>
        </p:txBody>
      </p:sp>
      <p:sp>
        <p:nvSpPr>
          <p:cNvPr id="6" name="Rectangle 5"/>
          <p:cNvSpPr/>
          <p:nvPr/>
        </p:nvSpPr>
        <p:spPr>
          <a:xfrm>
            <a:off x="1143000" y="2306696"/>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293" name="Picture 4" descr="http://img.tfd.com/wn/77/666AB-rin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82896"/>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294" name="Picture 6" descr="http://i66.photobucket.com/albums/h262/jessie_008/lightning_bol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2382896"/>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Oval 8"/>
          <p:cNvSpPr/>
          <p:nvPr/>
        </p:nvSpPr>
        <p:spPr>
          <a:xfrm>
            <a:off x="1371600" y="3525896"/>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Arrow Connector 9"/>
          <p:cNvCxnSpPr>
            <a:stCxn id="9" idx="0"/>
            <a:endCxn id="6" idx="2"/>
          </p:cNvCxnSpPr>
          <p:nvPr/>
        </p:nvCxnSpPr>
        <p:spPr>
          <a:xfrm rot="5400000" flipH="1" flipV="1">
            <a:off x="1447801" y="3259196"/>
            <a:ext cx="533400" cy="3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2306696"/>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298" name="Picture 4" descr="http://img.tfd.com/wn/77/666AB-rin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382896"/>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299" name="Picture 6" descr="http://i66.photobucket.com/albums/h262/jessie_008/lightning_bol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5338" y="2382896"/>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 name="Oval 16"/>
          <p:cNvSpPr/>
          <p:nvPr/>
        </p:nvSpPr>
        <p:spPr>
          <a:xfrm>
            <a:off x="2819400" y="3525896"/>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8" name="Straight Arrow Connector 17"/>
          <p:cNvCxnSpPr>
            <a:stCxn id="17" idx="0"/>
            <a:endCxn id="14" idx="2"/>
          </p:cNvCxnSpPr>
          <p:nvPr/>
        </p:nvCxnSpPr>
        <p:spPr>
          <a:xfrm rot="5400000" flipH="1" flipV="1">
            <a:off x="2895601" y="3259196"/>
            <a:ext cx="533400" cy="3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4267200" y="2306696"/>
            <a:ext cx="11430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303" name="Picture 4" descr="http://img.tfd.com/wn/77/666AB-rin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2382896"/>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 name="Oval 21"/>
          <p:cNvSpPr/>
          <p:nvPr/>
        </p:nvSpPr>
        <p:spPr>
          <a:xfrm>
            <a:off x="4495800" y="3525896"/>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23" name="Straight Arrow Connector 22"/>
          <p:cNvCxnSpPr>
            <a:stCxn id="22" idx="0"/>
            <a:endCxn id="19" idx="2"/>
          </p:cNvCxnSpPr>
          <p:nvPr/>
        </p:nvCxnSpPr>
        <p:spPr>
          <a:xfrm rot="5400000" flipH="1" flipV="1">
            <a:off x="4572001" y="3259196"/>
            <a:ext cx="533400" cy="3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791200" y="2306696"/>
            <a:ext cx="1143000" cy="685800"/>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307" name="Picture 4" descr="http://img.tfd.com/wn/77/666AB-rin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382896"/>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308" name="Picture 6" descr="http://i66.photobucket.com/albums/h262/jessie_008/lightning_bol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5738" y="2382896"/>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 name="Oval 26"/>
          <p:cNvSpPr/>
          <p:nvPr/>
        </p:nvSpPr>
        <p:spPr>
          <a:xfrm>
            <a:off x="6019800" y="3525896"/>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28" name="Straight Arrow Connector 27"/>
          <p:cNvCxnSpPr>
            <a:stCxn id="27" idx="0"/>
            <a:endCxn id="24" idx="2"/>
          </p:cNvCxnSpPr>
          <p:nvPr/>
        </p:nvCxnSpPr>
        <p:spPr>
          <a:xfrm rot="5400000" flipH="1" flipV="1">
            <a:off x="6096001" y="3259196"/>
            <a:ext cx="533400" cy="3175"/>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11" name="TextBox 28"/>
          <p:cNvSpPr txBox="1">
            <a:spLocks noChangeArrowheads="1"/>
          </p:cNvSpPr>
          <p:nvPr/>
        </p:nvSpPr>
        <p:spPr bwMode="auto">
          <a:xfrm>
            <a:off x="152400" y="3068696"/>
            <a:ext cx="1524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Generative process</a:t>
            </a:r>
          </a:p>
        </p:txBody>
      </p:sp>
      <p:sp>
        <p:nvSpPr>
          <p:cNvPr id="30" name="Down Arrow 29"/>
          <p:cNvSpPr/>
          <p:nvPr/>
        </p:nvSpPr>
        <p:spPr>
          <a:xfrm>
            <a:off x="7162800" y="2763896"/>
            <a:ext cx="304800" cy="1143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13" name="TextBox 30"/>
          <p:cNvSpPr txBox="1">
            <a:spLocks noChangeArrowheads="1"/>
          </p:cNvSpPr>
          <p:nvPr/>
        </p:nvSpPr>
        <p:spPr bwMode="auto">
          <a:xfrm>
            <a:off x="7543800" y="3032184"/>
            <a:ext cx="1524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t>Inference </a:t>
            </a:r>
          </a:p>
          <a:p>
            <a:pPr eaLnBrk="1" hangingPunct="1"/>
            <a:r>
              <a:rPr lang="en-US"/>
              <a:t>(Bayes</a:t>
            </a:r>
            <a:r>
              <a:rPr lang="ja-JP" altLang="en-US"/>
              <a:t>’</a:t>
            </a:r>
            <a:r>
              <a:rPr lang="en-US"/>
              <a:t> rule)</a:t>
            </a:r>
          </a:p>
        </p:txBody>
      </p:sp>
      <p:pic>
        <p:nvPicPr>
          <p:cNvPr id="12314" name="Picture 2" descr="http://www.clipartreview.com/_gallery/_TN/r_209.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2154296"/>
            <a:ext cx="1428750" cy="819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 name="TextBox 28"/>
          <p:cNvSpPr txBox="1"/>
          <p:nvPr/>
        </p:nvSpPr>
        <p:spPr>
          <a:xfrm>
            <a:off x="6416256" y="6471956"/>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6553505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52400" y="274638"/>
            <a:ext cx="8229600" cy="1143000"/>
          </a:xfrm>
        </p:spPr>
        <p:txBody>
          <a:bodyPr/>
          <a:lstStyle/>
          <a:p>
            <a:pPr eaLnBrk="1" hangingPunct="1"/>
            <a:r>
              <a:rPr lang="en-US">
                <a:latin typeface="Calibri" charset="0"/>
              </a:rPr>
              <a:t>Case study: extinction</a:t>
            </a:r>
          </a:p>
        </p:txBody>
      </p:sp>
      <p:pic>
        <p:nvPicPr>
          <p:cNvPr id="133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90800"/>
            <a:ext cx="2228850" cy="212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6" name="TextBox 5"/>
          <p:cNvSpPr txBox="1">
            <a:spLocks noChangeArrowheads="1"/>
          </p:cNvSpPr>
          <p:nvPr/>
        </p:nvSpPr>
        <p:spPr bwMode="auto">
          <a:xfrm>
            <a:off x="152400" y="2068513"/>
            <a:ext cx="2462213"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pic>
        <p:nvPicPr>
          <p:cNvPr id="1331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2288" y="2543175"/>
            <a:ext cx="2105025" cy="1771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8" name="TextBox 8"/>
          <p:cNvSpPr txBox="1">
            <a:spLocks noChangeArrowheads="1"/>
          </p:cNvSpPr>
          <p:nvPr/>
        </p:nvSpPr>
        <p:spPr bwMode="auto">
          <a:xfrm>
            <a:off x="2871788" y="2057400"/>
            <a:ext cx="2319337"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Extinction </a:t>
            </a:r>
            <a:r>
              <a:rPr lang="en-US" sz="2000"/>
              <a:t>(box B)</a:t>
            </a:r>
            <a:endParaRPr lang="en-US" sz="2000" b="1"/>
          </a:p>
        </p:txBody>
      </p:sp>
      <p:pic>
        <p:nvPicPr>
          <p:cNvPr id="1331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514600"/>
            <a:ext cx="2105025" cy="1771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2" name="Straight Arrow Connector 11"/>
          <p:cNvCxnSpPr/>
          <p:nvPr/>
        </p:nvCxnSpPr>
        <p:spPr>
          <a:xfrm>
            <a:off x="5486400" y="3429000"/>
            <a:ext cx="91440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609600"/>
            <a:ext cx="2047875" cy="175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4" name="Straight Arrow Connector 13"/>
          <p:cNvCxnSpPr/>
          <p:nvPr/>
        </p:nvCxnSpPr>
        <p:spPr>
          <a:xfrm flipV="1">
            <a:off x="5486400" y="1981200"/>
            <a:ext cx="1219200" cy="11430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23"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4495800"/>
            <a:ext cx="2066925" cy="175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7" name="Straight Arrow Connector 16"/>
          <p:cNvCxnSpPr/>
          <p:nvPr/>
        </p:nvCxnSpPr>
        <p:spPr>
          <a:xfrm rot="16200000" flipH="1">
            <a:off x="5371306" y="3923507"/>
            <a:ext cx="1296987" cy="10668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325" name="TextBox 18"/>
          <p:cNvSpPr txBox="1">
            <a:spLocks noChangeArrowheads="1"/>
          </p:cNvSpPr>
          <p:nvPr/>
        </p:nvSpPr>
        <p:spPr bwMode="auto">
          <a:xfrm>
            <a:off x="5715000" y="3581400"/>
            <a:ext cx="693738"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Test</a:t>
            </a:r>
          </a:p>
        </p:txBody>
      </p:sp>
      <p:sp>
        <p:nvSpPr>
          <p:cNvPr id="15" name="TextBox 14"/>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9934255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04800" y="274638"/>
            <a:ext cx="8534400" cy="1143000"/>
          </a:xfrm>
        </p:spPr>
        <p:txBody>
          <a:bodyPr/>
          <a:lstStyle/>
          <a:p>
            <a:pPr eaLnBrk="1" hangingPunct="1"/>
            <a:r>
              <a:rPr lang="en-US">
                <a:latin typeface="Calibri" charset="0"/>
              </a:rPr>
              <a:t>Conditioned responding is renewed!</a:t>
            </a:r>
          </a:p>
        </p:txBody>
      </p:sp>
      <p:pic>
        <p:nvPicPr>
          <p:cNvPr id="143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250" y="1447800"/>
            <a:ext cx="4222750" cy="3243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40" name="TextBox 4"/>
          <p:cNvSpPr txBox="1">
            <a:spLocks noChangeArrowheads="1"/>
          </p:cNvSpPr>
          <p:nvPr/>
        </p:nvSpPr>
        <p:spPr bwMode="auto">
          <a:xfrm>
            <a:off x="6975475" y="6092825"/>
            <a:ext cx="2074863"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(Bouton &amp; Bolles, 1979)</a:t>
            </a:r>
          </a:p>
        </p:txBody>
      </p:sp>
      <p:sp>
        <p:nvSpPr>
          <p:cNvPr id="14341" name="TextBox 5"/>
          <p:cNvSpPr txBox="1">
            <a:spLocks noChangeArrowheads="1"/>
          </p:cNvSpPr>
          <p:nvPr/>
        </p:nvSpPr>
        <p:spPr bwMode="auto">
          <a:xfrm>
            <a:off x="609600" y="5189538"/>
            <a:ext cx="7924800" cy="830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400">
                <a:solidFill>
                  <a:srgbClr val="FF0000"/>
                </a:solidFill>
              </a:rPr>
              <a:t>The rat hasn</a:t>
            </a:r>
            <a:r>
              <a:rPr lang="ja-JP" altLang="en-US" sz="2400">
                <a:solidFill>
                  <a:srgbClr val="FF0000"/>
                </a:solidFill>
              </a:rPr>
              <a:t>’</a:t>
            </a:r>
            <a:r>
              <a:rPr lang="en-US" sz="2400">
                <a:solidFill>
                  <a:srgbClr val="FF0000"/>
                </a:solidFill>
              </a:rPr>
              <a:t>t unlearned its conditioned response; it appears that it has</a:t>
            </a:r>
            <a:r>
              <a:rPr lang="en-US" sz="2400" i="1">
                <a:solidFill>
                  <a:srgbClr val="FF0000"/>
                </a:solidFill>
              </a:rPr>
              <a:t> </a:t>
            </a:r>
            <a:r>
              <a:rPr lang="en-US" sz="2400" b="1" i="1">
                <a:solidFill>
                  <a:srgbClr val="FF0000"/>
                </a:solidFill>
              </a:rPr>
              <a:t>learned something new.</a:t>
            </a:r>
          </a:p>
        </p:txBody>
      </p:sp>
      <p:pic>
        <p:nvPicPr>
          <p:cNvPr id="1434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1850" y="4419600"/>
            <a:ext cx="685800" cy="587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3850" y="4419600"/>
            <a:ext cx="685800" cy="577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2050" y="4419600"/>
            <a:ext cx="68580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8675" y="3030538"/>
            <a:ext cx="1527175" cy="1455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46" name="TextBox 5"/>
          <p:cNvSpPr txBox="1">
            <a:spLocks noChangeArrowheads="1"/>
          </p:cNvSpPr>
          <p:nvPr/>
        </p:nvSpPr>
        <p:spPr bwMode="auto">
          <a:xfrm>
            <a:off x="762000" y="2286000"/>
            <a:ext cx="1687513"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pic>
        <p:nvPicPr>
          <p:cNvPr id="1434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6963" y="3052763"/>
            <a:ext cx="1443037" cy="1214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48" name="TextBox 8"/>
          <p:cNvSpPr txBox="1">
            <a:spLocks noChangeArrowheads="1"/>
          </p:cNvSpPr>
          <p:nvPr/>
        </p:nvSpPr>
        <p:spPr bwMode="auto">
          <a:xfrm>
            <a:off x="2514600" y="2286000"/>
            <a:ext cx="15906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Extinction </a:t>
            </a:r>
            <a:r>
              <a:rPr lang="en-US" sz="2000"/>
              <a:t>(box B)</a:t>
            </a:r>
            <a:endParaRPr lang="en-US" sz="2000" b="1"/>
          </a:p>
        </p:txBody>
      </p:sp>
      <p:sp>
        <p:nvSpPr>
          <p:cNvPr id="13" name="TextBox 12"/>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398367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1527175" cy="1455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Oval 5"/>
          <p:cNvSpPr/>
          <p:nvPr/>
        </p:nvSpPr>
        <p:spPr>
          <a:xfrm>
            <a:off x="2438400" y="1371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7" name="Straight Arrow Connector 6"/>
          <p:cNvCxnSpPr>
            <a:stCxn id="6" idx="4"/>
          </p:cNvCxnSpPr>
          <p:nvPr/>
        </p:nvCxnSpPr>
        <p:spPr>
          <a:xfrm rot="5400000">
            <a:off x="2381250" y="2419350"/>
            <a:ext cx="7620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365" name="TextBox 5"/>
          <p:cNvSpPr txBox="1">
            <a:spLocks noChangeArrowheads="1"/>
          </p:cNvSpPr>
          <p:nvPr/>
        </p:nvSpPr>
        <p:spPr bwMode="auto">
          <a:xfrm>
            <a:off x="1828800" y="4397375"/>
            <a:ext cx="16891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sp>
        <p:nvSpPr>
          <p:cNvPr id="8" name="TextBox 7"/>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3692001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1527175" cy="1455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638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895600"/>
            <a:ext cx="1443038" cy="1214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Oval 5"/>
          <p:cNvSpPr/>
          <p:nvPr/>
        </p:nvSpPr>
        <p:spPr>
          <a:xfrm>
            <a:off x="2438400" y="1371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7" name="Straight Arrow Connector 6"/>
          <p:cNvCxnSpPr>
            <a:stCxn id="6" idx="4"/>
          </p:cNvCxnSpPr>
          <p:nvPr/>
        </p:nvCxnSpPr>
        <p:spPr>
          <a:xfrm rot="5400000">
            <a:off x="2381250" y="2419350"/>
            <a:ext cx="7620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4724400" y="14478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9" name="Straight Arrow Connector 8"/>
          <p:cNvCxnSpPr>
            <a:stCxn id="8" idx="4"/>
          </p:cNvCxnSpPr>
          <p:nvPr/>
        </p:nvCxnSpPr>
        <p:spPr>
          <a:xfrm rot="5400000">
            <a:off x="4705350" y="2457450"/>
            <a:ext cx="6858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392" name="TextBox 5"/>
          <p:cNvSpPr txBox="1">
            <a:spLocks noChangeArrowheads="1"/>
          </p:cNvSpPr>
          <p:nvPr/>
        </p:nvSpPr>
        <p:spPr bwMode="auto">
          <a:xfrm>
            <a:off x="1828800" y="4397375"/>
            <a:ext cx="16891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sp>
        <p:nvSpPr>
          <p:cNvPr id="16393" name="TextBox 8"/>
          <p:cNvSpPr txBox="1">
            <a:spLocks noChangeArrowheads="1"/>
          </p:cNvSpPr>
          <p:nvPr/>
        </p:nvSpPr>
        <p:spPr bwMode="auto">
          <a:xfrm>
            <a:off x="4191000" y="4397375"/>
            <a:ext cx="15906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Extinction </a:t>
            </a:r>
            <a:r>
              <a:rPr lang="en-US" sz="2000"/>
              <a:t>(box B)</a:t>
            </a:r>
            <a:endParaRPr lang="en-US" sz="2000" b="1"/>
          </a:p>
        </p:txBody>
      </p:sp>
      <p:sp>
        <p:nvSpPr>
          <p:cNvPr id="10" name="TextBox 9"/>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3285812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1527175" cy="1455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74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895600"/>
            <a:ext cx="1443038" cy="1214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Oval 5"/>
          <p:cNvSpPr/>
          <p:nvPr/>
        </p:nvSpPr>
        <p:spPr>
          <a:xfrm>
            <a:off x="2438400" y="1371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7" name="Straight Arrow Connector 6"/>
          <p:cNvCxnSpPr>
            <a:stCxn id="6" idx="4"/>
          </p:cNvCxnSpPr>
          <p:nvPr/>
        </p:nvCxnSpPr>
        <p:spPr>
          <a:xfrm rot="5400000">
            <a:off x="2381250" y="2419350"/>
            <a:ext cx="7620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4724400" y="14478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9" name="Straight Arrow Connector 8"/>
          <p:cNvCxnSpPr>
            <a:stCxn id="8" idx="4"/>
          </p:cNvCxnSpPr>
          <p:nvPr/>
        </p:nvCxnSpPr>
        <p:spPr>
          <a:xfrm rot="5400000">
            <a:off x="4705350" y="2457450"/>
            <a:ext cx="6858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741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2895600"/>
            <a:ext cx="1371600" cy="1173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1" name="Straight Arrow Connector 10"/>
          <p:cNvCxnSpPr>
            <a:stCxn id="6" idx="4"/>
          </p:cNvCxnSpPr>
          <p:nvPr/>
        </p:nvCxnSpPr>
        <p:spPr>
          <a:xfrm rot="16200000" flipH="1">
            <a:off x="4210050" y="628650"/>
            <a:ext cx="762000" cy="36195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418" name="TextBox 5"/>
          <p:cNvSpPr txBox="1">
            <a:spLocks noChangeArrowheads="1"/>
          </p:cNvSpPr>
          <p:nvPr/>
        </p:nvSpPr>
        <p:spPr bwMode="auto">
          <a:xfrm>
            <a:off x="1828800" y="4397375"/>
            <a:ext cx="16891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sp>
        <p:nvSpPr>
          <p:cNvPr id="17419" name="TextBox 8"/>
          <p:cNvSpPr txBox="1">
            <a:spLocks noChangeArrowheads="1"/>
          </p:cNvSpPr>
          <p:nvPr/>
        </p:nvSpPr>
        <p:spPr bwMode="auto">
          <a:xfrm>
            <a:off x="4191000" y="4397375"/>
            <a:ext cx="15906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Extinction </a:t>
            </a:r>
            <a:r>
              <a:rPr lang="en-US" sz="2000"/>
              <a:t>(box B)</a:t>
            </a:r>
            <a:endParaRPr lang="en-US" sz="2000" b="1"/>
          </a:p>
        </p:txBody>
      </p:sp>
      <p:sp>
        <p:nvSpPr>
          <p:cNvPr id="17420" name="TextBox 5"/>
          <p:cNvSpPr txBox="1">
            <a:spLocks noChangeArrowheads="1"/>
          </p:cNvSpPr>
          <p:nvPr/>
        </p:nvSpPr>
        <p:spPr bwMode="auto">
          <a:xfrm>
            <a:off x="6161088" y="4397375"/>
            <a:ext cx="1687512"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Test </a:t>
            </a:r>
          </a:p>
          <a:p>
            <a:pPr eaLnBrk="1" hangingPunct="1"/>
            <a:r>
              <a:rPr lang="en-US" sz="2000"/>
              <a:t>(box A)</a:t>
            </a:r>
            <a:endParaRPr lang="en-US" sz="2000" b="1"/>
          </a:p>
        </p:txBody>
      </p:sp>
      <p:sp>
        <p:nvSpPr>
          <p:cNvPr id="13" name="TextBox 12"/>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03693969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1527175" cy="1455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43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895600"/>
            <a:ext cx="1443038" cy="1214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Oval 5"/>
          <p:cNvSpPr/>
          <p:nvPr/>
        </p:nvSpPr>
        <p:spPr>
          <a:xfrm>
            <a:off x="2438400" y="13716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7" name="Straight Arrow Connector 6"/>
          <p:cNvCxnSpPr>
            <a:stCxn id="6" idx="4"/>
          </p:cNvCxnSpPr>
          <p:nvPr/>
        </p:nvCxnSpPr>
        <p:spPr>
          <a:xfrm rot="5400000">
            <a:off x="2381250" y="2419350"/>
            <a:ext cx="7620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4724400" y="1447800"/>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9" name="Straight Arrow Connector 8"/>
          <p:cNvCxnSpPr>
            <a:stCxn id="8" idx="4"/>
          </p:cNvCxnSpPr>
          <p:nvPr/>
        </p:nvCxnSpPr>
        <p:spPr>
          <a:xfrm rot="5400000">
            <a:off x="4705350" y="2457450"/>
            <a:ext cx="685800" cy="381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844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2895600"/>
            <a:ext cx="1371600" cy="1173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1" name="Straight Arrow Connector 10"/>
          <p:cNvCxnSpPr>
            <a:stCxn id="6" idx="4"/>
          </p:cNvCxnSpPr>
          <p:nvPr/>
        </p:nvCxnSpPr>
        <p:spPr>
          <a:xfrm rot="16200000" flipH="1">
            <a:off x="4210050" y="628650"/>
            <a:ext cx="762000" cy="36195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442" name="TextBox 5"/>
          <p:cNvSpPr txBox="1">
            <a:spLocks noChangeArrowheads="1"/>
          </p:cNvSpPr>
          <p:nvPr/>
        </p:nvSpPr>
        <p:spPr bwMode="auto">
          <a:xfrm>
            <a:off x="1828800" y="4397375"/>
            <a:ext cx="16891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 </a:t>
            </a:r>
            <a:r>
              <a:rPr lang="en-US" sz="2000"/>
              <a:t>(box A)</a:t>
            </a:r>
            <a:endParaRPr lang="en-US" sz="2000" b="1"/>
          </a:p>
        </p:txBody>
      </p:sp>
      <p:sp>
        <p:nvSpPr>
          <p:cNvPr id="18443" name="TextBox 8"/>
          <p:cNvSpPr txBox="1">
            <a:spLocks noChangeArrowheads="1"/>
          </p:cNvSpPr>
          <p:nvPr/>
        </p:nvSpPr>
        <p:spPr bwMode="auto">
          <a:xfrm>
            <a:off x="4191000" y="4397375"/>
            <a:ext cx="159067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Extinction </a:t>
            </a:r>
            <a:r>
              <a:rPr lang="en-US" sz="2000"/>
              <a:t>(box B)</a:t>
            </a:r>
            <a:endParaRPr lang="en-US" sz="2000" b="1"/>
          </a:p>
        </p:txBody>
      </p:sp>
      <p:sp>
        <p:nvSpPr>
          <p:cNvPr id="18444" name="TextBox 5"/>
          <p:cNvSpPr txBox="1">
            <a:spLocks noChangeArrowheads="1"/>
          </p:cNvSpPr>
          <p:nvPr/>
        </p:nvSpPr>
        <p:spPr bwMode="auto">
          <a:xfrm>
            <a:off x="6161088" y="4397375"/>
            <a:ext cx="1687512"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Test </a:t>
            </a:r>
          </a:p>
          <a:p>
            <a:pPr eaLnBrk="1" hangingPunct="1"/>
            <a:r>
              <a:rPr lang="en-US" sz="2000"/>
              <a:t>(box A)</a:t>
            </a:r>
            <a:endParaRPr lang="en-US" sz="2000" b="1"/>
          </a:p>
        </p:txBody>
      </p:sp>
      <p:sp>
        <p:nvSpPr>
          <p:cNvPr id="18445" name="TextBox 14"/>
          <p:cNvSpPr txBox="1">
            <a:spLocks noChangeArrowheads="1"/>
          </p:cNvSpPr>
          <p:nvPr/>
        </p:nvSpPr>
        <p:spPr bwMode="auto">
          <a:xfrm>
            <a:off x="838200" y="5715000"/>
            <a:ext cx="7853363"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400"/>
              <a:t>The crucial role of context: </a:t>
            </a:r>
            <a:r>
              <a:rPr lang="en-US" sz="2400" i="1">
                <a:solidFill>
                  <a:srgbClr val="FF0000"/>
                </a:solidFill>
              </a:rPr>
              <a:t>disambiguating latent causes</a:t>
            </a:r>
            <a:endParaRPr lang="en-US" sz="2400">
              <a:solidFill>
                <a:srgbClr val="FF0000"/>
              </a:solidFill>
            </a:endParaRPr>
          </a:p>
        </p:txBody>
      </p:sp>
      <p:sp>
        <p:nvSpPr>
          <p:cNvPr id="14" name="TextBox 13"/>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40099862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atin typeface="Calibri" charset="0"/>
              </a:rPr>
              <a:t>Modeling renewal</a:t>
            </a:r>
          </a:p>
        </p:txBody>
      </p:sp>
      <p:sp>
        <p:nvSpPr>
          <p:cNvPr id="19459" name="TextBox 4"/>
          <p:cNvSpPr txBox="1">
            <a:spLocks noChangeArrowheads="1"/>
          </p:cNvSpPr>
          <p:nvPr/>
        </p:nvSpPr>
        <p:spPr bwMode="auto">
          <a:xfrm>
            <a:off x="4770438" y="5932877"/>
            <a:ext cx="4373562"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(Bouton &amp; Bolles, 1979; Gershman, Blei &amp; Niv, 2010)</a:t>
            </a:r>
          </a:p>
        </p:txBody>
      </p:sp>
      <p:pic>
        <p:nvPicPr>
          <p:cNvPr id="1946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2386013"/>
            <a:ext cx="7364412" cy="2947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6404928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atin typeface="Calibri" charset="0"/>
              </a:rPr>
              <a:t>Clustering in the brain</a:t>
            </a:r>
          </a:p>
        </p:txBody>
      </p:sp>
      <p:sp>
        <p:nvSpPr>
          <p:cNvPr id="20483" name="Content Placeholder 2"/>
          <p:cNvSpPr>
            <a:spLocks noGrp="1"/>
          </p:cNvSpPr>
          <p:nvPr>
            <p:ph idx="1"/>
          </p:nvPr>
        </p:nvSpPr>
        <p:spPr>
          <a:xfrm>
            <a:off x="150381" y="1600200"/>
            <a:ext cx="8536419" cy="4525963"/>
          </a:xfrm>
        </p:spPr>
        <p:txBody>
          <a:bodyPr/>
          <a:lstStyle/>
          <a:p>
            <a:pPr marL="0" indent="0">
              <a:buNone/>
            </a:pPr>
            <a:r>
              <a:rPr lang="en-US" dirty="0">
                <a:latin typeface="Calibri" charset="0"/>
              </a:rPr>
              <a:t>Our model’s explanation of renewal relies on the animal’s ability to flexibly infer new latent causes.</a:t>
            </a:r>
          </a:p>
          <a:p>
            <a:pPr marL="0" indent="0">
              <a:buNone/>
            </a:pPr>
            <a:endParaRPr lang="en-US" dirty="0">
              <a:latin typeface="Calibri" charset="0"/>
            </a:endParaRPr>
          </a:p>
          <a:p>
            <a:pPr marL="0" indent="0">
              <a:buNone/>
            </a:pPr>
            <a:r>
              <a:rPr lang="en-US" dirty="0">
                <a:latin typeface="Calibri" charset="0"/>
              </a:rPr>
              <a:t>Evidence suggests that the hippocampal formation supports this ability.</a:t>
            </a:r>
          </a:p>
        </p:txBody>
      </p:sp>
      <p:pic>
        <p:nvPicPr>
          <p:cNvPr id="20484" name="Picture 5" descr="http://www.as.miami.edu/english/wiki105/images/9/9a/Hippocampus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4267200"/>
            <a:ext cx="2286000" cy="228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1797825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pPr eaLnBrk="1" fontAlgn="auto" hangingPunct="1">
              <a:spcAft>
                <a:spcPts val="0"/>
              </a:spcAft>
              <a:defRPr/>
            </a:pPr>
            <a:r>
              <a:rPr lang="en-US">
                <a:ea typeface="+mj-ea"/>
              </a:rPr>
              <a:t>Pre-training lesions of hippocampus abolish renewal</a:t>
            </a:r>
          </a:p>
        </p:txBody>
      </p:sp>
      <p:sp>
        <p:nvSpPr>
          <p:cNvPr id="21507" name="TextBox 4"/>
          <p:cNvSpPr txBox="1">
            <a:spLocks noChangeArrowheads="1"/>
          </p:cNvSpPr>
          <p:nvPr/>
        </p:nvSpPr>
        <p:spPr bwMode="auto">
          <a:xfrm>
            <a:off x="7183438" y="5966300"/>
            <a:ext cx="1655762"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(Ji &amp; Maren, 2005)</a:t>
            </a:r>
          </a:p>
        </p:txBody>
      </p:sp>
      <p:pic>
        <p:nvPicPr>
          <p:cNvPr id="2150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8" y="1828800"/>
            <a:ext cx="7872412" cy="335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4343400" y="1828800"/>
            <a:ext cx="3581400" cy="3352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510" name="TextBox 5"/>
          <p:cNvSpPr txBox="1">
            <a:spLocks noChangeArrowheads="1"/>
          </p:cNvSpPr>
          <p:nvPr/>
        </p:nvSpPr>
        <p:spPr bwMode="auto">
          <a:xfrm>
            <a:off x="1066800" y="5486400"/>
            <a:ext cx="42672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a:solidFill>
                  <a:srgbClr val="FF0000"/>
                </a:solidFill>
              </a:rPr>
              <a:t>This can be explained by handicapping the model</a:t>
            </a:r>
            <a:r>
              <a:rPr lang="ja-JP" altLang="en-US" sz="2000">
                <a:solidFill>
                  <a:srgbClr val="FF0000"/>
                </a:solidFill>
              </a:rPr>
              <a:t>’</a:t>
            </a:r>
            <a:r>
              <a:rPr lang="en-US" sz="2000">
                <a:solidFill>
                  <a:srgbClr val="FF0000"/>
                </a:solidFill>
              </a:rPr>
              <a:t>s ability to infer new clusters</a:t>
            </a:r>
          </a:p>
        </p:txBody>
      </p:sp>
      <p:sp>
        <p:nvSpPr>
          <p:cNvPr id="7" name="Rectangle 6"/>
          <p:cNvSpPr/>
          <p:nvPr/>
        </p:nvSpPr>
        <p:spPr>
          <a:xfrm>
            <a:off x="1447800" y="4800600"/>
            <a:ext cx="1143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control</a:t>
            </a:r>
          </a:p>
        </p:txBody>
      </p:sp>
      <p:sp>
        <p:nvSpPr>
          <p:cNvPr id="8" name="Rectangle 7"/>
          <p:cNvSpPr/>
          <p:nvPr/>
        </p:nvSpPr>
        <p:spPr>
          <a:xfrm>
            <a:off x="2514600" y="4800600"/>
            <a:ext cx="20574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hippocampal</a:t>
            </a:r>
          </a:p>
          <a:p>
            <a:pPr algn="ctr">
              <a:defRPr/>
            </a:pPr>
            <a:r>
              <a:rPr lang="en-US" sz="2400">
                <a:solidFill>
                  <a:schemeClr val="tx1"/>
                </a:solidFill>
                <a:cs typeface="Arial" charset="0"/>
              </a:rPr>
              <a:t>lesion</a:t>
            </a:r>
          </a:p>
        </p:txBody>
      </p:sp>
      <p:sp>
        <p:nvSpPr>
          <p:cNvPr id="9" name="TextBox 8"/>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11941749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pPr eaLnBrk="1" fontAlgn="auto" hangingPunct="1">
              <a:spcAft>
                <a:spcPts val="0"/>
              </a:spcAft>
              <a:defRPr/>
            </a:pPr>
            <a:r>
              <a:rPr lang="en-US">
                <a:ea typeface="+mj-ea"/>
              </a:rPr>
              <a:t>Pre-training lesions of hippocampus abolish renewal</a:t>
            </a:r>
          </a:p>
        </p:txBody>
      </p:sp>
      <p:sp>
        <p:nvSpPr>
          <p:cNvPr id="22531" name="TextBox 4"/>
          <p:cNvSpPr txBox="1">
            <a:spLocks noChangeArrowheads="1"/>
          </p:cNvSpPr>
          <p:nvPr/>
        </p:nvSpPr>
        <p:spPr bwMode="auto">
          <a:xfrm>
            <a:off x="5181600" y="6092825"/>
            <a:ext cx="39528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dirty="0"/>
              <a:t>(</a:t>
            </a:r>
            <a:r>
              <a:rPr lang="en-US" sz="1400" dirty="0" err="1"/>
              <a:t>Ji</a:t>
            </a:r>
            <a:r>
              <a:rPr lang="en-US" sz="1400" dirty="0"/>
              <a:t> &amp; </a:t>
            </a:r>
            <a:r>
              <a:rPr lang="en-US" sz="1400" dirty="0" err="1"/>
              <a:t>Maren</a:t>
            </a:r>
            <a:r>
              <a:rPr lang="en-US" sz="1400" dirty="0"/>
              <a:t>, 2005; </a:t>
            </a:r>
            <a:r>
              <a:rPr lang="en-US" sz="1400" dirty="0" err="1"/>
              <a:t>Gershman</a:t>
            </a:r>
            <a:r>
              <a:rPr lang="en-US" sz="1400" dirty="0"/>
              <a:t>, </a:t>
            </a:r>
            <a:r>
              <a:rPr lang="en-US" sz="1400" dirty="0" err="1"/>
              <a:t>Blei</a:t>
            </a:r>
            <a:r>
              <a:rPr lang="en-US" sz="1400" dirty="0"/>
              <a:t> &amp; </a:t>
            </a:r>
            <a:r>
              <a:rPr lang="en-US" sz="1400" dirty="0" err="1"/>
              <a:t>Niv</a:t>
            </a:r>
            <a:r>
              <a:rPr lang="en-US" sz="1400" dirty="0"/>
              <a:t>, 2010)</a:t>
            </a:r>
          </a:p>
        </p:txBody>
      </p:sp>
      <p:pic>
        <p:nvPicPr>
          <p:cNvPr id="225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8" y="1828800"/>
            <a:ext cx="7872412" cy="335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Rectangle 7"/>
          <p:cNvSpPr/>
          <p:nvPr/>
        </p:nvSpPr>
        <p:spPr>
          <a:xfrm>
            <a:off x="5181600" y="4800600"/>
            <a:ext cx="1143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control</a:t>
            </a:r>
          </a:p>
        </p:txBody>
      </p:sp>
      <p:sp>
        <p:nvSpPr>
          <p:cNvPr id="9" name="Rectangle 8"/>
          <p:cNvSpPr/>
          <p:nvPr/>
        </p:nvSpPr>
        <p:spPr>
          <a:xfrm>
            <a:off x="6172200" y="4800600"/>
            <a:ext cx="2209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hippocampal</a:t>
            </a:r>
          </a:p>
          <a:p>
            <a:pPr algn="ctr">
              <a:defRPr/>
            </a:pPr>
            <a:r>
              <a:rPr lang="en-US" sz="2400">
                <a:solidFill>
                  <a:schemeClr val="tx1"/>
                </a:solidFill>
                <a:cs typeface="Arial" charset="0"/>
              </a:rPr>
              <a:t>lesion</a:t>
            </a:r>
          </a:p>
        </p:txBody>
      </p:sp>
      <p:sp>
        <p:nvSpPr>
          <p:cNvPr id="10" name="Rectangle 9"/>
          <p:cNvSpPr/>
          <p:nvPr/>
        </p:nvSpPr>
        <p:spPr>
          <a:xfrm>
            <a:off x="1447800" y="4800600"/>
            <a:ext cx="1143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control</a:t>
            </a:r>
          </a:p>
        </p:txBody>
      </p:sp>
      <p:sp>
        <p:nvSpPr>
          <p:cNvPr id="11" name="Rectangle 10"/>
          <p:cNvSpPr/>
          <p:nvPr/>
        </p:nvSpPr>
        <p:spPr>
          <a:xfrm>
            <a:off x="2514600" y="4800600"/>
            <a:ext cx="20574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a:solidFill>
                  <a:schemeClr val="tx1"/>
                </a:solidFill>
                <a:cs typeface="Arial" charset="0"/>
              </a:rPr>
              <a:t>hippocampal</a:t>
            </a:r>
          </a:p>
          <a:p>
            <a:pPr algn="ctr">
              <a:defRPr/>
            </a:pPr>
            <a:r>
              <a:rPr lang="en-US" sz="2400">
                <a:solidFill>
                  <a:schemeClr val="tx1"/>
                </a:solidFill>
                <a:cs typeface="Arial" charset="0"/>
              </a:rPr>
              <a:t>lesion</a:t>
            </a:r>
          </a:p>
        </p:txBody>
      </p:sp>
      <p:sp>
        <p:nvSpPr>
          <p:cNvPr id="22537" name="TextBox 5"/>
          <p:cNvSpPr txBox="1">
            <a:spLocks noChangeArrowheads="1"/>
          </p:cNvSpPr>
          <p:nvPr/>
        </p:nvSpPr>
        <p:spPr bwMode="auto">
          <a:xfrm>
            <a:off x="1066800" y="5486400"/>
            <a:ext cx="42672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a:solidFill>
                  <a:srgbClr val="FF0000"/>
                </a:solidFill>
              </a:rPr>
              <a:t>This can be explained by handicapping the model</a:t>
            </a:r>
            <a:r>
              <a:rPr lang="ja-JP" altLang="en-US" sz="2000">
                <a:solidFill>
                  <a:srgbClr val="FF0000"/>
                </a:solidFill>
              </a:rPr>
              <a:t>’</a:t>
            </a:r>
            <a:r>
              <a:rPr lang="en-US" sz="2000">
                <a:solidFill>
                  <a:srgbClr val="FF0000"/>
                </a:solidFill>
              </a:rPr>
              <a:t>s ability to infer new clusters</a:t>
            </a:r>
          </a:p>
        </p:txBody>
      </p:sp>
      <p:sp>
        <p:nvSpPr>
          <p:cNvPr id="12" name="TextBox 11"/>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68052584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atin typeface="Calibri" charset="0"/>
              </a:rPr>
              <a:t>Beyond renewal…</a:t>
            </a:r>
          </a:p>
        </p:txBody>
      </p:sp>
      <p:sp>
        <p:nvSpPr>
          <p:cNvPr id="23555" name="Content Placeholder 2"/>
          <p:cNvSpPr>
            <a:spLocks noGrp="1"/>
          </p:cNvSpPr>
          <p:nvPr>
            <p:ph sz="quarter" idx="1"/>
          </p:nvPr>
        </p:nvSpPr>
        <p:spPr/>
        <p:txBody>
          <a:bodyPr/>
          <a:lstStyle/>
          <a:p>
            <a:pPr marL="0" indent="0" eaLnBrk="1" hangingPunct="1">
              <a:buNone/>
            </a:pPr>
            <a:r>
              <a:rPr lang="en-US" dirty="0">
                <a:latin typeface="Calibri" charset="0"/>
              </a:rPr>
              <a:t>Several other important behavioral and lesion findings can be explained by the model:</a:t>
            </a:r>
          </a:p>
          <a:p>
            <a:pPr lvl="1" eaLnBrk="1" hangingPunct="1"/>
            <a:r>
              <a:rPr lang="en-US" dirty="0">
                <a:latin typeface="Calibri" charset="0"/>
              </a:rPr>
              <a:t>Context-specificity of latent inhibition (impaired by hippocampal lesions)</a:t>
            </a:r>
          </a:p>
          <a:p>
            <a:pPr lvl="1" eaLnBrk="1" hangingPunct="1"/>
            <a:r>
              <a:rPr lang="en-US" dirty="0">
                <a:latin typeface="Calibri" charset="0"/>
              </a:rPr>
              <a:t>Development of renewal and latent inhibition: </a:t>
            </a:r>
            <a:r>
              <a:rPr lang="en-US" dirty="0" err="1">
                <a:latin typeface="Calibri" charset="0"/>
              </a:rPr>
              <a:t>preweanling</a:t>
            </a:r>
            <a:r>
              <a:rPr lang="en-US" dirty="0">
                <a:latin typeface="Calibri" charset="0"/>
              </a:rPr>
              <a:t> rats don’t infer new clusters</a:t>
            </a:r>
          </a:p>
        </p:txBody>
      </p:sp>
      <p:sp>
        <p:nvSpPr>
          <p:cNvPr id="4" name="TextBox 3"/>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7579042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52400" y="274638"/>
            <a:ext cx="8229600" cy="1143000"/>
          </a:xfrm>
        </p:spPr>
        <p:txBody>
          <a:bodyPr/>
          <a:lstStyle/>
          <a:p>
            <a:pPr eaLnBrk="1" hangingPunct="1"/>
            <a:r>
              <a:rPr lang="en-US">
                <a:latin typeface="Calibri" charset="0"/>
              </a:rPr>
              <a:t>Latent Inhibition</a:t>
            </a:r>
          </a:p>
        </p:txBody>
      </p:sp>
      <p:pic>
        <p:nvPicPr>
          <p:cNvPr id="245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4276725"/>
            <a:ext cx="2228850" cy="212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580" name="TextBox 5"/>
          <p:cNvSpPr txBox="1">
            <a:spLocks noChangeArrowheads="1"/>
          </p:cNvSpPr>
          <p:nvPr/>
        </p:nvSpPr>
        <p:spPr bwMode="auto">
          <a:xfrm>
            <a:off x="1357313" y="2068513"/>
            <a:ext cx="2706687"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Pre-exposure </a:t>
            </a:r>
            <a:r>
              <a:rPr lang="en-US" sz="2000"/>
              <a:t>(box A)</a:t>
            </a:r>
            <a:endParaRPr lang="en-US" sz="2000" b="1"/>
          </a:p>
        </p:txBody>
      </p:sp>
      <p:pic>
        <p:nvPicPr>
          <p:cNvPr id="2458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913" y="2667000"/>
            <a:ext cx="2105025" cy="1771650"/>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24582" name="TextBox 8"/>
          <p:cNvSpPr txBox="1">
            <a:spLocks noChangeArrowheads="1"/>
          </p:cNvSpPr>
          <p:nvPr/>
        </p:nvSpPr>
        <p:spPr bwMode="auto">
          <a:xfrm>
            <a:off x="5638800" y="1143000"/>
            <a:ext cx="158115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a:t>Acquisition</a:t>
            </a:r>
          </a:p>
        </p:txBody>
      </p:sp>
      <p:sp>
        <p:nvSpPr>
          <p:cNvPr id="24583" name="TextBox 14"/>
          <p:cNvSpPr txBox="1">
            <a:spLocks noChangeArrowheads="1"/>
          </p:cNvSpPr>
          <p:nvPr/>
        </p:nvSpPr>
        <p:spPr bwMode="auto">
          <a:xfrm>
            <a:off x="304800" y="4876800"/>
            <a:ext cx="3733800" cy="157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400">
                <a:solidFill>
                  <a:srgbClr val="FF0000"/>
                </a:solidFill>
              </a:rPr>
              <a:t>This is like extinction training, but with the extinction phase </a:t>
            </a:r>
            <a:r>
              <a:rPr lang="en-US" sz="2400" i="1">
                <a:solidFill>
                  <a:srgbClr val="FF0000"/>
                </a:solidFill>
              </a:rPr>
              <a:t>before </a:t>
            </a:r>
            <a:r>
              <a:rPr lang="en-US" sz="2400">
                <a:solidFill>
                  <a:srgbClr val="FF0000"/>
                </a:solidFill>
              </a:rPr>
              <a:t>the acquisition phase</a:t>
            </a:r>
          </a:p>
        </p:txBody>
      </p:sp>
      <p:cxnSp>
        <p:nvCxnSpPr>
          <p:cNvPr id="16" name="Straight Arrow Connector 15"/>
          <p:cNvCxnSpPr/>
          <p:nvPr/>
        </p:nvCxnSpPr>
        <p:spPr>
          <a:xfrm flipV="1">
            <a:off x="3886200" y="2590800"/>
            <a:ext cx="1371600" cy="9906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458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600200"/>
            <a:ext cx="2247900" cy="2105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9" name="Straight Arrow Connector 18"/>
          <p:cNvCxnSpPr/>
          <p:nvPr/>
        </p:nvCxnSpPr>
        <p:spPr>
          <a:xfrm>
            <a:off x="3962400" y="3810000"/>
            <a:ext cx="1219200" cy="8382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587" name="TextBox 8"/>
          <p:cNvSpPr txBox="1">
            <a:spLocks noChangeArrowheads="1"/>
          </p:cNvSpPr>
          <p:nvPr/>
        </p:nvSpPr>
        <p:spPr bwMode="auto">
          <a:xfrm>
            <a:off x="7620000" y="2209800"/>
            <a:ext cx="868363"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i="1"/>
              <a:t>Same</a:t>
            </a:r>
          </a:p>
        </p:txBody>
      </p:sp>
      <p:sp>
        <p:nvSpPr>
          <p:cNvPr id="24588" name="TextBox 8"/>
          <p:cNvSpPr txBox="1">
            <a:spLocks noChangeArrowheads="1"/>
          </p:cNvSpPr>
          <p:nvPr/>
        </p:nvSpPr>
        <p:spPr bwMode="auto">
          <a:xfrm>
            <a:off x="7543800" y="4781550"/>
            <a:ext cx="1233488"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b="1" i="1"/>
              <a:t>Different</a:t>
            </a:r>
          </a:p>
        </p:txBody>
      </p:sp>
      <p:sp>
        <p:nvSpPr>
          <p:cNvPr id="13" name="TextBox 12"/>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9141497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atin typeface="Calibri" charset="0"/>
              </a:rPr>
              <a:t>Modeling latent inhibition</a:t>
            </a:r>
          </a:p>
        </p:txBody>
      </p:sp>
      <p:sp>
        <p:nvSpPr>
          <p:cNvPr id="25603" name="TextBox 4"/>
          <p:cNvSpPr txBox="1">
            <a:spLocks noChangeArrowheads="1"/>
          </p:cNvSpPr>
          <p:nvPr/>
        </p:nvSpPr>
        <p:spPr bwMode="auto">
          <a:xfrm>
            <a:off x="222334" y="6400800"/>
            <a:ext cx="43211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(Honey &amp; Good, 1993; Gershman, Blei &amp; Niv, 2010)</a:t>
            </a:r>
          </a:p>
        </p:txBody>
      </p:sp>
      <p:sp>
        <p:nvSpPr>
          <p:cNvPr id="25604" name="TextBox 5"/>
          <p:cNvSpPr txBox="1">
            <a:spLocks noChangeArrowheads="1"/>
          </p:cNvSpPr>
          <p:nvPr/>
        </p:nvSpPr>
        <p:spPr bwMode="auto">
          <a:xfrm>
            <a:off x="7010400" y="4495800"/>
            <a:ext cx="1524000" cy="1077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600">
                <a:solidFill>
                  <a:srgbClr val="FF0000"/>
                </a:solidFill>
              </a:rPr>
              <a:t>(the two lines overlap completely here)</a:t>
            </a:r>
          </a:p>
        </p:txBody>
      </p:sp>
      <p:pic>
        <p:nvPicPr>
          <p:cNvPr id="2560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506538"/>
            <a:ext cx="5867400" cy="4894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Rectangle 6"/>
          <p:cNvSpPr/>
          <p:nvPr/>
        </p:nvSpPr>
        <p:spPr>
          <a:xfrm>
            <a:off x="1066800" y="3962400"/>
            <a:ext cx="7391400" cy="2438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TextBox 7"/>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6358588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atin typeface="Calibri" charset="0"/>
              </a:rPr>
              <a:t>Modeling latent inhibition</a:t>
            </a:r>
          </a:p>
        </p:txBody>
      </p:sp>
      <p:sp>
        <p:nvSpPr>
          <p:cNvPr id="26627" name="TextBox 4"/>
          <p:cNvSpPr txBox="1">
            <a:spLocks noChangeArrowheads="1"/>
          </p:cNvSpPr>
          <p:nvPr/>
        </p:nvSpPr>
        <p:spPr bwMode="auto">
          <a:xfrm>
            <a:off x="4800600" y="6400800"/>
            <a:ext cx="43211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(Honey &amp; Good, 1993; Gershman, Blei &amp; Niv, 2010)</a:t>
            </a:r>
          </a:p>
        </p:txBody>
      </p:sp>
      <p:sp>
        <p:nvSpPr>
          <p:cNvPr id="26628" name="TextBox 5"/>
          <p:cNvSpPr txBox="1">
            <a:spLocks noChangeArrowheads="1"/>
          </p:cNvSpPr>
          <p:nvPr/>
        </p:nvSpPr>
        <p:spPr bwMode="auto">
          <a:xfrm>
            <a:off x="7010400" y="4495800"/>
            <a:ext cx="1524000" cy="1077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600">
                <a:solidFill>
                  <a:srgbClr val="FF0000"/>
                </a:solidFill>
              </a:rPr>
              <a:t>(the two lines overlap completely here)</a:t>
            </a:r>
          </a:p>
        </p:txBody>
      </p:sp>
      <p:pic>
        <p:nvPicPr>
          <p:cNvPr id="266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506538"/>
            <a:ext cx="5867400" cy="4894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395865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atin typeface="Calibri" charset="0"/>
              </a:rPr>
              <a:t>Development of renewal</a:t>
            </a:r>
          </a:p>
        </p:txBody>
      </p:sp>
      <p:pic>
        <p:nvPicPr>
          <p:cNvPr id="27651" name="Picture 2" descr="C:\Users\Sam\Documents\lab_stuff\yael\bouton\dpmix\figures\AB_dev.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04950"/>
            <a:ext cx="6629400" cy="4972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8" name="Elbow Connector 7"/>
          <p:cNvCxnSpPr/>
          <p:nvPr/>
        </p:nvCxnSpPr>
        <p:spPr>
          <a:xfrm rot="10800000">
            <a:off x="6172200" y="3733800"/>
            <a:ext cx="685800" cy="1588"/>
          </a:xfrm>
          <a:prstGeom prst="bentConnector3">
            <a:avLst>
              <a:gd name="adj1" fmla="val 50000"/>
            </a:avLst>
          </a:prstGeom>
          <a:ln>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7653" name="TextBox 9"/>
          <p:cNvSpPr txBox="1">
            <a:spLocks noChangeArrowheads="1"/>
          </p:cNvSpPr>
          <p:nvPr/>
        </p:nvSpPr>
        <p:spPr bwMode="auto">
          <a:xfrm>
            <a:off x="6858000" y="2990850"/>
            <a:ext cx="22860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600">
                <a:solidFill>
                  <a:srgbClr val="FF0000"/>
                </a:solidFill>
              </a:rPr>
              <a:t>Training (in A) at 16 / </a:t>
            </a:r>
          </a:p>
          <a:p>
            <a:pPr eaLnBrk="1" hangingPunct="1"/>
            <a:r>
              <a:rPr lang="en-US" sz="1600">
                <a:solidFill>
                  <a:srgbClr val="FF0000"/>
                </a:solidFill>
              </a:rPr>
              <a:t>Extinction (in B) at 22 /</a:t>
            </a:r>
          </a:p>
          <a:p>
            <a:pPr eaLnBrk="1" hangingPunct="1"/>
            <a:r>
              <a:rPr lang="en-US" sz="1600">
                <a:solidFill>
                  <a:srgbClr val="FF0000"/>
                </a:solidFill>
              </a:rPr>
              <a:t>Test (in A or B) at 23</a:t>
            </a:r>
          </a:p>
        </p:txBody>
      </p:sp>
      <p:sp>
        <p:nvSpPr>
          <p:cNvPr id="27654" name="TextBox 12"/>
          <p:cNvSpPr txBox="1">
            <a:spLocks noChangeArrowheads="1"/>
          </p:cNvSpPr>
          <p:nvPr/>
        </p:nvSpPr>
        <p:spPr bwMode="auto">
          <a:xfrm>
            <a:off x="2132770" y="6400800"/>
            <a:ext cx="2230437"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(Yap &amp; Richardson, 2007)</a:t>
            </a:r>
          </a:p>
        </p:txBody>
      </p:sp>
      <p:sp>
        <p:nvSpPr>
          <p:cNvPr id="7" name="Rectangle 6"/>
          <p:cNvSpPr/>
          <p:nvPr/>
        </p:nvSpPr>
        <p:spPr>
          <a:xfrm>
            <a:off x="228600" y="3886200"/>
            <a:ext cx="7924800" cy="2438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656" name="TextBox 8"/>
          <p:cNvSpPr txBox="1">
            <a:spLocks noChangeArrowheads="1"/>
          </p:cNvSpPr>
          <p:nvPr/>
        </p:nvSpPr>
        <p:spPr bwMode="auto">
          <a:xfrm>
            <a:off x="1143000" y="4495800"/>
            <a:ext cx="6019800" cy="1323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2000"/>
              <a:t>Renewal only occurs if extinction is performed after the preweanling period (~20 days postnatal).</a:t>
            </a:r>
          </a:p>
          <a:p>
            <a:pPr eaLnBrk="1" hangingPunct="1"/>
            <a:endParaRPr lang="en-US" sz="2000"/>
          </a:p>
          <a:p>
            <a:pPr eaLnBrk="1" hangingPunct="1"/>
            <a:r>
              <a:rPr lang="en-US" sz="2000"/>
              <a:t>For preweanling rats, extinction = unlearning?</a:t>
            </a:r>
          </a:p>
        </p:txBody>
      </p:sp>
      <p:sp>
        <p:nvSpPr>
          <p:cNvPr id="9" name="TextBox 8"/>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408239025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atin typeface="Calibri" charset="0"/>
              </a:rPr>
              <a:t>Modeling development of renewal</a:t>
            </a:r>
          </a:p>
        </p:txBody>
      </p:sp>
      <p:pic>
        <p:nvPicPr>
          <p:cNvPr id="28675" name="Picture 2" descr="C:\Users\Sam\Documents\lab_stuff\yael\bouton\dpmix\figures\AB_dev.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04950"/>
            <a:ext cx="6629400" cy="4972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8" name="Elbow Connector 7"/>
          <p:cNvCxnSpPr/>
          <p:nvPr/>
        </p:nvCxnSpPr>
        <p:spPr>
          <a:xfrm rot="10800000">
            <a:off x="6172200" y="3733800"/>
            <a:ext cx="685800" cy="1588"/>
          </a:xfrm>
          <a:prstGeom prst="bentConnector3">
            <a:avLst>
              <a:gd name="adj1" fmla="val 50000"/>
            </a:avLst>
          </a:prstGeom>
          <a:ln>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8677" name="TextBox 9"/>
          <p:cNvSpPr txBox="1">
            <a:spLocks noChangeArrowheads="1"/>
          </p:cNvSpPr>
          <p:nvPr/>
        </p:nvSpPr>
        <p:spPr bwMode="auto">
          <a:xfrm>
            <a:off x="6858000" y="2990850"/>
            <a:ext cx="22860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600">
                <a:solidFill>
                  <a:srgbClr val="FF0000"/>
                </a:solidFill>
              </a:rPr>
              <a:t>Training (in A) at 16 / </a:t>
            </a:r>
          </a:p>
          <a:p>
            <a:pPr eaLnBrk="1" hangingPunct="1"/>
            <a:r>
              <a:rPr lang="en-US" sz="1600">
                <a:solidFill>
                  <a:srgbClr val="FF0000"/>
                </a:solidFill>
              </a:rPr>
              <a:t>Extinction (in B) at 22 /</a:t>
            </a:r>
          </a:p>
          <a:p>
            <a:pPr eaLnBrk="1" hangingPunct="1"/>
            <a:r>
              <a:rPr lang="en-US" sz="1600">
                <a:solidFill>
                  <a:srgbClr val="FF0000"/>
                </a:solidFill>
              </a:rPr>
              <a:t>Test (in A or B) at 23</a:t>
            </a:r>
          </a:p>
        </p:txBody>
      </p:sp>
      <p:sp>
        <p:nvSpPr>
          <p:cNvPr id="28678" name="TextBox 12"/>
          <p:cNvSpPr txBox="1">
            <a:spLocks noChangeArrowheads="1"/>
          </p:cNvSpPr>
          <p:nvPr/>
        </p:nvSpPr>
        <p:spPr bwMode="auto">
          <a:xfrm>
            <a:off x="457200" y="6400800"/>
            <a:ext cx="4576762"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(Yap &amp; Richardson, 2007; Gershman, Blei &amp; Niv, 2010)</a:t>
            </a:r>
          </a:p>
        </p:txBody>
      </p:sp>
      <p:sp>
        <p:nvSpPr>
          <p:cNvPr id="7" name="TextBox 6"/>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333895097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fontScale="90000"/>
          </a:bodyPr>
          <a:lstStyle/>
          <a:p>
            <a:pPr eaLnBrk="1" fontAlgn="auto" hangingPunct="1">
              <a:spcAft>
                <a:spcPts val="0"/>
              </a:spcAft>
              <a:defRPr/>
            </a:pPr>
            <a:r>
              <a:rPr lang="en-US">
                <a:ea typeface="+mj-ea"/>
              </a:rPr>
              <a:t>Modeling development of latent inhibition</a:t>
            </a:r>
          </a:p>
        </p:txBody>
      </p:sp>
      <p:pic>
        <p:nvPicPr>
          <p:cNvPr id="29699" name="Picture 2" descr="C:\Users\Sam\Documents\lab_stuff\yael\bouton\dpmix\figures\LI_dev.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47800"/>
            <a:ext cx="6781800" cy="5086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5" name="Elbow Connector 4"/>
          <p:cNvCxnSpPr/>
          <p:nvPr/>
        </p:nvCxnSpPr>
        <p:spPr>
          <a:xfrm rot="10800000">
            <a:off x="6019800" y="3733800"/>
            <a:ext cx="762000" cy="1588"/>
          </a:xfrm>
          <a:prstGeom prst="bentConnector3">
            <a:avLst>
              <a:gd name="adj1" fmla="val 50000"/>
            </a:avLst>
          </a:prstGeom>
          <a:ln>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9701" name="TextBox 5"/>
          <p:cNvSpPr txBox="1">
            <a:spLocks noChangeArrowheads="1"/>
          </p:cNvSpPr>
          <p:nvPr/>
        </p:nvSpPr>
        <p:spPr bwMode="auto">
          <a:xfrm>
            <a:off x="6781800" y="3267075"/>
            <a:ext cx="22860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solidFill>
                  <a:srgbClr val="FF0000"/>
                </a:solidFill>
              </a:rPr>
              <a:t>Pre-exposure at 25 / </a:t>
            </a:r>
          </a:p>
          <a:p>
            <a:pPr eaLnBrk="1" hangingPunct="1"/>
            <a:r>
              <a:rPr lang="en-US">
                <a:solidFill>
                  <a:srgbClr val="FF0000"/>
                </a:solidFill>
              </a:rPr>
              <a:t>Acqisition at 25 /</a:t>
            </a:r>
          </a:p>
          <a:p>
            <a:pPr eaLnBrk="1" hangingPunct="1"/>
            <a:r>
              <a:rPr lang="en-US">
                <a:solidFill>
                  <a:srgbClr val="FF0000"/>
                </a:solidFill>
              </a:rPr>
              <a:t>Test at 25</a:t>
            </a:r>
          </a:p>
        </p:txBody>
      </p:sp>
      <p:sp>
        <p:nvSpPr>
          <p:cNvPr id="29702" name="TextBox 6"/>
          <p:cNvSpPr txBox="1">
            <a:spLocks noChangeArrowheads="1"/>
          </p:cNvSpPr>
          <p:nvPr/>
        </p:nvSpPr>
        <p:spPr bwMode="auto">
          <a:xfrm>
            <a:off x="762348" y="6434159"/>
            <a:ext cx="4576763"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sz="1400"/>
              <a:t>(Yap &amp; Richardson, 2005; Gershman, Blei &amp; Niv, 2010)</a:t>
            </a:r>
          </a:p>
        </p:txBody>
      </p:sp>
      <p:sp>
        <p:nvSpPr>
          <p:cNvPr id="7" name="TextBox 6"/>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9293061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5" descr="http://www.as.miami.edu/english/wiki105/images/9/9a/Hippocampus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4295256"/>
            <a:ext cx="2286000" cy="228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23" name="Title 1"/>
          <p:cNvSpPr>
            <a:spLocks noGrp="1"/>
          </p:cNvSpPr>
          <p:nvPr>
            <p:ph type="title"/>
          </p:nvPr>
        </p:nvSpPr>
        <p:spPr>
          <a:xfrm>
            <a:off x="457200" y="9453"/>
            <a:ext cx="8229600" cy="945305"/>
          </a:xfrm>
        </p:spPr>
        <p:txBody>
          <a:bodyPr/>
          <a:lstStyle/>
          <a:p>
            <a:pPr eaLnBrk="1" hangingPunct="1"/>
            <a:r>
              <a:rPr lang="en-US">
                <a:latin typeface="Calibri" charset="0"/>
              </a:rPr>
              <a:t>Conclusions</a:t>
            </a:r>
          </a:p>
        </p:txBody>
      </p:sp>
      <p:sp>
        <p:nvSpPr>
          <p:cNvPr id="30724" name="Content Placeholder 2"/>
          <p:cNvSpPr>
            <a:spLocks noGrp="1"/>
          </p:cNvSpPr>
          <p:nvPr>
            <p:ph sz="quarter" idx="1"/>
          </p:nvPr>
        </p:nvSpPr>
        <p:spPr>
          <a:xfrm>
            <a:off x="76200" y="1293294"/>
            <a:ext cx="6781800" cy="5135562"/>
          </a:xfrm>
        </p:spPr>
        <p:txBody>
          <a:bodyPr>
            <a:normAutofit/>
          </a:bodyPr>
          <a:lstStyle/>
          <a:p>
            <a:pPr marL="0" indent="0" eaLnBrk="1" hangingPunct="1">
              <a:buNone/>
            </a:pPr>
            <a:r>
              <a:rPr lang="en-US" dirty="0">
                <a:latin typeface="Calibri" charset="0"/>
              </a:rPr>
              <a:t>The computational problem faced by animals in classical conditioning is framed as inference over possible causal structures</a:t>
            </a:r>
          </a:p>
          <a:p>
            <a:pPr marL="0" indent="0" eaLnBrk="1" hangingPunct="1">
              <a:buNone/>
            </a:pPr>
            <a:endParaRPr lang="en-US" sz="1600" dirty="0">
              <a:latin typeface="Calibri" charset="0"/>
            </a:endParaRPr>
          </a:p>
          <a:p>
            <a:pPr marL="0" indent="0" eaLnBrk="1" hangingPunct="1">
              <a:buNone/>
            </a:pPr>
            <a:r>
              <a:rPr lang="en-US" dirty="0">
                <a:latin typeface="Calibri" charset="0"/>
              </a:rPr>
              <a:t>Context plays a crucial role by disambiguating latent causes</a:t>
            </a:r>
          </a:p>
          <a:p>
            <a:pPr marL="0" indent="0" eaLnBrk="1" hangingPunct="1">
              <a:buNone/>
            </a:pPr>
            <a:endParaRPr lang="en-US" sz="1600" dirty="0">
              <a:latin typeface="Calibri" charset="0"/>
            </a:endParaRPr>
          </a:p>
          <a:p>
            <a:pPr marL="0" indent="0" eaLnBrk="1" hangingPunct="1">
              <a:buNone/>
            </a:pPr>
            <a:r>
              <a:rPr lang="en-US" dirty="0">
                <a:latin typeface="Calibri" charset="0"/>
              </a:rPr>
              <a:t>The hippocampus supports the ability to infer the existence of new causes</a:t>
            </a:r>
          </a:p>
        </p:txBody>
      </p:sp>
      <p:sp>
        <p:nvSpPr>
          <p:cNvPr id="6" name="Oval 5"/>
          <p:cNvSpPr/>
          <p:nvPr/>
        </p:nvSpPr>
        <p:spPr>
          <a:xfrm>
            <a:off x="7297738" y="2009256"/>
            <a:ext cx="685800" cy="6858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Arrow Connector 9"/>
          <p:cNvCxnSpPr>
            <a:stCxn id="6" idx="0"/>
          </p:cNvCxnSpPr>
          <p:nvPr/>
        </p:nvCxnSpPr>
        <p:spPr>
          <a:xfrm rot="5400000" flipH="1" flipV="1">
            <a:off x="7621588" y="1418706"/>
            <a:ext cx="609600" cy="5715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0"/>
          </p:cNvCxnSpPr>
          <p:nvPr/>
        </p:nvCxnSpPr>
        <p:spPr>
          <a:xfrm rot="16200000" flipV="1">
            <a:off x="7157244" y="1525863"/>
            <a:ext cx="623887" cy="34290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0728" name="Picture 4" descr="http://img.tfd.com/wn/77/666AB-rin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9138" y="866256"/>
            <a:ext cx="4572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0729" name="Picture 6" descr="http://i66.photobucket.com/albums/h262/jessie_008/lightning_bolt-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2138" y="866256"/>
            <a:ext cx="169862"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07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2774431"/>
            <a:ext cx="1676400" cy="159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Box 10"/>
          <p:cNvSpPr txBox="1"/>
          <p:nvPr/>
        </p:nvSpPr>
        <p:spPr>
          <a:xfrm>
            <a:off x="6416256" y="6474662"/>
            <a:ext cx="2706465" cy="369332"/>
          </a:xfrm>
          <a:prstGeom prst="rect">
            <a:avLst/>
          </a:prstGeom>
          <a:noFill/>
        </p:spPr>
        <p:txBody>
          <a:bodyPr wrap="none" rtlCol="0">
            <a:spAutoFit/>
          </a:bodyPr>
          <a:lstStyle/>
          <a:p>
            <a:r>
              <a:rPr lang="en-US" dirty="0"/>
              <a:t>Slides from Sam </a:t>
            </a:r>
            <a:r>
              <a:rPr lang="en-US" dirty="0" err="1"/>
              <a:t>Gershman</a:t>
            </a:r>
            <a:endParaRPr lang="en-US" dirty="0"/>
          </a:p>
        </p:txBody>
      </p:sp>
    </p:spTree>
    <p:extLst>
      <p:ext uri="{BB962C8B-B14F-4D97-AF65-F5344CB8AC3E}">
        <p14:creationId xmlns:p14="http://schemas.microsoft.com/office/powerpoint/2010/main" val="2040687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19968</TotalTime>
  <Words>11560</Words>
  <Application>Microsoft Office PowerPoint</Application>
  <PresentationFormat>On-screen Show (4:3)</PresentationFormat>
  <Paragraphs>1375</Paragraphs>
  <Slides>127</Slides>
  <Notes>86</Notes>
  <HiddenSlides>3</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127</vt:i4>
      </vt:variant>
    </vt:vector>
  </HeadingPairs>
  <TitlesOfParts>
    <vt:vector size="143" baseType="lpstr">
      <vt:lpstr>Arial Unicode MS</vt:lpstr>
      <vt:lpstr>Courier</vt:lpstr>
      <vt:lpstr>Gill Sans</vt:lpstr>
      <vt:lpstr>Lucida Grande</vt:lpstr>
      <vt:lpstr>ＭＳ ゴシック</vt:lpstr>
      <vt:lpstr>ＭＳ Ｐゴシック</vt:lpstr>
      <vt:lpstr>Arial</vt:lpstr>
      <vt:lpstr>Calibri</vt:lpstr>
      <vt:lpstr>Cambria Math</vt:lpstr>
      <vt:lpstr>Helvetica</vt:lpstr>
      <vt:lpstr>Perpetua</vt:lpstr>
      <vt:lpstr>Symbol</vt:lpstr>
      <vt:lpstr>Times New Roman</vt:lpstr>
      <vt:lpstr>Wingdings 2</vt:lpstr>
      <vt:lpstr>Office Theme</vt:lpstr>
      <vt:lpstr>Equation</vt:lpstr>
      <vt:lpstr>Introduction to Bayesian Nonparametrics</vt:lpstr>
      <vt:lpstr>PowerPoint Presentation</vt:lpstr>
      <vt:lpstr>Administrative Matters</vt:lpstr>
      <vt:lpstr>PowerPoint Presentation</vt:lpstr>
      <vt:lpstr>Learning mapping inputs to outputs</vt:lpstr>
      <vt:lpstr>A learning strategy</vt:lpstr>
      <vt:lpstr>Some hypothesis spaces</vt:lpstr>
      <vt:lpstr>PowerPoint Presentation</vt:lpstr>
      <vt:lpstr>PowerPoint Presentation</vt:lpstr>
      <vt:lpstr>PowerPoint Presentation</vt:lpstr>
      <vt:lpstr>PowerPoint Presentation</vt:lpstr>
      <vt:lpstr>PowerPoint Presentation</vt:lpstr>
      <vt:lpstr>What happened?</vt:lpstr>
      <vt:lpstr>More formally…</vt:lpstr>
      <vt:lpstr>More formally…</vt:lpstr>
      <vt:lpstr>Bias and variance</vt:lpstr>
      <vt:lpstr>Making things more intuitive…</vt:lpstr>
      <vt:lpstr>PowerPoint Presentation</vt:lpstr>
      <vt:lpstr>PowerPoint Presentation</vt:lpstr>
      <vt:lpstr>PowerPoint Presentation</vt:lpstr>
      <vt:lpstr>Bias and variance</vt:lpstr>
      <vt:lpstr>In general…</vt:lpstr>
      <vt:lpstr>PowerPoint Presentation</vt:lpstr>
      <vt:lpstr>PowerPoint Presentation</vt:lpstr>
      <vt:lpstr>The moral</vt:lpstr>
      <vt:lpstr>The moral</vt:lpstr>
      <vt:lpstr>PowerPoint Presentation</vt:lpstr>
      <vt:lpstr>PowerPoint Presentation</vt:lpstr>
      <vt:lpstr>What is a Bayesian Nonparametric Model?</vt:lpstr>
      <vt:lpstr>Categorization as Mixture Modeling</vt:lpstr>
      <vt:lpstr>Latent variable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One-Dimensional GP</vt:lpstr>
      <vt:lpstr>One-Dimensional GP</vt:lpstr>
      <vt:lpstr>Lots of different covariance functions</vt:lpstr>
      <vt:lpstr>What about NNs?</vt:lpstr>
      <vt:lpstr>PowerPoint Presentation</vt:lpstr>
      <vt:lpstr>PowerPoint Presentation</vt:lpstr>
      <vt:lpstr>PowerPoint Presentation</vt:lpstr>
      <vt:lpstr>PowerPoint Presentation</vt:lpstr>
      <vt:lpstr>Latent variable models</vt:lpstr>
      <vt:lpstr>Dirichlet distribution</vt:lpstr>
      <vt:lpstr>PowerPoint Presentation</vt:lpstr>
      <vt:lpstr>Internal models in acquisition and extinction</vt:lpstr>
      <vt:lpstr>What do animals learn about their environment in classical conditioning?</vt:lpstr>
      <vt:lpstr>The challenge</vt:lpstr>
      <vt:lpstr>What do animals learn during classical conditioning?</vt:lpstr>
      <vt:lpstr>Some possibilities</vt:lpstr>
      <vt:lpstr>Some possibilities</vt:lpstr>
      <vt:lpstr>Too flexible?</vt:lpstr>
      <vt:lpstr>PowerPoint Presentation</vt:lpstr>
      <vt:lpstr>The model</vt:lpstr>
      <vt:lpstr>Case study: extinction</vt:lpstr>
      <vt:lpstr>Conditioned responding is renewed!</vt:lpstr>
      <vt:lpstr>PowerPoint Presentation</vt:lpstr>
      <vt:lpstr>PowerPoint Presentation</vt:lpstr>
      <vt:lpstr>PowerPoint Presentation</vt:lpstr>
      <vt:lpstr>PowerPoint Presentation</vt:lpstr>
      <vt:lpstr>Modeling renewal</vt:lpstr>
      <vt:lpstr>Clustering in the brain</vt:lpstr>
      <vt:lpstr>Pre-training lesions of hippocampus abolish renewal</vt:lpstr>
      <vt:lpstr>Pre-training lesions of hippocampus abolish renewal</vt:lpstr>
      <vt:lpstr>Beyond renewal…</vt:lpstr>
      <vt:lpstr>Latent Inhibition</vt:lpstr>
      <vt:lpstr>Modeling latent inhibition</vt:lpstr>
      <vt:lpstr>Modeling latent inhibition</vt:lpstr>
      <vt:lpstr>Development of renewal</vt:lpstr>
      <vt:lpstr>Modeling development of renewal</vt:lpstr>
      <vt:lpstr>Modeling development of latent inhibition</vt:lpstr>
      <vt:lpstr>Conclusions</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Joseph Austerweil</cp:lastModifiedBy>
  <cp:revision>567</cp:revision>
  <cp:lastPrinted>2017-09-13T02:18:10Z</cp:lastPrinted>
  <dcterms:created xsi:type="dcterms:W3CDTF">2015-09-05T16:34:09Z</dcterms:created>
  <dcterms:modified xsi:type="dcterms:W3CDTF">2025-04-09T18:35:11Z</dcterms:modified>
</cp:coreProperties>
</file>