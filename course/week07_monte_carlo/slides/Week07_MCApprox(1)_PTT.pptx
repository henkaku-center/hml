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F81BD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F81BD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F81BD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6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" name="Shape 1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7" name="Shape 13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E_{P(x)}[f(x)]\approx \frac{1}{n}\sum_{i=1}^nf(x_{i})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5" name="Shape 1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20315" indent="-120315">
              <a:buSzPct val="100000"/>
              <a:buChar char="*"/>
            </a:pPr>
            <a:r>
              <a:t>Under simple standard assumptions</a:t>
            </a:r>
          </a:p>
          <a:p>
            <a:r>
              <a:t>\mu = E_{P(x)}[f(x)] \approx \frac{1}{n}\sum_{i = 1}^n F(x_{i}) = \mu_{MC}</a:t>
            </a:r>
          </a:p>
          <a:p>
            <a:r>
              <a:t>\sqrt{n} (\mu_{MC} - \mu)\to N(0, \sigma^2_{MC}</a:t>
            </a:r>
          </a:p>
          <a:p>
            <a:r>
              <a:t>\sigma^2_MC = E_{P(x)}[(f(x) - E_{P(x)}[f(x)])^2]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3" name="Shape 2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Sample uniformly and include it if it is under the distribution curve, otherwise don’t include it. (example with pi)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4" name="Shape 2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Many times want P(</a:t>
            </a:r>
            <a:r>
              <a:rPr i="1"/>
              <a:t>X_4,X_3,X_2|X_1)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9" name="Shape 2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Wrong distribution is required to have same support as p(x)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9" name="Shape 2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Sometimes p(x_i)/q(x_i) is called the weight of particle i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7" name="Shape 2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Gray is target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4" name="Shape 3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Remember p(x)/q(x) is the weight of x, so expected weight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6" name="Shape 3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Want to know parameters of a normal distribution. Optimal is actually </a:t>
            </a:r>
            <a:r>
              <a:rPr i="1"/>
              <a:t>not </a:t>
            </a:r>
            <a:r>
              <a:t>the distribution itself.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2" name="Shape 3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P(d) would cancel out anyway on next slide because it doesn’t depend on hypotheses and could be pulled out of both sums…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2" name="Shape 3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Can mimic prototype models without explicitly representing a prototype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0" name="Shape 3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Can mimic prototype models without explicitly representing a prototype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4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2" name="Shape 4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future is independent of the past conditioned on the present</a:t>
            </a:r>
          </a:p>
          <a:p>
            <a:r>
              <a:t>Ergodic = aperiodic and positive recurrent</a:t>
            </a:r>
          </a:p>
          <a:p>
            <a:r>
              <a:t>It is also irreducible = positive probability of going between any two states. Bring out a deck for discussion.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4" name="Shape 5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Initialized to two.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63" name="Shape 5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 example from deck of any shuffling procedure.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3" name="Shape 5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this with music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Shape 94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44" name="Shape 94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Remember to mention telephone.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Shape 100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10" name="Shape 101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Top isn’t a markov chain really bc variable is swapping. Really it’s two markov chains...</a:t>
            </a:r>
          </a:p>
          <a:p>
            <a:endParaRPr/>
          </a:p>
          <a:p>
            <a:r>
              <a:t>Intuition: Original data only influences everything once. Prior bias has influence on every trial -&gt; arbitrarily large influence.</a:t>
            </a:r>
          </a:p>
          <a:p>
            <a:endParaRPr/>
          </a:p>
          <a:p>
            <a:r>
              <a:t>Can be run within-subject or between-subjects!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199576" y="6352847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LetCV_wX_c?feature=o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hi-feng.github.io/mcmc-demo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i-feng.github.io/mcmc-demo/app.html?algorithm=RandomWalkMH&amp;target=standard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hueOff val="214084"/>
            <a:satOff val="14895"/>
            <a:lumOff val="383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>
            <a:spLocks noGrp="1"/>
          </p:cNvSpPr>
          <p:nvPr>
            <p:ph type="ctrTitle"/>
          </p:nvPr>
        </p:nvSpPr>
        <p:spPr>
          <a:xfrm>
            <a:off x="79793" y="1721193"/>
            <a:ext cx="8998892" cy="1470026"/>
          </a:xfrm>
          <a:prstGeom prst="rect">
            <a:avLst/>
          </a:prstGeom>
        </p:spPr>
        <p:txBody>
          <a:bodyPr/>
          <a:lstStyle/>
          <a:p>
            <a:r>
              <a:t>Approximation: Monte Carlo</a:t>
            </a:r>
          </a:p>
        </p:txBody>
      </p:sp>
      <p:sp>
        <p:nvSpPr>
          <p:cNvPr id="104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3229124" y="4086469"/>
            <a:ext cx="5914876" cy="2647547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000000"/>
                </a:solidFill>
              </a:defRPr>
            </a:pPr>
            <a:r>
              <a:t>PSYCH/COMP SCI/BMI 841: Computational Cognitive Science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Joseph Austerweil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March 13, 2025</a:t>
            </a:r>
          </a:p>
        </p:txBody>
      </p:sp>
      <p:pic>
        <p:nvPicPr>
          <p:cNvPr id="105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10" y="3946985"/>
            <a:ext cx="3344994" cy="26475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hueOff val="-7295994"/>
            <a:satOff val="72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199" y="620130"/>
            <a:ext cx="8229601" cy="6128779"/>
          </a:xfrm>
          <a:prstGeom prst="rect">
            <a:avLst/>
          </a:prstGeom>
        </p:spPr>
        <p:txBody>
          <a:bodyPr/>
          <a:lstStyle/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endParaRPr/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b="1"/>
            </a:pPr>
            <a:r>
              <a:rPr b="0"/>
              <a:t>-</a:t>
            </a:r>
            <a:r>
              <a:t> Administrative Matters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</a:t>
            </a:r>
            <a:r>
              <a:rPr b="1"/>
              <a:t> </a:t>
            </a:r>
            <a:r>
              <a:t>Why Approximate? (Background / Review)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Monte Carlo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Basic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Importance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Sequential importance sampling 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		(aka particle filtering)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1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Markov Chain Monte Carlo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2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Two student presentations: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Vul et al 2009 by Martin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Sanborn &amp; Griffiths 2007 by Anirudh</a:t>
            </a:r>
          </a:p>
        </p:txBody>
      </p:sp>
      <p:sp>
        <p:nvSpPr>
          <p:cNvPr id="108" name="Timeline"/>
          <p:cNvSpPr txBox="1">
            <a:spLocks noGrp="1"/>
          </p:cNvSpPr>
          <p:nvPr>
            <p:ph type="title"/>
          </p:nvPr>
        </p:nvSpPr>
        <p:spPr>
          <a:xfrm>
            <a:off x="62887" y="179531"/>
            <a:ext cx="8229601" cy="689459"/>
          </a:xfrm>
          <a:prstGeom prst="rect">
            <a:avLst/>
          </a:prstGeom>
        </p:spPr>
        <p:txBody>
          <a:bodyPr/>
          <a:lstStyle>
            <a:lvl1pPr>
              <a:defRPr sz="3900" b="1"/>
            </a:lvl1pPr>
          </a:lstStyle>
          <a:p>
            <a:r>
              <a:t>Timeline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hueOff val="214084"/>
            <a:satOff val="14895"/>
            <a:lumOff val="383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>
            <a:spLocks noGrp="1"/>
          </p:cNvSpPr>
          <p:nvPr>
            <p:ph type="title"/>
          </p:nvPr>
        </p:nvSpPr>
        <p:spPr>
          <a:xfrm>
            <a:off x="457200" y="42378"/>
            <a:ext cx="8229600" cy="689460"/>
          </a:xfrm>
          <a:prstGeom prst="rect">
            <a:avLst/>
          </a:prstGeom>
        </p:spPr>
        <p:txBody>
          <a:bodyPr/>
          <a:lstStyle>
            <a:lvl1pPr>
              <a:defRPr sz="3900" b="1"/>
            </a:lvl1pPr>
          </a:lstStyle>
          <a:p>
            <a:r>
              <a:t>Administrative Matters</a:t>
            </a:r>
          </a:p>
        </p:txBody>
      </p:sp>
      <p:sp>
        <p:nvSpPr>
          <p:cNvPr id="11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0" y="814646"/>
            <a:ext cx="9144000" cy="600097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t>Generalization Assignment grading a bit delayed. 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2800"/>
            </a:pPr>
            <a:r>
              <a:t>Metareviews for cogsci blindsided me.</a:t>
            </a:r>
          </a:p>
          <a:p>
            <a:pPr>
              <a:lnSpc>
                <a:spcPct val="90000"/>
              </a:lnSpc>
              <a:defRPr sz="1600"/>
            </a:pPr>
            <a:endParaRPr/>
          </a:p>
          <a:p>
            <a:pPr>
              <a:lnSpc>
                <a:spcPct val="90000"/>
              </a:lnSpc>
            </a:pPr>
            <a:r>
              <a:t>Thank you for turning in the project proposal.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2800"/>
            </a:pPr>
            <a:r>
              <a:t>Will go through these next week</a:t>
            </a:r>
          </a:p>
          <a:p>
            <a:pPr>
              <a:lnSpc>
                <a:spcPct val="90000"/>
              </a:lnSpc>
              <a:defRPr sz="1600"/>
            </a:pPr>
            <a:endParaRPr/>
          </a:p>
          <a:p>
            <a:pPr>
              <a:lnSpc>
                <a:spcPct val="90000"/>
              </a:lnSpc>
            </a:pPr>
            <a:r>
              <a:t>Deadlines for assignments 3 and 4 pushed back a week: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2800"/>
            </a:pPr>
            <a:r>
              <a:t>Assignment 3 is due April 9 at 8:59pm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2800"/>
            </a:pPr>
            <a:r>
              <a:t>Assignment 4 is due April 23 at 8:59pm</a:t>
            </a:r>
          </a:p>
          <a:p>
            <a:pPr>
              <a:lnSpc>
                <a:spcPct val="90000"/>
              </a:lnSpc>
            </a:pPr>
            <a:endParaRPr sz="2800"/>
          </a:p>
          <a:p>
            <a:pPr>
              <a:lnSpc>
                <a:spcPct val="90000"/>
              </a:lnSpc>
            </a:pPr>
            <a:r>
              <a:t>Questions?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hueOff val="-7295994"/>
            <a:satOff val="72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620130"/>
            <a:ext cx="8229600" cy="6128779"/>
          </a:xfrm>
          <a:prstGeom prst="rect">
            <a:avLst/>
          </a:prstGeom>
        </p:spPr>
        <p:txBody>
          <a:bodyPr/>
          <a:lstStyle/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endParaRPr/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Administrative Matters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</a:t>
            </a:r>
            <a:r>
              <a:rPr b="1"/>
              <a:t> </a:t>
            </a:r>
            <a:r>
              <a:t>Why Approximate? </a:t>
            </a:r>
            <a:r>
              <a:rPr b="1"/>
              <a:t>(Background / Review)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Monte Carlo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Basic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Importance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Sequential importance sampling 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		(aka particle filtering)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1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Markov Chain Monte Carlo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2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Two student presentations: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Vul et al 2009 by Martin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Sanborn &amp; Griffiths 2007 by Anirudh</a:t>
            </a:r>
          </a:p>
        </p:txBody>
      </p:sp>
      <p:sp>
        <p:nvSpPr>
          <p:cNvPr id="114" name="Timeline"/>
          <p:cNvSpPr txBox="1">
            <a:spLocks noGrp="1"/>
          </p:cNvSpPr>
          <p:nvPr>
            <p:ph type="title"/>
          </p:nvPr>
        </p:nvSpPr>
        <p:spPr>
          <a:xfrm>
            <a:off x="62887" y="179531"/>
            <a:ext cx="8229601" cy="689459"/>
          </a:xfrm>
          <a:prstGeom prst="rect">
            <a:avLst/>
          </a:prstGeom>
        </p:spPr>
        <p:txBody>
          <a:bodyPr/>
          <a:lstStyle>
            <a:lvl1pPr>
              <a:defRPr sz="3900" b="1"/>
            </a:lvl1pPr>
          </a:lstStyle>
          <a:p>
            <a:r>
              <a:t>Timeline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2"/>
          <p:cNvSpPr txBox="1">
            <a:spLocks noGrp="1"/>
          </p:cNvSpPr>
          <p:nvPr>
            <p:ph type="title"/>
          </p:nvPr>
        </p:nvSpPr>
        <p:spPr>
          <a:xfrm>
            <a:off x="622299" y="651472"/>
            <a:ext cx="7772401" cy="914888"/>
          </a:xfrm>
          <a:prstGeom prst="rect">
            <a:avLst/>
          </a:prstGeom>
        </p:spPr>
        <p:txBody>
          <a:bodyPr/>
          <a:lstStyle/>
          <a:p>
            <a:r>
              <a:t>Marr</a:t>
            </a:r>
            <a:r>
              <a:rPr>
                <a:latin typeface="Arial"/>
                <a:ea typeface="Arial"/>
                <a:cs typeface="Arial"/>
                <a:sym typeface="Arial"/>
              </a:rPr>
              <a:t>’</a:t>
            </a:r>
            <a:r>
              <a:t>s three levels</a:t>
            </a:r>
          </a:p>
        </p:txBody>
      </p:sp>
      <p:sp>
        <p:nvSpPr>
          <p:cNvPr id="117" name="Rectangle 3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382000" cy="5105400"/>
          </a:xfrm>
          <a:prstGeom prst="rect">
            <a:avLst/>
          </a:prstGeom>
        </p:spPr>
        <p:txBody>
          <a:bodyPr/>
          <a:lstStyle/>
          <a:p>
            <a:pPr marL="318897" indent="-318897" defTabSz="425195">
              <a:buSzTx/>
              <a:buNone/>
              <a:defRPr sz="2976" b="1"/>
            </a:pPr>
            <a:r>
              <a:rPr dirty="0"/>
              <a:t>Computation</a:t>
            </a:r>
            <a:endParaRPr lang="en-US" dirty="0"/>
          </a:p>
          <a:p>
            <a:pPr marL="265747" lvl="1" indent="159448" defTabSz="425195">
              <a:spcBef>
                <a:spcPts val="600"/>
              </a:spcBef>
              <a:buSzTx/>
              <a:buNone/>
              <a:defRPr sz="2604"/>
            </a:pPr>
            <a:r>
              <a:rPr lang="en-US" dirty="0"/>
              <a:t> 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dirty="0"/>
              <a:t>What is the goal of the computation, why is it 					appropriate, and what is the logic of the strategy by 			which it can be carried out?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318897" indent="-318897" defTabSz="425195">
              <a:buSzTx/>
              <a:buNone/>
              <a:defRPr sz="2976" b="1"/>
            </a:pPr>
            <a:r>
              <a:rPr dirty="0"/>
              <a:t>Representation</a:t>
            </a:r>
            <a:r>
              <a:rPr b="0" dirty="0"/>
              <a:t> </a:t>
            </a:r>
            <a:r>
              <a:rPr dirty="0"/>
              <a:t>and algorithm</a:t>
            </a:r>
          </a:p>
          <a:p>
            <a:pPr marL="265747" lvl="1" indent="159448" defTabSz="425195">
              <a:spcBef>
                <a:spcPts val="600"/>
              </a:spcBef>
              <a:buSzTx/>
              <a:buNone/>
              <a:defRPr sz="2604"/>
            </a:pPr>
            <a:r>
              <a:rPr dirty="0"/>
              <a:t>   </a:t>
            </a:r>
            <a:r>
              <a:rPr dirty="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dirty="0"/>
              <a:t>What is the representation for the input and output, </a:t>
            </a:r>
            <a:r>
              <a:rPr lang="en-US" dirty="0"/>
              <a:t>			</a:t>
            </a:r>
            <a:r>
              <a:rPr dirty="0"/>
              <a:t>and the algorithm for the transformation?</a:t>
            </a:r>
            <a:r>
              <a:rPr dirty="0"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318897" indent="-318897" defTabSz="425195">
              <a:buSzTx/>
              <a:buNone/>
              <a:defRPr sz="2976" b="1"/>
            </a:pPr>
            <a:r>
              <a:rPr dirty="0"/>
              <a:t>Implementation</a:t>
            </a:r>
          </a:p>
          <a:p>
            <a:pPr marL="265747" lvl="1" indent="159448" defTabSz="425195">
              <a:spcBef>
                <a:spcPts val="600"/>
              </a:spcBef>
              <a:buSzTx/>
              <a:buNone/>
              <a:defRPr sz="2604"/>
            </a:pPr>
            <a:r>
              <a:rPr dirty="0"/>
              <a:t>   </a:t>
            </a:r>
            <a:r>
              <a:rPr dirty="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dirty="0"/>
              <a:t>How can the representation and algorithm be realized </a:t>
            </a:r>
            <a:r>
              <a:rPr lang="en-US" dirty="0"/>
              <a:t>		</a:t>
            </a:r>
            <a:r>
              <a:rPr dirty="0"/>
              <a:t>physically?</a:t>
            </a:r>
            <a:r>
              <a:rPr dirty="0"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grpSp>
        <p:nvGrpSpPr>
          <p:cNvPr id="120" name="Group 4"/>
          <p:cNvGrpSpPr/>
          <p:nvPr/>
        </p:nvGrpSpPr>
        <p:grpSpPr>
          <a:xfrm>
            <a:off x="-38895" y="1986454"/>
            <a:ext cx="496095" cy="1219201"/>
            <a:chOff x="0" y="0"/>
            <a:chExt cx="496093" cy="1219200"/>
          </a:xfrm>
        </p:grpSpPr>
        <p:sp>
          <p:nvSpPr>
            <p:cNvPr id="118" name="Line 5"/>
            <p:cNvSpPr/>
            <p:nvPr/>
          </p:nvSpPr>
          <p:spPr>
            <a:xfrm flipV="1">
              <a:off x="496093" y="0"/>
              <a:ext cx="1" cy="1219201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Text Box 6"/>
            <p:cNvSpPr txBox="1"/>
            <p:nvPr/>
          </p:nvSpPr>
          <p:spPr>
            <a:xfrm rot="16200000">
              <a:off x="-358186" y="454425"/>
              <a:ext cx="1049460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t>constrains</a:t>
              </a:r>
            </a:p>
          </p:txBody>
        </p:sp>
      </p:grpSp>
      <p:grpSp>
        <p:nvGrpSpPr>
          <p:cNvPr id="123" name="Group 7"/>
          <p:cNvGrpSpPr/>
          <p:nvPr/>
        </p:nvGrpSpPr>
        <p:grpSpPr>
          <a:xfrm>
            <a:off x="-14724" y="3778472"/>
            <a:ext cx="494508" cy="1049460"/>
            <a:chOff x="0" y="0"/>
            <a:chExt cx="494506" cy="1049459"/>
          </a:xfrm>
        </p:grpSpPr>
        <p:sp>
          <p:nvSpPr>
            <p:cNvPr id="121" name="Line 8"/>
            <p:cNvSpPr/>
            <p:nvPr/>
          </p:nvSpPr>
          <p:spPr>
            <a:xfrm flipV="1">
              <a:off x="494506" y="60922"/>
              <a:ext cx="1" cy="914401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Text Box 9"/>
            <p:cNvSpPr txBox="1"/>
            <p:nvPr/>
          </p:nvSpPr>
          <p:spPr>
            <a:xfrm rot="16200000">
              <a:off x="-358186" y="358185"/>
              <a:ext cx="1049460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t>constrains</a:t>
              </a:r>
            </a:p>
          </p:txBody>
        </p:sp>
      </p:grpSp>
      <p:sp>
        <p:nvSpPr>
          <p:cNvPr id="124" name="Rectangle 10"/>
          <p:cNvSpPr/>
          <p:nvPr/>
        </p:nvSpPr>
        <p:spPr>
          <a:xfrm>
            <a:off x="110362" y="3276601"/>
            <a:ext cx="8627238" cy="3276599"/>
          </a:xfrm>
          <a:prstGeom prst="rect">
            <a:avLst/>
          </a:prstGeom>
          <a:ln w="28575">
            <a:solidFill>
              <a:srgbClr val="FF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5" name="Rectangle 2"/>
          <p:cNvSpPr txBox="1"/>
          <p:nvPr/>
        </p:nvSpPr>
        <p:spPr>
          <a:xfrm>
            <a:off x="609600" y="58423"/>
            <a:ext cx="7772401" cy="914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defRPr sz="4400" b="1"/>
            </a:lvl1pPr>
          </a:lstStyle>
          <a:p>
            <a:r>
              <a:t>Background/Review: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2"/>
          <p:cNvSpPr txBox="1">
            <a:spLocks noGrp="1"/>
          </p:cNvSpPr>
          <p:nvPr>
            <p:ph type="title"/>
          </p:nvPr>
        </p:nvSpPr>
        <p:spPr>
          <a:xfrm>
            <a:off x="1368205" y="90935"/>
            <a:ext cx="6344090" cy="1541639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Background/Review:</a:t>
            </a:r>
          </a:p>
          <a:p>
            <a:r>
              <a:t>A top-down approach…</a:t>
            </a:r>
          </a:p>
        </p:txBody>
      </p:sp>
      <p:sp>
        <p:nvSpPr>
          <p:cNvPr id="128" name="Rectangle 3"/>
          <p:cNvSpPr txBox="1">
            <a:spLocks noGrp="1"/>
          </p:cNvSpPr>
          <p:nvPr>
            <p:ph type="body" idx="1"/>
          </p:nvPr>
        </p:nvSpPr>
        <p:spPr>
          <a:xfrm>
            <a:off x="918740" y="1800387"/>
            <a:ext cx="7243020" cy="4755381"/>
          </a:xfrm>
          <a:prstGeom prst="rect">
            <a:avLst/>
          </a:prstGeom>
          <a:solidFill>
            <a:srgbClr val="F7E6B7"/>
          </a:solidFill>
        </p:spPr>
        <p:txBody>
          <a:bodyPr/>
          <a:lstStyle/>
          <a:p>
            <a:pPr marL="0" indent="0" defTabSz="393192">
              <a:spcBef>
                <a:spcPts val="600"/>
              </a:spcBef>
              <a:buSzTx/>
              <a:buNone/>
              <a:defRPr sz="2752"/>
            </a:pPr>
            <a:r>
              <a:t>If we want to effectively approximate Bayesian inference, we should:</a:t>
            </a:r>
          </a:p>
          <a:p>
            <a:pPr marL="0" indent="0" defTabSz="393192">
              <a:spcBef>
                <a:spcPts val="600"/>
              </a:spcBef>
              <a:buSzTx/>
              <a:buNone/>
              <a:defRPr sz="2752"/>
            </a:pPr>
            <a:endParaRPr sz="1376"/>
          </a:p>
          <a:p>
            <a:pPr marL="442341" indent="-442341" defTabSz="393192">
              <a:spcBef>
                <a:spcPts val="600"/>
              </a:spcBef>
              <a:buFontTx/>
              <a:buAutoNum type="arabicPeriod"/>
              <a:defRPr sz="2752"/>
            </a:pPr>
            <a:r>
              <a:t>Adopt good methods for solving Bayesian inference from computer science and statistics.</a:t>
            </a:r>
            <a:endParaRPr sz="1376"/>
          </a:p>
          <a:p>
            <a:pPr marL="442341" indent="-442341" defTabSz="393192">
              <a:spcBef>
                <a:spcPts val="600"/>
              </a:spcBef>
              <a:buFontTx/>
              <a:buAutoNum type="arabicPeriod"/>
              <a:defRPr sz="2752"/>
            </a:pPr>
            <a:endParaRPr sz="1376"/>
          </a:p>
          <a:p>
            <a:pPr marL="442341" indent="-442341" defTabSz="393192">
              <a:spcBef>
                <a:spcPts val="600"/>
              </a:spcBef>
              <a:buFontTx/>
              <a:buAutoNum type="arabicPeriod" startAt="2"/>
              <a:defRPr sz="2752"/>
            </a:pPr>
            <a:r>
              <a:t>See if these methods can be interpreted as psychological processes.</a:t>
            </a:r>
          </a:p>
          <a:p>
            <a:pPr marL="0" indent="0" defTabSz="393192">
              <a:spcBef>
                <a:spcPts val="600"/>
              </a:spcBef>
              <a:buSzTx/>
              <a:buNone/>
              <a:defRPr sz="1376"/>
            </a:pPr>
            <a:endParaRPr/>
          </a:p>
          <a:p>
            <a:pPr marL="0" indent="0" defTabSz="393192">
              <a:spcBef>
                <a:spcPts val="600"/>
              </a:spcBef>
              <a:buSzTx/>
              <a:buNone/>
              <a:defRPr sz="1376"/>
            </a:pPr>
            <a:endParaRPr/>
          </a:p>
          <a:p>
            <a:pPr marL="0" indent="0" defTabSz="393192">
              <a:spcBef>
                <a:spcPts val="600"/>
              </a:spcBef>
              <a:buSzTx/>
              <a:buNone/>
              <a:defRPr sz="2752"/>
            </a:pPr>
            <a:r>
              <a:t>The result: </a:t>
            </a:r>
            <a:r>
              <a:rPr>
                <a:latin typeface="Arial"/>
                <a:ea typeface="Arial"/>
                <a:cs typeface="Arial"/>
                <a:sym typeface="Arial"/>
              </a:rPr>
              <a:t>“</a:t>
            </a:r>
            <a:r>
              <a:t>rational process models</a:t>
            </a:r>
            <a:r>
              <a:rPr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129" name="Text Box 4"/>
          <p:cNvSpPr txBox="1"/>
          <p:nvPr/>
        </p:nvSpPr>
        <p:spPr>
          <a:xfrm>
            <a:off x="45719" y="6494933"/>
            <a:ext cx="898906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rPr dirty="0"/>
              <a:t>(Sanborn et al., 2010; Shi et al., 2010)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hueOff val="-7295994"/>
            <a:satOff val="72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620130"/>
            <a:ext cx="8229600" cy="6128779"/>
          </a:xfrm>
          <a:prstGeom prst="rect">
            <a:avLst/>
          </a:prstGeom>
        </p:spPr>
        <p:txBody>
          <a:bodyPr/>
          <a:lstStyle/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endParaRPr/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Administrative Matters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</a:t>
            </a:r>
            <a:r>
              <a:rPr b="1"/>
              <a:t> </a:t>
            </a:r>
            <a:r>
              <a:t>Why Approximate? (Background / Review)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</a:t>
            </a:r>
            <a:r>
              <a:rPr b="1"/>
              <a:t>Monte Carlo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Basic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Importance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Sequential importance sampling 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		(aka particle filtering)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1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Markov Chain Monte Carlo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2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Two student presentations: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Vul et al 2009 by Martin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Sanborn &amp; Griffiths 2007 by Anirudh</a:t>
            </a:r>
          </a:p>
        </p:txBody>
      </p:sp>
      <p:sp>
        <p:nvSpPr>
          <p:cNvPr id="132" name="Timeline"/>
          <p:cNvSpPr txBox="1">
            <a:spLocks noGrp="1"/>
          </p:cNvSpPr>
          <p:nvPr>
            <p:ph type="title"/>
          </p:nvPr>
        </p:nvSpPr>
        <p:spPr>
          <a:xfrm>
            <a:off x="62887" y="179531"/>
            <a:ext cx="8229601" cy="689459"/>
          </a:xfrm>
          <a:prstGeom prst="rect">
            <a:avLst/>
          </a:prstGeom>
        </p:spPr>
        <p:txBody>
          <a:bodyPr/>
          <a:lstStyle>
            <a:lvl1pPr>
              <a:defRPr sz="3900" b="1"/>
            </a:lvl1pPr>
          </a:lstStyle>
          <a:p>
            <a:r>
              <a:t>Timeline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hueOff val="506581"/>
            <a:satOff val="2204"/>
            <a:lumOff val="3617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2"/>
          <p:cNvSpPr txBox="1">
            <a:spLocks noGrp="1"/>
          </p:cNvSpPr>
          <p:nvPr>
            <p:ph type="title"/>
          </p:nvPr>
        </p:nvSpPr>
        <p:spPr>
          <a:xfrm>
            <a:off x="685800" y="51413"/>
            <a:ext cx="7772400" cy="934815"/>
          </a:xfrm>
          <a:prstGeom prst="rect">
            <a:avLst/>
          </a:prstGeom>
        </p:spPr>
        <p:txBody>
          <a:bodyPr/>
          <a:lstStyle/>
          <a:p>
            <a:r>
              <a:t>The Monte Carlo principle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Rectangle 4"/>
              <p:cNvSpPr txBox="1"/>
              <p:nvPr/>
            </p:nvSpPr>
            <p:spPr>
              <a:xfrm>
                <a:off x="514336" y="1198913"/>
                <a:ext cx="8595361" cy="64189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>
                  <a:spcBef>
                    <a:spcPts val="800"/>
                  </a:spcBef>
                  <a:defRPr sz="3200"/>
                </a:pPr>
                <a:r>
                  <a:t>The expectation of </a:t>
                </a:r>
                <a:r>
                  <a:rPr sz="3600" i="1"/>
                  <a:t>f</a:t>
                </a:r>
                <a:r>
                  <a:t> with respect to </a:t>
                </a:r>
                <a:r>
                  <a:rPr sz="3600" i="1"/>
                  <a:t>P</a:t>
                </a:r>
                <a:r>
                  <a:t> can be approximated by</a:t>
                </a:r>
              </a:p>
              <a:p>
                <a:pPr marL="342900" indent="-342900">
                  <a:spcBef>
                    <a:spcPts val="400"/>
                  </a:spcBef>
                  <a:buSzPct val="100000"/>
                  <a:buChar char="•"/>
                  <a:defRPr sz="3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34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)]≈</m:t>
                    </m:r>
                    <m:f>
                      <m:fPr>
                        <m:ctrlP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34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34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34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34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342900" indent="-342900">
                  <a:spcBef>
                    <a:spcPts val="400"/>
                  </a:spcBef>
                  <a:buSzPct val="100000"/>
                  <a:buChar char="•"/>
                  <a:defRPr sz="3200"/>
                </a:pPr>
                <a:endParaRPr/>
              </a:p>
              <a:p>
                <a:pPr marL="342900" indent="-342900">
                  <a:spcBef>
                    <a:spcPts val="800"/>
                  </a:spcBef>
                  <a:defRPr sz="3200"/>
                </a:pPr>
                <a:r>
                  <a:t>   where the </a:t>
                </a:r>
                <a:r>
                  <a:rPr sz="3600" i="1"/>
                  <a:t>x</a:t>
                </a:r>
                <a:r>
                  <a:rPr sz="3600" i="1" baseline="-25000"/>
                  <a:t>i</a:t>
                </a:r>
                <a:r>
                  <a:t> are sampled from </a:t>
                </a:r>
                <a:r>
                  <a:rPr sz="3600" i="1"/>
                  <a:t>P</a:t>
                </a:r>
                <a:r>
                  <a:rPr sz="3600"/>
                  <a:t>(</a:t>
                </a:r>
                <a:r>
                  <a:rPr sz="3600" i="1"/>
                  <a:t>x</a:t>
                </a:r>
                <a:r>
                  <a:rPr sz="3600"/>
                  <a:t>).</a:t>
                </a:r>
                <a:r>
                  <a:t> </a:t>
                </a:r>
              </a:p>
              <a:p>
                <a:pPr marL="342900" indent="-342900" algn="ctr">
                  <a:spcBef>
                    <a:spcPts val="400"/>
                  </a:spcBef>
                  <a:buSzPct val="100000"/>
                  <a:buChar char="•"/>
                </a:pPr>
                <a:endParaRPr/>
              </a:p>
              <a:p>
                <a:pPr>
                  <a:spcBef>
                    <a:spcPts val="700"/>
                  </a:spcBef>
                  <a:defRPr sz="3200"/>
                </a:pPr>
                <a:r>
                  <a:t>Example: the average # of spots on a die roll</a:t>
                </a:r>
              </a:p>
              <a:p>
                <a:pPr marL="342900" indent="-342900" algn="ctr">
                  <a:spcBef>
                    <a:spcPts val="700"/>
                  </a:spcBef>
                  <a:defRPr sz="3200"/>
                </a:pPr>
                <a:r>
                  <a:t>  </a:t>
                </a:r>
              </a:p>
              <a:p>
                <a:pPr marL="342900" indent="-342900">
                  <a:spcBef>
                    <a:spcPts val="400"/>
                  </a:spcBef>
                  <a:buSzPct val="100000"/>
                  <a:buChar char="•"/>
                  <a:defRPr sz="3200"/>
                </a:pPr>
                <a:endParaRPr/>
              </a:p>
            </p:txBody>
          </p:sp>
        </mc:Choice>
        <mc:Fallback>
          <p:sp>
            <p:nvSpPr>
              <p:cNvPr id="135" name="Rectang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36" y="1198913"/>
                <a:ext cx="8595361" cy="6418976"/>
              </a:xfrm>
              <a:prstGeom prst="rect">
                <a:avLst/>
              </a:prstGeom>
              <a:blipFill>
                <a:blip r:embed="rId3"/>
                <a:stretch>
                  <a:fillRect l="-2340" t="-151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hueOff val="506581"/>
            <a:satOff val="2204"/>
            <a:lumOff val="3617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687" y="1371600"/>
            <a:ext cx="6273801" cy="4953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 Box 6"/>
          <p:cNvSpPr txBox="1"/>
          <p:nvPr/>
        </p:nvSpPr>
        <p:spPr>
          <a:xfrm rot="16196375">
            <a:off x="264432" y="3635518"/>
            <a:ext cx="2428650" cy="3330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spcBef>
                <a:spcPts val="400"/>
              </a:spcBef>
            </a:lvl1pPr>
          </a:lstStyle>
          <a:p>
            <a:r>
              <a:t>Average number of spots</a:t>
            </a:r>
          </a:p>
        </p:txBody>
      </p:sp>
      <p:sp>
        <p:nvSpPr>
          <p:cNvPr id="141" name="Text Box 7"/>
          <p:cNvSpPr txBox="1"/>
          <p:nvPr/>
        </p:nvSpPr>
        <p:spPr>
          <a:xfrm rot="21580706">
            <a:off x="3919557" y="6189012"/>
            <a:ext cx="1552536" cy="3330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spcBef>
                <a:spcPts val="400"/>
              </a:spcBef>
            </a:lvl1pPr>
          </a:lstStyle>
          <a:p>
            <a:r>
              <a:t>Number of rolls</a:t>
            </a:r>
          </a:p>
        </p:txBody>
      </p:sp>
      <p:sp>
        <p:nvSpPr>
          <p:cNvPr id="142" name="Text Box 8"/>
          <p:cNvSpPr txBox="1"/>
          <p:nvPr/>
        </p:nvSpPr>
        <p:spPr>
          <a:xfrm>
            <a:off x="4320891" y="2271856"/>
            <a:ext cx="24500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spcBef>
                <a:spcPts val="400"/>
              </a:spcBef>
            </a:lvl1pPr>
          </a:lstStyle>
          <a:p>
            <a:r>
              <a:t>The law of large numbers</a:t>
            </a:r>
          </a:p>
        </p:txBody>
      </p:sp>
      <p:sp>
        <p:nvSpPr>
          <p:cNvPr id="143" name="Rectangle 2"/>
          <p:cNvSpPr txBox="1">
            <a:spLocks noGrp="1"/>
          </p:cNvSpPr>
          <p:nvPr>
            <p:ph type="title"/>
          </p:nvPr>
        </p:nvSpPr>
        <p:spPr>
          <a:xfrm>
            <a:off x="685800" y="51413"/>
            <a:ext cx="7772400" cy="934815"/>
          </a:xfrm>
          <a:prstGeom prst="rect">
            <a:avLst/>
          </a:prstGeom>
        </p:spPr>
        <p:txBody>
          <a:bodyPr/>
          <a:lstStyle/>
          <a:p>
            <a:r>
              <a:t>The Monte Carlo principle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hueOff val="506581"/>
            <a:satOff val="2204"/>
            <a:lumOff val="3617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2"/>
          <p:cNvSpPr txBox="1">
            <a:spLocks noGrp="1"/>
          </p:cNvSpPr>
          <p:nvPr>
            <p:ph type="title"/>
          </p:nvPr>
        </p:nvSpPr>
        <p:spPr>
          <a:xfrm>
            <a:off x="685800" y="35828"/>
            <a:ext cx="7772400" cy="1274312"/>
          </a:xfrm>
          <a:prstGeom prst="rect">
            <a:avLst/>
          </a:prstGeom>
        </p:spPr>
        <p:txBody>
          <a:bodyPr/>
          <a:lstStyle/>
          <a:p>
            <a:pPr>
              <a:defRPr sz="3900"/>
            </a:pPr>
            <a:r>
              <a:t>More formally </a:t>
            </a:r>
            <a:br/>
            <a:r>
              <a:t>(and words you might read)</a:t>
            </a:r>
          </a:p>
        </p:txBody>
      </p:sp>
      <p:sp>
        <p:nvSpPr>
          <p:cNvPr id="148" name="Rectangle 10"/>
          <p:cNvSpPr txBox="1"/>
          <p:nvPr/>
        </p:nvSpPr>
        <p:spPr>
          <a:xfrm>
            <a:off x="980389" y="2347213"/>
            <a:ext cx="7772401" cy="2464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3200" i="1"/>
            </a:pP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MC</a:t>
            </a:r>
            <a:r>
              <a:rPr i="0" baseline="-25000"/>
              <a:t>  </a:t>
            </a:r>
            <a:r>
              <a:rPr i="0"/>
              <a:t>is consistent, (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MC</a:t>
            </a:r>
            <a:r>
              <a:rPr i="0" baseline="-25000"/>
              <a:t> </a:t>
            </a:r>
            <a:r>
              <a:rPr i="0"/>
              <a:t>-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i="0"/>
              <a:t>)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 i="0"/>
              <a:t>0  as </a:t>
            </a:r>
            <a:r>
              <a:t>n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® ¥</a:t>
            </a:r>
          </a:p>
          <a:p>
            <a:pPr>
              <a:spcBef>
                <a:spcPts val="700"/>
              </a:spcBef>
              <a:defRPr sz="3200" i="1"/>
            </a:pP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MC</a:t>
            </a:r>
            <a:r>
              <a:rPr i="0" baseline="-25000"/>
              <a:t>  </a:t>
            </a:r>
            <a:r>
              <a:rPr i="0"/>
              <a:t>is unbiased, with </a:t>
            </a:r>
            <a:r>
              <a:t>E</a:t>
            </a:r>
            <a:r>
              <a:rPr i="0"/>
              <a:t>[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MC</a:t>
            </a:r>
            <a:r>
              <a:rPr i="0" baseline="-25000"/>
              <a:t> </a:t>
            </a:r>
            <a:r>
              <a:rPr i="0"/>
              <a:t>] =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i="0"/>
              <a:t> </a:t>
            </a:r>
          </a:p>
          <a:p>
            <a:pPr>
              <a:spcBef>
                <a:spcPts val="700"/>
              </a:spcBef>
              <a:defRPr sz="3200" i="1"/>
            </a:pP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MC</a:t>
            </a:r>
            <a:r>
              <a:rPr i="0" baseline="-25000"/>
              <a:t>  </a:t>
            </a:r>
            <a:r>
              <a:rPr i="0"/>
              <a:t>is asymptotically normal*, with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Equation"/>
              <p:cNvSpPr txBox="1"/>
              <p:nvPr/>
            </p:nvSpPr>
            <p:spPr>
              <a:xfrm>
                <a:off x="1896828" y="1351741"/>
                <a:ext cx="5023742" cy="9538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)]≈</m:t>
                      </m:r>
                      <m:f>
                        <m:f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𝑀𝐶</m:t>
                          </m:r>
                        </m:sub>
                      </m:sSub>
                    </m:oMath>
                  </m:oMathPara>
                </a14:m>
                <a:endParaRPr sz="2800"/>
              </a:p>
            </p:txBody>
          </p:sp>
        </mc:Choice>
        <mc:Fallback>
          <p:sp>
            <p:nvSpPr>
              <p:cNvPr id="14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828" y="1351741"/>
                <a:ext cx="5023742" cy="953870"/>
              </a:xfrm>
              <a:prstGeom prst="rect">
                <a:avLst/>
              </a:prstGeom>
              <a:blipFill>
                <a:blip r:embed="rId3"/>
                <a:stretch>
                  <a:fillRect r="-78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Equation"/>
              <p:cNvSpPr txBox="1"/>
              <p:nvPr/>
            </p:nvSpPr>
            <p:spPr>
              <a:xfrm>
                <a:off x="494390" y="4369950"/>
                <a:ext cx="4219869" cy="52760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𝑀𝐶</m:t>
                          </m:r>
                        </m:sub>
                      </m:sSub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sSubSup>
                        <m:sSubSup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𝑀𝐶</m:t>
                          </m:r>
                        </m:sub>
                        <m:sup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sz="3300"/>
              </a:p>
            </p:txBody>
          </p:sp>
        </mc:Choice>
        <mc:Fallback>
          <p:sp>
            <p:nvSpPr>
              <p:cNvPr id="15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90" y="4369950"/>
                <a:ext cx="4219869" cy="527602"/>
              </a:xfrm>
              <a:prstGeom prst="rect">
                <a:avLst/>
              </a:prstGeom>
              <a:blipFill>
                <a:blip r:embed="rId4"/>
                <a:stretch>
                  <a:fillRect r="-563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0"/>
          <p:cNvSpPr txBox="1"/>
          <p:nvPr/>
        </p:nvSpPr>
        <p:spPr>
          <a:xfrm>
            <a:off x="5009668" y="4332741"/>
            <a:ext cx="2742209" cy="602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400"/>
              </a:spcBef>
              <a:defRPr sz="3200"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r>
              <a:t>in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Equation"/>
              <p:cNvSpPr txBox="1"/>
              <p:nvPr/>
            </p:nvSpPr>
            <p:spPr>
              <a:xfrm>
                <a:off x="1003948" y="5253762"/>
                <a:ext cx="5000395" cy="46696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  <m:sSup>
                        <m:sSup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15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48" y="5253762"/>
                <a:ext cx="5000395" cy="466966"/>
              </a:xfrm>
              <a:prstGeom prst="rect">
                <a:avLst/>
              </a:prstGeom>
              <a:blipFill>
                <a:blip r:embed="rId5"/>
                <a:stretch>
                  <a:fillRect r="-16098" b="-1184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Under simple standard assumptions"/>
          <p:cNvSpPr txBox="1"/>
          <p:nvPr/>
        </p:nvSpPr>
        <p:spPr>
          <a:xfrm>
            <a:off x="3033630" y="6162746"/>
            <a:ext cx="366592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marL="120315" indent="-120315">
              <a:buSzPct val="100000"/>
              <a:buChar char="*"/>
            </a:lvl1pPr>
          </a:lstStyle>
          <a:p>
            <a:r>
              <a:t>Under simple standard assumptions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1" build="p" bldLvl="5" animBg="1" advAuto="0"/>
      <p:bldP spid="151" grpId="2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DE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"/>
          <p:cNvSpPr txBox="1">
            <a:spLocks noGrp="1"/>
          </p:cNvSpPr>
          <p:nvPr>
            <p:ph type="title"/>
          </p:nvPr>
        </p:nvSpPr>
        <p:spPr>
          <a:xfrm>
            <a:off x="457200" y="835799"/>
            <a:ext cx="8229600" cy="4365540"/>
          </a:xfrm>
          <a:prstGeom prst="rect">
            <a:avLst/>
          </a:prstGeom>
        </p:spPr>
        <p:txBody>
          <a:bodyPr/>
          <a:lstStyle/>
          <a:p>
            <a:r>
              <a:rPr b="1"/>
              <a:t>BUT</a:t>
            </a:r>
            <a:r>
              <a:t>, many times we </a:t>
            </a:r>
            <a:r>
              <a:rPr b="1"/>
              <a:t>can’t</a:t>
            </a:r>
            <a:r>
              <a:t> sample from the distribution. </a:t>
            </a:r>
            <a:br/>
            <a:br/>
            <a:r>
              <a:t>What do we do then?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026"/>
          <p:cNvSpPr txBox="1">
            <a:spLocks noGrp="1"/>
          </p:cNvSpPr>
          <p:nvPr>
            <p:ph type="title"/>
          </p:nvPr>
        </p:nvSpPr>
        <p:spPr>
          <a:xfrm>
            <a:off x="228600" y="13022"/>
            <a:ext cx="8610600" cy="914401"/>
          </a:xfrm>
          <a:prstGeom prst="rect">
            <a:avLst/>
          </a:prstGeom>
        </p:spPr>
        <p:txBody>
          <a:bodyPr/>
          <a:lstStyle/>
          <a:p>
            <a:pPr defTabSz="361188">
              <a:defRPr sz="3476"/>
            </a:pPr>
            <a:r>
              <a:rPr b="1"/>
              <a:t>Basic Sampling: </a:t>
            </a:r>
            <a:r>
              <a:t>Inverse cumulative distribution</a:t>
            </a:r>
          </a:p>
        </p:txBody>
      </p:sp>
      <p:sp>
        <p:nvSpPr>
          <p:cNvPr id="160" name="Rectangle 1037"/>
          <p:cNvSpPr txBox="1">
            <a:spLocks noGrp="1"/>
          </p:cNvSpPr>
          <p:nvPr>
            <p:ph type="body" sz="quarter" idx="1"/>
          </p:nvPr>
        </p:nvSpPr>
        <p:spPr>
          <a:xfrm>
            <a:off x="4443751" y="6333540"/>
            <a:ext cx="4719290" cy="494715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buSzTx/>
              <a:buNone/>
            </a:lvl1pPr>
          </a:lstStyle>
          <a:p>
            <a:r>
              <a:t>(requires CDF be invertible)</a:t>
            </a:r>
          </a:p>
        </p:txBody>
      </p:sp>
      <p:pic>
        <p:nvPicPr>
          <p:cNvPr id="161" name="Picture 1038" descr="Picture 10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7038"/>
            <a:ext cx="9144000" cy="3611563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 Box 1040"/>
          <p:cNvSpPr txBox="1"/>
          <p:nvPr/>
        </p:nvSpPr>
        <p:spPr>
          <a:xfrm>
            <a:off x="883919" y="5894909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0</a:t>
            </a:r>
          </a:p>
        </p:txBody>
      </p:sp>
      <p:sp>
        <p:nvSpPr>
          <p:cNvPr id="163" name="Text Box 1041"/>
          <p:cNvSpPr txBox="1"/>
          <p:nvPr/>
        </p:nvSpPr>
        <p:spPr>
          <a:xfrm>
            <a:off x="928369" y="2618309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1</a:t>
            </a:r>
          </a:p>
        </p:txBody>
      </p:sp>
      <p:sp>
        <p:nvSpPr>
          <p:cNvPr id="164" name="Rectangle 1042"/>
          <p:cNvSpPr/>
          <p:nvPr/>
        </p:nvSpPr>
        <p:spPr>
          <a:xfrm>
            <a:off x="914400" y="2999309"/>
            <a:ext cx="228600" cy="2895601"/>
          </a:xfrm>
          <a:prstGeom prst="rect">
            <a:avLst/>
          </a:prstGeom>
          <a:solidFill>
            <a:srgbClr val="EEECE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67" name="Group 1046"/>
          <p:cNvGrpSpPr/>
          <p:nvPr/>
        </p:nvGrpSpPr>
        <p:grpSpPr>
          <a:xfrm>
            <a:off x="1143000" y="4828109"/>
            <a:ext cx="3352801" cy="1143001"/>
            <a:chOff x="0" y="0"/>
            <a:chExt cx="3352800" cy="1143000"/>
          </a:xfrm>
        </p:grpSpPr>
        <p:sp>
          <p:nvSpPr>
            <p:cNvPr id="165" name="Line 1043"/>
            <p:cNvSpPr/>
            <p:nvPr/>
          </p:nvSpPr>
          <p:spPr>
            <a:xfrm>
              <a:off x="0" y="0"/>
              <a:ext cx="33528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6" name="Line 1044"/>
            <p:cNvSpPr/>
            <p:nvPr/>
          </p:nvSpPr>
          <p:spPr>
            <a:xfrm>
              <a:off x="3352800" y="0"/>
              <a:ext cx="0" cy="11430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68" name="Oval 1045"/>
          <p:cNvSpPr/>
          <p:nvPr/>
        </p:nvSpPr>
        <p:spPr>
          <a:xfrm>
            <a:off x="1066800" y="4751909"/>
            <a:ext cx="152400" cy="152401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9" name="TextBox 1"/>
          <p:cNvSpPr txBox="1"/>
          <p:nvPr/>
        </p:nvSpPr>
        <p:spPr>
          <a:xfrm>
            <a:off x="488029" y="808937"/>
            <a:ext cx="8015542" cy="1939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/>
              <a:defRPr sz="2800"/>
            </a:pPr>
            <a:r>
              <a:t> Draw a sample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t> from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Uniform(0,1)</a:t>
            </a:r>
          </a:p>
          <a:p>
            <a:pPr marL="342900" indent="-342900">
              <a:buSzPct val="100000"/>
              <a:buAutoNum type="arabicPeriod"/>
              <a:defRPr sz="2800"/>
            </a:pPr>
            <a:r>
              <a:t> Find the value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t> of the Cumulative Distribution   		 Function (CDF) such that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F(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 = y</a:t>
            </a:r>
            <a:r>
              <a:t>. (i.e.,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= F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)</a:t>
            </a:r>
          </a:p>
          <a:p>
            <a:pPr marL="342900" indent="-342900">
              <a:buSzPct val="100000"/>
              <a:buAutoNum type="arabicPeriod"/>
              <a:defRPr sz="2800"/>
            </a:pPr>
            <a:r>
              <a:t>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t> is a sample from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.</a:t>
            </a:r>
          </a:p>
        </p:txBody>
      </p:sp>
      <p:sp>
        <p:nvSpPr>
          <p:cNvPr id="170" name="Rectangle 2"/>
          <p:cNvSpPr txBox="1"/>
          <p:nvPr/>
        </p:nvSpPr>
        <p:spPr>
          <a:xfrm>
            <a:off x="4653503" y="3244333"/>
            <a:ext cx="1978333" cy="494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 b="1"/>
            </a:pPr>
            <a:r>
              <a:t>CDF</a:t>
            </a:r>
            <a:r>
              <a:rPr b="0"/>
              <a:t>:    </a:t>
            </a:r>
            <a:r>
              <a:rPr b="0">
                <a:latin typeface="Times New Roman"/>
                <a:ea typeface="Times New Roman"/>
                <a:cs typeface="Times New Roman"/>
                <a:sym typeface="Times New Roman"/>
              </a:rPr>
              <a:t>F(</a:t>
            </a:r>
            <a:r>
              <a:rPr b="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>
                <a:latin typeface="Times New Roman"/>
                <a:ea typeface="Times New Roman"/>
                <a:cs typeface="Times New Roman"/>
                <a:sym typeface="Times New Roman"/>
              </a:rPr>
              <a:t>) 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Equation"/>
              <p:cNvSpPr txBox="1"/>
              <p:nvPr/>
            </p:nvSpPr>
            <p:spPr>
              <a:xfrm>
                <a:off x="6758387" y="3078396"/>
                <a:ext cx="1251318" cy="8265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sz="2600"/>
              </a:p>
            </p:txBody>
          </p:sp>
        </mc:Choice>
        <mc:Fallback>
          <p:sp>
            <p:nvSpPr>
              <p:cNvPr id="17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387" y="3078396"/>
                <a:ext cx="1251318" cy="826591"/>
              </a:xfrm>
              <a:prstGeom prst="rect">
                <a:avLst/>
              </a:prstGeom>
              <a:blipFill>
                <a:blip r:embed="rId3"/>
                <a:stretch>
                  <a:fillRect r="-1512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1" animBg="1" advAuto="0"/>
      <p:bldP spid="167" grpId="3" animBg="1" advAuto="0"/>
      <p:bldP spid="168" grpId="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>
            <a:spLocks noGrp="1"/>
          </p:cNvSpPr>
          <p:nvPr>
            <p:ph type="title"/>
          </p:nvPr>
        </p:nvSpPr>
        <p:spPr>
          <a:xfrm>
            <a:off x="425065" y="1357364"/>
            <a:ext cx="8229601" cy="1143001"/>
          </a:xfrm>
          <a:prstGeom prst="rect">
            <a:avLst/>
          </a:prstGeom>
        </p:spPr>
        <p:txBody>
          <a:bodyPr/>
          <a:lstStyle>
            <a:lvl1pPr defTabSz="443484">
              <a:defRPr sz="3783"/>
            </a:lvl1pPr>
          </a:lstStyle>
          <a:p>
            <a:r>
              <a:t>Example sampling via inverse cumulative distribution function (CDF)</a:t>
            </a:r>
          </a:p>
        </p:txBody>
      </p:sp>
      <p:sp>
        <p:nvSpPr>
          <p:cNvPr id="17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25065" y="2457400"/>
            <a:ext cx="8229601" cy="491289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How to sample </a:t>
            </a:r>
            <a:r>
              <a:rPr b="1"/>
              <a:t>Exponential</a:t>
            </a:r>
            <a:r>
              <a:t> random variables?</a:t>
            </a:r>
          </a:p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</a:pPr>
            <a:r>
              <a:t>Inverse CDF Method works well for this!</a:t>
            </a:r>
          </a:p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</a:pPr>
            <a:r>
              <a:t>Is this better than importance sampling?</a:t>
            </a:r>
          </a:p>
          <a:p>
            <a:pPr marL="0" indent="0">
              <a:buSzTx/>
              <a:buNone/>
            </a:pPr>
            <a:r>
              <a:t>	Why yes or why not?</a:t>
            </a:r>
          </a:p>
        </p:txBody>
      </p:sp>
      <p:pic>
        <p:nvPicPr>
          <p:cNvPr id="17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2" y="3298914"/>
            <a:ext cx="8823160" cy="650699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Rectangle 4"/>
          <p:cNvSpPr/>
          <p:nvPr/>
        </p:nvSpPr>
        <p:spPr>
          <a:xfrm>
            <a:off x="36896" y="3631382"/>
            <a:ext cx="8085222" cy="593559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77" name="Rectangle 5"/>
          <p:cNvSpPr/>
          <p:nvPr/>
        </p:nvSpPr>
        <p:spPr>
          <a:xfrm>
            <a:off x="1079633" y="4752925"/>
            <a:ext cx="5999748" cy="593559"/>
          </a:xfrm>
          <a:prstGeom prst="rect">
            <a:avLst/>
          </a:prstGeom>
          <a:gradFill>
            <a:gsLst>
              <a:gs pos="0">
                <a:srgbClr val="39B7D8"/>
              </a:gs>
              <a:gs pos="100000">
                <a:schemeClr val="accent5">
                  <a:hueOff val="2571102"/>
                  <a:satOff val="37997"/>
                  <a:lumOff val="-3286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8" name="Rectangle 6"/>
          <p:cNvSpPr/>
          <p:nvPr/>
        </p:nvSpPr>
        <p:spPr>
          <a:xfrm>
            <a:off x="3112118" y="3131374"/>
            <a:ext cx="5999748" cy="593559"/>
          </a:xfrm>
          <a:prstGeom prst="rect">
            <a:avLst/>
          </a:prstGeom>
          <a:solidFill>
            <a:schemeClr val="accent6">
              <a:lumOff val="1892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E38E"/>
                </a:solidFill>
              </a:defRPr>
            </a:pPr>
            <a:endParaRPr/>
          </a:p>
        </p:txBody>
      </p:sp>
      <p:sp>
        <p:nvSpPr>
          <p:cNvPr id="179" name="Rectangle 1026"/>
          <p:cNvSpPr txBox="1"/>
          <p:nvPr/>
        </p:nvSpPr>
        <p:spPr>
          <a:xfrm>
            <a:off x="228600" y="13022"/>
            <a:ext cx="8610600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pPr algn="ctr" defTabSz="361188">
              <a:defRPr sz="3476"/>
            </a:pPr>
            <a:r>
              <a:rPr b="1"/>
              <a:t>Basic Sampling: </a:t>
            </a:r>
            <a:r>
              <a:t>Inverse cumulative distribution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5" build="p" bldLvl="5" animBg="1" advAuto="0"/>
      <p:bldP spid="175" grpId="1" animBg="1" advAuto="0"/>
      <p:bldP spid="176" grpId="3" animBg="1" advAuto="0"/>
      <p:bldP spid="177" grpId="4" animBg="1" advAuto="0"/>
      <p:bldP spid="178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026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610600" cy="1143000"/>
          </a:xfrm>
          <a:prstGeom prst="rect">
            <a:avLst/>
          </a:prstGeom>
        </p:spPr>
        <p:txBody>
          <a:bodyPr/>
          <a:lstStyle/>
          <a:p>
            <a:r>
              <a:rPr b="1"/>
              <a:t>Basic Sampling: </a:t>
            </a:r>
            <a:r>
              <a:t>Rejection sampling</a:t>
            </a:r>
          </a:p>
        </p:txBody>
      </p:sp>
      <p:pic>
        <p:nvPicPr>
          <p:cNvPr id="182" name="Picture 1029" descr="Picture 10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209800"/>
            <a:ext cx="8686800" cy="3429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Oval 1030"/>
          <p:cNvSpPr/>
          <p:nvPr/>
        </p:nvSpPr>
        <p:spPr>
          <a:xfrm>
            <a:off x="2209800" y="32766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4" name="Oval 1031"/>
          <p:cNvSpPr/>
          <p:nvPr/>
        </p:nvSpPr>
        <p:spPr>
          <a:xfrm>
            <a:off x="2667000" y="41148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5" name="Oval 1032"/>
          <p:cNvSpPr/>
          <p:nvPr/>
        </p:nvSpPr>
        <p:spPr>
          <a:xfrm>
            <a:off x="3429000" y="28956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6" name="Oval 1033"/>
          <p:cNvSpPr/>
          <p:nvPr/>
        </p:nvSpPr>
        <p:spPr>
          <a:xfrm>
            <a:off x="5943600" y="35814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7" name="Oval 1034"/>
          <p:cNvSpPr/>
          <p:nvPr/>
        </p:nvSpPr>
        <p:spPr>
          <a:xfrm>
            <a:off x="4191000" y="41148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8" name="Oval 1035"/>
          <p:cNvSpPr/>
          <p:nvPr/>
        </p:nvSpPr>
        <p:spPr>
          <a:xfrm>
            <a:off x="5334000" y="44958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9" name="Oval 1036"/>
          <p:cNvSpPr/>
          <p:nvPr/>
        </p:nvSpPr>
        <p:spPr>
          <a:xfrm>
            <a:off x="1676400" y="48006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0" name="Oval 1037"/>
          <p:cNvSpPr/>
          <p:nvPr/>
        </p:nvSpPr>
        <p:spPr>
          <a:xfrm>
            <a:off x="7391400" y="27432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1" name="Oval 1038"/>
          <p:cNvSpPr/>
          <p:nvPr/>
        </p:nvSpPr>
        <p:spPr>
          <a:xfrm>
            <a:off x="4876800" y="35814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2" name="Text Box 1040"/>
          <p:cNvSpPr txBox="1"/>
          <p:nvPr/>
        </p:nvSpPr>
        <p:spPr>
          <a:xfrm>
            <a:off x="5097145" y="2667000"/>
            <a:ext cx="1029336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1600"/>
              </a:spcBef>
              <a:defRPr sz="2800" i="1"/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  <p:grpSp>
        <p:nvGrpSpPr>
          <p:cNvPr id="211" name="Group 4"/>
          <p:cNvGrpSpPr/>
          <p:nvPr/>
        </p:nvGrpSpPr>
        <p:grpSpPr>
          <a:xfrm>
            <a:off x="1562880" y="2625402"/>
            <a:ext cx="6108094" cy="2445395"/>
            <a:chOff x="0" y="0"/>
            <a:chExt cx="6108092" cy="2445394"/>
          </a:xfrm>
        </p:grpSpPr>
        <p:grpSp>
          <p:nvGrpSpPr>
            <p:cNvPr id="195" name="Group 3"/>
            <p:cNvGrpSpPr/>
            <p:nvPr/>
          </p:nvGrpSpPr>
          <p:grpSpPr>
            <a:xfrm>
              <a:off x="517549" y="519744"/>
              <a:ext cx="395288" cy="395288"/>
              <a:chOff x="0" y="0"/>
              <a:chExt cx="395287" cy="395286"/>
            </a:xfrm>
          </p:grpSpPr>
          <p:sp>
            <p:nvSpPr>
              <p:cNvPr id="193" name="Straight Connector 2"/>
              <p:cNvSpPr/>
              <p:nvPr/>
            </p:nvSpPr>
            <p:spPr>
              <a:xfrm flipH="1">
                <a:off x="0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4" name="Straight Connector 15"/>
              <p:cNvSpPr/>
              <p:nvPr/>
            </p:nvSpPr>
            <p:spPr>
              <a:xfrm>
                <a:off x="-1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98" name="Group 17"/>
            <p:cNvGrpSpPr/>
            <p:nvPr/>
          </p:nvGrpSpPr>
          <p:grpSpPr>
            <a:xfrm>
              <a:off x="1736749" y="149010"/>
              <a:ext cx="395289" cy="395288"/>
              <a:chOff x="0" y="0"/>
              <a:chExt cx="395287" cy="395286"/>
            </a:xfrm>
          </p:grpSpPr>
          <p:sp>
            <p:nvSpPr>
              <p:cNvPr id="196" name="Straight Connector 18"/>
              <p:cNvSpPr/>
              <p:nvPr/>
            </p:nvSpPr>
            <p:spPr>
              <a:xfrm flipH="1">
                <a:off x="0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7" name="Straight Connector 19"/>
              <p:cNvSpPr/>
              <p:nvPr/>
            </p:nvSpPr>
            <p:spPr>
              <a:xfrm>
                <a:off x="-1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01" name="Group 20"/>
            <p:cNvGrpSpPr/>
            <p:nvPr/>
          </p:nvGrpSpPr>
          <p:grpSpPr>
            <a:xfrm>
              <a:off x="975415" y="1375877"/>
              <a:ext cx="395288" cy="395288"/>
              <a:chOff x="0" y="0"/>
              <a:chExt cx="395287" cy="395286"/>
            </a:xfrm>
          </p:grpSpPr>
          <p:sp>
            <p:nvSpPr>
              <p:cNvPr id="199" name="Straight Connector 21"/>
              <p:cNvSpPr/>
              <p:nvPr/>
            </p:nvSpPr>
            <p:spPr>
              <a:xfrm flipH="1">
                <a:off x="0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0" name="Straight Connector 22"/>
              <p:cNvSpPr/>
              <p:nvPr/>
            </p:nvSpPr>
            <p:spPr>
              <a:xfrm>
                <a:off x="-1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04" name="Group 23"/>
            <p:cNvGrpSpPr/>
            <p:nvPr/>
          </p:nvGrpSpPr>
          <p:grpSpPr>
            <a:xfrm>
              <a:off x="-1" y="2050107"/>
              <a:ext cx="395288" cy="395288"/>
              <a:chOff x="0" y="0"/>
              <a:chExt cx="395287" cy="395286"/>
            </a:xfrm>
          </p:grpSpPr>
          <p:sp>
            <p:nvSpPr>
              <p:cNvPr id="202" name="Straight Connector 24"/>
              <p:cNvSpPr/>
              <p:nvPr/>
            </p:nvSpPr>
            <p:spPr>
              <a:xfrm flipH="1">
                <a:off x="0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3" name="Straight Connector 25"/>
              <p:cNvSpPr/>
              <p:nvPr/>
            </p:nvSpPr>
            <p:spPr>
              <a:xfrm>
                <a:off x="-1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07" name="Group 26"/>
            <p:cNvGrpSpPr/>
            <p:nvPr/>
          </p:nvGrpSpPr>
          <p:grpSpPr>
            <a:xfrm>
              <a:off x="4260443" y="835862"/>
              <a:ext cx="395288" cy="395288"/>
              <a:chOff x="0" y="0"/>
              <a:chExt cx="395287" cy="395286"/>
            </a:xfrm>
          </p:grpSpPr>
          <p:sp>
            <p:nvSpPr>
              <p:cNvPr id="205" name="Straight Connector 27"/>
              <p:cNvSpPr/>
              <p:nvPr/>
            </p:nvSpPr>
            <p:spPr>
              <a:xfrm flipH="1">
                <a:off x="0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6" name="Straight Connector 28"/>
              <p:cNvSpPr/>
              <p:nvPr/>
            </p:nvSpPr>
            <p:spPr>
              <a:xfrm>
                <a:off x="-1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10" name="Group 29"/>
            <p:cNvGrpSpPr/>
            <p:nvPr/>
          </p:nvGrpSpPr>
          <p:grpSpPr>
            <a:xfrm>
              <a:off x="5712805" y="-1"/>
              <a:ext cx="395288" cy="395288"/>
              <a:chOff x="0" y="0"/>
              <a:chExt cx="395287" cy="395286"/>
            </a:xfrm>
          </p:grpSpPr>
          <p:sp>
            <p:nvSpPr>
              <p:cNvPr id="208" name="Straight Connector 30"/>
              <p:cNvSpPr/>
              <p:nvPr/>
            </p:nvSpPr>
            <p:spPr>
              <a:xfrm flipH="1">
                <a:off x="0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9" name="Straight Connector 31"/>
              <p:cNvSpPr/>
              <p:nvPr/>
            </p:nvSpPr>
            <p:spPr>
              <a:xfrm>
                <a:off x="-1" y="-1"/>
                <a:ext cx="395288" cy="395288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8" animBg="1" advAuto="0"/>
      <p:bldP spid="184" grpId="6" animBg="1" advAuto="0"/>
      <p:bldP spid="185" grpId="9" animBg="1" advAuto="0"/>
      <p:bldP spid="186" grpId="7" animBg="1" advAuto="0"/>
      <p:bldP spid="187" grpId="1" animBg="1" advAuto="0"/>
      <p:bldP spid="188" grpId="3" animBg="1" advAuto="0"/>
      <p:bldP spid="189" grpId="2" animBg="1" advAuto="0"/>
      <p:bldP spid="190" grpId="5" animBg="1" advAuto="0"/>
      <p:bldP spid="191" grpId="4" animBg="1" advAuto="0"/>
      <p:bldP spid="211" grpId="1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hueOff val="506581"/>
            <a:satOff val="2204"/>
            <a:lumOff val="3617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Approximating Pi ( Monte Carlo integration ) | animation" descr="Approximating Pi ( Monte Carlo integration ) | animation"/>
          <p:cNvPicPr>
            <a:picLocks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857249"/>
            <a:ext cx="9144001" cy="514350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5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43484">
              <a:defRPr sz="3783"/>
            </a:pPr>
            <a:r>
              <a:rPr b="1"/>
              <a:t>Basic Sampling:</a:t>
            </a:r>
            <a:r>
              <a:t> Calculating Pi with Rejection Sampling</a:t>
            </a:r>
          </a:p>
        </p:txBody>
      </p:sp>
      <p:pic>
        <p:nvPicPr>
          <p:cNvPr id="216" name="Ink 40" descr="Ink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621" y="1259782"/>
            <a:ext cx="3691798" cy="239652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TextBox 41"/>
              <p:cNvSpPr txBox="1"/>
              <p:nvPr/>
            </p:nvSpPr>
            <p:spPr>
              <a:xfrm>
                <a:off x="502919" y="3811011"/>
                <a:ext cx="7985761" cy="27332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>
                  <a:defRPr sz="2400"/>
                </a:pPr>
                <a:r>
                  <a:t>Area is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t>. If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t> is 1, then area of circle is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t>.</a:t>
                </a:r>
              </a:p>
              <a:p>
                <a:pPr>
                  <a:defRPr sz="2400"/>
                </a:pPr>
                <a:r>
                  <a:t>Sample X, Y ~ Uniform[0,1] 						</a:t>
                </a:r>
                <a:r>
                  <a:rPr i="1"/>
                  <a:t>T</a:t>
                </a:r>
                <a:r>
                  <a:t> times</a:t>
                </a:r>
              </a:p>
              <a:p>
                <a:pPr>
                  <a:defRPr sz="2400"/>
                </a:pPr>
                <a:endParaRPr/>
              </a:p>
              <a:p>
                <a:pPr>
                  <a:defRPr sz="2400"/>
                </a:pPr>
                <a:r>
                  <a:t>What proportion of X&amp;Y fall within circle?</a:t>
                </a:r>
              </a:p>
              <a:p>
                <a:pPr>
                  <a:defRPr sz="2400"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m:rPr>
                          <m:nor/>
                        </m:rP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/>
              </a:p>
              <a:p>
                <a:pPr>
                  <a:defRPr sz="2400"/>
                </a:pPr>
                <a:r>
                  <a:t>1/4</a:t>
                </a:r>
                <a:r>
                  <a:rPr baseline="30000"/>
                  <a:t>th</a:t>
                </a:r>
                <a:r>
                  <a:t> area of circle,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t> estimate is 4 times this proportion</a:t>
                </a:r>
                <a:endParaRPr sz="2264"/>
              </a:p>
            </p:txBody>
          </p:sp>
        </mc:Choice>
        <mc:Fallback>
          <p:sp>
            <p:nvSpPr>
              <p:cNvPr id="217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" y="3811011"/>
                <a:ext cx="7985761" cy="2733225"/>
              </a:xfrm>
              <a:prstGeom prst="rect">
                <a:avLst/>
              </a:prstGeom>
              <a:blipFill>
                <a:blip r:embed="rId3"/>
                <a:stretch>
                  <a:fillRect l="-1678" t="-1782" b="-22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1" build="p" bldLvl="5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2"/>
          <p:cNvSpPr txBox="1">
            <a:spLocks noGrp="1"/>
          </p:cNvSpPr>
          <p:nvPr>
            <p:ph type="title"/>
          </p:nvPr>
        </p:nvSpPr>
        <p:spPr>
          <a:xfrm>
            <a:off x="76200" y="13510"/>
            <a:ext cx="8991600" cy="1225616"/>
          </a:xfrm>
          <a:prstGeom prst="rect">
            <a:avLst/>
          </a:prstGeom>
        </p:spPr>
        <p:txBody>
          <a:bodyPr/>
          <a:lstStyle/>
          <a:p>
            <a:pPr defTabSz="420623">
              <a:defRPr sz="4048"/>
            </a:pPr>
            <a:r>
              <a:rPr b="1"/>
              <a:t>Basic Sampling: </a:t>
            </a:r>
            <a:br>
              <a:rPr b="1"/>
            </a:br>
            <a:r>
              <a:t>Rejection sampling of the posterior</a:t>
            </a:r>
          </a:p>
        </p:txBody>
      </p:sp>
      <p:sp>
        <p:nvSpPr>
          <p:cNvPr id="220" name="Rectangle 3"/>
          <p:cNvSpPr txBox="1">
            <a:spLocks noGrp="1"/>
          </p:cNvSpPr>
          <p:nvPr>
            <p:ph type="body" idx="1"/>
          </p:nvPr>
        </p:nvSpPr>
        <p:spPr>
          <a:xfrm>
            <a:off x="173961" y="1912159"/>
            <a:ext cx="8796078" cy="3080233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None/>
            </a:pPr>
            <a:r>
              <a:t>Generate samples of all variables following the generative process in the model. </a:t>
            </a:r>
          </a:p>
          <a:p>
            <a:pPr marL="0" indent="0">
              <a:lnSpc>
                <a:spcPct val="90000"/>
              </a:lnSpc>
              <a:buSzTx/>
              <a:buNone/>
            </a:pPr>
            <a:r>
              <a:t>	This follows the joint distribution.</a:t>
            </a:r>
          </a:p>
          <a:p>
            <a:pPr marL="0" indent="0">
              <a:lnSpc>
                <a:spcPct val="90000"/>
              </a:lnSpc>
              <a:buSzTx/>
              <a:buNone/>
            </a:pPr>
            <a:endParaRPr/>
          </a:p>
          <a:p>
            <a:pPr marL="0" indent="0">
              <a:lnSpc>
                <a:spcPct val="90000"/>
              </a:lnSpc>
              <a:buSzTx/>
              <a:buNone/>
            </a:pPr>
            <a:r>
              <a:t>Reject all samples that do not match the observed data.</a:t>
            </a:r>
          </a:p>
        </p:txBody>
      </p:sp>
      <p:grpSp>
        <p:nvGrpSpPr>
          <p:cNvPr id="224" name="Group 4"/>
          <p:cNvGrpSpPr/>
          <p:nvPr/>
        </p:nvGrpSpPr>
        <p:grpSpPr>
          <a:xfrm>
            <a:off x="3602336" y="5271112"/>
            <a:ext cx="2590801" cy="685801"/>
            <a:chOff x="0" y="0"/>
            <a:chExt cx="2590800" cy="685800"/>
          </a:xfrm>
        </p:grpSpPr>
        <p:sp>
          <p:nvSpPr>
            <p:cNvPr id="221" name="Line 5"/>
            <p:cNvSpPr/>
            <p:nvPr/>
          </p:nvSpPr>
          <p:spPr>
            <a:xfrm>
              <a:off x="-1" y="0"/>
              <a:ext cx="609602" cy="68580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Line 6"/>
            <p:cNvSpPr/>
            <p:nvPr/>
          </p:nvSpPr>
          <p:spPr>
            <a:xfrm>
              <a:off x="1981200" y="0"/>
              <a:ext cx="609601" cy="68580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Line 7"/>
            <p:cNvSpPr/>
            <p:nvPr/>
          </p:nvSpPr>
          <p:spPr>
            <a:xfrm flipH="1">
              <a:off x="1066799" y="-1"/>
              <a:ext cx="609601" cy="6858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25" name="Oval 8"/>
          <p:cNvSpPr/>
          <p:nvPr/>
        </p:nvSpPr>
        <p:spPr>
          <a:xfrm>
            <a:off x="4135736" y="5880712"/>
            <a:ext cx="609601" cy="609601"/>
          </a:xfrm>
          <a:prstGeom prst="ellipse">
            <a:avLst/>
          </a:prstGeom>
          <a:solidFill>
            <a:srgbClr val="A6A6A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6" name="Text Box 9"/>
          <p:cNvSpPr txBox="1"/>
          <p:nvPr/>
        </p:nvSpPr>
        <p:spPr>
          <a:xfrm>
            <a:off x="4275895" y="5956912"/>
            <a:ext cx="343569" cy="438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200" i="1"/>
            </a:pPr>
            <a:r>
              <a:t>X</a:t>
            </a:r>
            <a:r>
              <a:rPr i="0" baseline="-25000"/>
              <a:t>1</a:t>
            </a:r>
          </a:p>
        </p:txBody>
      </p:sp>
      <p:sp>
        <p:nvSpPr>
          <p:cNvPr id="227" name="Oval 10"/>
          <p:cNvSpPr/>
          <p:nvPr/>
        </p:nvSpPr>
        <p:spPr>
          <a:xfrm>
            <a:off x="6116936" y="5880712"/>
            <a:ext cx="609601" cy="60960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8" name="Text Box 11"/>
          <p:cNvSpPr txBox="1"/>
          <p:nvPr/>
        </p:nvSpPr>
        <p:spPr>
          <a:xfrm>
            <a:off x="6257095" y="5956912"/>
            <a:ext cx="343569" cy="438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200" i="1"/>
            </a:pPr>
            <a:r>
              <a:t>X</a:t>
            </a:r>
            <a:r>
              <a:rPr i="0" baseline="-25000"/>
              <a:t>2</a:t>
            </a:r>
          </a:p>
        </p:txBody>
      </p:sp>
      <p:sp>
        <p:nvSpPr>
          <p:cNvPr id="229" name="Oval 12"/>
          <p:cNvSpPr/>
          <p:nvPr/>
        </p:nvSpPr>
        <p:spPr>
          <a:xfrm>
            <a:off x="5126336" y="4737712"/>
            <a:ext cx="609601" cy="60960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0" name="Text Box 13"/>
          <p:cNvSpPr txBox="1"/>
          <p:nvPr/>
        </p:nvSpPr>
        <p:spPr>
          <a:xfrm>
            <a:off x="5266495" y="4813912"/>
            <a:ext cx="343569" cy="438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200" i="1"/>
            </a:pPr>
            <a:r>
              <a:t>X</a:t>
            </a:r>
            <a:r>
              <a:rPr i="0" baseline="-25000"/>
              <a:t>3</a:t>
            </a:r>
          </a:p>
        </p:txBody>
      </p:sp>
      <p:sp>
        <p:nvSpPr>
          <p:cNvPr id="231" name="Oval 14"/>
          <p:cNvSpPr/>
          <p:nvPr/>
        </p:nvSpPr>
        <p:spPr>
          <a:xfrm>
            <a:off x="3145136" y="4737712"/>
            <a:ext cx="609601" cy="60960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2" name="Text Box 15"/>
          <p:cNvSpPr txBox="1"/>
          <p:nvPr/>
        </p:nvSpPr>
        <p:spPr>
          <a:xfrm>
            <a:off x="3285296" y="4813912"/>
            <a:ext cx="343568" cy="438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200" i="1"/>
            </a:pPr>
            <a:r>
              <a:t>X</a:t>
            </a:r>
            <a:r>
              <a:rPr i="0" baseline="-25000"/>
              <a:t>4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hueOff val="-7295994"/>
            <a:satOff val="72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620130"/>
            <a:ext cx="8229600" cy="6128779"/>
          </a:xfrm>
          <a:prstGeom prst="rect">
            <a:avLst/>
          </a:prstGeom>
        </p:spPr>
        <p:txBody>
          <a:bodyPr/>
          <a:lstStyle/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endParaRPr/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Administrative Matters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</a:t>
            </a:r>
            <a:r>
              <a:rPr b="1"/>
              <a:t> </a:t>
            </a:r>
            <a:r>
              <a:t>Why Approximate? (Background / Review)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Monte Carlo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Basic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</a:t>
            </a:r>
            <a:r>
              <a:rPr b="1"/>
              <a:t>Importance sampling</a:t>
            </a:r>
          </a:p>
          <a:p>
            <a:pPr marL="0" lvl="3" indent="630936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Sequential importance sampling 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		(aka particle filtering)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1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- Markov Chain Monte Carlo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 i="1" u="sng"/>
            </a:pPr>
            <a:r>
              <a:rPr u="none"/>
              <a:t>   </a:t>
            </a:r>
            <a:r>
              <a:t>Short rest 2</a:t>
            </a:r>
          </a:p>
          <a:p>
            <a:pPr marL="0" indent="0" defTabSz="841247">
              <a:spcBef>
                <a:spcPts val="0"/>
              </a:spcBef>
              <a:buSzTx/>
              <a:buFontTx/>
              <a:buNone/>
              <a:defRPr sz="2944"/>
            </a:pPr>
            <a:r>
              <a:t>Two student presentations: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Vul et al 2009 by Martin</a:t>
            </a:r>
          </a:p>
          <a:p>
            <a:pPr marL="0" lvl="1" indent="210311" defTabSz="841247">
              <a:spcBef>
                <a:spcPts val="0"/>
              </a:spcBef>
              <a:buSzTx/>
              <a:buFontTx/>
              <a:buNone/>
              <a:defRPr sz="2576"/>
            </a:pPr>
            <a:r>
              <a:t>Sanborn &amp; Griffiths 2007 by Anirudh</a:t>
            </a:r>
          </a:p>
        </p:txBody>
      </p:sp>
      <p:sp>
        <p:nvSpPr>
          <p:cNvPr id="237" name="Timeline"/>
          <p:cNvSpPr txBox="1">
            <a:spLocks noGrp="1"/>
          </p:cNvSpPr>
          <p:nvPr>
            <p:ph type="title"/>
          </p:nvPr>
        </p:nvSpPr>
        <p:spPr>
          <a:xfrm>
            <a:off x="62887" y="179531"/>
            <a:ext cx="8229601" cy="689459"/>
          </a:xfrm>
          <a:prstGeom prst="rect">
            <a:avLst/>
          </a:prstGeom>
        </p:spPr>
        <p:txBody>
          <a:bodyPr/>
          <a:lstStyle>
            <a:lvl1pPr>
              <a:defRPr sz="3900" b="1"/>
            </a:lvl1pPr>
          </a:lstStyle>
          <a:p>
            <a:r>
              <a:t>Timeline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2"/>
          <p:cNvSpPr txBox="1">
            <a:spLocks noGrp="1"/>
          </p:cNvSpPr>
          <p:nvPr>
            <p:ph type="title"/>
          </p:nvPr>
        </p:nvSpPr>
        <p:spPr>
          <a:xfrm>
            <a:off x="685800" y="13229"/>
            <a:ext cx="7772400" cy="832965"/>
          </a:xfrm>
          <a:prstGeom prst="rect">
            <a:avLst/>
          </a:prstGeom>
        </p:spPr>
        <p:txBody>
          <a:bodyPr/>
          <a:lstStyle/>
          <a:p>
            <a:r>
              <a:t>Importance sampling</a:t>
            </a:r>
          </a:p>
        </p:txBody>
      </p:sp>
      <p:sp>
        <p:nvSpPr>
          <p:cNvPr id="240" name="Rectangle 3"/>
          <p:cNvSpPr txBox="1">
            <a:spLocks noGrp="1"/>
          </p:cNvSpPr>
          <p:nvPr>
            <p:ph type="body" idx="1"/>
          </p:nvPr>
        </p:nvSpPr>
        <p:spPr>
          <a:xfrm>
            <a:off x="228600" y="1137763"/>
            <a:ext cx="8763000" cy="5543289"/>
          </a:xfrm>
          <a:prstGeom prst="rect">
            <a:avLst/>
          </a:prstGeom>
        </p:spPr>
        <p:txBody>
          <a:bodyPr/>
          <a:lstStyle/>
          <a:p>
            <a:pPr marL="0" indent="0" defTabSz="425195">
              <a:lnSpc>
                <a:spcPct val="90000"/>
              </a:lnSpc>
              <a:buSzTx/>
              <a:buNone/>
              <a:defRPr sz="2976"/>
            </a:pPr>
            <a:r>
              <a:t>A general scheme for sampling from complex distributions that have simpler relatives.</a:t>
            </a:r>
          </a:p>
          <a:p>
            <a:pPr marL="0" indent="0" defTabSz="425195">
              <a:lnSpc>
                <a:spcPct val="90000"/>
              </a:lnSpc>
              <a:buSzTx/>
              <a:buNone/>
              <a:defRPr sz="1488"/>
            </a:pPr>
            <a:endParaRPr/>
          </a:p>
          <a:p>
            <a:pPr marL="0" indent="0" defTabSz="425195">
              <a:lnSpc>
                <a:spcPct val="90000"/>
              </a:lnSpc>
              <a:buSzTx/>
              <a:buNone/>
              <a:defRPr sz="2976"/>
            </a:pPr>
            <a:r>
              <a:t>Simple methods for sampling from posterior distributions in some cases (easy to sample from prior, prior and posterior are close).</a:t>
            </a:r>
          </a:p>
          <a:p>
            <a:pPr marL="0" indent="0" defTabSz="425195">
              <a:lnSpc>
                <a:spcPct val="90000"/>
              </a:lnSpc>
              <a:buSzTx/>
              <a:buNone/>
              <a:defRPr sz="1488"/>
            </a:pPr>
            <a:endParaRPr/>
          </a:p>
          <a:p>
            <a:pPr marL="0" indent="0" defTabSz="425195">
              <a:lnSpc>
                <a:spcPct val="90000"/>
              </a:lnSpc>
              <a:buSzTx/>
              <a:buNone/>
              <a:defRPr sz="2976"/>
            </a:pPr>
            <a:r>
              <a:t>Can be more efficient than simple Monte Carlo.</a:t>
            </a:r>
          </a:p>
          <a:p>
            <a:pPr marL="0" indent="0" defTabSz="425195">
              <a:lnSpc>
                <a:spcPct val="90000"/>
              </a:lnSpc>
              <a:buSzTx/>
              <a:buNone/>
              <a:defRPr sz="1488"/>
            </a:pPr>
            <a:endParaRPr/>
          </a:p>
          <a:p>
            <a:pPr marL="0" indent="0" defTabSz="425195">
              <a:lnSpc>
                <a:spcPct val="90000"/>
              </a:lnSpc>
              <a:buSzTx/>
              <a:buNone/>
              <a:defRPr sz="2976"/>
            </a:pPr>
            <a:r>
              <a:t>Links to exemplar models in psychology.</a:t>
            </a:r>
          </a:p>
          <a:p>
            <a:pPr marL="0" indent="0" defTabSz="425195">
              <a:lnSpc>
                <a:spcPct val="90000"/>
              </a:lnSpc>
              <a:buSzTx/>
              <a:buNone/>
              <a:defRPr sz="1488"/>
            </a:pPr>
            <a:endParaRPr/>
          </a:p>
          <a:p>
            <a:pPr marL="0" indent="0" defTabSz="425195">
              <a:lnSpc>
                <a:spcPct val="90000"/>
              </a:lnSpc>
              <a:buSzTx/>
              <a:buNone/>
              <a:defRPr sz="2976"/>
            </a:pPr>
            <a:r>
              <a:t>Also provides a solution to the question of how people can update beliefs as data come in…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1" build="p" bldLvl="5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3"/>
          <p:cNvSpPr txBox="1">
            <a:spLocks noGrp="1"/>
          </p:cNvSpPr>
          <p:nvPr>
            <p:ph type="body" sz="half" idx="1"/>
          </p:nvPr>
        </p:nvSpPr>
        <p:spPr>
          <a:xfrm>
            <a:off x="76199" y="987419"/>
            <a:ext cx="8892528" cy="161885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b="1"/>
            </a:pPr>
            <a:r>
              <a:t>Basic idea:</a:t>
            </a:r>
            <a:r>
              <a:rPr b="0"/>
              <a:t> </a:t>
            </a:r>
          </a:p>
          <a:p>
            <a:pPr marL="0" indent="0">
              <a:spcBef>
                <a:spcPts val="0"/>
              </a:spcBef>
              <a:buSzTx/>
              <a:buNone/>
            </a:pPr>
            <a:r>
              <a:t>		1. generate from the wrong distribution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t>.* </a:t>
            </a:r>
          </a:p>
          <a:p>
            <a:pPr marL="0" indent="0">
              <a:spcBef>
                <a:spcPts val="0"/>
              </a:spcBef>
              <a:buSzTx/>
              <a:buNone/>
            </a:pPr>
            <a:r>
              <a:t>		2. assign weights to samples to correct for this.</a:t>
            </a:r>
          </a:p>
        </p:txBody>
      </p:sp>
      <p:sp>
        <p:nvSpPr>
          <p:cNvPr id="244" name="Rectangle 2"/>
          <p:cNvSpPr txBox="1">
            <a:spLocks noGrp="1"/>
          </p:cNvSpPr>
          <p:nvPr>
            <p:ph type="title"/>
          </p:nvPr>
        </p:nvSpPr>
        <p:spPr>
          <a:xfrm>
            <a:off x="1371600" y="-62971"/>
            <a:ext cx="7772400" cy="832965"/>
          </a:xfrm>
          <a:prstGeom prst="rect">
            <a:avLst/>
          </a:prstGeom>
        </p:spPr>
        <p:txBody>
          <a:bodyPr/>
          <a:lstStyle/>
          <a:p>
            <a:r>
              <a:t>Importance sampling</a:t>
            </a:r>
          </a:p>
        </p:txBody>
      </p:sp>
      <p:pic>
        <p:nvPicPr>
          <p:cNvPr id="245" name="AGV_vUd5TEUkInzSQ7DWbq7qWg4LjO7i44ipvReLaFpxr0iTHF1P8VibdD_FE_1DVswLY6JdmFavgivNPZxocaHeb6k5X1heVMZ6hPTh3xgBa-4sVwHDhDwnwKbh2JCEajU2lsn5O_D3sfj1ucAULbnLpg=nw.png" descr="AGV_vUd5TEUkInzSQ7DWbq7qWg4LjO7i44ipvReLaFpxr0iTHF1P8VibdD_FE_1DVswLY6JdmFavgivNPZxocaHeb6k5X1heVMZ6hPTh3xgBa-4sVwHDhDwnwKbh2JCEajU2lsn5O_D3sfj1ucAULbnLpg=n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266" y="4955515"/>
            <a:ext cx="4760762" cy="10086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AGV_vUdOartlgV5nZX7SQOxoh7YxWUZt1ckKb4dPJtkHxh9vsddcLMC68ZGWHEJyTyaK56EXTbbwcaIYvuCiB4tvKZ6gn9XgfLtXyR6kjT3TXYJeVGEaOo2EtL0b2-kIHS5rQabPrfWKYUVSGzH58ojmqQ=nw.png" descr="AGV_vUdOartlgV5nZX7SQOxoh7YxWUZt1ckKb4dPJtkHxh9vsddcLMC68ZGWHEJyTyaK56EXTbbwcaIYvuCiB4tvKZ6gn9XgfLtXyR6kjT3TXYJeVGEaOo2EtL0b2-kIHS5rQabPrfWKYUVSGzH58ojmqQ=n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233" y="3852538"/>
            <a:ext cx="2977534" cy="86906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AGV_vUeEDrRqDku8jgaUeV0tKimIjfdDUStctDzQmrTPVYUIn4y7ZjjpS60H50WygRYSukFd3n-wqoGR784NxBpuj4YqhR7wRjuz3vz0pYaYago5s0DR1UIponj3u0ANqR2rSDsMLoGg-SZgx6hJ7GzP_GQ=nw.png" descr="AGV_vUeEDrRqDku8jgaUeV0tKimIjfdDUStctDzQmrTPVYUIn4y7ZjjpS60H50WygRYSukFd3n-wqoGR784NxBpuj4YqhR7wRjuz3vz0pYaYago5s0DR1UIponj3u0ANqR2rSDsMLoGg-SZgx6hJ7GzP_GQ=n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" y="2823696"/>
            <a:ext cx="5482295" cy="7949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2"/>
          <p:cNvSpPr txBox="1">
            <a:spLocks noGrp="1"/>
          </p:cNvSpPr>
          <p:nvPr>
            <p:ph type="title"/>
          </p:nvPr>
        </p:nvSpPr>
        <p:spPr>
          <a:xfrm>
            <a:off x="685800" y="13229"/>
            <a:ext cx="7772400" cy="832965"/>
          </a:xfrm>
          <a:prstGeom prst="rect">
            <a:avLst/>
          </a:prstGeom>
        </p:spPr>
        <p:txBody>
          <a:bodyPr/>
          <a:lstStyle/>
          <a:p>
            <a:r>
              <a:t>Importance sampling</a:t>
            </a:r>
          </a:p>
        </p:txBody>
      </p:sp>
      <p:grpSp>
        <p:nvGrpSpPr>
          <p:cNvPr id="254" name="Group 1"/>
          <p:cNvGrpSpPr/>
          <p:nvPr/>
        </p:nvGrpSpPr>
        <p:grpSpPr>
          <a:xfrm>
            <a:off x="105825" y="2971800"/>
            <a:ext cx="8902587" cy="3722481"/>
            <a:chOff x="0" y="0"/>
            <a:chExt cx="8902585" cy="3722480"/>
          </a:xfrm>
        </p:grpSpPr>
        <p:sp>
          <p:nvSpPr>
            <p:cNvPr id="252" name="Text Box 5"/>
            <p:cNvSpPr txBox="1"/>
            <p:nvPr/>
          </p:nvSpPr>
          <p:spPr>
            <a:xfrm>
              <a:off x="320894" y="2965987"/>
              <a:ext cx="8232587" cy="4947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2800"/>
              </a:pPr>
              <a:r>
                <a:t>when </a:t>
              </a:r>
              <a:r>
                <a:rPr i="1"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t> is only known up to a multiplicative constant. </a:t>
              </a:r>
            </a:p>
          </p:txBody>
        </p:sp>
        <p:sp>
          <p:nvSpPr>
            <p:cNvPr id="253" name="Rectangle 3"/>
            <p:cNvSpPr/>
            <p:nvPr/>
          </p:nvSpPr>
          <p:spPr>
            <a:xfrm>
              <a:off x="-1" y="0"/>
              <a:ext cx="8902587" cy="372248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255" name="AGV_vUfywW-Qdtqzkdf9Ypmt51YuWvF8tGfLrqbk8pVtBkwoylwVEYRoqkNvMUefWur4IM3nu0Cp3rDD8n_U5J9z-wM5ti_3bb89ExNhGwcmhmMEjpdCKJz_XOMuRC9085HRxsOKWzXFpeyAdE-l254-WGE=nw.png" descr="AGV_vUfywW-Qdtqzkdf9Ypmt51YuWvF8tGfLrqbk8pVtBkwoylwVEYRoqkNvMUefWur4IM3nu0Cp3rDD8n_U5J9z-wM5ti_3bb89ExNhGwcmhmMEjpdCKJz_XOMuRC9085HRxsOKWzXFpeyAdE-l254-WGE=n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9" y="2971800"/>
            <a:ext cx="7925562" cy="2560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AGV_vUcue0-PzLeCgvtScPCRFCxJixoPJk7Iv966DP9tiqqQl7su3nj2OcLq4A5DTncomVpZ3DIVJt84IueK9EhTYAeL9S625ifgZ-yQ-kcH4fO1l34Wp-f81mp2PKcwFe1Vb8btFMmYzdy_mqIszFpAPw=nw.png" descr="AGV_vUcue0-PzLeCgvtScPCRFCxJixoPJk7Iv966DP9tiqqQl7su3nj2OcLq4A5DTncomVpZ3DIVJt84IueK9EhTYAeL9S625ifgZ-yQ-kcH4fO1l34Wp-f81mp2PKcwFe1Vb8btFMmYzdy_mqIszFpAPw=n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762" y="1393044"/>
            <a:ext cx="6630713" cy="1031905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when p(x) is only known up to a multiplicative constant."/>
          <p:cNvSpPr txBox="1"/>
          <p:nvPr/>
        </p:nvSpPr>
        <p:spPr>
          <a:xfrm>
            <a:off x="-14543682" y="1550090"/>
            <a:ext cx="6823962" cy="163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>
              <a:defRPr sz="3733">
                <a:latin typeface="+mj-lt"/>
                <a:ea typeface="+mj-ea"/>
                <a:cs typeface="+mj-cs"/>
                <a:sym typeface="Helvetica"/>
              </a:defRPr>
            </a:pPr>
            <a:r>
              <a:t>when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is only known up to a multiplicative constant. 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1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Line 3"/>
          <p:cNvSpPr/>
          <p:nvPr/>
        </p:nvSpPr>
        <p:spPr>
          <a:xfrm>
            <a:off x="952500" y="4405312"/>
            <a:ext cx="7108826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2" name="Freeform 4"/>
          <p:cNvSpPr/>
          <p:nvPr/>
        </p:nvSpPr>
        <p:spPr>
          <a:xfrm>
            <a:off x="987425" y="1951622"/>
            <a:ext cx="7056438" cy="2399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93" extrusionOk="0">
                <a:moveTo>
                  <a:pt x="0" y="19509"/>
                </a:moveTo>
                <a:cubicBezTo>
                  <a:pt x="709" y="20027"/>
                  <a:pt x="1424" y="20545"/>
                  <a:pt x="1837" y="19216"/>
                </a:cubicBezTo>
                <a:cubicBezTo>
                  <a:pt x="2250" y="17887"/>
                  <a:pt x="2177" y="12570"/>
                  <a:pt x="2483" y="11533"/>
                </a:cubicBezTo>
                <a:cubicBezTo>
                  <a:pt x="2789" y="10496"/>
                  <a:pt x="3368" y="11998"/>
                  <a:pt x="3674" y="13009"/>
                </a:cubicBezTo>
                <a:cubicBezTo>
                  <a:pt x="3980" y="14019"/>
                  <a:pt x="3980" y="18020"/>
                  <a:pt x="4320" y="17581"/>
                </a:cubicBezTo>
                <a:cubicBezTo>
                  <a:pt x="4660" y="17143"/>
                  <a:pt x="5345" y="12836"/>
                  <a:pt x="5724" y="10350"/>
                </a:cubicBezTo>
                <a:cubicBezTo>
                  <a:pt x="6103" y="7865"/>
                  <a:pt x="6303" y="2441"/>
                  <a:pt x="6589" y="2667"/>
                </a:cubicBezTo>
                <a:cubicBezTo>
                  <a:pt x="6876" y="2893"/>
                  <a:pt x="6944" y="9048"/>
                  <a:pt x="7454" y="11679"/>
                </a:cubicBezTo>
                <a:cubicBezTo>
                  <a:pt x="7965" y="14311"/>
                  <a:pt x="8956" y="18126"/>
                  <a:pt x="9665" y="18472"/>
                </a:cubicBezTo>
                <a:cubicBezTo>
                  <a:pt x="10375" y="18817"/>
                  <a:pt x="11181" y="15933"/>
                  <a:pt x="11721" y="13740"/>
                </a:cubicBezTo>
                <a:cubicBezTo>
                  <a:pt x="12260" y="11546"/>
                  <a:pt x="12367" y="6336"/>
                  <a:pt x="12907" y="5326"/>
                </a:cubicBezTo>
                <a:cubicBezTo>
                  <a:pt x="13446" y="4315"/>
                  <a:pt x="14316" y="6163"/>
                  <a:pt x="14957" y="7692"/>
                </a:cubicBezTo>
                <a:cubicBezTo>
                  <a:pt x="15599" y="9220"/>
                  <a:pt x="16191" y="13102"/>
                  <a:pt x="16741" y="14484"/>
                </a:cubicBezTo>
                <a:cubicBezTo>
                  <a:pt x="17290" y="15866"/>
                  <a:pt x="17873" y="18379"/>
                  <a:pt x="18252" y="15960"/>
                </a:cubicBezTo>
                <a:cubicBezTo>
                  <a:pt x="18631" y="13540"/>
                  <a:pt x="18801" y="-390"/>
                  <a:pt x="19010" y="9"/>
                </a:cubicBezTo>
                <a:cubicBezTo>
                  <a:pt x="19219" y="408"/>
                  <a:pt x="19229" y="15441"/>
                  <a:pt x="19496" y="18326"/>
                </a:cubicBezTo>
                <a:cubicBezTo>
                  <a:pt x="19763" y="21210"/>
                  <a:pt x="20278" y="16996"/>
                  <a:pt x="20628" y="17289"/>
                </a:cubicBezTo>
                <a:cubicBezTo>
                  <a:pt x="20978" y="17581"/>
                  <a:pt x="21289" y="18831"/>
                  <a:pt x="21600" y="20093"/>
                </a:cubicBezTo>
              </a:path>
            </a:pathLst>
          </a:custGeom>
          <a:ln>
            <a:solidFill>
              <a:schemeClr val="accent2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63" name="Text Box 5"/>
          <p:cNvSpPr txBox="1"/>
          <p:nvPr/>
        </p:nvSpPr>
        <p:spPr>
          <a:xfrm>
            <a:off x="7383197" y="1962150"/>
            <a:ext cx="45931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>
                <a:solidFill>
                  <a:schemeClr val="accent2"/>
                </a:solidFill>
              </a:defRPr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  <p:grpSp>
        <p:nvGrpSpPr>
          <p:cNvPr id="266" name="Group 6"/>
          <p:cNvGrpSpPr/>
          <p:nvPr/>
        </p:nvGrpSpPr>
        <p:grpSpPr>
          <a:xfrm>
            <a:off x="685799" y="1949449"/>
            <a:ext cx="7508876" cy="2376490"/>
            <a:chOff x="0" y="0"/>
            <a:chExt cx="7508875" cy="2376488"/>
          </a:xfrm>
        </p:grpSpPr>
        <p:sp>
          <p:nvSpPr>
            <p:cNvPr id="264" name="Freeform 7"/>
            <p:cNvSpPr/>
            <p:nvPr/>
          </p:nvSpPr>
          <p:spPr>
            <a:xfrm>
              <a:off x="-1" y="275403"/>
              <a:ext cx="7508876" cy="2101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1" extrusionOk="0">
                  <a:moveTo>
                    <a:pt x="0" y="21341"/>
                  </a:moveTo>
                  <a:cubicBezTo>
                    <a:pt x="1835" y="21341"/>
                    <a:pt x="3671" y="21341"/>
                    <a:pt x="5082" y="18880"/>
                  </a:cubicBezTo>
                  <a:cubicBezTo>
                    <a:pt x="6494" y="16419"/>
                    <a:pt x="7518" y="9721"/>
                    <a:pt x="8471" y="6576"/>
                  </a:cubicBezTo>
                  <a:cubicBezTo>
                    <a:pt x="9424" y="3432"/>
                    <a:pt x="9953" y="-259"/>
                    <a:pt x="10800" y="14"/>
                  </a:cubicBezTo>
                  <a:cubicBezTo>
                    <a:pt x="11647" y="288"/>
                    <a:pt x="12671" y="5209"/>
                    <a:pt x="13553" y="8217"/>
                  </a:cubicBezTo>
                  <a:cubicBezTo>
                    <a:pt x="14435" y="11225"/>
                    <a:pt x="14753" y="15873"/>
                    <a:pt x="16094" y="18060"/>
                  </a:cubicBezTo>
                  <a:cubicBezTo>
                    <a:pt x="17435" y="20247"/>
                    <a:pt x="20647" y="20794"/>
                    <a:pt x="21600" y="21341"/>
                  </a:cubicBezTo>
                </a:path>
              </a:pathLst>
            </a:custGeom>
            <a:noFill/>
            <a:ln w="9525" cap="flat">
              <a:solidFill>
                <a:srgbClr val="4A7EB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65" name="Text Box 8"/>
            <p:cNvSpPr txBox="1"/>
            <p:nvPr/>
          </p:nvSpPr>
          <p:spPr>
            <a:xfrm>
              <a:off x="4100601" y="-1"/>
              <a:ext cx="459320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i="1">
                  <a:solidFill>
                    <a:srgbClr val="4BACC6"/>
                  </a:solidFill>
                </a:defRPr>
              </a:pPr>
              <a:r>
                <a:t>q</a:t>
              </a:r>
              <a:r>
                <a:rPr i="0"/>
                <a:t>(</a:t>
              </a:r>
              <a:r>
                <a:t>x</a:t>
              </a:r>
              <a:r>
                <a:rPr i="0"/>
                <a:t>)</a:t>
              </a:r>
            </a:p>
          </p:txBody>
        </p:sp>
      </p:grpSp>
      <p:grpSp>
        <p:nvGrpSpPr>
          <p:cNvPr id="273" name="Group 9"/>
          <p:cNvGrpSpPr/>
          <p:nvPr/>
        </p:nvGrpSpPr>
        <p:grpSpPr>
          <a:xfrm>
            <a:off x="2895599" y="4395787"/>
            <a:ext cx="3733801" cy="100013"/>
            <a:chOff x="0" y="0"/>
            <a:chExt cx="3733800" cy="100012"/>
          </a:xfrm>
        </p:grpSpPr>
        <p:sp>
          <p:nvSpPr>
            <p:cNvPr id="267" name="Oval 10"/>
            <p:cNvSpPr/>
            <p:nvPr/>
          </p:nvSpPr>
          <p:spPr>
            <a:xfrm>
              <a:off x="761999" y="-1"/>
              <a:ext cx="74614" cy="100014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68" name="Oval 11"/>
            <p:cNvSpPr/>
            <p:nvPr/>
          </p:nvSpPr>
          <p:spPr>
            <a:xfrm>
              <a:off x="914399" y="-1"/>
              <a:ext cx="74614" cy="100014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69" name="Oval 12"/>
            <p:cNvSpPr/>
            <p:nvPr/>
          </p:nvSpPr>
          <p:spPr>
            <a:xfrm>
              <a:off x="-1" y="-1"/>
              <a:ext cx="74614" cy="100014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70" name="Oval 13"/>
            <p:cNvSpPr/>
            <p:nvPr/>
          </p:nvSpPr>
          <p:spPr>
            <a:xfrm>
              <a:off x="1523999" y="-1"/>
              <a:ext cx="74614" cy="100014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71" name="Oval 14"/>
            <p:cNvSpPr/>
            <p:nvPr/>
          </p:nvSpPr>
          <p:spPr>
            <a:xfrm>
              <a:off x="2438399" y="-1"/>
              <a:ext cx="74614" cy="100014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72" name="Oval 15"/>
            <p:cNvSpPr/>
            <p:nvPr/>
          </p:nvSpPr>
          <p:spPr>
            <a:xfrm>
              <a:off x="3657600" y="-1"/>
              <a:ext cx="76200" cy="100014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280" name="Group 16"/>
          <p:cNvGrpSpPr/>
          <p:nvPr/>
        </p:nvGrpSpPr>
        <p:grpSpPr>
          <a:xfrm>
            <a:off x="2895600" y="3481387"/>
            <a:ext cx="3733800" cy="914401"/>
            <a:chOff x="0" y="0"/>
            <a:chExt cx="3733800" cy="914400"/>
          </a:xfrm>
        </p:grpSpPr>
        <p:sp>
          <p:nvSpPr>
            <p:cNvPr id="274" name="Rectangle 17"/>
            <p:cNvSpPr/>
            <p:nvPr/>
          </p:nvSpPr>
          <p:spPr>
            <a:xfrm>
              <a:off x="0" y="0"/>
              <a:ext cx="76200" cy="914400"/>
            </a:xfrm>
            <a:prstGeom prst="rect">
              <a:avLst/>
            </a:prstGeom>
            <a:solidFill>
              <a:srgbClr val="EEECE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75" name="Rectangle 18"/>
            <p:cNvSpPr/>
            <p:nvPr/>
          </p:nvSpPr>
          <p:spPr>
            <a:xfrm>
              <a:off x="762000" y="633412"/>
              <a:ext cx="76200" cy="280988"/>
            </a:xfrm>
            <a:prstGeom prst="rect">
              <a:avLst/>
            </a:prstGeom>
            <a:solidFill>
              <a:srgbClr val="EEECE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76" name="Rectangle 19"/>
            <p:cNvSpPr/>
            <p:nvPr/>
          </p:nvSpPr>
          <p:spPr>
            <a:xfrm>
              <a:off x="914400" y="785812"/>
              <a:ext cx="76200" cy="128588"/>
            </a:xfrm>
            <a:prstGeom prst="rect">
              <a:avLst/>
            </a:prstGeom>
            <a:solidFill>
              <a:srgbClr val="EEECE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77" name="Rectangle 20"/>
            <p:cNvSpPr/>
            <p:nvPr/>
          </p:nvSpPr>
          <p:spPr>
            <a:xfrm>
              <a:off x="1524000" y="839787"/>
              <a:ext cx="76200" cy="74613"/>
            </a:xfrm>
            <a:prstGeom prst="rect">
              <a:avLst/>
            </a:prstGeom>
            <a:solidFill>
              <a:srgbClr val="EEECE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78" name="Rectangle 21"/>
            <p:cNvSpPr/>
            <p:nvPr/>
          </p:nvSpPr>
          <p:spPr>
            <a:xfrm>
              <a:off x="2438400" y="328612"/>
              <a:ext cx="76200" cy="585788"/>
            </a:xfrm>
            <a:prstGeom prst="rect">
              <a:avLst/>
            </a:prstGeom>
            <a:solidFill>
              <a:srgbClr val="EEECE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79" name="Rectangle 22"/>
            <p:cNvSpPr/>
            <p:nvPr/>
          </p:nvSpPr>
          <p:spPr>
            <a:xfrm>
              <a:off x="3657600" y="176212"/>
              <a:ext cx="76200" cy="738188"/>
            </a:xfrm>
            <a:prstGeom prst="rect">
              <a:avLst/>
            </a:prstGeom>
            <a:solidFill>
              <a:srgbClr val="EEECE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281" name="Rectangle 2"/>
          <p:cNvSpPr txBox="1">
            <a:spLocks noGrp="1"/>
          </p:cNvSpPr>
          <p:nvPr>
            <p:ph type="title"/>
          </p:nvPr>
        </p:nvSpPr>
        <p:spPr>
          <a:xfrm>
            <a:off x="685800" y="13229"/>
            <a:ext cx="7772400" cy="832965"/>
          </a:xfrm>
          <a:prstGeom prst="rect">
            <a:avLst/>
          </a:prstGeom>
        </p:spPr>
        <p:txBody>
          <a:bodyPr/>
          <a:lstStyle/>
          <a:p>
            <a:r>
              <a:t>Importance sampling</a:t>
            </a:r>
          </a:p>
        </p:txBody>
      </p:sp>
      <p:pic>
        <p:nvPicPr>
          <p:cNvPr id="282" name="AGV_vUeXGUshQY-fkyh_VeYwv9PF82oTKB9pqPT2G_AKhfU9JSdNpMcllVRkxEKgylDX1ABb0AyJbEoztHEd7DzQRefNk3AhvWOR1k6k8miS60VVlIa44S8P7O-K_bnG9uO6KKAF0X5l01gtf3iWQyrvJ3A=nw.png" descr="AGV_vUeXGUshQY-fkyh_VeYwv9PF82oTKB9pqPT2G_AKhfU9JSdNpMcllVRkxEKgylDX1ABb0AyJbEoztHEd7DzQRefNk3AhvWOR1k6k8miS60VVlIa44S8P7O-K_bnG9uO6KKAF0X5l01gtf3iWQyrvJ3A=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4" y="4536639"/>
            <a:ext cx="3733801" cy="1927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AGV_vUfc7l7DsaacqazRlSAuvYjsmt2b6-B6LamN1_CfCW2I-zB5trGtPCtTkDHLK_9k0LphgAFiWPOAHizEfdU6KKGF-90plnFfLpuhuQGBDBbR1z5206wu2JQPZMGUvlAWpLQj397PaBC3u3A-O4Uc9Hw=nw.png" descr="AGV_vUfc7l7DsaacqazRlSAuvYjsmt2b6-B6LamN1_CfCW2I-zB5trGtPCtTkDHLK_9k0LphgAFiWPOAHizEfdU6KKGF-90plnFfLpuhuQGBDBbR1z5206wu2JQPZMGUvlAWpLQj397PaBC3u3A-O4Uc9Hw=n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349" y="4682165"/>
            <a:ext cx="4424021" cy="19272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1" animBg="1" advAuto="0"/>
      <p:bldP spid="273" grpId="2" animBg="1" advAuto="0"/>
      <p:bldP spid="280" grpId="3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2"/>
          <p:cNvSpPr txBox="1">
            <a:spLocks noGrp="1"/>
          </p:cNvSpPr>
          <p:nvPr>
            <p:ph type="title"/>
          </p:nvPr>
        </p:nvSpPr>
        <p:spPr>
          <a:xfrm>
            <a:off x="685800" y="13229"/>
            <a:ext cx="7772400" cy="832965"/>
          </a:xfrm>
          <a:prstGeom prst="rect">
            <a:avLst/>
          </a:prstGeom>
        </p:spPr>
        <p:txBody>
          <a:bodyPr/>
          <a:lstStyle/>
          <a:p>
            <a:r>
              <a:t>Importance sampling from prior</a:t>
            </a:r>
          </a:p>
        </p:txBody>
      </p:sp>
      <p:pic>
        <p:nvPicPr>
          <p:cNvPr id="286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81072"/>
            <a:ext cx="3032625" cy="25029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Picture 4" descr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903" y="2481072"/>
            <a:ext cx="3008561" cy="25054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Picture 5" descr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461" y="2481072"/>
            <a:ext cx="2861924" cy="2505456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TextBox 1"/>
          <p:cNvSpPr txBox="1"/>
          <p:nvPr/>
        </p:nvSpPr>
        <p:spPr>
          <a:xfrm>
            <a:off x="154963" y="2662638"/>
            <a:ext cx="741540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P(</a:t>
            </a:r>
            <a:r>
              <a:rPr i="1"/>
              <a:t>x</a:t>
            </a:r>
            <a:r>
              <a:t>)</a:t>
            </a:r>
          </a:p>
        </p:txBody>
      </p:sp>
      <p:sp>
        <p:nvSpPr>
          <p:cNvPr id="290" name="TextBox 6"/>
          <p:cNvSpPr txBox="1"/>
          <p:nvPr/>
        </p:nvSpPr>
        <p:spPr>
          <a:xfrm>
            <a:off x="-82617" y="4132427"/>
            <a:ext cx="952404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24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</a:t>
            </a:r>
            <a:r>
              <a:rPr i="0"/>
              <a:t>(</a:t>
            </a:r>
            <a:r>
              <a:t>x</a:t>
            </a:r>
            <a:r>
              <a:rPr i="0" baseline="30000"/>
              <a:t>(</a:t>
            </a:r>
            <a:r>
              <a:rPr baseline="30000"/>
              <a:t>i</a:t>
            </a:r>
            <a:r>
              <a:rPr i="0" baseline="30000"/>
              <a:t>)</a:t>
            </a:r>
            <a:r>
              <a:rPr i="0"/>
              <a:t>)</a:t>
            </a:r>
          </a:p>
        </p:txBody>
      </p:sp>
      <p:sp>
        <p:nvSpPr>
          <p:cNvPr id="291" name="TextBox 7"/>
          <p:cNvSpPr txBox="1"/>
          <p:nvPr/>
        </p:nvSpPr>
        <p:spPr>
          <a:xfrm>
            <a:off x="1165462" y="1843365"/>
            <a:ext cx="199783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Overlap</a:t>
            </a:r>
          </a:p>
        </p:txBody>
      </p:sp>
      <p:sp>
        <p:nvSpPr>
          <p:cNvPr id="292" name="TextBox 8"/>
          <p:cNvSpPr txBox="1"/>
          <p:nvPr/>
        </p:nvSpPr>
        <p:spPr>
          <a:xfrm>
            <a:off x="4130876" y="1843365"/>
            <a:ext cx="199783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No overlap</a:t>
            </a:r>
          </a:p>
        </p:txBody>
      </p:sp>
      <p:sp>
        <p:nvSpPr>
          <p:cNvPr id="293" name="TextBox 9"/>
          <p:cNvSpPr txBox="1"/>
          <p:nvPr/>
        </p:nvSpPr>
        <p:spPr>
          <a:xfrm>
            <a:off x="6895611" y="1843365"/>
            <a:ext cx="199783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Some overlap</a:t>
            </a:r>
          </a:p>
        </p:txBody>
      </p:sp>
      <p:sp>
        <p:nvSpPr>
          <p:cNvPr id="294" name="Rectangle 10"/>
          <p:cNvSpPr/>
          <p:nvPr/>
        </p:nvSpPr>
        <p:spPr>
          <a:xfrm>
            <a:off x="3744515" y="1308602"/>
            <a:ext cx="2770559" cy="4240796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295" name="Rectangle 11"/>
          <p:cNvSpPr/>
          <p:nvPr/>
        </p:nvSpPr>
        <p:spPr>
          <a:xfrm>
            <a:off x="6250780" y="1308602"/>
            <a:ext cx="2770559" cy="4240796"/>
          </a:xfrm>
          <a:prstGeom prst="rect">
            <a:avLst/>
          </a:prstGeom>
          <a:gradFill>
            <a:gsLst>
              <a:gs pos="0">
                <a:srgbClr val="39B7D8"/>
              </a:gs>
              <a:gs pos="100000">
                <a:schemeClr val="accent5">
                  <a:hueOff val="2571102"/>
                  <a:satOff val="37997"/>
                  <a:lumOff val="-3286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1" animBg="1" advAuto="0"/>
      <p:bldP spid="295" grpId="2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5"/>
          <p:cNvSpPr txBox="1"/>
          <p:nvPr/>
        </p:nvSpPr>
        <p:spPr>
          <a:xfrm>
            <a:off x="274319" y="1676400"/>
            <a:ext cx="8595362" cy="4413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32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IS</a:t>
            </a:r>
            <a:r>
              <a:rPr i="0" baseline="-25000"/>
              <a:t>  </a:t>
            </a:r>
            <a:r>
              <a:rPr i="0">
                <a:latin typeface="+mn-lt"/>
                <a:ea typeface="+mn-ea"/>
                <a:cs typeface="+mn-cs"/>
                <a:sym typeface="Calibri"/>
              </a:rPr>
              <a:t>is consistent, (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IS</a:t>
            </a:r>
            <a:r>
              <a:rPr i="0" baseline="-25000"/>
              <a:t> </a:t>
            </a:r>
            <a:r>
              <a:rPr i="0"/>
              <a:t>-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i="0"/>
              <a:t>)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 i="0"/>
              <a:t>0 a.s. as </a:t>
            </a:r>
            <a:r>
              <a:t>n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® ¥</a:t>
            </a:r>
          </a:p>
          <a:p>
            <a:pPr>
              <a:spcBef>
                <a:spcPts val="700"/>
              </a:spcBef>
              <a:defRPr sz="32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IS</a:t>
            </a:r>
            <a:r>
              <a:rPr i="0" baseline="-25000">
                <a:latin typeface="+mn-lt"/>
                <a:ea typeface="+mn-ea"/>
                <a:cs typeface="+mn-cs"/>
                <a:sym typeface="Calibri"/>
              </a:rPr>
              <a:t>  </a:t>
            </a:r>
            <a:r>
              <a:rPr i="0">
                <a:latin typeface="+mn-lt"/>
                <a:ea typeface="+mn-ea"/>
                <a:cs typeface="+mn-cs"/>
                <a:sym typeface="Calibri"/>
              </a:rPr>
              <a:t>is asymptotically normal, with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endParaRPr i="0">
              <a:latin typeface="+mn-lt"/>
              <a:ea typeface="+mn-ea"/>
              <a:cs typeface="+mn-cs"/>
              <a:sym typeface="Calibri"/>
            </a:endParaRPr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endParaRPr i="0">
              <a:latin typeface="+mn-lt"/>
              <a:ea typeface="+mn-ea"/>
              <a:cs typeface="+mn-cs"/>
              <a:sym typeface="Calibri"/>
            </a:endParaRP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3200"/>
            </a:pPr>
            <a:endParaRPr i="0">
              <a:latin typeface="+mn-lt"/>
              <a:ea typeface="+mn-ea"/>
              <a:cs typeface="+mn-cs"/>
              <a:sym typeface="Calibri"/>
            </a:endParaRPr>
          </a:p>
          <a:p>
            <a:pPr>
              <a:spcBef>
                <a:spcPts val="700"/>
              </a:spcBef>
              <a:defRPr sz="32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0"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 baseline="-25000"/>
              <a:t>IS</a:t>
            </a:r>
            <a:r>
              <a:rPr i="0" baseline="-25000"/>
              <a:t>  </a:t>
            </a:r>
            <a:r>
              <a:rPr i="0">
                <a:latin typeface="+mn-lt"/>
                <a:ea typeface="+mn-ea"/>
                <a:cs typeface="+mn-cs"/>
                <a:sym typeface="Calibri"/>
              </a:rPr>
              <a:t>is biased, with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3200"/>
            </a:pPr>
            <a:endParaRPr i="0"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00" name="Rectangle 2"/>
          <p:cNvSpPr txBox="1">
            <a:spLocks noGrp="1"/>
          </p:cNvSpPr>
          <p:nvPr>
            <p:ph type="title"/>
          </p:nvPr>
        </p:nvSpPr>
        <p:spPr>
          <a:xfrm>
            <a:off x="685800" y="26460"/>
            <a:ext cx="7772400" cy="1161782"/>
          </a:xfrm>
          <a:prstGeom prst="rect">
            <a:avLst/>
          </a:prstGeom>
        </p:spPr>
        <p:txBody>
          <a:bodyPr/>
          <a:lstStyle/>
          <a:p>
            <a:pPr defTabSz="443484">
              <a:defRPr sz="3783"/>
            </a:pPr>
            <a:r>
              <a:t>Importance sampling</a:t>
            </a:r>
            <a:br/>
            <a:r>
              <a:t>(properties)</a:t>
            </a:r>
          </a:p>
        </p:txBody>
      </p:sp>
      <p:pic>
        <p:nvPicPr>
          <p:cNvPr id="301" name="AGV_vUflwLa0Y_U1t91iT1FmmW_RNm7WbEpkqB0El-RVEjTQgoNelNvuQnVUoRqzOOPv6K6QgMwGQrje5cV445pXEpo71Mk-jePxjjpifHW394CEZftxbWGUkjsrIXX7dcY08BrHnBSw4bYlX5q_tP0Li7Q=nw.png" descr="AGV_vUflwLa0Y_U1t91iT1FmmW_RNm7WbEpkqB0El-RVEjTQgoNelNvuQnVUoRqzOOPv6K6QgMwGQrje5cV445pXEpo71Mk-jePxjjpifHW394CEZftxbWGUkjsrIXX7dcY08BrHnBSw4bYlX5q_tP0Li7Q=n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0" y="4857774"/>
            <a:ext cx="7911854" cy="1077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AGV_vUfbJWYm9AvPSciRwPJC1IMTqGcn1KpP2Jc2pTkpDG9LJu8RiCg9QMc6BRvCYJiv3jQxfAl_Sgrr8c40JanCZLZf_sVYlpx4uQr8l0knUS4126mSl_3iVWw1dIoQAIzvfljj_fNjQWonrRrczB8u0Mg=nw.png" descr="AGV_vUfbJWYm9AvPSciRwPJC1IMTqGcn1KpP2Jc2pTkpDG9LJu8RiCg9QMc6BRvCYJiv3jQxfAl_Sgrr8c40JanCZLZf_sVYlpx4uQr8l0knUS4126mSl_3iVWw1dIoQAIzvfljj_fNjQWonrRrczB8u0Mg=n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693" y="2870126"/>
            <a:ext cx="6145685" cy="11177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" grpId="1" build="p" bldLvl="5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"/>
          <p:cNvSpPr txBox="1">
            <a:spLocks noGrp="1"/>
          </p:cNvSpPr>
          <p:nvPr>
            <p:ph type="title"/>
          </p:nvPr>
        </p:nvSpPr>
        <p:spPr>
          <a:xfrm>
            <a:off x="685800" y="13229"/>
            <a:ext cx="7772400" cy="832965"/>
          </a:xfrm>
          <a:prstGeom prst="rect">
            <a:avLst/>
          </a:prstGeom>
        </p:spPr>
        <p:txBody>
          <a:bodyPr/>
          <a:lstStyle/>
          <a:p>
            <a:r>
              <a:t>Importance sampling from prior</a:t>
            </a:r>
          </a:p>
        </p:txBody>
      </p:sp>
      <p:pic>
        <p:nvPicPr>
          <p:cNvPr id="307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81072"/>
            <a:ext cx="3032625" cy="250295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8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903" y="2481072"/>
            <a:ext cx="3008561" cy="25054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461" y="2481072"/>
            <a:ext cx="2861924" cy="2505456"/>
          </a:xfrm>
          <a:prstGeom prst="rect">
            <a:avLst/>
          </a:prstGeom>
          <a:ln w="12700">
            <a:miter lim="400000"/>
          </a:ln>
        </p:spPr>
      </p:pic>
      <p:sp>
        <p:nvSpPr>
          <p:cNvPr id="310" name="TextBox 1"/>
          <p:cNvSpPr txBox="1"/>
          <p:nvPr/>
        </p:nvSpPr>
        <p:spPr>
          <a:xfrm>
            <a:off x="154963" y="2662638"/>
            <a:ext cx="741540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P(</a:t>
            </a:r>
            <a:r>
              <a:rPr i="1"/>
              <a:t>x</a:t>
            </a:r>
            <a:r>
              <a:t>)</a:t>
            </a:r>
          </a:p>
        </p:txBody>
      </p:sp>
      <p:sp>
        <p:nvSpPr>
          <p:cNvPr id="311" name="TextBox 6"/>
          <p:cNvSpPr txBox="1"/>
          <p:nvPr/>
        </p:nvSpPr>
        <p:spPr>
          <a:xfrm>
            <a:off x="-18448" y="4132427"/>
            <a:ext cx="1028304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24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</a:t>
            </a:r>
            <a:r>
              <a:rPr i="0"/>
              <a:t>(</a:t>
            </a:r>
            <a:r>
              <a:t>x</a:t>
            </a:r>
            <a:r>
              <a:rPr i="0" baseline="30000"/>
              <a:t>(</a:t>
            </a:r>
            <a:r>
              <a:rPr baseline="30000"/>
              <a:t>i</a:t>
            </a:r>
            <a:r>
              <a:rPr i="0" baseline="30000"/>
              <a:t>)</a:t>
            </a:r>
            <a:r>
              <a:rPr i="0"/>
              <a:t>)</a:t>
            </a:r>
          </a:p>
        </p:txBody>
      </p:sp>
      <p:sp>
        <p:nvSpPr>
          <p:cNvPr id="312" name="TextBox 7"/>
          <p:cNvSpPr txBox="1"/>
          <p:nvPr/>
        </p:nvSpPr>
        <p:spPr>
          <a:xfrm>
            <a:off x="1165462" y="1843365"/>
            <a:ext cx="199783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Overlap</a:t>
            </a:r>
          </a:p>
        </p:txBody>
      </p:sp>
      <p:sp>
        <p:nvSpPr>
          <p:cNvPr id="313" name="TextBox 8"/>
          <p:cNvSpPr txBox="1"/>
          <p:nvPr/>
        </p:nvSpPr>
        <p:spPr>
          <a:xfrm>
            <a:off x="4130876" y="1843365"/>
            <a:ext cx="199783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No overlap</a:t>
            </a:r>
          </a:p>
        </p:txBody>
      </p:sp>
      <p:sp>
        <p:nvSpPr>
          <p:cNvPr id="314" name="TextBox 9"/>
          <p:cNvSpPr txBox="1"/>
          <p:nvPr/>
        </p:nvSpPr>
        <p:spPr>
          <a:xfrm>
            <a:off x="6895611" y="1843365"/>
            <a:ext cx="199783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Some overlap</a:t>
            </a:r>
          </a:p>
        </p:txBody>
      </p:sp>
      <p:sp>
        <p:nvSpPr>
          <p:cNvPr id="315" name="TextBox 10"/>
          <p:cNvSpPr txBox="1"/>
          <p:nvPr/>
        </p:nvSpPr>
        <p:spPr>
          <a:xfrm>
            <a:off x="305172" y="5625675"/>
            <a:ext cx="7847856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Variance of weights gives idea of how </a:t>
            </a:r>
            <a:r>
              <a:rPr i="1"/>
              <a:t>good</a:t>
            </a:r>
            <a:r>
              <a:t> the sampler is…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2"/>
          <p:cNvSpPr txBox="1">
            <a:spLocks noGrp="1"/>
          </p:cNvSpPr>
          <p:nvPr>
            <p:ph type="title"/>
          </p:nvPr>
        </p:nvSpPr>
        <p:spPr>
          <a:xfrm>
            <a:off x="457200" y="89419"/>
            <a:ext cx="8229600" cy="889587"/>
          </a:xfrm>
          <a:prstGeom prst="rect">
            <a:avLst/>
          </a:prstGeom>
        </p:spPr>
        <p:txBody>
          <a:bodyPr/>
          <a:lstStyle/>
          <a:p>
            <a:r>
              <a:t>Optimal importance sampling</a:t>
            </a:r>
          </a:p>
        </p:txBody>
      </p:sp>
      <p:sp>
        <p:nvSpPr>
          <p:cNvPr id="318" name="Rectangle 3"/>
          <p:cNvSpPr txBox="1">
            <a:spLocks noGrp="1"/>
          </p:cNvSpPr>
          <p:nvPr>
            <p:ph type="body" idx="1"/>
          </p:nvPr>
        </p:nvSpPr>
        <p:spPr>
          <a:xfrm>
            <a:off x="558110" y="834697"/>
            <a:ext cx="8763001" cy="41148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None/>
            </a:pPr>
            <a:r>
              <a:t>Asymptotic variance is</a:t>
            </a:r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 marL="0" indent="0">
              <a:lnSpc>
                <a:spcPct val="90000"/>
              </a:lnSpc>
              <a:buSzTx/>
              <a:buNone/>
            </a:pPr>
            <a:r>
              <a:t>This is minimized by</a:t>
            </a:r>
          </a:p>
        </p:txBody>
      </p:sp>
      <p:pic>
        <p:nvPicPr>
          <p:cNvPr id="319" name="AGV_vUfbJWYm9AvPSciRwPJC1IMTqGcn1KpP2Jc2pTkpDG9LJu8RiCg9QMc6BRvCYJiv3jQxfAl_Sgrr8c40JanCZLZf_sVYlpx4uQr8l0knUS4126mSl_3iVWw1dIoQAIzvfljj_fNjQWonrRrczB8u0Mg=nw.png" descr="AGV_vUfbJWYm9AvPSciRwPJC1IMTqGcn1KpP2Jc2pTkpDG9LJu8RiCg9QMc6BRvCYJiv3jQxfAl_Sgrr8c40JanCZLZf_sVYlpx4uQr8l0knUS4126mSl_3iVWw1dIoQAIzvfljj_fNjQWonrRrczB8u0Mg=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30" y="1483333"/>
            <a:ext cx="7255961" cy="1319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AGV_vUeQKnwJe1Fp2eGM-bSlNq0lrknjANw28dshdOCktdlqPpeX2njKVRa2lAaVsgOmlmqVlbRGG3z9l5v6q0RPVMr0eD7yorYHqugJVbNZ9_KSbktlrLKuI1gfmeS5NnYxpcZOTins_4-uTuK6xvzKcX8=nw.png" descr="AGV_vUeQKnwJe1Fp2eGM-bSlNq0lrknjANw28dshdOCktdlqPpeX2njKVRa2lAaVsgOmlmqVlbRGG3z9l5v6q0RPVMr0eD7yorYHqugJVbNZ9_KSbktlrLKuI1gfmeS5NnYxpcZOTins_4-uTuK6xvzKcX8=n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776" y="3968792"/>
            <a:ext cx="6460448" cy="8681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072"/>
            <a:ext cx="9144000" cy="3611563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Rectangle 2"/>
          <p:cNvSpPr txBox="1">
            <a:spLocks noGrp="1"/>
          </p:cNvSpPr>
          <p:nvPr>
            <p:ph type="title"/>
          </p:nvPr>
        </p:nvSpPr>
        <p:spPr>
          <a:xfrm>
            <a:off x="457200" y="89419"/>
            <a:ext cx="8229600" cy="889587"/>
          </a:xfrm>
          <a:prstGeom prst="rect">
            <a:avLst/>
          </a:prstGeom>
        </p:spPr>
        <p:txBody>
          <a:bodyPr/>
          <a:lstStyle/>
          <a:p>
            <a:r>
              <a:t>Optimal importance sampling</a:t>
            </a:r>
          </a:p>
        </p:txBody>
      </p:sp>
      <p:sp>
        <p:nvSpPr>
          <p:cNvPr id="324" name="TextBox 1"/>
          <p:cNvSpPr txBox="1"/>
          <p:nvPr/>
        </p:nvSpPr>
        <p:spPr>
          <a:xfrm>
            <a:off x="45719" y="1254489"/>
            <a:ext cx="7353659" cy="1308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/>
            </a:pPr>
            <a:r>
              <a:t>Task: Estimate the mean and variance of a normal distribution.</a:t>
            </a:r>
          </a:p>
          <a:p>
            <a:pPr>
              <a:defRPr sz="2800"/>
            </a:pPr>
            <a:r>
              <a:t>What’s the optimal distribution to sample from?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" grpId="1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30" y="326662"/>
            <a:ext cx="7930940" cy="5760947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Line 3"/>
          <p:cNvSpPr/>
          <p:nvPr/>
        </p:nvSpPr>
        <p:spPr>
          <a:xfrm>
            <a:off x="1219200" y="5486400"/>
            <a:ext cx="7086601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0" name="TextBox 1"/>
          <p:cNvSpPr txBox="1"/>
          <p:nvPr/>
        </p:nvSpPr>
        <p:spPr>
          <a:xfrm>
            <a:off x="3005538" y="597958"/>
            <a:ext cx="351392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(sampling from actual distribution)</a:t>
            </a:r>
          </a:p>
        </p:txBody>
      </p:sp>
      <p:sp>
        <p:nvSpPr>
          <p:cNvPr id="331" name="Rectangle 2"/>
          <p:cNvSpPr/>
          <p:nvPr/>
        </p:nvSpPr>
        <p:spPr>
          <a:xfrm>
            <a:off x="1285421" y="2532648"/>
            <a:ext cx="6573158" cy="1348975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332" name="Rectangle 5"/>
          <p:cNvSpPr/>
          <p:nvPr/>
        </p:nvSpPr>
        <p:spPr>
          <a:xfrm>
            <a:off x="1285421" y="4227705"/>
            <a:ext cx="6573158" cy="1520027"/>
          </a:xfrm>
          <a:prstGeom prst="rect">
            <a:avLst/>
          </a:prstGeom>
          <a:gradFill>
            <a:gsLst>
              <a:gs pos="0">
                <a:srgbClr val="39B7D8"/>
              </a:gs>
              <a:gs pos="100000">
                <a:schemeClr val="accent5">
                  <a:hueOff val="2571102"/>
                  <a:satOff val="37997"/>
                  <a:lumOff val="-3286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1" animBg="1" advAuto="0"/>
      <p:bldP spid="332" grpId="2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2"/>
          <p:cNvSpPr txBox="1">
            <a:spLocks noGrp="1"/>
          </p:cNvSpPr>
          <p:nvPr>
            <p:ph type="title"/>
          </p:nvPr>
        </p:nvSpPr>
        <p:spPr>
          <a:xfrm>
            <a:off x="457200" y="31458"/>
            <a:ext cx="8229600" cy="846690"/>
          </a:xfrm>
          <a:prstGeom prst="rect">
            <a:avLst/>
          </a:prstGeom>
        </p:spPr>
        <p:txBody>
          <a:bodyPr/>
          <a:lstStyle/>
          <a:p>
            <a:r>
              <a:t>Likelihood weighting</a:t>
            </a:r>
          </a:p>
        </p:txBody>
      </p:sp>
      <p:sp>
        <p:nvSpPr>
          <p:cNvPr id="335" name="Rectangle 3"/>
          <p:cNvSpPr txBox="1">
            <a:spLocks noGrp="1"/>
          </p:cNvSpPr>
          <p:nvPr>
            <p:ph type="body" idx="1"/>
          </p:nvPr>
        </p:nvSpPr>
        <p:spPr>
          <a:xfrm>
            <a:off x="297605" y="872219"/>
            <a:ext cx="8819723" cy="511356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None/>
            </a:pPr>
            <a:r>
              <a:t>Assume we only know what likelihood is prop. to.</a:t>
            </a:r>
          </a:p>
          <a:p>
            <a:pPr marL="0" indent="0">
              <a:lnSpc>
                <a:spcPct val="90000"/>
              </a:lnSpc>
              <a:buSzTx/>
              <a:buNone/>
            </a:pPr>
            <a:endParaRPr/>
          </a:p>
          <a:p>
            <a:pPr marL="0" indent="0">
              <a:lnSpc>
                <a:spcPct val="90000"/>
              </a:lnSpc>
              <a:buSzTx/>
              <a:buNone/>
            </a:pPr>
            <a:r>
              <a:t>A particularly simple form of importance sampling for </a:t>
            </a:r>
            <a:r>
              <a:rPr b="1"/>
              <a:t>posterior distributions </a:t>
            </a:r>
            <a:r>
              <a:t>(p(h|x)).</a:t>
            </a:r>
          </a:p>
          <a:p>
            <a:pPr marL="0" indent="0">
              <a:lnSpc>
                <a:spcPct val="90000"/>
              </a:lnSpc>
              <a:buSzTx/>
              <a:buNone/>
            </a:pPr>
            <a:endParaRPr/>
          </a:p>
          <a:p>
            <a:pPr marL="0" indent="0">
              <a:lnSpc>
                <a:spcPct val="90000"/>
              </a:lnSpc>
              <a:buSzTx/>
              <a:buNone/>
            </a:pPr>
            <a:r>
              <a:t>Use the prior as the proposal distribution (q=p(h)).</a:t>
            </a:r>
          </a:p>
          <a:p>
            <a:pPr marL="0" indent="0">
              <a:lnSpc>
                <a:spcPct val="90000"/>
              </a:lnSpc>
              <a:buSzTx/>
              <a:buNone/>
            </a:pPr>
            <a:endParaRPr/>
          </a:p>
          <a:p>
            <a:pPr marL="0" indent="0">
              <a:lnSpc>
                <a:spcPct val="90000"/>
              </a:lnSpc>
              <a:buSzTx/>
              <a:buNone/>
            </a:pPr>
            <a:r>
              <a:t>Weights:</a:t>
            </a:r>
          </a:p>
        </p:txBody>
      </p:sp>
      <p:pic>
        <p:nvPicPr>
          <p:cNvPr id="336" name="AGV_vUc-ppLgO_wAJ8yMJ0PZUY453NqOV0V-Lho5JUhg8rVtceABMvnKa4EtN5BbNSIKi7RBGHbkq3-WTdJoOy4-GrPRko1oEr6a2Bm1N5pp-7KmdxsVbLS8s0jYCnZxilhq-eO0UBUv8szC6s17zC0FJNA=nw.png" descr="AGV_vUc-ppLgO_wAJ8yMJ0PZUY453NqOV0V-Lho5JUhg8rVtceABMvnKa4EtN5BbNSIKi7RBGHbkq3-WTdJoOy4-GrPRko1oEr6a2Bm1N5pp-7KmdxsVbLS8s0jYCnZxilhq-eO0UBUv8szC6s17zC0FJNA=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93" y="5107905"/>
            <a:ext cx="7108014" cy="1070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1" build="p" bldLvl="5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2"/>
          <p:cNvSpPr txBox="1">
            <a:spLocks noGrp="1"/>
          </p:cNvSpPr>
          <p:nvPr>
            <p:ph type="title"/>
          </p:nvPr>
        </p:nvSpPr>
        <p:spPr>
          <a:xfrm>
            <a:off x="381000" y="186759"/>
            <a:ext cx="8305800" cy="766302"/>
          </a:xfrm>
          <a:prstGeom prst="rect">
            <a:avLst/>
          </a:prstGeom>
        </p:spPr>
        <p:txBody>
          <a:bodyPr/>
          <a:lstStyle/>
          <a:p>
            <a:r>
              <a:t>Approximating Bayesian inference</a:t>
            </a:r>
          </a:p>
        </p:txBody>
      </p:sp>
      <p:sp>
        <p:nvSpPr>
          <p:cNvPr id="339" name="Rectangle 3"/>
          <p:cNvSpPr txBox="1">
            <a:spLocks noGrp="1"/>
          </p:cNvSpPr>
          <p:nvPr>
            <p:ph type="body" idx="1"/>
          </p:nvPr>
        </p:nvSpPr>
        <p:spPr>
          <a:xfrm>
            <a:off x="516466" y="1557866"/>
            <a:ext cx="8382001" cy="48768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  <a:buSzTx/>
              <a:buNone/>
            </a:pPr>
            <a:endParaRPr/>
          </a:p>
          <a:p>
            <a:pPr algn="ctr">
              <a:lnSpc>
                <a:spcPct val="90000"/>
              </a:lnSpc>
              <a:buSzTx/>
              <a:buNone/>
            </a:pPr>
            <a:r>
              <a:t>Sample from the prior, weight by the likelihood</a:t>
            </a:r>
          </a:p>
        </p:txBody>
      </p:sp>
      <p:pic>
        <p:nvPicPr>
          <p:cNvPr id="340" name="AGV_vUedTj0fjgc6uQ9wtfKe1H1pi8355p07GeyfHkXfMcitmeirsTUDDYFH_y7wbvoWlMYkXbU4gjYDuYb7c8resibxeGj5lOAU8QsCquI7N3gPps6dwk0jbTRJWJENkiQU4gObcHZDo4eyG2LBcph5g8g=nw.png" descr="AGV_vUedTj0fjgc6uQ9wtfKe1H1pi8355p07GeyfHkXfMcitmeirsTUDDYFH_y7wbvoWlMYkXbU4gjYDuYb7c8resibxeGj5lOAU8QsCquI7N3gPps6dwk0jbTRJWJENkiQU4gObcHZDo4eyG2LBcph5g8g=n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380" y="1781627"/>
            <a:ext cx="6559040" cy="2119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itle 1"/>
          <p:cNvSpPr txBox="1">
            <a:spLocks noGrp="1"/>
          </p:cNvSpPr>
          <p:nvPr>
            <p:ph type="title"/>
          </p:nvPr>
        </p:nvSpPr>
        <p:spPr>
          <a:xfrm>
            <a:off x="457200" y="2150090"/>
            <a:ext cx="8229600" cy="1591486"/>
          </a:xfrm>
          <a:prstGeom prst="rect">
            <a:avLst/>
          </a:prstGeom>
        </p:spPr>
        <p:txBody>
          <a:bodyPr/>
          <a:lstStyle/>
          <a:p>
            <a:r>
              <a:t>Does that equation remind you of any prior psychological theories?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0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Exemplar theories</a:t>
            </a:r>
          </a:p>
        </p:txBody>
      </p:sp>
      <p:pic>
        <p:nvPicPr>
          <p:cNvPr id="347" name="Picture 1027" descr="Picture 10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600200"/>
            <a:ext cx="5202238" cy="4422775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Text Box 1031"/>
          <p:cNvSpPr txBox="1"/>
          <p:nvPr/>
        </p:nvSpPr>
        <p:spPr>
          <a:xfrm>
            <a:off x="729933" y="5916548"/>
            <a:ext cx="6890926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/>
            </a:pPr>
            <a:r>
              <a:t>Store every member (“exemplar”) of the family</a:t>
            </a:r>
          </a:p>
        </p:txBody>
      </p:sp>
      <p:sp>
        <p:nvSpPr>
          <p:cNvPr id="349" name="TextBox 4"/>
          <p:cNvSpPr txBox="1"/>
          <p:nvPr/>
        </p:nvSpPr>
        <p:spPr>
          <a:xfrm>
            <a:off x="5034529" y="6439839"/>
            <a:ext cx="39860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t>(Armstrong, Gleitman, &amp; Gleitman, 1983)</a:t>
            </a:r>
          </a:p>
        </p:txBody>
      </p:sp>
      <p:sp>
        <p:nvSpPr>
          <p:cNvPr id="350" name="Rectangle 1"/>
          <p:cNvSpPr/>
          <p:nvPr/>
        </p:nvSpPr>
        <p:spPr>
          <a:xfrm>
            <a:off x="3871667" y="3175474"/>
            <a:ext cx="1076173" cy="12497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10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Exemplar theories</a:t>
            </a:r>
          </a:p>
        </p:txBody>
      </p:sp>
      <p:pic>
        <p:nvPicPr>
          <p:cNvPr id="355" name="Picture 1027" descr="Picture 10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600200"/>
            <a:ext cx="5202238" cy="4422775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Text Box 1031"/>
          <p:cNvSpPr txBox="1"/>
          <p:nvPr/>
        </p:nvSpPr>
        <p:spPr>
          <a:xfrm>
            <a:off x="729933" y="5916548"/>
            <a:ext cx="6890926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/>
            </a:pPr>
            <a:r>
              <a:t>Store every member (“exemplar”) of the family</a:t>
            </a:r>
          </a:p>
        </p:txBody>
      </p:sp>
      <p:sp>
        <p:nvSpPr>
          <p:cNvPr id="357" name="TextBox 4"/>
          <p:cNvSpPr txBox="1"/>
          <p:nvPr/>
        </p:nvSpPr>
        <p:spPr>
          <a:xfrm>
            <a:off x="5034529" y="6439839"/>
            <a:ext cx="39860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t>(Armstrong, Gleitman, &amp; Gleitman, 1983)</a:t>
            </a:r>
          </a:p>
        </p:txBody>
      </p:sp>
      <p:sp>
        <p:nvSpPr>
          <p:cNvPr id="358" name="Rectangle 1"/>
          <p:cNvSpPr/>
          <p:nvPr/>
        </p:nvSpPr>
        <p:spPr>
          <a:xfrm>
            <a:off x="3871667" y="3175474"/>
            <a:ext cx="1076173" cy="12497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59" name="Picture 1027" descr="Picture 1027"/>
          <p:cNvPicPr>
            <a:picLocks noChangeAspect="1"/>
          </p:cNvPicPr>
          <p:nvPr/>
        </p:nvPicPr>
        <p:blipFill>
          <a:blip r:embed="rId3"/>
          <a:srcRect l="39502" t="35618" r="44894" b="36126"/>
          <a:stretch>
            <a:fillRect/>
          </a:stretch>
        </p:blipFill>
        <p:spPr>
          <a:xfrm>
            <a:off x="7549339" y="3175474"/>
            <a:ext cx="811763" cy="1249703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Box 2"/>
          <p:cNvSpPr txBox="1"/>
          <p:nvPr/>
        </p:nvSpPr>
        <p:spPr>
          <a:xfrm>
            <a:off x="7327019" y="2713808"/>
            <a:ext cx="1212464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/>
            </a:lvl1pPr>
          </a:lstStyle>
          <a:p>
            <a:r>
              <a:t>Observe:</a:t>
            </a:r>
          </a:p>
        </p:txBody>
      </p:sp>
      <p:sp>
        <p:nvSpPr>
          <p:cNvPr id="361" name="Straight Connector 5"/>
          <p:cNvSpPr/>
          <p:nvPr/>
        </p:nvSpPr>
        <p:spPr>
          <a:xfrm>
            <a:off x="5121690" y="2424638"/>
            <a:ext cx="2508369" cy="1049628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2" name="Straight Connector 8"/>
          <p:cNvSpPr/>
          <p:nvPr/>
        </p:nvSpPr>
        <p:spPr>
          <a:xfrm>
            <a:off x="3956715" y="2571586"/>
            <a:ext cx="3830773" cy="1018139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3" name="Straight Connector 10"/>
          <p:cNvSpPr/>
          <p:nvPr/>
        </p:nvSpPr>
        <p:spPr>
          <a:xfrm>
            <a:off x="3117094" y="3369302"/>
            <a:ext cx="4670393" cy="314890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4" name="Straight Connector 12"/>
          <p:cNvSpPr/>
          <p:nvPr/>
        </p:nvSpPr>
        <p:spPr>
          <a:xfrm>
            <a:off x="6129235" y="3369302"/>
            <a:ext cx="1574291" cy="314890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5" name="Straight Connector 14"/>
          <p:cNvSpPr/>
          <p:nvPr/>
        </p:nvSpPr>
        <p:spPr>
          <a:xfrm flipV="1">
            <a:off x="3211551" y="3789152"/>
            <a:ext cx="4491975" cy="881688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6" name="Straight Connector 16"/>
          <p:cNvSpPr/>
          <p:nvPr/>
        </p:nvSpPr>
        <p:spPr>
          <a:xfrm flipV="1">
            <a:off x="4124638" y="3883619"/>
            <a:ext cx="3578886" cy="1018139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7" name="Straight Connector 18"/>
          <p:cNvSpPr/>
          <p:nvPr/>
        </p:nvSpPr>
        <p:spPr>
          <a:xfrm flipV="1">
            <a:off x="5121690" y="3967589"/>
            <a:ext cx="2665798" cy="934169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8" name="Straight Connector 20"/>
          <p:cNvSpPr/>
          <p:nvPr/>
        </p:nvSpPr>
        <p:spPr>
          <a:xfrm flipV="1">
            <a:off x="6129235" y="4051560"/>
            <a:ext cx="1658253" cy="619281"/>
          </a:xfrm>
          <a:prstGeom prst="line">
            <a:avLst/>
          </a:prstGeom>
          <a:ln w="25400">
            <a:solidFill>
              <a:srgbClr val="4F81B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1" animBg="1" advAuto="0"/>
      <p:bldP spid="362" grpId="2" animBg="1" advAuto="0"/>
      <p:bldP spid="363" grpId="3" animBg="1" advAuto="0"/>
      <p:bldP spid="364" grpId="4" animBg="1" advAuto="0"/>
      <p:bldP spid="365" grpId="5" animBg="1" advAuto="0"/>
      <p:bldP spid="366" grpId="6" animBg="1" advAuto="0"/>
      <p:bldP spid="367" grpId="7" animBg="1" advAuto="0"/>
      <p:bldP spid="368" grpId="8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2"/>
          <p:cNvSpPr txBox="1">
            <a:spLocks noGrp="1"/>
          </p:cNvSpPr>
          <p:nvPr>
            <p:ph type="title"/>
          </p:nvPr>
        </p:nvSpPr>
        <p:spPr>
          <a:xfrm>
            <a:off x="381000" y="13380"/>
            <a:ext cx="8305800" cy="878278"/>
          </a:xfrm>
          <a:prstGeom prst="rect">
            <a:avLst/>
          </a:prstGeom>
        </p:spPr>
        <p:txBody>
          <a:bodyPr/>
          <a:lstStyle/>
          <a:p>
            <a:r>
              <a:t>Exemplar models</a:t>
            </a:r>
          </a:p>
        </p:txBody>
      </p:sp>
      <p:sp>
        <p:nvSpPr>
          <p:cNvPr id="373" name="Rectangle 3"/>
          <p:cNvSpPr txBox="1">
            <a:spLocks noGrp="1"/>
          </p:cNvSpPr>
          <p:nvPr>
            <p:ph type="body" idx="1"/>
          </p:nvPr>
        </p:nvSpPr>
        <p:spPr>
          <a:xfrm>
            <a:off x="135115" y="1229407"/>
            <a:ext cx="8919986" cy="562859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None/>
            </a:pPr>
            <a:r>
              <a:t>Assume decisions are made by storing previous events in memory, then activating by similarity.</a:t>
            </a:r>
          </a:p>
          <a:p>
            <a:pPr marL="0" indent="0">
              <a:lnSpc>
                <a:spcPct val="90000"/>
              </a:lnSpc>
              <a:buSzTx/>
              <a:buNone/>
              <a:defRPr sz="1600"/>
            </a:pPr>
            <a:endParaRPr/>
          </a:p>
          <a:p>
            <a:pPr marL="0" indent="0">
              <a:lnSpc>
                <a:spcPct val="90000"/>
              </a:lnSpc>
              <a:buSzTx/>
              <a:buNone/>
            </a:pPr>
            <a:r>
              <a:t>For example, categorization:</a:t>
            </a:r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  <a:buSzTx/>
              <a:buNone/>
            </a:pPr>
            <a:r>
              <a:t>    where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baseline="30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are exemplars,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baseline="30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is similarity,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baseline="30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Î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is 1 if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baseline="30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is from category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/>
              <a:t>.</a:t>
            </a:r>
          </a:p>
        </p:txBody>
      </p:sp>
      <p:sp>
        <p:nvSpPr>
          <p:cNvPr id="374" name="Text Box 5"/>
          <p:cNvSpPr txBox="1"/>
          <p:nvPr/>
        </p:nvSpPr>
        <p:spPr>
          <a:xfrm>
            <a:off x="6921175" y="6324599"/>
            <a:ext cx="208820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/>
          </a:lstStyle>
          <a:p>
            <a:r>
              <a:t>(e.g., Nosofsky, 1986)</a:t>
            </a:r>
          </a:p>
        </p:txBody>
      </p:sp>
      <p:pic>
        <p:nvPicPr>
          <p:cNvPr id="375" name="AGV_vUcZ0PTv16aK6OZRlKJsc3SwhGO1v0e_xn8KxFc_AtxEuRbR5tW1zh7Ja5JTZq1kV0oH-6z1kcSA6ag0pSQZDGfZ7Q4VAGzgH6flkAc3TX0x7GzvjEtcBS6qrIzMmJXD0WgMyMlAVOUnHZuZLeuBuL8=nw.png" descr="AGV_vUcZ0PTv16aK6OZRlKJsc3SwhGO1v0e_xn8KxFc_AtxEuRbR5tW1zh7Ja5JTZq1kV0oH-6z1kcSA6ag0pSQZDGfZ7Q4VAGzgH6flkAc3TX0x7GzvjEtcBS6qrIzMmJXD0WgMyMlAVOUnHZuZLeuBuL8=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041" y="3308120"/>
            <a:ext cx="6421646" cy="20669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1" build="p" bldLvl="5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 3"/>
          <p:cNvSpPr txBox="1">
            <a:spLocks noGrp="1"/>
          </p:cNvSpPr>
          <p:nvPr>
            <p:ph type="body" idx="1"/>
          </p:nvPr>
        </p:nvSpPr>
        <p:spPr>
          <a:xfrm>
            <a:off x="368300" y="1080797"/>
            <a:ext cx="8382000" cy="5408903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None/>
            </a:pPr>
            <a:r>
              <a:t>Assume decisions are made by storing previous events in memory, then activating by similarity.</a:t>
            </a:r>
          </a:p>
          <a:p>
            <a:pPr marL="0" indent="0">
              <a:lnSpc>
                <a:spcPct val="90000"/>
              </a:lnSpc>
              <a:buSzTx/>
              <a:buNone/>
            </a:pPr>
            <a:endParaRPr/>
          </a:p>
          <a:p>
            <a:pPr marL="0" indent="0">
              <a:lnSpc>
                <a:spcPct val="90000"/>
              </a:lnSpc>
              <a:buSzTx/>
              <a:buNone/>
            </a:pPr>
            <a:r>
              <a:t>General version:</a:t>
            </a:r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  <a:buSzTx/>
              <a:buNone/>
            </a:pPr>
            <a:r>
              <a:t>    where </a:t>
            </a:r>
            <a:r>
              <a:rPr i="1"/>
              <a:t>x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baseline="30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are exemplars,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baseline="30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is similarity,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baseline="30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t> is quantity of interest.</a:t>
            </a:r>
          </a:p>
        </p:txBody>
      </p:sp>
      <p:sp>
        <p:nvSpPr>
          <p:cNvPr id="378" name="Rectangle 2"/>
          <p:cNvSpPr txBox="1">
            <a:spLocks noGrp="1"/>
          </p:cNvSpPr>
          <p:nvPr>
            <p:ph type="title"/>
          </p:nvPr>
        </p:nvSpPr>
        <p:spPr>
          <a:xfrm>
            <a:off x="381000" y="13380"/>
            <a:ext cx="8305800" cy="878278"/>
          </a:xfrm>
          <a:prstGeom prst="rect">
            <a:avLst/>
          </a:prstGeom>
        </p:spPr>
        <p:txBody>
          <a:bodyPr/>
          <a:lstStyle/>
          <a:p>
            <a:r>
              <a:t>Exemplar models</a:t>
            </a:r>
          </a:p>
        </p:txBody>
      </p:sp>
      <p:pic>
        <p:nvPicPr>
          <p:cNvPr id="379" name="AGV_vUcUq94PUiVPGwJ7da40ZpsTfrTZKPLeRCnt0djK9uZhpNxdRaGtCOV2qFdJxCtHBPE8z8NIC9OSFCnuxW3hNe90SYbHgQGkFfBSj6oOboQjFkEQOcn2xKjvVmmgxq9wdlxzID-fdxKHNXDmoDAoi84=nw.png" descr="AGV_vUcUq94PUiVPGwJ7da40ZpsTfrTZKPLeRCnt0djK9uZhpNxdRaGtCOV2qFdJxCtHBPE8z8NIC9OSFCnuxW3hNe90SYbHgQGkFfBSj6oOboQjFkEQOcn2xKjvVmmgxq9wdlxzID-fdxKHNXDmoDAoi84=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3134527"/>
            <a:ext cx="5718288" cy="1979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2"/>
          <p:cNvSpPr txBox="1">
            <a:spLocks noGrp="1"/>
          </p:cNvSpPr>
          <p:nvPr>
            <p:ph type="title"/>
          </p:nvPr>
        </p:nvSpPr>
        <p:spPr>
          <a:xfrm>
            <a:off x="381000" y="164595"/>
            <a:ext cx="8305800" cy="890009"/>
          </a:xfrm>
          <a:prstGeom prst="rect">
            <a:avLst/>
          </a:prstGeom>
        </p:spPr>
        <p:txBody>
          <a:bodyPr/>
          <a:lstStyle/>
          <a:p>
            <a:r>
              <a:t>Equivalence</a:t>
            </a:r>
          </a:p>
        </p:txBody>
      </p:sp>
      <p:sp>
        <p:nvSpPr>
          <p:cNvPr id="382" name="Rectangle 5"/>
          <p:cNvSpPr txBox="1">
            <a:spLocks noGrp="1"/>
          </p:cNvSpPr>
          <p:nvPr>
            <p:ph type="body" sz="quarter" idx="1"/>
          </p:nvPr>
        </p:nvSpPr>
        <p:spPr>
          <a:xfrm>
            <a:off x="135115" y="5564189"/>
            <a:ext cx="8863636" cy="1156552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600"/>
              </a:spcBef>
              <a:buSzTx/>
              <a:buNone/>
              <a:defRPr sz="2800"/>
            </a:lvl1pPr>
          </a:lstStyle>
          <a:p>
            <a:r>
              <a:t>When the samples are hypotheses, exemplar models can be viewed as importance samplers of Bayesian models.</a:t>
            </a:r>
          </a:p>
        </p:txBody>
      </p:sp>
      <p:sp>
        <p:nvSpPr>
          <p:cNvPr id="383" name="TextBox 1"/>
          <p:cNvSpPr txBox="1"/>
          <p:nvPr/>
        </p:nvSpPr>
        <p:spPr>
          <a:xfrm>
            <a:off x="788860" y="1873054"/>
            <a:ext cx="1989353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3200" b="1"/>
            </a:lvl1pPr>
          </a:lstStyle>
          <a:p>
            <a:r>
              <a:t>Exemplar:</a:t>
            </a:r>
          </a:p>
        </p:txBody>
      </p:sp>
      <p:sp>
        <p:nvSpPr>
          <p:cNvPr id="384" name="TextBox 6"/>
          <p:cNvSpPr txBox="1"/>
          <p:nvPr/>
        </p:nvSpPr>
        <p:spPr>
          <a:xfrm>
            <a:off x="788860" y="4133010"/>
            <a:ext cx="198935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3200" b="1"/>
            </a:lvl1pPr>
          </a:lstStyle>
          <a:p>
            <a:r>
              <a:t>IS: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2" build="p" animBg="1" advAuto="0"/>
      <p:bldP spid="384" grpId="1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65992" y="135082"/>
            <a:ext cx="8229601" cy="6751588"/>
          </a:xfrm>
          <a:prstGeom prst="rect">
            <a:avLst/>
          </a:prstGeom>
        </p:spPr>
        <p:txBody>
          <a:bodyPr/>
          <a:lstStyle/>
          <a:p>
            <a:r>
              <a:t>Admin Matters</a:t>
            </a:r>
          </a:p>
          <a:p>
            <a:pPr defTabSz="914400">
              <a:spcBef>
                <a:spcPts val="0"/>
              </a:spcBef>
            </a:pPr>
            <a:r>
              <a:t>Why Approximate?</a:t>
            </a:r>
          </a:p>
          <a:p>
            <a:pPr defTabSz="914400">
              <a:spcBef>
                <a:spcPts val="0"/>
              </a:spcBef>
            </a:pPr>
            <a:r>
              <a:t>Monte Carlo</a:t>
            </a:r>
          </a:p>
          <a:p>
            <a:pPr defTabSz="914400">
              <a:spcBef>
                <a:spcPts val="0"/>
              </a:spcBef>
            </a:pPr>
            <a:r>
              <a:t>	Basic sampling</a:t>
            </a:r>
          </a:p>
          <a:p>
            <a:pPr defTabSz="914400">
              <a:spcBef>
                <a:spcPts val="0"/>
              </a:spcBef>
            </a:pPr>
            <a:r>
              <a:t>	Importance sampling</a:t>
            </a:r>
          </a:p>
          <a:p>
            <a:pPr defTabSz="914400">
              <a:spcBef>
                <a:spcPts val="0"/>
              </a:spcBef>
            </a:pPr>
            <a:r>
              <a:t>	Sequential importance sampling </a:t>
            </a:r>
          </a:p>
          <a:p>
            <a:pPr defTabSz="914400">
              <a:spcBef>
                <a:spcPts val="0"/>
              </a:spcBef>
            </a:pPr>
            <a:r>
              <a:t>		(aka particle filtering)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1</a:t>
            </a:r>
          </a:p>
          <a:p>
            <a:pPr defTabSz="914400">
              <a:spcBef>
                <a:spcPts val="0"/>
              </a:spcBef>
            </a:pPr>
            <a:r>
              <a:t>Markov Chain Monte Carlo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2</a:t>
            </a:r>
          </a:p>
          <a:p>
            <a:pPr defTabSz="914400">
              <a:spcBef>
                <a:spcPts val="0"/>
              </a:spcBef>
            </a:pPr>
            <a:r>
              <a:t>Two student presentations: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Vul et al 2009 by Martin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Sanborn &amp; Griffiths 2007 by Anirudh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2"/>
          <p:cNvSpPr txBox="1">
            <a:spLocks noGrp="1"/>
          </p:cNvSpPr>
          <p:nvPr>
            <p:ph type="title"/>
          </p:nvPr>
        </p:nvSpPr>
        <p:spPr>
          <a:xfrm>
            <a:off x="381000" y="-1"/>
            <a:ext cx="8305800" cy="798587"/>
          </a:xfrm>
          <a:prstGeom prst="rect">
            <a:avLst/>
          </a:prstGeom>
        </p:spPr>
        <p:txBody>
          <a:bodyPr/>
          <a:lstStyle/>
          <a:p>
            <a:r>
              <a:t>Updating distributions over time…</a:t>
            </a:r>
          </a:p>
        </p:txBody>
      </p:sp>
      <p:sp>
        <p:nvSpPr>
          <p:cNvPr id="389" name="Rectangle 3"/>
          <p:cNvSpPr txBox="1">
            <a:spLocks noGrp="1"/>
          </p:cNvSpPr>
          <p:nvPr>
            <p:ph type="body" idx="1"/>
          </p:nvPr>
        </p:nvSpPr>
        <p:spPr>
          <a:xfrm>
            <a:off x="381000" y="969472"/>
            <a:ext cx="8382000" cy="5769459"/>
          </a:xfrm>
          <a:prstGeom prst="rect">
            <a:avLst/>
          </a:prstGeom>
        </p:spPr>
        <p:txBody>
          <a:bodyPr/>
          <a:lstStyle/>
          <a:p>
            <a:pPr marL="0" indent="0" defTabSz="443484">
              <a:lnSpc>
                <a:spcPct val="90000"/>
              </a:lnSpc>
              <a:buSzTx/>
              <a:buNone/>
              <a:defRPr sz="3104"/>
            </a:pPr>
            <a:r>
              <a:t>Computational costs are compounded when data are observed incrementally…</a:t>
            </a:r>
          </a:p>
          <a:p>
            <a:pPr marL="720661" lvl="1" indent="-277177" defTabSz="443484">
              <a:lnSpc>
                <a:spcPct val="90000"/>
              </a:lnSpc>
              <a:spcBef>
                <a:spcPts val="600"/>
              </a:spcBef>
              <a:defRPr sz="2716"/>
            </a:pPr>
            <a:r>
              <a:t>recompute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58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baseline="-25587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t>after observing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baseline="-25587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t> </a:t>
            </a:r>
          </a:p>
          <a:p>
            <a:pPr marL="0" indent="0" defTabSz="443484">
              <a:lnSpc>
                <a:spcPct val="90000"/>
              </a:lnSpc>
              <a:buSzTx/>
              <a:buNone/>
              <a:defRPr sz="1164"/>
            </a:pPr>
            <a:endParaRPr/>
          </a:p>
          <a:p>
            <a:pPr marL="0" indent="0" defTabSz="443484">
              <a:lnSpc>
                <a:spcPct val="90000"/>
              </a:lnSpc>
              <a:buSzTx/>
              <a:buNone/>
              <a:defRPr sz="3104"/>
            </a:pPr>
            <a:r>
              <a:t>Exploit </a:t>
            </a:r>
            <a:r>
              <a:rPr>
                <a:latin typeface="Arial"/>
                <a:ea typeface="Arial"/>
                <a:cs typeface="Arial"/>
                <a:sym typeface="Arial"/>
              </a:rPr>
              <a:t>“</a:t>
            </a:r>
            <a:r>
              <a:t>yesterday</a:t>
            </a:r>
            <a:r>
              <a:rPr>
                <a:latin typeface="Arial"/>
                <a:ea typeface="Arial"/>
                <a:cs typeface="Arial"/>
                <a:sym typeface="Arial"/>
              </a:rPr>
              <a:t>’</a:t>
            </a:r>
            <a:r>
              <a:t>s posterior is today</a:t>
            </a:r>
            <a:r>
              <a:rPr>
                <a:latin typeface="Arial"/>
                <a:ea typeface="Arial"/>
                <a:cs typeface="Arial"/>
                <a:sym typeface="Arial"/>
              </a:rPr>
              <a:t>’</a:t>
            </a:r>
            <a:r>
              <a:t>s prior</a:t>
            </a:r>
            <a:r>
              <a:rPr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332613" indent="-332613" defTabSz="443484">
              <a:lnSpc>
                <a:spcPct val="90000"/>
              </a:lnSpc>
              <a:defRPr sz="3104"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32613" indent="-332613" defTabSz="443484">
              <a:lnSpc>
                <a:spcPct val="90000"/>
              </a:lnSpc>
              <a:defRPr sz="3104"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indent="0" defTabSz="443484">
              <a:lnSpc>
                <a:spcPct val="90000"/>
              </a:lnSpc>
              <a:buSzTx/>
              <a:buNone/>
              <a:defRPr sz="3104"/>
            </a:pPr>
            <a:r>
              <a:t>Repeatedly using importance sampling results in an algorithm known as a </a:t>
            </a:r>
            <a:r>
              <a:rPr>
                <a:latin typeface="Arial"/>
                <a:ea typeface="Arial"/>
                <a:cs typeface="Arial"/>
                <a:sym typeface="Arial"/>
              </a:rPr>
              <a:t>“</a:t>
            </a:r>
            <a:r>
              <a:t>particle filter.</a:t>
            </a:r>
            <a:r>
              <a:rPr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0" indent="0" defTabSz="443484">
              <a:lnSpc>
                <a:spcPct val="90000"/>
              </a:lnSpc>
              <a:buSzTx/>
              <a:buNone/>
              <a:defRPr sz="2716">
                <a:latin typeface="Arial"/>
                <a:ea typeface="Arial"/>
                <a:cs typeface="Arial"/>
                <a:sym typeface="Arial"/>
              </a:defRPr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indent="0" defTabSz="443484">
              <a:lnSpc>
                <a:spcPct val="90000"/>
              </a:lnSpc>
              <a:spcBef>
                <a:spcPts val="600"/>
              </a:spcBef>
              <a:buSzTx/>
              <a:buNone/>
              <a:defRPr sz="2716">
                <a:latin typeface="Arial"/>
                <a:ea typeface="Arial"/>
                <a:cs typeface="Arial"/>
                <a:sym typeface="Arial"/>
              </a:defRPr>
            </a:pPr>
            <a:r>
              <a:t>Also called “sequential Monte Carlo,” “bootstrap filter,” “condensation,” and “survival of the fittest.”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" grpId="1" build="p" bldLvl="5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2"/>
          <p:cNvSpPr txBox="1">
            <a:spLocks noGrp="1"/>
          </p:cNvSpPr>
          <p:nvPr>
            <p:ph type="title"/>
          </p:nvPr>
        </p:nvSpPr>
        <p:spPr>
          <a:xfrm>
            <a:off x="457200" y="129109"/>
            <a:ext cx="8229600" cy="863127"/>
          </a:xfrm>
          <a:prstGeom prst="rect">
            <a:avLst/>
          </a:prstGeom>
        </p:spPr>
        <p:txBody>
          <a:bodyPr/>
          <a:lstStyle/>
          <a:p>
            <a:r>
              <a:t>Dynamic hypotheses</a:t>
            </a:r>
          </a:p>
        </p:txBody>
      </p:sp>
      <p:grpSp>
        <p:nvGrpSpPr>
          <p:cNvPr id="424" name="Group 3"/>
          <p:cNvGrpSpPr/>
          <p:nvPr/>
        </p:nvGrpSpPr>
        <p:grpSpPr>
          <a:xfrm>
            <a:off x="2391407" y="1565583"/>
            <a:ext cx="4344988" cy="1962150"/>
            <a:chOff x="0" y="0"/>
            <a:chExt cx="4344986" cy="1962149"/>
          </a:xfrm>
        </p:grpSpPr>
        <p:grpSp>
          <p:nvGrpSpPr>
            <p:cNvPr id="394" name="Oval 4"/>
            <p:cNvGrpSpPr/>
            <p:nvPr/>
          </p:nvGrpSpPr>
          <p:grpSpPr>
            <a:xfrm>
              <a:off x="8382" y="1263117"/>
              <a:ext cx="723699" cy="699033"/>
              <a:chOff x="0" y="0"/>
              <a:chExt cx="723697" cy="699031"/>
            </a:xfrm>
          </p:grpSpPr>
          <p:sp>
            <p:nvSpPr>
              <p:cNvPr id="392" name="Oval"/>
              <p:cNvSpPr/>
              <p:nvPr/>
            </p:nvSpPr>
            <p:spPr>
              <a:xfrm>
                <a:off x="0" y="0"/>
                <a:ext cx="723698" cy="699032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93" name="d1"/>
              <p:cNvSpPr txBox="1"/>
              <p:nvPr/>
            </p:nvSpPr>
            <p:spPr>
              <a:xfrm>
                <a:off x="136651" y="62393"/>
                <a:ext cx="450396" cy="5742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0" tIns="45710" rIns="45710" bIns="45710" numCol="1" anchor="ctr">
                <a:spAutoFit/>
              </a:bodyPr>
              <a:lstStyle/>
              <a:p>
                <a:pPr algn="ctr">
                  <a:defRPr sz="3200" i="1"/>
                </a:pPr>
                <a:r>
                  <a:t>d</a:t>
                </a:r>
                <a:r>
                  <a:rPr i="0" baseline="-25000"/>
                  <a:t>1</a:t>
                </a:r>
              </a:p>
            </p:txBody>
          </p:sp>
        </p:grpSp>
        <p:grpSp>
          <p:nvGrpSpPr>
            <p:cNvPr id="397" name="Oval 5"/>
            <p:cNvGrpSpPr/>
            <p:nvPr/>
          </p:nvGrpSpPr>
          <p:grpSpPr>
            <a:xfrm>
              <a:off x="1212684" y="1263117"/>
              <a:ext cx="723699" cy="699033"/>
              <a:chOff x="0" y="0"/>
              <a:chExt cx="723697" cy="699031"/>
            </a:xfrm>
          </p:grpSpPr>
          <p:sp>
            <p:nvSpPr>
              <p:cNvPr id="395" name="Oval"/>
              <p:cNvSpPr/>
              <p:nvPr/>
            </p:nvSpPr>
            <p:spPr>
              <a:xfrm>
                <a:off x="0" y="0"/>
                <a:ext cx="723698" cy="699032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96" name="d2"/>
              <p:cNvSpPr txBox="1"/>
              <p:nvPr/>
            </p:nvSpPr>
            <p:spPr>
              <a:xfrm>
                <a:off x="136651" y="62393"/>
                <a:ext cx="450396" cy="5742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0" tIns="45710" rIns="45710" bIns="45710" numCol="1" anchor="ctr">
                <a:spAutoFit/>
              </a:bodyPr>
              <a:lstStyle/>
              <a:p>
                <a:pPr algn="ctr">
                  <a:defRPr sz="3200" i="1"/>
                </a:pPr>
                <a:r>
                  <a:t>d</a:t>
                </a:r>
                <a:r>
                  <a:rPr i="0" baseline="-25000"/>
                  <a:t>2</a:t>
                </a:r>
              </a:p>
            </p:txBody>
          </p:sp>
        </p:grpSp>
        <p:grpSp>
          <p:nvGrpSpPr>
            <p:cNvPr id="400" name="Oval 6"/>
            <p:cNvGrpSpPr/>
            <p:nvPr/>
          </p:nvGrpSpPr>
          <p:grpSpPr>
            <a:xfrm>
              <a:off x="2416986" y="1263117"/>
              <a:ext cx="723699" cy="699033"/>
              <a:chOff x="0" y="0"/>
              <a:chExt cx="723697" cy="699031"/>
            </a:xfrm>
          </p:grpSpPr>
          <p:sp>
            <p:nvSpPr>
              <p:cNvPr id="398" name="Oval"/>
              <p:cNvSpPr/>
              <p:nvPr/>
            </p:nvSpPr>
            <p:spPr>
              <a:xfrm>
                <a:off x="0" y="0"/>
                <a:ext cx="723698" cy="699032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99" name="d3"/>
              <p:cNvSpPr txBox="1"/>
              <p:nvPr/>
            </p:nvSpPr>
            <p:spPr>
              <a:xfrm>
                <a:off x="136651" y="62393"/>
                <a:ext cx="450396" cy="5742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0" tIns="45710" rIns="45710" bIns="45710" numCol="1" anchor="ctr">
                <a:spAutoFit/>
              </a:bodyPr>
              <a:lstStyle/>
              <a:p>
                <a:pPr algn="ctr">
                  <a:defRPr sz="3200" i="1"/>
                </a:pPr>
                <a:r>
                  <a:t>d</a:t>
                </a:r>
                <a:r>
                  <a:rPr i="0" baseline="-25000"/>
                  <a:t>3</a:t>
                </a:r>
              </a:p>
            </p:txBody>
          </p:sp>
        </p:grpSp>
        <p:grpSp>
          <p:nvGrpSpPr>
            <p:cNvPr id="403" name="Oval 7"/>
            <p:cNvGrpSpPr/>
            <p:nvPr/>
          </p:nvGrpSpPr>
          <p:grpSpPr>
            <a:xfrm>
              <a:off x="3621288" y="1263117"/>
              <a:ext cx="723699" cy="699033"/>
              <a:chOff x="0" y="0"/>
              <a:chExt cx="723697" cy="699031"/>
            </a:xfrm>
          </p:grpSpPr>
          <p:sp>
            <p:nvSpPr>
              <p:cNvPr id="401" name="Oval"/>
              <p:cNvSpPr/>
              <p:nvPr/>
            </p:nvSpPr>
            <p:spPr>
              <a:xfrm>
                <a:off x="0" y="0"/>
                <a:ext cx="723698" cy="699032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02" name="d4"/>
              <p:cNvSpPr txBox="1"/>
              <p:nvPr/>
            </p:nvSpPr>
            <p:spPr>
              <a:xfrm>
                <a:off x="136651" y="62393"/>
                <a:ext cx="450396" cy="5742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0" tIns="45710" rIns="45710" bIns="45710" numCol="1" anchor="ctr">
                <a:spAutoFit/>
              </a:bodyPr>
              <a:lstStyle/>
              <a:p>
                <a:pPr algn="ctr">
                  <a:defRPr sz="3200" i="1"/>
                </a:pPr>
                <a:r>
                  <a:t>d</a:t>
                </a:r>
                <a:r>
                  <a:rPr i="0" baseline="-25000"/>
                  <a:t>4</a:t>
                </a:r>
              </a:p>
            </p:txBody>
          </p:sp>
        </p:grpSp>
        <p:sp>
          <p:nvSpPr>
            <p:cNvPr id="404" name="Line 8"/>
            <p:cNvSpPr/>
            <p:nvPr/>
          </p:nvSpPr>
          <p:spPr>
            <a:xfrm>
              <a:off x="732081" y="334672"/>
              <a:ext cx="480604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Line 9"/>
            <p:cNvSpPr/>
            <p:nvPr/>
          </p:nvSpPr>
          <p:spPr>
            <a:xfrm>
              <a:off x="1936383" y="334672"/>
              <a:ext cx="480604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Line 10"/>
            <p:cNvSpPr/>
            <p:nvPr/>
          </p:nvSpPr>
          <p:spPr>
            <a:xfrm>
              <a:off x="3140685" y="334672"/>
              <a:ext cx="480604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Line 11"/>
            <p:cNvSpPr/>
            <p:nvPr/>
          </p:nvSpPr>
          <p:spPr>
            <a:xfrm flipH="1">
              <a:off x="368834" y="682838"/>
              <a:ext cx="1" cy="5802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Line 12"/>
            <p:cNvSpPr/>
            <p:nvPr/>
          </p:nvSpPr>
          <p:spPr>
            <a:xfrm flipH="1">
              <a:off x="1575931" y="682838"/>
              <a:ext cx="1" cy="5802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Line 13"/>
            <p:cNvSpPr/>
            <p:nvPr/>
          </p:nvSpPr>
          <p:spPr>
            <a:xfrm>
              <a:off x="2780232" y="682838"/>
              <a:ext cx="1" cy="5802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Line 14"/>
            <p:cNvSpPr/>
            <p:nvPr/>
          </p:nvSpPr>
          <p:spPr>
            <a:xfrm>
              <a:off x="3984534" y="682838"/>
              <a:ext cx="1" cy="5802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423" name="Group 15"/>
            <p:cNvGrpSpPr/>
            <p:nvPr/>
          </p:nvGrpSpPr>
          <p:grpSpPr>
            <a:xfrm>
              <a:off x="0" y="0"/>
              <a:ext cx="4336604" cy="699033"/>
              <a:chOff x="0" y="0"/>
              <a:chExt cx="4336603" cy="699031"/>
            </a:xfrm>
          </p:grpSpPr>
          <p:grpSp>
            <p:nvGrpSpPr>
              <p:cNvPr id="413" name="Oval 16"/>
              <p:cNvGrpSpPr/>
              <p:nvPr/>
            </p:nvGrpSpPr>
            <p:grpSpPr>
              <a:xfrm>
                <a:off x="0" y="0"/>
                <a:ext cx="723698" cy="699032"/>
                <a:chOff x="0" y="0"/>
                <a:chExt cx="723697" cy="699031"/>
              </a:xfrm>
            </p:grpSpPr>
            <p:sp>
              <p:nvSpPr>
                <p:cNvPr id="411" name="Oval"/>
                <p:cNvSpPr/>
                <p:nvPr/>
              </p:nvSpPr>
              <p:spPr>
                <a:xfrm>
                  <a:off x="0" y="0"/>
                  <a:ext cx="723698" cy="699032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12" name="h1"/>
                <p:cNvSpPr txBox="1"/>
                <p:nvPr/>
              </p:nvSpPr>
              <p:spPr>
                <a:xfrm>
                  <a:off x="136651" y="62393"/>
                  <a:ext cx="450396" cy="57424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0" tIns="45710" rIns="45710" bIns="45710" numCol="1" anchor="ctr">
                  <a:spAutoFit/>
                </a:bodyPr>
                <a:lstStyle/>
                <a:p>
                  <a:pPr algn="ctr">
                    <a:defRPr sz="3200" i="1"/>
                  </a:pPr>
                  <a:r>
                    <a:t>h</a:t>
                  </a:r>
                  <a:r>
                    <a:rPr i="0" baseline="-25000"/>
                    <a:t>1</a:t>
                  </a:r>
                </a:p>
              </p:txBody>
            </p:sp>
          </p:grpSp>
          <p:grpSp>
            <p:nvGrpSpPr>
              <p:cNvPr id="416" name="Oval 17"/>
              <p:cNvGrpSpPr/>
              <p:nvPr/>
            </p:nvGrpSpPr>
            <p:grpSpPr>
              <a:xfrm>
                <a:off x="1204301" y="0"/>
                <a:ext cx="723699" cy="699032"/>
                <a:chOff x="0" y="0"/>
                <a:chExt cx="723697" cy="699031"/>
              </a:xfrm>
            </p:grpSpPr>
            <p:sp>
              <p:nvSpPr>
                <p:cNvPr id="414" name="Oval"/>
                <p:cNvSpPr/>
                <p:nvPr/>
              </p:nvSpPr>
              <p:spPr>
                <a:xfrm>
                  <a:off x="0" y="0"/>
                  <a:ext cx="723698" cy="699032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15" name="h2"/>
                <p:cNvSpPr txBox="1"/>
                <p:nvPr/>
              </p:nvSpPr>
              <p:spPr>
                <a:xfrm>
                  <a:off x="136651" y="62393"/>
                  <a:ext cx="450396" cy="57424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0" tIns="45710" rIns="45710" bIns="45710" numCol="1" anchor="ctr">
                  <a:spAutoFit/>
                </a:bodyPr>
                <a:lstStyle/>
                <a:p>
                  <a:pPr algn="ctr">
                    <a:defRPr sz="3200" i="1"/>
                  </a:pPr>
                  <a:r>
                    <a:t>h</a:t>
                  </a:r>
                  <a:r>
                    <a:rPr i="0" baseline="-25000"/>
                    <a:t>2</a:t>
                  </a:r>
                </a:p>
              </p:txBody>
            </p:sp>
          </p:grpSp>
          <p:grpSp>
            <p:nvGrpSpPr>
              <p:cNvPr id="419" name="Oval 18"/>
              <p:cNvGrpSpPr/>
              <p:nvPr/>
            </p:nvGrpSpPr>
            <p:grpSpPr>
              <a:xfrm>
                <a:off x="2408603" y="0"/>
                <a:ext cx="723699" cy="699032"/>
                <a:chOff x="0" y="0"/>
                <a:chExt cx="723697" cy="699031"/>
              </a:xfrm>
            </p:grpSpPr>
            <p:sp>
              <p:nvSpPr>
                <p:cNvPr id="417" name="Oval"/>
                <p:cNvSpPr/>
                <p:nvPr/>
              </p:nvSpPr>
              <p:spPr>
                <a:xfrm>
                  <a:off x="0" y="0"/>
                  <a:ext cx="723698" cy="699032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18" name="h3"/>
                <p:cNvSpPr txBox="1"/>
                <p:nvPr/>
              </p:nvSpPr>
              <p:spPr>
                <a:xfrm>
                  <a:off x="136651" y="62393"/>
                  <a:ext cx="450396" cy="57424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0" tIns="45710" rIns="45710" bIns="45710" numCol="1" anchor="ctr">
                  <a:spAutoFit/>
                </a:bodyPr>
                <a:lstStyle/>
                <a:p>
                  <a:pPr algn="ctr">
                    <a:defRPr sz="3200" i="1"/>
                  </a:pPr>
                  <a:r>
                    <a:t>h</a:t>
                  </a:r>
                  <a:r>
                    <a:rPr i="0" baseline="-25000"/>
                    <a:t>3</a:t>
                  </a:r>
                </a:p>
              </p:txBody>
            </p:sp>
          </p:grpSp>
          <p:grpSp>
            <p:nvGrpSpPr>
              <p:cNvPr id="422" name="Oval 19"/>
              <p:cNvGrpSpPr/>
              <p:nvPr/>
            </p:nvGrpSpPr>
            <p:grpSpPr>
              <a:xfrm>
                <a:off x="3612905" y="0"/>
                <a:ext cx="723699" cy="699032"/>
                <a:chOff x="0" y="0"/>
                <a:chExt cx="723697" cy="699031"/>
              </a:xfrm>
            </p:grpSpPr>
            <p:sp>
              <p:nvSpPr>
                <p:cNvPr id="420" name="Oval"/>
                <p:cNvSpPr/>
                <p:nvPr/>
              </p:nvSpPr>
              <p:spPr>
                <a:xfrm>
                  <a:off x="0" y="0"/>
                  <a:ext cx="723698" cy="699032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21" name="h4"/>
                <p:cNvSpPr txBox="1"/>
                <p:nvPr/>
              </p:nvSpPr>
              <p:spPr>
                <a:xfrm>
                  <a:off x="136651" y="62393"/>
                  <a:ext cx="450396" cy="57424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0" tIns="45710" rIns="45710" bIns="45710" numCol="1" anchor="ctr">
                  <a:spAutoFit/>
                </a:bodyPr>
                <a:lstStyle/>
                <a:p>
                  <a:pPr algn="ctr">
                    <a:defRPr sz="3200" i="1"/>
                  </a:pPr>
                  <a:r>
                    <a:t>h</a:t>
                  </a:r>
                  <a:r>
                    <a:rPr i="0" baseline="-25000"/>
                    <a:t>4</a:t>
                  </a:r>
                </a:p>
              </p:txBody>
            </p:sp>
          </p:grpSp>
        </p:grpSp>
      </p:grpSp>
      <p:grpSp>
        <p:nvGrpSpPr>
          <p:cNvPr id="429" name="Group 1"/>
          <p:cNvGrpSpPr/>
          <p:nvPr/>
        </p:nvGrpSpPr>
        <p:grpSpPr>
          <a:xfrm>
            <a:off x="6557092" y="4926169"/>
            <a:ext cx="2378133" cy="459341"/>
            <a:chOff x="0" y="0"/>
            <a:chExt cx="2378132" cy="459339"/>
          </a:xfrm>
        </p:grpSpPr>
        <p:sp>
          <p:nvSpPr>
            <p:cNvPr id="425" name="Straight Connector 2"/>
            <p:cNvSpPr/>
            <p:nvPr/>
          </p:nvSpPr>
          <p:spPr>
            <a:xfrm flipV="1">
              <a:off x="-1" y="0"/>
              <a:ext cx="2" cy="22967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Straight Connector 22"/>
            <p:cNvSpPr/>
            <p:nvPr/>
          </p:nvSpPr>
          <p:spPr>
            <a:xfrm flipV="1">
              <a:off x="2378132" y="0"/>
              <a:ext cx="1" cy="22967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Straight Connector 4"/>
            <p:cNvSpPr/>
            <p:nvPr/>
          </p:nvSpPr>
          <p:spPr>
            <a:xfrm>
              <a:off x="0" y="229670"/>
              <a:ext cx="2378133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Straight Connector 25"/>
            <p:cNvSpPr/>
            <p:nvPr/>
          </p:nvSpPr>
          <p:spPr>
            <a:xfrm flipV="1">
              <a:off x="1246926" y="229670"/>
              <a:ext cx="1" cy="22967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0" name="TextBox 6"/>
          <p:cNvSpPr txBox="1"/>
          <p:nvPr/>
        </p:nvSpPr>
        <p:spPr>
          <a:xfrm>
            <a:off x="179979" y="5815991"/>
            <a:ext cx="8752791" cy="994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/>
            </a:pPr>
            <a:r>
              <a:t>Exploit this recursive relation to make a sampling algorithm!</a:t>
            </a:r>
          </a:p>
          <a:p>
            <a:pPr>
              <a:defRPr sz="28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w</a:t>
            </a:r>
            <a:r>
              <a:rPr baseline="-25000"/>
              <a:t>n </a:t>
            </a:r>
            <a:r>
              <a:rPr i="0" baseline="-25000"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i="0">
                <a:latin typeface="+mn-lt"/>
                <a:ea typeface="+mn-ea"/>
                <a:cs typeface="+mn-cs"/>
                <a:sym typeface="Calibri"/>
              </a:rPr>
              <a:t>is the posterior after </a:t>
            </a:r>
            <a:r>
              <a:t>n</a:t>
            </a:r>
            <a:r>
              <a:rPr i="0">
                <a:latin typeface="+mn-lt"/>
                <a:ea typeface="+mn-ea"/>
                <a:cs typeface="+mn-cs"/>
                <a:sym typeface="Calibri"/>
              </a:rPr>
              <a:t> steps.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" grpId="1" animBg="1" advAuto="0"/>
      <p:bldP spid="430" grpId="2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itle 1"/>
          <p:cNvSpPr txBox="1">
            <a:spLocks noGrp="1"/>
          </p:cNvSpPr>
          <p:nvPr>
            <p:ph type="title"/>
          </p:nvPr>
        </p:nvSpPr>
        <p:spPr>
          <a:xfrm>
            <a:off x="457200" y="27020"/>
            <a:ext cx="8229600" cy="941260"/>
          </a:xfrm>
          <a:prstGeom prst="rect">
            <a:avLst/>
          </a:prstGeom>
        </p:spPr>
        <p:txBody>
          <a:bodyPr/>
          <a:lstStyle/>
          <a:p>
            <a:r>
              <a:t>Particle filter</a:t>
            </a:r>
          </a:p>
        </p:txBody>
      </p:sp>
      <p:sp>
        <p:nvSpPr>
          <p:cNvPr id="43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175651" y="968280"/>
            <a:ext cx="8968349" cy="5759687"/>
          </a:xfrm>
          <a:prstGeom prst="rect">
            <a:avLst/>
          </a:prstGeom>
        </p:spPr>
        <p:txBody>
          <a:bodyPr/>
          <a:lstStyle/>
          <a:p>
            <a:pPr marL="514350" indent="-514350">
              <a:spcBef>
                <a:spcPts val="600"/>
              </a:spcBef>
              <a:buFontTx/>
              <a:buAutoNum type="arabicPeriod"/>
              <a:defRPr sz="2800"/>
            </a:pPr>
            <a:r>
              <a:t>Initialize </a:t>
            </a:r>
            <a:r>
              <a:rPr i="1"/>
              <a:t>M </a:t>
            </a:r>
            <a:r>
              <a:t>samples (called “particles”) from prior and weights to be uniform over samples.</a:t>
            </a:r>
          </a:p>
          <a:p>
            <a:pPr marL="0" indent="0">
              <a:spcBef>
                <a:spcPts val="600"/>
              </a:spcBef>
              <a:buSzTx/>
              <a:buNone/>
              <a:defRPr sz="2800"/>
            </a:pPr>
            <a:r>
              <a:t>For data point n = {1, …, N}:</a:t>
            </a:r>
          </a:p>
          <a:p>
            <a:pPr marL="914400" lvl="1" indent="-514350">
              <a:spcBef>
                <a:spcPts val="600"/>
              </a:spcBef>
              <a:buFontTx/>
              <a:buAutoNum type="arabicPeriod" startAt="2"/>
              <a:defRPr sz="2800"/>
            </a:pPr>
            <a:r>
              <a:t>Update each sample’s weight by multiplying it by how probable the current datum is given the sample’s value.</a:t>
            </a:r>
          </a:p>
          <a:p>
            <a:pPr marL="914400" lvl="1" indent="-514350">
              <a:spcBef>
                <a:spcPts val="600"/>
              </a:spcBef>
              <a:buFontTx/>
              <a:buAutoNum type="arabicPeriod" startAt="2"/>
              <a:defRPr sz="2800"/>
            </a:pPr>
            <a:r>
              <a:t>Normalize the weights.</a:t>
            </a:r>
          </a:p>
          <a:p>
            <a:pPr marL="914400" lvl="1" indent="-514350">
              <a:spcBef>
                <a:spcPts val="600"/>
              </a:spcBef>
              <a:buFontTx/>
              <a:buAutoNum type="arabicPeriod" startAt="2"/>
              <a:defRPr sz="2800"/>
            </a:pPr>
            <a:r>
              <a:t>If the weights are becoming “degenerate,” resample (with replacement) particles according to current weight distribution. Reset weights to be uniform.</a:t>
            </a:r>
          </a:p>
          <a:p>
            <a:pPr marL="0" indent="0">
              <a:buSzTx/>
              <a:buNone/>
              <a:defRPr sz="2800"/>
            </a:pPr>
            <a:endParaRPr/>
          </a:p>
          <a:p>
            <a:pPr marL="0" indent="0">
              <a:spcBef>
                <a:spcPts val="600"/>
              </a:spcBef>
              <a:buSzTx/>
              <a:buNone/>
              <a:defRPr sz="2800"/>
            </a:pPr>
            <a:r>
              <a:t>At end, samples approximate the posterior.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" grpId="1" build="p" bldLvl="5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8" y="1008259"/>
            <a:ext cx="7415212" cy="5080072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Text Box 4"/>
          <p:cNvSpPr txBox="1"/>
          <p:nvPr/>
        </p:nvSpPr>
        <p:spPr>
          <a:xfrm>
            <a:off x="119453" y="1242335"/>
            <a:ext cx="1757429" cy="778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100"/>
            </a:pPr>
            <a:r>
              <a:t>weights from </a:t>
            </a:r>
          </a:p>
          <a:p>
            <a:pPr algn="ctr">
              <a:defRPr sz="21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</a:t>
            </a:r>
            <a:r>
              <a:rPr i="0"/>
              <a:t>(</a:t>
            </a:r>
            <a:r>
              <a:t>h </a:t>
            </a:r>
            <a:r>
              <a:rPr i="0"/>
              <a:t>| </a:t>
            </a:r>
            <a:r>
              <a:t>d</a:t>
            </a:r>
            <a:r>
              <a:rPr i="0" baseline="-25000"/>
              <a:t>1</a:t>
            </a:r>
            <a:r>
              <a:rPr i="0"/>
              <a:t>,…,</a:t>
            </a:r>
            <a:r>
              <a:t>d</a:t>
            </a:r>
            <a:r>
              <a:rPr baseline="-25000"/>
              <a:t>n</a:t>
            </a:r>
            <a:r>
              <a:rPr i="0" baseline="-25000"/>
              <a:t>-1</a:t>
            </a:r>
            <a:r>
              <a:rPr i="0"/>
              <a:t>)</a:t>
            </a:r>
          </a:p>
        </p:txBody>
      </p:sp>
      <p:sp>
        <p:nvSpPr>
          <p:cNvPr id="437" name="Text Box 4"/>
          <p:cNvSpPr txBox="1"/>
          <p:nvPr/>
        </p:nvSpPr>
        <p:spPr>
          <a:xfrm>
            <a:off x="182198" y="4998032"/>
            <a:ext cx="1631937" cy="778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100"/>
            </a:pPr>
            <a:r>
              <a:t>samples from </a:t>
            </a:r>
          </a:p>
          <a:p>
            <a:pPr algn="ctr">
              <a:defRPr sz="21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</a:t>
            </a:r>
            <a:r>
              <a:rPr i="0"/>
              <a:t>(</a:t>
            </a:r>
            <a:r>
              <a:t>h </a:t>
            </a:r>
            <a:r>
              <a:rPr i="0"/>
              <a:t>| </a:t>
            </a:r>
            <a:r>
              <a:t>d</a:t>
            </a:r>
            <a:r>
              <a:rPr i="0" baseline="-25000"/>
              <a:t>1</a:t>
            </a:r>
            <a:r>
              <a:rPr i="0"/>
              <a:t>,…,</a:t>
            </a:r>
            <a:r>
              <a:t>d</a:t>
            </a:r>
            <a:r>
              <a:rPr baseline="-25000"/>
              <a:t>n</a:t>
            </a:r>
            <a:r>
              <a:rPr i="0"/>
              <a:t>)</a:t>
            </a:r>
          </a:p>
        </p:txBody>
      </p:sp>
      <p:sp>
        <p:nvSpPr>
          <p:cNvPr id="438" name="Text Box 4"/>
          <p:cNvSpPr txBox="1"/>
          <p:nvPr/>
        </p:nvSpPr>
        <p:spPr>
          <a:xfrm>
            <a:off x="384569" y="3563665"/>
            <a:ext cx="1227198" cy="778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100"/>
            </a:pPr>
            <a:r>
              <a:t>likelihood:</a:t>
            </a:r>
          </a:p>
          <a:p>
            <a:pPr algn="ctr">
              <a:defRPr sz="21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</a:t>
            </a:r>
            <a:r>
              <a:rPr i="0"/>
              <a:t>(</a:t>
            </a:r>
            <a:r>
              <a:t>d</a:t>
            </a:r>
            <a:r>
              <a:rPr baseline="-25000"/>
              <a:t>n</a:t>
            </a:r>
            <a:r>
              <a:rPr i="0" baseline="-25000"/>
              <a:t> </a:t>
            </a:r>
            <a:r>
              <a:t>| h</a:t>
            </a:r>
            <a:r>
              <a:rPr i="0"/>
              <a:t>)</a:t>
            </a:r>
          </a:p>
        </p:txBody>
      </p:sp>
      <p:sp>
        <p:nvSpPr>
          <p:cNvPr id="439" name="Text Box 4"/>
          <p:cNvSpPr txBox="1"/>
          <p:nvPr/>
        </p:nvSpPr>
        <p:spPr>
          <a:xfrm>
            <a:off x="119452" y="2623983"/>
            <a:ext cx="1757430" cy="778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100"/>
            </a:pPr>
            <a:r>
              <a:t>samples from </a:t>
            </a:r>
          </a:p>
          <a:p>
            <a:pPr algn="ctr">
              <a:defRPr sz="21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</a:t>
            </a:r>
            <a:r>
              <a:rPr i="0"/>
              <a:t>(</a:t>
            </a:r>
            <a:r>
              <a:t>h </a:t>
            </a:r>
            <a:r>
              <a:rPr i="0"/>
              <a:t>| </a:t>
            </a:r>
            <a:r>
              <a:t>d</a:t>
            </a:r>
            <a:r>
              <a:rPr i="0" baseline="-25000"/>
              <a:t>1</a:t>
            </a:r>
            <a:r>
              <a:rPr i="0"/>
              <a:t>,…,</a:t>
            </a:r>
            <a:r>
              <a:t>d</a:t>
            </a:r>
            <a:r>
              <a:rPr baseline="-25000"/>
              <a:t>n</a:t>
            </a:r>
            <a:r>
              <a:rPr i="0" baseline="-25000"/>
              <a:t>-1</a:t>
            </a:r>
            <a:r>
              <a:rPr i="0"/>
              <a:t>)</a:t>
            </a:r>
          </a:p>
        </p:txBody>
      </p:sp>
      <p:sp>
        <p:nvSpPr>
          <p:cNvPr id="440" name="Rectangle 11"/>
          <p:cNvSpPr/>
          <p:nvPr/>
        </p:nvSpPr>
        <p:spPr>
          <a:xfrm>
            <a:off x="8462384" y="5467072"/>
            <a:ext cx="681617" cy="6212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1" name="TextBox 12"/>
          <p:cNvSpPr txBox="1"/>
          <p:nvPr/>
        </p:nvSpPr>
        <p:spPr>
          <a:xfrm>
            <a:off x="7155740" y="6488667"/>
            <a:ext cx="194254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/>
          </a:lstStyle>
          <a:p>
            <a:r>
              <a:t>(from Bishop, 2006)</a:t>
            </a:r>
          </a:p>
        </p:txBody>
      </p:sp>
      <p:sp>
        <p:nvSpPr>
          <p:cNvPr id="442" name="Rectangle 2"/>
          <p:cNvSpPr txBox="1">
            <a:spLocks noGrp="1"/>
          </p:cNvSpPr>
          <p:nvPr>
            <p:ph type="title"/>
          </p:nvPr>
        </p:nvSpPr>
        <p:spPr>
          <a:xfrm>
            <a:off x="381000" y="78006"/>
            <a:ext cx="8305800" cy="798587"/>
          </a:xfrm>
          <a:prstGeom prst="rect">
            <a:avLst/>
          </a:prstGeom>
        </p:spPr>
        <p:txBody>
          <a:bodyPr/>
          <a:lstStyle/>
          <a:p>
            <a:r>
              <a:t>Particle filter</a:t>
            </a:r>
          </a:p>
        </p:txBody>
      </p:sp>
      <p:sp>
        <p:nvSpPr>
          <p:cNvPr id="443" name="Rectangle 1"/>
          <p:cNvSpPr/>
          <p:nvPr/>
        </p:nvSpPr>
        <p:spPr>
          <a:xfrm>
            <a:off x="-95589" y="2253000"/>
            <a:ext cx="9280554" cy="10550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4" name="Rectangle 13"/>
          <p:cNvSpPr/>
          <p:nvPr/>
        </p:nvSpPr>
        <p:spPr>
          <a:xfrm>
            <a:off x="-52429" y="3294372"/>
            <a:ext cx="9280554" cy="10550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5" name="Rectangle 15"/>
          <p:cNvSpPr/>
          <p:nvPr/>
        </p:nvSpPr>
        <p:spPr>
          <a:xfrm>
            <a:off x="0" y="4349398"/>
            <a:ext cx="9280554" cy="17389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1" animBg="1" advAuto="0"/>
      <p:bldP spid="444" grpId="2" animBg="1" advAuto="0"/>
      <p:bldP spid="445" grpId="3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2"/>
          <p:cNvSpPr txBox="1">
            <a:spLocks noGrp="1"/>
          </p:cNvSpPr>
          <p:nvPr>
            <p:ph type="title"/>
          </p:nvPr>
        </p:nvSpPr>
        <p:spPr>
          <a:xfrm>
            <a:off x="685800" y="154600"/>
            <a:ext cx="7772400" cy="869492"/>
          </a:xfrm>
          <a:prstGeom prst="rect">
            <a:avLst/>
          </a:prstGeom>
        </p:spPr>
        <p:txBody>
          <a:bodyPr/>
          <a:lstStyle/>
          <a:p>
            <a:r>
              <a:t>The promise of particle filters</a:t>
            </a:r>
          </a:p>
        </p:txBody>
      </p:sp>
      <p:sp>
        <p:nvSpPr>
          <p:cNvPr id="448" name="Rectangle 3"/>
          <p:cNvSpPr txBox="1">
            <a:spLocks noGrp="1"/>
          </p:cNvSpPr>
          <p:nvPr>
            <p:ph type="body" idx="1"/>
          </p:nvPr>
        </p:nvSpPr>
        <p:spPr>
          <a:xfrm>
            <a:off x="228600" y="1201601"/>
            <a:ext cx="8763000" cy="5656399"/>
          </a:xfrm>
          <a:prstGeom prst="rect">
            <a:avLst/>
          </a:prstGeom>
        </p:spPr>
        <p:txBody>
          <a:bodyPr/>
          <a:lstStyle/>
          <a:p>
            <a:pPr marL="0" indent="0" defTabSz="443484">
              <a:lnSpc>
                <a:spcPct val="90000"/>
              </a:lnSpc>
              <a:buSzTx/>
              <a:buNone/>
              <a:defRPr sz="3104"/>
            </a:pPr>
            <a:r>
              <a:t>A general scheme for defining rational process models of updating over time.          </a:t>
            </a:r>
            <a:r>
              <a:rPr sz="2328"/>
              <a:t>(Sanborn et al., 2006)</a:t>
            </a:r>
          </a:p>
          <a:p>
            <a:pPr marL="332613" indent="-332613" defTabSz="443484">
              <a:lnSpc>
                <a:spcPct val="90000"/>
              </a:lnSpc>
              <a:defRPr sz="1358"/>
            </a:pPr>
            <a:endParaRPr sz="2328"/>
          </a:p>
          <a:p>
            <a:pPr marL="0" indent="0" defTabSz="443484">
              <a:lnSpc>
                <a:spcPct val="90000"/>
              </a:lnSpc>
              <a:buSzTx/>
              <a:buNone/>
              <a:defRPr sz="3104"/>
            </a:pPr>
            <a:r>
              <a:t>Model limited memory, and produce order effects</a:t>
            </a:r>
          </a:p>
          <a:p>
            <a:pPr marL="332613" indent="-332613" algn="r" defTabSz="443484">
              <a:lnSpc>
                <a:spcPct val="90000"/>
              </a:lnSpc>
              <a:spcBef>
                <a:spcPts val="500"/>
              </a:spcBef>
              <a:buSzTx/>
              <a:buNone/>
              <a:defRPr sz="2328"/>
            </a:pPr>
            <a:r>
              <a:t>(cf. Kruschke, 2006)</a:t>
            </a:r>
          </a:p>
          <a:p>
            <a:pPr marL="332613" indent="-332613" defTabSz="443484">
              <a:lnSpc>
                <a:spcPct val="90000"/>
              </a:lnSpc>
              <a:defRPr sz="1358"/>
            </a:pPr>
            <a:endParaRPr/>
          </a:p>
          <a:p>
            <a:pPr marL="0" indent="0" defTabSz="443484">
              <a:lnSpc>
                <a:spcPct val="90000"/>
              </a:lnSpc>
              <a:buSzTx/>
              <a:buNone/>
              <a:defRPr sz="3104"/>
            </a:pPr>
            <a:r>
              <a:t>Used to define rational process models of…</a:t>
            </a:r>
          </a:p>
          <a:p>
            <a:pPr marL="720661" lvl="1" indent="-277177" defTabSz="443484">
              <a:lnSpc>
                <a:spcPct val="90000"/>
              </a:lnSpc>
              <a:spcBef>
                <a:spcPts val="600"/>
              </a:spcBef>
              <a:defRPr sz="2716"/>
            </a:pPr>
            <a:r>
              <a:t>categorization			    </a:t>
            </a:r>
            <a:r>
              <a:rPr sz="2328"/>
              <a:t>(Sanborn et al., 2006)</a:t>
            </a:r>
          </a:p>
          <a:p>
            <a:pPr marL="720661" lvl="1" indent="-277177" defTabSz="443484">
              <a:lnSpc>
                <a:spcPct val="90000"/>
              </a:lnSpc>
              <a:spcBef>
                <a:spcPts val="600"/>
              </a:spcBef>
              <a:defRPr sz="2716"/>
            </a:pPr>
            <a:r>
              <a:t>associative learning		         </a:t>
            </a:r>
            <a:r>
              <a:rPr sz="2328"/>
              <a:t>(Daw &amp; Courville, 2008)</a:t>
            </a:r>
          </a:p>
          <a:p>
            <a:pPr marL="720661" lvl="1" indent="-277177" defTabSz="443484">
              <a:lnSpc>
                <a:spcPct val="90000"/>
              </a:lnSpc>
              <a:spcBef>
                <a:spcPts val="600"/>
              </a:spcBef>
              <a:defRPr sz="2716"/>
            </a:pPr>
            <a:r>
              <a:t>changepoint detection 	       </a:t>
            </a:r>
            <a:r>
              <a:rPr sz="2328"/>
              <a:t>(Brown &amp; Steyvers, 2009)</a:t>
            </a:r>
          </a:p>
          <a:p>
            <a:pPr marL="720661" lvl="1" indent="-277177" defTabSz="443484">
              <a:lnSpc>
                <a:spcPct val="90000"/>
              </a:lnSpc>
              <a:spcBef>
                <a:spcPts val="600"/>
              </a:spcBef>
              <a:defRPr sz="2716"/>
            </a:pPr>
            <a:r>
              <a:t>sentence processing 		       </a:t>
            </a:r>
            <a:r>
              <a:rPr sz="2328"/>
              <a:t>(Levy et al., 2009)</a:t>
            </a:r>
          </a:p>
          <a:p>
            <a:pPr marL="0" indent="55435" algn="r" defTabSz="443484">
              <a:lnSpc>
                <a:spcPct val="90000"/>
              </a:lnSpc>
              <a:buSzTx/>
              <a:buNone/>
              <a:defRPr sz="1164"/>
            </a:pPr>
            <a:endParaRPr sz="2328"/>
          </a:p>
          <a:p>
            <a:pPr marL="0" indent="55435" algn="r" defTabSz="443484">
              <a:lnSpc>
                <a:spcPct val="90000"/>
              </a:lnSpc>
              <a:buSzTx/>
              <a:buNone/>
              <a:defRPr sz="3104"/>
            </a:pPr>
            <a:r>
              <a:t>And more since 2009…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" grpId="1" build="p" bldLvl="5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itle 1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1"/>
          </a:xfrm>
          <a:prstGeom prst="rect">
            <a:avLst/>
          </a:prstGeom>
        </p:spPr>
        <p:txBody>
          <a:bodyPr/>
          <a:lstStyle/>
          <a:p>
            <a:r>
              <a:t>Want more on particle filters?</a:t>
            </a:r>
          </a:p>
        </p:txBody>
      </p:sp>
      <p:sp>
        <p:nvSpPr>
          <p:cNvPr id="45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175651" y="1600200"/>
            <a:ext cx="8968349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7 minute youtube video “Particle filtering without equations”:</a:t>
            </a:r>
          </a:p>
          <a:p>
            <a:pPr marL="0" indent="0">
              <a:buSzTx/>
              <a:buNone/>
            </a:pPr>
            <a:r>
              <a:t>https://www.youtube.com/watch?v=aUkBa1zMKv4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65992" y="135082"/>
            <a:ext cx="8229601" cy="6751588"/>
          </a:xfrm>
          <a:prstGeom prst="rect">
            <a:avLst/>
          </a:prstGeom>
        </p:spPr>
        <p:txBody>
          <a:bodyPr/>
          <a:lstStyle/>
          <a:p>
            <a:r>
              <a:t>Admin Matters</a:t>
            </a:r>
          </a:p>
          <a:p>
            <a:pPr defTabSz="914400">
              <a:spcBef>
                <a:spcPts val="0"/>
              </a:spcBef>
            </a:pPr>
            <a:r>
              <a:t>Why Approximate?</a:t>
            </a:r>
          </a:p>
          <a:p>
            <a:pPr defTabSz="914400">
              <a:spcBef>
                <a:spcPts val="0"/>
              </a:spcBef>
            </a:pPr>
            <a:r>
              <a:t>Monte Carlo</a:t>
            </a:r>
          </a:p>
          <a:p>
            <a:pPr defTabSz="914400">
              <a:spcBef>
                <a:spcPts val="0"/>
              </a:spcBef>
            </a:pPr>
            <a:r>
              <a:t>	Basic sampling</a:t>
            </a:r>
          </a:p>
          <a:p>
            <a:pPr defTabSz="914400">
              <a:spcBef>
                <a:spcPts val="0"/>
              </a:spcBef>
            </a:pPr>
            <a:r>
              <a:t>	Importance sampling</a:t>
            </a:r>
          </a:p>
          <a:p>
            <a:pPr defTabSz="914400">
              <a:spcBef>
                <a:spcPts val="0"/>
              </a:spcBef>
            </a:pPr>
            <a:r>
              <a:t>	Sequential importance sampling </a:t>
            </a:r>
          </a:p>
          <a:p>
            <a:pPr defTabSz="914400">
              <a:spcBef>
                <a:spcPts val="0"/>
              </a:spcBef>
            </a:pPr>
            <a:r>
              <a:t>		(aka particle filtering)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1</a:t>
            </a:r>
          </a:p>
          <a:p>
            <a:pPr defTabSz="914400">
              <a:spcBef>
                <a:spcPts val="0"/>
              </a:spcBef>
            </a:pPr>
            <a:r>
              <a:t>Markov Chain Monte Carlo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2</a:t>
            </a:r>
          </a:p>
          <a:p>
            <a:pPr defTabSz="914400">
              <a:spcBef>
                <a:spcPts val="0"/>
              </a:spcBef>
            </a:pPr>
            <a:r>
              <a:t>Two student presentations: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Vul et al 2009 by Martin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Sanborn &amp; Griffiths 2007 by Anirudh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itle 1"/>
          <p:cNvSpPr txBox="1">
            <a:spLocks noGrp="1"/>
          </p:cNvSpPr>
          <p:nvPr>
            <p:ph type="title"/>
          </p:nvPr>
        </p:nvSpPr>
        <p:spPr>
          <a:xfrm>
            <a:off x="457200" y="106856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Short rest 1</a:t>
            </a:r>
          </a:p>
        </p:txBody>
      </p:sp>
      <p:pic>
        <p:nvPicPr>
          <p:cNvPr id="45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51818" y="2481883"/>
            <a:ext cx="5440362" cy="30602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65992" y="135082"/>
            <a:ext cx="8229601" cy="6751588"/>
          </a:xfrm>
          <a:prstGeom prst="rect">
            <a:avLst/>
          </a:prstGeom>
        </p:spPr>
        <p:txBody>
          <a:bodyPr/>
          <a:lstStyle/>
          <a:p>
            <a:r>
              <a:t>Admin Matters</a:t>
            </a:r>
          </a:p>
          <a:p>
            <a:pPr defTabSz="914400">
              <a:spcBef>
                <a:spcPts val="0"/>
              </a:spcBef>
            </a:pPr>
            <a:r>
              <a:t>Why Approximate?</a:t>
            </a:r>
          </a:p>
          <a:p>
            <a:pPr defTabSz="914400">
              <a:spcBef>
                <a:spcPts val="0"/>
              </a:spcBef>
            </a:pPr>
            <a:r>
              <a:t>Monte Carlo</a:t>
            </a:r>
          </a:p>
          <a:p>
            <a:pPr defTabSz="914400">
              <a:spcBef>
                <a:spcPts val="0"/>
              </a:spcBef>
            </a:pPr>
            <a:r>
              <a:t>	Basic sampling</a:t>
            </a:r>
          </a:p>
          <a:p>
            <a:pPr defTabSz="914400">
              <a:spcBef>
                <a:spcPts val="0"/>
              </a:spcBef>
            </a:pPr>
            <a:r>
              <a:t>	Importance sampling</a:t>
            </a:r>
          </a:p>
          <a:p>
            <a:pPr defTabSz="914400">
              <a:spcBef>
                <a:spcPts val="0"/>
              </a:spcBef>
            </a:pPr>
            <a:r>
              <a:t>	Sequential importance sampling </a:t>
            </a:r>
          </a:p>
          <a:p>
            <a:pPr defTabSz="914400">
              <a:spcBef>
                <a:spcPts val="0"/>
              </a:spcBef>
            </a:pPr>
            <a:r>
              <a:t>		(aka particle filtering)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1</a:t>
            </a:r>
          </a:p>
          <a:p>
            <a:pPr defTabSz="914400">
              <a:spcBef>
                <a:spcPts val="0"/>
              </a:spcBef>
            </a:pPr>
            <a:r>
              <a:t>Markov Chain Monte Carlo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2</a:t>
            </a:r>
          </a:p>
          <a:p>
            <a:pPr defTabSz="914400">
              <a:spcBef>
                <a:spcPts val="0"/>
              </a:spcBef>
            </a:pPr>
            <a:r>
              <a:t>Two student presentations: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Vul et al 2009 by Martin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Sanborn &amp; Griffiths 2007 by Anirudh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angle 2"/>
          <p:cNvSpPr txBox="1">
            <a:spLocks noGrp="1"/>
          </p:cNvSpPr>
          <p:nvPr>
            <p:ph type="body" sz="half" idx="1"/>
          </p:nvPr>
        </p:nvSpPr>
        <p:spPr>
          <a:xfrm>
            <a:off x="381000" y="4679950"/>
            <a:ext cx="8391525" cy="187642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Variables </a:t>
            </a:r>
            <a:r>
              <a:rPr b="1" i="1"/>
              <a:t>x</a:t>
            </a:r>
            <a:r>
              <a:rPr baseline="30000"/>
              <a:t>(</a:t>
            </a:r>
            <a:r>
              <a:rPr i="1" baseline="30000"/>
              <a:t>t</a:t>
            </a:r>
            <a:r>
              <a:rPr baseline="30000"/>
              <a:t>+1)</a:t>
            </a:r>
            <a:r>
              <a:t> independent of history given </a:t>
            </a:r>
            <a:r>
              <a:rPr b="1" i="1"/>
              <a:t>x</a:t>
            </a:r>
            <a:r>
              <a:rPr baseline="30000"/>
              <a:t>(</a:t>
            </a:r>
            <a:r>
              <a:rPr i="1" baseline="30000"/>
              <a:t>t</a:t>
            </a:r>
            <a:r>
              <a:rPr baseline="30000"/>
              <a:t>)</a:t>
            </a:r>
          </a:p>
          <a:p>
            <a:pPr marL="0" indent="0">
              <a:buSzTx/>
              <a:buNone/>
            </a:pPr>
            <a:r>
              <a:t>Converges to a </a:t>
            </a:r>
            <a:r>
              <a:rPr i="1"/>
              <a:t>stationary distribution</a:t>
            </a:r>
            <a:r>
              <a:t> under easily checked conditions (i.e., if it is </a:t>
            </a:r>
            <a:r>
              <a:rPr i="1"/>
              <a:t>ergodic</a:t>
            </a:r>
            <a:r>
              <a:t>).</a:t>
            </a:r>
          </a:p>
        </p:txBody>
      </p:sp>
      <p:sp>
        <p:nvSpPr>
          <p:cNvPr id="461" name="Text Box 3"/>
          <p:cNvSpPr txBox="1"/>
          <p:nvPr/>
        </p:nvSpPr>
        <p:spPr>
          <a:xfrm>
            <a:off x="699769" y="2195284"/>
            <a:ext cx="22084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62" name="Text Box 4"/>
          <p:cNvSpPr txBox="1"/>
          <p:nvPr/>
        </p:nvSpPr>
        <p:spPr>
          <a:xfrm>
            <a:off x="1785619" y="2195284"/>
            <a:ext cx="22084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63" name="Line 5"/>
          <p:cNvSpPr/>
          <p:nvPr/>
        </p:nvSpPr>
        <p:spPr>
          <a:xfrm>
            <a:off x="-69850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4" name="Line 6"/>
          <p:cNvSpPr/>
          <p:nvPr/>
        </p:nvSpPr>
        <p:spPr>
          <a:xfrm>
            <a:off x="1016000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5" name="Text Box 7"/>
          <p:cNvSpPr txBox="1"/>
          <p:nvPr/>
        </p:nvSpPr>
        <p:spPr>
          <a:xfrm>
            <a:off x="2863533" y="2195284"/>
            <a:ext cx="220847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66" name="Text Box 8"/>
          <p:cNvSpPr txBox="1"/>
          <p:nvPr/>
        </p:nvSpPr>
        <p:spPr>
          <a:xfrm>
            <a:off x="3949382" y="2195284"/>
            <a:ext cx="220847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67" name="Line 9"/>
          <p:cNvSpPr/>
          <p:nvPr/>
        </p:nvSpPr>
        <p:spPr>
          <a:xfrm>
            <a:off x="2093913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8" name="Line 10"/>
          <p:cNvSpPr/>
          <p:nvPr/>
        </p:nvSpPr>
        <p:spPr>
          <a:xfrm>
            <a:off x="3179763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9" name="Text Box 11"/>
          <p:cNvSpPr txBox="1"/>
          <p:nvPr/>
        </p:nvSpPr>
        <p:spPr>
          <a:xfrm>
            <a:off x="5032057" y="2195284"/>
            <a:ext cx="220847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70" name="Text Box 12"/>
          <p:cNvSpPr txBox="1"/>
          <p:nvPr/>
        </p:nvSpPr>
        <p:spPr>
          <a:xfrm>
            <a:off x="6117907" y="2195284"/>
            <a:ext cx="220847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71" name="Line 13"/>
          <p:cNvSpPr/>
          <p:nvPr/>
        </p:nvSpPr>
        <p:spPr>
          <a:xfrm>
            <a:off x="4262437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2" name="Line 14"/>
          <p:cNvSpPr/>
          <p:nvPr/>
        </p:nvSpPr>
        <p:spPr>
          <a:xfrm>
            <a:off x="5348287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3" name="Text Box 15"/>
          <p:cNvSpPr txBox="1"/>
          <p:nvPr/>
        </p:nvSpPr>
        <p:spPr>
          <a:xfrm>
            <a:off x="7195819" y="2195284"/>
            <a:ext cx="22084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74" name="Text Box 16"/>
          <p:cNvSpPr txBox="1"/>
          <p:nvPr/>
        </p:nvSpPr>
        <p:spPr>
          <a:xfrm>
            <a:off x="8281669" y="2195284"/>
            <a:ext cx="22084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i="1"/>
            </a:lvl1pPr>
          </a:lstStyle>
          <a:p>
            <a:r>
              <a:t>x</a:t>
            </a:r>
          </a:p>
        </p:txBody>
      </p:sp>
      <p:sp>
        <p:nvSpPr>
          <p:cNvPr id="475" name="Line 17"/>
          <p:cNvSpPr/>
          <p:nvPr/>
        </p:nvSpPr>
        <p:spPr>
          <a:xfrm>
            <a:off x="6426200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6" name="Line 18"/>
          <p:cNvSpPr/>
          <p:nvPr/>
        </p:nvSpPr>
        <p:spPr>
          <a:xfrm>
            <a:off x="7512050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7" name="Line 19"/>
          <p:cNvSpPr/>
          <p:nvPr/>
        </p:nvSpPr>
        <p:spPr>
          <a:xfrm>
            <a:off x="8580438" y="2440700"/>
            <a:ext cx="66675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8" name="AutoShape 20"/>
          <p:cNvSpPr/>
          <p:nvPr/>
        </p:nvSpPr>
        <p:spPr>
          <a:xfrm>
            <a:off x="4349749" y="2535238"/>
            <a:ext cx="374652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gradFill>
            <a:gsLst>
              <a:gs pos="0">
                <a:srgbClr val="EEECE1"/>
              </a:gs>
              <a:gs pos="100000">
                <a:srgbClr val="FFFFFF"/>
              </a:gs>
            </a:gsLst>
            <a:lin ang="5400000"/>
          </a:gra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9" name="Text Box 21"/>
          <p:cNvSpPr txBox="1"/>
          <p:nvPr/>
        </p:nvSpPr>
        <p:spPr>
          <a:xfrm>
            <a:off x="3263139" y="3444875"/>
            <a:ext cx="2535174" cy="87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800"/>
            </a:pPr>
            <a:r>
              <a:t>Transition matrix</a:t>
            </a:r>
          </a:p>
          <a:p>
            <a:pPr algn="ctr">
              <a:defRPr sz="2800" b="1"/>
            </a:pPr>
            <a:r>
              <a:t>T</a:t>
            </a:r>
            <a:r>
              <a:rPr b="0" i="1"/>
              <a:t> = P</a:t>
            </a:r>
            <a:r>
              <a:rPr b="0"/>
              <a:t>(</a:t>
            </a:r>
            <a:r>
              <a:rPr b="0" i="1"/>
              <a:t>x</a:t>
            </a:r>
            <a:r>
              <a:rPr b="0" baseline="30000"/>
              <a:t>(</a:t>
            </a:r>
            <a:r>
              <a:rPr b="0" i="1" baseline="30000"/>
              <a:t>t</a:t>
            </a:r>
            <a:r>
              <a:rPr b="0" baseline="30000"/>
              <a:t>+1)</a:t>
            </a:r>
            <a:r>
              <a:rPr b="0"/>
              <a:t>|</a:t>
            </a:r>
            <a:r>
              <a:rPr b="0" i="1"/>
              <a:t>x</a:t>
            </a:r>
            <a:r>
              <a:rPr b="0" baseline="30000"/>
              <a:t>(</a:t>
            </a:r>
            <a:r>
              <a:rPr b="0" i="1" baseline="30000"/>
              <a:t>t</a:t>
            </a:r>
            <a:r>
              <a:rPr b="0" baseline="30000"/>
              <a:t>)</a:t>
            </a:r>
            <a:r>
              <a:rPr b="0"/>
              <a:t>)</a:t>
            </a:r>
          </a:p>
        </p:txBody>
      </p:sp>
      <p:sp>
        <p:nvSpPr>
          <p:cNvPr id="480" name="Rectangle 22"/>
          <p:cNvSpPr txBox="1">
            <a:spLocks noGrp="1"/>
          </p:cNvSpPr>
          <p:nvPr>
            <p:ph type="title"/>
          </p:nvPr>
        </p:nvSpPr>
        <p:spPr>
          <a:xfrm>
            <a:off x="457200" y="13509"/>
            <a:ext cx="8229600" cy="873712"/>
          </a:xfrm>
          <a:prstGeom prst="rect">
            <a:avLst/>
          </a:prstGeom>
        </p:spPr>
        <p:txBody>
          <a:bodyPr/>
          <a:lstStyle/>
          <a:p>
            <a:r>
              <a:t>Markov chains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r>
              <a:t>Markov chain Monte Carlo (MCMC)</a:t>
            </a:r>
          </a:p>
        </p:txBody>
      </p:sp>
      <p:sp>
        <p:nvSpPr>
          <p:cNvPr id="485" name="Rectangle 3"/>
          <p:cNvSpPr txBox="1">
            <a:spLocks noGrp="1"/>
          </p:cNvSpPr>
          <p:nvPr>
            <p:ph type="body" idx="1"/>
          </p:nvPr>
        </p:nvSpPr>
        <p:spPr>
          <a:xfrm>
            <a:off x="406400" y="1981200"/>
            <a:ext cx="8051800" cy="4114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Sample from a target distribution </a:t>
            </a:r>
            <a:r>
              <a:rPr i="1"/>
              <a:t>P</a:t>
            </a:r>
            <a:r>
              <a:t>(</a:t>
            </a:r>
            <a:r>
              <a:rPr b="1" i="1"/>
              <a:t>x</a:t>
            </a:r>
            <a:r>
              <a:t>) by constructing Markov chain for which </a:t>
            </a:r>
            <a:r>
              <a:rPr i="1"/>
              <a:t>P</a:t>
            </a:r>
            <a:r>
              <a:t>(</a:t>
            </a:r>
            <a:r>
              <a:rPr b="1" i="1"/>
              <a:t>x</a:t>
            </a:r>
            <a:r>
              <a:t>) is the stationary distribution</a:t>
            </a:r>
          </a:p>
          <a:p>
            <a:pPr marL="0" indent="0">
              <a:buSzTx/>
              <a:buNone/>
              <a:defRPr sz="1800"/>
            </a:pPr>
            <a:endParaRPr/>
          </a:p>
          <a:p>
            <a:pPr marL="0" indent="0">
              <a:buSzTx/>
              <a:buNone/>
            </a:pPr>
            <a:r>
              <a:t>Two main schemes:</a:t>
            </a:r>
          </a:p>
          <a:p>
            <a:pPr marL="742950" lvl="1" indent="-285750">
              <a:spcBef>
                <a:spcPts val="600"/>
              </a:spcBef>
              <a:defRPr sz="2800" b="1"/>
            </a:pPr>
            <a:r>
              <a:t>Metropolis-Hastings algorithm</a:t>
            </a:r>
          </a:p>
          <a:p>
            <a:pPr marL="742950" lvl="1" indent="-285750">
              <a:spcBef>
                <a:spcPts val="600"/>
              </a:spcBef>
              <a:defRPr sz="2800"/>
            </a:pPr>
            <a:r>
              <a:t>Gibbs sampling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Rectangle 2"/>
          <p:cNvSpPr txBox="1">
            <a:spLocks noGrp="1"/>
          </p:cNvSpPr>
          <p:nvPr>
            <p:ph type="title"/>
          </p:nvPr>
        </p:nvSpPr>
        <p:spPr>
          <a:xfrm>
            <a:off x="660400" y="15875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Metropolis-Hastings algorithm</a:t>
            </a:r>
            <a:br/>
            <a:r>
              <a:rPr sz="2400"/>
              <a:t>(Metropolis et al., 1953; Hastings, 1970)</a:t>
            </a:r>
          </a:p>
        </p:txBody>
      </p:sp>
      <p:sp>
        <p:nvSpPr>
          <p:cNvPr id="488" name="Rectangle 3"/>
          <p:cNvSpPr txBox="1">
            <a:spLocks noGrp="1"/>
          </p:cNvSpPr>
          <p:nvPr>
            <p:ph type="body" idx="1"/>
          </p:nvPr>
        </p:nvSpPr>
        <p:spPr>
          <a:xfrm>
            <a:off x="482600" y="1684420"/>
            <a:ext cx="8128000" cy="4957009"/>
          </a:xfrm>
          <a:prstGeom prst="rect">
            <a:avLst/>
          </a:prstGeom>
        </p:spPr>
        <p:txBody>
          <a:bodyPr/>
          <a:lstStyle/>
          <a:p>
            <a:pPr marL="120650" indent="-120650">
              <a:spcBef>
                <a:spcPts val="600"/>
              </a:spcBef>
              <a:buSzTx/>
              <a:buNone/>
              <a:defRPr sz="2800"/>
            </a:pPr>
            <a:r>
              <a:t>      Step 0: Initialize values for the state of the chain</a:t>
            </a:r>
          </a:p>
          <a:p>
            <a:pPr marL="120650" indent="-120650">
              <a:spcBef>
                <a:spcPts val="400"/>
              </a:spcBef>
              <a:buSzTx/>
              <a:buNone/>
              <a:defRPr sz="2000"/>
            </a:pPr>
            <a:r>
              <a:t>		</a:t>
            </a:r>
          </a:p>
          <a:p>
            <a:pPr marL="120650" indent="-120650">
              <a:spcBef>
                <a:spcPts val="600"/>
              </a:spcBef>
              <a:buSzTx/>
              <a:buNone/>
              <a:defRPr sz="2000"/>
            </a:pPr>
            <a:r>
              <a:t>		</a:t>
            </a:r>
            <a:r>
              <a:rPr sz="2800"/>
              <a:t>Step 1: propose a state (we assume symmetrically)</a:t>
            </a:r>
            <a:r>
              <a:rPr sz="2400"/>
              <a:t> </a:t>
            </a:r>
            <a:r>
              <a:rPr sz="1600"/>
              <a:t>	</a:t>
            </a:r>
            <a:r>
              <a:rPr sz="2400"/>
              <a:t>		</a:t>
            </a:r>
          </a:p>
          <a:p>
            <a:pPr marL="285750" lvl="1" indent="171450">
              <a:spcBef>
                <a:spcPts val="600"/>
              </a:spcBef>
              <a:buSzTx/>
              <a:buNone/>
              <a:defRPr sz="2000" i="1"/>
            </a:pPr>
            <a:r>
              <a:t>			</a:t>
            </a:r>
            <a:r>
              <a:rPr sz="2800"/>
              <a:t>Q</a:t>
            </a:r>
            <a:r>
              <a:rPr sz="2800" i="0"/>
              <a:t>(</a:t>
            </a:r>
            <a:r>
              <a:rPr sz="2800"/>
              <a:t>x</a:t>
            </a:r>
            <a:r>
              <a:rPr sz="2800" i="0" baseline="30000"/>
              <a:t>(</a:t>
            </a:r>
            <a:r>
              <a:rPr sz="2800" baseline="30000"/>
              <a:t>t</a:t>
            </a:r>
            <a:r>
              <a:rPr sz="2800" i="0" baseline="30000"/>
              <a:t>+1)</a:t>
            </a:r>
            <a:r>
              <a:rPr sz="2800" i="0"/>
              <a:t>|</a:t>
            </a:r>
            <a:r>
              <a:rPr sz="2800"/>
              <a:t>x</a:t>
            </a:r>
            <a:r>
              <a:rPr sz="2800" i="0" baseline="30000"/>
              <a:t>(</a:t>
            </a:r>
            <a:r>
              <a:rPr sz="2800" baseline="30000"/>
              <a:t>t</a:t>
            </a:r>
            <a:r>
              <a:rPr sz="2800" i="0" baseline="30000"/>
              <a:t>)</a:t>
            </a:r>
            <a:r>
              <a:rPr sz="2800" i="0"/>
              <a:t>) = </a:t>
            </a:r>
            <a:r>
              <a:rPr sz="2800"/>
              <a:t>Q</a:t>
            </a:r>
            <a:r>
              <a:rPr sz="2800" i="0"/>
              <a:t>(</a:t>
            </a:r>
            <a:r>
              <a:rPr sz="2800"/>
              <a:t>x</a:t>
            </a:r>
            <a:r>
              <a:rPr sz="2800" i="0" baseline="30000"/>
              <a:t>(</a:t>
            </a:r>
            <a:r>
              <a:rPr sz="2800" baseline="30000"/>
              <a:t>t</a:t>
            </a:r>
            <a:r>
              <a:rPr sz="2800" i="0" baseline="30000"/>
              <a:t>)</a:t>
            </a:r>
            <a:r>
              <a:rPr sz="2800" i="0"/>
              <a:t>|</a:t>
            </a:r>
            <a:r>
              <a:rPr sz="2800"/>
              <a:t>x</a:t>
            </a:r>
            <a:r>
              <a:rPr sz="2800" i="0" baseline="30000"/>
              <a:t>(</a:t>
            </a:r>
            <a:r>
              <a:rPr sz="2800" baseline="30000"/>
              <a:t>t</a:t>
            </a:r>
            <a:r>
              <a:rPr sz="2800" i="0" baseline="30000"/>
              <a:t>+1)</a:t>
            </a:r>
            <a:r>
              <a:rPr sz="2800" i="0"/>
              <a:t>)</a:t>
            </a:r>
          </a:p>
          <a:p>
            <a:pPr marL="285750" lvl="1" indent="171450">
              <a:spcBef>
                <a:spcPts val="600"/>
              </a:spcBef>
              <a:buSzTx/>
              <a:buNone/>
              <a:defRPr sz="1600"/>
            </a:pPr>
            <a:endParaRPr sz="2800" i="0"/>
          </a:p>
          <a:p>
            <a:pPr marL="285750" lvl="1" indent="171450">
              <a:spcBef>
                <a:spcPts val="600"/>
              </a:spcBef>
              <a:buSzTx/>
              <a:buNone/>
              <a:defRPr sz="2800"/>
            </a:pPr>
            <a:r>
              <a:t>Step 2: decide whether to accept, with probability</a:t>
            </a:r>
            <a:endParaRPr sz="2400"/>
          </a:p>
          <a:p>
            <a:pPr marL="285750" lvl="1" indent="171450">
              <a:spcBef>
                <a:spcPts val="500"/>
              </a:spcBef>
              <a:buSzTx/>
              <a:buNone/>
              <a:defRPr sz="2400"/>
            </a:pPr>
            <a:r>
              <a:t>     </a:t>
            </a:r>
          </a:p>
        </p:txBody>
      </p:sp>
      <p:pic>
        <p:nvPicPr>
          <p:cNvPr id="48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337" y="4803940"/>
            <a:ext cx="6581776" cy="14620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" grpId="1" build="p" bldLvl="5" animBg="1" advAuto="0"/>
      <p:bldP spid="489" grpId="2" animBg="1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Metropolis-Hastings algorithm</a:t>
            </a:r>
          </a:p>
        </p:txBody>
      </p:sp>
      <p:sp>
        <p:nvSpPr>
          <p:cNvPr id="492" name="Line 3"/>
          <p:cNvSpPr/>
          <p:nvPr/>
        </p:nvSpPr>
        <p:spPr>
          <a:xfrm>
            <a:off x="952500" y="4886325"/>
            <a:ext cx="7108826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Oval 4"/>
          <p:cNvSpPr/>
          <p:nvPr/>
        </p:nvSpPr>
        <p:spPr>
          <a:xfrm>
            <a:off x="2609850" y="4832349"/>
            <a:ext cx="88900" cy="968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4" name="Freeform 5"/>
          <p:cNvSpPr/>
          <p:nvPr/>
        </p:nvSpPr>
        <p:spPr>
          <a:xfrm>
            <a:off x="987425" y="2432635"/>
            <a:ext cx="7056438" cy="239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93" extrusionOk="0">
                <a:moveTo>
                  <a:pt x="0" y="19509"/>
                </a:moveTo>
                <a:cubicBezTo>
                  <a:pt x="709" y="20027"/>
                  <a:pt x="1424" y="20545"/>
                  <a:pt x="1837" y="19216"/>
                </a:cubicBezTo>
                <a:cubicBezTo>
                  <a:pt x="2250" y="17887"/>
                  <a:pt x="2177" y="12570"/>
                  <a:pt x="2483" y="11533"/>
                </a:cubicBezTo>
                <a:cubicBezTo>
                  <a:pt x="2789" y="10496"/>
                  <a:pt x="3368" y="11998"/>
                  <a:pt x="3674" y="13009"/>
                </a:cubicBezTo>
                <a:cubicBezTo>
                  <a:pt x="3980" y="14019"/>
                  <a:pt x="3980" y="18020"/>
                  <a:pt x="4320" y="17581"/>
                </a:cubicBezTo>
                <a:cubicBezTo>
                  <a:pt x="4660" y="17143"/>
                  <a:pt x="5345" y="12836"/>
                  <a:pt x="5724" y="10350"/>
                </a:cubicBezTo>
                <a:cubicBezTo>
                  <a:pt x="6103" y="7865"/>
                  <a:pt x="6303" y="2441"/>
                  <a:pt x="6589" y="2667"/>
                </a:cubicBezTo>
                <a:cubicBezTo>
                  <a:pt x="6876" y="2893"/>
                  <a:pt x="6944" y="9048"/>
                  <a:pt x="7454" y="11679"/>
                </a:cubicBezTo>
                <a:cubicBezTo>
                  <a:pt x="7965" y="14311"/>
                  <a:pt x="8956" y="18126"/>
                  <a:pt x="9665" y="18472"/>
                </a:cubicBezTo>
                <a:cubicBezTo>
                  <a:pt x="10375" y="18817"/>
                  <a:pt x="11181" y="15933"/>
                  <a:pt x="11721" y="13740"/>
                </a:cubicBezTo>
                <a:cubicBezTo>
                  <a:pt x="12260" y="11546"/>
                  <a:pt x="12367" y="6336"/>
                  <a:pt x="12907" y="5326"/>
                </a:cubicBezTo>
                <a:cubicBezTo>
                  <a:pt x="13446" y="4315"/>
                  <a:pt x="14316" y="6163"/>
                  <a:pt x="14957" y="7692"/>
                </a:cubicBezTo>
                <a:cubicBezTo>
                  <a:pt x="15599" y="9220"/>
                  <a:pt x="16191" y="13102"/>
                  <a:pt x="16741" y="14484"/>
                </a:cubicBezTo>
                <a:cubicBezTo>
                  <a:pt x="17290" y="15866"/>
                  <a:pt x="17873" y="18379"/>
                  <a:pt x="18252" y="15960"/>
                </a:cubicBezTo>
                <a:cubicBezTo>
                  <a:pt x="18631" y="13540"/>
                  <a:pt x="18801" y="-390"/>
                  <a:pt x="19010" y="9"/>
                </a:cubicBezTo>
                <a:cubicBezTo>
                  <a:pt x="19219" y="408"/>
                  <a:pt x="19229" y="15441"/>
                  <a:pt x="19496" y="18326"/>
                </a:cubicBezTo>
                <a:cubicBezTo>
                  <a:pt x="19763" y="21210"/>
                  <a:pt x="20278" y="16996"/>
                  <a:pt x="20628" y="17289"/>
                </a:cubicBezTo>
                <a:cubicBezTo>
                  <a:pt x="20978" y="17581"/>
                  <a:pt x="21289" y="18831"/>
                  <a:pt x="21600" y="20093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5" name="Text Box 6"/>
          <p:cNvSpPr txBox="1"/>
          <p:nvPr/>
        </p:nvSpPr>
        <p:spPr>
          <a:xfrm>
            <a:off x="7383197" y="2443163"/>
            <a:ext cx="45931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/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Metropolis-Hastings algorithm</a:t>
            </a:r>
          </a:p>
        </p:txBody>
      </p:sp>
      <p:sp>
        <p:nvSpPr>
          <p:cNvPr id="498" name="Line 3"/>
          <p:cNvSpPr/>
          <p:nvPr/>
        </p:nvSpPr>
        <p:spPr>
          <a:xfrm>
            <a:off x="952500" y="4886325"/>
            <a:ext cx="7108826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9" name="Oval 4"/>
          <p:cNvSpPr/>
          <p:nvPr/>
        </p:nvSpPr>
        <p:spPr>
          <a:xfrm>
            <a:off x="2609850" y="4832349"/>
            <a:ext cx="88900" cy="968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00" name="Freeform 5"/>
          <p:cNvSpPr/>
          <p:nvPr/>
        </p:nvSpPr>
        <p:spPr>
          <a:xfrm>
            <a:off x="987425" y="2432635"/>
            <a:ext cx="7056438" cy="239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93" extrusionOk="0">
                <a:moveTo>
                  <a:pt x="0" y="19509"/>
                </a:moveTo>
                <a:cubicBezTo>
                  <a:pt x="709" y="20027"/>
                  <a:pt x="1424" y="20545"/>
                  <a:pt x="1837" y="19216"/>
                </a:cubicBezTo>
                <a:cubicBezTo>
                  <a:pt x="2250" y="17887"/>
                  <a:pt x="2177" y="12570"/>
                  <a:pt x="2483" y="11533"/>
                </a:cubicBezTo>
                <a:cubicBezTo>
                  <a:pt x="2789" y="10496"/>
                  <a:pt x="3368" y="11998"/>
                  <a:pt x="3674" y="13009"/>
                </a:cubicBezTo>
                <a:cubicBezTo>
                  <a:pt x="3980" y="14019"/>
                  <a:pt x="3980" y="18020"/>
                  <a:pt x="4320" y="17581"/>
                </a:cubicBezTo>
                <a:cubicBezTo>
                  <a:pt x="4660" y="17143"/>
                  <a:pt x="5345" y="12836"/>
                  <a:pt x="5724" y="10350"/>
                </a:cubicBezTo>
                <a:cubicBezTo>
                  <a:pt x="6103" y="7865"/>
                  <a:pt x="6303" y="2441"/>
                  <a:pt x="6589" y="2667"/>
                </a:cubicBezTo>
                <a:cubicBezTo>
                  <a:pt x="6876" y="2893"/>
                  <a:pt x="6944" y="9048"/>
                  <a:pt x="7454" y="11679"/>
                </a:cubicBezTo>
                <a:cubicBezTo>
                  <a:pt x="7965" y="14311"/>
                  <a:pt x="8956" y="18126"/>
                  <a:pt x="9665" y="18472"/>
                </a:cubicBezTo>
                <a:cubicBezTo>
                  <a:pt x="10375" y="18817"/>
                  <a:pt x="11181" y="15933"/>
                  <a:pt x="11721" y="13740"/>
                </a:cubicBezTo>
                <a:cubicBezTo>
                  <a:pt x="12260" y="11546"/>
                  <a:pt x="12367" y="6336"/>
                  <a:pt x="12907" y="5326"/>
                </a:cubicBezTo>
                <a:cubicBezTo>
                  <a:pt x="13446" y="4315"/>
                  <a:pt x="14316" y="6163"/>
                  <a:pt x="14957" y="7692"/>
                </a:cubicBezTo>
                <a:cubicBezTo>
                  <a:pt x="15599" y="9220"/>
                  <a:pt x="16191" y="13102"/>
                  <a:pt x="16741" y="14484"/>
                </a:cubicBezTo>
                <a:cubicBezTo>
                  <a:pt x="17290" y="15866"/>
                  <a:pt x="17873" y="18379"/>
                  <a:pt x="18252" y="15960"/>
                </a:cubicBezTo>
                <a:cubicBezTo>
                  <a:pt x="18631" y="13540"/>
                  <a:pt x="18801" y="-390"/>
                  <a:pt x="19010" y="9"/>
                </a:cubicBezTo>
                <a:cubicBezTo>
                  <a:pt x="19219" y="408"/>
                  <a:pt x="19229" y="15441"/>
                  <a:pt x="19496" y="18326"/>
                </a:cubicBezTo>
                <a:cubicBezTo>
                  <a:pt x="19763" y="21210"/>
                  <a:pt x="20278" y="16996"/>
                  <a:pt x="20628" y="17289"/>
                </a:cubicBezTo>
                <a:cubicBezTo>
                  <a:pt x="20978" y="17581"/>
                  <a:pt x="21289" y="18831"/>
                  <a:pt x="21600" y="20093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01" name="Freeform 6"/>
          <p:cNvSpPr/>
          <p:nvPr/>
        </p:nvSpPr>
        <p:spPr>
          <a:xfrm>
            <a:off x="2293938" y="4460874"/>
            <a:ext cx="355601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02" name="Freeform 7"/>
          <p:cNvSpPr/>
          <p:nvPr/>
        </p:nvSpPr>
        <p:spPr>
          <a:xfrm flipH="1">
            <a:off x="2641599" y="4457699"/>
            <a:ext cx="371476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03" name="Text Box 8"/>
          <p:cNvSpPr txBox="1"/>
          <p:nvPr/>
        </p:nvSpPr>
        <p:spPr>
          <a:xfrm>
            <a:off x="7383197" y="2443163"/>
            <a:ext cx="45931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/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Metropolis-Hastings algorithm</a:t>
            </a:r>
          </a:p>
        </p:txBody>
      </p:sp>
      <p:sp>
        <p:nvSpPr>
          <p:cNvPr id="506" name="Line 3"/>
          <p:cNvSpPr/>
          <p:nvPr/>
        </p:nvSpPr>
        <p:spPr>
          <a:xfrm>
            <a:off x="952500" y="4886325"/>
            <a:ext cx="7108826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7" name="Oval 4"/>
          <p:cNvSpPr/>
          <p:nvPr/>
        </p:nvSpPr>
        <p:spPr>
          <a:xfrm>
            <a:off x="2609850" y="4832349"/>
            <a:ext cx="88900" cy="968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08" name="Freeform 5"/>
          <p:cNvSpPr/>
          <p:nvPr/>
        </p:nvSpPr>
        <p:spPr>
          <a:xfrm>
            <a:off x="987425" y="2432635"/>
            <a:ext cx="7056438" cy="239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93" extrusionOk="0">
                <a:moveTo>
                  <a:pt x="0" y="19509"/>
                </a:moveTo>
                <a:cubicBezTo>
                  <a:pt x="709" y="20027"/>
                  <a:pt x="1424" y="20545"/>
                  <a:pt x="1837" y="19216"/>
                </a:cubicBezTo>
                <a:cubicBezTo>
                  <a:pt x="2250" y="17887"/>
                  <a:pt x="2177" y="12570"/>
                  <a:pt x="2483" y="11533"/>
                </a:cubicBezTo>
                <a:cubicBezTo>
                  <a:pt x="2789" y="10496"/>
                  <a:pt x="3368" y="11998"/>
                  <a:pt x="3674" y="13009"/>
                </a:cubicBezTo>
                <a:cubicBezTo>
                  <a:pt x="3980" y="14019"/>
                  <a:pt x="3980" y="18020"/>
                  <a:pt x="4320" y="17581"/>
                </a:cubicBezTo>
                <a:cubicBezTo>
                  <a:pt x="4660" y="17143"/>
                  <a:pt x="5345" y="12836"/>
                  <a:pt x="5724" y="10350"/>
                </a:cubicBezTo>
                <a:cubicBezTo>
                  <a:pt x="6103" y="7865"/>
                  <a:pt x="6303" y="2441"/>
                  <a:pt x="6589" y="2667"/>
                </a:cubicBezTo>
                <a:cubicBezTo>
                  <a:pt x="6876" y="2893"/>
                  <a:pt x="6944" y="9048"/>
                  <a:pt x="7454" y="11679"/>
                </a:cubicBezTo>
                <a:cubicBezTo>
                  <a:pt x="7965" y="14311"/>
                  <a:pt x="8956" y="18126"/>
                  <a:pt x="9665" y="18472"/>
                </a:cubicBezTo>
                <a:cubicBezTo>
                  <a:pt x="10375" y="18817"/>
                  <a:pt x="11181" y="15933"/>
                  <a:pt x="11721" y="13740"/>
                </a:cubicBezTo>
                <a:cubicBezTo>
                  <a:pt x="12260" y="11546"/>
                  <a:pt x="12367" y="6336"/>
                  <a:pt x="12907" y="5326"/>
                </a:cubicBezTo>
                <a:cubicBezTo>
                  <a:pt x="13446" y="4315"/>
                  <a:pt x="14316" y="6163"/>
                  <a:pt x="14957" y="7692"/>
                </a:cubicBezTo>
                <a:cubicBezTo>
                  <a:pt x="15599" y="9220"/>
                  <a:pt x="16191" y="13102"/>
                  <a:pt x="16741" y="14484"/>
                </a:cubicBezTo>
                <a:cubicBezTo>
                  <a:pt x="17290" y="15866"/>
                  <a:pt x="17873" y="18379"/>
                  <a:pt x="18252" y="15960"/>
                </a:cubicBezTo>
                <a:cubicBezTo>
                  <a:pt x="18631" y="13540"/>
                  <a:pt x="18801" y="-390"/>
                  <a:pt x="19010" y="9"/>
                </a:cubicBezTo>
                <a:cubicBezTo>
                  <a:pt x="19219" y="408"/>
                  <a:pt x="19229" y="15441"/>
                  <a:pt x="19496" y="18326"/>
                </a:cubicBezTo>
                <a:cubicBezTo>
                  <a:pt x="19763" y="21210"/>
                  <a:pt x="20278" y="16996"/>
                  <a:pt x="20628" y="17289"/>
                </a:cubicBezTo>
                <a:cubicBezTo>
                  <a:pt x="20978" y="17581"/>
                  <a:pt x="21289" y="18831"/>
                  <a:pt x="21600" y="20093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09" name="Freeform 6"/>
          <p:cNvSpPr/>
          <p:nvPr/>
        </p:nvSpPr>
        <p:spPr>
          <a:xfrm>
            <a:off x="2293938" y="4460874"/>
            <a:ext cx="355601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10" name="Freeform 7"/>
          <p:cNvSpPr/>
          <p:nvPr/>
        </p:nvSpPr>
        <p:spPr>
          <a:xfrm flipH="1">
            <a:off x="2641599" y="4457699"/>
            <a:ext cx="371476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11" name="Oval 8"/>
          <p:cNvSpPr/>
          <p:nvPr/>
        </p:nvSpPr>
        <p:spPr>
          <a:xfrm>
            <a:off x="2352675" y="4832349"/>
            <a:ext cx="88900" cy="968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12" name="Text Box 9"/>
          <p:cNvSpPr txBox="1"/>
          <p:nvPr/>
        </p:nvSpPr>
        <p:spPr>
          <a:xfrm>
            <a:off x="7383197" y="2443163"/>
            <a:ext cx="45931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/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Metropolis-Hastings algorithm</a:t>
            </a:r>
          </a:p>
        </p:txBody>
      </p:sp>
      <p:sp>
        <p:nvSpPr>
          <p:cNvPr id="515" name="Line 3"/>
          <p:cNvSpPr/>
          <p:nvPr/>
        </p:nvSpPr>
        <p:spPr>
          <a:xfrm>
            <a:off x="952500" y="4886325"/>
            <a:ext cx="7108826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6" name="Freeform 4"/>
          <p:cNvSpPr/>
          <p:nvPr/>
        </p:nvSpPr>
        <p:spPr>
          <a:xfrm>
            <a:off x="2293938" y="4460874"/>
            <a:ext cx="355601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17" name="Freeform 5"/>
          <p:cNvSpPr/>
          <p:nvPr/>
        </p:nvSpPr>
        <p:spPr>
          <a:xfrm flipH="1">
            <a:off x="2641599" y="4457699"/>
            <a:ext cx="371476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18" name="Line 6"/>
          <p:cNvSpPr/>
          <p:nvPr/>
        </p:nvSpPr>
        <p:spPr>
          <a:xfrm flipV="1">
            <a:off x="2398713" y="4532312"/>
            <a:ext cx="1" cy="354013"/>
          </a:xfrm>
          <a:prstGeom prst="line">
            <a:avLst/>
          </a:prstGeom>
          <a:ln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9" name="Oval 7"/>
          <p:cNvSpPr/>
          <p:nvPr/>
        </p:nvSpPr>
        <p:spPr>
          <a:xfrm>
            <a:off x="2352675" y="4832349"/>
            <a:ext cx="88900" cy="968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20" name="Line 8"/>
          <p:cNvSpPr/>
          <p:nvPr/>
        </p:nvSpPr>
        <p:spPr>
          <a:xfrm flipV="1">
            <a:off x="2639695" y="4122737"/>
            <a:ext cx="1" cy="723901"/>
          </a:xfrm>
          <a:prstGeom prst="line">
            <a:avLst/>
          </a:prstGeom>
          <a:ln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1" name="Freeform 9"/>
          <p:cNvSpPr/>
          <p:nvPr/>
        </p:nvSpPr>
        <p:spPr>
          <a:xfrm>
            <a:off x="987425" y="2432635"/>
            <a:ext cx="7056438" cy="239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93" extrusionOk="0">
                <a:moveTo>
                  <a:pt x="0" y="19509"/>
                </a:moveTo>
                <a:cubicBezTo>
                  <a:pt x="709" y="20027"/>
                  <a:pt x="1424" y="20545"/>
                  <a:pt x="1837" y="19216"/>
                </a:cubicBezTo>
                <a:cubicBezTo>
                  <a:pt x="2250" y="17887"/>
                  <a:pt x="2177" y="12570"/>
                  <a:pt x="2483" y="11533"/>
                </a:cubicBezTo>
                <a:cubicBezTo>
                  <a:pt x="2789" y="10496"/>
                  <a:pt x="3368" y="11998"/>
                  <a:pt x="3674" y="13009"/>
                </a:cubicBezTo>
                <a:cubicBezTo>
                  <a:pt x="3980" y="14019"/>
                  <a:pt x="3980" y="18020"/>
                  <a:pt x="4320" y="17581"/>
                </a:cubicBezTo>
                <a:cubicBezTo>
                  <a:pt x="4660" y="17143"/>
                  <a:pt x="5345" y="12836"/>
                  <a:pt x="5724" y="10350"/>
                </a:cubicBezTo>
                <a:cubicBezTo>
                  <a:pt x="6103" y="7865"/>
                  <a:pt x="6303" y="2441"/>
                  <a:pt x="6589" y="2667"/>
                </a:cubicBezTo>
                <a:cubicBezTo>
                  <a:pt x="6876" y="2893"/>
                  <a:pt x="6944" y="9048"/>
                  <a:pt x="7454" y="11679"/>
                </a:cubicBezTo>
                <a:cubicBezTo>
                  <a:pt x="7965" y="14311"/>
                  <a:pt x="8956" y="18126"/>
                  <a:pt x="9665" y="18472"/>
                </a:cubicBezTo>
                <a:cubicBezTo>
                  <a:pt x="10375" y="18817"/>
                  <a:pt x="11181" y="15933"/>
                  <a:pt x="11721" y="13740"/>
                </a:cubicBezTo>
                <a:cubicBezTo>
                  <a:pt x="12260" y="11546"/>
                  <a:pt x="12367" y="6336"/>
                  <a:pt x="12907" y="5326"/>
                </a:cubicBezTo>
                <a:cubicBezTo>
                  <a:pt x="13446" y="4315"/>
                  <a:pt x="14316" y="6163"/>
                  <a:pt x="14957" y="7692"/>
                </a:cubicBezTo>
                <a:cubicBezTo>
                  <a:pt x="15599" y="9220"/>
                  <a:pt x="16191" y="13102"/>
                  <a:pt x="16741" y="14484"/>
                </a:cubicBezTo>
                <a:cubicBezTo>
                  <a:pt x="17290" y="15866"/>
                  <a:pt x="17873" y="18379"/>
                  <a:pt x="18252" y="15960"/>
                </a:cubicBezTo>
                <a:cubicBezTo>
                  <a:pt x="18631" y="13540"/>
                  <a:pt x="18801" y="-390"/>
                  <a:pt x="19010" y="9"/>
                </a:cubicBezTo>
                <a:cubicBezTo>
                  <a:pt x="19219" y="408"/>
                  <a:pt x="19229" y="15441"/>
                  <a:pt x="19496" y="18326"/>
                </a:cubicBezTo>
                <a:cubicBezTo>
                  <a:pt x="19763" y="21210"/>
                  <a:pt x="20278" y="16996"/>
                  <a:pt x="20628" y="17289"/>
                </a:cubicBezTo>
                <a:cubicBezTo>
                  <a:pt x="20978" y="17581"/>
                  <a:pt x="21289" y="18831"/>
                  <a:pt x="21600" y="20093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22" name="Oval 10"/>
          <p:cNvSpPr/>
          <p:nvPr/>
        </p:nvSpPr>
        <p:spPr>
          <a:xfrm>
            <a:off x="2609850" y="4832349"/>
            <a:ext cx="88900" cy="968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23" name="Line 11"/>
          <p:cNvSpPr/>
          <p:nvPr/>
        </p:nvSpPr>
        <p:spPr>
          <a:xfrm flipH="1" flipV="1">
            <a:off x="2452688" y="4673599"/>
            <a:ext cx="1428751" cy="828676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4" name="Line 12"/>
          <p:cNvSpPr/>
          <p:nvPr/>
        </p:nvSpPr>
        <p:spPr>
          <a:xfrm flipH="1" flipV="1">
            <a:off x="2698749" y="4373562"/>
            <a:ext cx="1217614" cy="1006476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5" name="Text Box 13"/>
          <p:cNvSpPr txBox="1"/>
          <p:nvPr/>
        </p:nvSpPr>
        <p:spPr>
          <a:xfrm>
            <a:off x="3908108" y="5235575"/>
            <a:ext cx="162851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A(</a:t>
            </a:r>
            <a:r>
              <a:rPr i="1"/>
              <a:t>x</a:t>
            </a:r>
            <a:r>
              <a:rPr baseline="30000"/>
              <a:t>(</a:t>
            </a:r>
            <a:r>
              <a:rPr i="1" baseline="30000"/>
              <a:t>t</a:t>
            </a:r>
            <a:r>
              <a:rPr baseline="30000"/>
              <a:t>)</a:t>
            </a:r>
            <a:r>
              <a:t>, </a:t>
            </a:r>
            <a:r>
              <a:rPr i="1"/>
              <a:t>x</a:t>
            </a:r>
            <a:r>
              <a:rPr baseline="30000"/>
              <a:t>(</a:t>
            </a:r>
            <a:r>
              <a:rPr i="1" baseline="30000"/>
              <a:t>t</a:t>
            </a:r>
            <a:r>
              <a:rPr baseline="30000"/>
              <a:t>+1)</a:t>
            </a:r>
            <a:r>
              <a:t>) = 0.5</a:t>
            </a:r>
          </a:p>
        </p:txBody>
      </p:sp>
      <p:sp>
        <p:nvSpPr>
          <p:cNvPr id="526" name="Text Box 14"/>
          <p:cNvSpPr txBox="1"/>
          <p:nvPr/>
        </p:nvSpPr>
        <p:spPr>
          <a:xfrm>
            <a:off x="7383197" y="2443163"/>
            <a:ext cx="45931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/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Metropolis-Hastings algorithm</a:t>
            </a:r>
          </a:p>
        </p:txBody>
      </p:sp>
      <p:sp>
        <p:nvSpPr>
          <p:cNvPr id="529" name="Line 3"/>
          <p:cNvSpPr/>
          <p:nvPr/>
        </p:nvSpPr>
        <p:spPr>
          <a:xfrm>
            <a:off x="952500" y="4886325"/>
            <a:ext cx="7108826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0" name="Oval 4"/>
          <p:cNvSpPr/>
          <p:nvPr/>
        </p:nvSpPr>
        <p:spPr>
          <a:xfrm>
            <a:off x="2609850" y="4832349"/>
            <a:ext cx="88900" cy="968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31" name="Freeform 5"/>
          <p:cNvSpPr/>
          <p:nvPr/>
        </p:nvSpPr>
        <p:spPr>
          <a:xfrm>
            <a:off x="987425" y="2432635"/>
            <a:ext cx="7056438" cy="239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93" extrusionOk="0">
                <a:moveTo>
                  <a:pt x="0" y="19509"/>
                </a:moveTo>
                <a:cubicBezTo>
                  <a:pt x="709" y="20027"/>
                  <a:pt x="1424" y="20545"/>
                  <a:pt x="1837" y="19216"/>
                </a:cubicBezTo>
                <a:cubicBezTo>
                  <a:pt x="2250" y="17887"/>
                  <a:pt x="2177" y="12570"/>
                  <a:pt x="2483" y="11533"/>
                </a:cubicBezTo>
                <a:cubicBezTo>
                  <a:pt x="2789" y="10496"/>
                  <a:pt x="3368" y="11998"/>
                  <a:pt x="3674" y="13009"/>
                </a:cubicBezTo>
                <a:cubicBezTo>
                  <a:pt x="3980" y="14019"/>
                  <a:pt x="3980" y="18020"/>
                  <a:pt x="4320" y="17581"/>
                </a:cubicBezTo>
                <a:cubicBezTo>
                  <a:pt x="4660" y="17143"/>
                  <a:pt x="5345" y="12836"/>
                  <a:pt x="5724" y="10350"/>
                </a:cubicBezTo>
                <a:cubicBezTo>
                  <a:pt x="6103" y="7865"/>
                  <a:pt x="6303" y="2441"/>
                  <a:pt x="6589" y="2667"/>
                </a:cubicBezTo>
                <a:cubicBezTo>
                  <a:pt x="6876" y="2893"/>
                  <a:pt x="6944" y="9048"/>
                  <a:pt x="7454" y="11679"/>
                </a:cubicBezTo>
                <a:cubicBezTo>
                  <a:pt x="7965" y="14311"/>
                  <a:pt x="8956" y="18126"/>
                  <a:pt x="9665" y="18472"/>
                </a:cubicBezTo>
                <a:cubicBezTo>
                  <a:pt x="10375" y="18817"/>
                  <a:pt x="11181" y="15933"/>
                  <a:pt x="11721" y="13740"/>
                </a:cubicBezTo>
                <a:cubicBezTo>
                  <a:pt x="12260" y="11546"/>
                  <a:pt x="12367" y="6336"/>
                  <a:pt x="12907" y="5326"/>
                </a:cubicBezTo>
                <a:cubicBezTo>
                  <a:pt x="13446" y="4315"/>
                  <a:pt x="14316" y="6163"/>
                  <a:pt x="14957" y="7692"/>
                </a:cubicBezTo>
                <a:cubicBezTo>
                  <a:pt x="15599" y="9220"/>
                  <a:pt x="16191" y="13102"/>
                  <a:pt x="16741" y="14484"/>
                </a:cubicBezTo>
                <a:cubicBezTo>
                  <a:pt x="17290" y="15866"/>
                  <a:pt x="17873" y="18379"/>
                  <a:pt x="18252" y="15960"/>
                </a:cubicBezTo>
                <a:cubicBezTo>
                  <a:pt x="18631" y="13540"/>
                  <a:pt x="18801" y="-390"/>
                  <a:pt x="19010" y="9"/>
                </a:cubicBezTo>
                <a:cubicBezTo>
                  <a:pt x="19219" y="408"/>
                  <a:pt x="19229" y="15441"/>
                  <a:pt x="19496" y="18326"/>
                </a:cubicBezTo>
                <a:cubicBezTo>
                  <a:pt x="19763" y="21210"/>
                  <a:pt x="20278" y="16996"/>
                  <a:pt x="20628" y="17289"/>
                </a:cubicBezTo>
                <a:cubicBezTo>
                  <a:pt x="20978" y="17581"/>
                  <a:pt x="21289" y="18831"/>
                  <a:pt x="21600" y="20093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32" name="Freeform 6"/>
          <p:cNvSpPr/>
          <p:nvPr/>
        </p:nvSpPr>
        <p:spPr>
          <a:xfrm>
            <a:off x="2293938" y="4460874"/>
            <a:ext cx="355601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33" name="Freeform 7"/>
          <p:cNvSpPr/>
          <p:nvPr/>
        </p:nvSpPr>
        <p:spPr>
          <a:xfrm flipH="1">
            <a:off x="2641599" y="4457699"/>
            <a:ext cx="371476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34" name="Oval 8"/>
          <p:cNvSpPr/>
          <p:nvPr/>
        </p:nvSpPr>
        <p:spPr>
          <a:xfrm>
            <a:off x="2865438" y="4832349"/>
            <a:ext cx="88901" cy="968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35" name="Text Box 9"/>
          <p:cNvSpPr txBox="1"/>
          <p:nvPr/>
        </p:nvSpPr>
        <p:spPr>
          <a:xfrm>
            <a:off x="7383197" y="2443163"/>
            <a:ext cx="45931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/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Metropolis-Hastings algorithm</a:t>
            </a:r>
          </a:p>
        </p:txBody>
      </p:sp>
      <p:sp>
        <p:nvSpPr>
          <p:cNvPr id="538" name="Line 3"/>
          <p:cNvSpPr/>
          <p:nvPr/>
        </p:nvSpPr>
        <p:spPr>
          <a:xfrm>
            <a:off x="952500" y="4886325"/>
            <a:ext cx="7108826" cy="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9" name="Freeform 4"/>
          <p:cNvSpPr/>
          <p:nvPr/>
        </p:nvSpPr>
        <p:spPr>
          <a:xfrm>
            <a:off x="2293938" y="4460874"/>
            <a:ext cx="355601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40" name="Freeform 5"/>
          <p:cNvSpPr/>
          <p:nvPr/>
        </p:nvSpPr>
        <p:spPr>
          <a:xfrm flipH="1">
            <a:off x="2641599" y="4457699"/>
            <a:ext cx="371476" cy="3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904" y="20658"/>
                  <a:pt x="9848" y="19779"/>
                  <a:pt x="12603" y="17456"/>
                </a:cubicBezTo>
                <a:cubicBezTo>
                  <a:pt x="15359" y="15133"/>
                  <a:pt x="15683" y="10109"/>
                  <a:pt x="16656" y="7660"/>
                </a:cubicBezTo>
                <a:cubicBezTo>
                  <a:pt x="17629" y="5212"/>
                  <a:pt x="17669" y="4019"/>
                  <a:pt x="18480" y="2763"/>
                </a:cubicBezTo>
                <a:cubicBezTo>
                  <a:pt x="19290" y="1507"/>
                  <a:pt x="20425" y="753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41" name="Line 6"/>
          <p:cNvSpPr/>
          <p:nvPr/>
        </p:nvSpPr>
        <p:spPr>
          <a:xfrm flipV="1">
            <a:off x="2894013" y="3579812"/>
            <a:ext cx="1" cy="1306513"/>
          </a:xfrm>
          <a:prstGeom prst="line">
            <a:avLst/>
          </a:prstGeom>
          <a:ln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2" name="Line 7"/>
          <p:cNvSpPr/>
          <p:nvPr/>
        </p:nvSpPr>
        <p:spPr>
          <a:xfrm flipV="1">
            <a:off x="2639695" y="4122737"/>
            <a:ext cx="1" cy="723901"/>
          </a:xfrm>
          <a:prstGeom prst="line">
            <a:avLst/>
          </a:prstGeom>
          <a:ln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3" name="Freeform 8"/>
          <p:cNvSpPr/>
          <p:nvPr/>
        </p:nvSpPr>
        <p:spPr>
          <a:xfrm>
            <a:off x="987425" y="2432635"/>
            <a:ext cx="7056438" cy="239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93" extrusionOk="0">
                <a:moveTo>
                  <a:pt x="0" y="19509"/>
                </a:moveTo>
                <a:cubicBezTo>
                  <a:pt x="709" y="20027"/>
                  <a:pt x="1424" y="20545"/>
                  <a:pt x="1837" y="19216"/>
                </a:cubicBezTo>
                <a:cubicBezTo>
                  <a:pt x="2250" y="17887"/>
                  <a:pt x="2177" y="12570"/>
                  <a:pt x="2483" y="11533"/>
                </a:cubicBezTo>
                <a:cubicBezTo>
                  <a:pt x="2789" y="10496"/>
                  <a:pt x="3368" y="11998"/>
                  <a:pt x="3674" y="13009"/>
                </a:cubicBezTo>
                <a:cubicBezTo>
                  <a:pt x="3980" y="14019"/>
                  <a:pt x="3980" y="18020"/>
                  <a:pt x="4320" y="17581"/>
                </a:cubicBezTo>
                <a:cubicBezTo>
                  <a:pt x="4660" y="17143"/>
                  <a:pt x="5345" y="12836"/>
                  <a:pt x="5724" y="10350"/>
                </a:cubicBezTo>
                <a:cubicBezTo>
                  <a:pt x="6103" y="7865"/>
                  <a:pt x="6303" y="2441"/>
                  <a:pt x="6589" y="2667"/>
                </a:cubicBezTo>
                <a:cubicBezTo>
                  <a:pt x="6876" y="2893"/>
                  <a:pt x="6944" y="9048"/>
                  <a:pt x="7454" y="11679"/>
                </a:cubicBezTo>
                <a:cubicBezTo>
                  <a:pt x="7965" y="14311"/>
                  <a:pt x="8956" y="18126"/>
                  <a:pt x="9665" y="18472"/>
                </a:cubicBezTo>
                <a:cubicBezTo>
                  <a:pt x="10375" y="18817"/>
                  <a:pt x="11181" y="15933"/>
                  <a:pt x="11721" y="13740"/>
                </a:cubicBezTo>
                <a:cubicBezTo>
                  <a:pt x="12260" y="11546"/>
                  <a:pt x="12367" y="6336"/>
                  <a:pt x="12907" y="5326"/>
                </a:cubicBezTo>
                <a:cubicBezTo>
                  <a:pt x="13446" y="4315"/>
                  <a:pt x="14316" y="6163"/>
                  <a:pt x="14957" y="7692"/>
                </a:cubicBezTo>
                <a:cubicBezTo>
                  <a:pt x="15599" y="9220"/>
                  <a:pt x="16191" y="13102"/>
                  <a:pt x="16741" y="14484"/>
                </a:cubicBezTo>
                <a:cubicBezTo>
                  <a:pt x="17290" y="15866"/>
                  <a:pt x="17873" y="18379"/>
                  <a:pt x="18252" y="15960"/>
                </a:cubicBezTo>
                <a:cubicBezTo>
                  <a:pt x="18631" y="13540"/>
                  <a:pt x="18801" y="-390"/>
                  <a:pt x="19010" y="9"/>
                </a:cubicBezTo>
                <a:cubicBezTo>
                  <a:pt x="19219" y="408"/>
                  <a:pt x="19229" y="15441"/>
                  <a:pt x="19496" y="18326"/>
                </a:cubicBezTo>
                <a:cubicBezTo>
                  <a:pt x="19763" y="21210"/>
                  <a:pt x="20278" y="16996"/>
                  <a:pt x="20628" y="17289"/>
                </a:cubicBezTo>
                <a:cubicBezTo>
                  <a:pt x="20978" y="17581"/>
                  <a:pt x="21289" y="18831"/>
                  <a:pt x="21600" y="20093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44" name="Oval 9"/>
          <p:cNvSpPr/>
          <p:nvPr/>
        </p:nvSpPr>
        <p:spPr>
          <a:xfrm>
            <a:off x="2609850" y="4832349"/>
            <a:ext cx="88900" cy="968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45" name="Line 10"/>
          <p:cNvSpPr/>
          <p:nvPr/>
        </p:nvSpPr>
        <p:spPr>
          <a:xfrm flipH="1" flipV="1">
            <a:off x="2698749" y="4356099"/>
            <a:ext cx="1200151" cy="1076326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6" name="Line 11"/>
          <p:cNvSpPr/>
          <p:nvPr/>
        </p:nvSpPr>
        <p:spPr>
          <a:xfrm flipH="1" flipV="1">
            <a:off x="2963863" y="4214812"/>
            <a:ext cx="952501" cy="1165226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7" name="Text Box 12"/>
          <p:cNvSpPr txBox="1"/>
          <p:nvPr/>
        </p:nvSpPr>
        <p:spPr>
          <a:xfrm>
            <a:off x="3908107" y="5235575"/>
            <a:ext cx="145494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A(</a:t>
            </a:r>
            <a:r>
              <a:rPr i="1"/>
              <a:t>x</a:t>
            </a:r>
            <a:r>
              <a:rPr baseline="30000"/>
              <a:t>(</a:t>
            </a:r>
            <a:r>
              <a:rPr i="1" baseline="30000"/>
              <a:t>t</a:t>
            </a:r>
            <a:r>
              <a:rPr baseline="30000"/>
              <a:t>)</a:t>
            </a:r>
            <a:r>
              <a:t>, </a:t>
            </a:r>
            <a:r>
              <a:rPr i="1"/>
              <a:t>x</a:t>
            </a:r>
            <a:r>
              <a:rPr baseline="30000"/>
              <a:t>(</a:t>
            </a:r>
            <a:r>
              <a:rPr i="1" baseline="30000"/>
              <a:t>t</a:t>
            </a:r>
            <a:r>
              <a:rPr baseline="30000"/>
              <a:t>+1)</a:t>
            </a:r>
            <a:r>
              <a:t>) = 1</a:t>
            </a:r>
          </a:p>
        </p:txBody>
      </p:sp>
      <p:sp>
        <p:nvSpPr>
          <p:cNvPr id="548" name="Oval 13"/>
          <p:cNvSpPr/>
          <p:nvPr/>
        </p:nvSpPr>
        <p:spPr>
          <a:xfrm>
            <a:off x="2865438" y="4832349"/>
            <a:ext cx="88901" cy="968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49" name="Text Box 14"/>
          <p:cNvSpPr txBox="1"/>
          <p:nvPr/>
        </p:nvSpPr>
        <p:spPr>
          <a:xfrm>
            <a:off x="7383197" y="2443163"/>
            <a:ext cx="45931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/>
            </a:pPr>
            <a:r>
              <a:t>p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</a:t>
            </a:r>
          </a:p>
        </p:txBody>
      </p:sp>
      <p:sp>
        <p:nvSpPr>
          <p:cNvPr id="55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Visualizing Metropolis-Hastings/Gibbs Sampling</a:t>
            </a:r>
          </a:p>
          <a:p>
            <a:pPr marL="0" indent="0">
              <a:buSzTx/>
              <a:buNone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https://chi-feng.github.io/mcmc-demo/</a:t>
            </a:r>
          </a:p>
          <a:p>
            <a:pPr marL="0" indent="0">
              <a:buSzTx/>
              <a:buNone/>
            </a:pPr>
            <a:endParaRPr u="sng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  <a:p>
            <a:pPr marL="0" indent="0">
              <a:buSzTx/>
              <a:buNone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https://chi-feng.github.io/mcmc-demo/app.html?algorithm=RandomWalkMH&amp;target=standard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r>
              <a:t>Markov chain Monte Carlo (MCMC)</a:t>
            </a:r>
          </a:p>
        </p:txBody>
      </p:sp>
      <p:sp>
        <p:nvSpPr>
          <p:cNvPr id="557" name="Rectangle 3"/>
          <p:cNvSpPr txBox="1">
            <a:spLocks noGrp="1"/>
          </p:cNvSpPr>
          <p:nvPr>
            <p:ph type="body" idx="1"/>
          </p:nvPr>
        </p:nvSpPr>
        <p:spPr>
          <a:xfrm>
            <a:off x="406400" y="1981200"/>
            <a:ext cx="8051800" cy="4114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Sample from a target distribution </a:t>
            </a:r>
            <a:r>
              <a:rPr i="1"/>
              <a:t>P</a:t>
            </a:r>
            <a:r>
              <a:t>(</a:t>
            </a:r>
            <a:r>
              <a:rPr b="1" i="1"/>
              <a:t>x</a:t>
            </a:r>
            <a:r>
              <a:t>) by constructing Markov chain for which </a:t>
            </a:r>
            <a:r>
              <a:rPr i="1"/>
              <a:t>P</a:t>
            </a:r>
            <a:r>
              <a:t>(</a:t>
            </a:r>
            <a:r>
              <a:rPr b="1" i="1"/>
              <a:t>x</a:t>
            </a:r>
            <a:r>
              <a:t>) is the stationary distribution</a:t>
            </a:r>
          </a:p>
          <a:p>
            <a:pPr marL="0" indent="0">
              <a:buSzTx/>
              <a:buNone/>
              <a:defRPr sz="1800"/>
            </a:pPr>
            <a:endParaRPr/>
          </a:p>
          <a:p>
            <a:pPr marL="0" indent="0">
              <a:buSzTx/>
              <a:buNone/>
            </a:pPr>
            <a:r>
              <a:t>Two main schemes:</a:t>
            </a:r>
          </a:p>
          <a:p>
            <a:pPr marL="742950" lvl="1" indent="-285750">
              <a:spcBef>
                <a:spcPts val="600"/>
              </a:spcBef>
              <a:defRPr sz="2800"/>
            </a:pPr>
            <a:r>
              <a:t>Metropolis-Hastings algorithm</a:t>
            </a:r>
          </a:p>
          <a:p>
            <a:pPr marL="742950" lvl="1" indent="-285750">
              <a:spcBef>
                <a:spcPts val="600"/>
              </a:spcBef>
              <a:defRPr sz="2800" b="1"/>
            </a:pPr>
            <a:r>
              <a:t>Gibbs sampling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Rectangle 2"/>
          <p:cNvSpPr txBox="1">
            <a:spLocks noGrp="1"/>
          </p:cNvSpPr>
          <p:nvPr>
            <p:ph type="title"/>
          </p:nvPr>
        </p:nvSpPr>
        <p:spPr>
          <a:xfrm>
            <a:off x="457200" y="22790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Gibbs sampling</a:t>
            </a:r>
          </a:p>
        </p:txBody>
      </p:sp>
      <p:sp>
        <p:nvSpPr>
          <p:cNvPr id="560" name="Rectangle 3"/>
          <p:cNvSpPr txBox="1">
            <a:spLocks noGrp="1"/>
          </p:cNvSpPr>
          <p:nvPr>
            <p:ph type="body" idx="1"/>
          </p:nvPr>
        </p:nvSpPr>
        <p:spPr>
          <a:xfrm>
            <a:off x="283491" y="1140857"/>
            <a:ext cx="8584105" cy="5241437"/>
          </a:xfrm>
          <a:prstGeom prst="rect">
            <a:avLst/>
          </a:prstGeom>
        </p:spPr>
        <p:txBody>
          <a:bodyPr/>
          <a:lstStyle/>
          <a:p>
            <a:pPr marL="332613" indent="-332613" defTabSz="443484">
              <a:buSzTx/>
              <a:buNone/>
              <a:defRPr sz="3104"/>
            </a:pPr>
            <a:r>
              <a:t>1. Start a “chain” with a random state.</a:t>
            </a:r>
          </a:p>
          <a:p>
            <a:pPr marL="332613" indent="-332613" defTabSz="443484">
              <a:buSzTx/>
              <a:buNone/>
              <a:defRPr sz="3104"/>
            </a:pPr>
            <a:r>
              <a:t>2. Pick a random variable in state.</a:t>
            </a:r>
          </a:p>
          <a:p>
            <a:pPr marL="332613" indent="-332613" defTabSz="443484">
              <a:buSzTx/>
              <a:buNone/>
              <a:defRPr sz="3104"/>
            </a:pPr>
            <a:r>
              <a:t>3. Resample that variable’s value conditioned on 	the other </a:t>
            </a:r>
          </a:p>
          <a:p>
            <a:pPr marL="332613" indent="-332613" defTabSz="443484">
              <a:buSzTx/>
              <a:buNone/>
              <a:defRPr sz="3104"/>
            </a:pPr>
            <a:r>
              <a:t>4. Go back to 2 and repeat indefinitely.</a:t>
            </a:r>
          </a:p>
          <a:p>
            <a:pPr marL="332613" indent="-332613" defTabSz="443484">
              <a:buSzTx/>
              <a:buNone/>
              <a:defRPr sz="3104"/>
            </a:pPr>
            <a:endParaRPr/>
          </a:p>
          <a:p>
            <a:pPr marL="332613" indent="-332613" defTabSz="443484">
              <a:buSzTx/>
              <a:buNone/>
              <a:defRPr sz="3104"/>
            </a:pPr>
            <a:r>
              <a:t>  For variables </a:t>
            </a:r>
            <a:r>
              <a:rPr b="1" i="1"/>
              <a:t>x</a:t>
            </a:r>
            <a:r>
              <a:t> = </a:t>
            </a:r>
            <a:r>
              <a:rPr i="1"/>
              <a:t>x</a:t>
            </a:r>
            <a:r>
              <a:rPr baseline="-25587"/>
              <a:t>1</a:t>
            </a:r>
            <a:r>
              <a:t>, </a:t>
            </a:r>
            <a:r>
              <a:rPr i="1"/>
              <a:t>x</a:t>
            </a:r>
            <a:r>
              <a:rPr baseline="-25587"/>
              <a:t>2</a:t>
            </a:r>
            <a:r>
              <a:t>, …, </a:t>
            </a:r>
            <a:r>
              <a:rPr i="1"/>
              <a:t>x</a:t>
            </a:r>
            <a:r>
              <a:rPr i="1" baseline="-25587"/>
              <a:t>n </a:t>
            </a:r>
            <a:r>
              <a:t>and target</a:t>
            </a:r>
            <a:r>
              <a:rPr i="1"/>
              <a:t> P</a:t>
            </a:r>
            <a:r>
              <a:t>(</a:t>
            </a:r>
            <a:r>
              <a:rPr b="1" i="1"/>
              <a:t>x</a:t>
            </a:r>
            <a:r>
              <a:t>)</a:t>
            </a:r>
            <a:endParaRPr baseline="-25587"/>
          </a:p>
          <a:p>
            <a:pPr marL="332613" indent="-332613" defTabSz="443484">
              <a:buSzTx/>
              <a:buNone/>
              <a:defRPr sz="3104"/>
            </a:pPr>
            <a:r>
              <a:t>	  Draw </a:t>
            </a:r>
            <a:r>
              <a:rPr i="1"/>
              <a:t>x</a:t>
            </a:r>
            <a:r>
              <a:rPr i="1" baseline="-25587"/>
              <a:t>i</a:t>
            </a:r>
            <a:r>
              <a:rPr baseline="29938"/>
              <a:t>(</a:t>
            </a:r>
            <a:r>
              <a:rPr i="1" baseline="29938"/>
              <a:t>t</a:t>
            </a:r>
            <a:r>
              <a:rPr baseline="29938"/>
              <a:t>+1)</a:t>
            </a:r>
            <a:r>
              <a:t> from </a:t>
            </a:r>
            <a:r>
              <a:rPr i="1"/>
              <a:t>P</a:t>
            </a:r>
            <a:r>
              <a:t>(</a:t>
            </a:r>
            <a:r>
              <a:rPr i="1"/>
              <a:t>x</a:t>
            </a:r>
            <a:r>
              <a:rPr i="1" baseline="-25587"/>
              <a:t>i</a:t>
            </a:r>
            <a:r>
              <a:t>|</a:t>
            </a:r>
            <a:r>
              <a:rPr b="1" i="1"/>
              <a:t>x</a:t>
            </a:r>
            <a:r>
              <a:rPr i="1" baseline="-25587"/>
              <a:t>-i</a:t>
            </a:r>
            <a:r>
              <a:t>)</a:t>
            </a:r>
            <a:endParaRPr i="1"/>
          </a:p>
          <a:p>
            <a:pPr marL="332613" indent="-332613" algn="ctr" defTabSz="443484">
              <a:buSzTx/>
              <a:buNone/>
              <a:defRPr sz="3104" b="1" i="1"/>
            </a:pPr>
            <a:r>
              <a:t>x</a:t>
            </a:r>
            <a:r>
              <a:rPr b="0" i="0" baseline="-25587"/>
              <a:t>-i</a:t>
            </a:r>
            <a:r>
              <a:rPr b="0" i="0"/>
              <a:t> = x</a:t>
            </a:r>
            <a:r>
              <a:rPr b="0" i="0" baseline="-25587"/>
              <a:t>1</a:t>
            </a:r>
            <a:r>
              <a:rPr b="0" i="0" baseline="29938"/>
              <a:t>(t+1)</a:t>
            </a:r>
            <a:r>
              <a:rPr b="0" i="0"/>
              <a:t>,</a:t>
            </a:r>
            <a:r>
              <a:rPr b="0" i="0" baseline="-25587"/>
              <a:t> </a:t>
            </a:r>
            <a:r>
              <a:rPr b="0" i="0"/>
              <a:t>x</a:t>
            </a:r>
            <a:r>
              <a:rPr b="0" i="0" baseline="-25587"/>
              <a:t>2</a:t>
            </a:r>
            <a:r>
              <a:rPr b="0" i="0" baseline="29938"/>
              <a:t>(t+1)</a:t>
            </a:r>
            <a:r>
              <a:rPr b="0" i="0"/>
              <a:t>,…, x</a:t>
            </a:r>
            <a:r>
              <a:rPr b="0" i="0" baseline="-25587"/>
              <a:t>i-1</a:t>
            </a:r>
            <a:r>
              <a:rPr b="0" i="0" baseline="29938"/>
              <a:t>(t+1)</a:t>
            </a:r>
            <a:r>
              <a:rPr b="0" i="0" baseline="-25587"/>
              <a:t>, </a:t>
            </a:r>
            <a:r>
              <a:rPr b="0" i="0"/>
              <a:t>x</a:t>
            </a:r>
            <a:r>
              <a:rPr b="0" i="0" baseline="-25587"/>
              <a:t>i+1</a:t>
            </a:r>
            <a:r>
              <a:rPr b="0" i="0" baseline="29938"/>
              <a:t>(t)</a:t>
            </a:r>
            <a:r>
              <a:rPr b="0" i="0" baseline="-25587"/>
              <a:t>, …,</a:t>
            </a:r>
            <a:r>
              <a:rPr b="0" i="0"/>
              <a:t> x</a:t>
            </a:r>
            <a:r>
              <a:rPr b="0" i="0" baseline="-25587"/>
              <a:t>n</a:t>
            </a:r>
            <a:r>
              <a:rPr b="0" i="0" baseline="29938"/>
              <a:t>(t)</a:t>
            </a:r>
          </a:p>
        </p:txBody>
      </p:sp>
      <p:sp>
        <p:nvSpPr>
          <p:cNvPr id="561" name="TextBox 1"/>
          <p:cNvSpPr txBox="1"/>
          <p:nvPr/>
        </p:nvSpPr>
        <p:spPr>
          <a:xfrm>
            <a:off x="6157786" y="6488667"/>
            <a:ext cx="290222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t>(Geman &amp; Geman, 1984)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" grpId="1" build="p" bldLvl="5" animBg="1" advAuto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Oval 3"/>
          <p:cNvSpPr/>
          <p:nvPr/>
        </p:nvSpPr>
        <p:spPr>
          <a:xfrm>
            <a:off x="1295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66" name="Oval 4"/>
          <p:cNvSpPr/>
          <p:nvPr/>
        </p:nvSpPr>
        <p:spPr>
          <a:xfrm>
            <a:off x="2275114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67" name="Oval 5"/>
          <p:cNvSpPr/>
          <p:nvPr/>
        </p:nvSpPr>
        <p:spPr>
          <a:xfrm>
            <a:off x="3254828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68" name="Oval 6"/>
          <p:cNvSpPr/>
          <p:nvPr/>
        </p:nvSpPr>
        <p:spPr>
          <a:xfrm>
            <a:off x="4234541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69" name="Oval 7"/>
          <p:cNvSpPr/>
          <p:nvPr/>
        </p:nvSpPr>
        <p:spPr>
          <a:xfrm>
            <a:off x="5214256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70" name="Oval 8"/>
          <p:cNvSpPr/>
          <p:nvPr/>
        </p:nvSpPr>
        <p:spPr>
          <a:xfrm>
            <a:off x="6193969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71" name="Oval 9"/>
          <p:cNvSpPr/>
          <p:nvPr/>
        </p:nvSpPr>
        <p:spPr>
          <a:xfrm>
            <a:off x="7173683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72" name="Oval 10"/>
          <p:cNvSpPr/>
          <p:nvPr/>
        </p:nvSpPr>
        <p:spPr>
          <a:xfrm>
            <a:off x="8153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573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59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" name="Picture 16" descr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69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" name="Picture 17" descr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2437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" name="Picture 18" descr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183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" name="Picture 19" descr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1929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8" name="Picture 20" descr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1675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9" name="Picture 21" descr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80" name="Picture 22" descr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1420" y="659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581" name="TextBox 28"/>
          <p:cNvSpPr txBox="1"/>
          <p:nvPr/>
        </p:nvSpPr>
        <p:spPr>
          <a:xfrm>
            <a:off x="181795" y="459236"/>
            <a:ext cx="804391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</a:t>
            </a:r>
          </a:p>
          <a:p>
            <a:r>
              <a:t>Starts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Oval 3"/>
          <p:cNvSpPr/>
          <p:nvPr/>
        </p:nvSpPr>
        <p:spPr>
          <a:xfrm>
            <a:off x="1295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86" name="Oval 4"/>
          <p:cNvSpPr/>
          <p:nvPr/>
        </p:nvSpPr>
        <p:spPr>
          <a:xfrm>
            <a:off x="2275114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87" name="Oval 5"/>
          <p:cNvSpPr/>
          <p:nvPr/>
        </p:nvSpPr>
        <p:spPr>
          <a:xfrm>
            <a:off x="3254828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88" name="Oval 6"/>
          <p:cNvSpPr/>
          <p:nvPr/>
        </p:nvSpPr>
        <p:spPr>
          <a:xfrm>
            <a:off x="4234541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89" name="Oval 7"/>
          <p:cNvSpPr/>
          <p:nvPr/>
        </p:nvSpPr>
        <p:spPr>
          <a:xfrm>
            <a:off x="5214256" y="507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90" name="Oval 8"/>
          <p:cNvSpPr/>
          <p:nvPr/>
        </p:nvSpPr>
        <p:spPr>
          <a:xfrm>
            <a:off x="6193969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91" name="Oval 9"/>
          <p:cNvSpPr/>
          <p:nvPr/>
        </p:nvSpPr>
        <p:spPr>
          <a:xfrm>
            <a:off x="7173683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92" name="Oval 10"/>
          <p:cNvSpPr/>
          <p:nvPr/>
        </p:nvSpPr>
        <p:spPr>
          <a:xfrm>
            <a:off x="8153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593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59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94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96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97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98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659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601" name="TextBox 1"/>
          <p:cNvSpPr txBox="1"/>
          <p:nvPr/>
        </p:nvSpPr>
        <p:spPr>
          <a:xfrm>
            <a:off x="4969119" y="122683"/>
            <a:ext cx="9559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Muted</a:t>
            </a:r>
          </a:p>
        </p:txBody>
      </p:sp>
      <p:sp>
        <p:nvSpPr>
          <p:cNvPr id="602" name="TextBox 27"/>
          <p:cNvSpPr txBox="1"/>
          <p:nvPr/>
        </p:nvSpPr>
        <p:spPr>
          <a:xfrm>
            <a:off x="181795" y="459236"/>
            <a:ext cx="804391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</a:t>
            </a:r>
          </a:p>
          <a:p>
            <a:r>
              <a:t>Starts</a:t>
            </a:r>
          </a:p>
        </p:txBody>
      </p:sp>
      <p:sp>
        <p:nvSpPr>
          <p:cNvPr id="603" name="Oval 28"/>
          <p:cNvSpPr/>
          <p:nvPr/>
        </p:nvSpPr>
        <p:spPr>
          <a:xfrm>
            <a:off x="1295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04" name="Oval 29"/>
          <p:cNvSpPr/>
          <p:nvPr/>
        </p:nvSpPr>
        <p:spPr>
          <a:xfrm>
            <a:off x="2275114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05" name="Oval 30"/>
          <p:cNvSpPr/>
          <p:nvPr/>
        </p:nvSpPr>
        <p:spPr>
          <a:xfrm>
            <a:off x="3254828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06" name="Oval 31"/>
          <p:cNvSpPr/>
          <p:nvPr/>
        </p:nvSpPr>
        <p:spPr>
          <a:xfrm>
            <a:off x="4234541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07" name="Oval 32"/>
          <p:cNvSpPr/>
          <p:nvPr/>
        </p:nvSpPr>
        <p:spPr>
          <a:xfrm>
            <a:off x="5214256" y="1646483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8" name="Oval 33"/>
          <p:cNvSpPr/>
          <p:nvPr/>
        </p:nvSpPr>
        <p:spPr>
          <a:xfrm>
            <a:off x="6193969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09" name="Oval 34"/>
          <p:cNvSpPr/>
          <p:nvPr/>
        </p:nvSpPr>
        <p:spPr>
          <a:xfrm>
            <a:off x="7173683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10" name="Oval 35"/>
          <p:cNvSpPr/>
          <p:nvPr/>
        </p:nvSpPr>
        <p:spPr>
          <a:xfrm>
            <a:off x="8153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611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98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2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3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4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5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7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18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1798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TextBox 60"/>
          <p:cNvSpPr txBox="1"/>
          <p:nvPr/>
        </p:nvSpPr>
        <p:spPr>
          <a:xfrm>
            <a:off x="181795" y="1588985"/>
            <a:ext cx="929127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P1</a:t>
            </a:r>
          </a:p>
        </p:txBody>
      </p:sp>
      <p:cxnSp>
        <p:nvCxnSpPr>
          <p:cNvPr id="620" name="Straight Arrow Connector 16"/>
          <p:cNvCxnSpPr>
            <a:stCxn id="589" idx="0"/>
            <a:endCxn id="607" idx="0"/>
          </p:cNvCxnSpPr>
          <p:nvPr/>
        </p:nvCxnSpPr>
        <p:spPr>
          <a:xfrm>
            <a:off x="5442856" y="736083"/>
            <a:ext cx="1" cy="1139001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Oval 3"/>
          <p:cNvSpPr/>
          <p:nvPr/>
        </p:nvSpPr>
        <p:spPr>
          <a:xfrm>
            <a:off x="1295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3" name="Oval 4"/>
          <p:cNvSpPr/>
          <p:nvPr/>
        </p:nvSpPr>
        <p:spPr>
          <a:xfrm>
            <a:off x="2275114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4" name="Oval 5"/>
          <p:cNvSpPr/>
          <p:nvPr/>
        </p:nvSpPr>
        <p:spPr>
          <a:xfrm>
            <a:off x="3254828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5" name="Oval 6"/>
          <p:cNvSpPr/>
          <p:nvPr/>
        </p:nvSpPr>
        <p:spPr>
          <a:xfrm>
            <a:off x="4234541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6" name="Oval 7"/>
          <p:cNvSpPr/>
          <p:nvPr/>
        </p:nvSpPr>
        <p:spPr>
          <a:xfrm>
            <a:off x="5214256" y="507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7" name="Oval 8"/>
          <p:cNvSpPr/>
          <p:nvPr/>
        </p:nvSpPr>
        <p:spPr>
          <a:xfrm>
            <a:off x="6193969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8" name="Oval 9"/>
          <p:cNvSpPr/>
          <p:nvPr/>
        </p:nvSpPr>
        <p:spPr>
          <a:xfrm>
            <a:off x="7173683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9" name="Oval 10"/>
          <p:cNvSpPr/>
          <p:nvPr/>
        </p:nvSpPr>
        <p:spPr>
          <a:xfrm>
            <a:off x="8153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630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59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1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2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3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4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5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6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7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659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638" name="TextBox 27"/>
          <p:cNvSpPr txBox="1"/>
          <p:nvPr/>
        </p:nvSpPr>
        <p:spPr>
          <a:xfrm>
            <a:off x="181795" y="459236"/>
            <a:ext cx="804391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</a:t>
            </a:r>
          </a:p>
          <a:p>
            <a:r>
              <a:t>Starts</a:t>
            </a:r>
          </a:p>
        </p:txBody>
      </p:sp>
      <p:sp>
        <p:nvSpPr>
          <p:cNvPr id="639" name="Oval 28"/>
          <p:cNvSpPr/>
          <p:nvPr/>
        </p:nvSpPr>
        <p:spPr>
          <a:xfrm>
            <a:off x="1295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40" name="Oval 29"/>
          <p:cNvSpPr/>
          <p:nvPr/>
        </p:nvSpPr>
        <p:spPr>
          <a:xfrm>
            <a:off x="2275114" y="1646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41" name="Oval 30"/>
          <p:cNvSpPr/>
          <p:nvPr/>
        </p:nvSpPr>
        <p:spPr>
          <a:xfrm>
            <a:off x="3254828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42" name="Oval 31"/>
          <p:cNvSpPr/>
          <p:nvPr/>
        </p:nvSpPr>
        <p:spPr>
          <a:xfrm>
            <a:off x="4234541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43" name="Oval 32"/>
          <p:cNvSpPr/>
          <p:nvPr/>
        </p:nvSpPr>
        <p:spPr>
          <a:xfrm>
            <a:off x="5214256" y="1646483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4" name="Oval 33"/>
          <p:cNvSpPr/>
          <p:nvPr/>
        </p:nvSpPr>
        <p:spPr>
          <a:xfrm>
            <a:off x="6193969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45" name="Oval 34"/>
          <p:cNvSpPr/>
          <p:nvPr/>
        </p:nvSpPr>
        <p:spPr>
          <a:xfrm>
            <a:off x="7173683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46" name="Oval 35"/>
          <p:cNvSpPr/>
          <p:nvPr/>
        </p:nvSpPr>
        <p:spPr>
          <a:xfrm>
            <a:off x="8153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647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98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48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49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0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1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2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3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4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1798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655" name="TextBox 60"/>
          <p:cNvSpPr txBox="1"/>
          <p:nvPr/>
        </p:nvSpPr>
        <p:spPr>
          <a:xfrm>
            <a:off x="181795" y="1588985"/>
            <a:ext cx="929127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P1</a:t>
            </a:r>
          </a:p>
        </p:txBody>
      </p:sp>
      <p:cxnSp>
        <p:nvCxnSpPr>
          <p:cNvPr id="656" name="Straight Arrow Connector 16"/>
          <p:cNvCxnSpPr>
            <a:stCxn id="626" idx="0"/>
            <a:endCxn id="643" idx="0"/>
          </p:cNvCxnSpPr>
          <p:nvPr/>
        </p:nvCxnSpPr>
        <p:spPr>
          <a:xfrm>
            <a:off x="5442856" y="736083"/>
            <a:ext cx="1" cy="1139001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57" name="TextBox 44"/>
          <p:cNvSpPr txBox="1"/>
          <p:nvPr/>
        </p:nvSpPr>
        <p:spPr>
          <a:xfrm>
            <a:off x="2032153" y="1277151"/>
            <a:ext cx="9559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Muted</a:t>
            </a:r>
          </a:p>
        </p:txBody>
      </p:sp>
      <p:sp>
        <p:nvSpPr>
          <p:cNvPr id="658" name="Oval 45"/>
          <p:cNvSpPr/>
          <p:nvPr/>
        </p:nvSpPr>
        <p:spPr>
          <a:xfrm>
            <a:off x="1295400" y="2864868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59" name="Oval 46"/>
          <p:cNvSpPr/>
          <p:nvPr/>
        </p:nvSpPr>
        <p:spPr>
          <a:xfrm>
            <a:off x="2275114" y="2864868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0" name="Oval 47"/>
          <p:cNvSpPr/>
          <p:nvPr/>
        </p:nvSpPr>
        <p:spPr>
          <a:xfrm>
            <a:off x="3254828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61" name="Oval 48"/>
          <p:cNvSpPr/>
          <p:nvPr/>
        </p:nvSpPr>
        <p:spPr>
          <a:xfrm>
            <a:off x="4234541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62" name="Oval 49"/>
          <p:cNvSpPr/>
          <p:nvPr/>
        </p:nvSpPr>
        <p:spPr>
          <a:xfrm>
            <a:off x="5214256" y="2864868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3" name="Oval 50"/>
          <p:cNvSpPr/>
          <p:nvPr/>
        </p:nvSpPr>
        <p:spPr>
          <a:xfrm>
            <a:off x="6193969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64" name="Oval 51"/>
          <p:cNvSpPr/>
          <p:nvPr/>
        </p:nvSpPr>
        <p:spPr>
          <a:xfrm>
            <a:off x="7173683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65" name="Oval 52"/>
          <p:cNvSpPr/>
          <p:nvPr/>
        </p:nvSpPr>
        <p:spPr>
          <a:xfrm>
            <a:off x="8153400" y="2864868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666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17268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7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8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9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0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1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2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3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3017268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674" name="TextBox 62"/>
          <p:cNvSpPr txBox="1"/>
          <p:nvPr/>
        </p:nvSpPr>
        <p:spPr>
          <a:xfrm>
            <a:off x="181795" y="2807371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P2</a:t>
            </a:r>
          </a:p>
        </p:txBody>
      </p:sp>
      <p:cxnSp>
        <p:nvCxnSpPr>
          <p:cNvPr id="675" name="Straight Arrow Connector 11"/>
          <p:cNvCxnSpPr>
            <a:stCxn id="640" idx="0"/>
            <a:endCxn id="659" idx="0"/>
          </p:cNvCxnSpPr>
          <p:nvPr/>
        </p:nvCxnSpPr>
        <p:spPr>
          <a:xfrm>
            <a:off x="2503714" y="1875083"/>
            <a:ext cx="1" cy="1218386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Oval 3"/>
          <p:cNvSpPr/>
          <p:nvPr/>
        </p:nvSpPr>
        <p:spPr>
          <a:xfrm>
            <a:off x="1295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78" name="Oval 4"/>
          <p:cNvSpPr/>
          <p:nvPr/>
        </p:nvSpPr>
        <p:spPr>
          <a:xfrm>
            <a:off x="2275114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79" name="Oval 5"/>
          <p:cNvSpPr/>
          <p:nvPr/>
        </p:nvSpPr>
        <p:spPr>
          <a:xfrm>
            <a:off x="3254828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80" name="Oval 6"/>
          <p:cNvSpPr/>
          <p:nvPr/>
        </p:nvSpPr>
        <p:spPr>
          <a:xfrm>
            <a:off x="4234541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81" name="Oval 7"/>
          <p:cNvSpPr/>
          <p:nvPr/>
        </p:nvSpPr>
        <p:spPr>
          <a:xfrm>
            <a:off x="5214256" y="507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82" name="Oval 8"/>
          <p:cNvSpPr/>
          <p:nvPr/>
        </p:nvSpPr>
        <p:spPr>
          <a:xfrm>
            <a:off x="6193969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83" name="Oval 9"/>
          <p:cNvSpPr/>
          <p:nvPr/>
        </p:nvSpPr>
        <p:spPr>
          <a:xfrm>
            <a:off x="7173683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84" name="Oval 10"/>
          <p:cNvSpPr/>
          <p:nvPr/>
        </p:nvSpPr>
        <p:spPr>
          <a:xfrm>
            <a:off x="8153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685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59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6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7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8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9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90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659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TextBox 27"/>
          <p:cNvSpPr txBox="1"/>
          <p:nvPr/>
        </p:nvSpPr>
        <p:spPr>
          <a:xfrm>
            <a:off x="181795" y="447896"/>
            <a:ext cx="804391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</a:t>
            </a:r>
          </a:p>
          <a:p>
            <a:r>
              <a:t>Starts</a:t>
            </a:r>
          </a:p>
        </p:txBody>
      </p:sp>
      <p:sp>
        <p:nvSpPr>
          <p:cNvPr id="694" name="Oval 28"/>
          <p:cNvSpPr/>
          <p:nvPr/>
        </p:nvSpPr>
        <p:spPr>
          <a:xfrm>
            <a:off x="1295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95" name="Oval 29"/>
          <p:cNvSpPr/>
          <p:nvPr/>
        </p:nvSpPr>
        <p:spPr>
          <a:xfrm>
            <a:off x="2275114" y="1646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96" name="Oval 30"/>
          <p:cNvSpPr/>
          <p:nvPr/>
        </p:nvSpPr>
        <p:spPr>
          <a:xfrm>
            <a:off x="3254828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97" name="Oval 31"/>
          <p:cNvSpPr/>
          <p:nvPr/>
        </p:nvSpPr>
        <p:spPr>
          <a:xfrm>
            <a:off x="4234541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98" name="Oval 32"/>
          <p:cNvSpPr/>
          <p:nvPr/>
        </p:nvSpPr>
        <p:spPr>
          <a:xfrm>
            <a:off x="5214256" y="1646483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9" name="Oval 33"/>
          <p:cNvSpPr/>
          <p:nvPr/>
        </p:nvSpPr>
        <p:spPr>
          <a:xfrm>
            <a:off x="6193969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00" name="Oval 34"/>
          <p:cNvSpPr/>
          <p:nvPr/>
        </p:nvSpPr>
        <p:spPr>
          <a:xfrm>
            <a:off x="7173683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01" name="Oval 35"/>
          <p:cNvSpPr/>
          <p:nvPr/>
        </p:nvSpPr>
        <p:spPr>
          <a:xfrm>
            <a:off x="8153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702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98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3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4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5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6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9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1798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710" name="TextBox 60"/>
          <p:cNvSpPr txBox="1"/>
          <p:nvPr/>
        </p:nvSpPr>
        <p:spPr>
          <a:xfrm>
            <a:off x="181795" y="1577646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P1</a:t>
            </a:r>
          </a:p>
        </p:txBody>
      </p:sp>
      <p:cxnSp>
        <p:nvCxnSpPr>
          <p:cNvPr id="711" name="Straight Arrow Connector 16"/>
          <p:cNvCxnSpPr>
            <a:stCxn id="681" idx="0"/>
            <a:endCxn id="698" idx="0"/>
          </p:cNvCxnSpPr>
          <p:nvPr/>
        </p:nvCxnSpPr>
        <p:spPr>
          <a:xfrm>
            <a:off x="5442856" y="736083"/>
            <a:ext cx="1" cy="1139001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12" name="Oval 45"/>
          <p:cNvSpPr/>
          <p:nvPr/>
        </p:nvSpPr>
        <p:spPr>
          <a:xfrm>
            <a:off x="1295400" y="2864868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13" name="Oval 46"/>
          <p:cNvSpPr/>
          <p:nvPr/>
        </p:nvSpPr>
        <p:spPr>
          <a:xfrm>
            <a:off x="2275114" y="2864868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4" name="Oval 47"/>
          <p:cNvSpPr/>
          <p:nvPr/>
        </p:nvSpPr>
        <p:spPr>
          <a:xfrm>
            <a:off x="3254828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15" name="Oval 48"/>
          <p:cNvSpPr/>
          <p:nvPr/>
        </p:nvSpPr>
        <p:spPr>
          <a:xfrm>
            <a:off x="4234541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16" name="Oval 49"/>
          <p:cNvSpPr/>
          <p:nvPr/>
        </p:nvSpPr>
        <p:spPr>
          <a:xfrm>
            <a:off x="5214256" y="2864868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7" name="Oval 50"/>
          <p:cNvSpPr/>
          <p:nvPr/>
        </p:nvSpPr>
        <p:spPr>
          <a:xfrm>
            <a:off x="6193969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18" name="Oval 51"/>
          <p:cNvSpPr/>
          <p:nvPr/>
        </p:nvSpPr>
        <p:spPr>
          <a:xfrm>
            <a:off x="7173683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19" name="Oval 52"/>
          <p:cNvSpPr/>
          <p:nvPr/>
        </p:nvSpPr>
        <p:spPr>
          <a:xfrm>
            <a:off x="8153400" y="2864868"/>
            <a:ext cx="457200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720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17268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1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2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3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4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3017268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62"/>
          <p:cNvSpPr txBox="1"/>
          <p:nvPr/>
        </p:nvSpPr>
        <p:spPr>
          <a:xfrm>
            <a:off x="181795" y="2796031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P2</a:t>
            </a:r>
          </a:p>
        </p:txBody>
      </p:sp>
      <p:cxnSp>
        <p:nvCxnSpPr>
          <p:cNvPr id="729" name="Straight Arrow Connector 11"/>
          <p:cNvCxnSpPr>
            <a:stCxn id="695" idx="0"/>
            <a:endCxn id="713" idx="0"/>
          </p:cNvCxnSpPr>
          <p:nvPr/>
        </p:nvCxnSpPr>
        <p:spPr>
          <a:xfrm>
            <a:off x="2503714" y="1875083"/>
            <a:ext cx="1" cy="1218386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30" name="Oval 63"/>
          <p:cNvSpPr/>
          <p:nvPr/>
        </p:nvSpPr>
        <p:spPr>
          <a:xfrm>
            <a:off x="1311720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31" name="Oval 64"/>
          <p:cNvSpPr/>
          <p:nvPr/>
        </p:nvSpPr>
        <p:spPr>
          <a:xfrm>
            <a:off x="2291433" y="4026529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2" name="Oval 65"/>
          <p:cNvSpPr/>
          <p:nvPr/>
        </p:nvSpPr>
        <p:spPr>
          <a:xfrm>
            <a:off x="3271148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33" name="Oval 66"/>
          <p:cNvSpPr/>
          <p:nvPr/>
        </p:nvSpPr>
        <p:spPr>
          <a:xfrm>
            <a:off x="4250861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34" name="Oval 67"/>
          <p:cNvSpPr/>
          <p:nvPr/>
        </p:nvSpPr>
        <p:spPr>
          <a:xfrm>
            <a:off x="5230576" y="4026529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5" name="Oval 68"/>
          <p:cNvSpPr/>
          <p:nvPr/>
        </p:nvSpPr>
        <p:spPr>
          <a:xfrm>
            <a:off x="6210289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36" name="Oval 69"/>
          <p:cNvSpPr/>
          <p:nvPr/>
        </p:nvSpPr>
        <p:spPr>
          <a:xfrm>
            <a:off x="7190003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37" name="Oval 70"/>
          <p:cNvSpPr/>
          <p:nvPr/>
        </p:nvSpPr>
        <p:spPr>
          <a:xfrm>
            <a:off x="8169719" y="4026529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38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20" y="4178929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011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757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503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2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249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3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995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4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919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5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7740" y="4178929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746" name="TextBox 79"/>
          <p:cNvSpPr txBox="1"/>
          <p:nvPr/>
        </p:nvSpPr>
        <p:spPr>
          <a:xfrm>
            <a:off x="209455" y="3962091"/>
            <a:ext cx="929127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P3</a:t>
            </a:r>
          </a:p>
        </p:txBody>
      </p:sp>
      <p:sp>
        <p:nvSpPr>
          <p:cNvPr id="747" name="TextBox 80"/>
          <p:cNvSpPr txBox="1"/>
          <p:nvPr/>
        </p:nvSpPr>
        <p:spPr>
          <a:xfrm>
            <a:off x="7911070" y="2460718"/>
            <a:ext cx="9559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Muted</a:t>
            </a:r>
          </a:p>
        </p:txBody>
      </p:sp>
      <p:cxnSp>
        <p:nvCxnSpPr>
          <p:cNvPr id="748" name="Straight Arrow Connector 13"/>
          <p:cNvCxnSpPr>
            <a:stCxn id="719" idx="0"/>
            <a:endCxn id="737" idx="0"/>
          </p:cNvCxnSpPr>
          <p:nvPr/>
        </p:nvCxnSpPr>
        <p:spPr>
          <a:xfrm>
            <a:off x="8382000" y="3093468"/>
            <a:ext cx="16320" cy="1161662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Oval 3"/>
          <p:cNvSpPr/>
          <p:nvPr/>
        </p:nvSpPr>
        <p:spPr>
          <a:xfrm>
            <a:off x="1295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51" name="Oval 4"/>
          <p:cNvSpPr/>
          <p:nvPr/>
        </p:nvSpPr>
        <p:spPr>
          <a:xfrm>
            <a:off x="2275114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52" name="Oval 5"/>
          <p:cNvSpPr/>
          <p:nvPr/>
        </p:nvSpPr>
        <p:spPr>
          <a:xfrm>
            <a:off x="3254828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53" name="Oval 6"/>
          <p:cNvSpPr/>
          <p:nvPr/>
        </p:nvSpPr>
        <p:spPr>
          <a:xfrm>
            <a:off x="4234541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54" name="Oval 7"/>
          <p:cNvSpPr/>
          <p:nvPr/>
        </p:nvSpPr>
        <p:spPr>
          <a:xfrm>
            <a:off x="5214256" y="507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55" name="Oval 8"/>
          <p:cNvSpPr/>
          <p:nvPr/>
        </p:nvSpPr>
        <p:spPr>
          <a:xfrm>
            <a:off x="6193969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56" name="Oval 9"/>
          <p:cNvSpPr/>
          <p:nvPr/>
        </p:nvSpPr>
        <p:spPr>
          <a:xfrm>
            <a:off x="7173683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57" name="Oval 10"/>
          <p:cNvSpPr/>
          <p:nvPr/>
        </p:nvSpPr>
        <p:spPr>
          <a:xfrm>
            <a:off x="8153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758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59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9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0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1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3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4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5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659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766" name="TextBox 27"/>
          <p:cNvSpPr txBox="1"/>
          <p:nvPr/>
        </p:nvSpPr>
        <p:spPr>
          <a:xfrm>
            <a:off x="181795" y="447896"/>
            <a:ext cx="804391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</a:t>
            </a:r>
          </a:p>
          <a:p>
            <a:r>
              <a:t>Starts</a:t>
            </a:r>
          </a:p>
        </p:txBody>
      </p:sp>
      <p:sp>
        <p:nvSpPr>
          <p:cNvPr id="767" name="Oval 28"/>
          <p:cNvSpPr/>
          <p:nvPr/>
        </p:nvSpPr>
        <p:spPr>
          <a:xfrm>
            <a:off x="1295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68" name="Oval 29"/>
          <p:cNvSpPr/>
          <p:nvPr/>
        </p:nvSpPr>
        <p:spPr>
          <a:xfrm>
            <a:off x="2275114" y="1646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69" name="Oval 30"/>
          <p:cNvSpPr/>
          <p:nvPr/>
        </p:nvSpPr>
        <p:spPr>
          <a:xfrm>
            <a:off x="3254828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70" name="Oval 31"/>
          <p:cNvSpPr/>
          <p:nvPr/>
        </p:nvSpPr>
        <p:spPr>
          <a:xfrm>
            <a:off x="4234541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71" name="Oval 32"/>
          <p:cNvSpPr/>
          <p:nvPr/>
        </p:nvSpPr>
        <p:spPr>
          <a:xfrm>
            <a:off x="5214256" y="1646483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2" name="Oval 33"/>
          <p:cNvSpPr/>
          <p:nvPr/>
        </p:nvSpPr>
        <p:spPr>
          <a:xfrm>
            <a:off x="6193969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73" name="Oval 34"/>
          <p:cNvSpPr/>
          <p:nvPr/>
        </p:nvSpPr>
        <p:spPr>
          <a:xfrm>
            <a:off x="7173683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74" name="Oval 35"/>
          <p:cNvSpPr/>
          <p:nvPr/>
        </p:nvSpPr>
        <p:spPr>
          <a:xfrm>
            <a:off x="8153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775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98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6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7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8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9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80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81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82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1798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783" name="TextBox 60"/>
          <p:cNvSpPr txBox="1"/>
          <p:nvPr/>
        </p:nvSpPr>
        <p:spPr>
          <a:xfrm>
            <a:off x="181795" y="1577646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P1</a:t>
            </a:r>
          </a:p>
        </p:txBody>
      </p:sp>
      <p:cxnSp>
        <p:nvCxnSpPr>
          <p:cNvPr id="784" name="Straight Arrow Connector 16"/>
          <p:cNvCxnSpPr>
            <a:stCxn id="754" idx="0"/>
            <a:endCxn id="771" idx="0"/>
          </p:cNvCxnSpPr>
          <p:nvPr/>
        </p:nvCxnSpPr>
        <p:spPr>
          <a:xfrm>
            <a:off x="5442856" y="736083"/>
            <a:ext cx="1" cy="1139001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85" name="Oval 45"/>
          <p:cNvSpPr/>
          <p:nvPr/>
        </p:nvSpPr>
        <p:spPr>
          <a:xfrm>
            <a:off x="1295400" y="2864868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86" name="Oval 46"/>
          <p:cNvSpPr/>
          <p:nvPr/>
        </p:nvSpPr>
        <p:spPr>
          <a:xfrm>
            <a:off x="2275114" y="2864868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87" name="Oval 47"/>
          <p:cNvSpPr/>
          <p:nvPr/>
        </p:nvSpPr>
        <p:spPr>
          <a:xfrm>
            <a:off x="3254828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88" name="Oval 48"/>
          <p:cNvSpPr/>
          <p:nvPr/>
        </p:nvSpPr>
        <p:spPr>
          <a:xfrm>
            <a:off x="4234541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89" name="Oval 49"/>
          <p:cNvSpPr/>
          <p:nvPr/>
        </p:nvSpPr>
        <p:spPr>
          <a:xfrm>
            <a:off x="5214256" y="2864868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90" name="Oval 50"/>
          <p:cNvSpPr/>
          <p:nvPr/>
        </p:nvSpPr>
        <p:spPr>
          <a:xfrm>
            <a:off x="6193969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91" name="Oval 51"/>
          <p:cNvSpPr/>
          <p:nvPr/>
        </p:nvSpPr>
        <p:spPr>
          <a:xfrm>
            <a:off x="7173683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92" name="Oval 52"/>
          <p:cNvSpPr/>
          <p:nvPr/>
        </p:nvSpPr>
        <p:spPr>
          <a:xfrm>
            <a:off x="8153400" y="2864868"/>
            <a:ext cx="457200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793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17268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4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5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6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7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8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9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00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3017268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801" name="TextBox 62"/>
          <p:cNvSpPr txBox="1"/>
          <p:nvPr/>
        </p:nvSpPr>
        <p:spPr>
          <a:xfrm>
            <a:off x="181795" y="2796031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P2</a:t>
            </a:r>
          </a:p>
        </p:txBody>
      </p:sp>
      <p:cxnSp>
        <p:nvCxnSpPr>
          <p:cNvPr id="802" name="Straight Arrow Connector 11"/>
          <p:cNvCxnSpPr>
            <a:stCxn id="768" idx="0"/>
            <a:endCxn id="786" idx="0"/>
          </p:cNvCxnSpPr>
          <p:nvPr/>
        </p:nvCxnSpPr>
        <p:spPr>
          <a:xfrm>
            <a:off x="2503714" y="1875083"/>
            <a:ext cx="1" cy="1218386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03" name="Oval 63"/>
          <p:cNvSpPr/>
          <p:nvPr/>
        </p:nvSpPr>
        <p:spPr>
          <a:xfrm>
            <a:off x="1311720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04" name="Oval 64"/>
          <p:cNvSpPr/>
          <p:nvPr/>
        </p:nvSpPr>
        <p:spPr>
          <a:xfrm>
            <a:off x="2291433" y="4026529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5" name="Oval 65"/>
          <p:cNvSpPr/>
          <p:nvPr/>
        </p:nvSpPr>
        <p:spPr>
          <a:xfrm>
            <a:off x="3271148" y="4026529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06" name="Oval 66"/>
          <p:cNvSpPr/>
          <p:nvPr/>
        </p:nvSpPr>
        <p:spPr>
          <a:xfrm>
            <a:off x="4250861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07" name="Oval 67"/>
          <p:cNvSpPr/>
          <p:nvPr/>
        </p:nvSpPr>
        <p:spPr>
          <a:xfrm>
            <a:off x="5230576" y="4026529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8" name="Oval 68"/>
          <p:cNvSpPr/>
          <p:nvPr/>
        </p:nvSpPr>
        <p:spPr>
          <a:xfrm>
            <a:off x="6210289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09" name="Oval 69"/>
          <p:cNvSpPr/>
          <p:nvPr/>
        </p:nvSpPr>
        <p:spPr>
          <a:xfrm>
            <a:off x="7190003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10" name="Oval 70"/>
          <p:cNvSpPr/>
          <p:nvPr/>
        </p:nvSpPr>
        <p:spPr>
          <a:xfrm>
            <a:off x="8169719" y="4026529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11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20" y="4178929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2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011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3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757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4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503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5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249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6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995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7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919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8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7740" y="4178929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819" name="TextBox 79"/>
          <p:cNvSpPr txBox="1"/>
          <p:nvPr/>
        </p:nvSpPr>
        <p:spPr>
          <a:xfrm>
            <a:off x="209455" y="3962091"/>
            <a:ext cx="929127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P3</a:t>
            </a:r>
          </a:p>
        </p:txBody>
      </p:sp>
      <p:sp>
        <p:nvSpPr>
          <p:cNvPr id="820" name="TextBox 80"/>
          <p:cNvSpPr txBox="1"/>
          <p:nvPr/>
        </p:nvSpPr>
        <p:spPr>
          <a:xfrm>
            <a:off x="3012348" y="3657196"/>
            <a:ext cx="9559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r>
              <a:t>Muted</a:t>
            </a:r>
          </a:p>
        </p:txBody>
      </p:sp>
      <p:cxnSp>
        <p:nvCxnSpPr>
          <p:cNvPr id="821" name="Straight Arrow Connector 13"/>
          <p:cNvCxnSpPr>
            <a:stCxn id="792" idx="0"/>
            <a:endCxn id="810" idx="0"/>
          </p:cNvCxnSpPr>
          <p:nvPr/>
        </p:nvCxnSpPr>
        <p:spPr>
          <a:xfrm>
            <a:off x="8382000" y="3093468"/>
            <a:ext cx="16320" cy="1161662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822" name="Picture 17" descr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1733" y="4806917"/>
            <a:ext cx="38101" cy="342901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Oval 81"/>
          <p:cNvSpPr/>
          <p:nvPr/>
        </p:nvSpPr>
        <p:spPr>
          <a:xfrm>
            <a:off x="1327568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Oval 82"/>
          <p:cNvSpPr/>
          <p:nvPr/>
        </p:nvSpPr>
        <p:spPr>
          <a:xfrm>
            <a:off x="2307283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5" name="Oval 83"/>
          <p:cNvSpPr/>
          <p:nvPr/>
        </p:nvSpPr>
        <p:spPr>
          <a:xfrm>
            <a:off x="3286997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6" name="Oval 84"/>
          <p:cNvSpPr/>
          <p:nvPr/>
        </p:nvSpPr>
        <p:spPr>
          <a:xfrm>
            <a:off x="4266710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7" name="Oval 85"/>
          <p:cNvSpPr/>
          <p:nvPr/>
        </p:nvSpPr>
        <p:spPr>
          <a:xfrm>
            <a:off x="5246425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8" name="Oval 86"/>
          <p:cNvSpPr/>
          <p:nvPr/>
        </p:nvSpPr>
        <p:spPr>
          <a:xfrm>
            <a:off x="6226138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9" name="Oval 87"/>
          <p:cNvSpPr/>
          <p:nvPr/>
        </p:nvSpPr>
        <p:spPr>
          <a:xfrm>
            <a:off x="7205853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0" name="Oval 88"/>
          <p:cNvSpPr/>
          <p:nvPr/>
        </p:nvSpPr>
        <p:spPr>
          <a:xfrm>
            <a:off x="8185569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31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68" y="5510717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2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860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3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606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4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352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5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098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6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3844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7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1769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8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3590" y="5510717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839" name="TextBox 97"/>
          <p:cNvSpPr txBox="1"/>
          <p:nvPr/>
        </p:nvSpPr>
        <p:spPr>
          <a:xfrm>
            <a:off x="270664" y="5293881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P8</a:t>
            </a:r>
          </a:p>
        </p:txBody>
      </p:sp>
      <p:sp>
        <p:nvSpPr>
          <p:cNvPr id="840" name="Straight Arrow Connector 100"/>
          <p:cNvSpPr/>
          <p:nvPr/>
        </p:nvSpPr>
        <p:spPr>
          <a:xfrm>
            <a:off x="3499748" y="4483729"/>
            <a:ext cx="1" cy="323189"/>
          </a:xfrm>
          <a:prstGeom prst="line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" grpId="1" animBg="1" advAuto="0"/>
      <p:bldP spid="824" grpId="2" animBg="1" advAuto="0"/>
      <p:bldP spid="825" grpId="3" animBg="1" advAuto="0"/>
      <p:bldP spid="826" grpId="4" animBg="1" advAuto="0"/>
      <p:bldP spid="827" grpId="5" animBg="1" advAuto="0"/>
      <p:bldP spid="828" grpId="6" animBg="1" advAuto="0"/>
      <p:bldP spid="829" grpId="7" animBg="1" advAuto="0"/>
      <p:bldP spid="830" grpId="8" animBg="1" advAuto="0"/>
      <p:bldP spid="831" grpId="9" animBg="1" advAuto="0"/>
      <p:bldP spid="832" grpId="10" animBg="1" advAuto="0"/>
      <p:bldP spid="833" grpId="11" animBg="1" advAuto="0"/>
      <p:bldP spid="834" grpId="12" animBg="1" advAuto="0"/>
      <p:bldP spid="835" grpId="13" animBg="1" advAuto="0"/>
      <p:bldP spid="836" grpId="14" animBg="1" advAuto="0"/>
      <p:bldP spid="837" grpId="15" animBg="1" advAuto="0"/>
      <p:bldP spid="838" grpId="16" animBg="1" advAuto="0"/>
      <p:bldP spid="839" grpId="17" animBg="1" advAuto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Oval 3"/>
          <p:cNvSpPr/>
          <p:nvPr/>
        </p:nvSpPr>
        <p:spPr>
          <a:xfrm>
            <a:off x="1295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3" name="Oval 4"/>
          <p:cNvSpPr/>
          <p:nvPr/>
        </p:nvSpPr>
        <p:spPr>
          <a:xfrm>
            <a:off x="2275114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4" name="Oval 5"/>
          <p:cNvSpPr/>
          <p:nvPr/>
        </p:nvSpPr>
        <p:spPr>
          <a:xfrm>
            <a:off x="3254828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5" name="Oval 6"/>
          <p:cNvSpPr/>
          <p:nvPr/>
        </p:nvSpPr>
        <p:spPr>
          <a:xfrm>
            <a:off x="4234541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6" name="Oval 7"/>
          <p:cNvSpPr/>
          <p:nvPr/>
        </p:nvSpPr>
        <p:spPr>
          <a:xfrm>
            <a:off x="5214256" y="507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7" name="Oval 8"/>
          <p:cNvSpPr/>
          <p:nvPr/>
        </p:nvSpPr>
        <p:spPr>
          <a:xfrm>
            <a:off x="6193969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8" name="Oval 9"/>
          <p:cNvSpPr/>
          <p:nvPr/>
        </p:nvSpPr>
        <p:spPr>
          <a:xfrm>
            <a:off x="7173683" y="507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9" name="Oval 10"/>
          <p:cNvSpPr/>
          <p:nvPr/>
        </p:nvSpPr>
        <p:spPr>
          <a:xfrm>
            <a:off x="8153400" y="507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850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59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1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2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3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4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5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6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659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7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659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858" name="TextBox 27"/>
          <p:cNvSpPr txBox="1"/>
          <p:nvPr/>
        </p:nvSpPr>
        <p:spPr>
          <a:xfrm>
            <a:off x="181795" y="447896"/>
            <a:ext cx="804391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</a:t>
            </a:r>
          </a:p>
          <a:p>
            <a:r>
              <a:t>Starts</a:t>
            </a:r>
          </a:p>
        </p:txBody>
      </p:sp>
      <p:sp>
        <p:nvSpPr>
          <p:cNvPr id="859" name="Oval 28"/>
          <p:cNvSpPr/>
          <p:nvPr/>
        </p:nvSpPr>
        <p:spPr>
          <a:xfrm>
            <a:off x="1295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0" name="Oval 29"/>
          <p:cNvSpPr/>
          <p:nvPr/>
        </p:nvSpPr>
        <p:spPr>
          <a:xfrm>
            <a:off x="2275114" y="1646483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1" name="Oval 30"/>
          <p:cNvSpPr/>
          <p:nvPr/>
        </p:nvSpPr>
        <p:spPr>
          <a:xfrm>
            <a:off x="3254828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2" name="Oval 31"/>
          <p:cNvSpPr/>
          <p:nvPr/>
        </p:nvSpPr>
        <p:spPr>
          <a:xfrm>
            <a:off x="4234541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3" name="Oval 32"/>
          <p:cNvSpPr/>
          <p:nvPr/>
        </p:nvSpPr>
        <p:spPr>
          <a:xfrm>
            <a:off x="5214256" y="1646483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4" name="Oval 33"/>
          <p:cNvSpPr/>
          <p:nvPr/>
        </p:nvSpPr>
        <p:spPr>
          <a:xfrm>
            <a:off x="6193969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5" name="Oval 34"/>
          <p:cNvSpPr/>
          <p:nvPr/>
        </p:nvSpPr>
        <p:spPr>
          <a:xfrm>
            <a:off x="7173683" y="1646483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6" name="Oval 35"/>
          <p:cNvSpPr/>
          <p:nvPr/>
        </p:nvSpPr>
        <p:spPr>
          <a:xfrm>
            <a:off x="8153400" y="1646483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867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98883"/>
            <a:ext cx="281155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68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69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0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1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2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3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798883"/>
            <a:ext cx="289810" cy="19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4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1798883"/>
            <a:ext cx="298242" cy="195945"/>
          </a:xfrm>
          <a:prstGeom prst="rect">
            <a:avLst/>
          </a:prstGeom>
          <a:ln w="12700">
            <a:miter lim="400000"/>
          </a:ln>
        </p:spPr>
      </p:pic>
      <p:sp>
        <p:nvSpPr>
          <p:cNvPr id="875" name="TextBox 60"/>
          <p:cNvSpPr txBox="1"/>
          <p:nvPr/>
        </p:nvSpPr>
        <p:spPr>
          <a:xfrm>
            <a:off x="181795" y="1577646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P1</a:t>
            </a:r>
          </a:p>
        </p:txBody>
      </p:sp>
      <p:cxnSp>
        <p:nvCxnSpPr>
          <p:cNvPr id="876" name="Straight Arrow Connector 16"/>
          <p:cNvCxnSpPr>
            <a:stCxn id="846" idx="0"/>
            <a:endCxn id="863" idx="0"/>
          </p:cNvCxnSpPr>
          <p:nvPr/>
        </p:nvCxnSpPr>
        <p:spPr>
          <a:xfrm>
            <a:off x="5442856" y="736083"/>
            <a:ext cx="1" cy="1139001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77" name="Oval 45"/>
          <p:cNvSpPr/>
          <p:nvPr/>
        </p:nvSpPr>
        <p:spPr>
          <a:xfrm>
            <a:off x="1295400" y="2864868"/>
            <a:ext cx="457200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78" name="Oval 46"/>
          <p:cNvSpPr/>
          <p:nvPr/>
        </p:nvSpPr>
        <p:spPr>
          <a:xfrm>
            <a:off x="2275114" y="2864868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9" name="Oval 47"/>
          <p:cNvSpPr/>
          <p:nvPr/>
        </p:nvSpPr>
        <p:spPr>
          <a:xfrm>
            <a:off x="3254828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80" name="Oval 48"/>
          <p:cNvSpPr/>
          <p:nvPr/>
        </p:nvSpPr>
        <p:spPr>
          <a:xfrm>
            <a:off x="4234541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81" name="Oval 49"/>
          <p:cNvSpPr/>
          <p:nvPr/>
        </p:nvSpPr>
        <p:spPr>
          <a:xfrm>
            <a:off x="5214256" y="2864868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82" name="Oval 50"/>
          <p:cNvSpPr/>
          <p:nvPr/>
        </p:nvSpPr>
        <p:spPr>
          <a:xfrm>
            <a:off x="6193969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83" name="Oval 51"/>
          <p:cNvSpPr/>
          <p:nvPr/>
        </p:nvSpPr>
        <p:spPr>
          <a:xfrm>
            <a:off x="7173683" y="2864868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84" name="Oval 52"/>
          <p:cNvSpPr/>
          <p:nvPr/>
        </p:nvSpPr>
        <p:spPr>
          <a:xfrm>
            <a:off x="8153400" y="2864868"/>
            <a:ext cx="457200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885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17268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86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87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437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88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83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89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929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0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675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1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17268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2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1420" y="3017268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893" name="TextBox 62"/>
          <p:cNvSpPr txBox="1"/>
          <p:nvPr/>
        </p:nvSpPr>
        <p:spPr>
          <a:xfrm>
            <a:off x="181795" y="2796031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P2</a:t>
            </a:r>
          </a:p>
        </p:txBody>
      </p:sp>
      <p:cxnSp>
        <p:nvCxnSpPr>
          <p:cNvPr id="894" name="Straight Arrow Connector 11"/>
          <p:cNvCxnSpPr>
            <a:stCxn id="860" idx="0"/>
            <a:endCxn id="878" idx="0"/>
          </p:cNvCxnSpPr>
          <p:nvPr/>
        </p:nvCxnSpPr>
        <p:spPr>
          <a:xfrm>
            <a:off x="2503714" y="1875083"/>
            <a:ext cx="1" cy="1218386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95" name="Oval 63"/>
          <p:cNvSpPr/>
          <p:nvPr/>
        </p:nvSpPr>
        <p:spPr>
          <a:xfrm>
            <a:off x="1311720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96" name="Oval 64"/>
          <p:cNvSpPr/>
          <p:nvPr/>
        </p:nvSpPr>
        <p:spPr>
          <a:xfrm>
            <a:off x="2291433" y="4026529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7" name="Oval 65"/>
          <p:cNvSpPr/>
          <p:nvPr/>
        </p:nvSpPr>
        <p:spPr>
          <a:xfrm>
            <a:off x="3271148" y="4026529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98" name="Oval 66"/>
          <p:cNvSpPr/>
          <p:nvPr/>
        </p:nvSpPr>
        <p:spPr>
          <a:xfrm>
            <a:off x="4250861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99" name="Oval 67"/>
          <p:cNvSpPr/>
          <p:nvPr/>
        </p:nvSpPr>
        <p:spPr>
          <a:xfrm>
            <a:off x="5230576" y="4026529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0" name="Oval 68"/>
          <p:cNvSpPr/>
          <p:nvPr/>
        </p:nvSpPr>
        <p:spPr>
          <a:xfrm>
            <a:off x="6210289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01" name="Oval 69"/>
          <p:cNvSpPr/>
          <p:nvPr/>
        </p:nvSpPr>
        <p:spPr>
          <a:xfrm>
            <a:off x="7190003" y="4026529"/>
            <a:ext cx="457201" cy="457201"/>
          </a:xfrm>
          <a:prstGeom prst="ellipse">
            <a:avLst/>
          </a:prstGeom>
          <a:gradFill>
            <a:gsLst>
              <a:gs pos="0">
                <a:schemeClr val="accent5">
                  <a:hueOff val="2571102"/>
                  <a:satOff val="37997"/>
                  <a:lumOff val="-3286"/>
                </a:schemeClr>
              </a:gs>
              <a:gs pos="35000">
                <a:srgbClr val="BFEDFF"/>
              </a:gs>
              <a:gs pos="100000">
                <a:schemeClr val="accent5">
                  <a:hueOff val="2630562"/>
                  <a:satOff val="37997"/>
                  <a:lumOff val="950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02" name="Oval 70"/>
          <p:cNvSpPr/>
          <p:nvPr/>
        </p:nvSpPr>
        <p:spPr>
          <a:xfrm>
            <a:off x="8169719" y="4026529"/>
            <a:ext cx="457201" cy="457201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03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20" y="4178929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4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011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5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757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6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503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7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249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8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995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9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919" y="4178929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10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7740" y="4178929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911" name="TextBox 79"/>
          <p:cNvSpPr txBox="1"/>
          <p:nvPr/>
        </p:nvSpPr>
        <p:spPr>
          <a:xfrm>
            <a:off x="209455" y="3962091"/>
            <a:ext cx="929127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P3</a:t>
            </a:r>
          </a:p>
        </p:txBody>
      </p:sp>
      <p:cxnSp>
        <p:nvCxnSpPr>
          <p:cNvPr id="912" name="Straight Arrow Connector 13"/>
          <p:cNvCxnSpPr>
            <a:stCxn id="884" idx="0"/>
            <a:endCxn id="902" idx="0"/>
          </p:cNvCxnSpPr>
          <p:nvPr/>
        </p:nvCxnSpPr>
        <p:spPr>
          <a:xfrm>
            <a:off x="8382000" y="3093468"/>
            <a:ext cx="16320" cy="1161662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913" name="Picture 17" descr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2683" y="4806917"/>
            <a:ext cx="38101" cy="342901"/>
          </a:xfrm>
          <a:prstGeom prst="rect">
            <a:avLst/>
          </a:prstGeom>
          <a:ln w="12700">
            <a:miter lim="400000"/>
          </a:ln>
        </p:spPr>
      </p:pic>
      <p:sp>
        <p:nvSpPr>
          <p:cNvPr id="914" name="Oval 81"/>
          <p:cNvSpPr/>
          <p:nvPr/>
        </p:nvSpPr>
        <p:spPr>
          <a:xfrm>
            <a:off x="1327568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5" name="Oval 82"/>
          <p:cNvSpPr/>
          <p:nvPr/>
        </p:nvSpPr>
        <p:spPr>
          <a:xfrm>
            <a:off x="2307283" y="5358317"/>
            <a:ext cx="457201" cy="457201"/>
          </a:xfrm>
          <a:prstGeom prst="ellipse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16" name="Oval 83"/>
          <p:cNvSpPr/>
          <p:nvPr/>
        </p:nvSpPr>
        <p:spPr>
          <a:xfrm>
            <a:off x="3286997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7" name="Oval 84"/>
          <p:cNvSpPr/>
          <p:nvPr/>
        </p:nvSpPr>
        <p:spPr>
          <a:xfrm>
            <a:off x="4266710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8" name="Oval 85"/>
          <p:cNvSpPr/>
          <p:nvPr/>
        </p:nvSpPr>
        <p:spPr>
          <a:xfrm>
            <a:off x="5246425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9" name="Oval 86"/>
          <p:cNvSpPr/>
          <p:nvPr/>
        </p:nvSpPr>
        <p:spPr>
          <a:xfrm>
            <a:off x="6226138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0" name="Oval 87"/>
          <p:cNvSpPr/>
          <p:nvPr/>
        </p:nvSpPr>
        <p:spPr>
          <a:xfrm>
            <a:off x="7205853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1" name="Oval 88"/>
          <p:cNvSpPr/>
          <p:nvPr/>
        </p:nvSpPr>
        <p:spPr>
          <a:xfrm>
            <a:off x="8185569" y="5358317"/>
            <a:ext cx="457201" cy="457201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22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68" y="5510717"/>
            <a:ext cx="281155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3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860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4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606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5" name="Picture 18" descr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352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6" name="Picture 19" descr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098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7" name="Picture 20" descr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3844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8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1769" y="5510717"/>
            <a:ext cx="289810" cy="19594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9" name="Picture 22" descr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3590" y="5510717"/>
            <a:ext cx="298242" cy="195944"/>
          </a:xfrm>
          <a:prstGeom prst="rect">
            <a:avLst/>
          </a:prstGeom>
          <a:ln w="12700">
            <a:miter lim="400000"/>
          </a:ln>
        </p:spPr>
      </p:pic>
      <p:sp>
        <p:nvSpPr>
          <p:cNvPr id="930" name="TextBox 97"/>
          <p:cNvSpPr txBox="1"/>
          <p:nvPr/>
        </p:nvSpPr>
        <p:spPr>
          <a:xfrm>
            <a:off x="270664" y="5293881"/>
            <a:ext cx="92912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Chain after P8</a:t>
            </a:r>
          </a:p>
        </p:txBody>
      </p:sp>
      <p:sp>
        <p:nvSpPr>
          <p:cNvPr id="931" name="Straight Arrow Connector 98"/>
          <p:cNvSpPr/>
          <p:nvPr/>
        </p:nvSpPr>
        <p:spPr>
          <a:xfrm>
            <a:off x="3499748" y="4483729"/>
            <a:ext cx="1" cy="323189"/>
          </a:xfrm>
          <a:prstGeom prst="line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932" name="Straight Arrow Connector 99"/>
          <p:cNvSpPr/>
          <p:nvPr/>
        </p:nvSpPr>
        <p:spPr>
          <a:xfrm>
            <a:off x="2527177" y="5815517"/>
            <a:ext cx="1" cy="323189"/>
          </a:xfrm>
          <a:prstGeom prst="line">
            <a:avLst/>
          </a:prstGeom>
          <a:ln w="25400">
            <a:solidFill>
              <a:srgbClr val="4F81BD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933" name="Picture 100" descr="Picture 1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2683" y="6006250"/>
            <a:ext cx="38101" cy="342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Rectangle 2"/>
          <p:cNvSpPr txBox="1">
            <a:spLocks noGrp="1"/>
          </p:cNvSpPr>
          <p:nvPr>
            <p:ph type="title"/>
          </p:nvPr>
        </p:nvSpPr>
        <p:spPr>
          <a:xfrm>
            <a:off x="279400" y="279400"/>
            <a:ext cx="4660900" cy="1155700"/>
          </a:xfrm>
          <a:prstGeom prst="rect">
            <a:avLst/>
          </a:prstGeom>
        </p:spPr>
        <p:txBody>
          <a:bodyPr/>
          <a:lstStyle/>
          <a:p>
            <a:r>
              <a:t>Serial reproduction</a:t>
            </a:r>
            <a:br/>
            <a:r>
              <a:rPr sz="2400"/>
              <a:t>(Bartlett, 1932)</a:t>
            </a:r>
          </a:p>
        </p:txBody>
      </p:sp>
      <p:sp>
        <p:nvSpPr>
          <p:cNvPr id="936" name="Rectangle 3"/>
          <p:cNvSpPr txBox="1">
            <a:spLocks noGrp="1"/>
          </p:cNvSpPr>
          <p:nvPr>
            <p:ph type="body" sz="half" idx="1"/>
          </p:nvPr>
        </p:nvSpPr>
        <p:spPr>
          <a:xfrm>
            <a:off x="279400" y="1536700"/>
            <a:ext cx="4787464" cy="466090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None/>
            </a:pPr>
            <a:r>
              <a:t>Participants see stimuli, then reproduce them from memory</a:t>
            </a:r>
          </a:p>
          <a:p>
            <a:pPr marL="0" indent="0">
              <a:lnSpc>
                <a:spcPct val="90000"/>
              </a:lnSpc>
              <a:buSzTx/>
              <a:buNone/>
            </a:pPr>
            <a:r>
              <a:t>Reproductions of one participant are stimuli for the next</a:t>
            </a:r>
          </a:p>
          <a:p>
            <a:pPr marL="0" indent="0">
              <a:lnSpc>
                <a:spcPct val="90000"/>
              </a:lnSpc>
              <a:buSzTx/>
              <a:buNone/>
            </a:pPr>
            <a:r>
              <a:t>Stimuli were interesting, rather than controlled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2800"/>
            </a:pPr>
            <a:r>
              <a:t>e.g., </a:t>
            </a:r>
            <a:r>
              <a:rPr>
                <a:latin typeface="Arial"/>
                <a:ea typeface="Arial"/>
                <a:cs typeface="Arial"/>
                <a:sym typeface="Arial"/>
              </a:rPr>
              <a:t>“</a:t>
            </a:r>
            <a:r>
              <a:t>War of the Ghosts</a:t>
            </a:r>
            <a:r>
              <a:rPr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pic>
        <p:nvPicPr>
          <p:cNvPr id="937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950" y="449262"/>
            <a:ext cx="3579813" cy="6137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Rectangle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Human MCMC</a:t>
            </a:r>
          </a:p>
        </p:txBody>
      </p:sp>
      <p:sp>
        <p:nvSpPr>
          <p:cNvPr id="940" name="Rectangle 23"/>
          <p:cNvSpPr txBox="1"/>
          <p:nvPr/>
        </p:nvSpPr>
        <p:spPr>
          <a:xfrm>
            <a:off x="731519" y="4838700"/>
            <a:ext cx="7680962" cy="992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marL="342900" indent="-342900" algn="ctr">
              <a:spcBef>
                <a:spcPts val="700"/>
              </a:spcBef>
              <a:defRPr sz="3200"/>
            </a:lvl1pPr>
          </a:lstStyle>
          <a:p>
            <a:r>
              <a:t>  What are the consequences of learners learning from other learners?</a:t>
            </a:r>
          </a:p>
        </p:txBody>
      </p:sp>
      <p:pic>
        <p:nvPicPr>
          <p:cNvPr id="941" name="Picture 24" descr="Picture 24"/>
          <p:cNvPicPr>
            <a:picLocks noChangeAspect="1"/>
          </p:cNvPicPr>
          <p:nvPr/>
        </p:nvPicPr>
        <p:blipFill>
          <a:blip r:embed="rId3"/>
          <a:srcRect b="3618"/>
          <a:stretch>
            <a:fillRect/>
          </a:stretch>
        </p:blipFill>
        <p:spPr>
          <a:xfrm>
            <a:off x="609600" y="2309813"/>
            <a:ext cx="8153400" cy="1728788"/>
          </a:xfrm>
          <a:prstGeom prst="rect">
            <a:avLst/>
          </a:prstGeom>
          <a:ln w="12700">
            <a:miter lim="400000"/>
          </a:ln>
        </p:spPr>
      </p:pic>
      <p:sp>
        <p:nvSpPr>
          <p:cNvPr id="942" name="TextBox 1"/>
          <p:cNvSpPr txBox="1"/>
          <p:nvPr/>
        </p:nvSpPr>
        <p:spPr>
          <a:xfrm>
            <a:off x="3266179" y="6441244"/>
            <a:ext cx="571445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t>(Bartlett, 1932; Kirby, 2001; Griffiths &amp; Kalish, 2007; …)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" grpId="1" animBg="1" advAuto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Rectangle 2"/>
          <p:cNvSpPr txBox="1">
            <a:spLocks noGrp="1"/>
          </p:cNvSpPr>
          <p:nvPr>
            <p:ph type="title"/>
          </p:nvPr>
        </p:nvSpPr>
        <p:spPr>
          <a:xfrm>
            <a:off x="304800" y="609600"/>
            <a:ext cx="8534400" cy="11430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Analyzing Human MCMC</a:t>
            </a:r>
          </a:p>
        </p:txBody>
      </p:sp>
      <p:pic>
        <p:nvPicPr>
          <p:cNvPr id="947" name="Picture 4" descr="Picture 4"/>
          <p:cNvPicPr>
            <a:picLocks noChangeAspect="1"/>
          </p:cNvPicPr>
          <p:nvPr/>
        </p:nvPicPr>
        <p:blipFill>
          <a:blip r:embed="rId2"/>
          <a:srcRect b="3618"/>
          <a:stretch>
            <a:fillRect/>
          </a:stretch>
        </p:blipFill>
        <p:spPr>
          <a:xfrm>
            <a:off x="609600" y="2309813"/>
            <a:ext cx="8153400" cy="1728788"/>
          </a:xfrm>
          <a:prstGeom prst="rect">
            <a:avLst/>
          </a:prstGeom>
          <a:ln w="12700">
            <a:miter lim="400000"/>
          </a:ln>
        </p:spPr>
      </p:pic>
      <p:sp>
        <p:nvSpPr>
          <p:cNvPr id="948" name="Text Box 5"/>
          <p:cNvSpPr txBox="1"/>
          <p:nvPr/>
        </p:nvSpPr>
        <p:spPr>
          <a:xfrm>
            <a:off x="347344" y="4676774"/>
            <a:ext cx="8433655" cy="1308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 i="1"/>
            </a:pPr>
            <a:r>
              <a:t>P</a:t>
            </a:r>
            <a:r>
              <a:rPr i="0"/>
              <a:t>(</a:t>
            </a:r>
            <a:r>
              <a:t>h</a:t>
            </a:r>
            <a:r>
              <a:rPr i="0"/>
              <a:t>|</a:t>
            </a:r>
            <a:r>
              <a:t>d</a:t>
            </a:r>
            <a:r>
              <a:rPr i="0"/>
              <a:t>): probability of inferring hypothesis </a:t>
            </a:r>
            <a:r>
              <a:t>h</a:t>
            </a:r>
            <a:r>
              <a:rPr i="0"/>
              <a:t> from data </a:t>
            </a:r>
            <a:r>
              <a:t>d</a:t>
            </a:r>
          </a:p>
          <a:p>
            <a:pPr>
              <a:defRPr sz="2800"/>
            </a:pPr>
            <a:endParaRPr/>
          </a:p>
          <a:p>
            <a:pPr>
              <a:defRPr sz="2800" i="1"/>
            </a:pPr>
            <a:r>
              <a:t>P</a:t>
            </a:r>
            <a:r>
              <a:rPr i="0"/>
              <a:t>(</a:t>
            </a:r>
            <a:r>
              <a:t>d|h</a:t>
            </a:r>
            <a:r>
              <a:rPr i="0"/>
              <a:t>): probability of generating data </a:t>
            </a:r>
            <a:r>
              <a:t>d</a:t>
            </a:r>
            <a:r>
              <a:rPr i="0"/>
              <a:t> from hypothesis </a:t>
            </a:r>
            <a:r>
              <a:t>h</a:t>
            </a:r>
          </a:p>
        </p:txBody>
      </p:sp>
      <p:sp>
        <p:nvSpPr>
          <p:cNvPr id="949" name="Text Box 6"/>
          <p:cNvSpPr txBox="1"/>
          <p:nvPr/>
        </p:nvSpPr>
        <p:spPr>
          <a:xfrm>
            <a:off x="2341244" y="1806574"/>
            <a:ext cx="7012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/>
            </a:pPr>
            <a:r>
              <a:t>P</a:t>
            </a:r>
            <a:r>
              <a:rPr i="0"/>
              <a:t>(</a:t>
            </a:r>
            <a:r>
              <a:t>h</a:t>
            </a:r>
            <a:r>
              <a:rPr i="0"/>
              <a:t>|</a:t>
            </a:r>
            <a:r>
              <a:t>d</a:t>
            </a:r>
            <a:r>
              <a:rPr i="0"/>
              <a:t>)</a:t>
            </a:r>
          </a:p>
        </p:txBody>
      </p:sp>
      <p:sp>
        <p:nvSpPr>
          <p:cNvPr id="950" name="Text Box 7"/>
          <p:cNvSpPr txBox="1"/>
          <p:nvPr/>
        </p:nvSpPr>
        <p:spPr>
          <a:xfrm>
            <a:off x="3492182" y="2705099"/>
            <a:ext cx="137541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1000"/>
              </a:spcBef>
              <a:defRPr i="1"/>
            </a:pPr>
            <a:r>
              <a:t>P</a:t>
            </a:r>
            <a:r>
              <a:rPr i="0"/>
              <a:t>(</a:t>
            </a:r>
            <a:r>
              <a:t>d|h</a:t>
            </a:r>
            <a:r>
              <a:rPr i="0"/>
              <a:t>)</a:t>
            </a:r>
          </a:p>
        </p:txBody>
      </p:sp>
      <p:sp>
        <p:nvSpPr>
          <p:cNvPr id="951" name="Text Box 8"/>
          <p:cNvSpPr txBox="1"/>
          <p:nvPr/>
        </p:nvSpPr>
        <p:spPr>
          <a:xfrm>
            <a:off x="5046344" y="1806574"/>
            <a:ext cx="7012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/>
            </a:pPr>
            <a:r>
              <a:t>P</a:t>
            </a:r>
            <a:r>
              <a:rPr i="0"/>
              <a:t>(</a:t>
            </a:r>
            <a:r>
              <a:t>h</a:t>
            </a:r>
            <a:r>
              <a:rPr i="0"/>
              <a:t>|</a:t>
            </a:r>
            <a:r>
              <a:t>d</a:t>
            </a:r>
            <a:r>
              <a:rPr i="0"/>
              <a:t>)</a:t>
            </a:r>
          </a:p>
        </p:txBody>
      </p:sp>
      <p:sp>
        <p:nvSpPr>
          <p:cNvPr id="952" name="Text Box 9"/>
          <p:cNvSpPr txBox="1"/>
          <p:nvPr/>
        </p:nvSpPr>
        <p:spPr>
          <a:xfrm>
            <a:off x="6260782" y="2730499"/>
            <a:ext cx="137541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1000"/>
              </a:spcBef>
              <a:defRPr i="1"/>
            </a:pPr>
            <a:r>
              <a:t>P</a:t>
            </a:r>
            <a:r>
              <a:rPr i="0"/>
              <a:t>(</a:t>
            </a:r>
            <a:r>
              <a:t>d|h</a:t>
            </a:r>
            <a:r>
              <a:rPr i="0"/>
              <a:t>)</a:t>
            </a:r>
          </a:p>
        </p:txBody>
      </p:sp>
      <p:sp>
        <p:nvSpPr>
          <p:cNvPr id="953" name="TextBox 8"/>
          <p:cNvSpPr txBox="1"/>
          <p:nvPr/>
        </p:nvSpPr>
        <p:spPr>
          <a:xfrm>
            <a:off x="3266179" y="6441244"/>
            <a:ext cx="571445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t>(Bartlett, 1932; Kirby, 2001; Griffiths &amp; Kalish, 2007; …)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" grpId="1" animBg="1" advAuto="0"/>
      <p:bldP spid="949" grpId="2" animBg="1" advAuto="0"/>
      <p:bldP spid="950" grpId="3" animBg="1" advAuto="0"/>
      <p:bldP spid="951" grpId="4" animBg="1" advAuto="0"/>
      <p:bldP spid="952" grpId="5" animBg="1" advAuto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Rectangle 2"/>
          <p:cNvSpPr txBox="1">
            <a:spLocks noGrp="1"/>
          </p:cNvSpPr>
          <p:nvPr>
            <p:ph type="title"/>
          </p:nvPr>
        </p:nvSpPr>
        <p:spPr>
          <a:xfrm>
            <a:off x="256720" y="66666"/>
            <a:ext cx="8769633" cy="1339159"/>
          </a:xfrm>
          <a:prstGeom prst="rect">
            <a:avLst/>
          </a:prstGeom>
        </p:spPr>
        <p:txBody>
          <a:bodyPr/>
          <a:lstStyle/>
          <a:p>
            <a:pPr>
              <a:defRPr sz="3900"/>
            </a:pPr>
            <a:r>
              <a:t>Bayesian MCMC</a:t>
            </a:r>
            <a:br/>
            <a:r>
              <a:t>(MCMC with People/”Iterated learning”)</a:t>
            </a:r>
          </a:p>
        </p:txBody>
      </p:sp>
      <p:pic>
        <p:nvPicPr>
          <p:cNvPr id="956" name="Picture 23" descr="Picture 23"/>
          <p:cNvPicPr>
            <a:picLocks noChangeAspect="1"/>
          </p:cNvPicPr>
          <p:nvPr/>
        </p:nvPicPr>
        <p:blipFill>
          <a:blip r:embed="rId2"/>
          <a:srcRect b="3618"/>
          <a:stretch>
            <a:fillRect/>
          </a:stretch>
        </p:blipFill>
        <p:spPr>
          <a:xfrm>
            <a:off x="609600" y="1979820"/>
            <a:ext cx="8153400" cy="17287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59" name="Group 31"/>
          <p:cNvGrpSpPr/>
          <p:nvPr/>
        </p:nvGrpSpPr>
        <p:grpSpPr>
          <a:xfrm>
            <a:off x="2438400" y="2865645"/>
            <a:ext cx="3551238" cy="866776"/>
            <a:chOff x="0" y="0"/>
            <a:chExt cx="3551237" cy="866775"/>
          </a:xfrm>
        </p:grpSpPr>
        <p:pic>
          <p:nvPicPr>
            <p:cNvPr id="957" name="Picture 28" descr="Pictur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0"/>
              <a:ext cx="808039" cy="8667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8" name="Picture 29" descr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3200" y="0"/>
              <a:ext cx="808038" cy="8667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60" name="Text Box 37"/>
          <p:cNvSpPr txBox="1"/>
          <p:nvPr/>
        </p:nvSpPr>
        <p:spPr>
          <a:xfrm>
            <a:off x="2341244" y="1500395"/>
            <a:ext cx="900223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 i="1"/>
            </a:pPr>
            <a:r>
              <a:t>P</a:t>
            </a:r>
            <a:r>
              <a:rPr i="0"/>
              <a:t>(</a:t>
            </a:r>
            <a:r>
              <a:t>h</a:t>
            </a:r>
            <a:r>
              <a:rPr i="0"/>
              <a:t>|</a:t>
            </a:r>
            <a:r>
              <a:t>d</a:t>
            </a:r>
            <a:r>
              <a:rPr i="0"/>
              <a:t>)</a:t>
            </a:r>
          </a:p>
        </p:txBody>
      </p:sp>
      <p:sp>
        <p:nvSpPr>
          <p:cNvPr id="961" name="Text Box 38"/>
          <p:cNvSpPr txBox="1"/>
          <p:nvPr/>
        </p:nvSpPr>
        <p:spPr>
          <a:xfrm>
            <a:off x="3492182" y="2398920"/>
            <a:ext cx="137541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1400"/>
              </a:spcBef>
              <a:defRPr sz="2400" i="1"/>
            </a:pPr>
            <a:r>
              <a:t>P</a:t>
            </a:r>
            <a:r>
              <a:rPr i="0"/>
              <a:t>(</a:t>
            </a:r>
            <a:r>
              <a:t>d|h</a:t>
            </a:r>
            <a:r>
              <a:rPr i="0"/>
              <a:t>)</a:t>
            </a:r>
          </a:p>
        </p:txBody>
      </p:sp>
      <p:sp>
        <p:nvSpPr>
          <p:cNvPr id="962" name="Text Box 39"/>
          <p:cNvSpPr txBox="1"/>
          <p:nvPr/>
        </p:nvSpPr>
        <p:spPr>
          <a:xfrm>
            <a:off x="5046344" y="1500395"/>
            <a:ext cx="900223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 i="1"/>
            </a:pPr>
            <a:r>
              <a:t>P</a:t>
            </a:r>
            <a:r>
              <a:rPr i="0"/>
              <a:t>(</a:t>
            </a:r>
            <a:r>
              <a:t>h</a:t>
            </a:r>
            <a:r>
              <a:rPr i="0"/>
              <a:t>|</a:t>
            </a:r>
            <a:r>
              <a:t>d</a:t>
            </a:r>
            <a:r>
              <a:rPr i="0"/>
              <a:t>)</a:t>
            </a:r>
          </a:p>
        </p:txBody>
      </p:sp>
      <p:sp>
        <p:nvSpPr>
          <p:cNvPr id="963" name="Text Box 40"/>
          <p:cNvSpPr txBox="1"/>
          <p:nvPr/>
        </p:nvSpPr>
        <p:spPr>
          <a:xfrm>
            <a:off x="6260782" y="2424320"/>
            <a:ext cx="137541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1400"/>
              </a:spcBef>
              <a:defRPr sz="2400" i="1"/>
            </a:pPr>
            <a:r>
              <a:t>P</a:t>
            </a:r>
            <a:r>
              <a:rPr i="0"/>
              <a:t>(</a:t>
            </a:r>
            <a:r>
              <a:t>d|h</a:t>
            </a:r>
            <a:r>
              <a:rPr i="0"/>
              <a:t>)</a:t>
            </a:r>
          </a:p>
        </p:txBody>
      </p:sp>
      <p:sp>
        <p:nvSpPr>
          <p:cNvPr id="964" name="Text Box 41"/>
          <p:cNvSpPr txBox="1"/>
          <p:nvPr/>
        </p:nvSpPr>
        <p:spPr>
          <a:xfrm>
            <a:off x="448944" y="4027695"/>
            <a:ext cx="840622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/>
            </a:pPr>
            <a:r>
              <a:t>Assume learners </a:t>
            </a:r>
            <a:r>
              <a:rPr i="1"/>
              <a:t>sample</a:t>
            </a:r>
            <a:r>
              <a:t> from their posterior distribution:</a:t>
            </a:r>
          </a:p>
        </p:txBody>
      </p:sp>
      <p:sp>
        <p:nvSpPr>
          <p:cNvPr id="965" name="TextBox 15"/>
          <p:cNvSpPr txBox="1"/>
          <p:nvPr/>
        </p:nvSpPr>
        <p:spPr>
          <a:xfrm>
            <a:off x="3266179" y="6441244"/>
            <a:ext cx="571445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t>(Bartlett, 1932; Kirby, 2001; Griffiths &amp; Kalish, 2007; …)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1" animBg="1" advAuto="0"/>
      <p:bldP spid="964" grpId="2" animBg="1" advAuto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Rectangle 2"/>
          <p:cNvSpPr txBox="1">
            <a:spLocks noGrp="1"/>
          </p:cNvSpPr>
          <p:nvPr>
            <p:ph type="title"/>
          </p:nvPr>
        </p:nvSpPr>
        <p:spPr>
          <a:xfrm>
            <a:off x="685800" y="2667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Analyzing Human MCMC</a:t>
            </a:r>
          </a:p>
        </p:txBody>
      </p:sp>
      <p:grpSp>
        <p:nvGrpSpPr>
          <p:cNvPr id="985" name="Group 35"/>
          <p:cNvGrpSpPr/>
          <p:nvPr/>
        </p:nvGrpSpPr>
        <p:grpSpPr>
          <a:xfrm>
            <a:off x="464819" y="1598613"/>
            <a:ext cx="9350695" cy="840146"/>
            <a:chOff x="0" y="0"/>
            <a:chExt cx="9350693" cy="840145"/>
          </a:xfrm>
        </p:grpSpPr>
        <p:sp>
          <p:nvSpPr>
            <p:cNvPr id="968" name="Text Box 7"/>
            <p:cNvSpPr txBox="1"/>
            <p:nvPr/>
          </p:nvSpPr>
          <p:spPr>
            <a:xfrm>
              <a:off x="0" y="0"/>
              <a:ext cx="450414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d</a:t>
              </a:r>
              <a:r>
                <a:rPr i="0" baseline="-25000"/>
                <a:t>0</a:t>
              </a:r>
            </a:p>
          </p:txBody>
        </p:sp>
        <p:sp>
          <p:nvSpPr>
            <p:cNvPr id="969" name="Text Box 8"/>
            <p:cNvSpPr txBox="1"/>
            <p:nvPr/>
          </p:nvSpPr>
          <p:spPr>
            <a:xfrm>
              <a:off x="1665287" y="7937"/>
              <a:ext cx="450415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h</a:t>
              </a:r>
              <a:r>
                <a:rPr i="0" baseline="-25000"/>
                <a:t>1</a:t>
              </a:r>
            </a:p>
          </p:txBody>
        </p:sp>
        <p:sp>
          <p:nvSpPr>
            <p:cNvPr id="970" name="Text Box 9"/>
            <p:cNvSpPr txBox="1"/>
            <p:nvPr/>
          </p:nvSpPr>
          <p:spPr>
            <a:xfrm>
              <a:off x="3262312" y="1587"/>
              <a:ext cx="450415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d</a:t>
              </a:r>
              <a:r>
                <a:rPr i="0" baseline="-25000"/>
                <a:t>1</a:t>
              </a:r>
            </a:p>
          </p:txBody>
        </p:sp>
        <p:sp>
          <p:nvSpPr>
            <p:cNvPr id="971" name="Text Box 10"/>
            <p:cNvSpPr txBox="1"/>
            <p:nvPr/>
          </p:nvSpPr>
          <p:spPr>
            <a:xfrm>
              <a:off x="4799013" y="23812"/>
              <a:ext cx="450414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h</a:t>
              </a:r>
              <a:r>
                <a:rPr i="0" baseline="-25000"/>
                <a:t>2</a:t>
              </a:r>
            </a:p>
          </p:txBody>
        </p:sp>
        <p:sp>
          <p:nvSpPr>
            <p:cNvPr id="972" name="Line 11"/>
            <p:cNvSpPr/>
            <p:nvPr/>
          </p:nvSpPr>
          <p:spPr>
            <a:xfrm>
              <a:off x="571817" y="338137"/>
              <a:ext cx="968376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73" name="Text Box 19"/>
            <p:cNvSpPr txBox="1"/>
            <p:nvPr/>
          </p:nvSpPr>
          <p:spPr>
            <a:xfrm>
              <a:off x="511175" y="422275"/>
              <a:ext cx="1049973" cy="392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400" i="1"/>
              </a:pPr>
              <a:r>
                <a:t>P</a:t>
              </a:r>
              <a:r>
                <a:rPr i="0"/>
                <a:t>(</a:t>
              </a:r>
              <a:r>
                <a:t>h</a:t>
              </a:r>
              <a:r>
                <a:rPr i="0"/>
                <a:t>|</a:t>
              </a:r>
              <a:r>
                <a:t>d</a:t>
              </a:r>
              <a:r>
                <a:rPr i="0"/>
                <a:t>)</a:t>
              </a:r>
            </a:p>
          </p:txBody>
        </p:sp>
        <p:sp>
          <p:nvSpPr>
            <p:cNvPr id="974" name="Text Box 20"/>
            <p:cNvSpPr txBox="1"/>
            <p:nvPr/>
          </p:nvSpPr>
          <p:spPr>
            <a:xfrm>
              <a:off x="2138362" y="428625"/>
              <a:ext cx="972186" cy="392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400" i="1"/>
              </a:pPr>
              <a:r>
                <a:t>P</a:t>
              </a:r>
              <a:r>
                <a:rPr i="0"/>
                <a:t>(</a:t>
              </a:r>
              <a:r>
                <a:t>d</a:t>
              </a:r>
              <a:r>
                <a:rPr i="0"/>
                <a:t>|</a:t>
              </a:r>
              <a:r>
                <a:t>h</a:t>
              </a:r>
              <a:r>
                <a:rPr i="0"/>
                <a:t>)</a:t>
              </a:r>
            </a:p>
          </p:txBody>
        </p:sp>
        <p:sp>
          <p:nvSpPr>
            <p:cNvPr id="975" name="Line 24"/>
            <p:cNvSpPr/>
            <p:nvPr/>
          </p:nvSpPr>
          <p:spPr>
            <a:xfrm>
              <a:off x="2159317" y="338137"/>
              <a:ext cx="968376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76" name="Line 25"/>
            <p:cNvSpPr/>
            <p:nvPr/>
          </p:nvSpPr>
          <p:spPr>
            <a:xfrm>
              <a:off x="3734117" y="325437"/>
              <a:ext cx="968376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77" name="Text Box 26"/>
            <p:cNvSpPr txBox="1"/>
            <p:nvPr/>
          </p:nvSpPr>
          <p:spPr>
            <a:xfrm>
              <a:off x="3686175" y="434975"/>
              <a:ext cx="1049973" cy="392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400" i="1"/>
              </a:pPr>
              <a:r>
                <a:t>P</a:t>
              </a:r>
              <a:r>
                <a:rPr i="0"/>
                <a:t>(</a:t>
              </a:r>
              <a:r>
                <a:t>h</a:t>
              </a:r>
              <a:r>
                <a:rPr i="0"/>
                <a:t>|</a:t>
              </a:r>
              <a:r>
                <a:t>d</a:t>
              </a:r>
              <a:r>
                <a:rPr i="0"/>
                <a:t>)</a:t>
              </a:r>
            </a:p>
          </p:txBody>
        </p:sp>
        <p:sp>
          <p:nvSpPr>
            <p:cNvPr id="978" name="Text Box 27"/>
            <p:cNvSpPr txBox="1"/>
            <p:nvPr/>
          </p:nvSpPr>
          <p:spPr>
            <a:xfrm>
              <a:off x="6335713" y="49212"/>
              <a:ext cx="450414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d</a:t>
              </a:r>
              <a:r>
                <a:rPr i="0" baseline="-25000"/>
                <a:t>2</a:t>
              </a:r>
            </a:p>
          </p:txBody>
        </p:sp>
        <p:sp>
          <p:nvSpPr>
            <p:cNvPr id="979" name="Line 28"/>
            <p:cNvSpPr/>
            <p:nvPr/>
          </p:nvSpPr>
          <p:spPr>
            <a:xfrm>
              <a:off x="5270818" y="325437"/>
              <a:ext cx="968376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80" name="Line 29"/>
            <p:cNvSpPr/>
            <p:nvPr/>
          </p:nvSpPr>
          <p:spPr>
            <a:xfrm>
              <a:off x="6820218" y="325437"/>
              <a:ext cx="968376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81" name="Text Box 30"/>
            <p:cNvSpPr txBox="1"/>
            <p:nvPr/>
          </p:nvSpPr>
          <p:spPr>
            <a:xfrm>
              <a:off x="7910513" y="36512"/>
              <a:ext cx="450414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h</a:t>
              </a:r>
              <a:r>
                <a:rPr i="0" baseline="-25000"/>
                <a:t>3</a:t>
              </a:r>
            </a:p>
          </p:txBody>
        </p:sp>
        <p:sp>
          <p:nvSpPr>
            <p:cNvPr id="982" name="Line 31"/>
            <p:cNvSpPr/>
            <p:nvPr/>
          </p:nvSpPr>
          <p:spPr>
            <a:xfrm>
              <a:off x="8382318" y="300037"/>
              <a:ext cx="968376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83" name="Text Box 32"/>
            <p:cNvSpPr txBox="1"/>
            <p:nvPr/>
          </p:nvSpPr>
          <p:spPr>
            <a:xfrm>
              <a:off x="5211763" y="441325"/>
              <a:ext cx="972186" cy="392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400" i="1"/>
              </a:pPr>
              <a:r>
                <a:t>P</a:t>
              </a:r>
              <a:r>
                <a:rPr i="0"/>
                <a:t>(</a:t>
              </a:r>
              <a:r>
                <a:t>d</a:t>
              </a:r>
              <a:r>
                <a:rPr i="0"/>
                <a:t>|</a:t>
              </a:r>
              <a:r>
                <a:t>h</a:t>
              </a:r>
              <a:r>
                <a:rPr i="0"/>
                <a:t>)</a:t>
              </a:r>
            </a:p>
          </p:txBody>
        </p:sp>
        <p:sp>
          <p:nvSpPr>
            <p:cNvPr id="984" name="Text Box 33"/>
            <p:cNvSpPr txBox="1"/>
            <p:nvPr/>
          </p:nvSpPr>
          <p:spPr>
            <a:xfrm>
              <a:off x="6759575" y="447675"/>
              <a:ext cx="1049973" cy="392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400" i="1"/>
              </a:pPr>
              <a:r>
                <a:t>P</a:t>
              </a:r>
              <a:r>
                <a:rPr i="0"/>
                <a:t>(</a:t>
              </a:r>
              <a:r>
                <a:t>h</a:t>
              </a:r>
              <a:r>
                <a:rPr i="0"/>
                <a:t>|</a:t>
              </a:r>
              <a:r>
                <a:t>d</a:t>
              </a:r>
              <a:r>
                <a:rPr i="0"/>
                <a:t>)</a:t>
              </a:r>
            </a:p>
          </p:txBody>
        </p:sp>
      </p:grpSp>
      <p:grpSp>
        <p:nvGrpSpPr>
          <p:cNvPr id="996" name="Group 105"/>
          <p:cNvGrpSpPr/>
          <p:nvPr/>
        </p:nvGrpSpPr>
        <p:grpSpPr>
          <a:xfrm>
            <a:off x="482282" y="2933701"/>
            <a:ext cx="9371332" cy="1356679"/>
            <a:chOff x="0" y="0"/>
            <a:chExt cx="9371330" cy="1356678"/>
          </a:xfrm>
        </p:grpSpPr>
        <p:sp>
          <p:nvSpPr>
            <p:cNvPr id="986" name="Text Box 93"/>
            <p:cNvSpPr txBox="1"/>
            <p:nvPr/>
          </p:nvSpPr>
          <p:spPr>
            <a:xfrm>
              <a:off x="5357812" y="808038"/>
              <a:ext cx="2356486" cy="548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rPr>
                  <a:latin typeface="Symbol"/>
                  <a:ea typeface="Symbol"/>
                  <a:cs typeface="Symbol"/>
                  <a:sym typeface="Symbol"/>
                </a:rPr>
                <a:t>S</a:t>
              </a:r>
              <a:r>
                <a:rPr sz="2400" i="1" baseline="-25000"/>
                <a:t>d </a:t>
              </a:r>
              <a:r>
                <a:rPr sz="2400" i="1"/>
                <a:t>P</a:t>
              </a:r>
              <a:r>
                <a:rPr sz="2400"/>
                <a:t>(</a:t>
              </a:r>
              <a:r>
                <a:rPr sz="2400" i="1"/>
                <a:t>d</a:t>
              </a:r>
              <a:r>
                <a:rPr sz="2400"/>
                <a:t>|</a:t>
              </a:r>
              <a:r>
                <a:rPr sz="2400" i="1"/>
                <a:t>h</a:t>
              </a:r>
              <a:r>
                <a:rPr sz="2400"/>
                <a:t>)</a:t>
              </a:r>
              <a:r>
                <a:rPr sz="2400" i="1"/>
                <a:t>P</a:t>
              </a:r>
              <a:r>
                <a:rPr sz="2400"/>
                <a:t>(</a:t>
              </a:r>
              <a:r>
                <a:rPr sz="2400" i="1"/>
                <a:t>h</a:t>
              </a:r>
              <a:r>
                <a:rPr sz="2400"/>
                <a:t>|</a:t>
              </a:r>
              <a:r>
                <a:rPr sz="2400" i="1"/>
                <a:t>d</a:t>
              </a:r>
              <a:r>
                <a:rPr sz="2400"/>
                <a:t>)</a:t>
              </a:r>
            </a:p>
          </p:txBody>
        </p:sp>
        <p:grpSp>
          <p:nvGrpSpPr>
            <p:cNvPr id="995" name="Group 101"/>
            <p:cNvGrpSpPr/>
            <p:nvPr/>
          </p:nvGrpSpPr>
          <p:grpSpPr>
            <a:xfrm>
              <a:off x="0" y="-1"/>
              <a:ext cx="9371331" cy="1331280"/>
              <a:chOff x="0" y="0"/>
              <a:chExt cx="9371330" cy="1331278"/>
            </a:xfrm>
          </p:grpSpPr>
          <p:sp>
            <p:nvSpPr>
              <p:cNvPr id="987" name="Text Box 38"/>
              <p:cNvSpPr txBox="1"/>
              <p:nvPr/>
            </p:nvSpPr>
            <p:spPr>
              <a:xfrm>
                <a:off x="1685925" y="438150"/>
                <a:ext cx="450414" cy="574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3200" i="1"/>
                </a:pPr>
                <a:r>
                  <a:t>h</a:t>
                </a:r>
                <a:r>
                  <a:rPr i="0" baseline="-25000"/>
                  <a:t>1</a:t>
                </a:r>
              </a:p>
            </p:txBody>
          </p:sp>
          <p:sp>
            <p:nvSpPr>
              <p:cNvPr id="988" name="Text Box 40"/>
              <p:cNvSpPr txBox="1"/>
              <p:nvPr/>
            </p:nvSpPr>
            <p:spPr>
              <a:xfrm>
                <a:off x="4819650" y="454025"/>
                <a:ext cx="450414" cy="574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3200" i="1"/>
                </a:pPr>
                <a:r>
                  <a:t>h</a:t>
                </a:r>
                <a:r>
                  <a:rPr i="0" baseline="-25000"/>
                  <a:t>2</a:t>
                </a:r>
              </a:p>
            </p:txBody>
          </p:sp>
          <p:sp>
            <p:nvSpPr>
              <p:cNvPr id="989" name="Text Box 44"/>
              <p:cNvSpPr txBox="1"/>
              <p:nvPr/>
            </p:nvSpPr>
            <p:spPr>
              <a:xfrm>
                <a:off x="2284412" y="782638"/>
                <a:ext cx="2356486" cy="548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3600"/>
                </a:pPr>
                <a:r>
                  <a:rPr>
                    <a:latin typeface="Symbol"/>
                    <a:ea typeface="Symbol"/>
                    <a:cs typeface="Symbol"/>
                    <a:sym typeface="Symbol"/>
                  </a:rPr>
                  <a:t>S</a:t>
                </a:r>
                <a:r>
                  <a:rPr sz="2400" i="1" baseline="-25000"/>
                  <a:t>d </a:t>
                </a:r>
                <a:r>
                  <a:rPr sz="2400" i="1"/>
                  <a:t>P</a:t>
                </a:r>
                <a:r>
                  <a:rPr sz="2400"/>
                  <a:t>(</a:t>
                </a:r>
                <a:r>
                  <a:rPr sz="2400" i="1"/>
                  <a:t>d</a:t>
                </a:r>
                <a:r>
                  <a:rPr sz="2400"/>
                  <a:t>|</a:t>
                </a:r>
                <a:r>
                  <a:rPr sz="2400" i="1"/>
                  <a:t>h</a:t>
                </a:r>
                <a:r>
                  <a:rPr sz="2400"/>
                  <a:t>)</a:t>
                </a:r>
                <a:r>
                  <a:rPr sz="2400" i="1"/>
                  <a:t>P</a:t>
                </a:r>
                <a:r>
                  <a:rPr sz="2400"/>
                  <a:t>(</a:t>
                </a:r>
                <a:r>
                  <a:rPr sz="2400" i="1"/>
                  <a:t>h</a:t>
                </a:r>
                <a:r>
                  <a:rPr sz="2400"/>
                  <a:t>|</a:t>
                </a:r>
                <a:r>
                  <a:rPr sz="2400" i="1"/>
                  <a:t>d</a:t>
                </a:r>
                <a:r>
                  <a:rPr sz="2400"/>
                  <a:t>)</a:t>
                </a:r>
              </a:p>
            </p:txBody>
          </p:sp>
          <p:sp>
            <p:nvSpPr>
              <p:cNvPr id="990" name="Line 45"/>
              <p:cNvSpPr/>
              <p:nvPr/>
            </p:nvSpPr>
            <p:spPr>
              <a:xfrm flipV="1">
                <a:off x="2179955" y="755650"/>
                <a:ext cx="2505076" cy="127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991" name="Line 49"/>
              <p:cNvSpPr/>
              <p:nvPr/>
            </p:nvSpPr>
            <p:spPr>
              <a:xfrm>
                <a:off x="5291455" y="755650"/>
                <a:ext cx="2543176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992" name="Text Box 51"/>
              <p:cNvSpPr txBox="1"/>
              <p:nvPr/>
            </p:nvSpPr>
            <p:spPr>
              <a:xfrm>
                <a:off x="7931150" y="466725"/>
                <a:ext cx="450414" cy="574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3200" i="1"/>
                </a:pPr>
                <a:r>
                  <a:t>h</a:t>
                </a:r>
                <a:r>
                  <a:rPr i="0" baseline="-25000"/>
                  <a:t>3</a:t>
                </a:r>
              </a:p>
            </p:txBody>
          </p:sp>
          <p:sp>
            <p:nvSpPr>
              <p:cNvPr id="993" name="Line 52"/>
              <p:cNvSpPr/>
              <p:nvPr/>
            </p:nvSpPr>
            <p:spPr>
              <a:xfrm>
                <a:off x="8402955" y="730250"/>
                <a:ext cx="968376" cy="127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994" name="Text Box 98"/>
              <p:cNvSpPr txBox="1"/>
              <p:nvPr/>
            </p:nvSpPr>
            <p:spPr>
              <a:xfrm>
                <a:off x="0" y="0"/>
                <a:ext cx="8498523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spcBef>
                    <a:spcPts val="1400"/>
                  </a:spcBef>
                  <a:defRPr sz="2400">
                    <a:solidFill>
                      <a:srgbClr val="FF0000"/>
                    </a:solidFill>
                  </a:defRPr>
                </a:pPr>
                <a:r>
                  <a:t>A Markov chain on hypotheses -&gt; Converges to prior on hyps. </a:t>
                </a:r>
                <a:r>
                  <a:rPr i="1"/>
                  <a:t>P</a:t>
                </a:r>
                <a:r>
                  <a:t>(</a:t>
                </a:r>
                <a:r>
                  <a:rPr i="1"/>
                  <a:t>h</a:t>
                </a:r>
                <a:r>
                  <a:t>)!</a:t>
                </a:r>
              </a:p>
            </p:txBody>
          </p:sp>
        </p:grpSp>
      </p:grpSp>
      <p:grpSp>
        <p:nvGrpSpPr>
          <p:cNvPr id="1007" name="Group 102"/>
          <p:cNvGrpSpPr/>
          <p:nvPr/>
        </p:nvGrpSpPr>
        <p:grpSpPr>
          <a:xfrm>
            <a:off x="477520" y="4737103"/>
            <a:ext cx="9350693" cy="1410654"/>
            <a:chOff x="0" y="0"/>
            <a:chExt cx="9350693" cy="1410653"/>
          </a:xfrm>
        </p:grpSpPr>
        <p:sp>
          <p:nvSpPr>
            <p:cNvPr id="997" name="Text Box 56"/>
            <p:cNvSpPr txBox="1"/>
            <p:nvPr/>
          </p:nvSpPr>
          <p:spPr>
            <a:xfrm>
              <a:off x="0" y="404812"/>
              <a:ext cx="450414" cy="574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d</a:t>
              </a:r>
              <a:r>
                <a:rPr i="0" baseline="-25000"/>
                <a:t>0</a:t>
              </a:r>
            </a:p>
          </p:txBody>
        </p:sp>
        <p:sp>
          <p:nvSpPr>
            <p:cNvPr id="998" name="Text Box 58"/>
            <p:cNvSpPr txBox="1"/>
            <p:nvPr/>
          </p:nvSpPr>
          <p:spPr>
            <a:xfrm>
              <a:off x="3262312" y="406400"/>
              <a:ext cx="450415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d</a:t>
              </a:r>
              <a:r>
                <a:rPr i="0" baseline="-25000"/>
                <a:t>1</a:t>
              </a:r>
            </a:p>
          </p:txBody>
        </p:sp>
        <p:sp>
          <p:nvSpPr>
            <p:cNvPr id="999" name="Line 60"/>
            <p:cNvSpPr/>
            <p:nvPr/>
          </p:nvSpPr>
          <p:spPr>
            <a:xfrm>
              <a:off x="571817" y="742950"/>
              <a:ext cx="2555876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0" name="Text Box 63"/>
            <p:cNvSpPr txBox="1"/>
            <p:nvPr/>
          </p:nvSpPr>
          <p:spPr>
            <a:xfrm>
              <a:off x="565150" y="719137"/>
              <a:ext cx="2534285" cy="548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rPr>
                  <a:latin typeface="Symbol"/>
                  <a:ea typeface="Symbol"/>
                  <a:cs typeface="Symbol"/>
                  <a:sym typeface="Symbol"/>
                </a:rPr>
                <a:t>S</a:t>
              </a:r>
              <a:r>
                <a:rPr sz="2400" i="1" baseline="-25000"/>
                <a:t>h</a:t>
              </a:r>
              <a:r>
                <a:rPr sz="2400" i="1"/>
                <a:t> P</a:t>
              </a:r>
              <a:r>
                <a:rPr sz="2400"/>
                <a:t>(</a:t>
              </a:r>
              <a:r>
                <a:rPr sz="2400" i="1"/>
                <a:t>h</a:t>
              </a:r>
              <a:r>
                <a:rPr sz="2400"/>
                <a:t>|</a:t>
              </a:r>
              <a:r>
                <a:rPr sz="2400" i="1"/>
                <a:t>d</a:t>
              </a:r>
              <a:r>
                <a:rPr sz="2400"/>
                <a:t>)</a:t>
              </a:r>
              <a:r>
                <a:rPr sz="2400" i="1"/>
                <a:t> P</a:t>
              </a:r>
              <a:r>
                <a:rPr sz="2400"/>
                <a:t>(</a:t>
              </a:r>
              <a:r>
                <a:rPr sz="2400" i="1"/>
                <a:t>d</a:t>
              </a:r>
              <a:r>
                <a:rPr sz="2400"/>
                <a:t>|</a:t>
              </a:r>
              <a:r>
                <a:rPr sz="2400" i="1"/>
                <a:t>h</a:t>
              </a:r>
              <a:r>
                <a:rPr sz="2400"/>
                <a:t>)</a:t>
              </a:r>
            </a:p>
          </p:txBody>
        </p:sp>
        <p:sp>
          <p:nvSpPr>
            <p:cNvPr id="1001" name="Line 65"/>
            <p:cNvSpPr/>
            <p:nvPr/>
          </p:nvSpPr>
          <p:spPr>
            <a:xfrm>
              <a:off x="3734117" y="730250"/>
              <a:ext cx="2428877" cy="12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2" name="Text Box 67"/>
            <p:cNvSpPr txBox="1"/>
            <p:nvPr/>
          </p:nvSpPr>
          <p:spPr>
            <a:xfrm>
              <a:off x="6335713" y="454025"/>
              <a:ext cx="450414" cy="57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200" i="1"/>
              </a:pPr>
              <a:r>
                <a:t>d</a:t>
              </a:r>
              <a:r>
                <a:rPr i="0" baseline="-25000"/>
                <a:t>2</a:t>
              </a:r>
            </a:p>
          </p:txBody>
        </p:sp>
        <p:sp>
          <p:nvSpPr>
            <p:cNvPr id="1003" name="Line 71"/>
            <p:cNvSpPr/>
            <p:nvPr/>
          </p:nvSpPr>
          <p:spPr>
            <a:xfrm>
              <a:off x="6871018" y="717550"/>
              <a:ext cx="2479676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4" name="Text Box 94"/>
            <p:cNvSpPr txBox="1"/>
            <p:nvPr/>
          </p:nvSpPr>
          <p:spPr>
            <a:xfrm>
              <a:off x="3778250" y="731837"/>
              <a:ext cx="2534286" cy="548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rPr>
                  <a:latin typeface="Symbol"/>
                  <a:ea typeface="Symbol"/>
                  <a:cs typeface="Symbol"/>
                  <a:sym typeface="Symbol"/>
                </a:rPr>
                <a:t>S</a:t>
              </a:r>
              <a:r>
                <a:rPr sz="2400" i="1" baseline="-25000"/>
                <a:t>h</a:t>
              </a:r>
              <a:r>
                <a:rPr sz="2400" i="1"/>
                <a:t> P</a:t>
              </a:r>
              <a:r>
                <a:rPr sz="2400"/>
                <a:t>(</a:t>
              </a:r>
              <a:r>
                <a:rPr sz="2400" i="1"/>
                <a:t>h</a:t>
              </a:r>
              <a:r>
                <a:rPr sz="2400"/>
                <a:t>|</a:t>
              </a:r>
              <a:r>
                <a:rPr sz="2400" i="1"/>
                <a:t>d</a:t>
              </a:r>
              <a:r>
                <a:rPr sz="2400"/>
                <a:t>)</a:t>
              </a:r>
              <a:r>
                <a:rPr sz="2400" i="1"/>
                <a:t> P</a:t>
              </a:r>
              <a:r>
                <a:rPr sz="2400"/>
                <a:t>(</a:t>
              </a:r>
              <a:r>
                <a:rPr sz="2400" i="1"/>
                <a:t>d</a:t>
              </a:r>
              <a:r>
                <a:rPr sz="2400"/>
                <a:t>|</a:t>
              </a:r>
              <a:r>
                <a:rPr sz="2400" i="1"/>
                <a:t>h</a:t>
              </a:r>
              <a:r>
                <a:rPr sz="2400"/>
                <a:t>)</a:t>
              </a:r>
            </a:p>
          </p:txBody>
        </p:sp>
        <p:sp>
          <p:nvSpPr>
            <p:cNvPr id="1005" name="Text Box 95"/>
            <p:cNvSpPr txBox="1"/>
            <p:nvPr/>
          </p:nvSpPr>
          <p:spPr>
            <a:xfrm>
              <a:off x="6521450" y="862013"/>
              <a:ext cx="2534286" cy="548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rPr>
                  <a:latin typeface="Symbol"/>
                  <a:ea typeface="Symbol"/>
                  <a:cs typeface="Symbol"/>
                  <a:sym typeface="Symbol"/>
                </a:rPr>
                <a:t>S</a:t>
              </a:r>
              <a:r>
                <a:rPr sz="2400" i="1" baseline="-25000"/>
                <a:t>h</a:t>
              </a:r>
              <a:r>
                <a:rPr sz="2400" i="1"/>
                <a:t> P</a:t>
              </a:r>
              <a:r>
                <a:rPr sz="2400"/>
                <a:t>(</a:t>
              </a:r>
              <a:r>
                <a:rPr sz="2400" i="1"/>
                <a:t>h</a:t>
              </a:r>
              <a:r>
                <a:rPr sz="2400"/>
                <a:t>|</a:t>
              </a:r>
              <a:r>
                <a:rPr sz="2400" i="1"/>
                <a:t>d</a:t>
              </a:r>
              <a:r>
                <a:rPr sz="2400"/>
                <a:t>)</a:t>
              </a:r>
              <a:r>
                <a:rPr sz="2400" i="1"/>
                <a:t> P</a:t>
              </a:r>
              <a:r>
                <a:rPr sz="2400"/>
                <a:t>(</a:t>
              </a:r>
              <a:r>
                <a:rPr sz="2400" i="1"/>
                <a:t>d</a:t>
              </a:r>
              <a:r>
                <a:rPr sz="2400"/>
                <a:t>|</a:t>
              </a:r>
              <a:r>
                <a:rPr sz="2400" i="1"/>
                <a:t>h</a:t>
              </a:r>
              <a:r>
                <a:rPr sz="2400"/>
                <a:t>)</a:t>
              </a:r>
            </a:p>
          </p:txBody>
        </p:sp>
        <p:sp>
          <p:nvSpPr>
            <p:cNvPr id="1006" name="Text Box 99"/>
            <p:cNvSpPr txBox="1"/>
            <p:nvPr/>
          </p:nvSpPr>
          <p:spPr>
            <a:xfrm>
              <a:off x="30162" y="0"/>
              <a:ext cx="8495349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spcBef>
                  <a:spcPts val="1400"/>
                </a:spcBef>
                <a:defRPr sz="2400">
                  <a:solidFill>
                    <a:srgbClr val="FF0000"/>
                  </a:solidFill>
                </a:defRPr>
              </a:pPr>
              <a:r>
                <a:t>A Markov chain on data -&gt; Converges to </a:t>
              </a:r>
              <a:r>
                <a:rPr i="1"/>
                <a:t>prior predictive dist</a:t>
              </a:r>
              <a:r>
                <a:t>. </a:t>
              </a:r>
              <a:r>
                <a:rPr i="1"/>
                <a:t>P</a:t>
              </a:r>
              <a:r>
                <a:t>(</a:t>
              </a:r>
              <a:r>
                <a:rPr i="1"/>
                <a:t>d</a:t>
              </a:r>
              <a:r>
                <a:t>)!</a:t>
              </a:r>
            </a:p>
          </p:txBody>
        </p:sp>
      </p:grpSp>
      <p:sp>
        <p:nvSpPr>
          <p:cNvPr id="1008" name="TextBox 45"/>
          <p:cNvSpPr txBox="1"/>
          <p:nvPr/>
        </p:nvSpPr>
        <p:spPr>
          <a:xfrm>
            <a:off x="3266179" y="6441244"/>
            <a:ext cx="571445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/>
          </a:lstStyle>
          <a:p>
            <a:r>
              <a:t>(Bartlett, 1932; Kirby, 2001; Griffiths &amp; Kalish, 2007; …)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" grpId="1" animBg="1" advAuto="0"/>
      <p:bldP spid="1007" grpId="2" animBg="1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65992" y="135082"/>
            <a:ext cx="8229601" cy="6751588"/>
          </a:xfrm>
          <a:prstGeom prst="rect">
            <a:avLst/>
          </a:prstGeom>
        </p:spPr>
        <p:txBody>
          <a:bodyPr/>
          <a:lstStyle/>
          <a:p>
            <a:r>
              <a:t>Admin Matters</a:t>
            </a:r>
          </a:p>
          <a:p>
            <a:pPr defTabSz="914400">
              <a:spcBef>
                <a:spcPts val="0"/>
              </a:spcBef>
            </a:pPr>
            <a:r>
              <a:t>Why Approximate?</a:t>
            </a:r>
          </a:p>
          <a:p>
            <a:pPr defTabSz="914400">
              <a:spcBef>
                <a:spcPts val="0"/>
              </a:spcBef>
            </a:pPr>
            <a:r>
              <a:t>Monte Carlo</a:t>
            </a:r>
          </a:p>
          <a:p>
            <a:pPr defTabSz="914400">
              <a:spcBef>
                <a:spcPts val="0"/>
              </a:spcBef>
            </a:pPr>
            <a:r>
              <a:t>	Basic sampling</a:t>
            </a:r>
          </a:p>
          <a:p>
            <a:pPr defTabSz="914400">
              <a:spcBef>
                <a:spcPts val="0"/>
              </a:spcBef>
            </a:pPr>
            <a:r>
              <a:t>	Importance sampling</a:t>
            </a:r>
          </a:p>
          <a:p>
            <a:pPr defTabSz="914400">
              <a:spcBef>
                <a:spcPts val="0"/>
              </a:spcBef>
            </a:pPr>
            <a:r>
              <a:t>	Sequential importance sampling </a:t>
            </a:r>
          </a:p>
          <a:p>
            <a:pPr defTabSz="914400">
              <a:spcBef>
                <a:spcPts val="0"/>
              </a:spcBef>
            </a:pPr>
            <a:r>
              <a:t>		(aka particle filtering)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1</a:t>
            </a:r>
          </a:p>
          <a:p>
            <a:pPr defTabSz="914400">
              <a:spcBef>
                <a:spcPts val="0"/>
              </a:spcBef>
            </a:pPr>
            <a:r>
              <a:t>Markov Chain Monte Carlo</a:t>
            </a:r>
          </a:p>
          <a:p>
            <a:pPr defTabSz="914400">
              <a:spcBef>
                <a:spcPts val="0"/>
              </a:spcBef>
              <a:defRPr b="1"/>
            </a:pPr>
            <a:r>
              <a:t>Short rest 2</a:t>
            </a:r>
          </a:p>
          <a:p>
            <a:pPr defTabSz="914400">
              <a:spcBef>
                <a:spcPts val="0"/>
              </a:spcBef>
            </a:pPr>
            <a:r>
              <a:t>Two student presentations: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Vul et al 2009 by Martin</a:t>
            </a:r>
          </a:p>
          <a:p>
            <a:pPr marL="914400" lvl="1" indent="-514350" defTabSz="914400">
              <a:spcBef>
                <a:spcPts val="0"/>
              </a:spcBef>
              <a:buFontTx/>
              <a:buAutoNum type="arabicPeriod"/>
              <a:defRPr sz="2800"/>
            </a:pPr>
            <a:r>
              <a:t>Sanborn &amp; Griffiths 2007 by Anirudh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Short Rest 2</a:t>
            </a:r>
          </a:p>
        </p:txBody>
      </p:sp>
      <p:pic>
        <p:nvPicPr>
          <p:cNvPr id="1015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531" y="1298197"/>
            <a:ext cx="4106936" cy="54759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F7E6B7"/>
      </a:dk2>
      <a:lt2>
        <a:srgbClr val="535353"/>
      </a:lt2>
      <a:accent1>
        <a:srgbClr val="D6F1F1"/>
      </a:accent1>
      <a:accent2>
        <a:srgbClr val="C0504D"/>
      </a:accent2>
      <a:accent3>
        <a:srgbClr val="9BBB59"/>
      </a:accent3>
      <a:accent4>
        <a:srgbClr val="8064A2"/>
      </a:accent4>
      <a:accent5>
        <a:srgbClr val="C4F1DE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F7E6B7"/>
      </a:dk2>
      <a:lt2>
        <a:srgbClr val="535353"/>
      </a:lt2>
      <a:accent1>
        <a:srgbClr val="D6F1F1"/>
      </a:accent1>
      <a:accent2>
        <a:srgbClr val="C0504D"/>
      </a:accent2>
      <a:accent3>
        <a:srgbClr val="9BBB59"/>
      </a:accent3>
      <a:accent4>
        <a:srgbClr val="8064A2"/>
      </a:accent4>
      <a:accent5>
        <a:srgbClr val="C4F1DE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3257</Words>
  <Application>Microsoft Office PowerPoint</Application>
  <PresentationFormat>On-screen Show (4:3)</PresentationFormat>
  <Paragraphs>530</Paragraphs>
  <Slides>72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Times Roman</vt:lpstr>
      <vt:lpstr>Arial</vt:lpstr>
      <vt:lpstr>Calibri</vt:lpstr>
      <vt:lpstr>Cambria Math</vt:lpstr>
      <vt:lpstr>Symbol</vt:lpstr>
      <vt:lpstr>Times New Roman</vt:lpstr>
      <vt:lpstr>Office Theme</vt:lpstr>
      <vt:lpstr>Approximation: Monte Carlo</vt:lpstr>
      <vt:lpstr>Timeline</vt:lpstr>
      <vt:lpstr>Administrative Matters</vt:lpstr>
      <vt:lpstr>Timeline</vt:lpstr>
      <vt:lpstr>Marr’s three levels</vt:lpstr>
      <vt:lpstr>Background/Review: A top-down approach…</vt:lpstr>
      <vt:lpstr>Timeline</vt:lpstr>
      <vt:lpstr>The Monte Carlo principle</vt:lpstr>
      <vt:lpstr>The Monte Carlo principle</vt:lpstr>
      <vt:lpstr>More formally  (and words you might read)</vt:lpstr>
      <vt:lpstr>BUT, many times we can’t sample from the distribution.   What do we do then?</vt:lpstr>
      <vt:lpstr>Basic Sampling: Inverse cumulative distribution</vt:lpstr>
      <vt:lpstr>Example sampling via inverse cumulative distribution function (CDF)</vt:lpstr>
      <vt:lpstr>Basic Sampling: Rejection sampling</vt:lpstr>
      <vt:lpstr>PowerPoint Presentation</vt:lpstr>
      <vt:lpstr>Basic Sampling: Calculating Pi with Rejection Sampling</vt:lpstr>
      <vt:lpstr>Basic Sampling:  Rejection sampling of the posterior</vt:lpstr>
      <vt:lpstr>Timeline</vt:lpstr>
      <vt:lpstr>Importance sampling</vt:lpstr>
      <vt:lpstr>PowerPoint Presentation</vt:lpstr>
      <vt:lpstr>Importance sampling</vt:lpstr>
      <vt:lpstr>Importance sampling</vt:lpstr>
      <vt:lpstr>Importance sampling</vt:lpstr>
      <vt:lpstr>Importance sampling from prior</vt:lpstr>
      <vt:lpstr>Importance sampling (properties)</vt:lpstr>
      <vt:lpstr>Importance sampling from prior</vt:lpstr>
      <vt:lpstr>Optimal importance sampling</vt:lpstr>
      <vt:lpstr>Optimal importance sampling</vt:lpstr>
      <vt:lpstr>PowerPoint Presentation</vt:lpstr>
      <vt:lpstr>Likelihood weighting</vt:lpstr>
      <vt:lpstr>Approximating Bayesian inference</vt:lpstr>
      <vt:lpstr>Does that equation remind you of any prior psychological theories?</vt:lpstr>
      <vt:lpstr>Exemplar theories</vt:lpstr>
      <vt:lpstr>Exemplar theories</vt:lpstr>
      <vt:lpstr>Exemplar models</vt:lpstr>
      <vt:lpstr>Exemplar models</vt:lpstr>
      <vt:lpstr>Equivalence</vt:lpstr>
      <vt:lpstr>PowerPoint Presentation</vt:lpstr>
      <vt:lpstr>Updating distributions over time…</vt:lpstr>
      <vt:lpstr>Dynamic hypotheses</vt:lpstr>
      <vt:lpstr>Particle filter</vt:lpstr>
      <vt:lpstr>Particle filter</vt:lpstr>
      <vt:lpstr>The promise of particle filters</vt:lpstr>
      <vt:lpstr>Want more on particle filters?</vt:lpstr>
      <vt:lpstr>PowerPoint Presentation</vt:lpstr>
      <vt:lpstr>Short rest 1</vt:lpstr>
      <vt:lpstr>PowerPoint Presentation</vt:lpstr>
      <vt:lpstr>Markov chains</vt:lpstr>
      <vt:lpstr>Markov chain Monte Carlo (MCMC)</vt:lpstr>
      <vt:lpstr>Metropolis-Hastings algorithm (Metropolis et al., 1953; Hastings, 1970)</vt:lpstr>
      <vt:lpstr>Metropolis-Hastings algorithm</vt:lpstr>
      <vt:lpstr>Metropolis-Hastings algorithm</vt:lpstr>
      <vt:lpstr>Metropolis-Hastings algorithm</vt:lpstr>
      <vt:lpstr>Metropolis-Hastings algorithm</vt:lpstr>
      <vt:lpstr>Metropolis-Hastings algorithm</vt:lpstr>
      <vt:lpstr>Metropolis-Hastings algorithm</vt:lpstr>
      <vt:lpstr>Example</vt:lpstr>
      <vt:lpstr>Markov chain Monte Carlo (MCMC)</vt:lpstr>
      <vt:lpstr>Gibbs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Serial reproduction (Bartlett, 1932)</vt:lpstr>
      <vt:lpstr>Human MCMC</vt:lpstr>
      <vt:lpstr>Analyzing Human MCMC</vt:lpstr>
      <vt:lpstr>Bayesian MCMC (MCMC with People/”Iterated learning”)</vt:lpstr>
      <vt:lpstr>Analyzing Human MCMC</vt:lpstr>
      <vt:lpstr>PowerPoint Presentation</vt:lpstr>
      <vt:lpstr>Short Rest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Joseph Austerweil</cp:lastModifiedBy>
  <cp:revision>2</cp:revision>
  <dcterms:modified xsi:type="dcterms:W3CDTF">2025-03-13T02:13:08Z</dcterms:modified>
</cp:coreProperties>
</file>