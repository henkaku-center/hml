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tags/tag7.xml" ContentType="application/vnd.openxmlformats-officedocument.presentationml.tags+xml"/>
  <Override PartName="/ppt/notesSlides/notesSlide24.xml" ContentType="application/vnd.openxmlformats-officedocument.presentationml.notesSlide+xml"/>
  <Override PartName="/ppt/tags/tag8.xml" ContentType="application/vnd.openxmlformats-officedocument.presentationml.tags+xml"/>
  <Override PartName="/ppt/notesSlides/notesSlide2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795" r:id="rId3"/>
    <p:sldId id="259" r:id="rId4"/>
    <p:sldId id="1129" r:id="rId5"/>
    <p:sldId id="366" r:id="rId6"/>
    <p:sldId id="372" r:id="rId7"/>
    <p:sldId id="371" r:id="rId8"/>
    <p:sldId id="373" r:id="rId9"/>
    <p:sldId id="374" r:id="rId10"/>
    <p:sldId id="351" r:id="rId11"/>
    <p:sldId id="320" r:id="rId12"/>
    <p:sldId id="1134" r:id="rId13"/>
    <p:sldId id="321" r:id="rId14"/>
    <p:sldId id="1130" r:id="rId15"/>
    <p:sldId id="344" r:id="rId16"/>
    <p:sldId id="1131" r:id="rId17"/>
    <p:sldId id="335" r:id="rId18"/>
    <p:sldId id="1132" r:id="rId19"/>
    <p:sldId id="304" r:id="rId20"/>
    <p:sldId id="274" r:id="rId21"/>
    <p:sldId id="260" r:id="rId22"/>
    <p:sldId id="261" r:id="rId23"/>
    <p:sldId id="305" r:id="rId24"/>
    <p:sldId id="345" r:id="rId25"/>
    <p:sldId id="346" r:id="rId26"/>
    <p:sldId id="1133" r:id="rId27"/>
    <p:sldId id="1136" r:id="rId28"/>
    <p:sldId id="325" r:id="rId29"/>
    <p:sldId id="326" r:id="rId30"/>
    <p:sldId id="327" r:id="rId31"/>
    <p:sldId id="1139" r:id="rId32"/>
    <p:sldId id="329" r:id="rId33"/>
    <p:sldId id="330" r:id="rId34"/>
    <p:sldId id="331" r:id="rId35"/>
    <p:sldId id="332" r:id="rId36"/>
    <p:sldId id="333" r:id="rId37"/>
    <p:sldId id="1137" r:id="rId38"/>
    <p:sldId id="801" r:id="rId39"/>
    <p:sldId id="1138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06" autoAdjust="0"/>
    <p:restoredTop sz="89180" autoAdjust="0"/>
  </p:normalViewPr>
  <p:slideViewPr>
    <p:cSldViewPr snapToGrid="0" snapToObjects="1">
      <p:cViewPr>
        <p:scale>
          <a:sx n="96" d="100"/>
          <a:sy n="96" d="100"/>
        </p:scale>
        <p:origin x="67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2T17:22:58.1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2105 368,'-1'-11,"0"0,-1 1,0 0,0-1,-1 1,0 0,-1 1,0-1,-1 0,0 0,0 1,-1 1,-1-1,1 1,-12-12,-8-4,1 1,-2 1,-42-25,44 30,-51-25,63 38,0-1,0 1,1 1,-2 0,1 0,-24 0,-478 2,239 3,250 0,-1 1,-52 12,14-1,-4 0,42-7,-2-2,-45 2,14-8,-34 1,86 0,-1 1,1 1,0 0,1 0,-1 0,0 1,0 0,-13 8,-36 20,47-28,1 2,0-1,1 1,-1 1,0 0,1-1,0 1,2 1,-2 1,-10 12,-11 18,21-31,1 2,0 0,1 1,1-1,-1 0,-5 13,10-19,1 0,-1 0,0 0,1 1,0-2,0 1,0 0,0 1,0-1,0 0,1 0,0 0,0 1,0-1,0 0,0 0,0 0,1 0,-1-1,1 0,0 1,0-1,0 1,0-1,0 1,3 1,19 16,0-2,1 0,0-2,30 14,-22-13,-1 2,41 32,-64-44,-1 0,0 1,0 1,0 0,-1 0,0-1,-2 2,1 0,0 0,-1 1,7 21,0 4,-7-23,-1-1,0 1,-1 0,2 13,-4-22,-1-1,0 1,0 0,0 0,-1-1,0 1,1 0,-1-1,0 0,-1 1,1-1,-1 1,1-1,-1 0,0 0,0 0,0 1,-5 4,-63 51,53-46,-1 1,2 0,1 2,-24 28,35-37,-1 1,2 0,-1 0,1 0,0 1,1-1,0 1,0-1,1 1,-1 10,1 18,4 41,0-22,-1 11,-4 131,-14-118,12-60,-1 0,-2 27,6-34,1-1,0 0,0 1,2 0,-1-1,2 1,-1-1,7 19,-5-23,-1-1,1-1,1 0,-1 1,1-1,0 0,0 0,1-1,-1 1,1-1,0-1,0 0,1 1,0-1,7 3,64 26,-45-20,40 21,-55-25,0-1,1 0,22 3,14 7,-40-11,1-1,0-1,0-2,1 1,-1-1,0-1,1 0,-1-2,1 0,1 0,-2-2,0 0,1-1,-1-1,28-9,186-64,-178 62,0 1,-1 3,88-5,-102 12,-14-1,0-1,0 0,-1-2,1 1,21-14,17-4,-45 16,1 0,-1 0,0-2,-1 1,-1-2,19-16,-18 13,1 1,1 2,0-1,34-17,-45 27,13-5,-1-1,1-1,-2-1,21-15,-33 21,0 1,0-1,-1 0,1 1,-1-2,-1 1,1-1,-2 0,1 0,0 0,-1 1,0-2,0 1,0-1,-1 1,0-1,1-8,-1-2,2 1,1 1,0-2,0 2,2 0,-1-1,12-17,9-28,-20 43,0-2,-1 0,-1 0,-1-1,1-25,-6-109,-1 60,4 60,3 1,8-43,-7 56,-1-1,-1 1,-1-1,0 1,-2-1,0 1,-2-1,0 1,-6-23,2 16,0-1,2 1,2-1,0-43,-1-19,2 84,0 0,0 2,-1-2,1 0,-1 1,-1-1,0 1,0 0,0 1,-7-12,-1 3,-1 2,-22-22,-8-7,25 23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2T17:23:02.5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420 1553,'0'-25,"-1"-22,3 0,1 1,14-69,57-167,-59 233,-9 31,-1 0,0 1,1-19,10-53,-10 62,6-54,-8 46,12-56,-1 20,-1 4,-9 45,0-1,2-32,-5 37,2-1,7-26,-7 34,-1 2,0-1,-1-1,0 0,-1 2,0-2,-1 0,0 0,0 1,-1-1,-2-16,2 26,0-1,0 0,0-1,0 1,0 0,0 1,-1-1,1 0,-1 0,1 0,-1 1,0-1,1 1,-1 0,0-1,0 1,0 0,0 0,0 0,-4-1,2 1,1 1,-1-1,0 1,0 0,0 0,-1 0,1 1,0-1,0 1,-6 2,-2 2,0 0,1 0,1 1,-1 0,0 0,-13 13,-9 11,-31 40,40-44,1 0,-38 28,50-46,1 0,-1-1,-1 0,0-1,1-2,-1 1,-1 0,1-1,0-1,-16 2,27-4,-79 8,74-9,1 1,-1-1,-1-1,1 1,0-1,0 0,0 0,0-1,-10-4,15 6,1-1,0 1,-1-1,1 1,0-1,0 1,-1-1,1 0,0 1,0-1,0 0,0 1,0-1,0 0,0 1,0-1,0 1,0-1,0 0,0 1,1-1,-1 1,0-1,0 0,1 1,-1-1,0 1,1-1,-1 1,0-1,1 1,-1-1,1 1,-1-1,1 1,0-1,18-17,-19 17,10-6,0 0,1 0,-2 1,2 1,1 0,-1 0,17-4,86-16,-102 23,26-4,1 3,62 2,20-1,-116 2,0-1,0 0,0-1,0 1,0-1,0 0,-1 0,0 0,0-1,1 1,-1-1,0 0,6-5,3-5,-2-1,18-22,-23 26,-1 1,2 1,0 0,0 0,1 0,0 0,-1 2,2-1,17-10,61-15,-80 30,0 0,1 0,0 1,0 0,-1 0,0 1,1 0,0 0,14 3,-19-2,-1 0,1 1,-1 0,1-1,0 1,-1 0,1 0,-1 0,1 1,-1-2,0 2,0-1,0 1,-1 0,1-1,0 1,-1 0,0 0,0 0,0 0,0 0,0 1,-1-1,1 0,-1 3,2 15,-2-1,-1 37,-1-33,2 20,1-30,-1 1,0 0,-1-1,-1 1,-4 13,5-24,0-1,0 0,0 1,-1-1,0 0,1 0,-1 0,0 0,0-1,-1 1,1 0,-1-2,1 1,-1 1,0-1,1 0,0 0,-2-1,1 1,0-1,0 1,0-1,-1 0,1 0,-1 0,-4 0,-44 3,-1-2,-80-6,13-1,-246 5,322-8,43 7,0 1,0 0,1 0,-1 0,0 0,0-1,1 1,-1 0,0 0,1-1,-1 1,0-1,1 1,-1-1,1 1,-1-1,0 1,1-1,0 1,-1-1,1 0,-1 1,1-1,0 0,-1 1,1 0,0-1,0 0,-1 1,1-1,0 0,0 0,0 1,0-1,0 0,0 0,0 1,0-1,0 0,1 0,-1 1,0-1,0 0,1 0,-1 1,0-1,1 0,-1 1,1-1,-1 1,1-1,-1 1,1-1,-1 1,1-1,1 0,5-4,1 0,-1 1,2 0,-1 1,1 1,-1-1,0 0,1 1,14-1,15-5,128-31,-91 23,-40 10,47-14,-71 16,0 0,0-1,0-1,0 0,-2 0,1 0,0-1,9-10,-13 12,1 0,0 0,1 2,-1-1,0 0,14-4,-13 5,-1 0,1 0,-2-1,1 1,0-2,7-4,-34 12,-12 7,-13 8,0-2,-1-3,-85 14,119-25,9-2,1 0,0 1,-1-1,2 0,-1 1,-1 0,1-1,0 1,0-1,0 1,0 0,0 1,0-1,-4 3,7-3,-1 1,1-1,-1 1,1-1,0 0,-1 1,1-1,0 0,0 0,0 1,0-1,0 0,0 0,0 0,1 0,-1-1,0 1,0 0,1 0,-1-1,0 1,3 0,9 8,2-2,0 1,0-1,0-1,0 0,1-1,1-1,21 2,-31-5,-1-1,-1 0,2 0,-1 0,0-1,0 0,0 0,0-1,0 1,-1-1,1 0,0-1,0 0,-1 0,0 0,1 0,-1-1,-1 0,0 0,1-1,-1 1,0 0,0-1,0 0,4-9,15-32,-17 33,0 2,1-1,1 0,8-12,-12 21,-1-1,1 0,0 1,0 0,0 0,1 0,-2 1,2-1,0 1,-1 0,1 1,0 0,0-1,0 1,5-1,16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1CB42-D47B-CE44-8DEE-D3A42889BE6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18A63-2409-0241-8255-D95D06F65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9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81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D22AB8-8CEE-EF4F-9444-F03C162D31B0}" type="slidenum">
              <a:rPr lang="en-US"/>
              <a:pPr/>
              <a:t>5</a:t>
            </a:fld>
            <a:endParaRPr lang="en-US"/>
          </a:p>
        </p:txBody>
      </p:sp>
      <p:sp>
        <p:nvSpPr>
          <p:cNvPr id="8908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36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ADF5F9-E0D5-784C-B4F9-21AC14DAE2AB}" type="slidenum">
              <a:rPr lang="en-US"/>
              <a:pPr/>
              <a:t>6</a:t>
            </a:fld>
            <a:endParaRPr lang="en-US"/>
          </a:p>
        </p:txBody>
      </p:sp>
      <p:sp>
        <p:nvSpPr>
          <p:cNvPr id="9932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23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4A66F3-E3A1-E04D-812E-AE5C965A722B}" type="slidenum">
              <a:rPr lang="en-US"/>
              <a:pPr/>
              <a:t>7</a:t>
            </a:fld>
            <a:endParaRPr lang="en-US"/>
          </a:p>
        </p:txBody>
      </p:sp>
      <p:sp>
        <p:nvSpPr>
          <p:cNvPr id="8888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66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78E3A6-3F21-8543-BC78-3809D06CC378}" type="slidenum">
              <a:rPr lang="en-US"/>
              <a:pPr/>
              <a:t>8</a:t>
            </a:fld>
            <a:endParaRPr lang="en-US"/>
          </a:p>
        </p:txBody>
      </p:sp>
      <p:sp>
        <p:nvSpPr>
          <p:cNvPr id="9912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91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Most cases handled here (others are more observed more independence)</a:t>
            </a:r>
          </a:p>
        </p:txBody>
      </p:sp>
    </p:spTree>
    <p:extLst>
      <p:ext uri="{BB962C8B-B14F-4D97-AF65-F5344CB8AC3E}">
        <p14:creationId xmlns:p14="http://schemas.microsoft.com/office/powerpoint/2010/main" val="2129334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5F8EBDD-F365-704C-BF80-38CC5432945F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512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Normally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conditioning on a variable screens others, but it has the opposite effect for this one special type of causal relationship, a common cause model…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817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9EA7F9-8DE8-B84D-A348-769A3B9F9457}" type="slidenum">
              <a:rPr lang="en-US"/>
              <a:pPr/>
              <a:t>10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83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D2C7EE-7F1D-6D4F-8FA6-B259D9F58918}" type="slidenum">
              <a:rPr lang="en-US"/>
              <a:pPr/>
              <a:t>11</a:t>
            </a:fld>
            <a:endParaRPr lang="en-US"/>
          </a:p>
        </p:txBody>
      </p:sp>
      <p:sp>
        <p:nvSpPr>
          <p:cNvPr id="96461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64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Bayes predicts B should be at prior level…</a:t>
            </a:r>
          </a:p>
        </p:txBody>
      </p:sp>
    </p:spTree>
    <p:extLst>
      <p:ext uri="{BB962C8B-B14F-4D97-AF65-F5344CB8AC3E}">
        <p14:creationId xmlns:p14="http://schemas.microsoft.com/office/powerpoint/2010/main" val="2263877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E09FB2-0FD2-324A-A887-61EE537BE536}" type="slidenum">
              <a:rPr lang="en-US"/>
              <a:pPr/>
              <a:t>13</a:t>
            </a:fld>
            <a:endParaRPr lang="en-US"/>
          </a:p>
        </p:txBody>
      </p:sp>
      <p:sp>
        <p:nvSpPr>
          <p:cNvPr id="9809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80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92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5C13EB-7C0F-2848-89AB-1E6E03434147}" type="slidenum">
              <a:rPr lang="en-US"/>
              <a:pPr/>
              <a:t>15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these feel causal to us, suggesting that causality is a domain general notion.</a:t>
            </a:r>
            <a:r>
              <a:rPr lang="en-US" baseline="0" dirty="0"/>
              <a:t> </a:t>
            </a:r>
          </a:p>
          <a:p>
            <a:r>
              <a:rPr lang="en-US" baseline="0" dirty="0"/>
              <a:t>Focus of much recent work in cognitive science (learning and reasoning).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842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5819E935-683F-B346-8D95-718BE196B2AE}" type="slidenum">
              <a:rPr lang="en-US" sz="1200">
                <a:solidFill>
                  <a:prstClr val="black"/>
                </a:solidFill>
              </a:rPr>
              <a:pPr/>
              <a:t>16</a:t>
            </a:fld>
            <a:endParaRPr lang="en-US" sz="1200">
              <a:solidFill>
                <a:prstClr val="black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Complete example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4162259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38DDCA-B2EC-8C43-BDE7-3DADBED062F3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409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Normative model.</a:t>
            </a: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World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= causal system to represent.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503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end up with same dependencies in functional form of</a:t>
            </a:r>
            <a:r>
              <a:rPr lang="en-US" baseline="0" dirty="0"/>
              <a:t> all joint and marginal probabilities…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3F3C7-AA34-FC4A-AB20-C83305CD324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63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end up with same dependencies in functional form of</a:t>
            </a:r>
            <a:r>
              <a:rPr lang="en-US" baseline="0" dirty="0"/>
              <a:t> all joint and marginal probabilities…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3F3C7-AA34-FC4A-AB20-C83305CD324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50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end up with same dependencies in functional form of</a:t>
            </a:r>
            <a:r>
              <a:rPr lang="en-US" baseline="0" dirty="0"/>
              <a:t> all joint and marginal probabilities…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3F3C7-AA34-FC4A-AB20-C83305CD324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14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1536A9B4-7D95-5740-8507-B112E6FF6CE1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409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675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011CAEAE-29CC-844E-B5E3-D41799871CFC}" type="slidenum">
              <a:rPr lang="en-US" sz="1200"/>
              <a:pPr/>
              <a:t>22</a:t>
            </a:fld>
            <a:endParaRPr 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1022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3F3C7-AA34-FC4A-AB20-C83305CD324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59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3F3C7-AA34-FC4A-AB20-C83305CD324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741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3F3C7-AA34-FC4A-AB20-C83305CD324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375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3F3C7-AA34-FC4A-AB20-C83305CD324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42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969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4CF7-4CB0-C48B-9CA7-1705A0F0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CE375-31ED-EE29-AC4D-103568819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D46E6-2C4C-8593-4BA8-B5BA3C1B5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4E9B4-4D8D-8C22-D956-7FCCD4746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91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050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87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014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06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3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7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4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3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4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3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0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7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15393-3CCC-4343-B59B-737CD1DF110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1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8.bin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10" Type="http://schemas.openxmlformats.org/officeDocument/2006/relationships/image" Target="../media/image14.jpeg"/><Relationship Id="rId4" Type="http://schemas.openxmlformats.org/officeDocument/2006/relationships/image" Target="../media/image9.emf"/><Relationship Id="rId9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13" Type="http://schemas.openxmlformats.org/officeDocument/2006/relationships/image" Target="../media/image29.png"/><Relationship Id="rId18" Type="http://schemas.openxmlformats.org/officeDocument/2006/relationships/image" Target="../media/image32.png"/><Relationship Id="rId3" Type="http://schemas.openxmlformats.org/officeDocument/2006/relationships/tags" Target="../tags/tag3.xml"/><Relationship Id="rId21" Type="http://schemas.openxmlformats.org/officeDocument/2006/relationships/image" Target="../media/image35.png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8.png"/><Relationship Id="rId17" Type="http://schemas.openxmlformats.org/officeDocument/2006/relationships/customXml" Target="../ink/ink2.xml"/><Relationship Id="rId2" Type="http://schemas.openxmlformats.org/officeDocument/2006/relationships/tags" Target="../tags/tag2.xml"/><Relationship Id="rId16" Type="http://schemas.openxmlformats.org/officeDocument/2006/relationships/image" Target="../media/image31.png"/><Relationship Id="rId20" Type="http://schemas.openxmlformats.org/officeDocument/2006/relationships/image" Target="../media/image3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7.png"/><Relationship Id="rId5" Type="http://schemas.openxmlformats.org/officeDocument/2006/relationships/tags" Target="../tags/tag5.xml"/><Relationship Id="rId15" Type="http://schemas.openxmlformats.org/officeDocument/2006/relationships/customXml" Target="../ink/ink1.xml"/><Relationship Id="rId10" Type="http://schemas.openxmlformats.org/officeDocument/2006/relationships/image" Target="../media/image26.png"/><Relationship Id="rId19" Type="http://schemas.openxmlformats.org/officeDocument/2006/relationships/image" Target="../media/image33.png"/><Relationship Id="rId4" Type="http://schemas.openxmlformats.org/officeDocument/2006/relationships/tags" Target="../tags/tag4.xml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11.xml"/><Relationship Id="rId7" Type="http://schemas.openxmlformats.org/officeDocument/2006/relationships/notesSlide" Target="../notesSlides/notesSlide26.xml"/><Relationship Id="rId12" Type="http://schemas.openxmlformats.org/officeDocument/2006/relationships/image" Target="../media/image44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43.png"/><Relationship Id="rId5" Type="http://schemas.openxmlformats.org/officeDocument/2006/relationships/tags" Target="../tags/tag13.xml"/><Relationship Id="rId10" Type="http://schemas.openxmlformats.org/officeDocument/2006/relationships/image" Target="../media/image42.png"/><Relationship Id="rId4" Type="http://schemas.openxmlformats.org/officeDocument/2006/relationships/tags" Target="../tags/tag12.xml"/><Relationship Id="rId9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16.xml"/><Relationship Id="rId7" Type="http://schemas.openxmlformats.org/officeDocument/2006/relationships/image" Target="../media/image4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45.png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794" y="1721194"/>
            <a:ext cx="8998890" cy="1470025"/>
          </a:xfrm>
        </p:spPr>
        <p:txBody>
          <a:bodyPr/>
          <a:lstStyle/>
          <a:p>
            <a:r>
              <a:rPr lang="en-US" dirty="0"/>
              <a:t>(Causal) Bayesian Networks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3229125" y="4086470"/>
            <a:ext cx="5914875" cy="26475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PSYCH/COMP SCI/BMI 841: Computational Cognitive Science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Joseph Austerweil</a:t>
            </a:r>
          </a:p>
          <a:p>
            <a:r>
              <a:rPr lang="en-US" dirty="0">
                <a:solidFill>
                  <a:schemeClr val="tx1"/>
                </a:solidFill>
              </a:rPr>
              <a:t>February 27, 2025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0" y="3946986"/>
            <a:ext cx="3344993" cy="26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2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DF59-8DDC-3614-EEB3-0384B181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F0C7-ACE2-FCAF-C693-9B18B8E88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Bayesian Networks</a:t>
            </a:r>
          </a:p>
          <a:p>
            <a:r>
              <a:rPr lang="en-US" dirty="0"/>
              <a:t>Causal Bayesian Networks</a:t>
            </a:r>
          </a:p>
          <a:p>
            <a:r>
              <a:rPr lang="en-US" dirty="0"/>
              <a:t>Introduction to Information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Elijah presenting </a:t>
            </a:r>
            <a:r>
              <a:rPr lang="en-US" dirty="0" err="1"/>
              <a:t>Lagnado</a:t>
            </a:r>
            <a:r>
              <a:rPr lang="en-US" dirty="0"/>
              <a:t> &amp; Sloman (2002)</a:t>
            </a:r>
          </a:p>
          <a:p>
            <a:pPr lvl="1"/>
            <a:r>
              <a:rPr lang="en-US" dirty="0" err="1"/>
              <a:t>Yinsu</a:t>
            </a:r>
            <a:r>
              <a:rPr lang="en-US" dirty="0"/>
              <a:t> presenting Tenenbaum &amp; Griffiths (2001)</a:t>
            </a:r>
          </a:p>
        </p:txBody>
      </p:sp>
    </p:spTree>
    <p:extLst>
      <p:ext uri="{BB962C8B-B14F-4D97-AF65-F5344CB8AC3E}">
        <p14:creationId xmlns:p14="http://schemas.microsoft.com/office/powerpoint/2010/main" val="3254488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B844-C8D6-871E-2E6D-933FA980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379"/>
            <a:ext cx="8229600" cy="689458"/>
          </a:xfrm>
        </p:spPr>
        <p:txBody>
          <a:bodyPr>
            <a:normAutofit fontScale="90000"/>
          </a:bodyPr>
          <a:lstStyle/>
          <a:p>
            <a:r>
              <a:rPr lang="en-US" dirty="0"/>
              <a:t>Administrative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19CC3-800A-DE11-B68C-C05431A3E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4647"/>
            <a:ext cx="9144000" cy="600097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Class ends about 250-3pm (for Joe)</a:t>
            </a:r>
          </a:p>
          <a:p>
            <a:endParaRPr lang="en-US" sz="1600" dirty="0"/>
          </a:p>
          <a:p>
            <a:r>
              <a:rPr lang="en-US" dirty="0"/>
              <a:t>Discussion posts will be a bit delayed this week.</a:t>
            </a:r>
          </a:p>
          <a:p>
            <a:endParaRPr lang="en-US" sz="1600" dirty="0"/>
          </a:p>
          <a:p>
            <a:r>
              <a:rPr lang="en-US" dirty="0"/>
              <a:t>Generalization Assignment due Mar 5 8:59pm</a:t>
            </a:r>
          </a:p>
          <a:p>
            <a:pPr lvl="1"/>
            <a:r>
              <a:rPr lang="en-US" dirty="0"/>
              <a:t>That’s next Wednesday at 8:59pm!</a:t>
            </a:r>
          </a:p>
          <a:p>
            <a:pPr lvl="1"/>
            <a:r>
              <a:rPr lang="en-US" dirty="0"/>
              <a:t>Remember you have three “free” late days for assignments.</a:t>
            </a:r>
          </a:p>
          <a:p>
            <a:pPr lvl="1"/>
            <a:r>
              <a:rPr lang="en-US" dirty="0"/>
              <a:t>Late days do not prorate (used up in 24-hour chunks).</a:t>
            </a:r>
          </a:p>
          <a:p>
            <a:endParaRPr lang="en-US" sz="1600" dirty="0"/>
          </a:p>
          <a:p>
            <a:r>
              <a:rPr lang="en-US" dirty="0"/>
              <a:t>Project proposal due Mar 12 8:59pm</a:t>
            </a:r>
          </a:p>
          <a:p>
            <a:pPr lvl="1"/>
            <a:r>
              <a:rPr lang="en-US" dirty="0"/>
              <a:t>No late days for project proposal (or final paper/presentation)</a:t>
            </a:r>
          </a:p>
          <a:p>
            <a:endParaRPr lang="en-US" sz="1600" dirty="0"/>
          </a:p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914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1A49E-6D04-E251-07B2-DD21DADC3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91E35-020E-9438-933E-FF3322A86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Bayesian Networks</a:t>
            </a:r>
          </a:p>
          <a:p>
            <a:r>
              <a:rPr lang="en-US" dirty="0"/>
              <a:t>Causal Bayesian Networks</a:t>
            </a:r>
          </a:p>
          <a:p>
            <a:r>
              <a:rPr lang="en-US" dirty="0"/>
              <a:t>Introduction to Information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Elijah presenting </a:t>
            </a:r>
            <a:r>
              <a:rPr lang="en-US" dirty="0" err="1"/>
              <a:t>Lagnado</a:t>
            </a:r>
            <a:r>
              <a:rPr lang="en-US" dirty="0"/>
              <a:t> &amp; Sloman (2002)</a:t>
            </a:r>
          </a:p>
          <a:p>
            <a:pPr lvl="1"/>
            <a:r>
              <a:rPr lang="en-US" dirty="0" err="1"/>
              <a:t>Yinsu</a:t>
            </a:r>
            <a:r>
              <a:rPr lang="en-US" dirty="0"/>
              <a:t> presenting Tenenbaum &amp; Griffiths (2001)</a:t>
            </a:r>
          </a:p>
        </p:txBody>
      </p:sp>
    </p:spTree>
    <p:extLst>
      <p:ext uri="{BB962C8B-B14F-4D97-AF65-F5344CB8AC3E}">
        <p14:creationId xmlns:p14="http://schemas.microsoft.com/office/powerpoint/2010/main" val="230560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6975"/>
            <a:ext cx="9144000" cy="906234"/>
          </a:xfrm>
        </p:spPr>
        <p:txBody>
          <a:bodyPr/>
          <a:lstStyle/>
          <a:p>
            <a:r>
              <a:rPr lang="en-US" sz="4000" dirty="0"/>
              <a:t>The Markov assumption</a:t>
            </a:r>
            <a:endParaRPr lang="en-US" dirty="0"/>
          </a:p>
        </p:txBody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55407"/>
            <a:ext cx="8915400" cy="5802593"/>
          </a:xfrm>
        </p:spPr>
        <p:txBody>
          <a:bodyPr>
            <a:normAutofit fontScale="92500"/>
          </a:bodyPr>
          <a:lstStyle/>
          <a:p>
            <a:pPr algn="ctr">
              <a:buFontTx/>
              <a:buNone/>
            </a:pPr>
            <a:r>
              <a:rPr lang="en-US" dirty="0"/>
              <a:t>  Every node is conditionally independent of its non-descendants, given its parents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2400" dirty="0"/>
              <a:t>The two representations are equivalent via </a:t>
            </a:r>
            <a:r>
              <a:rPr lang="en-US" sz="2400" dirty="0" err="1"/>
              <a:t>Hammerly</a:t>
            </a:r>
            <a:r>
              <a:rPr lang="en-US" sz="2400" dirty="0"/>
              <a:t>-Clifford’s Theorem…</a:t>
            </a:r>
          </a:p>
        </p:txBody>
      </p:sp>
      <p:graphicFrame>
        <p:nvGraphicFramePr>
          <p:cNvPr id="889860" name="Object 4"/>
          <p:cNvGraphicFramePr>
            <a:graphicFrameLocks noChangeAspect="1"/>
          </p:cNvGraphicFramePr>
          <p:nvPr/>
        </p:nvGraphicFramePr>
        <p:xfrm>
          <a:off x="1419225" y="2388908"/>
          <a:ext cx="63166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500" imgH="177800" progId="Equation.3">
                  <p:embed/>
                </p:oleObj>
              </mc:Choice>
              <mc:Fallback>
                <p:oleObj name="Equation" r:id="rId3" imgW="1968500" imgH="177800" progId="Equation.3">
                  <p:embed/>
                  <p:pic>
                    <p:nvPicPr>
                      <p:cNvPr id="889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2388908"/>
                        <a:ext cx="63166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9861" name="Text Box 5"/>
          <p:cNvSpPr txBox="1">
            <a:spLocks noChangeArrowheads="1"/>
          </p:cNvSpPr>
          <p:nvPr/>
        </p:nvSpPr>
        <p:spPr bwMode="auto">
          <a:xfrm>
            <a:off x="1101725" y="3346171"/>
            <a:ext cx="650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>
                <a:cs typeface="ＭＳ Ｐゴシック" charset="0"/>
              </a:rPr>
              <a:t>where </a:t>
            </a:r>
            <a:r>
              <a:rPr lang="en-US" sz="3200" b="1" dirty="0">
                <a:cs typeface="ＭＳ Ｐゴシック" charset="0"/>
              </a:rPr>
              <a:t>Pa</a:t>
            </a:r>
            <a:r>
              <a:rPr lang="en-US" sz="3200" dirty="0">
                <a:cs typeface="ＭＳ Ｐゴシック" charset="0"/>
              </a:rPr>
              <a:t>(</a:t>
            </a:r>
            <a:r>
              <a:rPr lang="en-US" sz="3200" i="1" dirty="0">
                <a:cs typeface="ＭＳ Ｐゴシック" charset="0"/>
              </a:rPr>
              <a:t>X</a:t>
            </a:r>
            <a:r>
              <a:rPr lang="en-US" sz="3200" i="1" baseline="-25000" dirty="0">
                <a:cs typeface="ＭＳ Ｐゴシック" charset="0"/>
              </a:rPr>
              <a:t>i</a:t>
            </a:r>
            <a:r>
              <a:rPr lang="en-US" sz="3200" dirty="0">
                <a:cs typeface="ＭＳ Ｐゴシック" charset="0"/>
              </a:rPr>
              <a:t>) is the set of parents of </a:t>
            </a:r>
            <a:r>
              <a:rPr lang="en-US" sz="3200" i="1" dirty="0">
                <a:cs typeface="ＭＳ Ｐゴシック" charset="0"/>
              </a:rPr>
              <a:t>X</a:t>
            </a:r>
            <a:r>
              <a:rPr lang="en-US" sz="3200" i="1" baseline="-25000" dirty="0">
                <a:cs typeface="ＭＳ Ｐゴシック" charset="0"/>
              </a:rPr>
              <a:t>i</a:t>
            </a:r>
            <a:r>
              <a:rPr lang="en-US" dirty="0">
                <a:cs typeface="ＭＳ Ｐゴシック" charset="0"/>
              </a:rPr>
              <a:t> </a:t>
            </a:r>
          </a:p>
        </p:txBody>
      </p:sp>
      <p:graphicFrame>
        <p:nvGraphicFramePr>
          <p:cNvPr id="889863" name="Object 7"/>
          <p:cNvGraphicFramePr>
            <a:graphicFrameLocks noChangeAspect="1"/>
          </p:cNvGraphicFramePr>
          <p:nvPr/>
        </p:nvGraphicFramePr>
        <p:xfrm>
          <a:off x="1619250" y="3925608"/>
          <a:ext cx="6070600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300" imgH="431800" progId="Equation.3">
                  <p:embed/>
                </p:oleObj>
              </mc:Choice>
              <mc:Fallback>
                <p:oleObj name="Equation" r:id="rId5" imgW="1892300" imgH="431800" progId="Equation.3">
                  <p:embed/>
                  <p:pic>
                    <p:nvPicPr>
                      <p:cNvPr id="8898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925608"/>
                        <a:ext cx="6070600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9864" name="Text Box 8"/>
          <p:cNvSpPr txBox="1">
            <a:spLocks noChangeArrowheads="1"/>
          </p:cNvSpPr>
          <p:nvPr/>
        </p:nvSpPr>
        <p:spPr bwMode="auto">
          <a:xfrm>
            <a:off x="2708275" y="5384521"/>
            <a:ext cx="3625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cs typeface="ＭＳ Ｐゴシック" charset="0"/>
              </a:rPr>
              <a:t>(via the product rule)</a:t>
            </a:r>
          </a:p>
        </p:txBody>
      </p:sp>
    </p:spTree>
    <p:extLst>
      <p:ext uri="{BB962C8B-B14F-4D97-AF65-F5344CB8AC3E}">
        <p14:creationId xmlns:p14="http://schemas.microsoft.com/office/powerpoint/2010/main" val="194925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395"/>
            <a:ext cx="9144000" cy="819259"/>
          </a:xfrm>
        </p:spPr>
        <p:txBody>
          <a:bodyPr/>
          <a:lstStyle/>
          <a:p>
            <a:r>
              <a:rPr lang="en-US" sz="4000" dirty="0"/>
              <a:t>Reading a Bayesian network</a:t>
            </a:r>
            <a:endParaRPr lang="en-US" dirty="0"/>
          </a:p>
        </p:txBody>
      </p:sp>
      <p:sp>
        <p:nvSpPr>
          <p:cNvPr id="99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8074"/>
            <a:ext cx="8915400" cy="5561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structure of a Bayes net can be read as the </a:t>
            </a:r>
            <a:r>
              <a:rPr lang="en-US" i="1" dirty="0"/>
              <a:t>generative process </a:t>
            </a:r>
            <a:r>
              <a:rPr lang="en-US" dirty="0"/>
              <a:t>behind a distribution.</a:t>
            </a:r>
          </a:p>
          <a:p>
            <a:endParaRPr lang="en-US" sz="1500" dirty="0"/>
          </a:p>
          <a:p>
            <a:pPr marL="0" indent="0">
              <a:buNone/>
            </a:pPr>
            <a:r>
              <a:rPr lang="en-US" dirty="0"/>
              <a:t>Gives the joint probability distribution over variables obtained by sampling each variable conditioned on its parents.</a:t>
            </a:r>
          </a:p>
          <a:p>
            <a:endParaRPr lang="en-US" sz="1500" dirty="0"/>
          </a:p>
          <a:p>
            <a:pPr marL="0" indent="0">
              <a:buNone/>
            </a:pPr>
            <a:r>
              <a:rPr lang="en-US" dirty="0"/>
              <a:t>Simple rules for determining whether two variables are dependent or independent.</a:t>
            </a:r>
          </a:p>
          <a:p>
            <a:endParaRPr lang="en-US" sz="15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810" name="Group 2"/>
          <p:cNvGrpSpPr>
            <a:grpSpLocks/>
          </p:cNvGrpSpPr>
          <p:nvPr/>
        </p:nvGrpSpPr>
        <p:grpSpPr bwMode="auto">
          <a:xfrm>
            <a:off x="3505200" y="4800600"/>
            <a:ext cx="2590800" cy="685800"/>
            <a:chOff x="2208" y="3024"/>
            <a:chExt cx="1632" cy="432"/>
          </a:xfrm>
        </p:grpSpPr>
        <p:sp>
          <p:nvSpPr>
            <p:cNvPr id="887811" name="Line 3"/>
            <p:cNvSpPr>
              <a:spLocks noChangeShapeType="1"/>
            </p:cNvSpPr>
            <p:nvPr/>
          </p:nvSpPr>
          <p:spPr bwMode="auto">
            <a:xfrm>
              <a:off x="2208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2" name="Line 4"/>
            <p:cNvSpPr>
              <a:spLocks noChangeShapeType="1"/>
            </p:cNvSpPr>
            <p:nvPr/>
          </p:nvSpPr>
          <p:spPr bwMode="auto">
            <a:xfrm>
              <a:off x="3456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3" name="Line 5"/>
            <p:cNvSpPr>
              <a:spLocks noChangeShapeType="1"/>
            </p:cNvSpPr>
            <p:nvPr/>
          </p:nvSpPr>
          <p:spPr bwMode="auto">
            <a:xfrm flipH="1">
              <a:off x="2880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88781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23182"/>
            <a:ext cx="9144000" cy="746570"/>
          </a:xfrm>
        </p:spPr>
        <p:txBody>
          <a:bodyPr/>
          <a:lstStyle/>
          <a:p>
            <a:r>
              <a:rPr lang="en-US" sz="4000" dirty="0"/>
              <a:t>Reading a Bayesian network</a:t>
            </a:r>
            <a:endParaRPr lang="en-US" dirty="0"/>
          </a:p>
        </p:txBody>
      </p:sp>
      <p:sp>
        <p:nvSpPr>
          <p:cNvPr id="88781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46069" y="1083647"/>
            <a:ext cx="5975312" cy="3290887"/>
          </a:xfrm>
          <a:noFill/>
          <a:ln/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/>
              <a:t>Four random variables:</a:t>
            </a:r>
            <a:endParaRPr lang="en-US" sz="2800" dirty="0"/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1</a:t>
            </a:r>
            <a:r>
              <a:rPr lang="en-US" sz="2800" dirty="0"/>
              <a:t>	coin toss produces heads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2</a:t>
            </a:r>
            <a:r>
              <a:rPr lang="en-US" sz="2800" dirty="0"/>
              <a:t>	pencil levitates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3</a:t>
            </a:r>
            <a:r>
              <a:rPr lang="en-US" sz="2800" dirty="0"/>
              <a:t>	friend has psychic powers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4</a:t>
            </a:r>
            <a:r>
              <a:rPr lang="en-US" sz="2800" dirty="0"/>
              <a:t>	friend has two-headed coin</a:t>
            </a:r>
          </a:p>
        </p:txBody>
      </p:sp>
      <p:grpSp>
        <p:nvGrpSpPr>
          <p:cNvPr id="887816" name="Group 8"/>
          <p:cNvGrpSpPr>
            <a:grpSpLocks/>
          </p:cNvGrpSpPr>
          <p:nvPr/>
        </p:nvGrpSpPr>
        <p:grpSpPr bwMode="auto">
          <a:xfrm>
            <a:off x="3048000" y="4267200"/>
            <a:ext cx="3581400" cy="1752600"/>
            <a:chOff x="1920" y="2688"/>
            <a:chExt cx="2256" cy="1104"/>
          </a:xfrm>
        </p:grpSpPr>
        <p:sp>
          <p:nvSpPr>
            <p:cNvPr id="887817" name="Oval 9"/>
            <p:cNvSpPr>
              <a:spLocks noChangeArrowheads="1"/>
            </p:cNvSpPr>
            <p:nvPr/>
          </p:nvSpPr>
          <p:spPr bwMode="auto">
            <a:xfrm>
              <a:off x="2544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8" name="Text Box 10"/>
            <p:cNvSpPr txBox="1">
              <a:spLocks noChangeArrowheads="1"/>
            </p:cNvSpPr>
            <p:nvPr/>
          </p:nvSpPr>
          <p:spPr bwMode="auto">
            <a:xfrm>
              <a:off x="2592" y="345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19" name="Oval 11"/>
            <p:cNvSpPr>
              <a:spLocks noChangeArrowheads="1"/>
            </p:cNvSpPr>
            <p:nvPr/>
          </p:nvSpPr>
          <p:spPr bwMode="auto">
            <a:xfrm>
              <a:off x="3792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0" name="Text Box 12"/>
            <p:cNvSpPr txBox="1">
              <a:spLocks noChangeArrowheads="1"/>
            </p:cNvSpPr>
            <p:nvPr/>
          </p:nvSpPr>
          <p:spPr bwMode="auto">
            <a:xfrm>
              <a:off x="3840" y="345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21" name="Oval 13"/>
            <p:cNvSpPr>
              <a:spLocks noChangeArrowheads="1"/>
            </p:cNvSpPr>
            <p:nvPr/>
          </p:nvSpPr>
          <p:spPr bwMode="auto">
            <a:xfrm>
              <a:off x="3168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2" name="Text Box 14"/>
            <p:cNvSpPr txBox="1">
              <a:spLocks noChangeArrowheads="1"/>
            </p:cNvSpPr>
            <p:nvPr/>
          </p:nvSpPr>
          <p:spPr bwMode="auto">
            <a:xfrm>
              <a:off x="3216" y="273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23" name="Oval 15"/>
            <p:cNvSpPr>
              <a:spLocks noChangeArrowheads="1"/>
            </p:cNvSpPr>
            <p:nvPr/>
          </p:nvSpPr>
          <p:spPr bwMode="auto">
            <a:xfrm>
              <a:off x="1920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4" name="Text Box 16"/>
            <p:cNvSpPr txBox="1">
              <a:spLocks noChangeArrowheads="1"/>
            </p:cNvSpPr>
            <p:nvPr/>
          </p:nvSpPr>
          <p:spPr bwMode="auto">
            <a:xfrm>
              <a:off x="1967" y="273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</p:grpSp>
      <p:grpSp>
        <p:nvGrpSpPr>
          <p:cNvPr id="887825" name="Group 17"/>
          <p:cNvGrpSpPr>
            <a:grpSpLocks/>
          </p:cNvGrpSpPr>
          <p:nvPr/>
        </p:nvGrpSpPr>
        <p:grpSpPr bwMode="auto">
          <a:xfrm>
            <a:off x="2217737" y="4343401"/>
            <a:ext cx="5554663" cy="1604963"/>
            <a:chOff x="1397" y="2736"/>
            <a:chExt cx="3499" cy="1011"/>
          </a:xfrm>
        </p:grpSpPr>
        <p:sp>
          <p:nvSpPr>
            <p:cNvPr id="887826" name="Text Box 18"/>
            <p:cNvSpPr txBox="1">
              <a:spLocks noChangeArrowheads="1"/>
            </p:cNvSpPr>
            <p:nvPr/>
          </p:nvSpPr>
          <p:spPr bwMode="auto">
            <a:xfrm>
              <a:off x="1397" y="2736"/>
              <a:ext cx="5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r>
                <a:rPr lang="en-US" sz="2400">
                  <a:cs typeface="ＭＳ Ｐゴシック" charset="0"/>
                </a:rPr>
                <a:t>)</a:t>
              </a:r>
              <a:endParaRPr lang="en-US" sz="2400" baseline="-25000">
                <a:cs typeface="ＭＳ Ｐゴシック" charset="0"/>
              </a:endParaRPr>
            </a:p>
          </p:txBody>
        </p:sp>
        <p:sp>
          <p:nvSpPr>
            <p:cNvPr id="887827" name="Text Box 19"/>
            <p:cNvSpPr txBox="1">
              <a:spLocks noChangeArrowheads="1"/>
            </p:cNvSpPr>
            <p:nvPr/>
          </p:nvSpPr>
          <p:spPr bwMode="auto">
            <a:xfrm>
              <a:off x="3557" y="2736"/>
              <a:ext cx="5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r>
                <a:rPr lang="en-US" sz="2400">
                  <a:cs typeface="ＭＳ Ｐゴシック" charset="0"/>
                </a:rPr>
                <a:t>)</a:t>
              </a:r>
              <a:endParaRPr lang="en-US" sz="2400" baseline="-25000">
                <a:cs typeface="ＭＳ Ｐゴシック" charset="0"/>
              </a:endParaRPr>
            </a:p>
          </p:txBody>
        </p:sp>
        <p:sp>
          <p:nvSpPr>
            <p:cNvPr id="887828" name="Text Box 20"/>
            <p:cNvSpPr txBox="1">
              <a:spLocks noChangeArrowheads="1"/>
            </p:cNvSpPr>
            <p:nvPr/>
          </p:nvSpPr>
          <p:spPr bwMode="auto">
            <a:xfrm>
              <a:off x="4158" y="3456"/>
              <a:ext cx="7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cs typeface="ＭＳ Ｐゴシック" charset="0"/>
                </a:rPr>
                <a:t>P</a:t>
              </a:r>
              <a:r>
                <a:rPr lang="en-US" sz="2400" dirty="0">
                  <a:cs typeface="ＭＳ Ｐゴシック" charset="0"/>
                </a:rPr>
                <a:t>(</a:t>
              </a:r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2</a:t>
              </a:r>
              <a:r>
                <a:rPr lang="en-US" sz="2400" dirty="0">
                  <a:cs typeface="ＭＳ Ｐゴシック" charset="0"/>
                </a:rPr>
                <a:t>|</a:t>
              </a:r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3</a:t>
              </a:r>
              <a:r>
                <a:rPr lang="en-US" sz="2400" dirty="0">
                  <a:cs typeface="ＭＳ Ｐゴシック" charset="0"/>
                </a:rPr>
                <a:t>)</a:t>
              </a:r>
            </a:p>
          </p:txBody>
        </p:sp>
        <p:sp>
          <p:nvSpPr>
            <p:cNvPr id="887829" name="Text Box 21"/>
            <p:cNvSpPr txBox="1">
              <a:spLocks noChangeArrowheads="1"/>
            </p:cNvSpPr>
            <p:nvPr/>
          </p:nvSpPr>
          <p:spPr bwMode="auto">
            <a:xfrm>
              <a:off x="1534" y="3456"/>
              <a:ext cx="9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r>
                <a:rPr lang="en-US" sz="2400">
                  <a:cs typeface="ＭＳ Ｐゴシック" charset="0"/>
                </a:rPr>
                <a:t>|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r>
                <a:rPr lang="en-US" sz="2400">
                  <a:cs typeface="ＭＳ Ｐゴシック" charset="0"/>
                </a:rPr>
                <a:t>, 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r>
                <a:rPr lang="en-US" sz="2400">
                  <a:cs typeface="ＭＳ Ｐゴシック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24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4791"/>
            <a:ext cx="9144000" cy="729496"/>
          </a:xfrm>
        </p:spPr>
        <p:txBody>
          <a:bodyPr/>
          <a:lstStyle/>
          <a:p>
            <a:r>
              <a:rPr lang="en-US" sz="4000" dirty="0"/>
              <a:t>Identifying independence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685800" y="2545629"/>
            <a:ext cx="3352800" cy="609600"/>
            <a:chOff x="685800" y="2157615"/>
            <a:chExt cx="3352800" cy="609600"/>
          </a:xfrm>
        </p:grpSpPr>
        <p:grpSp>
          <p:nvGrpSpPr>
            <p:cNvPr id="990226" name="Group 18"/>
            <p:cNvGrpSpPr>
              <a:grpSpLocks/>
            </p:cNvGrpSpPr>
            <p:nvPr/>
          </p:nvGrpSpPr>
          <p:grpSpPr bwMode="auto">
            <a:xfrm>
              <a:off x="685800" y="2157615"/>
              <a:ext cx="609600" cy="609600"/>
              <a:chOff x="2496" y="1968"/>
              <a:chExt cx="384" cy="384"/>
            </a:xfrm>
          </p:grpSpPr>
          <p:sp>
            <p:nvSpPr>
              <p:cNvPr id="990214" name="Oval 6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15" name="Text Box 7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16" name="Oval 8"/>
            <p:cNvSpPr>
              <a:spLocks noChangeArrowheads="1"/>
            </p:cNvSpPr>
            <p:nvPr/>
          </p:nvSpPr>
          <p:spPr bwMode="auto">
            <a:xfrm>
              <a:off x="2057400" y="2157615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17" name="Text Box 9"/>
            <p:cNvSpPr txBox="1">
              <a:spLocks noChangeArrowheads="1"/>
            </p:cNvSpPr>
            <p:nvPr/>
          </p:nvSpPr>
          <p:spPr bwMode="auto">
            <a:xfrm>
              <a:off x="2133600" y="2233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228" name="Group 20"/>
            <p:cNvGrpSpPr>
              <a:grpSpLocks/>
            </p:cNvGrpSpPr>
            <p:nvPr/>
          </p:nvGrpSpPr>
          <p:grpSpPr bwMode="auto">
            <a:xfrm>
              <a:off x="3429000" y="2157615"/>
              <a:ext cx="609600" cy="609600"/>
              <a:chOff x="3120" y="1248"/>
              <a:chExt cx="384" cy="384"/>
            </a:xfrm>
          </p:grpSpPr>
          <p:sp>
            <p:nvSpPr>
              <p:cNvPr id="990218" name="Oval 10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19" name="Text Box 11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23" name="Line 15"/>
            <p:cNvSpPr>
              <a:spLocks noChangeShapeType="1"/>
            </p:cNvSpPr>
            <p:nvPr/>
          </p:nvSpPr>
          <p:spPr bwMode="auto">
            <a:xfrm>
              <a:off x="1295400" y="2462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30" name="Line 22"/>
            <p:cNvSpPr>
              <a:spLocks noChangeShapeType="1"/>
            </p:cNvSpPr>
            <p:nvPr/>
          </p:nvSpPr>
          <p:spPr bwMode="auto">
            <a:xfrm>
              <a:off x="2667000" y="2462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85800" y="3688629"/>
            <a:ext cx="3352800" cy="609600"/>
            <a:chOff x="685800" y="3300615"/>
            <a:chExt cx="3352800" cy="609600"/>
          </a:xfrm>
        </p:grpSpPr>
        <p:grpSp>
          <p:nvGrpSpPr>
            <p:cNvPr id="990231" name="Group 23"/>
            <p:cNvGrpSpPr>
              <a:grpSpLocks/>
            </p:cNvGrpSpPr>
            <p:nvPr/>
          </p:nvGrpSpPr>
          <p:grpSpPr bwMode="auto">
            <a:xfrm>
              <a:off x="685800" y="3300615"/>
              <a:ext cx="609600" cy="609600"/>
              <a:chOff x="2496" y="1968"/>
              <a:chExt cx="384" cy="384"/>
            </a:xfrm>
          </p:grpSpPr>
          <p:sp>
            <p:nvSpPr>
              <p:cNvPr id="990232" name="Oval 24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33" name="Text Box 25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35" name="Oval 27"/>
            <p:cNvSpPr>
              <a:spLocks noChangeArrowheads="1"/>
            </p:cNvSpPr>
            <p:nvPr/>
          </p:nvSpPr>
          <p:spPr bwMode="auto">
            <a:xfrm>
              <a:off x="2057400" y="3300615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36" name="Text Box 28"/>
            <p:cNvSpPr txBox="1">
              <a:spLocks noChangeArrowheads="1"/>
            </p:cNvSpPr>
            <p:nvPr/>
          </p:nvSpPr>
          <p:spPr bwMode="auto">
            <a:xfrm>
              <a:off x="2133600" y="3365057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237" name="Group 29"/>
            <p:cNvGrpSpPr>
              <a:grpSpLocks/>
            </p:cNvGrpSpPr>
            <p:nvPr/>
          </p:nvGrpSpPr>
          <p:grpSpPr bwMode="auto">
            <a:xfrm>
              <a:off x="3429000" y="3300615"/>
              <a:ext cx="609600" cy="609600"/>
              <a:chOff x="3120" y="1248"/>
              <a:chExt cx="384" cy="384"/>
            </a:xfrm>
          </p:grpSpPr>
          <p:sp>
            <p:nvSpPr>
              <p:cNvPr id="990238" name="Oval 30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39" name="Text Box 31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40" name="Line 32"/>
            <p:cNvSpPr>
              <a:spLocks noChangeShapeType="1"/>
            </p:cNvSpPr>
            <p:nvPr/>
          </p:nvSpPr>
          <p:spPr bwMode="auto">
            <a:xfrm>
              <a:off x="1295400" y="3605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41" name="Line 33"/>
            <p:cNvSpPr>
              <a:spLocks noChangeShapeType="1"/>
            </p:cNvSpPr>
            <p:nvPr/>
          </p:nvSpPr>
          <p:spPr bwMode="auto">
            <a:xfrm>
              <a:off x="2667000" y="3605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85800" y="4831629"/>
            <a:ext cx="3352800" cy="609600"/>
            <a:chOff x="685800" y="4443615"/>
            <a:chExt cx="3352800" cy="609600"/>
          </a:xfrm>
        </p:grpSpPr>
        <p:grpSp>
          <p:nvGrpSpPr>
            <p:cNvPr id="990242" name="Group 34"/>
            <p:cNvGrpSpPr>
              <a:grpSpLocks/>
            </p:cNvGrpSpPr>
            <p:nvPr/>
          </p:nvGrpSpPr>
          <p:grpSpPr bwMode="auto">
            <a:xfrm>
              <a:off x="685800" y="4443615"/>
              <a:ext cx="609600" cy="609600"/>
              <a:chOff x="2496" y="1968"/>
              <a:chExt cx="384" cy="384"/>
            </a:xfrm>
          </p:grpSpPr>
          <p:sp>
            <p:nvSpPr>
              <p:cNvPr id="990243" name="Oval 35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44" name="Text Box 36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46" name="Oval 38"/>
            <p:cNvSpPr>
              <a:spLocks noChangeArrowheads="1"/>
            </p:cNvSpPr>
            <p:nvPr/>
          </p:nvSpPr>
          <p:spPr bwMode="auto">
            <a:xfrm>
              <a:off x="2057400" y="4443615"/>
              <a:ext cx="609600" cy="609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47" name="Text Box 39"/>
            <p:cNvSpPr txBox="1">
              <a:spLocks noChangeArrowheads="1"/>
            </p:cNvSpPr>
            <p:nvPr/>
          </p:nvSpPr>
          <p:spPr bwMode="auto">
            <a:xfrm>
              <a:off x="2133600" y="4519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2</a:t>
              </a:r>
              <a:endParaRPr lang="en-US" sz="2400" dirty="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248" name="Group 40"/>
            <p:cNvGrpSpPr>
              <a:grpSpLocks/>
            </p:cNvGrpSpPr>
            <p:nvPr/>
          </p:nvGrpSpPr>
          <p:grpSpPr bwMode="auto">
            <a:xfrm>
              <a:off x="3429000" y="4443615"/>
              <a:ext cx="609600" cy="609600"/>
              <a:chOff x="3120" y="1248"/>
              <a:chExt cx="384" cy="384"/>
            </a:xfrm>
          </p:grpSpPr>
          <p:sp>
            <p:nvSpPr>
              <p:cNvPr id="990249" name="Oval 41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50" name="Text Box 42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 dirty="0">
                    <a:cs typeface="ＭＳ Ｐゴシック" charset="0"/>
                  </a:rPr>
                  <a:t>X</a:t>
                </a:r>
                <a:r>
                  <a:rPr lang="en-US" sz="2400" baseline="-25000" dirty="0">
                    <a:cs typeface="ＭＳ Ｐゴシック" charset="0"/>
                  </a:rPr>
                  <a:t>3</a:t>
                </a:r>
                <a:endParaRPr lang="en-US" sz="2400" dirty="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51" name="Line 43"/>
            <p:cNvSpPr>
              <a:spLocks noChangeShapeType="1"/>
            </p:cNvSpPr>
            <p:nvPr/>
          </p:nvSpPr>
          <p:spPr bwMode="auto">
            <a:xfrm>
              <a:off x="1295400" y="4748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52" name="Line 44"/>
            <p:cNvSpPr>
              <a:spLocks noChangeShapeType="1"/>
            </p:cNvSpPr>
            <p:nvPr/>
          </p:nvSpPr>
          <p:spPr bwMode="auto">
            <a:xfrm>
              <a:off x="2667000" y="4748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953000" y="2545629"/>
            <a:ext cx="3352800" cy="609600"/>
            <a:chOff x="4953000" y="2157615"/>
            <a:chExt cx="3352800" cy="609600"/>
          </a:xfrm>
        </p:grpSpPr>
        <p:grpSp>
          <p:nvGrpSpPr>
            <p:cNvPr id="990308" name="Group 100"/>
            <p:cNvGrpSpPr>
              <a:grpSpLocks/>
            </p:cNvGrpSpPr>
            <p:nvPr/>
          </p:nvGrpSpPr>
          <p:grpSpPr bwMode="auto">
            <a:xfrm>
              <a:off x="4953000" y="2157615"/>
              <a:ext cx="609600" cy="609600"/>
              <a:chOff x="2496" y="1968"/>
              <a:chExt cx="384" cy="384"/>
            </a:xfrm>
          </p:grpSpPr>
          <p:sp>
            <p:nvSpPr>
              <p:cNvPr id="990309" name="Oval 101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10" name="Text Box 102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12" name="Oval 104"/>
            <p:cNvSpPr>
              <a:spLocks noChangeArrowheads="1"/>
            </p:cNvSpPr>
            <p:nvPr/>
          </p:nvSpPr>
          <p:spPr bwMode="auto">
            <a:xfrm>
              <a:off x="6324600" y="2157615"/>
              <a:ext cx="609600" cy="609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13" name="Text Box 105"/>
            <p:cNvSpPr txBox="1">
              <a:spLocks noChangeArrowheads="1"/>
            </p:cNvSpPr>
            <p:nvPr/>
          </p:nvSpPr>
          <p:spPr bwMode="auto">
            <a:xfrm>
              <a:off x="6400800" y="2233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314" name="Group 106"/>
            <p:cNvGrpSpPr>
              <a:grpSpLocks/>
            </p:cNvGrpSpPr>
            <p:nvPr/>
          </p:nvGrpSpPr>
          <p:grpSpPr bwMode="auto">
            <a:xfrm>
              <a:off x="7696200" y="2157615"/>
              <a:ext cx="609600" cy="609600"/>
              <a:chOff x="3120" y="1248"/>
              <a:chExt cx="384" cy="384"/>
            </a:xfrm>
          </p:grpSpPr>
          <p:sp>
            <p:nvSpPr>
              <p:cNvPr id="990315" name="Oval 107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16" name="Text Box 108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17" name="Line 109"/>
            <p:cNvSpPr>
              <a:spLocks noChangeShapeType="1"/>
            </p:cNvSpPr>
            <p:nvPr/>
          </p:nvSpPr>
          <p:spPr bwMode="auto">
            <a:xfrm>
              <a:off x="5562600" y="2462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18" name="Line 110"/>
            <p:cNvSpPr>
              <a:spLocks noChangeShapeType="1"/>
            </p:cNvSpPr>
            <p:nvPr/>
          </p:nvSpPr>
          <p:spPr bwMode="auto">
            <a:xfrm>
              <a:off x="6934200" y="2462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953000" y="3688629"/>
            <a:ext cx="3352800" cy="609600"/>
            <a:chOff x="4953000" y="3300615"/>
            <a:chExt cx="3352800" cy="609600"/>
          </a:xfrm>
        </p:grpSpPr>
        <p:grpSp>
          <p:nvGrpSpPr>
            <p:cNvPr id="990319" name="Group 111"/>
            <p:cNvGrpSpPr>
              <a:grpSpLocks/>
            </p:cNvGrpSpPr>
            <p:nvPr/>
          </p:nvGrpSpPr>
          <p:grpSpPr bwMode="auto">
            <a:xfrm>
              <a:off x="4953000" y="3300615"/>
              <a:ext cx="609600" cy="609600"/>
              <a:chOff x="2496" y="1968"/>
              <a:chExt cx="384" cy="384"/>
            </a:xfrm>
          </p:grpSpPr>
          <p:sp>
            <p:nvSpPr>
              <p:cNvPr id="990320" name="Oval 112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21" name="Text Box 113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23" name="Oval 115"/>
            <p:cNvSpPr>
              <a:spLocks noChangeArrowheads="1"/>
            </p:cNvSpPr>
            <p:nvPr/>
          </p:nvSpPr>
          <p:spPr bwMode="auto">
            <a:xfrm>
              <a:off x="6324600" y="3300615"/>
              <a:ext cx="609600" cy="609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24" name="Text Box 116"/>
            <p:cNvSpPr txBox="1">
              <a:spLocks noChangeArrowheads="1"/>
            </p:cNvSpPr>
            <p:nvPr/>
          </p:nvSpPr>
          <p:spPr bwMode="auto">
            <a:xfrm>
              <a:off x="6400800" y="3376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325" name="Group 117"/>
            <p:cNvGrpSpPr>
              <a:grpSpLocks/>
            </p:cNvGrpSpPr>
            <p:nvPr/>
          </p:nvGrpSpPr>
          <p:grpSpPr bwMode="auto">
            <a:xfrm>
              <a:off x="7696200" y="3300615"/>
              <a:ext cx="609600" cy="609600"/>
              <a:chOff x="3120" y="1248"/>
              <a:chExt cx="384" cy="384"/>
            </a:xfrm>
          </p:grpSpPr>
          <p:sp>
            <p:nvSpPr>
              <p:cNvPr id="990326" name="Oval 118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27" name="Text Box 119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28" name="Line 120"/>
            <p:cNvSpPr>
              <a:spLocks noChangeShapeType="1"/>
            </p:cNvSpPr>
            <p:nvPr/>
          </p:nvSpPr>
          <p:spPr bwMode="auto">
            <a:xfrm>
              <a:off x="5562600" y="3605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29" name="Line 121"/>
            <p:cNvSpPr>
              <a:spLocks noChangeShapeType="1"/>
            </p:cNvSpPr>
            <p:nvPr/>
          </p:nvSpPr>
          <p:spPr bwMode="auto">
            <a:xfrm>
              <a:off x="6934200" y="3605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953000" y="4831629"/>
            <a:ext cx="3352800" cy="609600"/>
            <a:chOff x="4953000" y="4443615"/>
            <a:chExt cx="3352800" cy="609600"/>
          </a:xfrm>
        </p:grpSpPr>
        <p:grpSp>
          <p:nvGrpSpPr>
            <p:cNvPr id="990330" name="Group 122"/>
            <p:cNvGrpSpPr>
              <a:grpSpLocks/>
            </p:cNvGrpSpPr>
            <p:nvPr/>
          </p:nvGrpSpPr>
          <p:grpSpPr bwMode="auto">
            <a:xfrm>
              <a:off x="4953000" y="4443615"/>
              <a:ext cx="609600" cy="609600"/>
              <a:chOff x="2496" y="1968"/>
              <a:chExt cx="384" cy="384"/>
            </a:xfrm>
          </p:grpSpPr>
          <p:sp>
            <p:nvSpPr>
              <p:cNvPr id="990331" name="Oval 123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32" name="Text Box 124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34" name="Oval 126"/>
            <p:cNvSpPr>
              <a:spLocks noChangeArrowheads="1"/>
            </p:cNvSpPr>
            <p:nvPr/>
          </p:nvSpPr>
          <p:spPr bwMode="auto">
            <a:xfrm>
              <a:off x="6324600" y="4443615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35" name="Text Box 127"/>
            <p:cNvSpPr txBox="1">
              <a:spLocks noChangeArrowheads="1"/>
            </p:cNvSpPr>
            <p:nvPr/>
          </p:nvSpPr>
          <p:spPr bwMode="auto">
            <a:xfrm>
              <a:off x="6400800" y="4519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336" name="Group 128"/>
            <p:cNvGrpSpPr>
              <a:grpSpLocks/>
            </p:cNvGrpSpPr>
            <p:nvPr/>
          </p:nvGrpSpPr>
          <p:grpSpPr bwMode="auto">
            <a:xfrm>
              <a:off x="7696200" y="4443615"/>
              <a:ext cx="609600" cy="609600"/>
              <a:chOff x="3120" y="1248"/>
              <a:chExt cx="384" cy="384"/>
            </a:xfrm>
          </p:grpSpPr>
          <p:sp>
            <p:nvSpPr>
              <p:cNvPr id="990337" name="Oval 129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38" name="Text Box 130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39" name="Line 131"/>
            <p:cNvSpPr>
              <a:spLocks noChangeShapeType="1"/>
            </p:cNvSpPr>
            <p:nvPr/>
          </p:nvSpPr>
          <p:spPr bwMode="auto">
            <a:xfrm>
              <a:off x="5562600" y="4748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40" name="Line 132"/>
            <p:cNvSpPr>
              <a:spLocks noChangeShapeType="1"/>
            </p:cNvSpPr>
            <p:nvPr/>
          </p:nvSpPr>
          <p:spPr bwMode="auto">
            <a:xfrm>
              <a:off x="6934200" y="4748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990341" name="Text Box 133"/>
          <p:cNvSpPr txBox="1">
            <a:spLocks noChangeArrowheads="1"/>
          </p:cNvSpPr>
          <p:nvPr/>
        </p:nvSpPr>
        <p:spPr bwMode="auto">
          <a:xfrm>
            <a:off x="914400" y="2054063"/>
            <a:ext cx="27884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and </a:t>
            </a:r>
            <a:r>
              <a:rPr lang="en-US" sz="2400" i="1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dependent</a:t>
            </a:r>
          </a:p>
        </p:txBody>
      </p:sp>
      <p:sp>
        <p:nvSpPr>
          <p:cNvPr id="990342" name="Text Box 134"/>
          <p:cNvSpPr txBox="1">
            <a:spLocks noChangeArrowheads="1"/>
          </p:cNvSpPr>
          <p:nvPr/>
        </p:nvSpPr>
        <p:spPr bwMode="auto">
          <a:xfrm>
            <a:off x="5257800" y="2054063"/>
            <a:ext cx="30207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1"/>
              <a:t>X</a:t>
            </a:r>
            <a:r>
              <a:rPr lang="en-US" sz="2400" baseline="-25000"/>
              <a:t>1</a:t>
            </a:r>
            <a:r>
              <a:rPr lang="en-US" sz="2400"/>
              <a:t> and </a:t>
            </a:r>
            <a:r>
              <a:rPr lang="en-US" sz="2400" i="1"/>
              <a:t>X</a:t>
            </a:r>
            <a:r>
              <a:rPr lang="en-US" sz="2400" baseline="-25000"/>
              <a:t>3</a:t>
            </a:r>
            <a:r>
              <a:rPr lang="en-US" sz="2400"/>
              <a:t> independent</a:t>
            </a:r>
          </a:p>
        </p:txBody>
      </p:sp>
      <p:sp>
        <p:nvSpPr>
          <p:cNvPr id="990343" name="Text Box 135"/>
          <p:cNvSpPr txBox="1">
            <a:spLocks noChangeArrowheads="1"/>
          </p:cNvSpPr>
          <p:nvPr/>
        </p:nvSpPr>
        <p:spPr bwMode="auto">
          <a:xfrm>
            <a:off x="1012825" y="6373690"/>
            <a:ext cx="6759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(shaded variables are observed)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39289" y="4667197"/>
            <a:ext cx="3688044" cy="1717600"/>
            <a:chOff x="539289" y="4279183"/>
            <a:chExt cx="3688044" cy="1717600"/>
          </a:xfrm>
        </p:grpSpPr>
        <p:sp>
          <p:nvSpPr>
            <p:cNvPr id="4" name="Rectangle 3"/>
            <p:cNvSpPr/>
            <p:nvPr/>
          </p:nvSpPr>
          <p:spPr>
            <a:xfrm>
              <a:off x="539289" y="4279183"/>
              <a:ext cx="3688044" cy="939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81171" y="5535118"/>
              <a:ext cx="2393613" cy="461665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Why?</a:t>
              </a:r>
            </a:p>
          </p:txBody>
        </p:sp>
        <p:cxnSp>
          <p:nvCxnSpPr>
            <p:cNvPr id="7" name="Straight Arrow Connector 6"/>
            <p:cNvCxnSpPr>
              <a:stCxn id="5" idx="0"/>
              <a:endCxn id="4" idx="2"/>
            </p:cNvCxnSpPr>
            <p:nvPr/>
          </p:nvCxnSpPr>
          <p:spPr>
            <a:xfrm flipV="1">
              <a:off x="2377978" y="5218516"/>
              <a:ext cx="5333" cy="3166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17490" y="764286"/>
            <a:ext cx="8207699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identify independence relations for any graph with the rules for all Directed Acyclic Graphs of 3 variables (</a:t>
            </a:r>
            <a:r>
              <a:rPr lang="en-US" sz="2400" dirty="0" err="1"/>
              <a:t>obs</a:t>
            </a:r>
            <a:r>
              <a:rPr lang="en-US" sz="2400" dirty="0"/>
              <a:t> and </a:t>
            </a:r>
            <a:r>
              <a:rPr lang="en-US" sz="2400" dirty="0" err="1"/>
              <a:t>unobs</a:t>
            </a:r>
            <a:r>
              <a:rPr lang="en-US" sz="2400" dirty="0"/>
              <a:t>).</a:t>
            </a:r>
          </a:p>
          <a:p>
            <a:r>
              <a:rPr lang="en-US" sz="2400" dirty="0"/>
              <a:t>E.g., </a:t>
            </a:r>
            <a:r>
              <a:rPr lang="en-US" sz="2400" i="1" dirty="0"/>
              <a:t>X</a:t>
            </a:r>
            <a:r>
              <a:rPr lang="en-US" sz="2400" baseline="-25000" dirty="0"/>
              <a:t>1 </a:t>
            </a:r>
            <a:r>
              <a:rPr lang="en-US" sz="2400" dirty="0"/>
              <a:t>is sprinklers were on, </a:t>
            </a:r>
            <a:r>
              <a:rPr lang="en-US" sz="2400" i="1" dirty="0"/>
              <a:t>X</a:t>
            </a:r>
            <a:r>
              <a:rPr lang="en-US" sz="2400" baseline="-25000" dirty="0"/>
              <a:t>2 </a:t>
            </a:r>
            <a:r>
              <a:rPr lang="en-US" sz="2400" dirty="0"/>
              <a:t>is grass is wet, </a:t>
            </a:r>
            <a:r>
              <a:rPr lang="en-US" sz="2400" i="1"/>
              <a:t>X</a:t>
            </a:r>
            <a:r>
              <a:rPr lang="en-US" sz="2400" baseline="-25000"/>
              <a:t>3 </a:t>
            </a:r>
            <a:r>
              <a:rPr lang="en-US" sz="2400"/>
              <a:t>it </a:t>
            </a:r>
            <a:r>
              <a:rPr lang="en-US" sz="2400" dirty="0"/>
              <a:t>rained...</a:t>
            </a:r>
          </a:p>
        </p:txBody>
      </p:sp>
    </p:spTree>
    <p:extLst>
      <p:ext uri="{BB962C8B-B14F-4D97-AF65-F5344CB8AC3E}">
        <p14:creationId xmlns:p14="http://schemas.microsoft.com/office/powerpoint/2010/main" val="10100458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4561216" y="864624"/>
            <a:ext cx="119538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Sprinkler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482510" y="2236224"/>
            <a:ext cx="1676400" cy="457200"/>
          </a:xfrm>
          <a:prstGeom prst="rect">
            <a:avLst/>
          </a:prstGeom>
          <a:solidFill>
            <a:srgbClr val="BFBFB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Grass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wet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=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3125322" y="864624"/>
            <a:ext cx="1195388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Rained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352425" y="3235052"/>
            <a:ext cx="8640832" cy="32407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b="1" dirty="0">
                <a:solidFill>
                  <a:srgbClr val="000000"/>
                </a:solidFill>
                <a:latin typeface="Calibri"/>
                <a:cs typeface="Calibri"/>
              </a:rPr>
              <a:t>Corresponding probability relations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Unconditional independence: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P(Sprinkler = yes | Rained = yes) = P(Sprinkler = yes | Rained = no)</a:t>
            </a:r>
          </a:p>
          <a:p>
            <a:pPr eaLnBrk="1" hangingPunct="1"/>
            <a:endParaRPr lang="en-GB" sz="1200" dirty="0">
              <a:solidFill>
                <a:srgbClr val="000000"/>
              </a:solidFill>
              <a:latin typeface="Calibri"/>
              <a:cs typeface="Calibri"/>
            </a:endParaRP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After learning effect: 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P(Sprinkler = yes | Grass wet = yes) &gt; P(Sprinkler = yes) </a:t>
            </a:r>
          </a:p>
          <a:p>
            <a:pPr eaLnBrk="1" hangingPunct="1"/>
            <a:endParaRPr lang="en-GB" sz="1200" dirty="0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After learning effect and one cause: 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P(Sprinkler= yes | Grass wet = yes, Rained = yes) = P(Sprinkler = yes)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				&lt; P(Sprinkler = yes | Grass wet = yes)</a:t>
            </a:r>
          </a:p>
        </p:txBody>
      </p:sp>
      <p:cxnSp>
        <p:nvCxnSpPr>
          <p:cNvPr id="50182" name="AutoShape 6"/>
          <p:cNvCxnSpPr>
            <a:cxnSpLocks noChangeShapeType="1"/>
            <a:stCxn id="50180" idx="2"/>
            <a:endCxn id="50179" idx="0"/>
          </p:cNvCxnSpPr>
          <p:nvPr/>
        </p:nvCxnSpPr>
        <p:spPr bwMode="auto">
          <a:xfrm>
            <a:off x="3723016" y="1626624"/>
            <a:ext cx="597694" cy="609600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0183" name="AutoShape 7"/>
          <p:cNvCxnSpPr>
            <a:cxnSpLocks noChangeShapeType="1"/>
            <a:stCxn id="50178" idx="2"/>
            <a:endCxn id="50179" idx="0"/>
          </p:cNvCxnSpPr>
          <p:nvPr/>
        </p:nvCxnSpPr>
        <p:spPr bwMode="auto">
          <a:xfrm flipH="1">
            <a:off x="4320710" y="1626624"/>
            <a:ext cx="838200" cy="609600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2462213" y="60308"/>
            <a:ext cx="44307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1" hangingPunct="1"/>
            <a:r>
              <a:rPr lang="en-US" sz="3600" b="1" dirty="0">
                <a:latin typeface="Calibri"/>
                <a:cs typeface="Calibri"/>
              </a:rPr>
              <a:t>Explaining Away</a:t>
            </a:r>
            <a:endParaRPr lang="de-DE" sz="3600" b="1" dirty="0">
              <a:latin typeface="Calibri"/>
              <a:cs typeface="Calibri"/>
            </a:endParaRP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7580590" y="864624"/>
            <a:ext cx="1195388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Sprinkler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6484658" y="2236224"/>
            <a:ext cx="1746558" cy="457200"/>
          </a:xfrm>
          <a:prstGeom prst="rect">
            <a:avLst/>
          </a:prstGeom>
          <a:solidFill>
            <a:srgbClr val="BFBFB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Grass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wet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=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5969277" y="864624"/>
            <a:ext cx="1195387" cy="762000"/>
          </a:xfrm>
          <a:prstGeom prst="rect">
            <a:avLst/>
          </a:prstGeom>
          <a:solidFill>
            <a:srgbClr val="BFBFB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Rained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=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endParaRPr lang="de-DE" sz="1800" dirty="0">
              <a:latin typeface="Calibri"/>
              <a:cs typeface="Calibri"/>
            </a:endParaRPr>
          </a:p>
        </p:txBody>
      </p:sp>
      <p:cxnSp>
        <p:nvCxnSpPr>
          <p:cNvPr id="38924" name="AutoShape 12"/>
          <p:cNvCxnSpPr>
            <a:cxnSpLocks noChangeShapeType="1"/>
            <a:stCxn id="38923" idx="2"/>
            <a:endCxn id="38922" idx="0"/>
          </p:cNvCxnSpPr>
          <p:nvPr/>
        </p:nvCxnSpPr>
        <p:spPr bwMode="auto">
          <a:xfrm>
            <a:off x="6566971" y="1626624"/>
            <a:ext cx="790966" cy="609600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925" name="AutoShape 13"/>
          <p:cNvCxnSpPr>
            <a:cxnSpLocks noChangeShapeType="1"/>
            <a:stCxn id="38921" idx="2"/>
            <a:endCxn id="38922" idx="0"/>
          </p:cNvCxnSpPr>
          <p:nvPr/>
        </p:nvCxnSpPr>
        <p:spPr bwMode="auto">
          <a:xfrm flipH="1">
            <a:off x="7357937" y="1626624"/>
            <a:ext cx="820347" cy="609600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2347741" y="6475840"/>
            <a:ext cx="679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(Pearl, 1988, 2000; </a:t>
            </a:r>
            <a:r>
              <a:rPr lang="en-US" dirty="0" err="1"/>
              <a:t>Spirtes</a:t>
            </a:r>
            <a:r>
              <a:rPr lang="en-US" dirty="0"/>
              <a:t>, </a:t>
            </a:r>
            <a:r>
              <a:rPr lang="en-US" dirty="0" err="1"/>
              <a:t>Glymour</a:t>
            </a:r>
            <a:r>
              <a:rPr lang="en-US" dirty="0"/>
              <a:t>, &amp; </a:t>
            </a:r>
            <a:r>
              <a:rPr lang="en-US" dirty="0" err="1"/>
              <a:t>Scheines</a:t>
            </a:r>
            <a:r>
              <a:rPr lang="en-US" dirty="0"/>
              <a:t>, 1993, </a:t>
            </a:r>
            <a:r>
              <a:rPr lang="en-US" dirty="0" err="1"/>
              <a:t>Sloman</a:t>
            </a:r>
            <a:r>
              <a:rPr lang="en-US" dirty="0"/>
              <a:t>, 2005)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547455" y="871347"/>
            <a:ext cx="119538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Sprinkler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450807" y="2242946"/>
            <a:ext cx="1676400" cy="70263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Grass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wet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98477" y="871347"/>
            <a:ext cx="1195388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Rained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cxnSp>
        <p:nvCxnSpPr>
          <p:cNvPr id="18" name="AutoShape 6"/>
          <p:cNvCxnSpPr>
            <a:cxnSpLocks noChangeShapeType="1"/>
            <a:stCxn id="17" idx="2"/>
            <a:endCxn id="16" idx="0"/>
          </p:cNvCxnSpPr>
          <p:nvPr/>
        </p:nvCxnSpPr>
        <p:spPr bwMode="auto">
          <a:xfrm>
            <a:off x="796171" y="1633347"/>
            <a:ext cx="492836" cy="609599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7"/>
          <p:cNvCxnSpPr>
            <a:cxnSpLocks noChangeShapeType="1"/>
            <a:stCxn id="15" idx="2"/>
            <a:endCxn id="16" idx="0"/>
          </p:cNvCxnSpPr>
          <p:nvPr/>
        </p:nvCxnSpPr>
        <p:spPr bwMode="auto">
          <a:xfrm flipH="1">
            <a:off x="1289007" y="1633347"/>
            <a:ext cx="856142" cy="609599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4980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nimBg="1"/>
      <p:bldP spid="50179" grpId="0" animBg="1"/>
      <p:bldP spid="50180" grpId="0" animBg="1"/>
      <p:bldP spid="38921" grpId="0" animBg="1"/>
      <p:bldP spid="38922" grpId="0" animBg="1"/>
      <p:bldP spid="389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Calibri"/>
                <a:cs typeface="Calibri"/>
              </a:rPr>
              <a:t>Blicket</a:t>
            </a:r>
            <a:r>
              <a:rPr lang="en-US" dirty="0">
                <a:latin typeface="Calibri"/>
                <a:cs typeface="Calibri"/>
              </a:rPr>
              <a:t> detector </a:t>
            </a:r>
            <a:br>
              <a:rPr lang="en-US" dirty="0">
                <a:latin typeface="Calibri"/>
                <a:cs typeface="Calibri"/>
              </a:rPr>
            </a:br>
            <a:r>
              <a:rPr lang="en-US" sz="2800" dirty="0">
                <a:latin typeface="Calibri"/>
                <a:cs typeface="Calibri"/>
              </a:rPr>
              <a:t>(Dave </a:t>
            </a:r>
            <a:r>
              <a:rPr lang="en-US" sz="2800" dirty="0" err="1">
                <a:latin typeface="Calibri"/>
                <a:cs typeface="Calibri"/>
              </a:rPr>
              <a:t>Sobel</a:t>
            </a:r>
            <a:r>
              <a:rPr lang="en-US" sz="2800" dirty="0">
                <a:latin typeface="Calibri"/>
                <a:cs typeface="Calibri"/>
              </a:rPr>
              <a:t>, Alison </a:t>
            </a:r>
            <a:r>
              <a:rPr lang="en-US" sz="2800" dirty="0" err="1">
                <a:latin typeface="Calibri"/>
                <a:cs typeface="Calibri"/>
              </a:rPr>
              <a:t>Gopnik</a:t>
            </a:r>
            <a:r>
              <a:rPr lang="en-US" sz="2800" dirty="0">
                <a:latin typeface="Calibri"/>
                <a:cs typeface="Calibri"/>
              </a:rPr>
              <a:t>, and colleagues)</a:t>
            </a:r>
          </a:p>
        </p:txBody>
      </p:sp>
      <p:grpSp>
        <p:nvGrpSpPr>
          <p:cNvPr id="961539" name="Group 3"/>
          <p:cNvGrpSpPr>
            <a:grpSpLocks/>
          </p:cNvGrpSpPr>
          <p:nvPr/>
        </p:nvGrpSpPr>
        <p:grpSpPr bwMode="auto">
          <a:xfrm>
            <a:off x="919175" y="2870200"/>
            <a:ext cx="1973263" cy="1685925"/>
            <a:chOff x="579" y="1488"/>
            <a:chExt cx="1243" cy="1062"/>
          </a:xfrm>
        </p:grpSpPr>
        <p:sp>
          <p:nvSpPr>
            <p:cNvPr id="961540" name="Rectangle 4"/>
            <p:cNvSpPr>
              <a:spLocks noChangeArrowheads="1"/>
            </p:cNvSpPr>
            <p:nvPr/>
          </p:nvSpPr>
          <p:spPr bwMode="auto">
            <a:xfrm>
              <a:off x="579" y="1968"/>
              <a:ext cx="1243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alibri"/>
                  <a:cs typeface="Calibri"/>
                </a:rPr>
                <a:t>See this?  It’s a </a:t>
              </a:r>
            </a:p>
            <a:p>
              <a:r>
                <a:rPr lang="en-US" dirty="0" err="1">
                  <a:latin typeface="Calibri"/>
                  <a:cs typeface="Calibri"/>
                </a:rPr>
                <a:t>blicket</a:t>
              </a:r>
              <a:r>
                <a:rPr lang="en-US" dirty="0">
                  <a:latin typeface="Calibri"/>
                  <a:cs typeface="Calibri"/>
                </a:rPr>
                <a:t> machine. </a:t>
              </a:r>
            </a:p>
            <a:p>
              <a:r>
                <a:rPr lang="en-US" dirty="0" err="1">
                  <a:latin typeface="Calibri"/>
                  <a:cs typeface="Calibri"/>
                </a:rPr>
                <a:t>Blickets</a:t>
              </a:r>
              <a:r>
                <a:rPr lang="en-US" dirty="0">
                  <a:latin typeface="Calibri"/>
                  <a:cs typeface="Calibri"/>
                </a:rPr>
                <a:t> make it go. </a:t>
              </a:r>
            </a:p>
          </p:txBody>
        </p:sp>
        <p:grpSp>
          <p:nvGrpSpPr>
            <p:cNvPr id="961541" name="Group 5"/>
            <p:cNvGrpSpPr>
              <a:grpSpLocks/>
            </p:cNvGrpSpPr>
            <p:nvPr/>
          </p:nvGrpSpPr>
          <p:grpSpPr bwMode="auto">
            <a:xfrm>
              <a:off x="932" y="1488"/>
              <a:ext cx="670" cy="289"/>
              <a:chOff x="9059" y="8597"/>
              <a:chExt cx="1365" cy="586"/>
            </a:xfrm>
          </p:grpSpPr>
          <p:grpSp>
            <p:nvGrpSpPr>
              <p:cNvPr id="961542" name="Group 6"/>
              <p:cNvGrpSpPr>
                <a:grpSpLocks/>
              </p:cNvGrpSpPr>
              <p:nvPr/>
            </p:nvGrpSpPr>
            <p:grpSpPr bwMode="auto">
              <a:xfrm>
                <a:off x="9059" y="8597"/>
                <a:ext cx="1365" cy="586"/>
                <a:chOff x="9059" y="8597"/>
                <a:chExt cx="1365" cy="586"/>
              </a:xfrm>
            </p:grpSpPr>
            <p:sp>
              <p:nvSpPr>
                <p:cNvPr id="961543" name="Freeform 7"/>
                <p:cNvSpPr>
                  <a:spLocks/>
                </p:cNvSpPr>
                <p:nvPr/>
              </p:nvSpPr>
              <p:spPr bwMode="auto">
                <a:xfrm>
                  <a:off x="10236" y="8597"/>
                  <a:ext cx="188" cy="586"/>
                </a:xfrm>
                <a:custGeom>
                  <a:avLst/>
                  <a:gdLst>
                    <a:gd name="T0" fmla="*/ 0 w 188"/>
                    <a:gd name="T1" fmla="*/ 586 h 586"/>
                    <a:gd name="T2" fmla="*/ 0 w 188"/>
                    <a:gd name="T3" fmla="*/ 173 h 586"/>
                    <a:gd name="T4" fmla="*/ 188 w 188"/>
                    <a:gd name="T5" fmla="*/ 0 h 586"/>
                    <a:gd name="T6" fmla="*/ 188 w 188"/>
                    <a:gd name="T7" fmla="*/ 406 h 586"/>
                    <a:gd name="T8" fmla="*/ 0 w 188"/>
                    <a:gd name="T9" fmla="*/ 586 h 5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586">
                      <a:moveTo>
                        <a:pt x="0" y="586"/>
                      </a:moveTo>
                      <a:lnTo>
                        <a:pt x="0" y="173"/>
                      </a:lnTo>
                      <a:lnTo>
                        <a:pt x="188" y="0"/>
                      </a:lnTo>
                      <a:lnTo>
                        <a:pt x="188" y="406"/>
                      </a:lnTo>
                      <a:lnTo>
                        <a:pt x="0" y="586"/>
                      </a:lnTo>
                      <a:close/>
                    </a:path>
                  </a:pathLst>
                </a:custGeom>
                <a:solidFill>
                  <a:srgbClr val="9C9C9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>
                    <a:latin typeface="Calibri"/>
                    <a:cs typeface="Calibri"/>
                  </a:endParaRPr>
                </a:p>
              </p:txBody>
            </p:sp>
            <p:sp>
              <p:nvSpPr>
                <p:cNvPr id="961544" name="Freeform 8"/>
                <p:cNvSpPr>
                  <a:spLocks/>
                </p:cNvSpPr>
                <p:nvPr/>
              </p:nvSpPr>
              <p:spPr bwMode="auto">
                <a:xfrm>
                  <a:off x="9063" y="8597"/>
                  <a:ext cx="1361" cy="173"/>
                </a:xfrm>
                <a:custGeom>
                  <a:avLst/>
                  <a:gdLst>
                    <a:gd name="T0" fmla="*/ 1173 w 1361"/>
                    <a:gd name="T1" fmla="*/ 173 h 173"/>
                    <a:gd name="T2" fmla="*/ 0 w 1361"/>
                    <a:gd name="T3" fmla="*/ 173 h 173"/>
                    <a:gd name="T4" fmla="*/ 188 w 1361"/>
                    <a:gd name="T5" fmla="*/ 0 h 173"/>
                    <a:gd name="T6" fmla="*/ 1361 w 1361"/>
                    <a:gd name="T7" fmla="*/ 0 h 173"/>
                    <a:gd name="T8" fmla="*/ 1173 w 1361"/>
                    <a:gd name="T9" fmla="*/ 173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61" h="173">
                      <a:moveTo>
                        <a:pt x="1173" y="173"/>
                      </a:moveTo>
                      <a:lnTo>
                        <a:pt x="0" y="173"/>
                      </a:lnTo>
                      <a:lnTo>
                        <a:pt x="188" y="0"/>
                      </a:lnTo>
                      <a:lnTo>
                        <a:pt x="1361" y="0"/>
                      </a:lnTo>
                      <a:lnTo>
                        <a:pt x="1173" y="173"/>
                      </a:lnTo>
                      <a:close/>
                    </a:path>
                  </a:pathLst>
                </a:custGeom>
                <a:solidFill>
                  <a:srgbClr val="69696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>
                    <a:latin typeface="Calibri"/>
                    <a:cs typeface="Calibri"/>
                  </a:endParaRPr>
                </a:p>
              </p:txBody>
            </p:sp>
            <p:sp>
              <p:nvSpPr>
                <p:cNvPr id="961545" name="Rectangle 9"/>
                <p:cNvSpPr>
                  <a:spLocks noChangeArrowheads="1"/>
                </p:cNvSpPr>
                <p:nvPr/>
              </p:nvSpPr>
              <p:spPr bwMode="auto">
                <a:xfrm>
                  <a:off x="9059" y="8770"/>
                  <a:ext cx="1180" cy="413"/>
                </a:xfrm>
                <a:prstGeom prst="rect">
                  <a:avLst/>
                </a:prstGeom>
                <a:solidFill>
                  <a:srgbClr val="888888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961546" name="Freeform 10"/>
              <p:cNvSpPr>
                <a:spLocks/>
              </p:cNvSpPr>
              <p:nvPr/>
            </p:nvSpPr>
            <p:spPr bwMode="auto">
              <a:xfrm>
                <a:off x="9244" y="8605"/>
                <a:ext cx="992" cy="165"/>
              </a:xfrm>
              <a:custGeom>
                <a:avLst/>
                <a:gdLst>
                  <a:gd name="T0" fmla="*/ 248 w 992"/>
                  <a:gd name="T1" fmla="*/ 0 h 165"/>
                  <a:gd name="T2" fmla="*/ 0 w 992"/>
                  <a:gd name="T3" fmla="*/ 165 h 165"/>
                  <a:gd name="T4" fmla="*/ 744 w 992"/>
                  <a:gd name="T5" fmla="*/ 165 h 165"/>
                  <a:gd name="T6" fmla="*/ 992 w 992"/>
                  <a:gd name="T7" fmla="*/ 0 h 165"/>
                  <a:gd name="T8" fmla="*/ 248 w 992"/>
                  <a:gd name="T9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2" h="165">
                    <a:moveTo>
                      <a:pt x="248" y="0"/>
                    </a:moveTo>
                    <a:lnTo>
                      <a:pt x="0" y="165"/>
                    </a:lnTo>
                    <a:lnTo>
                      <a:pt x="744" y="165"/>
                    </a:lnTo>
                    <a:lnTo>
                      <a:pt x="992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rgbClr val="FF0000"/>
              </a:solidFill>
              <a:ln w="508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</p:grpSp>
      <p:grpSp>
        <p:nvGrpSpPr>
          <p:cNvPr id="961547" name="Group 11"/>
          <p:cNvGrpSpPr>
            <a:grpSpLocks/>
          </p:cNvGrpSpPr>
          <p:nvPr/>
        </p:nvGrpSpPr>
        <p:grpSpPr bwMode="auto">
          <a:xfrm>
            <a:off x="3505199" y="2260600"/>
            <a:ext cx="1905000" cy="2017713"/>
            <a:chOff x="2208" y="1104"/>
            <a:chExt cx="1200" cy="1271"/>
          </a:xfrm>
        </p:grpSpPr>
        <p:graphicFrame>
          <p:nvGraphicFramePr>
            <p:cNvPr id="961548" name="Object 12"/>
            <p:cNvGraphicFramePr>
              <a:graphicFrameLocks noChangeAspect="1"/>
            </p:cNvGraphicFramePr>
            <p:nvPr/>
          </p:nvGraphicFramePr>
          <p:xfrm>
            <a:off x="2208" y="1104"/>
            <a:ext cx="459" cy="8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3" imgW="6393180" imgH="4792980" progId="Word.Picture.8">
                    <p:embed/>
                  </p:oleObj>
                </mc:Choice>
                <mc:Fallback>
                  <p:oleObj name="Picture" r:id="rId3" imgW="6393180" imgH="4792980" progId="Word.Picture.8">
                    <p:embed/>
                    <p:pic>
                      <p:nvPicPr>
                        <p:cNvPr id="96154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3676" t="17297" r="27193" b="59882"/>
                        <a:stretch>
                          <a:fillRect/>
                        </a:stretch>
                      </p:blipFill>
                      <p:spPr bwMode="auto">
                        <a:xfrm>
                          <a:off x="2208" y="1104"/>
                          <a:ext cx="459" cy="8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1549" name="Rectangle 13"/>
            <p:cNvSpPr>
              <a:spLocks noChangeArrowheads="1"/>
            </p:cNvSpPr>
            <p:nvPr/>
          </p:nvSpPr>
          <p:spPr bwMode="auto">
            <a:xfrm>
              <a:off x="2256" y="1968"/>
              <a:ext cx="112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alibri"/>
                  <a:cs typeface="Calibri"/>
                </a:rPr>
                <a:t>Let’s put this one</a:t>
              </a:r>
            </a:p>
            <a:p>
              <a:r>
                <a:rPr lang="en-US" dirty="0">
                  <a:latin typeface="Calibri"/>
                  <a:cs typeface="Calibri"/>
                </a:rPr>
                <a:t>on the machine.   </a:t>
              </a:r>
            </a:p>
          </p:txBody>
        </p:sp>
        <p:grpSp>
          <p:nvGrpSpPr>
            <p:cNvPr id="961550" name="Group 14"/>
            <p:cNvGrpSpPr>
              <a:grpSpLocks/>
            </p:cNvGrpSpPr>
            <p:nvPr/>
          </p:nvGrpSpPr>
          <p:grpSpPr bwMode="auto">
            <a:xfrm>
              <a:off x="2736" y="1488"/>
              <a:ext cx="672" cy="289"/>
              <a:chOff x="9063" y="8597"/>
              <a:chExt cx="1361" cy="586"/>
            </a:xfrm>
          </p:grpSpPr>
          <p:grpSp>
            <p:nvGrpSpPr>
              <p:cNvPr id="961551" name="Group 15"/>
              <p:cNvGrpSpPr>
                <a:grpSpLocks/>
              </p:cNvGrpSpPr>
              <p:nvPr/>
            </p:nvGrpSpPr>
            <p:grpSpPr bwMode="auto">
              <a:xfrm>
                <a:off x="9063" y="8597"/>
                <a:ext cx="1361" cy="586"/>
                <a:chOff x="9063" y="8597"/>
                <a:chExt cx="1361" cy="586"/>
              </a:xfrm>
            </p:grpSpPr>
            <p:sp>
              <p:nvSpPr>
                <p:cNvPr id="961552" name="Freeform 16"/>
                <p:cNvSpPr>
                  <a:spLocks/>
                </p:cNvSpPr>
                <p:nvPr/>
              </p:nvSpPr>
              <p:spPr bwMode="auto">
                <a:xfrm>
                  <a:off x="10236" y="8597"/>
                  <a:ext cx="188" cy="586"/>
                </a:xfrm>
                <a:custGeom>
                  <a:avLst/>
                  <a:gdLst>
                    <a:gd name="T0" fmla="*/ 0 w 188"/>
                    <a:gd name="T1" fmla="*/ 586 h 586"/>
                    <a:gd name="T2" fmla="*/ 0 w 188"/>
                    <a:gd name="T3" fmla="*/ 173 h 586"/>
                    <a:gd name="T4" fmla="*/ 188 w 188"/>
                    <a:gd name="T5" fmla="*/ 0 h 586"/>
                    <a:gd name="T6" fmla="*/ 188 w 188"/>
                    <a:gd name="T7" fmla="*/ 406 h 586"/>
                    <a:gd name="T8" fmla="*/ 0 w 188"/>
                    <a:gd name="T9" fmla="*/ 586 h 5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586">
                      <a:moveTo>
                        <a:pt x="0" y="586"/>
                      </a:moveTo>
                      <a:lnTo>
                        <a:pt x="0" y="173"/>
                      </a:lnTo>
                      <a:lnTo>
                        <a:pt x="188" y="0"/>
                      </a:lnTo>
                      <a:lnTo>
                        <a:pt x="188" y="406"/>
                      </a:lnTo>
                      <a:lnTo>
                        <a:pt x="0" y="586"/>
                      </a:lnTo>
                      <a:close/>
                    </a:path>
                  </a:pathLst>
                </a:custGeom>
                <a:solidFill>
                  <a:srgbClr val="9C9C9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>
                    <a:latin typeface="Calibri"/>
                    <a:cs typeface="Calibri"/>
                  </a:endParaRPr>
                </a:p>
              </p:txBody>
            </p:sp>
            <p:sp>
              <p:nvSpPr>
                <p:cNvPr id="961553" name="Freeform 17"/>
                <p:cNvSpPr>
                  <a:spLocks/>
                </p:cNvSpPr>
                <p:nvPr/>
              </p:nvSpPr>
              <p:spPr bwMode="auto">
                <a:xfrm>
                  <a:off x="9063" y="8597"/>
                  <a:ext cx="1361" cy="173"/>
                </a:xfrm>
                <a:custGeom>
                  <a:avLst/>
                  <a:gdLst>
                    <a:gd name="T0" fmla="*/ 1173 w 1361"/>
                    <a:gd name="T1" fmla="*/ 173 h 173"/>
                    <a:gd name="T2" fmla="*/ 0 w 1361"/>
                    <a:gd name="T3" fmla="*/ 173 h 173"/>
                    <a:gd name="T4" fmla="*/ 188 w 1361"/>
                    <a:gd name="T5" fmla="*/ 0 h 173"/>
                    <a:gd name="T6" fmla="*/ 1361 w 1361"/>
                    <a:gd name="T7" fmla="*/ 0 h 173"/>
                    <a:gd name="T8" fmla="*/ 1173 w 1361"/>
                    <a:gd name="T9" fmla="*/ 173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61" h="173">
                      <a:moveTo>
                        <a:pt x="1173" y="173"/>
                      </a:moveTo>
                      <a:lnTo>
                        <a:pt x="0" y="173"/>
                      </a:lnTo>
                      <a:lnTo>
                        <a:pt x="188" y="0"/>
                      </a:lnTo>
                      <a:lnTo>
                        <a:pt x="1361" y="0"/>
                      </a:lnTo>
                      <a:lnTo>
                        <a:pt x="1173" y="173"/>
                      </a:lnTo>
                      <a:close/>
                    </a:path>
                  </a:pathLst>
                </a:custGeom>
                <a:solidFill>
                  <a:srgbClr val="69696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>
                    <a:latin typeface="Calibri"/>
                    <a:cs typeface="Calibri"/>
                  </a:endParaRPr>
                </a:p>
              </p:txBody>
            </p:sp>
            <p:sp>
              <p:nvSpPr>
                <p:cNvPr id="961554" name="Rectangle 18"/>
                <p:cNvSpPr>
                  <a:spLocks noChangeArrowheads="1"/>
                </p:cNvSpPr>
                <p:nvPr/>
              </p:nvSpPr>
              <p:spPr bwMode="auto">
                <a:xfrm>
                  <a:off x="9063" y="8770"/>
                  <a:ext cx="1173" cy="413"/>
                </a:xfrm>
                <a:prstGeom prst="rect">
                  <a:avLst/>
                </a:prstGeom>
                <a:solidFill>
                  <a:srgbClr val="888888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961555" name="Freeform 19"/>
              <p:cNvSpPr>
                <a:spLocks/>
              </p:cNvSpPr>
              <p:nvPr/>
            </p:nvSpPr>
            <p:spPr bwMode="auto">
              <a:xfrm>
                <a:off x="9244" y="8605"/>
                <a:ext cx="992" cy="165"/>
              </a:xfrm>
              <a:custGeom>
                <a:avLst/>
                <a:gdLst>
                  <a:gd name="T0" fmla="*/ 248 w 992"/>
                  <a:gd name="T1" fmla="*/ 0 h 165"/>
                  <a:gd name="T2" fmla="*/ 0 w 992"/>
                  <a:gd name="T3" fmla="*/ 165 h 165"/>
                  <a:gd name="T4" fmla="*/ 744 w 992"/>
                  <a:gd name="T5" fmla="*/ 165 h 165"/>
                  <a:gd name="T6" fmla="*/ 992 w 992"/>
                  <a:gd name="T7" fmla="*/ 0 h 165"/>
                  <a:gd name="T8" fmla="*/ 248 w 992"/>
                  <a:gd name="T9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2" h="165">
                    <a:moveTo>
                      <a:pt x="248" y="0"/>
                    </a:moveTo>
                    <a:lnTo>
                      <a:pt x="0" y="165"/>
                    </a:lnTo>
                    <a:lnTo>
                      <a:pt x="744" y="165"/>
                    </a:lnTo>
                    <a:lnTo>
                      <a:pt x="992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rgbClr val="FF0000"/>
              </a:solidFill>
              <a:ln w="508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</p:grpSp>
      <p:grpSp>
        <p:nvGrpSpPr>
          <p:cNvPr id="961556" name="Group 20"/>
          <p:cNvGrpSpPr>
            <a:grpSpLocks/>
          </p:cNvGrpSpPr>
          <p:nvPr/>
        </p:nvGrpSpPr>
        <p:grpSpPr bwMode="auto">
          <a:xfrm>
            <a:off x="6477000" y="1955800"/>
            <a:ext cx="1882775" cy="2322513"/>
            <a:chOff x="4080" y="912"/>
            <a:chExt cx="1186" cy="1463"/>
          </a:xfrm>
        </p:grpSpPr>
        <p:graphicFrame>
          <p:nvGraphicFramePr>
            <p:cNvPr id="961557" name="Object 21"/>
            <p:cNvGraphicFramePr>
              <a:graphicFrameLocks noChangeAspect="1"/>
            </p:cNvGraphicFramePr>
            <p:nvPr/>
          </p:nvGraphicFramePr>
          <p:xfrm>
            <a:off x="4080" y="912"/>
            <a:ext cx="1186" cy="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5" imgW="6393180" imgH="4792980" progId="Word.Picture.8">
                    <p:embed/>
                  </p:oleObj>
                </mc:Choice>
                <mc:Fallback>
                  <p:oleObj name="Picture" r:id="rId5" imgW="6393180" imgH="4792980" progId="Word.Picture.8">
                    <p:embed/>
                    <p:pic>
                      <p:nvPicPr>
                        <p:cNvPr id="961557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34671" t="59888" r="41734" b="15807"/>
                        <a:stretch>
                          <a:fillRect/>
                        </a:stretch>
                      </p:blipFill>
                      <p:spPr bwMode="auto">
                        <a:xfrm>
                          <a:off x="4080" y="912"/>
                          <a:ext cx="1186" cy="9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1558" name="Rectangle 22"/>
            <p:cNvSpPr>
              <a:spLocks noChangeArrowheads="1"/>
            </p:cNvSpPr>
            <p:nvPr/>
          </p:nvSpPr>
          <p:spPr bwMode="auto">
            <a:xfrm>
              <a:off x="4167" y="1968"/>
              <a:ext cx="78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Calibri"/>
                  <a:cs typeface="Calibri"/>
                </a:rPr>
                <a:t>Oooh</a:t>
              </a:r>
              <a:r>
                <a:rPr lang="en-US" dirty="0">
                  <a:latin typeface="Calibri"/>
                  <a:cs typeface="Calibri"/>
                </a:rPr>
                <a:t>, it’s a </a:t>
              </a:r>
            </a:p>
            <a:p>
              <a:r>
                <a:rPr lang="en-US" dirty="0" err="1">
                  <a:latin typeface="Calibri"/>
                  <a:cs typeface="Calibri"/>
                </a:rPr>
                <a:t>blicket</a:t>
              </a:r>
              <a:r>
                <a:rPr lang="en-US" dirty="0">
                  <a:latin typeface="Calibri"/>
                  <a:cs typeface="Calibri"/>
                </a:rPr>
                <a:t>!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9631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4663" y="3438525"/>
            <a:ext cx="8069262" cy="3038475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Two objects: A and B</a:t>
            </a:r>
            <a:endParaRPr lang="en-US" i="1" dirty="0"/>
          </a:p>
          <a:p>
            <a:pPr lvl="1"/>
            <a:r>
              <a:rPr lang="en-US" dirty="0"/>
              <a:t>Trial 1: A B on detector – detector </a:t>
            </a:r>
            <a:r>
              <a:rPr lang="en-US" dirty="0">
                <a:solidFill>
                  <a:srgbClr val="FF0000"/>
                </a:solidFill>
              </a:rPr>
              <a:t>active</a:t>
            </a:r>
            <a:endParaRPr lang="en-US" dirty="0"/>
          </a:p>
          <a:p>
            <a:pPr lvl="1"/>
            <a:r>
              <a:rPr lang="en-US" dirty="0"/>
              <a:t>Trial 2: A on detector – detector </a:t>
            </a:r>
            <a:r>
              <a:rPr lang="en-US" dirty="0">
                <a:solidFill>
                  <a:srgbClr val="FF0000"/>
                </a:solidFill>
              </a:rPr>
              <a:t>active</a:t>
            </a:r>
            <a:endParaRPr lang="en-US" dirty="0"/>
          </a:p>
          <a:p>
            <a:pPr lvl="1"/>
            <a:r>
              <a:rPr lang="en-US" dirty="0"/>
              <a:t>4-year-olds judge whether each object is a </a:t>
            </a:r>
            <a:r>
              <a:rPr lang="en-US" dirty="0" err="1"/>
              <a:t>blicket</a:t>
            </a:r>
            <a:endParaRPr lang="en-US" dirty="0"/>
          </a:p>
          <a:p>
            <a:pPr marL="857250" lvl="2" indent="0">
              <a:buNone/>
            </a:pPr>
            <a:r>
              <a:rPr lang="en-US" dirty="0"/>
              <a:t>A: a </a:t>
            </a:r>
            <a:r>
              <a:rPr lang="en-US" dirty="0" err="1"/>
              <a:t>blicket</a:t>
            </a:r>
            <a:r>
              <a:rPr lang="en-US" dirty="0"/>
              <a:t> (100% say yes)</a:t>
            </a:r>
          </a:p>
          <a:p>
            <a:pPr marL="857250" lvl="2" indent="0">
              <a:buNone/>
            </a:pPr>
            <a:r>
              <a:rPr lang="en-US" dirty="0"/>
              <a:t>B: probably not a </a:t>
            </a:r>
            <a:r>
              <a:rPr lang="en-US" dirty="0" err="1"/>
              <a:t>blicket</a:t>
            </a:r>
            <a:r>
              <a:rPr lang="en-US" dirty="0"/>
              <a:t> (34% say yes)</a:t>
            </a:r>
          </a:p>
        </p:txBody>
      </p:sp>
      <p:graphicFrame>
        <p:nvGraphicFramePr>
          <p:cNvPr id="963587" name="Object 3"/>
          <p:cNvGraphicFramePr>
            <a:graphicFrameLocks noChangeAspect="1"/>
          </p:cNvGraphicFramePr>
          <p:nvPr/>
        </p:nvGraphicFramePr>
        <p:xfrm>
          <a:off x="3470275" y="1243013"/>
          <a:ext cx="4356100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393180" imgH="4792980" progId="Word.Picture.8">
                  <p:embed/>
                </p:oleObj>
              </mc:Choice>
              <mc:Fallback>
                <p:oleObj name="Picture" r:id="rId3" imgW="6393180" imgH="4792980" progId="Word.Picture.8">
                  <p:embed/>
                  <p:pic>
                    <p:nvPicPr>
                      <p:cNvPr id="9635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676" t="59888" r="41734" b="15807"/>
                      <a:stretch>
                        <a:fillRect/>
                      </a:stretch>
                    </p:blipFill>
                    <p:spPr bwMode="auto">
                      <a:xfrm>
                        <a:off x="3470275" y="1243013"/>
                        <a:ext cx="4356100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588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1651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ja-JP" altLang="en-US">
                <a:latin typeface="Arial"/>
              </a:rPr>
              <a:t>“</a:t>
            </a:r>
            <a:r>
              <a:rPr lang="en-US"/>
              <a:t>Backwards blocking</a:t>
            </a:r>
            <a:r>
              <a:rPr lang="ja-JP" altLang="en-US">
                <a:latin typeface="Arial"/>
              </a:rPr>
              <a:t>”</a:t>
            </a:r>
            <a:r>
              <a:rPr lang="en-US"/>
              <a:t> </a:t>
            </a:r>
            <a:br>
              <a:rPr lang="en-US"/>
            </a:br>
            <a:r>
              <a:rPr lang="en-US" sz="2800"/>
              <a:t>(Sobel, Tenenbaum &amp; Gopnik, 2004)</a:t>
            </a:r>
          </a:p>
        </p:txBody>
      </p:sp>
      <p:sp>
        <p:nvSpPr>
          <p:cNvPr id="963589" name="Rectangle 5"/>
          <p:cNvSpPr>
            <a:spLocks noChangeArrowheads="1"/>
          </p:cNvSpPr>
          <p:nvPr/>
        </p:nvSpPr>
        <p:spPr bwMode="auto">
          <a:xfrm>
            <a:off x="4067175" y="2655888"/>
            <a:ext cx="127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AB Trial</a:t>
            </a:r>
            <a:endParaRPr lang="en-US" i="1"/>
          </a:p>
        </p:txBody>
      </p:sp>
      <p:sp>
        <p:nvSpPr>
          <p:cNvPr id="963590" name="Rectangle 6"/>
          <p:cNvSpPr>
            <a:spLocks noChangeArrowheads="1"/>
          </p:cNvSpPr>
          <p:nvPr/>
        </p:nvSpPr>
        <p:spPr bwMode="auto">
          <a:xfrm>
            <a:off x="6334125" y="262413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 Trial</a:t>
            </a:r>
            <a:endParaRPr lang="en-US" i="1"/>
          </a:p>
        </p:txBody>
      </p:sp>
      <p:grpSp>
        <p:nvGrpSpPr>
          <p:cNvPr id="963591" name="Group 7"/>
          <p:cNvGrpSpPr>
            <a:grpSpLocks/>
          </p:cNvGrpSpPr>
          <p:nvPr/>
        </p:nvGrpSpPr>
        <p:grpSpPr bwMode="auto">
          <a:xfrm>
            <a:off x="1557338" y="1423988"/>
            <a:ext cx="1893887" cy="1682750"/>
            <a:chOff x="3734" y="858"/>
            <a:chExt cx="1193" cy="1060"/>
          </a:xfrm>
        </p:grpSpPr>
        <p:sp>
          <p:nvSpPr>
            <p:cNvPr id="963592" name="Rectangle 8"/>
            <p:cNvSpPr>
              <a:spLocks noChangeArrowheads="1"/>
            </p:cNvSpPr>
            <p:nvPr/>
          </p:nvSpPr>
          <p:spPr bwMode="auto">
            <a:xfrm>
              <a:off x="3887" y="1630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1"/>
                <a:t>A</a:t>
              </a:r>
            </a:p>
          </p:txBody>
        </p:sp>
        <p:sp>
          <p:nvSpPr>
            <p:cNvPr id="963593" name="Rectangle 9"/>
            <p:cNvSpPr>
              <a:spLocks noChangeArrowheads="1"/>
            </p:cNvSpPr>
            <p:nvPr/>
          </p:nvSpPr>
          <p:spPr bwMode="auto">
            <a:xfrm>
              <a:off x="4431" y="1630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1"/>
                <a:t>B</a:t>
              </a:r>
            </a:p>
          </p:txBody>
        </p:sp>
        <p:graphicFrame>
          <p:nvGraphicFramePr>
            <p:cNvPr id="963594" name="Object 10"/>
            <p:cNvGraphicFramePr>
              <a:graphicFrameLocks noChangeAspect="1"/>
            </p:cNvGraphicFramePr>
            <p:nvPr/>
          </p:nvGraphicFramePr>
          <p:xfrm>
            <a:off x="3734" y="858"/>
            <a:ext cx="1193" cy="8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5" imgW="6393180" imgH="4792980" progId="Word.Picture.8">
                    <p:embed/>
                  </p:oleObj>
                </mc:Choice>
                <mc:Fallback>
                  <p:oleObj name="Picture" r:id="rId5" imgW="6393180" imgH="4792980" progId="Word.Picture.8">
                    <p:embed/>
                    <p:pic>
                      <p:nvPicPr>
                        <p:cNvPr id="96359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3676" t="17297" r="12590" b="59882"/>
                        <a:stretch>
                          <a:fillRect/>
                        </a:stretch>
                      </p:blipFill>
                      <p:spPr bwMode="auto">
                        <a:xfrm>
                          <a:off x="3734" y="858"/>
                          <a:ext cx="1193" cy="8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3595" name="Object 11"/>
          <p:cNvGraphicFramePr>
            <a:graphicFrameLocks noChangeAspect="1"/>
          </p:cNvGraphicFramePr>
          <p:nvPr/>
        </p:nvGraphicFramePr>
        <p:xfrm>
          <a:off x="7707313" y="2103438"/>
          <a:ext cx="4079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7" imgW="6393180" imgH="4792980" progId="Word.Picture.8">
                  <p:embed/>
                </p:oleObj>
              </mc:Choice>
              <mc:Fallback>
                <p:oleObj name="Picture" r:id="rId7" imgW="6393180" imgH="4792980" progId="Word.Picture.8">
                  <p:embed/>
                  <p:pic>
                    <p:nvPicPr>
                      <p:cNvPr id="96359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6866" t="27832" r="18021" b="63225"/>
                      <a:stretch>
                        <a:fillRect/>
                      </a:stretch>
                    </p:blipFill>
                    <p:spPr bwMode="auto">
                      <a:xfrm>
                        <a:off x="7707313" y="2103438"/>
                        <a:ext cx="40798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2008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E1E7-CF37-7B16-9EE9-C9B6F259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net for backwards blocking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023D67-21EC-22F3-A7AF-A9CAADB16843}"/>
              </a:ext>
            </a:extLst>
          </p:cNvPr>
          <p:cNvSpPr/>
          <p:nvPr/>
        </p:nvSpPr>
        <p:spPr>
          <a:xfrm>
            <a:off x="457200" y="1702965"/>
            <a:ext cx="1658923" cy="1658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blicket?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101D93-E261-4EF0-0B47-D616D84DFF86}"/>
              </a:ext>
            </a:extLst>
          </p:cNvPr>
          <p:cNvSpPr/>
          <p:nvPr/>
        </p:nvSpPr>
        <p:spPr>
          <a:xfrm>
            <a:off x="3705138" y="1702964"/>
            <a:ext cx="1658923" cy="1658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 blicket?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916A59-12DA-5F53-49EA-9BA90395BB3A}"/>
              </a:ext>
            </a:extLst>
          </p:cNvPr>
          <p:cNvSpPr/>
          <p:nvPr/>
        </p:nvSpPr>
        <p:spPr>
          <a:xfrm>
            <a:off x="2047962" y="4044892"/>
            <a:ext cx="1852919" cy="18529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Detector active?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1CF6E5B-5C7E-0DC8-3374-1991F8C51524}"/>
              </a:ext>
            </a:extLst>
          </p:cNvPr>
          <p:cNvCxnSpPr>
            <a:cxnSpLocks/>
            <a:stCxn id="4" idx="4"/>
            <a:endCxn id="6" idx="1"/>
          </p:cNvCxnSpPr>
          <p:nvPr/>
        </p:nvCxnSpPr>
        <p:spPr>
          <a:xfrm>
            <a:off x="1286662" y="3361888"/>
            <a:ext cx="1032654" cy="954358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A87EB1-0D18-809F-33CD-5196CD6A4444}"/>
              </a:ext>
            </a:extLst>
          </p:cNvPr>
          <p:cNvCxnSpPr>
            <a:cxnSpLocks/>
            <a:stCxn id="5" idx="4"/>
            <a:endCxn id="6" idx="7"/>
          </p:cNvCxnSpPr>
          <p:nvPr/>
        </p:nvCxnSpPr>
        <p:spPr>
          <a:xfrm flipH="1">
            <a:off x="3629527" y="3361887"/>
            <a:ext cx="905073" cy="954359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C54563E-B49F-5821-8982-97EAEC9B4560}"/>
              </a:ext>
            </a:extLst>
          </p:cNvPr>
          <p:cNvSpPr txBox="1"/>
          <p:nvPr/>
        </p:nvSpPr>
        <p:spPr>
          <a:xfrm>
            <a:off x="5674454" y="1936131"/>
            <a:ext cx="3154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“causes” for the detector activating are whatever objects are put on it that trial.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Minor note: </a:t>
            </a:r>
          </a:p>
          <a:p>
            <a:r>
              <a:rPr lang="en-US" sz="2400" dirty="0"/>
              <a:t>Slightly different Bayes nets between trials.</a:t>
            </a:r>
          </a:p>
        </p:txBody>
      </p:sp>
    </p:spTree>
    <p:extLst>
      <p:ext uri="{BB962C8B-B14F-4D97-AF65-F5344CB8AC3E}">
        <p14:creationId xmlns:p14="http://schemas.microsoft.com/office/powerpoint/2010/main" val="1450667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dirty="0"/>
              <a:t>Manipulating prior probability</a:t>
            </a:r>
            <a:br>
              <a:rPr lang="en-US" dirty="0"/>
            </a:br>
            <a:r>
              <a:rPr lang="en-US" sz="2800" dirty="0"/>
              <a:t>(Griffiths, </a:t>
            </a:r>
            <a:r>
              <a:rPr lang="en-US" sz="2800" dirty="0" err="1"/>
              <a:t>Sobel</a:t>
            </a:r>
            <a:r>
              <a:rPr lang="en-US" sz="2800" dirty="0"/>
              <a:t>, Tenenbaum, &amp; </a:t>
            </a:r>
            <a:r>
              <a:rPr lang="en-US" sz="2800" dirty="0" err="1"/>
              <a:t>Gopnik</a:t>
            </a:r>
            <a:r>
              <a:rPr lang="en-US" sz="2800" dirty="0"/>
              <a:t>, 2011)</a:t>
            </a:r>
          </a:p>
        </p:txBody>
      </p:sp>
      <p:graphicFrame>
        <p:nvGraphicFramePr>
          <p:cNvPr id="979971" name="Object 3"/>
          <p:cNvGraphicFramePr>
            <a:graphicFrameLocks noChangeAspect="1"/>
          </p:cNvGraphicFramePr>
          <p:nvPr/>
        </p:nvGraphicFramePr>
        <p:xfrm>
          <a:off x="3381375" y="4692650"/>
          <a:ext cx="4356100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393180" imgH="4792980" progId="Word.Picture.8">
                  <p:embed/>
                </p:oleObj>
              </mc:Choice>
              <mc:Fallback>
                <p:oleObj name="Picture" r:id="rId3" imgW="6393180" imgH="4792980" progId="Word.Picture.8">
                  <p:embed/>
                  <p:pic>
                    <p:nvPicPr>
                      <p:cNvPr id="9799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676" t="59888" r="41734" b="15807"/>
                      <a:stretch>
                        <a:fillRect/>
                      </a:stretch>
                    </p:blipFill>
                    <p:spPr bwMode="auto">
                      <a:xfrm>
                        <a:off x="3381375" y="4692650"/>
                        <a:ext cx="4356100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9972" name="Rectangle 4"/>
          <p:cNvSpPr>
            <a:spLocks noChangeArrowheads="1"/>
          </p:cNvSpPr>
          <p:nvPr/>
        </p:nvSpPr>
        <p:spPr bwMode="auto">
          <a:xfrm>
            <a:off x="3978275" y="6105525"/>
            <a:ext cx="127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AB Trial</a:t>
            </a:r>
            <a:endParaRPr lang="en-US" i="1"/>
          </a:p>
        </p:txBody>
      </p:sp>
      <p:sp>
        <p:nvSpPr>
          <p:cNvPr id="979973" name="Rectangle 5"/>
          <p:cNvSpPr>
            <a:spLocks noChangeArrowheads="1"/>
          </p:cNvSpPr>
          <p:nvPr/>
        </p:nvSpPr>
        <p:spPr bwMode="auto">
          <a:xfrm>
            <a:off x="6245225" y="6073775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 Trial</a:t>
            </a:r>
            <a:endParaRPr lang="en-US" i="1"/>
          </a:p>
        </p:txBody>
      </p:sp>
      <p:graphicFrame>
        <p:nvGraphicFramePr>
          <p:cNvPr id="979974" name="Object 6"/>
          <p:cNvGraphicFramePr>
            <a:graphicFrameLocks noChangeAspect="1"/>
          </p:cNvGraphicFramePr>
          <p:nvPr/>
        </p:nvGraphicFramePr>
        <p:xfrm>
          <a:off x="1468438" y="4860925"/>
          <a:ext cx="1893887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393180" imgH="4792980" progId="Word.Picture.8">
                  <p:embed/>
                </p:oleObj>
              </mc:Choice>
              <mc:Fallback>
                <p:oleObj name="Picture" r:id="rId3" imgW="6393180" imgH="4792980" progId="Word.Picture.8">
                  <p:embed/>
                  <p:pic>
                    <p:nvPicPr>
                      <p:cNvPr id="9799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3676" t="17297" r="12590" b="59882"/>
                      <a:stretch>
                        <a:fillRect/>
                      </a:stretch>
                    </p:blipFill>
                    <p:spPr bwMode="auto">
                      <a:xfrm>
                        <a:off x="1468438" y="4860925"/>
                        <a:ext cx="1893887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9975" name="Rectangle 7"/>
          <p:cNvSpPr>
            <a:spLocks noChangeArrowheads="1"/>
          </p:cNvSpPr>
          <p:nvPr/>
        </p:nvSpPr>
        <p:spPr bwMode="auto">
          <a:xfrm>
            <a:off x="1800225" y="6086475"/>
            <a:ext cx="912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Initial</a:t>
            </a:r>
          </a:p>
        </p:txBody>
      </p:sp>
      <p:graphicFrame>
        <p:nvGraphicFramePr>
          <p:cNvPr id="979976" name="Object 8"/>
          <p:cNvGraphicFramePr>
            <a:graphicFrameLocks noChangeAspect="1"/>
          </p:cNvGraphicFramePr>
          <p:nvPr/>
        </p:nvGraphicFramePr>
        <p:xfrm>
          <a:off x="2546350" y="5483225"/>
          <a:ext cx="5207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393180" imgH="4792980" progId="Word.Picture.8">
                  <p:embed/>
                </p:oleObj>
              </mc:Choice>
              <mc:Fallback>
                <p:oleObj name="Picture" r:id="rId3" imgW="6393180" imgH="4792980" progId="Word.Picture.8">
                  <p:embed/>
                  <p:pic>
                    <p:nvPicPr>
                      <p:cNvPr id="9799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6003" t="27832" r="27470" b="63597"/>
                      <a:stretch>
                        <a:fillRect/>
                      </a:stretch>
                    </p:blipFill>
                    <p:spPr bwMode="auto">
                      <a:xfrm>
                        <a:off x="2546350" y="5483225"/>
                        <a:ext cx="5207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77" name="Object 9"/>
          <p:cNvGraphicFramePr>
            <a:graphicFrameLocks noChangeAspect="1"/>
          </p:cNvGraphicFramePr>
          <p:nvPr/>
        </p:nvGraphicFramePr>
        <p:xfrm>
          <a:off x="4595813" y="5292725"/>
          <a:ext cx="3984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393180" imgH="4792980" progId="Word.Picture.8">
                  <p:embed/>
                </p:oleObj>
              </mc:Choice>
              <mc:Fallback>
                <p:oleObj name="Picture" r:id="rId3" imgW="6393180" imgH="4792980" progId="Word.Picture.8">
                  <p:embed/>
                  <p:pic>
                    <p:nvPicPr>
                      <p:cNvPr id="9799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6461" t="28046" r="28545" b="65056"/>
                      <a:stretch>
                        <a:fillRect/>
                      </a:stretch>
                    </p:blipFill>
                    <p:spPr bwMode="auto">
                      <a:xfrm>
                        <a:off x="4595813" y="5292725"/>
                        <a:ext cx="3984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78" name="Object 10"/>
          <p:cNvGraphicFramePr>
            <a:graphicFrameLocks noChangeAspect="1"/>
          </p:cNvGraphicFramePr>
          <p:nvPr/>
        </p:nvGraphicFramePr>
        <p:xfrm>
          <a:off x="7507288" y="5630863"/>
          <a:ext cx="3984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8" imgW="6393180" imgH="4792980" progId="Word.Picture.8">
                  <p:embed/>
                </p:oleObj>
              </mc:Choice>
              <mc:Fallback>
                <p:oleObj name="Picture" r:id="rId8" imgW="6393180" imgH="4792980" progId="Word.Picture.8">
                  <p:embed/>
                  <p:pic>
                    <p:nvPicPr>
                      <p:cNvPr id="9799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6461" t="28046" r="28545" b="65056"/>
                      <a:stretch>
                        <a:fillRect/>
                      </a:stretch>
                    </p:blipFill>
                    <p:spPr bwMode="auto">
                      <a:xfrm>
                        <a:off x="7507288" y="5630863"/>
                        <a:ext cx="3984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79979" name="Picture 11" descr="Expt1a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0750" y="1508125"/>
            <a:ext cx="10715625" cy="33845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975556" y="1508125"/>
            <a:ext cx="6956406" cy="318452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747203" y="1508125"/>
            <a:ext cx="6956406" cy="318452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482354" y="1535290"/>
            <a:ext cx="6956406" cy="318452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6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7792A-AD4E-DBC3-7BC4-A90E354B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3EE5B-DAFC-3729-9A66-EF5D8A8F2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Bayesian Networks</a:t>
            </a:r>
          </a:p>
          <a:p>
            <a:r>
              <a:rPr lang="en-US" dirty="0"/>
              <a:t>Causal Bayesian Networks</a:t>
            </a:r>
          </a:p>
          <a:p>
            <a:r>
              <a:rPr lang="en-US" dirty="0"/>
              <a:t>Introduction to Information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Elijah presenting </a:t>
            </a:r>
            <a:r>
              <a:rPr lang="en-US" dirty="0" err="1"/>
              <a:t>Lagnado</a:t>
            </a:r>
            <a:r>
              <a:rPr lang="en-US" dirty="0"/>
              <a:t> &amp; Sloman (2002)</a:t>
            </a:r>
          </a:p>
          <a:p>
            <a:pPr lvl="1"/>
            <a:r>
              <a:rPr lang="en-US" dirty="0" err="1"/>
              <a:t>Yinsu</a:t>
            </a:r>
            <a:r>
              <a:rPr lang="en-US" dirty="0"/>
              <a:t> presenting Tenenbaum &amp; Griffiths (2001)</a:t>
            </a:r>
          </a:p>
        </p:txBody>
      </p:sp>
    </p:spTree>
    <p:extLst>
      <p:ext uri="{BB962C8B-B14F-4D97-AF65-F5344CB8AC3E}">
        <p14:creationId xmlns:p14="http://schemas.microsoft.com/office/powerpoint/2010/main" val="2814440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6501"/>
            <a:ext cx="8229600" cy="902814"/>
          </a:xfrm>
        </p:spPr>
        <p:txBody>
          <a:bodyPr>
            <a:normAutofit/>
          </a:bodyPr>
          <a:lstStyle/>
          <a:p>
            <a:r>
              <a:rPr lang="en-US" dirty="0"/>
              <a:t>Causality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385" y="939316"/>
            <a:ext cx="8943552" cy="5453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Asymmetric relation between variables:</a:t>
            </a:r>
          </a:p>
          <a:p>
            <a:pPr marL="0" indent="0">
              <a:buNone/>
            </a:pPr>
            <a:r>
              <a:rPr lang="en-US" dirty="0"/>
              <a:t>	A cause brings about an effect via a mechanism.</a:t>
            </a:r>
          </a:p>
          <a:p>
            <a:pPr marL="0" indent="0">
              <a:buNone/>
            </a:pPr>
            <a:r>
              <a:rPr lang="en-US" dirty="0"/>
              <a:t>Defining these terms is very very tricky...</a:t>
            </a:r>
          </a:p>
          <a:p>
            <a:pPr marL="0" indent="0">
              <a:buNone/>
            </a:pPr>
            <a:r>
              <a:rPr lang="en-US" dirty="0"/>
              <a:t>But, it is critical, pervasive, and domain-general:</a:t>
            </a:r>
          </a:p>
          <a:p>
            <a:pPr lvl="1"/>
            <a:r>
              <a:rPr lang="en-US" dirty="0"/>
              <a:t>The cue ball causes the 8-ball to move</a:t>
            </a:r>
          </a:p>
          <a:p>
            <a:pPr lvl="1"/>
            <a:r>
              <a:rPr lang="en-US" dirty="0"/>
              <a:t>Hot stoves cause burned fingers</a:t>
            </a:r>
          </a:p>
          <a:p>
            <a:pPr lvl="1"/>
            <a:r>
              <a:rPr lang="en-US" dirty="0"/>
              <a:t>Incitement causes violence</a:t>
            </a:r>
          </a:p>
          <a:p>
            <a:pPr lvl="1"/>
            <a:r>
              <a:rPr lang="en-US" dirty="0"/>
              <a:t>Slavery caused the civil war</a:t>
            </a:r>
          </a:p>
          <a:p>
            <a:pPr lvl="1"/>
            <a:r>
              <a:rPr lang="en-US" dirty="0"/>
              <a:t>Smoking causes lung cancer</a:t>
            </a:r>
          </a:p>
          <a:p>
            <a:pPr lvl="1"/>
            <a:r>
              <a:rPr lang="en-US" dirty="0"/>
              <a:t>Genes cause eye color</a:t>
            </a:r>
          </a:p>
        </p:txBody>
      </p:sp>
    </p:spTree>
    <p:extLst>
      <p:ext uri="{BB962C8B-B14F-4D97-AF65-F5344CB8AC3E}">
        <p14:creationId xmlns:p14="http://schemas.microsoft.com/office/powerpoint/2010/main" val="398318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2018" y="1071613"/>
            <a:ext cx="5822480" cy="5371301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dirty="0">
                <a:latin typeface="Times" charset="0"/>
                <a:ea typeface="ＭＳ Ｐゴシック" charset="0"/>
                <a:cs typeface="ＭＳ Ｐゴシック" charset="0"/>
              </a:rPr>
              <a:t>An evidential relation:  Having yellow teeth is correlated with lung cancer.</a:t>
            </a:r>
          </a:p>
          <a:p>
            <a:pPr eaLnBrk="1" hangingPunct="1">
              <a:buFontTx/>
              <a:buNone/>
            </a:pPr>
            <a:endParaRPr lang="en-US" dirty="0">
              <a:latin typeface="Time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Tx/>
              <a:buNone/>
            </a:pPr>
            <a:r>
              <a:rPr lang="en-US" dirty="0">
                <a:latin typeface="Times" charset="0"/>
                <a:ea typeface="ＭＳ Ｐゴシック" charset="0"/>
                <a:cs typeface="ＭＳ Ｐゴシック" charset="0"/>
              </a:rPr>
              <a:t>Therefore, you should whiten your teeth to lower the probability of getting lung cancer.</a:t>
            </a:r>
          </a:p>
          <a:p>
            <a:pPr eaLnBrk="1" hangingPunct="1">
              <a:buFontTx/>
              <a:buNone/>
            </a:pPr>
            <a:endParaRPr lang="en-US" dirty="0">
              <a:latin typeface="Time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Tx/>
              <a:buNone/>
            </a:pPr>
            <a:r>
              <a:rPr lang="en-US" dirty="0">
                <a:latin typeface="Times" charset="0"/>
                <a:ea typeface="ＭＳ Ｐゴシック" charset="0"/>
                <a:cs typeface="ＭＳ Ｐゴシック" charset="0"/>
              </a:rPr>
              <a:t>What’s wrong with this argument?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6501"/>
            <a:ext cx="8229600" cy="902814"/>
          </a:xfrm>
        </p:spPr>
        <p:txBody>
          <a:bodyPr>
            <a:normAutofit/>
          </a:bodyPr>
          <a:lstStyle/>
          <a:p>
            <a:r>
              <a:rPr lang="en-US"/>
              <a:t>A quick word on causality...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3099C4-4F0A-4344-860D-D13AB3019803}"/>
              </a:ext>
            </a:extLst>
          </p:cNvPr>
          <p:cNvGrpSpPr/>
          <p:nvPr/>
        </p:nvGrpSpPr>
        <p:grpSpPr>
          <a:xfrm>
            <a:off x="5858789" y="1291027"/>
            <a:ext cx="3036951" cy="2466236"/>
            <a:chOff x="5858789" y="1291027"/>
            <a:chExt cx="3036951" cy="246623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83C3B7E1-0058-4F49-A672-123A8AC3B83B}"/>
                </a:ext>
              </a:extLst>
            </p:cNvPr>
            <p:cNvSpPr/>
            <p:nvPr/>
          </p:nvSpPr>
          <p:spPr>
            <a:xfrm>
              <a:off x="6561594" y="1291027"/>
              <a:ext cx="1682141" cy="898729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Smoking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173C072-924D-C641-9615-60003DA8B5F2}"/>
                </a:ext>
              </a:extLst>
            </p:cNvPr>
            <p:cNvSpPr/>
            <p:nvPr/>
          </p:nvSpPr>
          <p:spPr>
            <a:xfrm>
              <a:off x="5858789" y="2874161"/>
              <a:ext cx="1304011" cy="883102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Lung Cancer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FF33CCA-26F9-A440-82F4-36ECF6925628}"/>
                </a:ext>
              </a:extLst>
            </p:cNvPr>
            <p:cNvSpPr/>
            <p:nvPr/>
          </p:nvSpPr>
          <p:spPr>
            <a:xfrm>
              <a:off x="7591729" y="2874161"/>
              <a:ext cx="1304011" cy="883102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Yellow Teeth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823A946-C54D-3E49-A60B-4D75A8CE8958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>
            <a:xfrm flipH="1">
              <a:off x="6510795" y="2189756"/>
              <a:ext cx="891870" cy="6844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5888069-E7B9-3249-A0EF-EFFDE3563CD1}"/>
                </a:ext>
              </a:extLst>
            </p:cNvPr>
            <p:cNvCxnSpPr>
              <a:stCxn id="4" idx="2"/>
              <a:endCxn id="8" idx="0"/>
            </p:cNvCxnSpPr>
            <p:nvPr/>
          </p:nvCxnSpPr>
          <p:spPr>
            <a:xfrm>
              <a:off x="7402665" y="2189756"/>
              <a:ext cx="841070" cy="6844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Cross 11">
            <a:extLst>
              <a:ext uri="{FF2B5EF4-FFF2-40B4-BE49-F238E27FC236}">
                <a16:creationId xmlns:a16="http://schemas.microsoft.com/office/drawing/2014/main" id="{A1B27575-07D6-0345-BA08-DCE675F8FD46}"/>
              </a:ext>
            </a:extLst>
          </p:cNvPr>
          <p:cNvSpPr/>
          <p:nvPr/>
        </p:nvSpPr>
        <p:spPr>
          <a:xfrm rot="2700000">
            <a:off x="7876212" y="2979955"/>
            <a:ext cx="671513" cy="671513"/>
          </a:xfrm>
          <a:prstGeom prst="plus">
            <a:avLst>
              <a:gd name="adj" fmla="val 420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B5BE25-F91F-43F0-B609-D33CF88444C4}"/>
              </a:ext>
            </a:extLst>
          </p:cNvPr>
          <p:cNvGrpSpPr/>
          <p:nvPr/>
        </p:nvGrpSpPr>
        <p:grpSpPr>
          <a:xfrm>
            <a:off x="5898554" y="4069745"/>
            <a:ext cx="3036951" cy="2466236"/>
            <a:chOff x="5898554" y="4069745"/>
            <a:chExt cx="3036951" cy="246623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655EDB4-5DC2-4E1E-933E-BC2707F65747}"/>
                </a:ext>
              </a:extLst>
            </p:cNvPr>
            <p:cNvGrpSpPr/>
            <p:nvPr/>
          </p:nvGrpSpPr>
          <p:grpSpPr>
            <a:xfrm>
              <a:off x="5898554" y="4069745"/>
              <a:ext cx="3036951" cy="2466236"/>
              <a:chOff x="5858789" y="1291027"/>
              <a:chExt cx="3036951" cy="2466236"/>
            </a:xfrm>
          </p:grpSpPr>
          <p:sp>
            <p:nvSpPr>
              <p:cNvPr id="14" name="Rounded Rectangle 3">
                <a:extLst>
                  <a:ext uri="{FF2B5EF4-FFF2-40B4-BE49-F238E27FC236}">
                    <a16:creationId xmlns:a16="http://schemas.microsoft.com/office/drawing/2014/main" id="{2A9443BF-BF06-41FE-90C6-4435F6833FFD}"/>
                  </a:ext>
                </a:extLst>
              </p:cNvPr>
              <p:cNvSpPr/>
              <p:nvPr/>
            </p:nvSpPr>
            <p:spPr>
              <a:xfrm>
                <a:off x="6561594" y="1291027"/>
                <a:ext cx="1682141" cy="898729"/>
              </a:xfrm>
              <a:prstGeom prst="roundRect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Smoking</a:t>
                </a:r>
              </a:p>
            </p:txBody>
          </p:sp>
          <p:sp>
            <p:nvSpPr>
              <p:cNvPr id="15" name="Rounded Rectangle 6">
                <a:extLst>
                  <a:ext uri="{FF2B5EF4-FFF2-40B4-BE49-F238E27FC236}">
                    <a16:creationId xmlns:a16="http://schemas.microsoft.com/office/drawing/2014/main" id="{BCE4F0C6-88B3-482F-A6FC-5EF906993216}"/>
                  </a:ext>
                </a:extLst>
              </p:cNvPr>
              <p:cNvSpPr/>
              <p:nvPr/>
            </p:nvSpPr>
            <p:spPr>
              <a:xfrm>
                <a:off x="5858789" y="2874161"/>
                <a:ext cx="1304011" cy="883102"/>
              </a:xfrm>
              <a:prstGeom prst="roundRect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Lung Cancer</a:t>
                </a:r>
              </a:p>
            </p:txBody>
          </p:sp>
          <p:sp>
            <p:nvSpPr>
              <p:cNvPr id="16" name="Rounded Rectangle 7">
                <a:extLst>
                  <a:ext uri="{FF2B5EF4-FFF2-40B4-BE49-F238E27FC236}">
                    <a16:creationId xmlns:a16="http://schemas.microsoft.com/office/drawing/2014/main" id="{D8920951-50E8-4B6A-A56E-6004D5D94F31}"/>
                  </a:ext>
                </a:extLst>
              </p:cNvPr>
              <p:cNvSpPr/>
              <p:nvPr/>
            </p:nvSpPr>
            <p:spPr>
              <a:xfrm>
                <a:off x="7591729" y="2874161"/>
                <a:ext cx="1304011" cy="883102"/>
              </a:xfrm>
              <a:prstGeom prst="roundRect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Yellow Teeth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C9C56A7-23D5-4A57-BA53-2C3D1D5D6C93}"/>
                  </a:ext>
                </a:extLst>
              </p:cNvPr>
              <p:cNvCxnSpPr>
                <a:cxnSpLocks/>
                <a:stCxn id="14" idx="2"/>
                <a:endCxn id="15" idx="0"/>
              </p:cNvCxnSpPr>
              <p:nvPr/>
            </p:nvCxnSpPr>
            <p:spPr>
              <a:xfrm flipH="1">
                <a:off x="6510795" y="2189756"/>
                <a:ext cx="891870" cy="68440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07AEC56D-DB94-4404-9536-2EE8233D6E0D}"/>
                  </a:ext>
                </a:extLst>
              </p:cNvPr>
              <p:cNvCxnSpPr>
                <a:stCxn id="14" idx="2"/>
                <a:endCxn id="16" idx="0"/>
              </p:cNvCxnSpPr>
              <p:nvPr/>
            </p:nvCxnSpPr>
            <p:spPr>
              <a:xfrm>
                <a:off x="7402665" y="2189756"/>
                <a:ext cx="841070" cy="68440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FF4CD0B1-FCA3-4D5E-8497-8813DD4A88E9}"/>
                </a:ext>
              </a:extLst>
            </p:cNvPr>
            <p:cNvSpPr/>
            <p:nvPr/>
          </p:nvSpPr>
          <p:spPr>
            <a:xfrm rot="2700000">
              <a:off x="7093435" y="4208821"/>
              <a:ext cx="671513" cy="671513"/>
            </a:xfrm>
            <a:prstGeom prst="plus">
              <a:avLst>
                <a:gd name="adj" fmla="val 42021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56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3024188" y="530813"/>
            <a:ext cx="3340100" cy="2628900"/>
          </a:xfrm>
          <a:prstGeom prst="rect">
            <a:avLst/>
          </a:prstGeom>
          <a:solidFill>
            <a:srgbClr val="FF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 anchorCtr="1"/>
          <a:lstStyle/>
          <a:p>
            <a:pPr algn="ctr" eaLnBrk="1" hangingPunct="1"/>
            <a:r>
              <a:rPr lang="en-GB" dirty="0">
                <a:solidFill>
                  <a:srgbClr val="000000"/>
                </a:solidFill>
                <a:latin typeface="Calibri"/>
                <a:cs typeface="Calibri"/>
              </a:rPr>
              <a:t>Causal System in the World</a:t>
            </a:r>
            <a:endParaRPr lang="de-DE" dirty="0">
              <a:latin typeface="Calibri"/>
              <a:cs typeface="Calibri"/>
            </a:endParaRPr>
          </a:p>
          <a:p>
            <a:pPr algn="ctr" eaLnBrk="1" hangingPunct="1"/>
            <a:endParaRPr lang="de-DE" sz="1600" dirty="0"/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5838825" y="3121613"/>
            <a:ext cx="15462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800">
                <a:latin typeface="Calibri"/>
                <a:cs typeface="Calibri"/>
              </a:rPr>
              <a:t>The statistical relations are </a:t>
            </a:r>
            <a:br>
              <a:rPr lang="en-GB" sz="1800">
                <a:latin typeface="Calibri"/>
                <a:cs typeface="Calibri"/>
              </a:rPr>
            </a:br>
            <a:r>
              <a:rPr lang="en-GB" sz="1800">
                <a:latin typeface="Calibri"/>
                <a:cs typeface="Calibri"/>
              </a:rPr>
              <a:t>represented by</a:t>
            </a:r>
            <a:endParaRPr lang="de-DE" sz="1800">
              <a:latin typeface="Calibri"/>
              <a:cs typeface="Calibri"/>
            </a:endParaRPr>
          </a:p>
        </p:txBody>
      </p:sp>
      <p:sp>
        <p:nvSpPr>
          <p:cNvPr id="39940" name="AutoShape 4"/>
          <p:cNvSpPr>
            <a:spLocks noChangeArrowheads="1"/>
          </p:cNvSpPr>
          <p:nvPr/>
        </p:nvSpPr>
        <p:spPr bwMode="auto">
          <a:xfrm rot="16200000" flipV="1">
            <a:off x="3231356" y="3319257"/>
            <a:ext cx="922338" cy="527050"/>
          </a:xfrm>
          <a:prstGeom prst="rightArrow">
            <a:avLst>
              <a:gd name="adj1" fmla="val 50157"/>
              <a:gd name="adj2" fmla="val 57863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1676400" y="3121613"/>
            <a:ext cx="1828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causal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structure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represented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</a:b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39942" name="AutoShape 6"/>
          <p:cNvSpPr>
            <a:spLocks noChangeArrowheads="1"/>
          </p:cNvSpPr>
          <p:nvPr/>
        </p:nvSpPr>
        <p:spPr bwMode="auto">
          <a:xfrm rot="16200000" flipV="1">
            <a:off x="5207794" y="3297032"/>
            <a:ext cx="876300" cy="614362"/>
          </a:xfrm>
          <a:prstGeom prst="rightArrow">
            <a:avLst>
              <a:gd name="adj1" fmla="val 50157"/>
              <a:gd name="adj2" fmla="val 47162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39943" name="Group 7"/>
          <p:cNvGrpSpPr>
            <a:grpSpLocks/>
          </p:cNvGrpSpPr>
          <p:nvPr/>
        </p:nvGrpSpPr>
        <p:grpSpPr bwMode="auto">
          <a:xfrm>
            <a:off x="1143000" y="4036013"/>
            <a:ext cx="7038975" cy="2286000"/>
            <a:chOff x="512" y="6484"/>
            <a:chExt cx="8558" cy="2880"/>
          </a:xfrm>
        </p:grpSpPr>
        <p:sp>
          <p:nvSpPr>
            <p:cNvPr id="39946" name="Rectangle 8"/>
            <p:cNvSpPr>
              <a:spLocks noChangeArrowheads="1"/>
            </p:cNvSpPr>
            <p:nvPr/>
          </p:nvSpPr>
          <p:spPr bwMode="auto">
            <a:xfrm>
              <a:off x="512" y="6484"/>
              <a:ext cx="4064" cy="288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Ctr="1"/>
            <a:lstStyle/>
            <a:p>
              <a:pPr algn="ctr" eaLnBrk="1" hangingPunct="1"/>
              <a:r>
                <a:rPr lang="en-GB">
                  <a:latin typeface="Calibri"/>
                  <a:cs typeface="Calibri"/>
                </a:rPr>
                <a:t>Causal Model</a:t>
              </a:r>
              <a:br>
                <a:rPr lang="en-GB">
                  <a:latin typeface="Calibri"/>
                  <a:cs typeface="Calibri"/>
                </a:rPr>
              </a:br>
              <a:r>
                <a:rPr lang="en-GB">
                  <a:latin typeface="Calibri"/>
                  <a:cs typeface="Calibri"/>
                </a:rPr>
                <a:t>of a Causal System</a:t>
              </a:r>
              <a:endParaRPr lang="de-DE">
                <a:latin typeface="Calibri"/>
                <a:cs typeface="Calibri"/>
              </a:endParaRPr>
            </a:p>
          </p:txBody>
        </p:sp>
        <p:sp>
          <p:nvSpPr>
            <p:cNvPr id="39947" name="Rectangle 9"/>
            <p:cNvSpPr>
              <a:spLocks noChangeArrowheads="1"/>
            </p:cNvSpPr>
            <p:nvPr/>
          </p:nvSpPr>
          <p:spPr bwMode="auto">
            <a:xfrm>
              <a:off x="5237" y="6484"/>
              <a:ext cx="3833" cy="288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/>
            <a:p>
              <a:pPr algn="ctr" eaLnBrk="1" hangingPunct="1"/>
              <a:br>
                <a:rPr lang="en-GB">
                  <a:solidFill>
                    <a:srgbClr val="000000"/>
                  </a:solidFill>
                  <a:latin typeface="Calibri"/>
                  <a:cs typeface="Calibri"/>
                </a:rPr>
              </a:br>
              <a:r>
                <a:rPr lang="en-GB">
                  <a:solidFill>
                    <a:srgbClr val="000000"/>
                  </a:solidFill>
                  <a:latin typeface="Calibri"/>
                  <a:cs typeface="Calibri"/>
                </a:rPr>
                <a:t>Probability Model</a:t>
              </a:r>
            </a:p>
            <a:p>
              <a:pPr algn="ctr" eaLnBrk="1" hangingPunct="1"/>
              <a:endParaRPr lang="en-GB" i="1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en-GB" i="1">
                  <a:solidFill>
                    <a:srgbClr val="000000"/>
                  </a:solidFill>
                  <a:latin typeface="Calibri"/>
                  <a:cs typeface="Calibri"/>
                </a:rPr>
                <a:t>P</a:t>
              </a:r>
              <a:r>
                <a:rPr lang="en-GB">
                  <a:solidFill>
                    <a:srgbClr val="000000"/>
                  </a:solidFill>
                  <a:latin typeface="Calibri"/>
                  <a:cs typeface="Calibri"/>
                </a:rPr>
                <a:t>(A,B,C) = </a:t>
              </a:r>
              <a:r>
                <a:rPr lang="en-GB" i="1">
                  <a:solidFill>
                    <a:srgbClr val="000000"/>
                  </a:solidFill>
                  <a:latin typeface="Calibri"/>
                  <a:cs typeface="Calibri"/>
                </a:rPr>
                <a:t>P</a:t>
              </a:r>
              <a:r>
                <a:rPr lang="en-GB">
                  <a:solidFill>
                    <a:srgbClr val="000000"/>
                  </a:solidFill>
                  <a:latin typeface="Calibri"/>
                  <a:cs typeface="Calibri"/>
                </a:rPr>
                <a:t>(B|A)*</a:t>
              </a:r>
              <a:r>
                <a:rPr lang="en-GB" i="1">
                  <a:solidFill>
                    <a:srgbClr val="000000"/>
                  </a:solidFill>
                  <a:latin typeface="Calibri"/>
                  <a:cs typeface="Calibri"/>
                </a:rPr>
                <a:t>P</a:t>
              </a:r>
              <a:r>
                <a:rPr lang="en-GB">
                  <a:solidFill>
                    <a:srgbClr val="000000"/>
                  </a:solidFill>
                  <a:latin typeface="Calibri"/>
                  <a:cs typeface="Calibri"/>
                </a:rPr>
                <a:t>(C|A)*</a:t>
              </a:r>
              <a:br>
                <a:rPr lang="en-GB">
                  <a:solidFill>
                    <a:srgbClr val="000000"/>
                  </a:solidFill>
                  <a:latin typeface="Calibri"/>
                  <a:cs typeface="Calibri"/>
                </a:rPr>
              </a:br>
              <a:r>
                <a:rPr lang="en-GB" i="1">
                  <a:solidFill>
                    <a:srgbClr val="000000"/>
                  </a:solidFill>
                  <a:latin typeface="Calibri"/>
                  <a:cs typeface="Calibri"/>
                </a:rPr>
                <a:t>P</a:t>
              </a:r>
              <a:r>
                <a:rPr lang="en-GB">
                  <a:solidFill>
                    <a:srgbClr val="000000"/>
                  </a:solidFill>
                  <a:latin typeface="Calibri"/>
                  <a:cs typeface="Calibri"/>
                </a:rPr>
                <a:t>(A)</a:t>
              </a:r>
              <a:endParaRPr lang="de-DE">
                <a:latin typeface="Calibri"/>
                <a:cs typeface="Calibri"/>
              </a:endParaRPr>
            </a:p>
          </p:txBody>
        </p:sp>
        <p:sp>
          <p:nvSpPr>
            <p:cNvPr id="39948" name="Rectangle 10"/>
            <p:cNvSpPr>
              <a:spLocks noChangeArrowheads="1"/>
            </p:cNvSpPr>
            <p:nvPr/>
          </p:nvSpPr>
          <p:spPr bwMode="auto">
            <a:xfrm>
              <a:off x="1716" y="7444"/>
              <a:ext cx="1862" cy="5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46800" anchor="ctr" anchorCtr="1"/>
            <a:lstStyle/>
            <a:p>
              <a:pPr algn="ctr" eaLnBrk="1" hangingPunct="1"/>
              <a:r>
                <a:rPr lang="de-DE">
                  <a:solidFill>
                    <a:srgbClr val="000000"/>
                  </a:solidFill>
                  <a:latin typeface="Calibri"/>
                  <a:cs typeface="Calibri"/>
                </a:rPr>
                <a:t>DNA (A)</a:t>
              </a:r>
              <a:endParaRPr lang="de-DE">
                <a:latin typeface="Calibri"/>
                <a:cs typeface="Calibri"/>
              </a:endParaRPr>
            </a:p>
          </p:txBody>
        </p:sp>
        <p:sp>
          <p:nvSpPr>
            <p:cNvPr id="39949" name="Rectangle 11"/>
            <p:cNvSpPr>
              <a:spLocks noChangeArrowheads="1"/>
            </p:cNvSpPr>
            <p:nvPr/>
          </p:nvSpPr>
          <p:spPr bwMode="auto">
            <a:xfrm>
              <a:off x="2643" y="8788"/>
              <a:ext cx="1776" cy="5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46800" anchor="ctr" anchorCtr="1"/>
            <a:lstStyle/>
            <a:p>
              <a:pPr algn="ctr" eaLnBrk="1" hangingPunct="1"/>
              <a:r>
                <a:rPr lang="de-DE">
                  <a:solidFill>
                    <a:srgbClr val="000000"/>
                  </a:solidFill>
                  <a:latin typeface="Calibri"/>
                  <a:cs typeface="Calibri"/>
                </a:rPr>
                <a:t>Speed (C)</a:t>
              </a:r>
              <a:endParaRPr lang="de-DE">
                <a:latin typeface="Calibri"/>
                <a:cs typeface="Calibri"/>
              </a:endParaRPr>
            </a:p>
          </p:txBody>
        </p:sp>
        <p:sp>
          <p:nvSpPr>
            <p:cNvPr id="39950" name="Rectangle 12"/>
            <p:cNvSpPr>
              <a:spLocks noChangeArrowheads="1"/>
            </p:cNvSpPr>
            <p:nvPr/>
          </p:nvSpPr>
          <p:spPr bwMode="auto">
            <a:xfrm>
              <a:off x="790" y="8788"/>
              <a:ext cx="1630" cy="5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46800" anchor="ctr" anchorCtr="1"/>
            <a:lstStyle/>
            <a:p>
              <a:pPr algn="ctr" eaLnBrk="1" hangingPunct="1"/>
              <a:r>
                <a:rPr lang="de-DE">
                  <a:solidFill>
                    <a:srgbClr val="000000"/>
                  </a:solidFill>
                  <a:latin typeface="Calibri"/>
                  <a:cs typeface="Calibri"/>
                </a:rPr>
                <a:t>Fur (B)</a:t>
              </a:r>
              <a:endParaRPr lang="de-DE">
                <a:latin typeface="Calibri"/>
                <a:cs typeface="Calibri"/>
              </a:endParaRPr>
            </a:p>
          </p:txBody>
        </p:sp>
        <p:sp>
          <p:nvSpPr>
            <p:cNvPr id="39951" name="Line 13"/>
            <p:cNvSpPr>
              <a:spLocks noChangeShapeType="1"/>
            </p:cNvSpPr>
            <p:nvPr/>
          </p:nvSpPr>
          <p:spPr bwMode="auto">
            <a:xfrm flipH="1">
              <a:off x="1624" y="8020"/>
              <a:ext cx="72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>
                <a:latin typeface="Calibri"/>
                <a:cs typeface="Calibri"/>
              </a:endParaRPr>
            </a:p>
          </p:txBody>
        </p:sp>
        <p:sp>
          <p:nvSpPr>
            <p:cNvPr id="39952" name="Line 14"/>
            <p:cNvSpPr>
              <a:spLocks noChangeShapeType="1"/>
            </p:cNvSpPr>
            <p:nvPr/>
          </p:nvSpPr>
          <p:spPr bwMode="auto">
            <a:xfrm>
              <a:off x="3106" y="8020"/>
              <a:ext cx="54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>
                <a:latin typeface="Calibri"/>
                <a:cs typeface="Calibri"/>
              </a:endParaRPr>
            </a:p>
          </p:txBody>
        </p:sp>
        <p:sp>
          <p:nvSpPr>
            <p:cNvPr id="39953" name="AutoShape 15"/>
            <p:cNvSpPr>
              <a:spLocks noChangeArrowheads="1"/>
            </p:cNvSpPr>
            <p:nvPr/>
          </p:nvSpPr>
          <p:spPr bwMode="auto">
            <a:xfrm>
              <a:off x="4589" y="7540"/>
              <a:ext cx="720" cy="793"/>
            </a:xfrm>
            <a:prstGeom prst="rightArrow">
              <a:avLst>
                <a:gd name="adj1" fmla="val 50065"/>
                <a:gd name="adj2" fmla="val 3928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 sz="2000">
                <a:latin typeface="Calibri"/>
                <a:cs typeface="Calibri"/>
              </a:endParaRPr>
            </a:p>
          </p:txBody>
        </p:sp>
      </p:grpSp>
      <p:pic>
        <p:nvPicPr>
          <p:cNvPr id="39944" name="Picture 16" descr="j03323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911813"/>
            <a:ext cx="2444750" cy="189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5" name="Text Box 17"/>
          <p:cNvSpPr txBox="1">
            <a:spLocks noChangeArrowheads="1"/>
          </p:cNvSpPr>
          <p:nvPr/>
        </p:nvSpPr>
        <p:spPr bwMode="auto">
          <a:xfrm>
            <a:off x="352425" y="338726"/>
            <a:ext cx="2390775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Calibri"/>
                <a:cs typeface="Calibri"/>
              </a:rPr>
              <a:t>Bayes Nets as Causal Models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47741" y="6475840"/>
            <a:ext cx="679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(Pearl, 1988, 2000; </a:t>
            </a:r>
            <a:r>
              <a:rPr lang="en-US" dirty="0" err="1"/>
              <a:t>Spirtes</a:t>
            </a:r>
            <a:r>
              <a:rPr lang="en-US" dirty="0"/>
              <a:t>, </a:t>
            </a:r>
            <a:r>
              <a:rPr lang="en-US" dirty="0" err="1"/>
              <a:t>Glymour</a:t>
            </a:r>
            <a:r>
              <a:rPr lang="en-US" dirty="0"/>
              <a:t>, &amp; </a:t>
            </a:r>
            <a:r>
              <a:rPr lang="en-US" dirty="0" err="1"/>
              <a:t>Scheines</a:t>
            </a:r>
            <a:r>
              <a:rPr lang="en-US" dirty="0"/>
              <a:t>, 1993, </a:t>
            </a:r>
            <a:r>
              <a:rPr lang="en-US" dirty="0" err="1"/>
              <a:t>Sloman</a:t>
            </a:r>
            <a:r>
              <a:rPr lang="en-US" dirty="0"/>
              <a:t>, 2005)</a:t>
            </a:r>
          </a:p>
        </p:txBody>
      </p:sp>
    </p:spTree>
    <p:extLst>
      <p:ext uri="{BB962C8B-B14F-4D97-AF65-F5344CB8AC3E}">
        <p14:creationId xmlns:p14="http://schemas.microsoft.com/office/powerpoint/2010/main" val="2841662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" y="14572"/>
            <a:ext cx="9144000" cy="11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Limits of causation from mere observation:</a:t>
            </a:r>
          </a:p>
          <a:p>
            <a:r>
              <a:rPr lang="en-US" sz="3600" b="1" dirty="0"/>
              <a:t>Markov equivalence classes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65655" y="4099518"/>
            <a:ext cx="3630658" cy="2629675"/>
            <a:chOff x="4427870" y="4092031"/>
            <a:chExt cx="3630658" cy="2629675"/>
          </a:xfrm>
        </p:grpSpPr>
        <p:sp>
          <p:nvSpPr>
            <p:cNvPr id="18" name="Text Box 2"/>
            <p:cNvSpPr txBox="1">
              <a:spLocks noChangeArrowheads="1"/>
            </p:cNvSpPr>
            <p:nvPr/>
          </p:nvSpPr>
          <p:spPr bwMode="auto">
            <a:xfrm>
              <a:off x="6449108" y="4239821"/>
              <a:ext cx="1378857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19" name="Text Box 3"/>
            <p:cNvSpPr txBox="1">
              <a:spLocks noChangeArrowheads="1"/>
            </p:cNvSpPr>
            <p:nvPr/>
          </p:nvSpPr>
          <p:spPr bwMode="auto">
            <a:xfrm>
              <a:off x="6449107" y="5736228"/>
              <a:ext cx="1378857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20" name="Text Box 4"/>
            <p:cNvSpPr txBox="1">
              <a:spLocks noChangeArrowheads="1"/>
            </p:cNvSpPr>
            <p:nvPr/>
          </p:nvSpPr>
          <p:spPr bwMode="auto">
            <a:xfrm>
              <a:off x="4680231" y="4925621"/>
              <a:ext cx="1195387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24" name="Straight Arrow Connector 23"/>
            <p:cNvCxnSpPr>
              <a:stCxn id="20" idx="3"/>
              <a:endCxn id="18" idx="1"/>
            </p:cNvCxnSpPr>
            <p:nvPr/>
          </p:nvCxnSpPr>
          <p:spPr>
            <a:xfrm flipV="1">
              <a:off x="5875618" y="4582721"/>
              <a:ext cx="573490" cy="7239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0" idx="3"/>
              <a:endCxn id="19" idx="1"/>
            </p:cNvCxnSpPr>
            <p:nvPr/>
          </p:nvCxnSpPr>
          <p:spPr>
            <a:xfrm>
              <a:off x="5875618" y="5306621"/>
              <a:ext cx="573489" cy="81060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4427870" y="4092031"/>
              <a:ext cx="3630658" cy="2629675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035528" y="2120687"/>
            <a:ext cx="6004057" cy="1141664"/>
            <a:chOff x="2914388" y="2834917"/>
            <a:chExt cx="6004057" cy="1141664"/>
          </a:xfrm>
        </p:grpSpPr>
        <p:sp>
          <p:nvSpPr>
            <p:cNvPr id="29" name="Rounded Rectangle 28"/>
            <p:cNvSpPr/>
            <p:nvPr/>
          </p:nvSpPr>
          <p:spPr>
            <a:xfrm>
              <a:off x="2914388" y="2834917"/>
              <a:ext cx="6004057" cy="1141664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 Box 2"/>
            <p:cNvSpPr txBox="1">
              <a:spLocks noChangeArrowheads="1"/>
            </p:cNvSpPr>
            <p:nvPr/>
          </p:nvSpPr>
          <p:spPr bwMode="auto">
            <a:xfrm>
              <a:off x="3106825" y="3084570"/>
              <a:ext cx="1475356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41" name="Text Box 3"/>
            <p:cNvSpPr txBox="1">
              <a:spLocks noChangeArrowheads="1"/>
            </p:cNvSpPr>
            <p:nvPr/>
          </p:nvSpPr>
          <p:spPr bwMode="auto">
            <a:xfrm>
              <a:off x="7340456" y="2931334"/>
              <a:ext cx="1318102" cy="9798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42" name="Text Box 4"/>
            <p:cNvSpPr txBox="1">
              <a:spLocks noChangeArrowheads="1"/>
            </p:cNvSpPr>
            <p:nvPr/>
          </p:nvSpPr>
          <p:spPr bwMode="auto">
            <a:xfrm>
              <a:off x="5326275" y="3046470"/>
              <a:ext cx="1362196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48" name="Straight Arrow Connector 47"/>
            <p:cNvCxnSpPr>
              <a:cxnSpLocks/>
              <a:stCxn id="41" idx="1"/>
              <a:endCxn id="42" idx="3"/>
            </p:cNvCxnSpPr>
            <p:nvPr/>
          </p:nvCxnSpPr>
          <p:spPr>
            <a:xfrm flipH="1">
              <a:off x="6688471" y="3421267"/>
              <a:ext cx="651985" cy="62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42" idx="1"/>
              <a:endCxn id="40" idx="3"/>
            </p:cNvCxnSpPr>
            <p:nvPr/>
          </p:nvCxnSpPr>
          <p:spPr>
            <a:xfrm flipH="1">
              <a:off x="4582181" y="3427470"/>
              <a:ext cx="74409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1" y="1136386"/>
            <a:ext cx="891844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Get evidence of pairwise correlations between smoking, yellow teeth, and lung cancer. What can you infer?</a:t>
            </a:r>
          </a:p>
          <a:p>
            <a:endParaRPr lang="en-US" sz="2400" dirty="0"/>
          </a:p>
        </p:txBody>
      </p:sp>
      <p:pic>
        <p:nvPicPr>
          <p:cNvPr id="13" name="Picture 12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771" y="3418124"/>
            <a:ext cx="4356100" cy="317500"/>
          </a:xfrm>
          <a:prstGeom prst="rect">
            <a:avLst/>
          </a:prstGeom>
        </p:spPr>
      </p:pic>
      <p:pic>
        <p:nvPicPr>
          <p:cNvPr id="15" name="Picture 14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297" y="5452778"/>
            <a:ext cx="4356100" cy="3175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156591" y="3350920"/>
            <a:ext cx="1793892" cy="1200506"/>
            <a:chOff x="5156591" y="3350920"/>
            <a:chExt cx="1793892" cy="1200506"/>
          </a:xfrm>
        </p:grpSpPr>
        <p:pic>
          <p:nvPicPr>
            <p:cNvPr id="25" name="Picture 24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0196" y="4147706"/>
              <a:ext cx="1612900" cy="317500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5163791" y="4099518"/>
              <a:ext cx="1786692" cy="4519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156591" y="3350920"/>
              <a:ext cx="1786692" cy="4519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/>
            <p:cNvCxnSpPr>
              <a:stCxn id="36" idx="0"/>
              <a:endCxn id="37" idx="2"/>
            </p:cNvCxnSpPr>
            <p:nvPr/>
          </p:nvCxnSpPr>
          <p:spPr>
            <a:xfrm flipH="1" flipV="1">
              <a:off x="6049937" y="3802828"/>
              <a:ext cx="7200" cy="29669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816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" y="14572"/>
            <a:ext cx="9144000" cy="11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Limits of causation from mere observation:</a:t>
            </a:r>
          </a:p>
          <a:p>
            <a:r>
              <a:rPr lang="en-US" sz="3600" b="1" dirty="0"/>
              <a:t>Markov equivalence classes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65655" y="4099518"/>
            <a:ext cx="3630658" cy="2629675"/>
            <a:chOff x="4427870" y="4092031"/>
            <a:chExt cx="3630658" cy="2629675"/>
          </a:xfrm>
        </p:grpSpPr>
        <p:sp>
          <p:nvSpPr>
            <p:cNvPr id="18" name="Text Box 2"/>
            <p:cNvSpPr txBox="1">
              <a:spLocks noChangeArrowheads="1"/>
            </p:cNvSpPr>
            <p:nvPr/>
          </p:nvSpPr>
          <p:spPr bwMode="auto">
            <a:xfrm>
              <a:off x="6449108" y="4239821"/>
              <a:ext cx="1378857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19" name="Text Box 3"/>
            <p:cNvSpPr txBox="1">
              <a:spLocks noChangeArrowheads="1"/>
            </p:cNvSpPr>
            <p:nvPr/>
          </p:nvSpPr>
          <p:spPr bwMode="auto">
            <a:xfrm>
              <a:off x="6449107" y="5736228"/>
              <a:ext cx="1378857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20" name="Text Box 4"/>
            <p:cNvSpPr txBox="1">
              <a:spLocks noChangeArrowheads="1"/>
            </p:cNvSpPr>
            <p:nvPr/>
          </p:nvSpPr>
          <p:spPr bwMode="auto">
            <a:xfrm>
              <a:off x="4680231" y="4925621"/>
              <a:ext cx="1195387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24" name="Straight Arrow Connector 23"/>
            <p:cNvCxnSpPr>
              <a:stCxn id="20" idx="3"/>
              <a:endCxn id="18" idx="1"/>
            </p:cNvCxnSpPr>
            <p:nvPr/>
          </p:nvCxnSpPr>
          <p:spPr>
            <a:xfrm flipV="1">
              <a:off x="5875618" y="4582721"/>
              <a:ext cx="573490" cy="7239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0" idx="3"/>
              <a:endCxn id="19" idx="1"/>
            </p:cNvCxnSpPr>
            <p:nvPr/>
          </p:nvCxnSpPr>
          <p:spPr>
            <a:xfrm>
              <a:off x="5875618" y="5306621"/>
              <a:ext cx="573489" cy="81060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4427870" y="4092031"/>
              <a:ext cx="3630658" cy="2629675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29500" y="2000014"/>
            <a:ext cx="6004057" cy="1141664"/>
            <a:chOff x="2914388" y="1562574"/>
            <a:chExt cx="6004057" cy="1141664"/>
          </a:xfrm>
        </p:grpSpPr>
        <p:sp>
          <p:nvSpPr>
            <p:cNvPr id="5" name="Text Box 2"/>
            <p:cNvSpPr txBox="1">
              <a:spLocks noChangeArrowheads="1"/>
            </p:cNvSpPr>
            <p:nvPr/>
          </p:nvSpPr>
          <p:spPr bwMode="auto">
            <a:xfrm>
              <a:off x="3106825" y="1790506"/>
              <a:ext cx="1475356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7340456" y="1666569"/>
              <a:ext cx="1318102" cy="9197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326275" y="1752406"/>
              <a:ext cx="1362196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8" name="AutoShape 6"/>
            <p:cNvCxnSpPr>
              <a:cxnSpLocks noChangeShapeType="1"/>
              <a:stCxn id="7" idx="3"/>
              <a:endCxn id="6" idx="1"/>
            </p:cNvCxnSpPr>
            <p:nvPr/>
          </p:nvCxnSpPr>
          <p:spPr bwMode="auto">
            <a:xfrm flipV="1">
              <a:off x="6688471" y="2126447"/>
              <a:ext cx="651985" cy="69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7"/>
            <p:cNvCxnSpPr>
              <a:cxnSpLocks noChangeShapeType="1"/>
              <a:stCxn id="5" idx="3"/>
              <a:endCxn id="7" idx="1"/>
            </p:cNvCxnSpPr>
            <p:nvPr/>
          </p:nvCxnSpPr>
          <p:spPr bwMode="auto">
            <a:xfrm>
              <a:off x="4582181" y="2133406"/>
              <a:ext cx="74409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Rounded Rectangle 29"/>
            <p:cNvSpPr/>
            <p:nvPr/>
          </p:nvSpPr>
          <p:spPr>
            <a:xfrm>
              <a:off x="2914388" y="1562574"/>
              <a:ext cx="6004057" cy="1141664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" y="1136386"/>
            <a:ext cx="891844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Get evidence of pairwise correlations between smoking, yellow teeth, and lung cancer. What can you infer?</a:t>
            </a:r>
          </a:p>
          <a:p>
            <a:endParaRPr lang="en-US" sz="2400" dirty="0"/>
          </a:p>
        </p:txBody>
      </p:sp>
      <p:pic>
        <p:nvPicPr>
          <p:cNvPr id="14" name="Picture 1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497" y="3315979"/>
            <a:ext cx="4406900" cy="317500"/>
          </a:xfrm>
          <a:prstGeom prst="rect">
            <a:avLst/>
          </a:prstGeom>
        </p:spPr>
      </p:pic>
      <p:pic>
        <p:nvPicPr>
          <p:cNvPr id="15" name="Picture 14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297" y="5452778"/>
            <a:ext cx="4356100" cy="3175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6094106" y="3232419"/>
            <a:ext cx="1796201" cy="1132491"/>
            <a:chOff x="6094106" y="3232419"/>
            <a:chExt cx="1796201" cy="1132491"/>
          </a:xfrm>
        </p:grpSpPr>
        <p:sp>
          <p:nvSpPr>
            <p:cNvPr id="16" name="Rectangle 15"/>
            <p:cNvSpPr/>
            <p:nvPr/>
          </p:nvSpPr>
          <p:spPr>
            <a:xfrm>
              <a:off x="6094106" y="3232419"/>
              <a:ext cx="1786692" cy="4519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4233" y="3984774"/>
              <a:ext cx="1663700" cy="31750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6103615" y="3913002"/>
              <a:ext cx="1786692" cy="4519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/>
          <p:cNvCxnSpPr>
            <a:stCxn id="16" idx="2"/>
            <a:endCxn id="31" idx="0"/>
          </p:cNvCxnSpPr>
          <p:nvPr/>
        </p:nvCxnSpPr>
        <p:spPr>
          <a:xfrm>
            <a:off x="6987452" y="3684327"/>
            <a:ext cx="9509" cy="2286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53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685800" y="149335"/>
            <a:ext cx="7772400" cy="1259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Limits of causation from mere observation:</a:t>
            </a:r>
          </a:p>
          <a:p>
            <a:r>
              <a:rPr lang="en-US" sz="3600" b="1" dirty="0"/>
              <a:t>Markov equivalence classes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359893" y="1790506"/>
            <a:ext cx="147535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Yellow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Teeth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593524" y="1641659"/>
            <a:ext cx="1318102" cy="98005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Lung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Cancer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579343" y="1752406"/>
            <a:ext cx="1362196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Smoking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cxnSp>
        <p:nvCxnSpPr>
          <p:cNvPr id="8" name="AutoShape 6"/>
          <p:cNvCxnSpPr>
            <a:cxnSpLocks noChangeShapeType="1"/>
            <a:stCxn id="7" idx="3"/>
            <a:endCxn id="6" idx="1"/>
          </p:cNvCxnSpPr>
          <p:nvPr/>
        </p:nvCxnSpPr>
        <p:spPr bwMode="auto">
          <a:xfrm flipV="1">
            <a:off x="4941539" y="2131686"/>
            <a:ext cx="651985" cy="172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7"/>
          <p:cNvCxnSpPr>
            <a:cxnSpLocks noChangeShapeType="1"/>
            <a:stCxn id="5" idx="3"/>
            <a:endCxn id="7" idx="1"/>
          </p:cNvCxnSpPr>
          <p:nvPr/>
        </p:nvCxnSpPr>
        <p:spPr bwMode="auto">
          <a:xfrm>
            <a:off x="2835249" y="2133406"/>
            <a:ext cx="744094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4702176" y="4239821"/>
            <a:ext cx="1378857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Yellow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teeth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4702175" y="5736228"/>
            <a:ext cx="137885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Lung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Cancer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2933299" y="4925621"/>
            <a:ext cx="119538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Smoking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cxnSp>
        <p:nvCxnSpPr>
          <p:cNvPr id="24" name="Straight Arrow Connector 23"/>
          <p:cNvCxnSpPr>
            <a:stCxn id="20" idx="3"/>
            <a:endCxn id="18" idx="1"/>
          </p:cNvCxnSpPr>
          <p:nvPr/>
        </p:nvCxnSpPr>
        <p:spPr>
          <a:xfrm flipV="1">
            <a:off x="4128686" y="4582721"/>
            <a:ext cx="573490" cy="723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3"/>
            <a:endCxn id="19" idx="1"/>
          </p:cNvCxnSpPr>
          <p:nvPr/>
        </p:nvCxnSpPr>
        <p:spPr>
          <a:xfrm>
            <a:off x="4128686" y="5306621"/>
            <a:ext cx="573489" cy="8106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680938" y="4092031"/>
            <a:ext cx="3630658" cy="2629675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1167456" y="2834917"/>
            <a:ext cx="6004057" cy="114166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1167456" y="1562574"/>
            <a:ext cx="6004057" cy="114166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Box 2"/>
          <p:cNvSpPr txBox="1">
            <a:spLocks noChangeArrowheads="1"/>
          </p:cNvSpPr>
          <p:nvPr/>
        </p:nvSpPr>
        <p:spPr bwMode="auto">
          <a:xfrm>
            <a:off x="1359893" y="3084570"/>
            <a:ext cx="147535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Yellow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Teeth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41" name="Text Box 3"/>
          <p:cNvSpPr txBox="1">
            <a:spLocks noChangeArrowheads="1"/>
          </p:cNvSpPr>
          <p:nvPr/>
        </p:nvSpPr>
        <p:spPr bwMode="auto">
          <a:xfrm>
            <a:off x="5593524" y="2985109"/>
            <a:ext cx="1318102" cy="86445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Lung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Cancer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3579343" y="3046470"/>
            <a:ext cx="1362196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Smoking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cxnSp>
        <p:nvCxnSpPr>
          <p:cNvPr id="48" name="Straight Arrow Connector 47"/>
          <p:cNvCxnSpPr>
            <a:cxnSpLocks/>
            <a:stCxn id="41" idx="1"/>
            <a:endCxn id="42" idx="3"/>
          </p:cNvCxnSpPr>
          <p:nvPr/>
        </p:nvCxnSpPr>
        <p:spPr>
          <a:xfrm flipH="1">
            <a:off x="4941539" y="3417338"/>
            <a:ext cx="651985" cy="1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2" idx="1"/>
            <a:endCxn id="40" idx="3"/>
          </p:cNvCxnSpPr>
          <p:nvPr/>
        </p:nvCxnSpPr>
        <p:spPr>
          <a:xfrm flipH="1">
            <a:off x="2835249" y="3427470"/>
            <a:ext cx="74409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868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/>
                <a:ea typeface="ＭＳ Ｐゴシック" charset="0"/>
                <a:cs typeface="Calibri"/>
              </a:rPr>
              <a:t>The Logic of “Doing”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/>
            <a:endParaRPr lang="en-US">
              <a:latin typeface="Calibri"/>
              <a:ea typeface="ＭＳ Ｐゴシック" charset="0"/>
              <a:cs typeface="Calibri"/>
            </a:endParaRPr>
          </a:p>
          <a:p>
            <a:pPr eaLnBrk="1" hangingPunct="1"/>
            <a:endParaRPr lang="en-US">
              <a:latin typeface="Calibri"/>
              <a:ea typeface="ＭＳ Ｐゴシック" charset="0"/>
              <a:cs typeface="Calibri"/>
            </a:endParaRP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28600" y="2667000"/>
            <a:ext cx="8534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44488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lvl="1"/>
            <a:r>
              <a:rPr lang="en-US" u="sng">
                <a:latin typeface="Calibri"/>
                <a:cs typeface="Calibri"/>
              </a:rPr>
              <a:t>To calculate the causal effect of whitening teeth on lung cancer, first </a:t>
            </a:r>
            <a:r>
              <a:rPr lang="en-US" i="1" u="sng">
                <a:latin typeface="Calibri"/>
                <a:cs typeface="Calibri"/>
              </a:rPr>
              <a:t>do</a:t>
            </a:r>
            <a:r>
              <a:rPr lang="en-US" u="sng">
                <a:latin typeface="Calibri"/>
                <a:cs typeface="Calibri"/>
              </a:rPr>
              <a:t>(Tooth color = white)</a:t>
            </a:r>
            <a:r>
              <a:rPr lang="en-US">
                <a:latin typeface="Calibri"/>
                <a:cs typeface="Calibri"/>
              </a:rPr>
              <a:t>:</a:t>
            </a:r>
          </a:p>
          <a:p>
            <a:pPr lvl="1"/>
            <a:r>
              <a:rPr lang="en-US">
                <a:latin typeface="Calibri"/>
                <a:cs typeface="Calibri"/>
              </a:rPr>
              <a:t>	1. Set Tooth color to white.</a:t>
            </a:r>
          </a:p>
          <a:p>
            <a:pPr lvl="1"/>
            <a:r>
              <a:rPr lang="en-US">
                <a:latin typeface="Calibri"/>
                <a:cs typeface="Calibri"/>
              </a:rPr>
              <a:t>	2. Eliminate the causal links to it:</a:t>
            </a:r>
            <a:endParaRPr lang="en-US">
              <a:latin typeface="Calibri"/>
              <a:ea typeface="Times" charset="0"/>
              <a:cs typeface="Calibri"/>
            </a:endParaRP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4724400" y="2099322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sz="2000">
                <a:latin typeface="Calibri"/>
                <a:cs typeface="Calibri"/>
              </a:rPr>
              <a:t>Lung cancer</a:t>
            </a: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2781300" y="2133600"/>
            <a:ext cx="1752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sz="2000">
                <a:latin typeface="Calibri"/>
                <a:cs typeface="Calibri"/>
              </a:rPr>
              <a:t>Tooth color</a:t>
            </a:r>
          </a:p>
        </p:txBody>
      </p:sp>
      <p:cxnSp>
        <p:nvCxnSpPr>
          <p:cNvPr id="39943" name="AutoShape 7"/>
          <p:cNvCxnSpPr>
            <a:cxnSpLocks noChangeShapeType="1"/>
            <a:stCxn id="39944" idx="2"/>
            <a:endCxn id="39942" idx="0"/>
          </p:cNvCxnSpPr>
          <p:nvPr/>
        </p:nvCxnSpPr>
        <p:spPr bwMode="auto">
          <a:xfrm flipH="1">
            <a:off x="3657600" y="1676400"/>
            <a:ext cx="990600" cy="457200"/>
          </a:xfrm>
          <a:prstGeom prst="straightConnector1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3924300" y="1143000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sz="2000">
                <a:latin typeface="Calibri"/>
                <a:cs typeface="Calibri"/>
              </a:rPr>
              <a:t>Smoking</a:t>
            </a:r>
          </a:p>
        </p:txBody>
      </p:sp>
      <p:cxnSp>
        <p:nvCxnSpPr>
          <p:cNvPr id="39945" name="AutoShape 9"/>
          <p:cNvCxnSpPr>
            <a:cxnSpLocks noChangeShapeType="1"/>
            <a:stCxn id="39944" idx="2"/>
            <a:endCxn id="39941" idx="0"/>
          </p:cNvCxnSpPr>
          <p:nvPr/>
        </p:nvCxnSpPr>
        <p:spPr bwMode="auto">
          <a:xfrm>
            <a:off x="4648200" y="1676400"/>
            <a:ext cx="952500" cy="422922"/>
          </a:xfrm>
          <a:prstGeom prst="straightConnector1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4648200" y="5810816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sz="2000">
                <a:latin typeface="Calibri"/>
                <a:cs typeface="Calibri"/>
              </a:rPr>
              <a:t>Lung cancer</a:t>
            </a:r>
          </a:p>
        </p:txBody>
      </p:sp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2133600" y="5658416"/>
            <a:ext cx="1905000" cy="6858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sz="2000">
                <a:latin typeface="Calibri"/>
                <a:cs typeface="Calibri"/>
              </a:rPr>
              <a:t>Tooth color = white</a:t>
            </a:r>
          </a:p>
        </p:txBody>
      </p: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3657600" y="4896416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sz="2000">
                <a:latin typeface="Calibri"/>
                <a:cs typeface="Calibri"/>
              </a:rPr>
              <a:t>Smoking</a:t>
            </a:r>
          </a:p>
        </p:txBody>
      </p:sp>
      <p:cxnSp>
        <p:nvCxnSpPr>
          <p:cNvPr id="39949" name="AutoShape 13"/>
          <p:cNvCxnSpPr>
            <a:cxnSpLocks noChangeShapeType="1"/>
            <a:stCxn id="39948" idx="2"/>
            <a:endCxn id="39946" idx="0"/>
          </p:cNvCxnSpPr>
          <p:nvPr/>
        </p:nvCxnSpPr>
        <p:spPr bwMode="auto">
          <a:xfrm>
            <a:off x="4381500" y="5429816"/>
            <a:ext cx="1143000" cy="381000"/>
          </a:xfrm>
          <a:prstGeom prst="straightConnector1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1037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6" grpId="0"/>
      <p:bldP spid="39947" grpId="0" animBg="1"/>
      <p:bldP spid="399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457200" y="4397237"/>
            <a:ext cx="7848600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1031875" indent="-57467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dirty="0">
                <a:latin typeface="Calibri"/>
                <a:cs typeface="Calibri"/>
              </a:rPr>
              <a:t>  Pearl (2000) calls this a </a:t>
            </a:r>
            <a:r>
              <a:rPr lang="en-US" i="1" dirty="0">
                <a:latin typeface="Calibri"/>
                <a:cs typeface="Calibri"/>
              </a:rPr>
              <a:t>surgery</a:t>
            </a:r>
            <a:r>
              <a:rPr lang="en-US" dirty="0">
                <a:latin typeface="Calibri"/>
                <a:cs typeface="Calibri"/>
              </a:rPr>
              <a:t>.</a:t>
            </a:r>
          </a:p>
          <a:p>
            <a:pPr lvl="1"/>
            <a:r>
              <a:rPr lang="en-US" dirty="0">
                <a:latin typeface="Calibri"/>
                <a:ea typeface="Times" charset="0"/>
                <a:cs typeface="Calibri"/>
                <a:sym typeface="Wingdings" charset="0"/>
              </a:rPr>
              <a:t>P</a:t>
            </a:r>
            <a:r>
              <a:rPr lang="en-US" dirty="0">
                <a:latin typeface="Calibri"/>
                <a:ea typeface="Times" charset="0"/>
                <a:cs typeface="Calibri"/>
              </a:rPr>
              <a:t>eople </a:t>
            </a:r>
            <a:r>
              <a:rPr lang="en-US" dirty="0">
                <a:latin typeface="Calibri"/>
                <a:cs typeface="Calibri"/>
              </a:rPr>
              <a:t>represent </a:t>
            </a:r>
            <a:r>
              <a:rPr lang="en-US" i="1" dirty="0">
                <a:latin typeface="Calibri"/>
                <a:cs typeface="Calibri"/>
              </a:rPr>
              <a:t>autonomous mechanisms</a:t>
            </a:r>
            <a:r>
              <a:rPr lang="en-US" dirty="0">
                <a:latin typeface="Calibri"/>
                <a:cs typeface="Calibri"/>
              </a:rPr>
              <a:t> so that the effect of interventions can be isolated.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A causal model is an </a:t>
            </a:r>
            <a:r>
              <a:rPr lang="en-US" i="1" dirty="0">
                <a:latin typeface="Calibri"/>
                <a:cs typeface="Calibri"/>
              </a:rPr>
              <a:t>oracle for interventions</a:t>
            </a:r>
            <a:r>
              <a:rPr lang="en-US" dirty="0">
                <a:latin typeface="Calibri"/>
                <a:cs typeface="Calibri"/>
              </a:rPr>
              <a:t>.</a:t>
            </a:r>
          </a:p>
          <a:p>
            <a:pPr lvl="1"/>
            <a:endParaRPr lang="en-US" sz="1200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Now can distinguish between chains and common cause!</a:t>
            </a:r>
          </a:p>
          <a:p>
            <a:pPr lvl="1"/>
            <a:endParaRPr lang="en-US" dirty="0">
              <a:latin typeface="Calibri"/>
              <a:cs typeface="Calibri"/>
            </a:endParaRPr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228600" y="2819400"/>
            <a:ext cx="83820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lvl="1"/>
            <a:r>
              <a:rPr lang="en-US" dirty="0">
                <a:latin typeface="Calibri"/>
                <a:cs typeface="Calibri"/>
              </a:rPr>
              <a:t>We see that Lung cancer is unaffected by Tooth color, so</a:t>
            </a:r>
            <a:endParaRPr lang="en-US" sz="1200" dirty="0">
              <a:latin typeface="Calibri"/>
              <a:cs typeface="Calibri"/>
            </a:endParaRPr>
          </a:p>
          <a:p>
            <a:pPr lvl="1"/>
            <a:r>
              <a:rPr lang="en-US" sz="1200" dirty="0">
                <a:latin typeface="Times New Roman" charset="0"/>
                <a:cs typeface="Times" charset="0"/>
              </a:rPr>
              <a:t> </a:t>
            </a:r>
          </a:p>
          <a:p>
            <a:pPr lvl="1"/>
            <a:r>
              <a:rPr lang="en-US" dirty="0" err="1">
                <a:cs typeface="Times" charset="0"/>
              </a:rPr>
              <a:t>Pr</a:t>
            </a:r>
            <a:r>
              <a:rPr lang="en-US" dirty="0">
                <a:cs typeface="Times" charset="0"/>
              </a:rPr>
              <a:t>{Lung cancer = yes | </a:t>
            </a:r>
            <a:r>
              <a:rPr lang="en-US" i="1" u="sng" dirty="0">
                <a:ea typeface="Times" charset="0"/>
                <a:cs typeface="Times" charset="0"/>
              </a:rPr>
              <a:t>do</a:t>
            </a:r>
            <a:r>
              <a:rPr lang="en-US" u="sng" dirty="0">
                <a:ea typeface="Times" charset="0"/>
                <a:cs typeface="Times" charset="0"/>
              </a:rPr>
              <a:t>(Tooth color = white</a:t>
            </a:r>
            <a:r>
              <a:rPr lang="en-US" dirty="0">
                <a:cs typeface="Times" charset="0"/>
              </a:rPr>
              <a:t>)} </a:t>
            </a:r>
          </a:p>
          <a:p>
            <a:pPr lvl="1"/>
            <a:r>
              <a:rPr lang="en-US" dirty="0">
                <a:cs typeface="Times" charset="0"/>
              </a:rPr>
              <a:t>= </a:t>
            </a:r>
            <a:r>
              <a:rPr lang="en-US" dirty="0" err="1">
                <a:cs typeface="Times" charset="0"/>
              </a:rPr>
              <a:t>Pr</a:t>
            </a:r>
            <a:r>
              <a:rPr lang="en-US" dirty="0">
                <a:cs typeface="Times" charset="0"/>
              </a:rPr>
              <a:t>{</a:t>
            </a:r>
            <a:r>
              <a:rPr lang="en-US" dirty="0">
                <a:ea typeface="Times" charset="0"/>
                <a:cs typeface="Times" charset="0"/>
              </a:rPr>
              <a:t>Lung cancer = yes </a:t>
            </a:r>
            <a:r>
              <a:rPr lang="en-US" dirty="0">
                <a:cs typeface="Times" charset="0"/>
              </a:rPr>
              <a:t>}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4716382" y="1564853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sz="2000">
                <a:latin typeface="Calibri"/>
                <a:cs typeface="Calibri"/>
              </a:rPr>
              <a:t>Lung cancer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201782" y="1412453"/>
            <a:ext cx="1905000" cy="6858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DE" sz="2000">
                <a:latin typeface="Calibri"/>
                <a:cs typeface="Calibri"/>
              </a:rPr>
              <a:t>Tooth color = white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3725782" y="650453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de-DE" sz="2000">
                <a:latin typeface="Calibri"/>
                <a:cs typeface="Calibri"/>
              </a:rPr>
              <a:t>Smoking</a:t>
            </a:r>
          </a:p>
        </p:txBody>
      </p:sp>
      <p:cxnSp>
        <p:nvCxnSpPr>
          <p:cNvPr id="11" name="AutoShape 13"/>
          <p:cNvCxnSpPr>
            <a:cxnSpLocks noChangeShapeType="1"/>
            <a:stCxn id="10" idx="2"/>
            <a:endCxn id="8" idx="0"/>
          </p:cNvCxnSpPr>
          <p:nvPr/>
        </p:nvCxnSpPr>
        <p:spPr bwMode="auto">
          <a:xfrm>
            <a:off x="4449682" y="1183853"/>
            <a:ext cx="1143000" cy="381000"/>
          </a:xfrm>
          <a:prstGeom prst="straightConnector1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2897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" y="14572"/>
            <a:ext cx="9144000" cy="11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Limits of causation from mere observation:</a:t>
            </a:r>
          </a:p>
          <a:p>
            <a:r>
              <a:rPr lang="en-US" sz="3600" b="1" dirty="0"/>
              <a:t>Markov equivalence classes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067330" y="4108977"/>
            <a:ext cx="3630658" cy="2629675"/>
            <a:chOff x="4427870" y="4092031"/>
            <a:chExt cx="3630658" cy="2629675"/>
          </a:xfrm>
        </p:grpSpPr>
        <p:sp>
          <p:nvSpPr>
            <p:cNvPr id="18" name="Text Box 2"/>
            <p:cNvSpPr txBox="1">
              <a:spLocks noChangeArrowheads="1"/>
            </p:cNvSpPr>
            <p:nvPr/>
          </p:nvSpPr>
          <p:spPr bwMode="auto">
            <a:xfrm>
              <a:off x="6449108" y="4239821"/>
              <a:ext cx="1378857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19" name="Text Box 3"/>
            <p:cNvSpPr txBox="1">
              <a:spLocks noChangeArrowheads="1"/>
            </p:cNvSpPr>
            <p:nvPr/>
          </p:nvSpPr>
          <p:spPr bwMode="auto">
            <a:xfrm>
              <a:off x="6449107" y="5736228"/>
              <a:ext cx="1378857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20" name="Text Box 4"/>
            <p:cNvSpPr txBox="1">
              <a:spLocks noChangeArrowheads="1"/>
            </p:cNvSpPr>
            <p:nvPr/>
          </p:nvSpPr>
          <p:spPr bwMode="auto">
            <a:xfrm>
              <a:off x="4680231" y="4925621"/>
              <a:ext cx="1195387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24" name="Straight Arrow Connector 23"/>
            <p:cNvCxnSpPr>
              <a:stCxn id="20" idx="3"/>
              <a:endCxn id="18" idx="1"/>
            </p:cNvCxnSpPr>
            <p:nvPr/>
          </p:nvCxnSpPr>
          <p:spPr>
            <a:xfrm flipV="1">
              <a:off x="5875618" y="4582721"/>
              <a:ext cx="573490" cy="7239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0" idx="3"/>
              <a:endCxn id="19" idx="1"/>
            </p:cNvCxnSpPr>
            <p:nvPr/>
          </p:nvCxnSpPr>
          <p:spPr>
            <a:xfrm>
              <a:off x="5875618" y="5306621"/>
              <a:ext cx="573489" cy="81060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4427870" y="4092031"/>
              <a:ext cx="3630658" cy="2629675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50553" y="2602103"/>
            <a:ext cx="6004057" cy="1141664"/>
            <a:chOff x="2914388" y="1562574"/>
            <a:chExt cx="6004057" cy="1141664"/>
          </a:xfrm>
        </p:grpSpPr>
        <p:sp>
          <p:nvSpPr>
            <p:cNvPr id="5" name="Text Box 2"/>
            <p:cNvSpPr txBox="1">
              <a:spLocks noChangeArrowheads="1"/>
            </p:cNvSpPr>
            <p:nvPr/>
          </p:nvSpPr>
          <p:spPr bwMode="auto">
            <a:xfrm>
              <a:off x="3106825" y="1790506"/>
              <a:ext cx="1475356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7340456" y="1752406"/>
              <a:ext cx="1318102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326275" y="1752406"/>
              <a:ext cx="1362196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8" name="AutoShape 6"/>
            <p:cNvCxnSpPr>
              <a:cxnSpLocks noChangeShapeType="1"/>
              <a:stCxn id="7" idx="3"/>
              <a:endCxn id="6" idx="1"/>
            </p:cNvCxnSpPr>
            <p:nvPr/>
          </p:nvCxnSpPr>
          <p:spPr bwMode="auto">
            <a:xfrm>
              <a:off x="6688471" y="2133406"/>
              <a:ext cx="65198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7"/>
            <p:cNvCxnSpPr>
              <a:cxnSpLocks noChangeShapeType="1"/>
              <a:stCxn id="5" idx="3"/>
              <a:endCxn id="7" idx="1"/>
            </p:cNvCxnSpPr>
            <p:nvPr/>
          </p:nvCxnSpPr>
          <p:spPr bwMode="auto">
            <a:xfrm>
              <a:off x="4582181" y="2133406"/>
              <a:ext cx="74409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Rounded Rectangle 29"/>
            <p:cNvSpPr/>
            <p:nvPr/>
          </p:nvSpPr>
          <p:spPr>
            <a:xfrm>
              <a:off x="2914388" y="1562574"/>
              <a:ext cx="6004057" cy="1141664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0" y="1136386"/>
            <a:ext cx="9143999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you intervene to distinguish between chain and common cause?</a:t>
            </a: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37509" y="1958835"/>
            <a:ext cx="247965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merican Typewriter"/>
                <a:cs typeface="American Typewriter"/>
              </a:rPr>
              <a:t>Do(Paint teeth)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5865" y="4399656"/>
            <a:ext cx="264687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merican Typewriter"/>
                <a:cs typeface="American Typewriter"/>
              </a:rPr>
              <a:t>Do(Paint  teeth)</a:t>
            </a:r>
          </a:p>
        </p:txBody>
      </p:sp>
      <p:cxnSp>
        <p:nvCxnSpPr>
          <p:cNvPr id="23" name="Straight Arrow Connector 22"/>
          <p:cNvCxnSpPr>
            <a:cxnSpLocks/>
            <a:stCxn id="3" idx="2"/>
            <a:endCxn id="5" idx="0"/>
          </p:cNvCxnSpPr>
          <p:nvPr/>
        </p:nvCxnSpPr>
        <p:spPr>
          <a:xfrm>
            <a:off x="1577336" y="2358945"/>
            <a:ext cx="3332" cy="47109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9" idx="3"/>
            <a:endCxn id="18" idx="1"/>
          </p:cNvCxnSpPr>
          <p:nvPr/>
        </p:nvCxnSpPr>
        <p:spPr>
          <a:xfrm flipV="1">
            <a:off x="2922743" y="4599667"/>
            <a:ext cx="2165825" cy="44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487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" y="14572"/>
            <a:ext cx="9144000" cy="11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Limits of causation from mere observation:</a:t>
            </a:r>
          </a:p>
          <a:p>
            <a:r>
              <a:rPr lang="en-US" sz="3600" b="1" dirty="0"/>
              <a:t>Markov equivalence classes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067330" y="4108977"/>
            <a:ext cx="3630658" cy="2629675"/>
            <a:chOff x="4427870" y="4092031"/>
            <a:chExt cx="3630658" cy="2629675"/>
          </a:xfrm>
        </p:grpSpPr>
        <p:sp>
          <p:nvSpPr>
            <p:cNvPr id="18" name="Text Box 2"/>
            <p:cNvSpPr txBox="1">
              <a:spLocks noChangeArrowheads="1"/>
            </p:cNvSpPr>
            <p:nvPr/>
          </p:nvSpPr>
          <p:spPr bwMode="auto">
            <a:xfrm>
              <a:off x="6449108" y="4239821"/>
              <a:ext cx="1378857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19" name="Text Box 3"/>
            <p:cNvSpPr txBox="1">
              <a:spLocks noChangeArrowheads="1"/>
            </p:cNvSpPr>
            <p:nvPr/>
          </p:nvSpPr>
          <p:spPr bwMode="auto">
            <a:xfrm>
              <a:off x="6449107" y="5736228"/>
              <a:ext cx="1378857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20" name="Text Box 4"/>
            <p:cNvSpPr txBox="1">
              <a:spLocks noChangeArrowheads="1"/>
            </p:cNvSpPr>
            <p:nvPr/>
          </p:nvSpPr>
          <p:spPr bwMode="auto">
            <a:xfrm>
              <a:off x="4680231" y="4925621"/>
              <a:ext cx="1195387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24" name="Straight Arrow Connector 23"/>
            <p:cNvCxnSpPr>
              <a:stCxn id="20" idx="3"/>
              <a:endCxn id="18" idx="1"/>
            </p:cNvCxnSpPr>
            <p:nvPr/>
          </p:nvCxnSpPr>
          <p:spPr>
            <a:xfrm flipV="1">
              <a:off x="5875618" y="4582721"/>
              <a:ext cx="573490" cy="7239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0" idx="3"/>
              <a:endCxn id="19" idx="1"/>
            </p:cNvCxnSpPr>
            <p:nvPr/>
          </p:nvCxnSpPr>
          <p:spPr>
            <a:xfrm>
              <a:off x="5875618" y="5306621"/>
              <a:ext cx="573489" cy="81060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4427870" y="4092031"/>
              <a:ext cx="3630658" cy="2629675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50553" y="2602103"/>
            <a:ext cx="6004057" cy="1141664"/>
            <a:chOff x="2914388" y="1562574"/>
            <a:chExt cx="6004057" cy="1141664"/>
          </a:xfrm>
        </p:grpSpPr>
        <p:sp>
          <p:nvSpPr>
            <p:cNvPr id="5" name="Text Box 2"/>
            <p:cNvSpPr txBox="1">
              <a:spLocks noChangeArrowheads="1"/>
            </p:cNvSpPr>
            <p:nvPr/>
          </p:nvSpPr>
          <p:spPr bwMode="auto">
            <a:xfrm>
              <a:off x="3106825" y="1790506"/>
              <a:ext cx="1475356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b="1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b="1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b="1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b="1" dirty="0">
                  <a:solidFill>
                    <a:srgbClr val="000000"/>
                  </a:solidFill>
                  <a:latin typeface="Calibri"/>
                  <a:cs typeface="Calibri"/>
                </a:rPr>
                <a:t>= NO</a:t>
              </a:r>
              <a:endParaRPr lang="de-DE" sz="1800" b="1" dirty="0">
                <a:latin typeface="Calibri"/>
                <a:cs typeface="Calibri"/>
              </a:endParaRPr>
            </a:p>
          </p:txBody>
        </p:sp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7340456" y="1667911"/>
              <a:ext cx="1318102" cy="9345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326275" y="1752406"/>
              <a:ext cx="1362196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8" name="AutoShape 6"/>
            <p:cNvCxnSpPr>
              <a:cxnSpLocks noChangeShapeType="1"/>
              <a:stCxn id="7" idx="3"/>
              <a:endCxn id="6" idx="1"/>
            </p:cNvCxnSpPr>
            <p:nvPr/>
          </p:nvCxnSpPr>
          <p:spPr bwMode="auto">
            <a:xfrm>
              <a:off x="6688471" y="2133406"/>
              <a:ext cx="651985" cy="17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7"/>
            <p:cNvCxnSpPr>
              <a:cxnSpLocks noChangeShapeType="1"/>
              <a:stCxn id="5" idx="3"/>
              <a:endCxn id="7" idx="1"/>
            </p:cNvCxnSpPr>
            <p:nvPr/>
          </p:nvCxnSpPr>
          <p:spPr bwMode="auto">
            <a:xfrm>
              <a:off x="4582181" y="2133406"/>
              <a:ext cx="74409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Rounded Rectangle 29"/>
            <p:cNvSpPr/>
            <p:nvPr/>
          </p:nvSpPr>
          <p:spPr>
            <a:xfrm>
              <a:off x="2914388" y="1562574"/>
              <a:ext cx="6004057" cy="1141664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0" y="1136386"/>
            <a:ext cx="9143999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you intervene to distinguish between chain and common cause?</a:t>
            </a: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7235" y="1958835"/>
            <a:ext cx="24929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merican Typewriter"/>
                <a:cs typeface="American Typewriter"/>
              </a:rPr>
              <a:t>Do(Paint teeth)</a:t>
            </a:r>
          </a:p>
        </p:txBody>
      </p:sp>
      <p:cxnSp>
        <p:nvCxnSpPr>
          <p:cNvPr id="23" name="Straight Arrow Connector 22"/>
          <p:cNvCxnSpPr>
            <a:stCxn id="3" idx="2"/>
            <a:endCxn id="5" idx="0"/>
          </p:cNvCxnSpPr>
          <p:nvPr/>
        </p:nvCxnSpPr>
        <p:spPr>
          <a:xfrm>
            <a:off x="1573730" y="2358945"/>
            <a:ext cx="6938" cy="47109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305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" y="14572"/>
            <a:ext cx="9144000" cy="11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Limits of causation from mere observation:</a:t>
            </a:r>
          </a:p>
          <a:p>
            <a:r>
              <a:rPr lang="en-US" sz="3600" b="1" dirty="0"/>
              <a:t>Markov equivalence classes</a:t>
            </a: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5099084" y="4256767"/>
            <a:ext cx="153543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de-DE" sz="1800" b="1" dirty="0">
                <a:solidFill>
                  <a:srgbClr val="000000"/>
                </a:solidFill>
                <a:latin typeface="Calibri"/>
                <a:cs typeface="Calibri"/>
              </a:rPr>
              <a:t>Yellow </a:t>
            </a:r>
            <a:r>
              <a:rPr lang="de-DE" sz="1800" b="1" dirty="0" err="1">
                <a:solidFill>
                  <a:srgbClr val="000000"/>
                </a:solidFill>
                <a:latin typeface="Calibri"/>
                <a:cs typeface="Calibri"/>
              </a:rPr>
              <a:t>Teeth</a:t>
            </a:r>
            <a:endParaRPr lang="de-DE" sz="1800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/>
            <a:r>
              <a:rPr lang="de-DE" sz="1800" b="1" dirty="0">
                <a:solidFill>
                  <a:srgbClr val="000000"/>
                </a:solidFill>
                <a:latin typeface="Calibri"/>
                <a:cs typeface="Calibri"/>
              </a:rPr>
              <a:t>= NO</a:t>
            </a:r>
            <a:endParaRPr lang="de-DE" sz="1800" b="1" dirty="0">
              <a:latin typeface="Calibri"/>
              <a:cs typeface="Calibri"/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5088567" y="5753174"/>
            <a:ext cx="137885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Lung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Cancer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3319691" y="4942567"/>
            <a:ext cx="119538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Smoking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cxnSp>
        <p:nvCxnSpPr>
          <p:cNvPr id="24" name="Straight Arrow Connector 23"/>
          <p:cNvCxnSpPr>
            <a:stCxn id="20" idx="3"/>
            <a:endCxn id="18" idx="1"/>
          </p:cNvCxnSpPr>
          <p:nvPr/>
        </p:nvCxnSpPr>
        <p:spPr>
          <a:xfrm flipV="1">
            <a:off x="4515078" y="4599667"/>
            <a:ext cx="584006" cy="723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3"/>
            <a:endCxn id="19" idx="1"/>
          </p:cNvCxnSpPr>
          <p:nvPr/>
        </p:nvCxnSpPr>
        <p:spPr>
          <a:xfrm>
            <a:off x="4515078" y="5323567"/>
            <a:ext cx="573489" cy="8106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067330" y="4108977"/>
            <a:ext cx="3883614" cy="2629675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650553" y="2602103"/>
            <a:ext cx="6004057" cy="1141664"/>
            <a:chOff x="2914388" y="1562574"/>
            <a:chExt cx="6004057" cy="1141664"/>
          </a:xfrm>
        </p:grpSpPr>
        <p:sp>
          <p:nvSpPr>
            <p:cNvPr id="5" name="Text Box 2"/>
            <p:cNvSpPr txBox="1">
              <a:spLocks noChangeArrowheads="1"/>
            </p:cNvSpPr>
            <p:nvPr/>
          </p:nvSpPr>
          <p:spPr bwMode="auto">
            <a:xfrm>
              <a:off x="3106825" y="1790506"/>
              <a:ext cx="1475356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b="1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b="1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b="1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b="1" dirty="0">
                  <a:solidFill>
                    <a:srgbClr val="000000"/>
                  </a:solidFill>
                  <a:latin typeface="Calibri"/>
                  <a:cs typeface="Calibri"/>
                </a:rPr>
                <a:t>= NO</a:t>
              </a:r>
              <a:endParaRPr lang="de-DE" sz="1800" b="1" dirty="0">
                <a:latin typeface="Calibri"/>
                <a:cs typeface="Calibri"/>
              </a:endParaRPr>
            </a:p>
          </p:txBody>
        </p:sp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7340456" y="1667911"/>
              <a:ext cx="1318102" cy="9345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326275" y="1752406"/>
              <a:ext cx="1362196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8" name="AutoShape 6"/>
            <p:cNvCxnSpPr>
              <a:cxnSpLocks noChangeShapeType="1"/>
              <a:stCxn id="7" idx="3"/>
              <a:endCxn id="6" idx="1"/>
            </p:cNvCxnSpPr>
            <p:nvPr/>
          </p:nvCxnSpPr>
          <p:spPr bwMode="auto">
            <a:xfrm>
              <a:off x="6688471" y="2133406"/>
              <a:ext cx="651985" cy="17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7"/>
            <p:cNvCxnSpPr>
              <a:cxnSpLocks noChangeShapeType="1"/>
              <a:stCxn id="5" idx="3"/>
              <a:endCxn id="7" idx="1"/>
            </p:cNvCxnSpPr>
            <p:nvPr/>
          </p:nvCxnSpPr>
          <p:spPr bwMode="auto">
            <a:xfrm>
              <a:off x="4582181" y="2133406"/>
              <a:ext cx="74409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Rounded Rectangle 29"/>
            <p:cNvSpPr/>
            <p:nvPr/>
          </p:nvSpPr>
          <p:spPr>
            <a:xfrm>
              <a:off x="2914388" y="1562574"/>
              <a:ext cx="6004057" cy="1141664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0" y="1136386"/>
            <a:ext cx="9143999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you intervene to distinguish between chain and common cause?</a:t>
            </a: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7235" y="1958835"/>
            <a:ext cx="24929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merican Typewriter"/>
                <a:cs typeface="American Typewriter"/>
              </a:rPr>
              <a:t>Do(Brush teeth)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5865" y="4368834"/>
            <a:ext cx="264687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merican Typewriter"/>
                <a:cs typeface="American Typewriter"/>
              </a:rPr>
              <a:t>Do(Paint  teeth)</a:t>
            </a:r>
          </a:p>
        </p:txBody>
      </p:sp>
      <p:cxnSp>
        <p:nvCxnSpPr>
          <p:cNvPr id="23" name="Straight Arrow Connector 22"/>
          <p:cNvCxnSpPr>
            <a:stCxn id="3" idx="2"/>
            <a:endCxn id="5" idx="0"/>
          </p:cNvCxnSpPr>
          <p:nvPr/>
        </p:nvCxnSpPr>
        <p:spPr>
          <a:xfrm>
            <a:off x="1573730" y="2358945"/>
            <a:ext cx="6938" cy="47109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9" idx="3"/>
            <a:endCxn id="18" idx="1"/>
          </p:cNvCxnSpPr>
          <p:nvPr/>
        </p:nvCxnSpPr>
        <p:spPr>
          <a:xfrm>
            <a:off x="2922743" y="4568889"/>
            <a:ext cx="2176341" cy="3077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4581914" y="4830499"/>
            <a:ext cx="350080" cy="350080"/>
            <a:chOff x="4581914" y="4830499"/>
            <a:chExt cx="350080" cy="35008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4581914" y="4830499"/>
              <a:ext cx="350080" cy="350080"/>
            </a:xfrm>
            <a:prstGeom prst="line">
              <a:avLst/>
            </a:prstGeom>
            <a:ln w="5715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4581914" y="4830499"/>
              <a:ext cx="350080" cy="350080"/>
            </a:xfrm>
            <a:prstGeom prst="line">
              <a:avLst/>
            </a:prstGeom>
            <a:ln w="5715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5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" y="14572"/>
            <a:ext cx="9144000" cy="112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Limits of causation from mere observation:</a:t>
            </a:r>
          </a:p>
          <a:p>
            <a:r>
              <a:rPr lang="en-US" sz="3600" b="1" dirty="0"/>
              <a:t>Markov equivalence classes</a:t>
            </a: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5099084" y="4256767"/>
            <a:ext cx="153543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de-DE" sz="1800" b="1" dirty="0">
                <a:solidFill>
                  <a:srgbClr val="000000"/>
                </a:solidFill>
                <a:latin typeface="Calibri"/>
                <a:cs typeface="Calibri"/>
              </a:rPr>
              <a:t>Yellow </a:t>
            </a:r>
            <a:r>
              <a:rPr lang="de-DE" sz="1800" b="1" dirty="0" err="1">
                <a:solidFill>
                  <a:srgbClr val="000000"/>
                </a:solidFill>
                <a:latin typeface="Calibri"/>
                <a:cs typeface="Calibri"/>
              </a:rPr>
              <a:t>Teeth</a:t>
            </a:r>
            <a:endParaRPr lang="de-DE" sz="1800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/>
            <a:r>
              <a:rPr lang="de-DE" sz="1800" b="1" dirty="0">
                <a:solidFill>
                  <a:srgbClr val="000000"/>
                </a:solidFill>
                <a:latin typeface="Calibri"/>
                <a:cs typeface="Calibri"/>
              </a:rPr>
              <a:t>= NO</a:t>
            </a:r>
            <a:endParaRPr lang="de-DE" sz="1800" b="1" dirty="0">
              <a:latin typeface="Calibri"/>
              <a:cs typeface="Calibri"/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5088567" y="5753174"/>
            <a:ext cx="137885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Lung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Cancer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3319691" y="4942567"/>
            <a:ext cx="119538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Smoking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cxnSp>
        <p:nvCxnSpPr>
          <p:cNvPr id="26" name="Straight Arrow Connector 25"/>
          <p:cNvCxnSpPr>
            <a:stCxn id="20" idx="3"/>
            <a:endCxn id="19" idx="1"/>
          </p:cNvCxnSpPr>
          <p:nvPr/>
        </p:nvCxnSpPr>
        <p:spPr>
          <a:xfrm>
            <a:off x="4515078" y="5323567"/>
            <a:ext cx="573489" cy="8106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067330" y="4108977"/>
            <a:ext cx="3883614" cy="2629675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650553" y="2602103"/>
            <a:ext cx="6004057" cy="1141664"/>
            <a:chOff x="2914388" y="1562574"/>
            <a:chExt cx="6004057" cy="1141664"/>
          </a:xfrm>
        </p:grpSpPr>
        <p:sp>
          <p:nvSpPr>
            <p:cNvPr id="5" name="Text Box 2"/>
            <p:cNvSpPr txBox="1">
              <a:spLocks noChangeArrowheads="1"/>
            </p:cNvSpPr>
            <p:nvPr/>
          </p:nvSpPr>
          <p:spPr bwMode="auto">
            <a:xfrm>
              <a:off x="3106825" y="1790506"/>
              <a:ext cx="1475356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b="1" dirty="0">
                  <a:solidFill>
                    <a:srgbClr val="000000"/>
                  </a:solidFill>
                  <a:latin typeface="Calibri"/>
                  <a:cs typeface="Calibri"/>
                </a:rPr>
                <a:t>Yellow </a:t>
              </a:r>
              <a:r>
                <a:rPr lang="de-DE" sz="1800" b="1" dirty="0" err="1">
                  <a:solidFill>
                    <a:srgbClr val="000000"/>
                  </a:solidFill>
                  <a:latin typeface="Calibri"/>
                  <a:cs typeface="Calibri"/>
                </a:rPr>
                <a:t>Teeth</a:t>
              </a:r>
              <a:endParaRPr lang="de-DE" sz="1800" b="1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b="1" dirty="0">
                  <a:solidFill>
                    <a:srgbClr val="000000"/>
                  </a:solidFill>
                  <a:latin typeface="Calibri"/>
                  <a:cs typeface="Calibri"/>
                </a:rPr>
                <a:t>= NO</a:t>
              </a:r>
              <a:endParaRPr lang="de-DE" sz="1800" b="1" dirty="0">
                <a:latin typeface="Calibri"/>
                <a:cs typeface="Calibri"/>
              </a:endParaRPr>
            </a:p>
          </p:txBody>
        </p:sp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7340456" y="1667911"/>
              <a:ext cx="1318102" cy="9345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Lung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Cancer</a:t>
              </a:r>
              <a:endParaRPr lang="de-DE" sz="180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326275" y="1752406"/>
              <a:ext cx="1362196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Smoking</a:t>
              </a:r>
            </a:p>
            <a:p>
              <a:pPr algn="ctr" eaLnBrk="1" hangingPunct="1"/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(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yes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or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de-DE" sz="1800" dirty="0" err="1">
                  <a:solidFill>
                    <a:srgbClr val="000000"/>
                  </a:solidFill>
                  <a:latin typeface="Calibri"/>
                  <a:cs typeface="Calibri"/>
                </a:rPr>
                <a:t>no</a:t>
              </a:r>
              <a:r>
                <a:rPr lang="de-DE" sz="1800" dirty="0">
                  <a:solidFill>
                    <a:srgbClr val="000000"/>
                  </a:solidFill>
                  <a:latin typeface="Calibri"/>
                  <a:cs typeface="Calibri"/>
                </a:rPr>
                <a:t>)</a:t>
              </a:r>
              <a:endParaRPr lang="de-DE" sz="1800" dirty="0">
                <a:latin typeface="Calibri"/>
                <a:cs typeface="Calibri"/>
              </a:endParaRPr>
            </a:p>
          </p:txBody>
        </p:sp>
        <p:cxnSp>
          <p:nvCxnSpPr>
            <p:cNvPr id="8" name="AutoShape 6"/>
            <p:cNvCxnSpPr>
              <a:cxnSpLocks noChangeShapeType="1"/>
              <a:stCxn id="7" idx="3"/>
              <a:endCxn id="6" idx="1"/>
            </p:cNvCxnSpPr>
            <p:nvPr/>
          </p:nvCxnSpPr>
          <p:spPr bwMode="auto">
            <a:xfrm>
              <a:off x="6688471" y="2133406"/>
              <a:ext cx="651985" cy="17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" name="AutoShape 7"/>
            <p:cNvCxnSpPr>
              <a:cxnSpLocks noChangeShapeType="1"/>
              <a:stCxn id="5" idx="3"/>
              <a:endCxn id="7" idx="1"/>
            </p:cNvCxnSpPr>
            <p:nvPr/>
          </p:nvCxnSpPr>
          <p:spPr bwMode="auto">
            <a:xfrm>
              <a:off x="4582181" y="2133406"/>
              <a:ext cx="74409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0" name="Rounded Rectangle 29"/>
            <p:cNvSpPr/>
            <p:nvPr/>
          </p:nvSpPr>
          <p:spPr>
            <a:xfrm>
              <a:off x="2914388" y="1562574"/>
              <a:ext cx="6004057" cy="1141664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0" y="1136386"/>
            <a:ext cx="9143999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you intervene to distinguish between chain and common cause?</a:t>
            </a: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7235" y="1958835"/>
            <a:ext cx="24929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merican Typewriter"/>
                <a:cs typeface="American Typewriter"/>
              </a:rPr>
              <a:t>Do(Brush teeth)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5865" y="4368834"/>
            <a:ext cx="264687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merican Typewriter"/>
                <a:cs typeface="American Typewriter"/>
              </a:rPr>
              <a:t>Do(Paint  teeth)</a:t>
            </a:r>
          </a:p>
        </p:txBody>
      </p:sp>
      <p:cxnSp>
        <p:nvCxnSpPr>
          <p:cNvPr id="23" name="Straight Arrow Connector 22"/>
          <p:cNvCxnSpPr>
            <a:stCxn id="3" idx="2"/>
            <a:endCxn id="5" idx="0"/>
          </p:cNvCxnSpPr>
          <p:nvPr/>
        </p:nvCxnSpPr>
        <p:spPr>
          <a:xfrm>
            <a:off x="1573730" y="2358945"/>
            <a:ext cx="6938" cy="47109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9" idx="3"/>
            <a:endCxn id="18" idx="1"/>
          </p:cNvCxnSpPr>
          <p:nvPr/>
        </p:nvCxnSpPr>
        <p:spPr>
          <a:xfrm>
            <a:off x="2922743" y="4568889"/>
            <a:ext cx="2176341" cy="3077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4581914" y="4830499"/>
            <a:ext cx="350080" cy="350080"/>
            <a:chOff x="4581914" y="4830499"/>
            <a:chExt cx="350080" cy="35008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4581914" y="4830499"/>
              <a:ext cx="350080" cy="350080"/>
            </a:xfrm>
            <a:prstGeom prst="line">
              <a:avLst/>
            </a:prstGeom>
            <a:ln w="5715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4581914" y="4830499"/>
              <a:ext cx="350080" cy="350080"/>
            </a:xfrm>
            <a:prstGeom prst="line">
              <a:avLst/>
            </a:prstGeom>
            <a:ln w="5715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8F482EA-C1E4-4CBB-9117-72FACB933E25}"/>
              </a:ext>
            </a:extLst>
          </p:cNvPr>
          <p:cNvSpPr txBox="1"/>
          <p:nvPr/>
        </p:nvSpPr>
        <p:spPr>
          <a:xfrm>
            <a:off x="7055671" y="4599667"/>
            <a:ext cx="1927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P(S|Y) = P(S)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6082B4-1BBA-4DFB-A98F-3B62D675B78F}"/>
              </a:ext>
            </a:extLst>
          </p:cNvPr>
          <p:cNvSpPr txBox="1"/>
          <p:nvPr/>
        </p:nvSpPr>
        <p:spPr>
          <a:xfrm>
            <a:off x="7046708" y="2940147"/>
            <a:ext cx="1927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P(S|Y) != P(S)</a:t>
            </a:r>
          </a:p>
        </p:txBody>
      </p:sp>
    </p:spTree>
    <p:extLst>
      <p:ext uri="{BB962C8B-B14F-4D97-AF65-F5344CB8AC3E}">
        <p14:creationId xmlns:p14="http://schemas.microsoft.com/office/powerpoint/2010/main" val="626557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F868-6C75-E37B-3253-1CAC00E01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6EE2A-0BD0-0273-A8B6-83B2994CE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Bayesian Networks</a:t>
            </a:r>
          </a:p>
          <a:p>
            <a:r>
              <a:rPr lang="en-US" dirty="0"/>
              <a:t>Causal Bayesian Networks</a:t>
            </a:r>
          </a:p>
          <a:p>
            <a:r>
              <a:rPr lang="en-US" dirty="0"/>
              <a:t>Introduction to Information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Elijah presenting </a:t>
            </a:r>
            <a:r>
              <a:rPr lang="en-US" dirty="0" err="1"/>
              <a:t>Lagnado</a:t>
            </a:r>
            <a:r>
              <a:rPr lang="en-US" dirty="0"/>
              <a:t> &amp; Sloman (2002)</a:t>
            </a:r>
          </a:p>
          <a:p>
            <a:pPr lvl="1"/>
            <a:r>
              <a:rPr lang="en-US" dirty="0" err="1"/>
              <a:t>Yinsu</a:t>
            </a:r>
            <a:r>
              <a:rPr lang="en-US" dirty="0"/>
              <a:t> presenting Tenenbaum &amp; Griffiths (2001)</a:t>
            </a:r>
          </a:p>
        </p:txBody>
      </p:sp>
    </p:spTree>
    <p:extLst>
      <p:ext uri="{BB962C8B-B14F-4D97-AF65-F5344CB8AC3E}">
        <p14:creationId xmlns:p14="http://schemas.microsoft.com/office/powerpoint/2010/main" val="1427739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17" y="76966"/>
            <a:ext cx="84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Uncertainty, </a:t>
            </a:r>
            <a:r>
              <a:rPr lang="en-US" sz="4000" dirty="0"/>
              <a:t>Randomness</a:t>
            </a:r>
            <a:r>
              <a:rPr lang="en-US" sz="3600" dirty="0"/>
              <a:t>, and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292" y="949249"/>
            <a:ext cx="854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9413" y="954108"/>
            <a:ext cx="86981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Probability takes uncertainty as a basic concept.</a:t>
            </a:r>
          </a:p>
          <a:p>
            <a:endParaRPr lang="en-US" sz="2800" dirty="0"/>
          </a:p>
          <a:p>
            <a:r>
              <a:rPr lang="en-US" sz="2800" dirty="0"/>
              <a:t>How much information do we gain from observing a random event?</a:t>
            </a:r>
          </a:p>
          <a:p>
            <a:endParaRPr lang="en-US" sz="2800" dirty="0"/>
          </a:p>
          <a:p>
            <a:r>
              <a:rPr lang="en-US" sz="2800" dirty="0"/>
              <a:t>Most common measure is Shannon’s Entropy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Remember: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17" y="3801463"/>
            <a:ext cx="6146800" cy="889000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46" y="5007138"/>
            <a:ext cx="5181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1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17" y="76966"/>
            <a:ext cx="84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Why Shannon’s Entropy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54108"/>
            <a:ext cx="9144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Follows via an inevitability proof…</a:t>
            </a:r>
          </a:p>
          <a:p>
            <a:r>
              <a:rPr lang="en-US" sz="2800" dirty="0"/>
              <a:t>	If the following things are true:</a:t>
            </a:r>
          </a:p>
          <a:p>
            <a:r>
              <a:rPr lang="en-US" sz="2800" dirty="0"/>
              <a:t>		(1) measure of information is non-negative</a:t>
            </a:r>
          </a:p>
          <a:p>
            <a:r>
              <a:rPr lang="en-US" sz="2800" dirty="0"/>
              <a:t>		(2) Learning the outcome of a deterministic event 				provides no information</a:t>
            </a:r>
          </a:p>
          <a:p>
            <a:r>
              <a:rPr lang="en-US" sz="2800" dirty="0"/>
              <a:t>		(3) Information of independent events can be “split”:</a:t>
            </a: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en-US" sz="2800" dirty="0"/>
              <a:t>Shannon proved only H(x) satisfies these three properties.</a:t>
            </a:r>
          </a:p>
          <a:p>
            <a:pPr marL="457200" indent="-457200">
              <a:buFont typeface="Symbol" panose="05050102010706020507" pitchFamily="18" charset="2"/>
              <a:buChar char="Þ"/>
            </a:pPr>
            <a:endParaRPr lang="en-US" sz="2800" dirty="0"/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en-US" sz="2800" dirty="0"/>
              <a:t>Note: Shannon’s Entropy isn’t the only one used and there is really interesting research on a broader framework called the “</a:t>
            </a:r>
            <a:r>
              <a:rPr lang="en-US" sz="2800" dirty="0" err="1"/>
              <a:t>Sharmal</a:t>
            </a:r>
            <a:r>
              <a:rPr lang="en-US" sz="2800" dirty="0"/>
              <a:t>-Mittal Framework”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214" y="3754204"/>
            <a:ext cx="42799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1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17" y="76966"/>
            <a:ext cx="84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Shannon’s Entropy for </a:t>
            </a:r>
            <a:r>
              <a:rPr lang="en-US" sz="4000" dirty="0" err="1"/>
              <a:t>Coinflip</a:t>
            </a:r>
            <a:endParaRPr lang="en-US" sz="4000" dirty="0"/>
          </a:p>
        </p:txBody>
      </p:sp>
      <p:pic>
        <p:nvPicPr>
          <p:cNvPr id="5" name="Picture 4" descr="Hbinary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41" y="1203648"/>
            <a:ext cx="8275466" cy="5654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70765" y="6195770"/>
            <a:ext cx="5567866" cy="5847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Coin flip bias</a:t>
            </a:r>
          </a:p>
        </p:txBody>
      </p:sp>
    </p:spTree>
    <p:extLst>
      <p:ext uri="{BB962C8B-B14F-4D97-AF65-F5344CB8AC3E}">
        <p14:creationId xmlns:p14="http://schemas.microsoft.com/office/powerpoint/2010/main" val="148599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A3D8-B3C5-DF6E-A213-BEA9122D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05AD4E-7574-97FF-6356-0A73EB7E6600}"/>
              </a:ext>
            </a:extLst>
          </p:cNvPr>
          <p:cNvSpPr txBox="1"/>
          <p:nvPr/>
        </p:nvSpPr>
        <p:spPr>
          <a:xfrm>
            <a:off x="359217" y="76966"/>
            <a:ext cx="84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Joint Entropy and Conditional Entropy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98B6B0-ADDF-C909-26AD-75812E2F2061}"/>
              </a:ext>
            </a:extLst>
          </p:cNvPr>
          <p:cNvSpPr txBox="1"/>
          <p:nvPr/>
        </p:nvSpPr>
        <p:spPr>
          <a:xfrm>
            <a:off x="176401" y="763807"/>
            <a:ext cx="8967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Joint and Conditional Entropy are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E54041B-8A09-FF22-B022-273D976BE18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59217" y="1450259"/>
            <a:ext cx="6523427" cy="5790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FCFFF08-DA51-6A3F-20A0-0A0A8A450BE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59217" y="2192540"/>
            <a:ext cx="7422478" cy="579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FD8676-A243-2CD5-7EC5-F3AEDFF3D9C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59217" y="2885970"/>
            <a:ext cx="7797333" cy="579048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C3B818E0-AC80-7A48-4270-DF93E3ECA72C}"/>
              </a:ext>
            </a:extLst>
          </p:cNvPr>
          <p:cNvGrpSpPr/>
          <p:nvPr/>
        </p:nvGrpSpPr>
        <p:grpSpPr>
          <a:xfrm>
            <a:off x="176401" y="3465018"/>
            <a:ext cx="8967599" cy="523220"/>
            <a:chOff x="176401" y="3465018"/>
            <a:chExt cx="8967599" cy="52322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074DFCE-1DDD-BDA2-5DF4-2ABB1EE65B31}"/>
                </a:ext>
              </a:extLst>
            </p:cNvPr>
            <p:cNvSpPr txBox="1"/>
            <p:nvPr/>
          </p:nvSpPr>
          <p:spPr>
            <a:xfrm>
              <a:off x="176401" y="3465018"/>
              <a:ext cx="89675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Note: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2FD718D-3D8B-593A-F0F3-41D31F3B357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38647" y="3636318"/>
              <a:ext cx="3131428" cy="254476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039EFEB-EADC-AF78-1612-7F3C7EC55BA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73192" y="4180042"/>
            <a:ext cx="4960000" cy="56838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21744F7-0D96-0538-0F0E-361B6DB1589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631922" y="5002723"/>
            <a:ext cx="708571" cy="25447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2715E06E-D16C-34F1-4928-01B9E415CFF6}"/>
              </a:ext>
            </a:extLst>
          </p:cNvPr>
          <p:cNvGrpSpPr/>
          <p:nvPr/>
        </p:nvGrpSpPr>
        <p:grpSpPr>
          <a:xfrm>
            <a:off x="6626059" y="5386965"/>
            <a:ext cx="805747" cy="1367905"/>
            <a:chOff x="7222824" y="4865784"/>
            <a:chExt cx="824040" cy="139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583D01F-1738-EAB3-111A-A69F7A27626B}"/>
                    </a:ext>
                  </a:extLst>
                </p14:cNvPr>
                <p14:cNvContentPartPr/>
                <p14:nvPr/>
              </p14:nvContentPartPr>
              <p14:xfrm>
                <a:off x="7222824" y="5472744"/>
                <a:ext cx="824040" cy="792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583D01F-1738-EAB3-111A-A69F7A27626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13615" y="5463535"/>
                  <a:ext cx="842090" cy="8100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365671F-79AF-8586-B877-92C2C0871766}"/>
                    </a:ext>
                  </a:extLst>
                </p14:cNvPr>
                <p14:cNvContentPartPr/>
                <p14:nvPr/>
              </p14:nvContentPartPr>
              <p14:xfrm>
                <a:off x="7391664" y="4865784"/>
                <a:ext cx="365400" cy="571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365671F-79AF-8586-B877-92C2C087176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82455" y="4856581"/>
                  <a:ext cx="383449" cy="589718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F3FC74-3281-412F-8633-9752DB1785E3}"/>
                  </a:ext>
                </a:extLst>
              </p:cNvPr>
              <p:cNvSpPr txBox="1"/>
              <p:nvPr/>
            </p:nvSpPr>
            <p:spPr>
              <a:xfrm>
                <a:off x="837005" y="4748423"/>
                <a:ext cx="4296112" cy="703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F3FC74-3281-412F-8633-9752DB178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005" y="4748423"/>
                <a:ext cx="4296112" cy="70314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4D17C7-7AE3-E91D-8447-A1FC1C8DE8DE}"/>
                  </a:ext>
                </a:extLst>
              </p:cNvPr>
              <p:cNvSpPr txBox="1"/>
              <p:nvPr/>
            </p:nvSpPr>
            <p:spPr>
              <a:xfrm>
                <a:off x="837005" y="5406155"/>
                <a:ext cx="4513094" cy="703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4D17C7-7AE3-E91D-8447-A1FC1C8DE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005" y="5406155"/>
                <a:ext cx="4513094" cy="70314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1D8C94-471D-D629-FA8D-4F5859FFB45B}"/>
                  </a:ext>
                </a:extLst>
              </p:cNvPr>
              <p:cNvSpPr txBox="1"/>
              <p:nvPr/>
            </p:nvSpPr>
            <p:spPr>
              <a:xfrm>
                <a:off x="813347" y="6219374"/>
                <a:ext cx="7939897" cy="4412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func>
                      </m:e>
                    </m:nary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1D8C94-471D-D629-FA8D-4F5859FFB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47" y="6219374"/>
                <a:ext cx="7939897" cy="441211"/>
              </a:xfrm>
              <a:prstGeom prst="rect">
                <a:avLst/>
              </a:prstGeom>
              <a:blipFill>
                <a:blip r:embed="rId21"/>
                <a:stretch>
                  <a:fillRect l="-2763" t="-93151" b="-143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36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map&#10;&#10;Description automatically generated">
            <a:extLst>
              <a:ext uri="{FF2B5EF4-FFF2-40B4-BE49-F238E27FC236}">
                <a16:creationId xmlns:a16="http://schemas.microsoft.com/office/drawing/2014/main" id="{190331D1-FA73-42CE-8D44-6A0C8AB203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3408"/>
          <a:stretch/>
        </p:blipFill>
        <p:spPr>
          <a:xfrm>
            <a:off x="-176401" y="3512804"/>
            <a:ext cx="5156465" cy="34069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59217" y="76966"/>
            <a:ext cx="84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KL-Divergence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12769-91D8-4554-9C95-767409EFE7C5}"/>
              </a:ext>
            </a:extLst>
          </p:cNvPr>
          <p:cNvSpPr txBox="1"/>
          <p:nvPr/>
        </p:nvSpPr>
        <p:spPr>
          <a:xfrm>
            <a:off x="0" y="710314"/>
            <a:ext cx="8967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KL-Divergence of distribution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/>
              <a:t>relative to some “proxy”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/>
              <a:t> is written as: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2535E8-806F-49DE-867D-F914570338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4500" y="1649694"/>
            <a:ext cx="8929523" cy="6537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69971D-1664-432F-9887-2678FBA59F17}"/>
              </a:ext>
            </a:extLst>
          </p:cNvPr>
          <p:cNvSpPr/>
          <p:nvPr/>
        </p:nvSpPr>
        <p:spPr>
          <a:xfrm>
            <a:off x="2645664" y="1594124"/>
            <a:ext cx="6498336" cy="755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9EE62E-64EE-4D73-84C7-F7AEC7D57127}"/>
              </a:ext>
            </a:extLst>
          </p:cNvPr>
          <p:cNvSpPr/>
          <p:nvPr/>
        </p:nvSpPr>
        <p:spPr>
          <a:xfrm>
            <a:off x="6970645" y="1454752"/>
            <a:ext cx="2038855" cy="991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3AF4B-EC64-4651-BE4B-F0A60EFDEF57}"/>
              </a:ext>
            </a:extLst>
          </p:cNvPr>
          <p:cNvSpPr txBox="1"/>
          <p:nvPr/>
        </p:nvSpPr>
        <p:spPr>
          <a:xfrm>
            <a:off x="0" y="2220407"/>
            <a:ext cx="8967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KL-Divergence is </a:t>
            </a:r>
            <a:r>
              <a:rPr lang="en-US" sz="2800" b="1" dirty="0"/>
              <a:t>NOT</a:t>
            </a:r>
            <a:r>
              <a:rPr lang="en-US" sz="2800" dirty="0"/>
              <a:t> a distance metric, but is similar to one.</a:t>
            </a:r>
          </a:p>
          <a:p>
            <a:r>
              <a:rPr lang="en-US" sz="2800" dirty="0"/>
              <a:t>	It is not symmetric and it violates the triangle inequality.</a:t>
            </a:r>
          </a:p>
          <a:p>
            <a:r>
              <a:rPr lang="en-US" sz="2800" dirty="0"/>
              <a:t>“Forward KL-Divergence”</a:t>
            </a:r>
          </a:p>
        </p:txBody>
      </p:sp>
      <p:pic>
        <p:nvPicPr>
          <p:cNvPr id="13" name="Picture 12" descr="A close up of a map&#10;&#10;Description automatically generated">
            <a:extLst>
              <a:ext uri="{FF2B5EF4-FFF2-40B4-BE49-F238E27FC236}">
                <a16:creationId xmlns:a16="http://schemas.microsoft.com/office/drawing/2014/main" id="{DEF14B04-CADE-44EC-82DD-73CD09197E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666" b="11472"/>
          <a:stretch/>
        </p:blipFill>
        <p:spPr>
          <a:xfrm>
            <a:off x="3987535" y="4758234"/>
            <a:ext cx="5156465" cy="16171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02D7585-49A4-44FD-97DD-330DEA2CA848}"/>
              </a:ext>
            </a:extLst>
          </p:cNvPr>
          <p:cNvSpPr txBox="1"/>
          <p:nvPr/>
        </p:nvSpPr>
        <p:spPr>
          <a:xfrm>
            <a:off x="5034723" y="3679591"/>
            <a:ext cx="3676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that minimizes </a:t>
            </a:r>
          </a:p>
          <a:p>
            <a:pPr algn="ctr"/>
            <a:r>
              <a:rPr lang="en-US" sz="2400" dirty="0"/>
              <a:t>KL with this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512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17" y="76966"/>
            <a:ext cx="84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KL-Divergence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12769-91D8-4554-9C95-767409EFE7C5}"/>
              </a:ext>
            </a:extLst>
          </p:cNvPr>
          <p:cNvSpPr txBox="1"/>
          <p:nvPr/>
        </p:nvSpPr>
        <p:spPr>
          <a:xfrm>
            <a:off x="0" y="710314"/>
            <a:ext cx="8967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KL-Divergence of distribution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/>
              <a:t>relative to some “proxy”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/>
              <a:t> is written as: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E3E8C-7B97-4E47-B1FE-FE9A3FF31F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500" y="1649694"/>
            <a:ext cx="4489142" cy="65371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89EE62E-64EE-4D73-84C7-F7AEC7D57127}"/>
              </a:ext>
            </a:extLst>
          </p:cNvPr>
          <p:cNvSpPr/>
          <p:nvPr/>
        </p:nvSpPr>
        <p:spPr>
          <a:xfrm>
            <a:off x="6970645" y="1454752"/>
            <a:ext cx="2038855" cy="991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3AF4B-EC64-4651-BE4B-F0A60EFDEF57}"/>
              </a:ext>
            </a:extLst>
          </p:cNvPr>
          <p:cNvSpPr txBox="1"/>
          <p:nvPr/>
        </p:nvSpPr>
        <p:spPr>
          <a:xfrm>
            <a:off x="0" y="2220407"/>
            <a:ext cx="8967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KL-Divergence is </a:t>
            </a:r>
            <a:r>
              <a:rPr lang="en-US" sz="2800" b="1" dirty="0"/>
              <a:t>NOT</a:t>
            </a:r>
            <a:r>
              <a:rPr lang="en-US" sz="2800" dirty="0"/>
              <a:t> a distance metric, but is similar to one.</a:t>
            </a:r>
          </a:p>
          <a:p>
            <a:r>
              <a:rPr lang="en-US" sz="2800" dirty="0"/>
              <a:t>	It is not symmetric and it violates the triangle inequality.</a:t>
            </a:r>
          </a:p>
          <a:p>
            <a:r>
              <a:rPr lang="en-US" sz="2800" dirty="0"/>
              <a:t>“Reverse KL-Divergence”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971476-5EDA-47F9-8220-F90B85F60B20}"/>
              </a:ext>
            </a:extLst>
          </p:cNvPr>
          <p:cNvGrpSpPr/>
          <p:nvPr/>
        </p:nvGrpSpPr>
        <p:grpSpPr>
          <a:xfrm>
            <a:off x="4012936" y="3429000"/>
            <a:ext cx="5131064" cy="2801249"/>
            <a:chOff x="4012936" y="3429000"/>
            <a:chExt cx="5131064" cy="2801249"/>
          </a:xfrm>
        </p:grpSpPr>
        <p:pic>
          <p:nvPicPr>
            <p:cNvPr id="5" name="Picture 4" descr="A close up of text on a white background&#10;&#10;Description automatically generated">
              <a:extLst>
                <a:ext uri="{FF2B5EF4-FFF2-40B4-BE49-F238E27FC236}">
                  <a16:creationId xmlns:a16="http://schemas.microsoft.com/office/drawing/2014/main" id="{FF6759E2-5D1C-48C4-A51E-9E4BD95E68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3890" b="9182"/>
            <a:stretch/>
          </p:blipFill>
          <p:spPr>
            <a:xfrm>
              <a:off x="4012936" y="3429000"/>
              <a:ext cx="5131064" cy="280124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2D7585-49A4-44FD-97DD-330DEA2CA848}"/>
                </a:ext>
              </a:extLst>
            </p:cNvPr>
            <p:cNvSpPr txBox="1"/>
            <p:nvPr/>
          </p:nvSpPr>
          <p:spPr>
            <a:xfrm>
              <a:off x="5291307" y="3435090"/>
              <a:ext cx="36762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sz="2400" dirty="0"/>
                <a:t>that minimizes </a:t>
              </a:r>
            </a:p>
            <a:p>
              <a:pPr algn="ctr"/>
              <a:r>
                <a:rPr lang="en-US" sz="2400" dirty="0"/>
                <a:t>KL with this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pic>
        <p:nvPicPr>
          <p:cNvPr id="10" name="Picture 9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8750F8CD-CA0F-4004-839A-1F629A32779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1028"/>
          <a:stretch/>
        </p:blipFill>
        <p:spPr>
          <a:xfrm>
            <a:off x="-559064" y="4493891"/>
            <a:ext cx="5131064" cy="23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1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17" y="76966"/>
            <a:ext cx="84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Mutual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12769-91D8-4554-9C95-767409EFE7C5}"/>
              </a:ext>
            </a:extLst>
          </p:cNvPr>
          <p:cNvSpPr txBox="1"/>
          <p:nvPr/>
        </p:nvSpPr>
        <p:spPr>
          <a:xfrm>
            <a:off x="0" y="710314"/>
            <a:ext cx="8967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Mutual information of X and Y is the entropy of their joint distribution as compared to their marginal distributions.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07FCF6-E379-497B-AA73-4016C03A55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01490" y="1810661"/>
            <a:ext cx="4251428" cy="6948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947A64-E7CF-48D6-8CAF-B715B8812386}"/>
              </a:ext>
            </a:extLst>
          </p:cNvPr>
          <p:cNvSpPr txBox="1"/>
          <p:nvPr/>
        </p:nvSpPr>
        <p:spPr>
          <a:xfrm>
            <a:off x="0" y="2505518"/>
            <a:ext cx="89675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Like KL-Divergence, it is non-negative and is large when the joint distribution is similar to the product of the marginals.</a:t>
            </a:r>
          </a:p>
          <a:p>
            <a:endParaRPr lang="en-US" sz="1400" dirty="0"/>
          </a:p>
          <a:p>
            <a:r>
              <a:rPr lang="en-US" sz="2800" dirty="0"/>
              <a:t>Unlike KL-Divergence, it is symmetric.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E261C5F-42A0-413F-A252-F8F8CC14B43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4394" y="4214966"/>
            <a:ext cx="6428895" cy="3097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28F83E-A109-418C-B31B-FF0822EC8F1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44394" y="4679606"/>
            <a:ext cx="4919052" cy="3097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72A7954-AA45-4367-8BBE-22B4E06CCAA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44394" y="5219582"/>
            <a:ext cx="5616473" cy="3097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62A60A2-502A-41AB-BCB3-1A7A6140AEAA}"/>
              </a:ext>
            </a:extLst>
          </p:cNvPr>
          <p:cNvSpPr txBox="1"/>
          <p:nvPr/>
        </p:nvSpPr>
        <p:spPr>
          <a:xfrm>
            <a:off x="0" y="5562804"/>
            <a:ext cx="8967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make it a </a:t>
            </a:r>
            <a:r>
              <a:rPr lang="en-US" sz="2800" i="1" dirty="0"/>
              <a:t>true </a:t>
            </a:r>
            <a:r>
              <a:rPr lang="en-US" sz="2800" dirty="0"/>
              <a:t>metric, it often is used to define “variation of information”: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91A5115-7685-4BE0-BB59-1C48F77279A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854498" y="6156284"/>
            <a:ext cx="3108948" cy="37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9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17" y="76966"/>
            <a:ext cx="84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Cross Entropy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12769-91D8-4554-9C95-767409EFE7C5}"/>
              </a:ext>
            </a:extLst>
          </p:cNvPr>
          <p:cNvSpPr txBox="1"/>
          <p:nvPr/>
        </p:nvSpPr>
        <p:spPr>
          <a:xfrm>
            <a:off x="0" y="710314"/>
            <a:ext cx="896759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cross-entropy of using a “proxy”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i="1" dirty="0"/>
              <a:t> </a:t>
            </a:r>
            <a:r>
              <a:rPr lang="en-US" sz="2800" dirty="0"/>
              <a:t>to stand in for a “true” distribution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</a:p>
          <a:p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+mj-lt"/>
                <a:cs typeface="Times New Roman" panose="02020603050405020304" pitchFamily="18" charset="0"/>
              </a:rPr>
              <a:t>It is the average amount of information needed to identify an event from source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sent through a noisy channel, resulting in observed distribution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64638A-AFF3-42AE-8469-60F485F521D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9558" y="3236101"/>
            <a:ext cx="8158114" cy="6101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54F1DF-7DED-4409-9F64-8D093705C31B}"/>
              </a:ext>
            </a:extLst>
          </p:cNvPr>
          <p:cNvSpPr txBox="1"/>
          <p:nvPr/>
        </p:nvSpPr>
        <p:spPr>
          <a:xfrm>
            <a:off x="27262" y="3909790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is often used as a “loss function” in machine learning.</a:t>
            </a:r>
          </a:p>
          <a:p>
            <a:endParaRPr lang="en-US" sz="2800" i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+mj-lt"/>
                <a:cs typeface="Times New Roman" panose="02020603050405020304" pitchFamily="18" charset="0"/>
              </a:rPr>
              <a:t>A loss function is a function describing the amount of error for using an estimated quantity rather than the true one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+mj-lt"/>
                <a:cs typeface="Times New Roman" panose="02020603050405020304" pitchFamily="18" charset="0"/>
              </a:rPr>
              <a:t>E.g.,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137141-C864-406F-A4BC-FA05ADD8046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567" y="6078032"/>
            <a:ext cx="2835391" cy="439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8AC6F4-67BB-4066-A3AE-98046A32566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68222" y="6116142"/>
            <a:ext cx="2582776" cy="36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4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F12CA-5FDF-4CAA-A46B-1B08200856ED}"/>
              </a:ext>
            </a:extLst>
          </p:cNvPr>
          <p:cNvSpPr txBox="1"/>
          <p:nvPr/>
        </p:nvSpPr>
        <p:spPr>
          <a:xfrm>
            <a:off x="318781" y="243281"/>
            <a:ext cx="8430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Lossless and Lossy Compression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E6713B-878D-4ECA-910F-49309D4415BD}"/>
              </a:ext>
            </a:extLst>
          </p:cNvPr>
          <p:cNvSpPr txBox="1"/>
          <p:nvPr/>
        </p:nvSpPr>
        <p:spPr>
          <a:xfrm>
            <a:off x="318780" y="1184246"/>
            <a:ext cx="843093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Lossless examples: “zip”, “</a:t>
            </a:r>
            <a:r>
              <a:rPr lang="en-US" sz="2800" dirty="0" err="1"/>
              <a:t>rar</a:t>
            </a:r>
            <a:r>
              <a:rPr lang="en-US" sz="2800" dirty="0"/>
              <a:t>”, “</a:t>
            </a:r>
            <a:r>
              <a:rPr lang="en-US" sz="2800" dirty="0" err="1"/>
              <a:t>flac</a:t>
            </a:r>
            <a:r>
              <a:rPr lang="en-US" sz="2800" dirty="0"/>
              <a:t>”</a:t>
            </a:r>
          </a:p>
          <a:p>
            <a:r>
              <a:rPr lang="en-US" sz="2800" dirty="0"/>
              <a:t>Lossy examples: “jpg”, “mp3”, “mpeg”</a:t>
            </a:r>
          </a:p>
          <a:p>
            <a:endParaRPr lang="en-US" sz="2800" dirty="0"/>
          </a:p>
          <a:p>
            <a:r>
              <a:rPr lang="en-US" sz="2800" dirty="0"/>
              <a:t>Source coding theorem for Lossless Compression:</a:t>
            </a:r>
          </a:p>
          <a:p>
            <a:r>
              <a:rPr lang="en-US" sz="2800" dirty="0"/>
              <a:t>	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i="1" dirty="0"/>
              <a:t> </a:t>
            </a:r>
            <a:r>
              <a:rPr lang="en-US" sz="2800" dirty="0"/>
              <a:t>outcomes from source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dirty="0"/>
              <a:t> </a:t>
            </a:r>
            <a:r>
              <a:rPr lang="en-US" sz="2800" dirty="0"/>
              <a:t>can be compressed 	without error to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/>
              <a:t>Optimal coding is straightforward and (expected) 	length per bit 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L(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H(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+ 1.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+mj-lt"/>
                <a:cs typeface="Times New Roman" panose="02020603050405020304" pitchFamily="18" charset="0"/>
              </a:rPr>
              <a:t>Rate Distortion Theory is the field for lossy compression.</a:t>
            </a:r>
          </a:p>
          <a:p>
            <a:endParaRPr lang="en-US" sz="28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52C9B-26BC-4E3B-AC43-4DCB977B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08" y="5628245"/>
            <a:ext cx="6858042" cy="87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7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02CEA-B52C-39ED-298E-2D9F8221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3919-01BD-B474-D750-70B4CEC86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Bayesian Networks</a:t>
            </a:r>
          </a:p>
          <a:p>
            <a:r>
              <a:rPr lang="en-US" dirty="0"/>
              <a:t>Causal Bayesian Networks</a:t>
            </a:r>
          </a:p>
          <a:p>
            <a:r>
              <a:rPr lang="en-US" dirty="0"/>
              <a:t>Introduction to Information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Elijah presenting </a:t>
            </a:r>
            <a:r>
              <a:rPr lang="en-US" dirty="0" err="1"/>
              <a:t>Lagnado</a:t>
            </a:r>
            <a:r>
              <a:rPr lang="en-US" dirty="0"/>
              <a:t> &amp; Sloman (2002)</a:t>
            </a:r>
          </a:p>
          <a:p>
            <a:pPr lvl="1"/>
            <a:r>
              <a:rPr lang="en-US" dirty="0" err="1"/>
              <a:t>Yinsu</a:t>
            </a:r>
            <a:r>
              <a:rPr lang="en-US" dirty="0"/>
              <a:t> presenting Tenenbaum &amp; Griffiths (2001)</a:t>
            </a:r>
          </a:p>
        </p:txBody>
      </p:sp>
    </p:spTree>
    <p:extLst>
      <p:ext uri="{BB962C8B-B14F-4D97-AF65-F5344CB8AC3E}">
        <p14:creationId xmlns:p14="http://schemas.microsoft.com/office/powerpoint/2010/main" val="4888467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9390-A956-183C-37F2-4AA64D64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52"/>
            <a:ext cx="8229600" cy="793443"/>
          </a:xfrm>
        </p:spPr>
        <p:txBody>
          <a:bodyPr/>
          <a:lstStyle/>
          <a:p>
            <a:r>
              <a:rPr lang="en-US" dirty="0"/>
              <a:t>Short rest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335E2-AB95-1FCA-4C75-45FFE67F7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249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59BE-DBF9-692D-4614-C260AE0A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D4A8D-A6C4-7724-9897-365092F6F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Bayesian Networks</a:t>
            </a:r>
          </a:p>
          <a:p>
            <a:r>
              <a:rPr lang="en-US" dirty="0"/>
              <a:t>Causal Bayesian Networks</a:t>
            </a:r>
          </a:p>
          <a:p>
            <a:r>
              <a:rPr lang="en-US" dirty="0"/>
              <a:t>Introduction to Information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Elijah presenting </a:t>
            </a:r>
            <a:r>
              <a:rPr lang="en-US" dirty="0" err="1"/>
              <a:t>Lagnado</a:t>
            </a:r>
            <a:r>
              <a:rPr lang="en-US" dirty="0"/>
              <a:t> &amp; Sloman (2002)</a:t>
            </a:r>
          </a:p>
          <a:p>
            <a:pPr lvl="1"/>
            <a:r>
              <a:rPr lang="en-US" dirty="0" err="1"/>
              <a:t>Yinsu</a:t>
            </a:r>
            <a:r>
              <a:rPr lang="en-US" dirty="0"/>
              <a:t> presenting Tenenbaum &amp; Griffiths (2001)</a:t>
            </a:r>
          </a:p>
        </p:txBody>
      </p:sp>
    </p:spTree>
    <p:extLst>
      <p:ext uri="{BB962C8B-B14F-4D97-AF65-F5344CB8AC3E}">
        <p14:creationId xmlns:p14="http://schemas.microsoft.com/office/powerpoint/2010/main" val="26676062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9644"/>
  <p:tag name="ORIGINALWIDTH" val="3210.349"/>
  <p:tag name="LATEXADDIN" val="\documentclass{article}&#10;\usepackage{amsmath}&#10;\pagestyle{empty}&#10;\begin{document}&#10;&#10;&#10;\begin{equation*}&#10;H(X,Y) = E \left[ -\log P(x,y) \right] = - \sum_{x \in X,y \in Y}{P(x,y) \log P(x,y)}&#10;\end{equation*}&#10;&#10;\end{document}"/>
  <p:tag name="IGUANATEXSIZE" val="20"/>
  <p:tag name="IGUANATEXCURSOR" val="16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9644"/>
  <p:tag name="ORIGINALWIDTH" val="3652.793"/>
  <p:tag name="LATEXADDIN" val="\documentclass{article}&#10;\usepackage{amsmath}&#10;\pagestyle{empty}&#10;\begin{document}&#10;&#10;&#10;\begin{equation*}&#10;H(X \mid Y) = E \left[ H(X \mid Y = y) \right] = - \sum_{x \in X, y \in Y}{P(x, y) \log P(x \mid Y=y)}&#10;\end{equation*}&#10;&#10;\end{document}"/>
  <p:tag name="IGUANATEXSIZE" val="20"/>
  <p:tag name="IGUANATEXCURSOR" val="191"/>
  <p:tag name="TRANSPARENCY" val="True"/>
  <p:tag name="FILENAME" val=""/>
  <p:tag name="LATEXENGINEID" val="0"/>
  <p:tag name="TEMPFOLDER" val="c:\temp\"/>
  <p:tag name="LATEXFORMHEIGHT" val="309.75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9644"/>
  <p:tag name="ORIGINALWIDTH" val="3837.27"/>
  <p:tag name="LATEXADDIN" val="\documentclass{article}&#10;\usepackage{amsmath}&#10;\pagestyle{empty}&#10;\begin{document}&#10;&#10;&#10;\begin{equation*}&#10;H(X \mid Y) = \sum_{y \in Y}{P(Y=y) \sum_{x \in X} {P(X=x \mid Y=y) \log P(X=x \mid Y=y) }  }&#10;\end{equation*}&#10;&#10;\end{document}"/>
  <p:tag name="IGUANATEXSIZE" val="20"/>
  <p:tag name="IGUANATEXCURSOR" val="19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9.715"/>
  <p:tag name="ORIGINALWIDTH" val="2440.945"/>
  <p:tag name="LATEXADDIN" val="\documentclass{article}&#10;\usepackage{amsmath}&#10;\pagestyle{empty}&#10;\begin{document}&#10;&#10;&#10;\begin{equation*}&#10;-\sum_{x,y} {P(x,y) \log P(x,y)} - \sum_y{-P(y) \log P(y)}  &#10;\end{equation*}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48.7064"/>
  <p:tag name="LATEXADDIN" val="\documentclass{article}&#10;\usepackage{amsmath}&#10;\pagestyle{empty}&#10;\begin{document}&#10;&#10;&#10;\begin{equation*}&#10;P(x | y)&#10;\end{equation*}&#10;&#10;\end{document}"/>
  <p:tag name="IGUANATEXSIZE" val="20"/>
  <p:tag name="IGUANATEXCURSOR" val="10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41.057"/>
  <p:tag name="LATEXADDIN" val="\documentclass{article}&#10;\usepackage{amsmath}&#10;\pagestyle{empty}&#10;\begin{document}&#10;&#10;&#10;\begin{equation*}&#10;H(X|Y) = H(X,Y) - H(Y)&#10;\end{equation*}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1.7098"/>
  <p:tag name="ORIGINALWIDTH" val="4394.451"/>
  <p:tag name="LATEXADDIN" val="\documentclass{article}&#10;\usepackage{amsmath}&#10;\pagestyle{empty}&#10;\begin{document}&#10;&#10;&#10;\begin{equation*}&#10;D_{KL} \left(P(X) \mid \mid Q(x) \right) = -\sum_{x}{P(x) \log Q(x) - P(X) \log P(X) } = \sum_{x} {P(x) \log \frac{P(x)}{Q(x)}  }&#10;\end{equation*}&#10;&#10;\end{document}"/>
  <p:tag name="IGUANATEXSIZE" val="20"/>
  <p:tag name="IGUANATEXCURSOR" val="14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1.7098"/>
  <p:tag name="ORIGINALWIDTH" val="2209.224"/>
  <p:tag name="LATEXADDIN" val="\documentclass{article}&#10;\usepackage{amsmath}&#10;\pagestyle{empty}&#10;\begin{document}&#10;&#10;&#10;\begin{equation*}&#10;D_{KL} \left(Q(X) \mid \mid P(x) \right) = \sum_{x} {Q(x) \log \frac{Q(x)}{P(x)}  }&#10;\end{equation*}&#10;&#10;\end{document}"/>
  <p:tag name="IGUANATEXSIZE" val="20"/>
  <p:tag name="IGUANATEXCURSOR" val="17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9572"/>
  <p:tag name="ORIGINALWIDTH" val="2092.239"/>
  <p:tag name="LATEXADDIN" val="\documentclass{article}&#10;\usepackage{amsmath}&#10;\pagestyle{empty}&#10;\begin{document}&#10;&#10;&#10;\begin{equation*}&#10;I(X; Y) = \sum_{x,y}{P(x,y) \log \left( \frac{P(x,y)}{P(x)P(y)} \right)}&#10;\end{equation*}&#10;&#10;\end{document}"/>
  <p:tag name="IGUANATEXSIZE" val="20"/>
  <p:tag name="IGUANATEXCURSOR" val="1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99.175"/>
  <p:tag name="LATEXADDIN" val="\documentclass{article}&#10;\usepackage{amsmath}&#10;\pagestyle{empty}&#10;\begin{document}&#10;&#10;&#10;\begin{equation*}&#10;I(X; Y) = H(Y) - H(Y|X) = H(X) - H(X|Y)&#10;\end{equation*}&#10;&#10;\end{document}"/>
  <p:tag name="IGUANATEXSIZE" val="20"/>
  <p:tag name="IGUANATEXCURSOR" val="13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988.751"/>
  <p:tag name="LATEXADDIN" val="\documentclass{article}&#10;\usepackage{amsmath}&#10;\pagestyle{empty}&#10;\begin{document}&#10;&#10;&#10;\begin{equation*}&#10;I(X; Y) = H(X) +H(Y) - H(X,Y) &#10;\end{equation*}&#10;\end{document}"/>
  <p:tag name="IGUANATEXSIZE" val="20"/>
  <p:tag name="IGUANATEXCURSOR" val="13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270.716"/>
  <p:tag name="LATEXADDIN" val="\documentclass{article}&#10;\usepackage{amsmath}&#10;\pagestyle{empty}&#10;\begin{document}&#10;&#10;&#10;\begin{equation*}&#10;I(X; Y) = H(X,Y) - H(X|Y) - H(Y|X)&#10;\end{equation*}&#10;\end{document}"/>
  <p:tag name="IGUANATEXSIZE" val="20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36.37"/>
  <p:tag name="LATEXADDIN" val="\documentclass{article}&#10;\usepackage{amsmath}&#10;\pagestyle{empty}&#10;\begin{document}&#10;&#10;&#10;\begin{equation*}&#10;H(X,Y) - I(X; Y)&#10;\end{equation*}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2.4672"/>
  <p:tag name="ORIGINALWIDTH" val="3509.561"/>
  <p:tag name="LATEXADDIN" val="\documentclass{article}&#10;\usepackage{amsmath}&#10;\pagestyle{empty}&#10;\begin{document}&#10;&#10;&#10;\begin{equation*}&#10;E^P[-\log Q(x)] = - \sum_{x}{P(x) \log Q(x)} = H(P(x)) + D_{KL}(P \mid \mid Q)&#10;\end{equation*}&#10;&#10;\end{document}"/>
  <p:tag name="IGUANATEXSIZE" val="20"/>
  <p:tag name="IGUANATEXCURSOR" val="10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976.3779"/>
  <p:tag name="LATEXADDIN" val="\documentclass{article}&#10;\usepackage{amsmath}&#10;\pagestyle{empty}&#10;\begin{document}&#10;&#10;&#10;\begin{equation*}&#10;L(x, \hat{x}) = \left(x-\hat{x} \right)^2&#10;\end{equation*}&#10;&#10;\end{document}"/>
  <p:tag name="IGUANATEXSIZE" val="20"/>
  <p:tag name="IGUANATEXCURSOR" val="13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889.3888"/>
  <p:tag name="LATEXADDIN" val="\documentclass{article}&#10;\usepackage{amsmath}&#10;\pagestyle{empty}&#10;\begin{document}&#10;&#10;&#10;\begin{equation*}&#10;L(x, \hat{x}) = \left| x-\hat{x} \right|&#10;\end{equation*}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7313</TotalTime>
  <Words>2438</Words>
  <Application>Microsoft Office PowerPoint</Application>
  <PresentationFormat>On-screen Show (4:3)</PresentationFormat>
  <Paragraphs>465</Paragraphs>
  <Slides>39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American Typewriter</vt:lpstr>
      <vt:lpstr>ＭＳ Ｐゴシック</vt:lpstr>
      <vt:lpstr>Arial</vt:lpstr>
      <vt:lpstr>Calibri</vt:lpstr>
      <vt:lpstr>Cambria Math</vt:lpstr>
      <vt:lpstr>Symbol</vt:lpstr>
      <vt:lpstr>Times</vt:lpstr>
      <vt:lpstr>Times New Roman</vt:lpstr>
      <vt:lpstr>Office Theme</vt:lpstr>
      <vt:lpstr>Equation</vt:lpstr>
      <vt:lpstr>Picture</vt:lpstr>
      <vt:lpstr>(Causal) Bayesian Networks</vt:lpstr>
      <vt:lpstr>PowerPoint Presentation</vt:lpstr>
      <vt:lpstr>Administrative Matters</vt:lpstr>
      <vt:lpstr>PowerPoint Presentation</vt:lpstr>
      <vt:lpstr>The Markov assumption</vt:lpstr>
      <vt:lpstr>Reading a Bayesian network</vt:lpstr>
      <vt:lpstr>Reading a Bayesian network</vt:lpstr>
      <vt:lpstr>Identifying independence</vt:lpstr>
      <vt:lpstr>PowerPoint Presentation</vt:lpstr>
      <vt:lpstr>Blicket detector  (Dave Sobel, Alison Gopnik, and colleagues)</vt:lpstr>
      <vt:lpstr>“Backwards blocking”  (Sobel, Tenenbaum &amp; Gopnik, 2004)</vt:lpstr>
      <vt:lpstr>Bayes net for backwards blocking</vt:lpstr>
      <vt:lpstr>Manipulating prior probability (Griffiths, Sobel, Tenenbaum, &amp; Gopnik, 2011)</vt:lpstr>
      <vt:lpstr>PowerPoint Presentation</vt:lpstr>
      <vt:lpstr>Causality</vt:lpstr>
      <vt:lpstr>A quick word on causality...</vt:lpstr>
      <vt:lpstr>PowerPoint Presentation</vt:lpstr>
      <vt:lpstr>PowerPoint Presentation</vt:lpstr>
      <vt:lpstr>PowerPoint Presentation</vt:lpstr>
      <vt:lpstr>PowerPoint Presentation</vt:lpstr>
      <vt:lpstr>The Logic of “Doing”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Short rest 1</vt:lpstr>
      <vt:lpstr>PowerPoint Presentation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Joseph Austerweil</dc:creator>
  <cp:lastModifiedBy>Joseph Austerweil</cp:lastModifiedBy>
  <cp:revision>295</cp:revision>
  <cp:lastPrinted>2017-09-13T02:18:10Z</cp:lastPrinted>
  <dcterms:created xsi:type="dcterms:W3CDTF">2015-09-05T16:34:09Z</dcterms:created>
  <dcterms:modified xsi:type="dcterms:W3CDTF">2025-02-28T16:14:24Z</dcterms:modified>
</cp:coreProperties>
</file>