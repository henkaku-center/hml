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7" r:id="rId2"/>
    <p:sldId id="795" r:id="rId3"/>
    <p:sldId id="259" r:id="rId4"/>
    <p:sldId id="802" r:id="rId5"/>
    <p:sldId id="349" r:id="rId6"/>
    <p:sldId id="1066" r:id="rId7"/>
    <p:sldId id="1128" r:id="rId8"/>
    <p:sldId id="350" r:id="rId9"/>
    <p:sldId id="311" r:id="rId10"/>
    <p:sldId id="351" r:id="rId11"/>
    <p:sldId id="312" r:id="rId12"/>
    <p:sldId id="352" r:id="rId13"/>
    <p:sldId id="314" r:id="rId14"/>
    <p:sldId id="353" r:id="rId15"/>
    <p:sldId id="354" r:id="rId16"/>
    <p:sldId id="356" r:id="rId17"/>
    <p:sldId id="357" r:id="rId18"/>
    <p:sldId id="358" r:id="rId19"/>
    <p:sldId id="359" r:id="rId20"/>
    <p:sldId id="360" r:id="rId21"/>
    <p:sldId id="803" r:id="rId22"/>
    <p:sldId id="804" r:id="rId23"/>
    <p:sldId id="805" r:id="rId24"/>
    <p:sldId id="382" r:id="rId25"/>
    <p:sldId id="362" r:id="rId26"/>
    <p:sldId id="384" r:id="rId27"/>
    <p:sldId id="385" r:id="rId28"/>
    <p:sldId id="383" r:id="rId29"/>
    <p:sldId id="361" r:id="rId30"/>
    <p:sldId id="363" r:id="rId31"/>
    <p:sldId id="381" r:id="rId32"/>
    <p:sldId id="364" r:id="rId33"/>
    <p:sldId id="365" r:id="rId34"/>
    <p:sldId id="366" r:id="rId35"/>
    <p:sldId id="367" r:id="rId36"/>
    <p:sldId id="369" r:id="rId37"/>
    <p:sldId id="371" r:id="rId38"/>
    <p:sldId id="372" r:id="rId39"/>
    <p:sldId id="373" r:id="rId40"/>
    <p:sldId id="374" r:id="rId41"/>
    <p:sldId id="388" r:id="rId42"/>
    <p:sldId id="375" r:id="rId43"/>
    <p:sldId id="377" r:id="rId44"/>
    <p:sldId id="378" r:id="rId45"/>
    <p:sldId id="379" r:id="rId46"/>
    <p:sldId id="380" r:id="rId47"/>
    <p:sldId id="801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06" autoAdjust="0"/>
    <p:restoredTop sz="89180" autoAdjust="0"/>
  </p:normalViewPr>
  <p:slideViewPr>
    <p:cSldViewPr snapToGrid="0" snapToObjects="1">
      <p:cViewPr varScale="1">
        <p:scale>
          <a:sx n="77" d="100"/>
          <a:sy n="77" d="100"/>
        </p:scale>
        <p:origin x="122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1CB42-D47B-CE44-8DEE-D3A42889BE6E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18A63-2409-0241-8255-D95D06F65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9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81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05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789A21-08F7-B249-BC34-7B73E19DB713}" type="slidenum">
              <a:rPr lang="en-US" altLang="x-none"/>
              <a:pPr/>
              <a:t>5</a:t>
            </a:fld>
            <a:endParaRPr lang="en-US" altLang="x-none"/>
          </a:p>
        </p:txBody>
      </p:sp>
      <p:sp>
        <p:nvSpPr>
          <p:cNvPr id="1761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8263" y="914400"/>
            <a:ext cx="4181475" cy="3135313"/>
          </a:xfrm>
          <a:solidFill>
            <a:srgbClr val="FFFFFF"/>
          </a:solidFill>
          <a:ln/>
        </p:spPr>
      </p:sp>
      <p:sp>
        <p:nvSpPr>
          <p:cNvPr id="176128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9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472353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BDF5D70-44D4-AA45-0127-7CE2EA191A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2E74F4-85A4-47D2-82C8-801A8D518ABE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520642" name="Rectangle 2">
            <a:extLst>
              <a:ext uri="{FF2B5EF4-FFF2-40B4-BE49-F238E27FC236}">
                <a16:creationId xmlns:a16="http://schemas.microsoft.com/office/drawing/2014/main" id="{B3DBA1E9-2AE1-A1F7-0270-09FF5B2ADE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0643" name="Rectangle 3">
            <a:extLst>
              <a:ext uri="{FF2B5EF4-FFF2-40B4-BE49-F238E27FC236}">
                <a16:creationId xmlns:a16="http://schemas.microsoft.com/office/drawing/2014/main" id="{98C2E789-6C99-722E-538A-8CEEA8076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5967A5F-CEF3-5DC0-73D8-544E44494A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7575F3-CE7B-4C13-99A9-C4EF47EC9670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618946" name="Rectangle 2">
            <a:extLst>
              <a:ext uri="{FF2B5EF4-FFF2-40B4-BE49-F238E27FC236}">
                <a16:creationId xmlns:a16="http://schemas.microsoft.com/office/drawing/2014/main" id="{1E5D72B7-C89E-AAB1-9028-A00397E86DD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18947" name="Rectangle 3">
            <a:extLst>
              <a:ext uri="{FF2B5EF4-FFF2-40B4-BE49-F238E27FC236}">
                <a16:creationId xmlns:a16="http://schemas.microsoft.com/office/drawing/2014/main" id="{46424F7A-F473-C019-5F78-A3520B762E7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Word learning (with real pictures – including rabbits, cars)</a:t>
            </a:r>
          </a:p>
          <a:p>
            <a:endParaRPr lang="en-US" altLang="en-US" dirty="0"/>
          </a:p>
          <a:p>
            <a:r>
              <a:rPr lang="en-US" altLang="en-US" dirty="0"/>
              <a:t>Give the idea that upper levels capture constraints.</a:t>
            </a: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7E5EEE-25B3-2248-AEF3-7765FAC0AA65}" type="slidenum">
              <a:rPr lang="en-US"/>
              <a:pPr/>
              <a:t>8</a:t>
            </a:fld>
            <a:endParaRPr lang="en-US"/>
          </a:p>
        </p:txBody>
      </p:sp>
      <p:sp>
        <p:nvSpPr>
          <p:cNvPr id="163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9850" y="914400"/>
            <a:ext cx="4179888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639427" name="Text Box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163" y="4352925"/>
            <a:ext cx="4770437" cy="3478213"/>
          </a:xfrm>
          <a:prstGeom prst="rect">
            <a:avLst/>
          </a:prstGeo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01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2F90AD-016F-7846-A92A-D3A684E904C6}" type="slidenum">
              <a:rPr lang="en-US"/>
              <a:pPr/>
              <a:t>9</a:t>
            </a:fld>
            <a:endParaRPr lang="en-US"/>
          </a:p>
        </p:txBody>
      </p:sp>
      <p:sp>
        <p:nvSpPr>
          <p:cNvPr id="162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2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3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9E208C-DF4B-1F4F-A484-CD96A72E81E7}" type="slidenum">
              <a:rPr lang="en-US"/>
              <a:pPr/>
              <a:t>10</a:t>
            </a:fld>
            <a:endParaRPr lang="en-US"/>
          </a:p>
        </p:txBody>
      </p:sp>
      <p:sp>
        <p:nvSpPr>
          <p:cNvPr id="162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2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72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9E208C-DF4B-1F4F-A484-CD96A72E81E7}" type="slidenum">
              <a:rPr lang="en-US"/>
              <a:pPr/>
              <a:t>11</a:t>
            </a:fld>
            <a:endParaRPr lang="en-US"/>
          </a:p>
        </p:txBody>
      </p:sp>
      <p:sp>
        <p:nvSpPr>
          <p:cNvPr id="162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2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38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FDFB08-6362-5C40-AB01-A32B268D60D3}" type="slidenum">
              <a:rPr lang="en-US"/>
              <a:pPr/>
              <a:t>12</a:t>
            </a:fld>
            <a:endParaRPr lang="en-US"/>
          </a:p>
        </p:txBody>
      </p:sp>
      <p:sp>
        <p:nvSpPr>
          <p:cNvPr id="157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9850" y="914400"/>
            <a:ext cx="4179888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576963" name="Text Box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163" y="4352925"/>
            <a:ext cx="4770437" cy="3478213"/>
          </a:xfrm>
          <a:prstGeom prst="rect">
            <a:avLst/>
          </a:prstGeo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27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1A67D3-9434-FC47-A053-46525570C3AE}" type="slidenum">
              <a:rPr lang="en-US"/>
              <a:pPr/>
              <a:t>13</a:t>
            </a:fld>
            <a:endParaRPr lang="en-US"/>
          </a:p>
        </p:txBody>
      </p:sp>
      <p:sp>
        <p:nvSpPr>
          <p:cNvPr id="1579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9850" y="914400"/>
            <a:ext cx="4179888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579011" name="Text Box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163" y="4352925"/>
            <a:ext cx="4770437" cy="3478213"/>
          </a:xfrm>
          <a:prstGeom prst="rect">
            <a:avLst/>
          </a:prstGeo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11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9E7A58-D9DE-A24A-8F6A-AA843C691D4E}" type="slidenum">
              <a:rPr lang="en-US"/>
              <a:pPr/>
              <a:t>14</a:t>
            </a:fld>
            <a:endParaRPr lang="en-US"/>
          </a:p>
        </p:txBody>
      </p:sp>
      <p:sp>
        <p:nvSpPr>
          <p:cNvPr id="1628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2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49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6F81EB-7335-4447-BCC2-AE6B77758204}" type="slidenum">
              <a:rPr lang="en-US"/>
              <a:pPr/>
              <a:t>15</a:t>
            </a:fld>
            <a:endParaRPr lang="en-US"/>
          </a:p>
        </p:txBody>
      </p:sp>
      <p:sp>
        <p:nvSpPr>
          <p:cNvPr id="162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2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078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C7587C-E5CA-7F43-A038-325C34925F27}" type="slidenum">
              <a:rPr lang="en-US"/>
              <a:pPr/>
              <a:t>16</a:t>
            </a:fld>
            <a:endParaRPr lang="en-US"/>
          </a:p>
        </p:txBody>
      </p:sp>
      <p:sp>
        <p:nvSpPr>
          <p:cNvPr id="158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9850" y="914400"/>
            <a:ext cx="4179888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581059" name="Text Box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163" y="4352925"/>
            <a:ext cx="4770437" cy="3478213"/>
          </a:xfrm>
          <a:prstGeom prst="rect">
            <a:avLst/>
          </a:prstGeo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24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2F9951-D339-C849-B9C8-4C124DEF71BA}" type="slidenum">
              <a:rPr lang="en-US"/>
              <a:pPr/>
              <a:t>17</a:t>
            </a:fld>
            <a:endParaRPr lang="en-US"/>
          </a:p>
        </p:txBody>
      </p:sp>
      <p:sp>
        <p:nvSpPr>
          <p:cNvPr id="1585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9850" y="914400"/>
            <a:ext cx="4179888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585155" name="Text Box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163" y="4352925"/>
            <a:ext cx="4770437" cy="3478213"/>
          </a:xfrm>
          <a:prstGeom prst="rect">
            <a:avLst/>
          </a:prstGeo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84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B611C2-94D7-234B-844A-E23A9C02F198}" type="slidenum">
              <a:rPr lang="en-US"/>
              <a:pPr/>
              <a:t>18</a:t>
            </a:fld>
            <a:endParaRPr lang="en-US"/>
          </a:p>
        </p:txBody>
      </p:sp>
      <p:sp>
        <p:nvSpPr>
          <p:cNvPr id="158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39850" y="914400"/>
            <a:ext cx="4179888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587203" name="Text Box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163" y="4352925"/>
            <a:ext cx="4770437" cy="3478213"/>
          </a:xfrm>
          <a:prstGeom prst="rect">
            <a:avLst/>
          </a:prstGeo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r>
              <a:rPr lang="en-US" dirty="0"/>
              <a:t>Split that into p(\theta | \alpha</a:t>
            </a:r>
            <a:r>
              <a:rPr lang="en-US" baseline="0" dirty="0"/>
              <a:t>, \beta, </a:t>
            </a:r>
            <a:r>
              <a:rPr lang="en-US" baseline="0" dirty="0" err="1"/>
              <a:t>y_i</a:t>
            </a:r>
            <a:r>
              <a:rPr lang="en-US" baseline="0" dirty="0"/>
              <a:t>) and p(\alpha, \beta)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6126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96CC66-CBF6-0546-87EC-6B842E0332FA}" type="slidenum">
              <a:rPr lang="en-US"/>
              <a:pPr/>
              <a:t>19</a:t>
            </a:fld>
            <a:endParaRPr lang="en-US"/>
          </a:p>
        </p:txBody>
      </p:sp>
      <p:sp>
        <p:nvSpPr>
          <p:cNvPr id="163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Pre-observations…</a:t>
            </a:r>
          </a:p>
        </p:txBody>
      </p:sp>
    </p:spTree>
    <p:extLst>
      <p:ext uri="{BB962C8B-B14F-4D97-AF65-F5344CB8AC3E}">
        <p14:creationId xmlns:p14="http://schemas.microsoft.com/office/powerpoint/2010/main" val="30908819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41FEF8-38A3-A442-9735-D2E0F5303EE4}" type="slidenum">
              <a:rPr lang="en-US"/>
              <a:pPr/>
              <a:t>20</a:t>
            </a:fld>
            <a:endParaRPr lang="en-US"/>
          </a:p>
        </p:txBody>
      </p:sp>
      <p:sp>
        <p:nvSpPr>
          <p:cNvPr id="163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bags…</a:t>
            </a:r>
          </a:p>
        </p:txBody>
      </p:sp>
    </p:spTree>
    <p:extLst>
      <p:ext uri="{BB962C8B-B14F-4D97-AF65-F5344CB8AC3E}">
        <p14:creationId xmlns:p14="http://schemas.microsoft.com/office/powerpoint/2010/main" val="22120786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05EBDD-0074-864D-9B4C-5A13AE5686C0}" type="slidenum">
              <a:rPr lang="en-US"/>
              <a:pPr/>
              <a:t>23</a:t>
            </a:fld>
            <a:endParaRPr lang="en-US"/>
          </a:p>
        </p:txBody>
      </p:sp>
      <p:sp>
        <p:nvSpPr>
          <p:cNvPr id="82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2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370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05EBDD-0074-864D-9B4C-5A13AE5686C0}" type="slidenum">
              <a:rPr lang="en-US"/>
              <a:pPr/>
              <a:t>24</a:t>
            </a:fld>
            <a:endParaRPr lang="en-US"/>
          </a:p>
        </p:txBody>
      </p:sp>
      <p:sp>
        <p:nvSpPr>
          <p:cNvPr id="82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2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787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39112E-049A-6F4A-8FE5-69CC6A6B21D0}" type="slidenum">
              <a:rPr lang="en-US"/>
              <a:pPr/>
              <a:t>25</a:t>
            </a:fld>
            <a:endParaRPr lang="en-US"/>
          </a:p>
        </p:txBody>
      </p:sp>
      <p:sp>
        <p:nvSpPr>
          <p:cNvPr id="8785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564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39112E-049A-6F4A-8FE5-69CC6A6B21D0}" type="slidenum">
              <a:rPr lang="en-US"/>
              <a:pPr/>
              <a:t>26</a:t>
            </a:fld>
            <a:endParaRPr lang="en-US"/>
          </a:p>
        </p:txBody>
      </p:sp>
      <p:sp>
        <p:nvSpPr>
          <p:cNvPr id="8785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9567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39112E-049A-6F4A-8FE5-69CC6A6B21D0}" type="slidenum">
              <a:rPr lang="en-US"/>
              <a:pPr/>
              <a:t>27</a:t>
            </a:fld>
            <a:endParaRPr lang="en-US"/>
          </a:p>
        </p:txBody>
      </p:sp>
      <p:sp>
        <p:nvSpPr>
          <p:cNvPr id="8785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28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39112E-049A-6F4A-8FE5-69CC6A6B21D0}" type="slidenum">
              <a:rPr lang="en-US"/>
              <a:pPr/>
              <a:t>28</a:t>
            </a:fld>
            <a:endParaRPr lang="en-US"/>
          </a:p>
        </p:txBody>
      </p:sp>
      <p:sp>
        <p:nvSpPr>
          <p:cNvPr id="8785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734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412AF0-6626-6C41-B5D3-A3A1B612774B}" type="slidenum">
              <a:rPr lang="en-US"/>
              <a:pPr/>
              <a:t>29</a:t>
            </a:fld>
            <a:endParaRPr lang="en-US"/>
          </a:p>
        </p:txBody>
      </p:sp>
      <p:sp>
        <p:nvSpPr>
          <p:cNvPr id="8806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06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702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61CBCE-29FE-174E-B634-B874F7A6959A}" type="slidenum">
              <a:rPr lang="en-US"/>
              <a:pPr/>
              <a:t>30</a:t>
            </a:fld>
            <a:endParaRPr lang="en-US"/>
          </a:p>
        </p:txBody>
      </p:sp>
      <p:sp>
        <p:nvSpPr>
          <p:cNvPr id="88473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47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/>
              <a:t>Spell out trick to the product rule for more than two variables…</a:t>
            </a:r>
          </a:p>
        </p:txBody>
      </p:sp>
    </p:spTree>
    <p:extLst>
      <p:ext uri="{BB962C8B-B14F-4D97-AF65-F5344CB8AC3E}">
        <p14:creationId xmlns:p14="http://schemas.microsoft.com/office/powerpoint/2010/main" val="13272164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61CBCE-29FE-174E-B634-B874F7A6959A}" type="slidenum">
              <a:rPr lang="en-US"/>
              <a:pPr/>
              <a:t>31</a:t>
            </a:fld>
            <a:endParaRPr lang="en-US"/>
          </a:p>
        </p:txBody>
      </p:sp>
      <p:sp>
        <p:nvSpPr>
          <p:cNvPr id="88473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47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/>
              <a:t>Spell out trick to the product rule for more than two variables…</a:t>
            </a:r>
          </a:p>
        </p:txBody>
      </p:sp>
    </p:spTree>
    <p:extLst>
      <p:ext uri="{BB962C8B-B14F-4D97-AF65-F5344CB8AC3E}">
        <p14:creationId xmlns:p14="http://schemas.microsoft.com/office/powerpoint/2010/main" val="6650219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FC1902-AA84-8948-9B5A-538D4AF0C6CE}" type="slidenum">
              <a:rPr lang="en-US"/>
              <a:pPr/>
              <a:t>32</a:t>
            </a:fld>
            <a:endParaRPr lang="en-US"/>
          </a:p>
        </p:txBody>
      </p:sp>
      <p:sp>
        <p:nvSpPr>
          <p:cNvPr id="88678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67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1493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A91B69-F3A1-FA4A-BDF0-524216271395}" type="slidenum">
              <a:rPr lang="en-US"/>
              <a:pPr/>
              <a:t>33</a:t>
            </a:fld>
            <a:endParaRPr lang="en-US"/>
          </a:p>
        </p:txBody>
      </p:sp>
      <p:sp>
        <p:nvSpPr>
          <p:cNvPr id="82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2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637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D22AB8-8CEE-EF4F-9444-F03C162D31B0}" type="slidenum">
              <a:rPr lang="en-US"/>
              <a:pPr/>
              <a:t>34</a:t>
            </a:fld>
            <a:endParaRPr lang="en-US"/>
          </a:p>
        </p:txBody>
      </p:sp>
      <p:sp>
        <p:nvSpPr>
          <p:cNvPr id="8908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369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4A66F3-E3A1-E04D-812E-AE5C965A722B}" type="slidenum">
              <a:rPr lang="en-US"/>
              <a:pPr/>
              <a:t>35</a:t>
            </a:fld>
            <a:endParaRPr lang="en-US"/>
          </a:p>
        </p:txBody>
      </p:sp>
      <p:sp>
        <p:nvSpPr>
          <p:cNvPr id="8888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363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4A66F3-E3A1-E04D-812E-AE5C965A722B}" type="slidenum">
              <a:rPr lang="en-US"/>
              <a:pPr/>
              <a:t>36</a:t>
            </a:fld>
            <a:endParaRPr lang="en-US"/>
          </a:p>
        </p:txBody>
      </p:sp>
      <p:sp>
        <p:nvSpPr>
          <p:cNvPr id="8888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/>
              <a:t>Why 2 for X_2? Well 1 for each possible value of X_3</a:t>
            </a:r>
          </a:p>
          <a:p>
            <a:r>
              <a:rPr lang="en-US" dirty="0"/>
              <a:t>Why 4 for X_1? Well 1 for each combination of values of X_3 and X_4</a:t>
            </a:r>
          </a:p>
        </p:txBody>
      </p:sp>
    </p:spTree>
    <p:extLst>
      <p:ext uri="{BB962C8B-B14F-4D97-AF65-F5344CB8AC3E}">
        <p14:creationId xmlns:p14="http://schemas.microsoft.com/office/powerpoint/2010/main" val="13763357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4A66F3-E3A1-E04D-812E-AE5C965A722B}" type="slidenum">
              <a:rPr lang="en-US"/>
              <a:pPr/>
              <a:t>37</a:t>
            </a:fld>
            <a:endParaRPr lang="en-US"/>
          </a:p>
        </p:txBody>
      </p:sp>
      <p:sp>
        <p:nvSpPr>
          <p:cNvPr id="8888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664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ADF5F9-E0D5-784C-B4F9-21AC14DAE2AB}" type="slidenum">
              <a:rPr lang="en-US"/>
              <a:pPr/>
              <a:t>38</a:t>
            </a:fld>
            <a:endParaRPr lang="en-US"/>
          </a:p>
        </p:txBody>
      </p:sp>
      <p:sp>
        <p:nvSpPr>
          <p:cNvPr id="9932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932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239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78E3A6-3F21-8543-BC78-3809D06CC378}" type="slidenum">
              <a:rPr lang="en-US"/>
              <a:pPr/>
              <a:t>39</a:t>
            </a:fld>
            <a:endParaRPr lang="en-US"/>
          </a:p>
        </p:txBody>
      </p:sp>
      <p:sp>
        <p:nvSpPr>
          <p:cNvPr id="9912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912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/>
              <a:t>Most cases handled here (others are more observed more independence)</a:t>
            </a:r>
          </a:p>
        </p:txBody>
      </p:sp>
    </p:spTree>
    <p:extLst>
      <p:ext uri="{BB962C8B-B14F-4D97-AF65-F5344CB8AC3E}">
        <p14:creationId xmlns:p14="http://schemas.microsoft.com/office/powerpoint/2010/main" val="21293340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5F8EBDD-F365-704C-BF80-38CC5432945F}" type="slidenum">
              <a:rPr lang="en-US" sz="1200"/>
              <a:pPr/>
              <a:t>40</a:t>
            </a:fld>
            <a:endParaRPr lang="en-US" sz="1200"/>
          </a:p>
        </p:txBody>
      </p:sp>
      <p:sp>
        <p:nvSpPr>
          <p:cNvPr id="512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Normally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conditioning on a variable screens others, but it has the opposite effect for this one special type of causal relationship, a common cause model…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8173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ADF5F9-E0D5-784C-B4F9-21AC14DAE2AB}" type="slidenum">
              <a:rPr lang="en-US"/>
              <a:pPr/>
              <a:t>41</a:t>
            </a:fld>
            <a:endParaRPr lang="en-US"/>
          </a:p>
        </p:txBody>
      </p:sp>
      <p:sp>
        <p:nvSpPr>
          <p:cNvPr id="9932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932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260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965945-74E7-6444-9C08-725D48147D31}" type="slidenum">
              <a:rPr lang="en-US"/>
              <a:pPr/>
              <a:t>42</a:t>
            </a:fld>
            <a:endParaRPr lang="en-US"/>
          </a:p>
        </p:txBody>
      </p:sp>
      <p:sp>
        <p:nvSpPr>
          <p:cNvPr id="99942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994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/>
              <a:t>X_4 and X_2 are independent </a:t>
            </a:r>
            <a:r>
              <a:rPr lang="en-US" dirty="0" err="1"/>
              <a:t>bc</a:t>
            </a:r>
            <a:r>
              <a:rPr lang="en-US" dirty="0"/>
              <a:t> X_4 and X_3 are and then things downstream from X_3 will be independent by default (unless something else makes it dependent)</a:t>
            </a:r>
          </a:p>
        </p:txBody>
      </p:sp>
    </p:spTree>
    <p:extLst>
      <p:ext uri="{BB962C8B-B14F-4D97-AF65-F5344CB8AC3E}">
        <p14:creationId xmlns:p14="http://schemas.microsoft.com/office/powerpoint/2010/main" val="13923036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675E4F-1CF0-8945-9786-35F1E22E8477}" type="slidenum">
              <a:rPr lang="en-US"/>
              <a:pPr/>
              <a:t>43</a:t>
            </a:fld>
            <a:endParaRPr lang="en-US"/>
          </a:p>
        </p:txBody>
      </p:sp>
      <p:sp>
        <p:nvSpPr>
          <p:cNvPr id="9011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1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/>
              <a:t>Skip if short on time</a:t>
            </a:r>
          </a:p>
        </p:txBody>
      </p:sp>
    </p:spTree>
    <p:extLst>
      <p:ext uri="{BB962C8B-B14F-4D97-AF65-F5344CB8AC3E}">
        <p14:creationId xmlns:p14="http://schemas.microsoft.com/office/powerpoint/2010/main" val="12390923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72B723-D8CF-5C45-8CBA-69898AD85681}" type="slidenum">
              <a:rPr lang="en-US"/>
              <a:pPr/>
              <a:t>44</a:t>
            </a:fld>
            <a:endParaRPr lang="en-US"/>
          </a:p>
        </p:txBody>
      </p:sp>
      <p:sp>
        <p:nvSpPr>
          <p:cNvPr id="9031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3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785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356410-1A68-2441-9444-4AEE8C539D85}" type="slidenum">
              <a:rPr lang="en-US"/>
              <a:pPr/>
              <a:t>45</a:t>
            </a:fld>
            <a:endParaRPr lang="en-US"/>
          </a:p>
        </p:txBody>
      </p:sp>
      <p:sp>
        <p:nvSpPr>
          <p:cNvPr id="9052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5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2171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C4E1A4-B044-D84E-9E53-165CC50923F4}" type="slidenum">
              <a:rPr lang="en-US"/>
              <a:pPr/>
              <a:t>46</a:t>
            </a:fld>
            <a:endParaRPr lang="en-US"/>
          </a:p>
        </p:txBody>
      </p:sp>
      <p:sp>
        <p:nvSpPr>
          <p:cNvPr id="90726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7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97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3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3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7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49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8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38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4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37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0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79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15393-3CCC-4343-B59B-737CD1DF1100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1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hyperlink" Target="http://www.wallpaperbase.com/wallpapers/animals/monkey/monkey_1.jpg" TargetMode="External"/><Relationship Id="rId3" Type="http://schemas.openxmlformats.org/officeDocument/2006/relationships/hyperlink" Target="http://www.snuffledopple.com/images/2710.jpg" TargetMode="External"/><Relationship Id="rId7" Type="http://schemas.openxmlformats.org/officeDocument/2006/relationships/hyperlink" Target="http://upload.wikimedia.org/wikipedia/commons/archive/2/27/20051202200356!Baby_ginger_monkey.jpg" TargetMode="External"/><Relationship Id="rId12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hyperlink" Target="http://www.birding.in/images/Birds/pink_headed_duck.jpg" TargetMode="External"/><Relationship Id="rId5" Type="http://schemas.openxmlformats.org/officeDocument/2006/relationships/hyperlink" Target="http://www.agfilho.com/CarAstonMartin.jpg" TargetMode="External"/><Relationship Id="rId15" Type="http://schemas.openxmlformats.org/officeDocument/2006/relationships/image" Target="../media/image9.jpeg"/><Relationship Id="rId10" Type="http://schemas.openxmlformats.org/officeDocument/2006/relationships/image" Target="../media/image6.jpeg"/><Relationship Id="rId4" Type="http://schemas.openxmlformats.org/officeDocument/2006/relationships/image" Target="../media/image3.jpeg"/><Relationship Id="rId9" Type="http://schemas.openxmlformats.org/officeDocument/2006/relationships/hyperlink" Target="http://www.maxwaugh.com/images/misc04/duck.jpg" TargetMode="External"/><Relationship Id="rId1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8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3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794" y="1721194"/>
            <a:ext cx="8998890" cy="1470025"/>
          </a:xfrm>
        </p:spPr>
        <p:txBody>
          <a:bodyPr/>
          <a:lstStyle/>
          <a:p>
            <a:r>
              <a:rPr lang="en-US" dirty="0"/>
              <a:t>Hierarchical Bayesian Models and Bayesian Networks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3229125" y="4086470"/>
            <a:ext cx="5914875" cy="26475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PSYCH/COMP SCI/BMI 841: Computational Cognitive Science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Joseph Austerweil</a:t>
            </a:r>
          </a:p>
          <a:p>
            <a:r>
              <a:rPr lang="en-US">
                <a:solidFill>
                  <a:schemeClr val="tx1"/>
                </a:solidFill>
              </a:rPr>
              <a:t>February 20, </a:t>
            </a:r>
            <a:r>
              <a:rPr lang="en-US" dirty="0">
                <a:solidFill>
                  <a:schemeClr val="tx1"/>
                </a:solidFill>
              </a:rPr>
              <a:t>2025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0" y="3946986"/>
            <a:ext cx="3344993" cy="264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25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DF59-8DDC-3614-EEB3-0384B181D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3F0C7-ACE2-FCAF-C693-9B18B8E88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Hierarchical Bayesian Modeling</a:t>
            </a:r>
          </a:p>
          <a:p>
            <a:r>
              <a:rPr lang="en-US" dirty="0"/>
              <a:t>Bayesian Networks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Jess presenting Kemp et al. (2007)</a:t>
            </a:r>
          </a:p>
          <a:p>
            <a:pPr lvl="1"/>
            <a:r>
              <a:rPr lang="en-US" dirty="0"/>
              <a:t>Neha presenting Zhu et al. (2007)</a:t>
            </a:r>
          </a:p>
        </p:txBody>
      </p:sp>
    </p:spTree>
    <p:extLst>
      <p:ext uri="{BB962C8B-B14F-4D97-AF65-F5344CB8AC3E}">
        <p14:creationId xmlns:p14="http://schemas.microsoft.com/office/powerpoint/2010/main" val="3254488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B844-C8D6-871E-2E6D-933FA980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379"/>
            <a:ext cx="8229600" cy="689458"/>
          </a:xfrm>
        </p:spPr>
        <p:txBody>
          <a:bodyPr>
            <a:normAutofit fontScale="90000"/>
          </a:bodyPr>
          <a:lstStyle/>
          <a:p>
            <a:r>
              <a:rPr lang="en-US" dirty="0"/>
              <a:t>Administrative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19CC3-800A-DE11-B68C-C05431A3E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4647"/>
            <a:ext cx="9144000" cy="6000974"/>
          </a:xfrm>
        </p:spPr>
        <p:txBody>
          <a:bodyPr>
            <a:normAutofit/>
          </a:bodyPr>
          <a:lstStyle/>
          <a:p>
            <a:r>
              <a:rPr lang="en-US" dirty="0"/>
              <a:t>Clusters Assignment was due Feb 19 8:59pm</a:t>
            </a:r>
          </a:p>
          <a:p>
            <a:r>
              <a:rPr lang="en-US" dirty="0"/>
              <a:t>Generalization Assignment due Mar 5 8:59pm</a:t>
            </a:r>
          </a:p>
          <a:p>
            <a:pPr lvl="1"/>
            <a:r>
              <a:rPr lang="en-US" dirty="0"/>
              <a:t>Remember you have three “free” late days for assignments.</a:t>
            </a:r>
          </a:p>
          <a:p>
            <a:pPr lvl="1"/>
            <a:r>
              <a:rPr lang="en-US" dirty="0"/>
              <a:t>Late days do not prorate (used up in 24-hour chunks).</a:t>
            </a:r>
          </a:p>
          <a:p>
            <a:endParaRPr lang="en-US" dirty="0"/>
          </a:p>
          <a:p>
            <a:r>
              <a:rPr lang="en-US" dirty="0"/>
              <a:t>Project proposal due Mar 12 8:59pm</a:t>
            </a:r>
          </a:p>
          <a:p>
            <a:pPr lvl="1"/>
            <a:r>
              <a:rPr lang="en-US" dirty="0"/>
              <a:t>No late days for project proposal (or final paper/presentation)</a:t>
            </a:r>
          </a:p>
          <a:p>
            <a:endParaRPr lang="en-US" dirty="0"/>
          </a:p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9140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B084B-B03B-A902-F420-E2768178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2152F-D41F-4093-EC64-13F12B414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Hierarchical Bayesian Modeling</a:t>
            </a:r>
          </a:p>
          <a:p>
            <a:r>
              <a:rPr lang="en-US" dirty="0"/>
              <a:t>Bayesian Networks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Jess presenting Kemp et al. (2007)</a:t>
            </a:r>
          </a:p>
          <a:p>
            <a:pPr lvl="1"/>
            <a:r>
              <a:rPr lang="en-US" dirty="0"/>
              <a:t>Neha presenting Zhu et al. (2007)</a:t>
            </a:r>
          </a:p>
        </p:txBody>
      </p:sp>
    </p:spTree>
    <p:extLst>
      <p:ext uri="{BB962C8B-B14F-4D97-AF65-F5344CB8AC3E}">
        <p14:creationId xmlns:p14="http://schemas.microsoft.com/office/powerpoint/2010/main" val="260607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258" name="Text Box 2"/>
          <p:cNvSpPr txBox="1">
            <a:spLocks noChangeArrowheads="1"/>
          </p:cNvSpPr>
          <p:nvPr/>
        </p:nvSpPr>
        <p:spPr bwMode="auto">
          <a:xfrm>
            <a:off x="1435100" y="1765300"/>
            <a:ext cx="20637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414338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828675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244600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658938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1161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5733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0305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4877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>
              <a:lnSpc>
                <a:spcPct val="95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x-none" sz="3600" i="1">
                <a:solidFill>
                  <a:srgbClr val="000000"/>
                </a:solidFill>
              </a:rPr>
              <a:t>F</a:t>
            </a:r>
            <a:r>
              <a:rPr lang="en-GB" altLang="x-none" sz="3600">
                <a:solidFill>
                  <a:srgbClr val="000000"/>
                </a:solidFill>
              </a:rPr>
              <a:t>: form</a:t>
            </a:r>
          </a:p>
        </p:txBody>
      </p:sp>
      <p:sp>
        <p:nvSpPr>
          <p:cNvPr id="1760259" name="Text Box 3"/>
          <p:cNvSpPr txBox="1">
            <a:spLocks noChangeArrowheads="1"/>
          </p:cNvSpPr>
          <p:nvPr/>
        </p:nvSpPr>
        <p:spPr bwMode="auto">
          <a:xfrm>
            <a:off x="1435100" y="3595688"/>
            <a:ext cx="2155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414338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828675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244600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658938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1161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5733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0305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4877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>
              <a:lnSpc>
                <a:spcPct val="95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x-none" sz="3600" i="1">
                <a:solidFill>
                  <a:srgbClr val="000000"/>
                </a:solidFill>
              </a:rPr>
              <a:t>S</a:t>
            </a:r>
            <a:r>
              <a:rPr lang="en-GB" altLang="x-none" sz="3600">
                <a:solidFill>
                  <a:srgbClr val="000000"/>
                </a:solidFill>
              </a:rPr>
              <a:t>: structure</a:t>
            </a:r>
          </a:p>
        </p:txBody>
      </p:sp>
      <p:sp>
        <p:nvSpPr>
          <p:cNvPr id="1760260" name="Text Box 4"/>
          <p:cNvSpPr txBox="1">
            <a:spLocks noChangeArrowheads="1"/>
          </p:cNvSpPr>
          <p:nvPr/>
        </p:nvSpPr>
        <p:spPr bwMode="auto">
          <a:xfrm>
            <a:off x="1435100" y="5588000"/>
            <a:ext cx="26114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414338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828675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244600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658938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1161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5733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0305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4877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>
              <a:lnSpc>
                <a:spcPct val="95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x-none" sz="3600" i="1">
                <a:solidFill>
                  <a:srgbClr val="000000"/>
                </a:solidFill>
              </a:rPr>
              <a:t>D</a:t>
            </a:r>
            <a:r>
              <a:rPr lang="en-GB" altLang="x-none" sz="3600">
                <a:solidFill>
                  <a:srgbClr val="000000"/>
                </a:solidFill>
              </a:rPr>
              <a:t>: data</a:t>
            </a:r>
          </a:p>
        </p:txBody>
      </p:sp>
      <p:grpSp>
        <p:nvGrpSpPr>
          <p:cNvPr id="1760261" name="Group 5"/>
          <p:cNvGrpSpPr>
            <a:grpSpLocks/>
          </p:cNvGrpSpPr>
          <p:nvPr/>
        </p:nvGrpSpPr>
        <p:grpSpPr bwMode="auto">
          <a:xfrm>
            <a:off x="5638800" y="2984500"/>
            <a:ext cx="974725" cy="1447800"/>
            <a:chOff x="3435" y="2068"/>
            <a:chExt cx="677" cy="1006"/>
          </a:xfrm>
        </p:grpSpPr>
        <p:sp>
          <p:nvSpPr>
            <p:cNvPr id="1760262" name="Oval 6"/>
            <p:cNvSpPr>
              <a:spLocks noChangeArrowheads="1"/>
            </p:cNvSpPr>
            <p:nvPr/>
          </p:nvSpPr>
          <p:spPr bwMode="auto">
            <a:xfrm rot="10800000">
              <a:off x="3764" y="2852"/>
              <a:ext cx="72" cy="71"/>
            </a:xfrm>
            <a:prstGeom prst="ellipse">
              <a:avLst/>
            </a:prstGeom>
            <a:solidFill>
              <a:srgbClr val="333333"/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60263" name="Line 7"/>
            <p:cNvSpPr>
              <a:spLocks noChangeShapeType="1"/>
            </p:cNvSpPr>
            <p:nvPr/>
          </p:nvSpPr>
          <p:spPr bwMode="auto">
            <a:xfrm flipH="1" flipV="1">
              <a:off x="3435" y="2701"/>
              <a:ext cx="330" cy="187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264" name="Line 8"/>
            <p:cNvSpPr>
              <a:spLocks noChangeShapeType="1"/>
            </p:cNvSpPr>
            <p:nvPr/>
          </p:nvSpPr>
          <p:spPr bwMode="auto">
            <a:xfrm flipH="1">
              <a:off x="3434" y="2876"/>
              <a:ext cx="358" cy="198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60265" name="Group 9"/>
            <p:cNvGrpSpPr>
              <a:grpSpLocks/>
            </p:cNvGrpSpPr>
            <p:nvPr/>
          </p:nvGrpSpPr>
          <p:grpSpPr bwMode="auto">
            <a:xfrm>
              <a:off x="3435" y="2068"/>
              <a:ext cx="432" cy="348"/>
              <a:chOff x="3435" y="2068"/>
              <a:chExt cx="432" cy="348"/>
            </a:xfrm>
          </p:grpSpPr>
          <p:sp>
            <p:nvSpPr>
              <p:cNvPr id="1760266" name="Oval 10"/>
              <p:cNvSpPr>
                <a:spLocks noChangeArrowheads="1"/>
              </p:cNvSpPr>
              <p:nvPr/>
            </p:nvSpPr>
            <p:spPr bwMode="auto">
              <a:xfrm rot="10800000">
                <a:off x="3796" y="2214"/>
                <a:ext cx="72" cy="71"/>
              </a:xfrm>
              <a:prstGeom prst="ellipse">
                <a:avLst/>
              </a:prstGeom>
              <a:solidFill>
                <a:srgbClr val="333333"/>
              </a:solidFill>
              <a:ln w="3672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60267" name="Line 11"/>
              <p:cNvSpPr>
                <a:spLocks noChangeShapeType="1"/>
              </p:cNvSpPr>
              <p:nvPr/>
            </p:nvSpPr>
            <p:spPr bwMode="auto">
              <a:xfrm flipH="1" flipV="1">
                <a:off x="3454" y="2066"/>
                <a:ext cx="358" cy="185"/>
              </a:xfrm>
              <a:prstGeom prst="line">
                <a:avLst/>
              </a:prstGeom>
              <a:noFill/>
              <a:ln w="3672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268" name="Line 12"/>
              <p:cNvSpPr>
                <a:spLocks noChangeShapeType="1"/>
              </p:cNvSpPr>
              <p:nvPr/>
            </p:nvSpPr>
            <p:spPr bwMode="auto">
              <a:xfrm flipH="1">
                <a:off x="3434" y="2250"/>
                <a:ext cx="377" cy="166"/>
              </a:xfrm>
              <a:prstGeom prst="line">
                <a:avLst/>
              </a:prstGeom>
              <a:noFill/>
              <a:ln w="3672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60269" name="Oval 13"/>
            <p:cNvSpPr>
              <a:spLocks noChangeArrowheads="1"/>
            </p:cNvSpPr>
            <p:nvPr/>
          </p:nvSpPr>
          <p:spPr bwMode="auto">
            <a:xfrm rot="10800000">
              <a:off x="4041" y="2516"/>
              <a:ext cx="72" cy="71"/>
            </a:xfrm>
            <a:prstGeom prst="ellipse">
              <a:avLst/>
            </a:prstGeom>
            <a:solidFill>
              <a:srgbClr val="333333"/>
            </a:solidFill>
            <a:ln w="3672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60270" name="Line 14"/>
            <p:cNvSpPr>
              <a:spLocks noChangeShapeType="1"/>
            </p:cNvSpPr>
            <p:nvPr/>
          </p:nvSpPr>
          <p:spPr bwMode="auto">
            <a:xfrm flipH="1" flipV="1">
              <a:off x="3855" y="2269"/>
              <a:ext cx="200" cy="252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271" name="Line 15"/>
            <p:cNvSpPr>
              <a:spLocks noChangeShapeType="1"/>
            </p:cNvSpPr>
            <p:nvPr/>
          </p:nvSpPr>
          <p:spPr bwMode="auto">
            <a:xfrm flipH="1">
              <a:off x="3821" y="2584"/>
              <a:ext cx="228" cy="284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60272" name="Text Box 16"/>
          <p:cNvSpPr txBox="1">
            <a:spLocks noChangeArrowheads="1"/>
          </p:cNvSpPr>
          <p:nvPr/>
        </p:nvSpPr>
        <p:spPr bwMode="auto">
          <a:xfrm>
            <a:off x="4702175" y="1870075"/>
            <a:ext cx="4294188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414338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828675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244600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658938" defTabSz="828675"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1161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5733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0305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487738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>
              <a:lnSpc>
                <a:spcPct val="95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x-none" sz="2200">
                <a:solidFill>
                  <a:srgbClr val="000000"/>
                </a:solidFill>
                <a:latin typeface="Arial" charset="0"/>
              </a:rPr>
              <a:t>Tree with species at leaf nodes</a:t>
            </a:r>
          </a:p>
        </p:txBody>
      </p:sp>
      <p:sp>
        <p:nvSpPr>
          <p:cNvPr id="1760273" name="Line 17"/>
          <p:cNvSpPr>
            <a:spLocks noChangeShapeType="1"/>
          </p:cNvSpPr>
          <p:nvPr/>
        </p:nvSpPr>
        <p:spPr bwMode="auto">
          <a:xfrm>
            <a:off x="1944688" y="4713288"/>
            <a:ext cx="0" cy="511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0274" name="Line 18"/>
          <p:cNvSpPr>
            <a:spLocks noChangeShapeType="1"/>
          </p:cNvSpPr>
          <p:nvPr/>
        </p:nvSpPr>
        <p:spPr bwMode="auto">
          <a:xfrm>
            <a:off x="1944688" y="2847975"/>
            <a:ext cx="0" cy="511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760275" name="Group 19"/>
          <p:cNvGrpSpPr>
            <a:grpSpLocks/>
          </p:cNvGrpSpPr>
          <p:nvPr/>
        </p:nvGrpSpPr>
        <p:grpSpPr bwMode="auto">
          <a:xfrm>
            <a:off x="4664075" y="2840038"/>
            <a:ext cx="876300" cy="1649412"/>
            <a:chOff x="2775" y="749"/>
            <a:chExt cx="608" cy="1146"/>
          </a:xfrm>
        </p:grpSpPr>
        <p:sp>
          <p:nvSpPr>
            <p:cNvPr id="1760276" name="Text Box 20"/>
            <p:cNvSpPr txBox="1">
              <a:spLocks noChangeArrowheads="1"/>
            </p:cNvSpPr>
            <p:nvPr/>
          </p:nvSpPr>
          <p:spPr bwMode="auto">
            <a:xfrm>
              <a:off x="2807" y="749"/>
              <a:ext cx="576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414338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828675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244600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1658938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1161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5733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0305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4877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 eaLnBrk="1">
                <a:lnSpc>
                  <a:spcPct val="95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altLang="x-none" sz="1500">
                  <a:solidFill>
                    <a:srgbClr val="000000"/>
                  </a:solidFill>
                  <a:latin typeface="Arial" charset="0"/>
                </a:rPr>
                <a:t>mouse</a:t>
              </a:r>
            </a:p>
          </p:txBody>
        </p:sp>
        <p:sp>
          <p:nvSpPr>
            <p:cNvPr id="1760277" name="Text Box 21"/>
            <p:cNvSpPr txBox="1">
              <a:spLocks noChangeArrowheads="1"/>
            </p:cNvSpPr>
            <p:nvPr/>
          </p:nvSpPr>
          <p:spPr bwMode="auto">
            <a:xfrm>
              <a:off x="2775" y="1079"/>
              <a:ext cx="602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414338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828675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244600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1658938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1161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5733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0305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4877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 eaLnBrk="1">
                <a:lnSpc>
                  <a:spcPct val="95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altLang="x-none" sz="1500">
                  <a:solidFill>
                    <a:srgbClr val="000000"/>
                  </a:solidFill>
                  <a:latin typeface="Arial" charset="0"/>
                </a:rPr>
                <a:t>squirrel</a:t>
              </a:r>
            </a:p>
          </p:txBody>
        </p:sp>
        <p:sp>
          <p:nvSpPr>
            <p:cNvPr id="1760278" name="Text Box 22"/>
            <p:cNvSpPr txBox="1">
              <a:spLocks noChangeArrowheads="1"/>
            </p:cNvSpPr>
            <p:nvPr/>
          </p:nvSpPr>
          <p:spPr bwMode="auto">
            <a:xfrm>
              <a:off x="2840" y="1389"/>
              <a:ext cx="531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414338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828675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244600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1658938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1161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5733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0305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4877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 eaLnBrk="1">
                <a:lnSpc>
                  <a:spcPct val="95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altLang="x-none" sz="1500">
                  <a:solidFill>
                    <a:srgbClr val="000000"/>
                  </a:solidFill>
                  <a:latin typeface="Arial" charset="0"/>
                </a:rPr>
                <a:t>chimp</a:t>
              </a:r>
            </a:p>
          </p:txBody>
        </p:sp>
        <p:sp>
          <p:nvSpPr>
            <p:cNvPr id="1760279" name="Text Box 23"/>
            <p:cNvSpPr txBox="1">
              <a:spLocks noChangeArrowheads="1"/>
            </p:cNvSpPr>
            <p:nvPr/>
          </p:nvSpPr>
          <p:spPr bwMode="auto">
            <a:xfrm>
              <a:off x="2801" y="1744"/>
              <a:ext cx="543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414338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828675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244600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1658938" defTabSz="828675"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1161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5733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0305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487738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 eaLnBrk="1">
                <a:lnSpc>
                  <a:spcPct val="95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altLang="x-none" sz="1500">
                  <a:solidFill>
                    <a:srgbClr val="000000"/>
                  </a:solidFill>
                  <a:latin typeface="Arial" charset="0"/>
                </a:rPr>
                <a:t>gorilla</a:t>
              </a:r>
            </a:p>
          </p:txBody>
        </p:sp>
      </p:grpSp>
      <p:sp>
        <p:nvSpPr>
          <p:cNvPr id="1760280" name="Oval 24"/>
          <p:cNvSpPr>
            <a:spLocks noChangeArrowheads="1"/>
          </p:cNvSpPr>
          <p:nvPr/>
        </p:nvSpPr>
        <p:spPr bwMode="auto">
          <a:xfrm>
            <a:off x="5681663" y="5495925"/>
            <a:ext cx="150812" cy="1460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81" name="Oval 25"/>
          <p:cNvSpPr>
            <a:spLocks noChangeArrowheads="1"/>
          </p:cNvSpPr>
          <p:nvPr/>
        </p:nvSpPr>
        <p:spPr bwMode="auto">
          <a:xfrm>
            <a:off x="5978525" y="5495925"/>
            <a:ext cx="150813" cy="1460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82" name="Oval 26"/>
          <p:cNvSpPr>
            <a:spLocks noChangeArrowheads="1"/>
          </p:cNvSpPr>
          <p:nvPr/>
        </p:nvSpPr>
        <p:spPr bwMode="auto">
          <a:xfrm>
            <a:off x="6272213" y="5495925"/>
            <a:ext cx="149225" cy="1460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83" name="Oval 27"/>
          <p:cNvSpPr>
            <a:spLocks noChangeArrowheads="1"/>
          </p:cNvSpPr>
          <p:nvPr/>
        </p:nvSpPr>
        <p:spPr bwMode="auto">
          <a:xfrm>
            <a:off x="6562725" y="5495925"/>
            <a:ext cx="149225" cy="1460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84" name="Oval 28"/>
          <p:cNvSpPr>
            <a:spLocks noChangeArrowheads="1"/>
          </p:cNvSpPr>
          <p:nvPr/>
        </p:nvSpPr>
        <p:spPr bwMode="auto">
          <a:xfrm>
            <a:off x="5681663" y="5710238"/>
            <a:ext cx="150812" cy="1492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85" name="Oval 29"/>
          <p:cNvSpPr>
            <a:spLocks noChangeArrowheads="1"/>
          </p:cNvSpPr>
          <p:nvPr/>
        </p:nvSpPr>
        <p:spPr bwMode="auto">
          <a:xfrm>
            <a:off x="5978525" y="5710238"/>
            <a:ext cx="150813" cy="1492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86" name="Oval 30"/>
          <p:cNvSpPr>
            <a:spLocks noChangeArrowheads="1"/>
          </p:cNvSpPr>
          <p:nvPr/>
        </p:nvSpPr>
        <p:spPr bwMode="auto">
          <a:xfrm>
            <a:off x="6272213" y="5710238"/>
            <a:ext cx="149225" cy="1492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87" name="Oval 31"/>
          <p:cNvSpPr>
            <a:spLocks noChangeArrowheads="1"/>
          </p:cNvSpPr>
          <p:nvPr/>
        </p:nvSpPr>
        <p:spPr bwMode="auto">
          <a:xfrm>
            <a:off x="6562725" y="5710238"/>
            <a:ext cx="149225" cy="1492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88" name="Oval 32"/>
          <p:cNvSpPr>
            <a:spLocks noChangeArrowheads="1"/>
          </p:cNvSpPr>
          <p:nvPr/>
        </p:nvSpPr>
        <p:spPr bwMode="auto">
          <a:xfrm>
            <a:off x="5681663" y="5935663"/>
            <a:ext cx="150812" cy="1492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89" name="Oval 33"/>
          <p:cNvSpPr>
            <a:spLocks noChangeArrowheads="1"/>
          </p:cNvSpPr>
          <p:nvPr/>
        </p:nvSpPr>
        <p:spPr bwMode="auto">
          <a:xfrm>
            <a:off x="5978525" y="5935663"/>
            <a:ext cx="150813" cy="1492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90" name="Oval 34"/>
          <p:cNvSpPr>
            <a:spLocks noChangeArrowheads="1"/>
          </p:cNvSpPr>
          <p:nvPr/>
        </p:nvSpPr>
        <p:spPr bwMode="auto">
          <a:xfrm>
            <a:off x="6272213" y="5935663"/>
            <a:ext cx="149225" cy="1492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91" name="Oval 35"/>
          <p:cNvSpPr>
            <a:spLocks noChangeArrowheads="1"/>
          </p:cNvSpPr>
          <p:nvPr/>
        </p:nvSpPr>
        <p:spPr bwMode="auto">
          <a:xfrm>
            <a:off x="6562725" y="5935663"/>
            <a:ext cx="149225" cy="1492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92" name="Oval 36"/>
          <p:cNvSpPr>
            <a:spLocks noChangeArrowheads="1"/>
          </p:cNvSpPr>
          <p:nvPr/>
        </p:nvSpPr>
        <p:spPr bwMode="auto">
          <a:xfrm>
            <a:off x="7121525" y="5935663"/>
            <a:ext cx="146050" cy="1492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93" name="Oval 37"/>
          <p:cNvSpPr>
            <a:spLocks noChangeArrowheads="1"/>
          </p:cNvSpPr>
          <p:nvPr/>
        </p:nvSpPr>
        <p:spPr bwMode="auto">
          <a:xfrm>
            <a:off x="5681663" y="6146800"/>
            <a:ext cx="150812" cy="1476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94" name="Oval 38"/>
          <p:cNvSpPr>
            <a:spLocks noChangeArrowheads="1"/>
          </p:cNvSpPr>
          <p:nvPr/>
        </p:nvSpPr>
        <p:spPr bwMode="auto">
          <a:xfrm>
            <a:off x="5978525" y="6146800"/>
            <a:ext cx="150813" cy="1476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95" name="Oval 39"/>
          <p:cNvSpPr>
            <a:spLocks noChangeArrowheads="1"/>
          </p:cNvSpPr>
          <p:nvPr/>
        </p:nvSpPr>
        <p:spPr bwMode="auto">
          <a:xfrm>
            <a:off x="6272213" y="6146800"/>
            <a:ext cx="149225" cy="1476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96" name="Oval 40"/>
          <p:cNvSpPr>
            <a:spLocks noChangeArrowheads="1"/>
          </p:cNvSpPr>
          <p:nvPr/>
        </p:nvSpPr>
        <p:spPr bwMode="auto">
          <a:xfrm>
            <a:off x="6562725" y="6146800"/>
            <a:ext cx="149225" cy="1476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60297" name="Text Box 41"/>
          <p:cNvSpPr txBox="1">
            <a:spLocks noChangeArrowheads="1"/>
          </p:cNvSpPr>
          <p:nvPr/>
        </p:nvSpPr>
        <p:spPr bwMode="auto">
          <a:xfrm>
            <a:off x="4725988" y="5370513"/>
            <a:ext cx="8080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793" tIns="45399" rIns="90793" bIns="45399">
            <a:spAutoFit/>
          </a:bodyPr>
          <a:lstStyle/>
          <a:p>
            <a:pPr algn="r"/>
            <a:r>
              <a:rPr lang="en-US" altLang="x-none" sz="1500">
                <a:latin typeface="Helvetica" charset="0"/>
              </a:rPr>
              <a:t>mouse</a:t>
            </a:r>
          </a:p>
          <a:p>
            <a:pPr algn="r"/>
            <a:r>
              <a:rPr lang="en-US" altLang="x-none" sz="1500">
                <a:latin typeface="Helvetica" charset="0"/>
              </a:rPr>
              <a:t>squirrel</a:t>
            </a:r>
          </a:p>
          <a:p>
            <a:pPr algn="r"/>
            <a:r>
              <a:rPr lang="en-US" altLang="x-none" sz="1500">
                <a:latin typeface="Helvetica" charset="0"/>
              </a:rPr>
              <a:t>chimp</a:t>
            </a:r>
          </a:p>
          <a:p>
            <a:pPr algn="r"/>
            <a:r>
              <a:rPr lang="en-US" altLang="x-none" sz="1500">
                <a:latin typeface="Helvetica" charset="0"/>
              </a:rPr>
              <a:t>gorilla</a:t>
            </a:r>
          </a:p>
        </p:txBody>
      </p:sp>
      <p:sp>
        <p:nvSpPr>
          <p:cNvPr id="1760298" name="Text Box 42"/>
          <p:cNvSpPr txBox="1">
            <a:spLocks noChangeArrowheads="1"/>
          </p:cNvSpPr>
          <p:nvPr/>
        </p:nvSpPr>
        <p:spPr bwMode="auto">
          <a:xfrm rot="-5400000">
            <a:off x="6061075" y="3979863"/>
            <a:ext cx="1030288" cy="192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793" tIns="45399" rIns="90793" bIns="45399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x-none" sz="1500">
                <a:latin typeface="Helvetica" charset="0"/>
              </a:rPr>
              <a:t>F1 </a:t>
            </a:r>
          </a:p>
          <a:p>
            <a:pPr>
              <a:spcBef>
                <a:spcPct val="20000"/>
              </a:spcBef>
            </a:pPr>
            <a:r>
              <a:rPr lang="en-US" altLang="x-none" sz="1500">
                <a:latin typeface="Helvetica" charset="0"/>
              </a:rPr>
              <a:t>F2</a:t>
            </a:r>
          </a:p>
          <a:p>
            <a:pPr>
              <a:spcBef>
                <a:spcPct val="20000"/>
              </a:spcBef>
            </a:pPr>
            <a:r>
              <a:rPr lang="en-US" altLang="x-none" sz="1500">
                <a:latin typeface="Helvetica" charset="0"/>
              </a:rPr>
              <a:t>F3</a:t>
            </a:r>
          </a:p>
          <a:p>
            <a:pPr>
              <a:spcBef>
                <a:spcPct val="20000"/>
              </a:spcBef>
            </a:pPr>
            <a:r>
              <a:rPr lang="en-US" altLang="x-none" sz="1500">
                <a:latin typeface="Helvetica" charset="0"/>
              </a:rPr>
              <a:t>F4</a:t>
            </a:r>
          </a:p>
          <a:p>
            <a:pPr>
              <a:spcBef>
                <a:spcPct val="20000"/>
              </a:spcBef>
            </a:pPr>
            <a:endParaRPr lang="en-US" altLang="x-none" sz="1500">
              <a:latin typeface="Helvetica" charset="0"/>
            </a:endParaRPr>
          </a:p>
          <a:p>
            <a:pPr>
              <a:spcBef>
                <a:spcPct val="20000"/>
              </a:spcBef>
            </a:pPr>
            <a:r>
              <a:rPr lang="en-US" altLang="x-none" sz="1500">
                <a:latin typeface="Helvetica" charset="0"/>
              </a:rPr>
              <a:t>Has T9</a:t>
            </a:r>
          </a:p>
          <a:p>
            <a:r>
              <a:rPr lang="en-US" altLang="x-none" sz="1500">
                <a:latin typeface="Helvetica" charset="0"/>
              </a:rPr>
              <a:t>hormones</a:t>
            </a:r>
          </a:p>
        </p:txBody>
      </p:sp>
      <p:sp>
        <p:nvSpPr>
          <p:cNvPr id="1760299" name="Text Box 43"/>
          <p:cNvSpPr txBox="1">
            <a:spLocks noChangeArrowheads="1"/>
          </p:cNvSpPr>
          <p:nvPr/>
        </p:nvSpPr>
        <p:spPr bwMode="auto">
          <a:xfrm>
            <a:off x="7059613" y="5434013"/>
            <a:ext cx="27940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783" tIns="45394" rIns="90783" bIns="45394">
            <a:spAutoFit/>
          </a:bodyPr>
          <a:lstStyle/>
          <a:p>
            <a:r>
              <a:rPr lang="en-US" altLang="x-none" sz="1400">
                <a:latin typeface="Helvetica" charset="0"/>
              </a:rPr>
              <a:t>?</a:t>
            </a:r>
          </a:p>
          <a:p>
            <a:r>
              <a:rPr lang="en-US" altLang="x-none" sz="1400">
                <a:latin typeface="Helvetica" charset="0"/>
              </a:rPr>
              <a:t>?</a:t>
            </a:r>
          </a:p>
          <a:p>
            <a:endParaRPr lang="en-US" altLang="x-none" sz="1400">
              <a:latin typeface="Helvetica" charset="0"/>
            </a:endParaRPr>
          </a:p>
          <a:p>
            <a:r>
              <a:rPr lang="en-US" altLang="x-none" sz="1400">
                <a:latin typeface="Helvetica" charset="0"/>
              </a:rPr>
              <a:t>?</a:t>
            </a:r>
          </a:p>
        </p:txBody>
      </p:sp>
      <p:sp>
        <p:nvSpPr>
          <p:cNvPr id="1760300" name="Text Box 44"/>
          <p:cNvSpPr txBox="1">
            <a:spLocks noChangeArrowheads="1"/>
          </p:cNvSpPr>
          <p:nvPr/>
        </p:nvSpPr>
        <p:spPr bwMode="auto">
          <a:xfrm>
            <a:off x="6715125" y="5654675"/>
            <a:ext cx="39370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710" tIns="41356" rIns="82710" bIns="41356">
            <a:spAutoFit/>
          </a:bodyPr>
          <a:lstStyle>
            <a:lvl1pPr defTabSz="828675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414338" defTabSz="828675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828675" defTabSz="828675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244600" defTabSz="828675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658938" defTabSz="828675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116138" defTabSz="828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573338" defTabSz="828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030538" defTabSz="828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487738" defTabSz="828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r>
              <a:rPr lang="en-US" altLang="x-none" sz="1800"/>
              <a:t>…</a:t>
            </a:r>
          </a:p>
        </p:txBody>
      </p:sp>
      <p:grpSp>
        <p:nvGrpSpPr>
          <p:cNvPr id="1760301" name="Group 45"/>
          <p:cNvGrpSpPr>
            <a:grpSpLocks/>
          </p:cNvGrpSpPr>
          <p:nvPr/>
        </p:nvGrpSpPr>
        <p:grpSpPr bwMode="auto">
          <a:xfrm>
            <a:off x="1579563" y="1217613"/>
            <a:ext cx="2746375" cy="3941762"/>
            <a:chOff x="1097" y="845"/>
            <a:chExt cx="1907" cy="2737"/>
          </a:xfrm>
        </p:grpSpPr>
        <p:sp>
          <p:nvSpPr>
            <p:cNvPr id="1760302" name="Text Box 46"/>
            <p:cNvSpPr txBox="1">
              <a:spLocks noChangeArrowheads="1"/>
            </p:cNvSpPr>
            <p:nvPr/>
          </p:nvSpPr>
          <p:spPr bwMode="auto">
            <a:xfrm>
              <a:off x="1448" y="1996"/>
              <a:ext cx="1556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B8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719" tIns="41360" rIns="82719" bIns="41360">
              <a:spAutoFit/>
            </a:bodyPr>
            <a:lstStyle>
              <a:lvl1pPr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414338"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828675"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244600"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1658938"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116138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573338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030538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487738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r>
                <a:rPr lang="en-US" altLang="x-none" sz="2200" i="1">
                  <a:solidFill>
                    <a:srgbClr val="FF0000"/>
                  </a:solidFill>
                </a:rPr>
                <a:t>P</a:t>
              </a:r>
              <a:r>
                <a:rPr lang="en-US" altLang="x-none" sz="2200">
                  <a:solidFill>
                    <a:srgbClr val="FF0000"/>
                  </a:solidFill>
                </a:rPr>
                <a:t>(structure | form)</a:t>
              </a:r>
            </a:p>
          </p:txBody>
        </p:sp>
        <p:sp>
          <p:nvSpPr>
            <p:cNvPr id="1760303" name="Text Box 47"/>
            <p:cNvSpPr txBox="1">
              <a:spLocks noChangeArrowheads="1"/>
            </p:cNvSpPr>
            <p:nvPr/>
          </p:nvSpPr>
          <p:spPr bwMode="auto">
            <a:xfrm>
              <a:off x="1448" y="3292"/>
              <a:ext cx="1501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B8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719" tIns="41360" rIns="82719" bIns="41360">
              <a:spAutoFit/>
            </a:bodyPr>
            <a:lstStyle>
              <a:lvl1pPr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414338"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828675"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244600"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1658938"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116138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573338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030538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487738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r>
                <a:rPr lang="en-US" altLang="x-none" sz="2200" i="1">
                  <a:solidFill>
                    <a:srgbClr val="FF0000"/>
                  </a:solidFill>
                </a:rPr>
                <a:t>P</a:t>
              </a:r>
              <a:r>
                <a:rPr lang="en-US" altLang="x-none" sz="2200">
                  <a:solidFill>
                    <a:srgbClr val="FF0000"/>
                  </a:solidFill>
                </a:rPr>
                <a:t>(data | structure)</a:t>
              </a:r>
            </a:p>
          </p:txBody>
        </p:sp>
        <p:sp>
          <p:nvSpPr>
            <p:cNvPr id="1760304" name="Text Box 48"/>
            <p:cNvSpPr txBox="1">
              <a:spLocks noChangeArrowheads="1"/>
            </p:cNvSpPr>
            <p:nvPr/>
          </p:nvSpPr>
          <p:spPr bwMode="auto">
            <a:xfrm>
              <a:off x="1097" y="845"/>
              <a:ext cx="74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B8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719" tIns="41360" rIns="82719" bIns="41360">
              <a:spAutoFit/>
            </a:bodyPr>
            <a:lstStyle>
              <a:lvl1pPr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414338"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828675"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244600"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1658938" defTabSz="828675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116138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573338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030538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487738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r>
                <a:rPr lang="en-US" altLang="x-none" sz="2200" i="1">
                  <a:solidFill>
                    <a:srgbClr val="FF0000"/>
                  </a:solidFill>
                </a:rPr>
                <a:t>P</a:t>
              </a:r>
              <a:r>
                <a:rPr lang="en-US" altLang="x-none" sz="2200">
                  <a:solidFill>
                    <a:srgbClr val="FF0000"/>
                  </a:solidFill>
                </a:rPr>
                <a:t>(form)</a:t>
              </a:r>
            </a:p>
          </p:txBody>
        </p:sp>
      </p:grpSp>
      <p:sp>
        <p:nvSpPr>
          <p:cNvPr id="1760305" name="Rectangle 49"/>
          <p:cNvSpPr>
            <a:spLocks noGrp="1" noChangeArrowheads="1"/>
          </p:cNvSpPr>
          <p:nvPr>
            <p:ph type="title"/>
          </p:nvPr>
        </p:nvSpPr>
        <p:spPr>
          <a:xfrm>
            <a:off x="533400" y="41275"/>
            <a:ext cx="8191500" cy="1144588"/>
          </a:xfrm>
          <a:noFill/>
          <a:ln/>
        </p:spPr>
        <p:txBody>
          <a:bodyPr lIns="90734" tIns="45370" rIns="90734" bIns="45370"/>
          <a:lstStyle/>
          <a:p>
            <a:r>
              <a:rPr lang="en-US" altLang="x-none" sz="4000" dirty="0"/>
              <a:t>Hierarchical Bayesian Framework</a:t>
            </a:r>
            <a:br>
              <a:rPr lang="en-US" altLang="x-none" sz="4000" dirty="0"/>
            </a:br>
            <a:r>
              <a:rPr lang="en-US" altLang="x-none" sz="2800" dirty="0"/>
              <a:t>(Kemp &amp; </a:t>
            </a:r>
            <a:r>
              <a:rPr lang="en-US" altLang="x-none" sz="2800" dirty="0" err="1"/>
              <a:t>Tenenbaum</a:t>
            </a:r>
            <a:r>
              <a:rPr lang="en-US" altLang="x-none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67329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994" name="Rectangle 2">
            <a:extLst>
              <a:ext uri="{FF2B5EF4-FFF2-40B4-BE49-F238E27FC236}">
                <a16:creationId xmlns:a16="http://schemas.microsoft.com/office/drawing/2014/main" id="{7D5243C8-1D9F-6676-4B69-50D283A362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7788"/>
            <a:ext cx="7772400" cy="1144588"/>
          </a:xfrm>
        </p:spPr>
        <p:txBody>
          <a:bodyPr/>
          <a:lstStyle/>
          <a:p>
            <a:r>
              <a:rPr lang="en-US" altLang="en-US"/>
              <a:t>Motor Control</a:t>
            </a:r>
            <a:endParaRPr lang="en-US" altLang="en-US" sz="4000"/>
          </a:p>
        </p:txBody>
      </p:sp>
      <p:pic>
        <p:nvPicPr>
          <p:cNvPr id="1492995" name="Picture 3">
            <a:extLst>
              <a:ext uri="{FF2B5EF4-FFF2-40B4-BE49-F238E27FC236}">
                <a16:creationId xmlns:a16="http://schemas.microsoft.com/office/drawing/2014/main" id="{063B5A67-023C-67BE-D40E-F1DBDC7FF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77900"/>
            <a:ext cx="6954838" cy="576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2996" name="Text Box 4">
            <a:extLst>
              <a:ext uri="{FF2B5EF4-FFF2-40B4-BE49-F238E27FC236}">
                <a16:creationId xmlns:a16="http://schemas.microsoft.com/office/drawing/2014/main" id="{6C0CCBB5-E12D-0E40-AA0F-3EA1057D6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938" y="5775325"/>
            <a:ext cx="2773362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918" tIns="41460" rIns="82918" bIns="41460">
            <a:spAutoFit/>
          </a:bodyPr>
          <a:lstStyle>
            <a:lvl1pPr algn="l" defTabSz="8286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14338" algn="l" defTabSz="8286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28675" algn="l" defTabSz="8286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44600" algn="l" defTabSz="8286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58938" algn="l" defTabSz="8286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116138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73338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030538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87738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2200"/>
              <a:t>(Wolpert et al., 2003)</a:t>
            </a:r>
          </a:p>
        </p:txBody>
      </p:sp>
      <p:sp>
        <p:nvSpPr>
          <p:cNvPr id="1492997" name="Rectangle 5">
            <a:extLst>
              <a:ext uri="{FF2B5EF4-FFF2-40B4-BE49-F238E27FC236}">
                <a16:creationId xmlns:a16="http://schemas.microsoft.com/office/drawing/2014/main" id="{A5E79901-B730-059B-9665-76F0D7162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219200"/>
            <a:ext cx="990600" cy="2667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22" name="Text Box 2">
            <a:extLst>
              <a:ext uri="{FF2B5EF4-FFF2-40B4-BE49-F238E27FC236}">
                <a16:creationId xmlns:a16="http://schemas.microsoft.com/office/drawing/2014/main" id="{824D8DE6-DC68-569E-F8AE-748971C4F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713" y="1600200"/>
            <a:ext cx="26066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Whole-object bias</a:t>
            </a:r>
          </a:p>
          <a:p>
            <a:r>
              <a:rPr lang="en-US" altLang="en-US" sz="2400"/>
              <a:t>Shape bias</a:t>
            </a:r>
          </a:p>
        </p:txBody>
      </p:sp>
      <p:sp>
        <p:nvSpPr>
          <p:cNvPr id="1617923" name="Text Box 3">
            <a:extLst>
              <a:ext uri="{FF2B5EF4-FFF2-40B4-BE49-F238E27FC236}">
                <a16:creationId xmlns:a16="http://schemas.microsoft.com/office/drawing/2014/main" id="{5CCDB05E-F01E-7726-54C2-85E09E580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3392488"/>
            <a:ext cx="1252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gavagai</a:t>
            </a:r>
          </a:p>
        </p:txBody>
      </p:sp>
      <p:sp>
        <p:nvSpPr>
          <p:cNvPr id="1617924" name="Text Box 4">
            <a:extLst>
              <a:ext uri="{FF2B5EF4-FFF2-40B4-BE49-F238E27FC236}">
                <a16:creationId xmlns:a16="http://schemas.microsoft.com/office/drawing/2014/main" id="{89D1EB75-1ECF-AA40-0AEC-A4F74A71B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25" y="3392488"/>
            <a:ext cx="82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duck</a:t>
            </a:r>
          </a:p>
        </p:txBody>
      </p:sp>
      <p:sp>
        <p:nvSpPr>
          <p:cNvPr id="1617925" name="Text Box 5">
            <a:extLst>
              <a:ext uri="{FF2B5EF4-FFF2-40B4-BE49-F238E27FC236}">
                <a16:creationId xmlns:a16="http://schemas.microsoft.com/office/drawing/2014/main" id="{A2FD5B86-DE37-1B5B-28B4-C65731D59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6588" y="3392488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monkey</a:t>
            </a:r>
          </a:p>
        </p:txBody>
      </p:sp>
      <p:sp>
        <p:nvSpPr>
          <p:cNvPr id="1617926" name="Text Box 6">
            <a:extLst>
              <a:ext uri="{FF2B5EF4-FFF2-40B4-BE49-F238E27FC236}">
                <a16:creationId xmlns:a16="http://schemas.microsoft.com/office/drawing/2014/main" id="{72921B39-D35C-4BCD-82D8-E655BE750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8188" y="33924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car</a:t>
            </a:r>
          </a:p>
        </p:txBody>
      </p:sp>
      <p:sp>
        <p:nvSpPr>
          <p:cNvPr id="1617927" name="Line 7">
            <a:extLst>
              <a:ext uri="{FF2B5EF4-FFF2-40B4-BE49-F238E27FC236}">
                <a16:creationId xmlns:a16="http://schemas.microsoft.com/office/drawing/2014/main" id="{FF0AABCA-13BF-8B49-1483-F32191FBB7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81375" y="2667000"/>
            <a:ext cx="25908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7928" name="Line 8">
            <a:extLst>
              <a:ext uri="{FF2B5EF4-FFF2-40B4-BE49-F238E27FC236}">
                <a16:creationId xmlns:a16="http://schemas.microsoft.com/office/drawing/2014/main" id="{F529C3BF-5D27-625E-FB35-AD20D177C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2175" y="2667000"/>
            <a:ext cx="2562225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7929" name="Line 9">
            <a:extLst>
              <a:ext uri="{FF2B5EF4-FFF2-40B4-BE49-F238E27FC236}">
                <a16:creationId xmlns:a16="http://schemas.microsoft.com/office/drawing/2014/main" id="{8BED179D-8C30-A719-6173-AEFC9B05DD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33975" y="2667000"/>
            <a:ext cx="8382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7930" name="Line 10">
            <a:extLst>
              <a:ext uri="{FF2B5EF4-FFF2-40B4-BE49-F238E27FC236}">
                <a16:creationId xmlns:a16="http://schemas.microsoft.com/office/drawing/2014/main" id="{BBB09501-7E48-2B32-0043-97318E7770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2175" y="2667000"/>
            <a:ext cx="809625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7931" name="Text Box 11">
            <a:extLst>
              <a:ext uri="{FF2B5EF4-FFF2-40B4-BE49-F238E27FC236}">
                <a16:creationId xmlns:a16="http://schemas.microsoft.com/office/drawing/2014/main" id="{C25BC37C-C3BC-8A92-1B80-B9E8AD1F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1858963"/>
            <a:ext cx="22955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200"/>
              <a:t>Words in general</a:t>
            </a:r>
          </a:p>
        </p:txBody>
      </p:sp>
      <p:sp>
        <p:nvSpPr>
          <p:cNvPr id="1617932" name="Text Box 12">
            <a:extLst>
              <a:ext uri="{FF2B5EF4-FFF2-40B4-BE49-F238E27FC236}">
                <a16:creationId xmlns:a16="http://schemas.microsoft.com/office/drawing/2014/main" id="{C3B3FBA6-6CA3-890E-5A43-8923179C4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3352800"/>
            <a:ext cx="218757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200"/>
              <a:t>Individual words</a:t>
            </a:r>
          </a:p>
        </p:txBody>
      </p:sp>
      <p:sp>
        <p:nvSpPr>
          <p:cNvPr id="1617933" name="Text Box 13">
            <a:extLst>
              <a:ext uri="{FF2B5EF4-FFF2-40B4-BE49-F238E27FC236}">
                <a16:creationId xmlns:a16="http://schemas.microsoft.com/office/drawing/2014/main" id="{11C845F1-D4A7-5E7B-25C1-7221526B0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572000"/>
            <a:ext cx="7747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200"/>
              <a:t>Data</a:t>
            </a:r>
          </a:p>
        </p:txBody>
      </p:sp>
      <p:sp>
        <p:nvSpPr>
          <p:cNvPr id="1617934" name="Line 14">
            <a:extLst>
              <a:ext uri="{FF2B5EF4-FFF2-40B4-BE49-F238E27FC236}">
                <a16:creationId xmlns:a16="http://schemas.microsoft.com/office/drawing/2014/main" id="{0E564110-2BF4-6D19-F642-140ED9731E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438400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7935" name="Line 15">
            <a:extLst>
              <a:ext uri="{FF2B5EF4-FFF2-40B4-BE49-F238E27FC236}">
                <a16:creationId xmlns:a16="http://schemas.microsoft.com/office/drawing/2014/main" id="{944EDE5E-6563-FF1E-49FD-919D4A77AA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3886200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617936" name="Picture 16">
            <a:hlinkClick r:id="rId3"/>
            <a:extLst>
              <a:ext uri="{FF2B5EF4-FFF2-40B4-BE49-F238E27FC236}">
                <a16:creationId xmlns:a16="http://schemas.microsoft.com/office/drawing/2014/main" id="{F577F475-43DF-8866-53B9-106FA456C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876800"/>
            <a:ext cx="108585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7937" name="Picture 17">
            <a:hlinkClick r:id="rId5"/>
            <a:extLst>
              <a:ext uri="{FF2B5EF4-FFF2-40B4-BE49-F238E27FC236}">
                <a16:creationId xmlns:a16="http://schemas.microsoft.com/office/drawing/2014/main" id="{7E831A08-5A5A-E36B-8976-F74404674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057650"/>
            <a:ext cx="108585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7938" name="Picture 18">
            <a:hlinkClick r:id="rId7"/>
            <a:extLst>
              <a:ext uri="{FF2B5EF4-FFF2-40B4-BE49-F238E27FC236}">
                <a16:creationId xmlns:a16="http://schemas.microsoft.com/office/drawing/2014/main" id="{B5FBD744-2CFF-A785-C5A5-54C480AF3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425" y="4895850"/>
            <a:ext cx="94297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7939" name="Picture 19">
            <a:hlinkClick r:id="rId9"/>
            <a:extLst>
              <a:ext uri="{FF2B5EF4-FFF2-40B4-BE49-F238E27FC236}">
                <a16:creationId xmlns:a16="http://schemas.microsoft.com/office/drawing/2014/main" id="{520D1955-7ECF-6160-70F6-2553F2363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953000"/>
            <a:ext cx="10668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7940" name="Picture 20">
            <a:hlinkClick r:id="rId11"/>
            <a:extLst>
              <a:ext uri="{FF2B5EF4-FFF2-40B4-BE49-F238E27FC236}">
                <a16:creationId xmlns:a16="http://schemas.microsoft.com/office/drawing/2014/main" id="{DBB02F58-78AD-03AA-F96A-C8486AD17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038600"/>
            <a:ext cx="119062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7941" name="Picture 21">
            <a:hlinkClick r:id="rId13"/>
            <a:extLst>
              <a:ext uri="{FF2B5EF4-FFF2-40B4-BE49-F238E27FC236}">
                <a16:creationId xmlns:a16="http://schemas.microsoft.com/office/drawing/2014/main" id="{1AE2E115-BDEE-78C5-FD00-406FBE09F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513" y="3983038"/>
            <a:ext cx="108585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7942" name="Picture 22">
            <a:extLst>
              <a:ext uri="{FF2B5EF4-FFF2-40B4-BE49-F238E27FC236}">
                <a16:creationId xmlns:a16="http://schemas.microsoft.com/office/drawing/2014/main" id="{CEE78753-759A-E19A-F444-3B69FBD2B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36"/>
          <a:stretch>
            <a:fillRect/>
          </a:stretch>
        </p:blipFill>
        <p:spPr bwMode="auto">
          <a:xfrm>
            <a:off x="7705725" y="3938588"/>
            <a:ext cx="1209675" cy="86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7943" name="Rectangle 23">
            <a:extLst>
              <a:ext uri="{FF2B5EF4-FFF2-40B4-BE49-F238E27FC236}">
                <a16:creationId xmlns:a16="http://schemas.microsoft.com/office/drawing/2014/main" id="{F0468D59-9708-1BA6-4765-7B2753184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991600" cy="1143000"/>
          </a:xfrm>
          <a:noFill/>
          <a:ln/>
        </p:spPr>
        <p:txBody>
          <a:bodyPr/>
          <a:lstStyle/>
          <a:p>
            <a:r>
              <a:rPr lang="en-US" altLang="en-US" sz="3600"/>
              <a:t>Word learning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73100" y="-85725"/>
            <a:ext cx="7807325" cy="1144588"/>
          </a:xfr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Hierarchical Bayes</a:t>
            </a:r>
          </a:p>
        </p:txBody>
      </p:sp>
      <p:sp>
        <p:nvSpPr>
          <p:cNvPr id="1638403" name="Text Box 3"/>
          <p:cNvSpPr txBox="1">
            <a:spLocks noChangeArrowheads="1"/>
          </p:cNvSpPr>
          <p:nvPr/>
        </p:nvSpPr>
        <p:spPr bwMode="auto">
          <a:xfrm>
            <a:off x="1676400" y="35814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hypothesis</a:t>
            </a:r>
          </a:p>
        </p:txBody>
      </p:sp>
      <p:sp>
        <p:nvSpPr>
          <p:cNvPr id="1638404" name="Text Box 4"/>
          <p:cNvSpPr txBox="1">
            <a:spLocks noChangeArrowheads="1"/>
          </p:cNvSpPr>
          <p:nvPr/>
        </p:nvSpPr>
        <p:spPr bwMode="auto">
          <a:xfrm>
            <a:off x="1981200" y="4876800"/>
            <a:ext cx="1209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data	</a:t>
            </a:r>
          </a:p>
        </p:txBody>
      </p:sp>
      <p:sp>
        <p:nvSpPr>
          <p:cNvPr id="1638405" name="Line 5"/>
          <p:cNvSpPr>
            <a:spLocks noChangeShapeType="1"/>
          </p:cNvSpPr>
          <p:nvPr/>
        </p:nvSpPr>
        <p:spPr bwMode="auto">
          <a:xfrm>
            <a:off x="23622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435" name="Text Box 35"/>
          <p:cNvSpPr txBox="1">
            <a:spLocks noChangeArrowheads="1"/>
          </p:cNvSpPr>
          <p:nvPr/>
        </p:nvSpPr>
        <p:spPr bwMode="auto">
          <a:xfrm>
            <a:off x="2895600" y="2209800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 dirty="0"/>
              <a:t>theory/</a:t>
            </a:r>
            <a:r>
              <a:rPr lang="en-US" sz="2400" dirty="0" err="1"/>
              <a:t>overhypotheses</a:t>
            </a:r>
            <a:endParaRPr lang="en-US" sz="2400" dirty="0"/>
          </a:p>
        </p:txBody>
      </p:sp>
      <p:sp>
        <p:nvSpPr>
          <p:cNvPr id="1638436" name="Line 36"/>
          <p:cNvSpPr>
            <a:spLocks noChangeShapeType="1"/>
          </p:cNvSpPr>
          <p:nvPr/>
        </p:nvSpPr>
        <p:spPr bwMode="auto">
          <a:xfrm>
            <a:off x="4419600" y="2819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444" name="Text Box 44"/>
          <p:cNvSpPr txBox="1">
            <a:spLocks noChangeArrowheads="1"/>
          </p:cNvSpPr>
          <p:nvPr/>
        </p:nvSpPr>
        <p:spPr bwMode="auto">
          <a:xfrm>
            <a:off x="3733800" y="35814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hypothesis</a:t>
            </a:r>
          </a:p>
        </p:txBody>
      </p:sp>
      <p:sp>
        <p:nvSpPr>
          <p:cNvPr id="1638445" name="Text Box 45"/>
          <p:cNvSpPr txBox="1">
            <a:spLocks noChangeArrowheads="1"/>
          </p:cNvSpPr>
          <p:nvPr/>
        </p:nvSpPr>
        <p:spPr bwMode="auto">
          <a:xfrm>
            <a:off x="4038600" y="4876800"/>
            <a:ext cx="1209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data	</a:t>
            </a:r>
          </a:p>
        </p:txBody>
      </p:sp>
      <p:sp>
        <p:nvSpPr>
          <p:cNvPr id="1638446" name="Line 46"/>
          <p:cNvSpPr>
            <a:spLocks noChangeShapeType="1"/>
          </p:cNvSpPr>
          <p:nvPr/>
        </p:nvSpPr>
        <p:spPr bwMode="auto">
          <a:xfrm>
            <a:off x="44196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447" name="Text Box 47"/>
          <p:cNvSpPr txBox="1">
            <a:spLocks noChangeArrowheads="1"/>
          </p:cNvSpPr>
          <p:nvPr/>
        </p:nvSpPr>
        <p:spPr bwMode="auto">
          <a:xfrm>
            <a:off x="5715000" y="35814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hypothesis</a:t>
            </a:r>
          </a:p>
        </p:txBody>
      </p:sp>
      <p:sp>
        <p:nvSpPr>
          <p:cNvPr id="1638448" name="Text Box 48"/>
          <p:cNvSpPr txBox="1">
            <a:spLocks noChangeArrowheads="1"/>
          </p:cNvSpPr>
          <p:nvPr/>
        </p:nvSpPr>
        <p:spPr bwMode="auto">
          <a:xfrm>
            <a:off x="6019800" y="4876800"/>
            <a:ext cx="1209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data	</a:t>
            </a:r>
          </a:p>
        </p:txBody>
      </p:sp>
      <p:sp>
        <p:nvSpPr>
          <p:cNvPr id="1638449" name="Line 49"/>
          <p:cNvSpPr>
            <a:spLocks noChangeShapeType="1"/>
          </p:cNvSpPr>
          <p:nvPr/>
        </p:nvSpPr>
        <p:spPr bwMode="auto">
          <a:xfrm>
            <a:off x="64008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450" name="Line 50"/>
          <p:cNvSpPr>
            <a:spLocks noChangeShapeType="1"/>
          </p:cNvSpPr>
          <p:nvPr/>
        </p:nvSpPr>
        <p:spPr bwMode="auto">
          <a:xfrm flipH="1">
            <a:off x="2743200" y="28194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451" name="Line 51"/>
          <p:cNvSpPr>
            <a:spLocks noChangeShapeType="1"/>
          </p:cNvSpPr>
          <p:nvPr/>
        </p:nvSpPr>
        <p:spPr bwMode="auto">
          <a:xfrm>
            <a:off x="5486400" y="28194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9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890" name="Picture 2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3528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3891" name="Oval 3"/>
          <p:cNvSpPr>
            <a:spLocks noChangeArrowheads="1"/>
          </p:cNvSpPr>
          <p:nvPr/>
        </p:nvSpPr>
        <p:spPr bwMode="auto">
          <a:xfrm>
            <a:off x="7848600" y="2743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3892" name="Text Box 4"/>
          <p:cNvSpPr txBox="1">
            <a:spLocks noChangeArrowheads="1"/>
          </p:cNvSpPr>
          <p:nvPr/>
        </p:nvSpPr>
        <p:spPr bwMode="auto">
          <a:xfrm>
            <a:off x="8077200" y="2590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?</a:t>
            </a:r>
          </a:p>
        </p:txBody>
      </p:sp>
      <p:pic>
        <p:nvPicPr>
          <p:cNvPr id="1573894" name="Picture 6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73895" name="Picture 7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86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73896" name="Picture 8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286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73897" name="Picture 9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286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73898" name="Picture 10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1816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73899" name="Picture 11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1816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73900" name="Picture 12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51816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73901" name="Picture 13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1816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96"/>
          <p:cNvSpPr>
            <a:spLocks noGrp="1" noChangeArrowheads="1"/>
          </p:cNvSpPr>
          <p:nvPr>
            <p:ph type="title"/>
          </p:nvPr>
        </p:nvSpPr>
        <p:spPr>
          <a:xfrm>
            <a:off x="457200" y="-228600"/>
            <a:ext cx="8229600" cy="1143000"/>
          </a:xfrm>
          <a:noFill/>
          <a:ln/>
        </p:spPr>
        <p:txBody>
          <a:bodyPr lIns="91440" tIns="45720" rIns="91440" bIns="45720"/>
          <a:lstStyle/>
          <a:p>
            <a:r>
              <a:rPr lang="en-US" dirty="0"/>
              <a:t>Feature variability </a:t>
            </a:r>
            <a:r>
              <a:rPr lang="en-US" sz="3600" dirty="0"/>
              <a:t>(Goodman, 1955)</a:t>
            </a:r>
          </a:p>
        </p:txBody>
      </p:sp>
    </p:spTree>
    <p:extLst>
      <p:ext uri="{BB962C8B-B14F-4D97-AF65-F5344CB8AC3E}">
        <p14:creationId xmlns:p14="http://schemas.microsoft.com/office/powerpoint/2010/main" val="387845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914" name="Picture 2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15" name="Oval 3"/>
          <p:cNvSpPr>
            <a:spLocks noChangeArrowheads="1"/>
          </p:cNvSpPr>
          <p:nvPr/>
        </p:nvSpPr>
        <p:spPr bwMode="auto">
          <a:xfrm>
            <a:off x="533400" y="19812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16" name="Picture 4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3528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17" name="Oval 5"/>
          <p:cNvSpPr>
            <a:spLocks noChangeArrowheads="1"/>
          </p:cNvSpPr>
          <p:nvPr/>
        </p:nvSpPr>
        <p:spPr bwMode="auto">
          <a:xfrm>
            <a:off x="7848600" y="2743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18" name="Text Box 6"/>
          <p:cNvSpPr txBox="1">
            <a:spLocks noChangeArrowheads="1"/>
          </p:cNvSpPr>
          <p:nvPr/>
        </p:nvSpPr>
        <p:spPr bwMode="auto">
          <a:xfrm>
            <a:off x="8077200" y="2590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?</a:t>
            </a:r>
          </a:p>
        </p:txBody>
      </p:sp>
      <p:sp>
        <p:nvSpPr>
          <p:cNvPr id="1574919" name="Oval 7"/>
          <p:cNvSpPr>
            <a:spLocks noChangeArrowheads="1"/>
          </p:cNvSpPr>
          <p:nvPr/>
        </p:nvSpPr>
        <p:spPr bwMode="auto">
          <a:xfrm>
            <a:off x="762000" y="19812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0" name="Oval 8"/>
          <p:cNvSpPr>
            <a:spLocks noChangeArrowheads="1"/>
          </p:cNvSpPr>
          <p:nvPr/>
        </p:nvSpPr>
        <p:spPr bwMode="auto">
          <a:xfrm>
            <a:off x="990600" y="198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1" name="Oval 9"/>
          <p:cNvSpPr>
            <a:spLocks noChangeArrowheads="1"/>
          </p:cNvSpPr>
          <p:nvPr/>
        </p:nvSpPr>
        <p:spPr bwMode="auto">
          <a:xfrm>
            <a:off x="533400" y="1676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2" name="Oval 10"/>
          <p:cNvSpPr>
            <a:spLocks noChangeArrowheads="1"/>
          </p:cNvSpPr>
          <p:nvPr/>
        </p:nvSpPr>
        <p:spPr bwMode="auto">
          <a:xfrm>
            <a:off x="762000" y="1676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3" name="Oval 11"/>
          <p:cNvSpPr>
            <a:spLocks noChangeArrowheads="1"/>
          </p:cNvSpPr>
          <p:nvPr/>
        </p:nvSpPr>
        <p:spPr bwMode="auto">
          <a:xfrm>
            <a:off x="990600" y="16764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4" name="Oval 12"/>
          <p:cNvSpPr>
            <a:spLocks noChangeArrowheads="1"/>
          </p:cNvSpPr>
          <p:nvPr/>
        </p:nvSpPr>
        <p:spPr bwMode="auto">
          <a:xfrm>
            <a:off x="533400" y="1371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5" name="Oval 13"/>
          <p:cNvSpPr>
            <a:spLocks noChangeArrowheads="1"/>
          </p:cNvSpPr>
          <p:nvPr/>
        </p:nvSpPr>
        <p:spPr bwMode="auto">
          <a:xfrm>
            <a:off x="762000" y="13716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6" name="Oval 14"/>
          <p:cNvSpPr>
            <a:spLocks noChangeArrowheads="1"/>
          </p:cNvSpPr>
          <p:nvPr/>
        </p:nvSpPr>
        <p:spPr bwMode="auto">
          <a:xfrm>
            <a:off x="990600" y="1371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7" name="Oval 15"/>
          <p:cNvSpPr>
            <a:spLocks noChangeArrowheads="1"/>
          </p:cNvSpPr>
          <p:nvPr/>
        </p:nvSpPr>
        <p:spPr bwMode="auto">
          <a:xfrm>
            <a:off x="533400" y="106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8" name="Oval 16"/>
          <p:cNvSpPr>
            <a:spLocks noChangeArrowheads="1"/>
          </p:cNvSpPr>
          <p:nvPr/>
        </p:nvSpPr>
        <p:spPr bwMode="auto">
          <a:xfrm>
            <a:off x="762000" y="106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29" name="Picture 17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86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30" name="Oval 18"/>
          <p:cNvSpPr>
            <a:spLocks noChangeArrowheads="1"/>
          </p:cNvSpPr>
          <p:nvPr/>
        </p:nvSpPr>
        <p:spPr bwMode="auto">
          <a:xfrm>
            <a:off x="2743200" y="19812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1" name="Oval 19"/>
          <p:cNvSpPr>
            <a:spLocks noChangeArrowheads="1"/>
          </p:cNvSpPr>
          <p:nvPr/>
        </p:nvSpPr>
        <p:spPr bwMode="auto">
          <a:xfrm>
            <a:off x="2514600" y="19812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2" name="Oval 20"/>
          <p:cNvSpPr>
            <a:spLocks noChangeArrowheads="1"/>
          </p:cNvSpPr>
          <p:nvPr/>
        </p:nvSpPr>
        <p:spPr bwMode="auto">
          <a:xfrm>
            <a:off x="22860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3" name="Oval 21"/>
          <p:cNvSpPr>
            <a:spLocks noChangeArrowheads="1"/>
          </p:cNvSpPr>
          <p:nvPr/>
        </p:nvSpPr>
        <p:spPr bwMode="auto">
          <a:xfrm>
            <a:off x="2743200" y="16764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4" name="Oval 22"/>
          <p:cNvSpPr>
            <a:spLocks noChangeArrowheads="1"/>
          </p:cNvSpPr>
          <p:nvPr/>
        </p:nvSpPr>
        <p:spPr bwMode="auto">
          <a:xfrm>
            <a:off x="2514600" y="16764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5" name="Oval 23"/>
          <p:cNvSpPr>
            <a:spLocks noChangeArrowheads="1"/>
          </p:cNvSpPr>
          <p:nvPr/>
        </p:nvSpPr>
        <p:spPr bwMode="auto">
          <a:xfrm>
            <a:off x="2286000" y="16764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6" name="Oval 24"/>
          <p:cNvSpPr>
            <a:spLocks noChangeArrowheads="1"/>
          </p:cNvSpPr>
          <p:nvPr/>
        </p:nvSpPr>
        <p:spPr bwMode="auto">
          <a:xfrm>
            <a:off x="27432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7" name="Oval 25"/>
          <p:cNvSpPr>
            <a:spLocks noChangeArrowheads="1"/>
          </p:cNvSpPr>
          <p:nvPr/>
        </p:nvSpPr>
        <p:spPr bwMode="auto">
          <a:xfrm>
            <a:off x="2514600" y="13716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8" name="Oval 26"/>
          <p:cNvSpPr>
            <a:spLocks noChangeArrowheads="1"/>
          </p:cNvSpPr>
          <p:nvPr/>
        </p:nvSpPr>
        <p:spPr bwMode="auto">
          <a:xfrm>
            <a:off x="22860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9" name="Oval 27"/>
          <p:cNvSpPr>
            <a:spLocks noChangeArrowheads="1"/>
          </p:cNvSpPr>
          <p:nvPr/>
        </p:nvSpPr>
        <p:spPr bwMode="auto">
          <a:xfrm>
            <a:off x="2286000" y="106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40" name="Picture 28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286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41" name="Oval 29"/>
          <p:cNvSpPr>
            <a:spLocks noChangeArrowheads="1"/>
          </p:cNvSpPr>
          <p:nvPr/>
        </p:nvSpPr>
        <p:spPr bwMode="auto">
          <a:xfrm>
            <a:off x="4495800" y="19812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2" name="Oval 30"/>
          <p:cNvSpPr>
            <a:spLocks noChangeArrowheads="1"/>
          </p:cNvSpPr>
          <p:nvPr/>
        </p:nvSpPr>
        <p:spPr bwMode="auto">
          <a:xfrm>
            <a:off x="42672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3" name="Oval 31"/>
          <p:cNvSpPr>
            <a:spLocks noChangeArrowheads="1"/>
          </p:cNvSpPr>
          <p:nvPr/>
        </p:nvSpPr>
        <p:spPr bwMode="auto">
          <a:xfrm>
            <a:off x="40386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4" name="Oval 32"/>
          <p:cNvSpPr>
            <a:spLocks noChangeArrowheads="1"/>
          </p:cNvSpPr>
          <p:nvPr/>
        </p:nvSpPr>
        <p:spPr bwMode="auto">
          <a:xfrm>
            <a:off x="4495800" y="16764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5" name="Oval 33"/>
          <p:cNvSpPr>
            <a:spLocks noChangeArrowheads="1"/>
          </p:cNvSpPr>
          <p:nvPr/>
        </p:nvSpPr>
        <p:spPr bwMode="auto">
          <a:xfrm>
            <a:off x="4267200" y="16764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6" name="Oval 34"/>
          <p:cNvSpPr>
            <a:spLocks noChangeArrowheads="1"/>
          </p:cNvSpPr>
          <p:nvPr/>
        </p:nvSpPr>
        <p:spPr bwMode="auto">
          <a:xfrm>
            <a:off x="4038600" y="16764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7" name="Oval 35"/>
          <p:cNvSpPr>
            <a:spLocks noChangeArrowheads="1"/>
          </p:cNvSpPr>
          <p:nvPr/>
        </p:nvSpPr>
        <p:spPr bwMode="auto">
          <a:xfrm>
            <a:off x="44958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8" name="Oval 36"/>
          <p:cNvSpPr>
            <a:spLocks noChangeArrowheads="1"/>
          </p:cNvSpPr>
          <p:nvPr/>
        </p:nvSpPr>
        <p:spPr bwMode="auto">
          <a:xfrm>
            <a:off x="4267200" y="13716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9" name="Oval 37"/>
          <p:cNvSpPr>
            <a:spLocks noChangeArrowheads="1"/>
          </p:cNvSpPr>
          <p:nvPr/>
        </p:nvSpPr>
        <p:spPr bwMode="auto">
          <a:xfrm>
            <a:off x="4038600" y="13716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0" name="Oval 38"/>
          <p:cNvSpPr>
            <a:spLocks noChangeArrowheads="1"/>
          </p:cNvSpPr>
          <p:nvPr/>
        </p:nvSpPr>
        <p:spPr bwMode="auto">
          <a:xfrm>
            <a:off x="4495800" y="106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1" name="Oval 39"/>
          <p:cNvSpPr>
            <a:spLocks noChangeArrowheads="1"/>
          </p:cNvSpPr>
          <p:nvPr/>
        </p:nvSpPr>
        <p:spPr bwMode="auto">
          <a:xfrm>
            <a:off x="4267200" y="106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2" name="Oval 40"/>
          <p:cNvSpPr>
            <a:spLocks noChangeArrowheads="1"/>
          </p:cNvSpPr>
          <p:nvPr/>
        </p:nvSpPr>
        <p:spPr bwMode="auto">
          <a:xfrm>
            <a:off x="4038600" y="10668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53" name="Picture 41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286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54" name="Oval 42"/>
          <p:cNvSpPr>
            <a:spLocks noChangeArrowheads="1"/>
          </p:cNvSpPr>
          <p:nvPr/>
        </p:nvSpPr>
        <p:spPr bwMode="auto">
          <a:xfrm>
            <a:off x="63246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5" name="Oval 43"/>
          <p:cNvSpPr>
            <a:spLocks noChangeArrowheads="1"/>
          </p:cNvSpPr>
          <p:nvPr/>
        </p:nvSpPr>
        <p:spPr bwMode="auto">
          <a:xfrm>
            <a:off x="6096000" y="19812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6" name="Oval 44"/>
          <p:cNvSpPr>
            <a:spLocks noChangeArrowheads="1"/>
          </p:cNvSpPr>
          <p:nvPr/>
        </p:nvSpPr>
        <p:spPr bwMode="auto">
          <a:xfrm>
            <a:off x="58674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7" name="Oval 45"/>
          <p:cNvSpPr>
            <a:spLocks noChangeArrowheads="1"/>
          </p:cNvSpPr>
          <p:nvPr/>
        </p:nvSpPr>
        <p:spPr bwMode="auto">
          <a:xfrm>
            <a:off x="6324600" y="16764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8" name="Oval 46"/>
          <p:cNvSpPr>
            <a:spLocks noChangeArrowheads="1"/>
          </p:cNvSpPr>
          <p:nvPr/>
        </p:nvSpPr>
        <p:spPr bwMode="auto">
          <a:xfrm>
            <a:off x="6096000" y="16764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9" name="Oval 47"/>
          <p:cNvSpPr>
            <a:spLocks noChangeArrowheads="1"/>
          </p:cNvSpPr>
          <p:nvPr/>
        </p:nvSpPr>
        <p:spPr bwMode="auto">
          <a:xfrm>
            <a:off x="5867400" y="16764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0" name="Oval 48"/>
          <p:cNvSpPr>
            <a:spLocks noChangeArrowheads="1"/>
          </p:cNvSpPr>
          <p:nvPr/>
        </p:nvSpPr>
        <p:spPr bwMode="auto">
          <a:xfrm>
            <a:off x="63246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1" name="Oval 49"/>
          <p:cNvSpPr>
            <a:spLocks noChangeArrowheads="1"/>
          </p:cNvSpPr>
          <p:nvPr/>
        </p:nvSpPr>
        <p:spPr bwMode="auto">
          <a:xfrm>
            <a:off x="60960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2" name="Oval 50"/>
          <p:cNvSpPr>
            <a:spLocks noChangeArrowheads="1"/>
          </p:cNvSpPr>
          <p:nvPr/>
        </p:nvSpPr>
        <p:spPr bwMode="auto">
          <a:xfrm>
            <a:off x="5867400" y="13716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3" name="Oval 51"/>
          <p:cNvSpPr>
            <a:spLocks noChangeArrowheads="1"/>
          </p:cNvSpPr>
          <p:nvPr/>
        </p:nvSpPr>
        <p:spPr bwMode="auto">
          <a:xfrm>
            <a:off x="5867400" y="10668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64" name="Picture 52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1816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65" name="Oval 53"/>
          <p:cNvSpPr>
            <a:spLocks noChangeArrowheads="1"/>
          </p:cNvSpPr>
          <p:nvPr/>
        </p:nvSpPr>
        <p:spPr bwMode="auto">
          <a:xfrm>
            <a:off x="990600" y="48768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6" name="Oval 54"/>
          <p:cNvSpPr>
            <a:spLocks noChangeArrowheads="1"/>
          </p:cNvSpPr>
          <p:nvPr/>
        </p:nvSpPr>
        <p:spPr bwMode="auto">
          <a:xfrm>
            <a:off x="762000" y="487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7" name="Oval 55"/>
          <p:cNvSpPr>
            <a:spLocks noChangeArrowheads="1"/>
          </p:cNvSpPr>
          <p:nvPr/>
        </p:nvSpPr>
        <p:spPr bwMode="auto">
          <a:xfrm>
            <a:off x="533400" y="487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8" name="Oval 56"/>
          <p:cNvSpPr>
            <a:spLocks noChangeArrowheads="1"/>
          </p:cNvSpPr>
          <p:nvPr/>
        </p:nvSpPr>
        <p:spPr bwMode="auto">
          <a:xfrm>
            <a:off x="990600" y="45720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9" name="Oval 57"/>
          <p:cNvSpPr>
            <a:spLocks noChangeArrowheads="1"/>
          </p:cNvSpPr>
          <p:nvPr/>
        </p:nvSpPr>
        <p:spPr bwMode="auto">
          <a:xfrm>
            <a:off x="762000" y="45720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0" name="Oval 58"/>
          <p:cNvSpPr>
            <a:spLocks noChangeArrowheads="1"/>
          </p:cNvSpPr>
          <p:nvPr/>
        </p:nvSpPr>
        <p:spPr bwMode="auto">
          <a:xfrm>
            <a:off x="533400" y="45720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1" name="Oval 59"/>
          <p:cNvSpPr>
            <a:spLocks noChangeArrowheads="1"/>
          </p:cNvSpPr>
          <p:nvPr/>
        </p:nvSpPr>
        <p:spPr bwMode="auto">
          <a:xfrm>
            <a:off x="762000" y="42672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2" name="Oval 60"/>
          <p:cNvSpPr>
            <a:spLocks noChangeArrowheads="1"/>
          </p:cNvSpPr>
          <p:nvPr/>
        </p:nvSpPr>
        <p:spPr bwMode="auto">
          <a:xfrm>
            <a:off x="533400" y="4267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73" name="Picture 61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1816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74" name="Oval 62"/>
          <p:cNvSpPr>
            <a:spLocks noChangeArrowheads="1"/>
          </p:cNvSpPr>
          <p:nvPr/>
        </p:nvSpPr>
        <p:spPr bwMode="auto">
          <a:xfrm>
            <a:off x="22860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5" name="Oval 63"/>
          <p:cNvSpPr>
            <a:spLocks noChangeArrowheads="1"/>
          </p:cNvSpPr>
          <p:nvPr/>
        </p:nvSpPr>
        <p:spPr bwMode="auto">
          <a:xfrm>
            <a:off x="2514600" y="48768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6" name="Oval 64"/>
          <p:cNvSpPr>
            <a:spLocks noChangeArrowheads="1"/>
          </p:cNvSpPr>
          <p:nvPr/>
        </p:nvSpPr>
        <p:spPr bwMode="auto">
          <a:xfrm>
            <a:off x="27432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7" name="Oval 65"/>
          <p:cNvSpPr>
            <a:spLocks noChangeArrowheads="1"/>
          </p:cNvSpPr>
          <p:nvPr/>
        </p:nvSpPr>
        <p:spPr bwMode="auto">
          <a:xfrm>
            <a:off x="2286000" y="4572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8" name="Oval 66"/>
          <p:cNvSpPr>
            <a:spLocks noChangeArrowheads="1"/>
          </p:cNvSpPr>
          <p:nvPr/>
        </p:nvSpPr>
        <p:spPr bwMode="auto">
          <a:xfrm>
            <a:off x="2514600" y="45720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9" name="Oval 67"/>
          <p:cNvSpPr>
            <a:spLocks noChangeArrowheads="1"/>
          </p:cNvSpPr>
          <p:nvPr/>
        </p:nvSpPr>
        <p:spPr bwMode="auto">
          <a:xfrm>
            <a:off x="2743200" y="45720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0" name="Oval 68"/>
          <p:cNvSpPr>
            <a:spLocks noChangeArrowheads="1"/>
          </p:cNvSpPr>
          <p:nvPr/>
        </p:nvSpPr>
        <p:spPr bwMode="auto">
          <a:xfrm>
            <a:off x="2286000" y="4267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1" name="Oval 69"/>
          <p:cNvSpPr>
            <a:spLocks noChangeArrowheads="1"/>
          </p:cNvSpPr>
          <p:nvPr/>
        </p:nvSpPr>
        <p:spPr bwMode="auto">
          <a:xfrm>
            <a:off x="2514600" y="4267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2" name="Oval 70"/>
          <p:cNvSpPr>
            <a:spLocks noChangeArrowheads="1"/>
          </p:cNvSpPr>
          <p:nvPr/>
        </p:nvSpPr>
        <p:spPr bwMode="auto">
          <a:xfrm>
            <a:off x="2743200" y="4267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3" name="Oval 71"/>
          <p:cNvSpPr>
            <a:spLocks noChangeArrowheads="1"/>
          </p:cNvSpPr>
          <p:nvPr/>
        </p:nvSpPr>
        <p:spPr bwMode="auto">
          <a:xfrm>
            <a:off x="2286000" y="3962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4" name="Oval 72"/>
          <p:cNvSpPr>
            <a:spLocks noChangeArrowheads="1"/>
          </p:cNvSpPr>
          <p:nvPr/>
        </p:nvSpPr>
        <p:spPr bwMode="auto">
          <a:xfrm>
            <a:off x="2514600" y="39624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85" name="Picture 73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51816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86" name="Oval 74"/>
          <p:cNvSpPr>
            <a:spLocks noChangeArrowheads="1"/>
          </p:cNvSpPr>
          <p:nvPr/>
        </p:nvSpPr>
        <p:spPr bwMode="auto">
          <a:xfrm>
            <a:off x="4495800" y="48768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7" name="Oval 75"/>
          <p:cNvSpPr>
            <a:spLocks noChangeArrowheads="1"/>
          </p:cNvSpPr>
          <p:nvPr/>
        </p:nvSpPr>
        <p:spPr bwMode="auto">
          <a:xfrm>
            <a:off x="4267200" y="487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8" name="Oval 76"/>
          <p:cNvSpPr>
            <a:spLocks noChangeArrowheads="1"/>
          </p:cNvSpPr>
          <p:nvPr/>
        </p:nvSpPr>
        <p:spPr bwMode="auto">
          <a:xfrm>
            <a:off x="4038600" y="487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9" name="Oval 77"/>
          <p:cNvSpPr>
            <a:spLocks noChangeArrowheads="1"/>
          </p:cNvSpPr>
          <p:nvPr/>
        </p:nvSpPr>
        <p:spPr bwMode="auto">
          <a:xfrm>
            <a:off x="4495800" y="45720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0" name="Oval 78"/>
          <p:cNvSpPr>
            <a:spLocks noChangeArrowheads="1"/>
          </p:cNvSpPr>
          <p:nvPr/>
        </p:nvSpPr>
        <p:spPr bwMode="auto">
          <a:xfrm>
            <a:off x="4267200" y="45720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1" name="Oval 79"/>
          <p:cNvSpPr>
            <a:spLocks noChangeArrowheads="1"/>
          </p:cNvSpPr>
          <p:nvPr/>
        </p:nvSpPr>
        <p:spPr bwMode="auto">
          <a:xfrm>
            <a:off x="4038600" y="45720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2" name="Oval 80"/>
          <p:cNvSpPr>
            <a:spLocks noChangeArrowheads="1"/>
          </p:cNvSpPr>
          <p:nvPr/>
        </p:nvSpPr>
        <p:spPr bwMode="auto">
          <a:xfrm>
            <a:off x="4495800" y="42672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3" name="Oval 81"/>
          <p:cNvSpPr>
            <a:spLocks noChangeArrowheads="1"/>
          </p:cNvSpPr>
          <p:nvPr/>
        </p:nvSpPr>
        <p:spPr bwMode="auto">
          <a:xfrm>
            <a:off x="4267200" y="4267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4" name="Oval 82"/>
          <p:cNvSpPr>
            <a:spLocks noChangeArrowheads="1"/>
          </p:cNvSpPr>
          <p:nvPr/>
        </p:nvSpPr>
        <p:spPr bwMode="auto">
          <a:xfrm>
            <a:off x="4038600" y="42672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5" name="Oval 83"/>
          <p:cNvSpPr>
            <a:spLocks noChangeArrowheads="1"/>
          </p:cNvSpPr>
          <p:nvPr/>
        </p:nvSpPr>
        <p:spPr bwMode="auto">
          <a:xfrm>
            <a:off x="4038600" y="39624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96" name="Picture 84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1816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97" name="Oval 85"/>
          <p:cNvSpPr>
            <a:spLocks noChangeArrowheads="1"/>
          </p:cNvSpPr>
          <p:nvPr/>
        </p:nvSpPr>
        <p:spPr bwMode="auto">
          <a:xfrm>
            <a:off x="5867400" y="48768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8" name="Oval 86"/>
          <p:cNvSpPr>
            <a:spLocks noChangeArrowheads="1"/>
          </p:cNvSpPr>
          <p:nvPr/>
        </p:nvSpPr>
        <p:spPr bwMode="auto">
          <a:xfrm>
            <a:off x="60960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9" name="Oval 87"/>
          <p:cNvSpPr>
            <a:spLocks noChangeArrowheads="1"/>
          </p:cNvSpPr>
          <p:nvPr/>
        </p:nvSpPr>
        <p:spPr bwMode="auto">
          <a:xfrm>
            <a:off x="63246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0" name="Oval 88"/>
          <p:cNvSpPr>
            <a:spLocks noChangeArrowheads="1"/>
          </p:cNvSpPr>
          <p:nvPr/>
        </p:nvSpPr>
        <p:spPr bwMode="auto">
          <a:xfrm>
            <a:off x="5867400" y="4572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1" name="Oval 89"/>
          <p:cNvSpPr>
            <a:spLocks noChangeArrowheads="1"/>
          </p:cNvSpPr>
          <p:nvPr/>
        </p:nvSpPr>
        <p:spPr bwMode="auto">
          <a:xfrm>
            <a:off x="6096000" y="45720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2" name="Oval 90"/>
          <p:cNvSpPr>
            <a:spLocks noChangeArrowheads="1"/>
          </p:cNvSpPr>
          <p:nvPr/>
        </p:nvSpPr>
        <p:spPr bwMode="auto">
          <a:xfrm>
            <a:off x="6324600" y="4572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3" name="Oval 91"/>
          <p:cNvSpPr>
            <a:spLocks noChangeArrowheads="1"/>
          </p:cNvSpPr>
          <p:nvPr/>
        </p:nvSpPr>
        <p:spPr bwMode="auto">
          <a:xfrm>
            <a:off x="5867400" y="42672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4" name="Oval 92"/>
          <p:cNvSpPr>
            <a:spLocks noChangeArrowheads="1"/>
          </p:cNvSpPr>
          <p:nvPr/>
        </p:nvSpPr>
        <p:spPr bwMode="auto">
          <a:xfrm>
            <a:off x="6096000" y="4267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5" name="Oval 93"/>
          <p:cNvSpPr>
            <a:spLocks noChangeArrowheads="1"/>
          </p:cNvSpPr>
          <p:nvPr/>
        </p:nvSpPr>
        <p:spPr bwMode="auto">
          <a:xfrm>
            <a:off x="6324600" y="42672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6" name="Oval 94"/>
          <p:cNvSpPr>
            <a:spLocks noChangeArrowheads="1"/>
          </p:cNvSpPr>
          <p:nvPr/>
        </p:nvSpPr>
        <p:spPr bwMode="auto">
          <a:xfrm>
            <a:off x="5867400" y="39624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7" name="Oval 95"/>
          <p:cNvSpPr>
            <a:spLocks noChangeArrowheads="1"/>
          </p:cNvSpPr>
          <p:nvPr/>
        </p:nvSpPr>
        <p:spPr bwMode="auto">
          <a:xfrm>
            <a:off x="6096000" y="3962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8" name="Rectangle 96"/>
          <p:cNvSpPr>
            <a:spLocks noGrp="1" noChangeArrowheads="1"/>
          </p:cNvSpPr>
          <p:nvPr>
            <p:ph type="title"/>
          </p:nvPr>
        </p:nvSpPr>
        <p:spPr>
          <a:xfrm>
            <a:off x="457200" y="-228600"/>
            <a:ext cx="8229600" cy="1143000"/>
          </a:xfrm>
          <a:noFill/>
          <a:ln/>
        </p:spPr>
        <p:txBody>
          <a:bodyPr lIns="91440" tIns="45720" rIns="91440" bIns="45720"/>
          <a:lstStyle/>
          <a:p>
            <a:r>
              <a:rPr lang="en-US" dirty="0"/>
              <a:t>Feature variability </a:t>
            </a:r>
            <a:r>
              <a:rPr lang="en-US" sz="3600" dirty="0"/>
              <a:t>(Goodman, 1955)</a:t>
            </a:r>
          </a:p>
        </p:txBody>
      </p:sp>
    </p:spTree>
    <p:extLst>
      <p:ext uri="{BB962C8B-B14F-4D97-AF65-F5344CB8AC3E}">
        <p14:creationId xmlns:p14="http://schemas.microsoft.com/office/powerpoint/2010/main" val="1434228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914" name="Picture 2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15" name="Oval 3"/>
          <p:cNvSpPr>
            <a:spLocks noChangeArrowheads="1"/>
          </p:cNvSpPr>
          <p:nvPr/>
        </p:nvSpPr>
        <p:spPr bwMode="auto">
          <a:xfrm>
            <a:off x="533400" y="198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16" name="Picture 4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3528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17" name="Oval 5"/>
          <p:cNvSpPr>
            <a:spLocks noChangeArrowheads="1"/>
          </p:cNvSpPr>
          <p:nvPr/>
        </p:nvSpPr>
        <p:spPr bwMode="auto">
          <a:xfrm>
            <a:off x="7848600" y="2743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18" name="Text Box 6"/>
          <p:cNvSpPr txBox="1">
            <a:spLocks noChangeArrowheads="1"/>
          </p:cNvSpPr>
          <p:nvPr/>
        </p:nvSpPr>
        <p:spPr bwMode="auto">
          <a:xfrm>
            <a:off x="8077200" y="2590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?</a:t>
            </a:r>
          </a:p>
        </p:txBody>
      </p:sp>
      <p:sp>
        <p:nvSpPr>
          <p:cNvPr id="1574919" name="Oval 7"/>
          <p:cNvSpPr>
            <a:spLocks noChangeArrowheads="1"/>
          </p:cNvSpPr>
          <p:nvPr/>
        </p:nvSpPr>
        <p:spPr bwMode="auto">
          <a:xfrm>
            <a:off x="762000" y="198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0" name="Oval 8"/>
          <p:cNvSpPr>
            <a:spLocks noChangeArrowheads="1"/>
          </p:cNvSpPr>
          <p:nvPr/>
        </p:nvSpPr>
        <p:spPr bwMode="auto">
          <a:xfrm>
            <a:off x="990600" y="198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1" name="Oval 9"/>
          <p:cNvSpPr>
            <a:spLocks noChangeArrowheads="1"/>
          </p:cNvSpPr>
          <p:nvPr/>
        </p:nvSpPr>
        <p:spPr bwMode="auto">
          <a:xfrm>
            <a:off x="533400" y="1676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2" name="Oval 10"/>
          <p:cNvSpPr>
            <a:spLocks noChangeArrowheads="1"/>
          </p:cNvSpPr>
          <p:nvPr/>
        </p:nvSpPr>
        <p:spPr bwMode="auto">
          <a:xfrm>
            <a:off x="762000" y="1676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3" name="Oval 11"/>
          <p:cNvSpPr>
            <a:spLocks noChangeArrowheads="1"/>
          </p:cNvSpPr>
          <p:nvPr/>
        </p:nvSpPr>
        <p:spPr bwMode="auto">
          <a:xfrm>
            <a:off x="990600" y="1676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4" name="Oval 12"/>
          <p:cNvSpPr>
            <a:spLocks noChangeArrowheads="1"/>
          </p:cNvSpPr>
          <p:nvPr/>
        </p:nvSpPr>
        <p:spPr bwMode="auto">
          <a:xfrm>
            <a:off x="533400" y="1371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5" name="Oval 13"/>
          <p:cNvSpPr>
            <a:spLocks noChangeArrowheads="1"/>
          </p:cNvSpPr>
          <p:nvPr/>
        </p:nvSpPr>
        <p:spPr bwMode="auto">
          <a:xfrm>
            <a:off x="762000" y="1371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6" name="Oval 14"/>
          <p:cNvSpPr>
            <a:spLocks noChangeArrowheads="1"/>
          </p:cNvSpPr>
          <p:nvPr/>
        </p:nvSpPr>
        <p:spPr bwMode="auto">
          <a:xfrm>
            <a:off x="990600" y="1371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7" name="Oval 15"/>
          <p:cNvSpPr>
            <a:spLocks noChangeArrowheads="1"/>
          </p:cNvSpPr>
          <p:nvPr/>
        </p:nvSpPr>
        <p:spPr bwMode="auto">
          <a:xfrm>
            <a:off x="533400" y="106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28" name="Oval 16"/>
          <p:cNvSpPr>
            <a:spLocks noChangeArrowheads="1"/>
          </p:cNvSpPr>
          <p:nvPr/>
        </p:nvSpPr>
        <p:spPr bwMode="auto">
          <a:xfrm>
            <a:off x="762000" y="106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29" name="Picture 17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86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30" name="Oval 18"/>
          <p:cNvSpPr>
            <a:spLocks noChangeArrowheads="1"/>
          </p:cNvSpPr>
          <p:nvPr/>
        </p:nvSpPr>
        <p:spPr bwMode="auto">
          <a:xfrm>
            <a:off x="27432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1" name="Oval 19"/>
          <p:cNvSpPr>
            <a:spLocks noChangeArrowheads="1"/>
          </p:cNvSpPr>
          <p:nvPr/>
        </p:nvSpPr>
        <p:spPr bwMode="auto">
          <a:xfrm>
            <a:off x="25146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2" name="Oval 20"/>
          <p:cNvSpPr>
            <a:spLocks noChangeArrowheads="1"/>
          </p:cNvSpPr>
          <p:nvPr/>
        </p:nvSpPr>
        <p:spPr bwMode="auto">
          <a:xfrm>
            <a:off x="22860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3" name="Oval 21"/>
          <p:cNvSpPr>
            <a:spLocks noChangeArrowheads="1"/>
          </p:cNvSpPr>
          <p:nvPr/>
        </p:nvSpPr>
        <p:spPr bwMode="auto">
          <a:xfrm>
            <a:off x="2743200" y="16764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4" name="Oval 22"/>
          <p:cNvSpPr>
            <a:spLocks noChangeArrowheads="1"/>
          </p:cNvSpPr>
          <p:nvPr/>
        </p:nvSpPr>
        <p:spPr bwMode="auto">
          <a:xfrm>
            <a:off x="2514600" y="16764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5" name="Oval 23"/>
          <p:cNvSpPr>
            <a:spLocks noChangeArrowheads="1"/>
          </p:cNvSpPr>
          <p:nvPr/>
        </p:nvSpPr>
        <p:spPr bwMode="auto">
          <a:xfrm>
            <a:off x="2286000" y="16764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6" name="Oval 24"/>
          <p:cNvSpPr>
            <a:spLocks noChangeArrowheads="1"/>
          </p:cNvSpPr>
          <p:nvPr/>
        </p:nvSpPr>
        <p:spPr bwMode="auto">
          <a:xfrm>
            <a:off x="27432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7" name="Oval 25"/>
          <p:cNvSpPr>
            <a:spLocks noChangeArrowheads="1"/>
          </p:cNvSpPr>
          <p:nvPr/>
        </p:nvSpPr>
        <p:spPr bwMode="auto">
          <a:xfrm>
            <a:off x="25146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8" name="Oval 26"/>
          <p:cNvSpPr>
            <a:spLocks noChangeArrowheads="1"/>
          </p:cNvSpPr>
          <p:nvPr/>
        </p:nvSpPr>
        <p:spPr bwMode="auto">
          <a:xfrm>
            <a:off x="22860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39" name="Oval 27"/>
          <p:cNvSpPr>
            <a:spLocks noChangeArrowheads="1"/>
          </p:cNvSpPr>
          <p:nvPr/>
        </p:nvSpPr>
        <p:spPr bwMode="auto">
          <a:xfrm>
            <a:off x="2286000" y="106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40" name="Picture 28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286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41" name="Oval 29"/>
          <p:cNvSpPr>
            <a:spLocks noChangeArrowheads="1"/>
          </p:cNvSpPr>
          <p:nvPr/>
        </p:nvSpPr>
        <p:spPr bwMode="auto">
          <a:xfrm>
            <a:off x="44958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2" name="Oval 30"/>
          <p:cNvSpPr>
            <a:spLocks noChangeArrowheads="1"/>
          </p:cNvSpPr>
          <p:nvPr/>
        </p:nvSpPr>
        <p:spPr bwMode="auto">
          <a:xfrm>
            <a:off x="42672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3" name="Oval 31"/>
          <p:cNvSpPr>
            <a:spLocks noChangeArrowheads="1"/>
          </p:cNvSpPr>
          <p:nvPr/>
        </p:nvSpPr>
        <p:spPr bwMode="auto">
          <a:xfrm>
            <a:off x="40386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4" name="Oval 32"/>
          <p:cNvSpPr>
            <a:spLocks noChangeArrowheads="1"/>
          </p:cNvSpPr>
          <p:nvPr/>
        </p:nvSpPr>
        <p:spPr bwMode="auto">
          <a:xfrm>
            <a:off x="4495800" y="16764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5" name="Oval 33"/>
          <p:cNvSpPr>
            <a:spLocks noChangeArrowheads="1"/>
          </p:cNvSpPr>
          <p:nvPr/>
        </p:nvSpPr>
        <p:spPr bwMode="auto">
          <a:xfrm>
            <a:off x="4267200" y="16764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6" name="Oval 34"/>
          <p:cNvSpPr>
            <a:spLocks noChangeArrowheads="1"/>
          </p:cNvSpPr>
          <p:nvPr/>
        </p:nvSpPr>
        <p:spPr bwMode="auto">
          <a:xfrm>
            <a:off x="4038600" y="16764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7" name="Oval 35"/>
          <p:cNvSpPr>
            <a:spLocks noChangeArrowheads="1"/>
          </p:cNvSpPr>
          <p:nvPr/>
        </p:nvSpPr>
        <p:spPr bwMode="auto">
          <a:xfrm>
            <a:off x="44958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8" name="Oval 36"/>
          <p:cNvSpPr>
            <a:spLocks noChangeArrowheads="1"/>
          </p:cNvSpPr>
          <p:nvPr/>
        </p:nvSpPr>
        <p:spPr bwMode="auto">
          <a:xfrm>
            <a:off x="42672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49" name="Oval 37"/>
          <p:cNvSpPr>
            <a:spLocks noChangeArrowheads="1"/>
          </p:cNvSpPr>
          <p:nvPr/>
        </p:nvSpPr>
        <p:spPr bwMode="auto">
          <a:xfrm>
            <a:off x="40386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0" name="Oval 38"/>
          <p:cNvSpPr>
            <a:spLocks noChangeArrowheads="1"/>
          </p:cNvSpPr>
          <p:nvPr/>
        </p:nvSpPr>
        <p:spPr bwMode="auto">
          <a:xfrm>
            <a:off x="4495800" y="106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1" name="Oval 39"/>
          <p:cNvSpPr>
            <a:spLocks noChangeArrowheads="1"/>
          </p:cNvSpPr>
          <p:nvPr/>
        </p:nvSpPr>
        <p:spPr bwMode="auto">
          <a:xfrm>
            <a:off x="4267200" y="106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2" name="Oval 40"/>
          <p:cNvSpPr>
            <a:spLocks noChangeArrowheads="1"/>
          </p:cNvSpPr>
          <p:nvPr/>
        </p:nvSpPr>
        <p:spPr bwMode="auto">
          <a:xfrm>
            <a:off x="4038600" y="106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53" name="Picture 41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286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54" name="Oval 42"/>
          <p:cNvSpPr>
            <a:spLocks noChangeArrowheads="1"/>
          </p:cNvSpPr>
          <p:nvPr/>
        </p:nvSpPr>
        <p:spPr bwMode="auto">
          <a:xfrm>
            <a:off x="63246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5" name="Oval 43"/>
          <p:cNvSpPr>
            <a:spLocks noChangeArrowheads="1"/>
          </p:cNvSpPr>
          <p:nvPr/>
        </p:nvSpPr>
        <p:spPr bwMode="auto">
          <a:xfrm>
            <a:off x="60960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6" name="Oval 44"/>
          <p:cNvSpPr>
            <a:spLocks noChangeArrowheads="1"/>
          </p:cNvSpPr>
          <p:nvPr/>
        </p:nvSpPr>
        <p:spPr bwMode="auto">
          <a:xfrm>
            <a:off x="5867400" y="1981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7" name="Oval 45"/>
          <p:cNvSpPr>
            <a:spLocks noChangeArrowheads="1"/>
          </p:cNvSpPr>
          <p:nvPr/>
        </p:nvSpPr>
        <p:spPr bwMode="auto">
          <a:xfrm>
            <a:off x="6324600" y="16764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8" name="Oval 46"/>
          <p:cNvSpPr>
            <a:spLocks noChangeArrowheads="1"/>
          </p:cNvSpPr>
          <p:nvPr/>
        </p:nvSpPr>
        <p:spPr bwMode="auto">
          <a:xfrm>
            <a:off x="6096000" y="16764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59" name="Oval 47"/>
          <p:cNvSpPr>
            <a:spLocks noChangeArrowheads="1"/>
          </p:cNvSpPr>
          <p:nvPr/>
        </p:nvSpPr>
        <p:spPr bwMode="auto">
          <a:xfrm>
            <a:off x="5867400" y="16764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0" name="Oval 48"/>
          <p:cNvSpPr>
            <a:spLocks noChangeArrowheads="1"/>
          </p:cNvSpPr>
          <p:nvPr/>
        </p:nvSpPr>
        <p:spPr bwMode="auto">
          <a:xfrm>
            <a:off x="63246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1" name="Oval 49"/>
          <p:cNvSpPr>
            <a:spLocks noChangeArrowheads="1"/>
          </p:cNvSpPr>
          <p:nvPr/>
        </p:nvSpPr>
        <p:spPr bwMode="auto">
          <a:xfrm>
            <a:off x="60960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2" name="Oval 50"/>
          <p:cNvSpPr>
            <a:spLocks noChangeArrowheads="1"/>
          </p:cNvSpPr>
          <p:nvPr/>
        </p:nvSpPr>
        <p:spPr bwMode="auto">
          <a:xfrm>
            <a:off x="5867400" y="13716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3" name="Oval 51"/>
          <p:cNvSpPr>
            <a:spLocks noChangeArrowheads="1"/>
          </p:cNvSpPr>
          <p:nvPr/>
        </p:nvSpPr>
        <p:spPr bwMode="auto">
          <a:xfrm>
            <a:off x="5867400" y="106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64" name="Picture 52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1816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65" name="Oval 53"/>
          <p:cNvSpPr>
            <a:spLocks noChangeArrowheads="1"/>
          </p:cNvSpPr>
          <p:nvPr/>
        </p:nvSpPr>
        <p:spPr bwMode="auto">
          <a:xfrm>
            <a:off x="990600" y="487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6" name="Oval 54"/>
          <p:cNvSpPr>
            <a:spLocks noChangeArrowheads="1"/>
          </p:cNvSpPr>
          <p:nvPr/>
        </p:nvSpPr>
        <p:spPr bwMode="auto">
          <a:xfrm>
            <a:off x="762000" y="487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7" name="Oval 55"/>
          <p:cNvSpPr>
            <a:spLocks noChangeArrowheads="1"/>
          </p:cNvSpPr>
          <p:nvPr/>
        </p:nvSpPr>
        <p:spPr bwMode="auto">
          <a:xfrm>
            <a:off x="533400" y="487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8" name="Oval 56"/>
          <p:cNvSpPr>
            <a:spLocks noChangeArrowheads="1"/>
          </p:cNvSpPr>
          <p:nvPr/>
        </p:nvSpPr>
        <p:spPr bwMode="auto">
          <a:xfrm>
            <a:off x="990600" y="45720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69" name="Oval 57"/>
          <p:cNvSpPr>
            <a:spLocks noChangeArrowheads="1"/>
          </p:cNvSpPr>
          <p:nvPr/>
        </p:nvSpPr>
        <p:spPr bwMode="auto">
          <a:xfrm>
            <a:off x="762000" y="45720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0" name="Oval 58"/>
          <p:cNvSpPr>
            <a:spLocks noChangeArrowheads="1"/>
          </p:cNvSpPr>
          <p:nvPr/>
        </p:nvSpPr>
        <p:spPr bwMode="auto">
          <a:xfrm>
            <a:off x="533400" y="45720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1" name="Oval 59"/>
          <p:cNvSpPr>
            <a:spLocks noChangeArrowheads="1"/>
          </p:cNvSpPr>
          <p:nvPr/>
        </p:nvSpPr>
        <p:spPr bwMode="auto">
          <a:xfrm>
            <a:off x="762000" y="4267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2" name="Oval 60"/>
          <p:cNvSpPr>
            <a:spLocks noChangeArrowheads="1"/>
          </p:cNvSpPr>
          <p:nvPr/>
        </p:nvSpPr>
        <p:spPr bwMode="auto">
          <a:xfrm>
            <a:off x="533400" y="4267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73" name="Picture 61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1816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74" name="Oval 62"/>
          <p:cNvSpPr>
            <a:spLocks noChangeArrowheads="1"/>
          </p:cNvSpPr>
          <p:nvPr/>
        </p:nvSpPr>
        <p:spPr bwMode="auto">
          <a:xfrm>
            <a:off x="22860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5" name="Oval 63"/>
          <p:cNvSpPr>
            <a:spLocks noChangeArrowheads="1"/>
          </p:cNvSpPr>
          <p:nvPr/>
        </p:nvSpPr>
        <p:spPr bwMode="auto">
          <a:xfrm>
            <a:off x="25146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6" name="Oval 64"/>
          <p:cNvSpPr>
            <a:spLocks noChangeArrowheads="1"/>
          </p:cNvSpPr>
          <p:nvPr/>
        </p:nvSpPr>
        <p:spPr bwMode="auto">
          <a:xfrm>
            <a:off x="27432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7" name="Oval 65"/>
          <p:cNvSpPr>
            <a:spLocks noChangeArrowheads="1"/>
          </p:cNvSpPr>
          <p:nvPr/>
        </p:nvSpPr>
        <p:spPr bwMode="auto">
          <a:xfrm>
            <a:off x="2286000" y="4572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8" name="Oval 66"/>
          <p:cNvSpPr>
            <a:spLocks noChangeArrowheads="1"/>
          </p:cNvSpPr>
          <p:nvPr/>
        </p:nvSpPr>
        <p:spPr bwMode="auto">
          <a:xfrm>
            <a:off x="2514600" y="4572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79" name="Oval 67"/>
          <p:cNvSpPr>
            <a:spLocks noChangeArrowheads="1"/>
          </p:cNvSpPr>
          <p:nvPr/>
        </p:nvSpPr>
        <p:spPr bwMode="auto">
          <a:xfrm>
            <a:off x="2743200" y="4572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0" name="Oval 68"/>
          <p:cNvSpPr>
            <a:spLocks noChangeArrowheads="1"/>
          </p:cNvSpPr>
          <p:nvPr/>
        </p:nvSpPr>
        <p:spPr bwMode="auto">
          <a:xfrm>
            <a:off x="2286000" y="4267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1" name="Oval 69"/>
          <p:cNvSpPr>
            <a:spLocks noChangeArrowheads="1"/>
          </p:cNvSpPr>
          <p:nvPr/>
        </p:nvSpPr>
        <p:spPr bwMode="auto">
          <a:xfrm>
            <a:off x="2514600" y="4267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2" name="Oval 70"/>
          <p:cNvSpPr>
            <a:spLocks noChangeArrowheads="1"/>
          </p:cNvSpPr>
          <p:nvPr/>
        </p:nvSpPr>
        <p:spPr bwMode="auto">
          <a:xfrm>
            <a:off x="2743200" y="4267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3" name="Oval 71"/>
          <p:cNvSpPr>
            <a:spLocks noChangeArrowheads="1"/>
          </p:cNvSpPr>
          <p:nvPr/>
        </p:nvSpPr>
        <p:spPr bwMode="auto">
          <a:xfrm>
            <a:off x="2286000" y="3962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4" name="Oval 72"/>
          <p:cNvSpPr>
            <a:spLocks noChangeArrowheads="1"/>
          </p:cNvSpPr>
          <p:nvPr/>
        </p:nvSpPr>
        <p:spPr bwMode="auto">
          <a:xfrm>
            <a:off x="2514600" y="3962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85" name="Picture 73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51816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86" name="Oval 74"/>
          <p:cNvSpPr>
            <a:spLocks noChangeArrowheads="1"/>
          </p:cNvSpPr>
          <p:nvPr/>
        </p:nvSpPr>
        <p:spPr bwMode="auto">
          <a:xfrm>
            <a:off x="4495800" y="487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7" name="Oval 75"/>
          <p:cNvSpPr>
            <a:spLocks noChangeArrowheads="1"/>
          </p:cNvSpPr>
          <p:nvPr/>
        </p:nvSpPr>
        <p:spPr bwMode="auto">
          <a:xfrm>
            <a:off x="4267200" y="487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8" name="Oval 76"/>
          <p:cNvSpPr>
            <a:spLocks noChangeArrowheads="1"/>
          </p:cNvSpPr>
          <p:nvPr/>
        </p:nvSpPr>
        <p:spPr bwMode="auto">
          <a:xfrm>
            <a:off x="4038600" y="48768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89" name="Oval 77"/>
          <p:cNvSpPr>
            <a:spLocks noChangeArrowheads="1"/>
          </p:cNvSpPr>
          <p:nvPr/>
        </p:nvSpPr>
        <p:spPr bwMode="auto">
          <a:xfrm>
            <a:off x="4495800" y="45720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0" name="Oval 78"/>
          <p:cNvSpPr>
            <a:spLocks noChangeArrowheads="1"/>
          </p:cNvSpPr>
          <p:nvPr/>
        </p:nvSpPr>
        <p:spPr bwMode="auto">
          <a:xfrm>
            <a:off x="4267200" y="45720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1" name="Oval 79"/>
          <p:cNvSpPr>
            <a:spLocks noChangeArrowheads="1"/>
          </p:cNvSpPr>
          <p:nvPr/>
        </p:nvSpPr>
        <p:spPr bwMode="auto">
          <a:xfrm>
            <a:off x="4038600" y="45720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2" name="Oval 80"/>
          <p:cNvSpPr>
            <a:spLocks noChangeArrowheads="1"/>
          </p:cNvSpPr>
          <p:nvPr/>
        </p:nvSpPr>
        <p:spPr bwMode="auto">
          <a:xfrm>
            <a:off x="4495800" y="4267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3" name="Oval 81"/>
          <p:cNvSpPr>
            <a:spLocks noChangeArrowheads="1"/>
          </p:cNvSpPr>
          <p:nvPr/>
        </p:nvSpPr>
        <p:spPr bwMode="auto">
          <a:xfrm>
            <a:off x="4267200" y="4267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4" name="Oval 82"/>
          <p:cNvSpPr>
            <a:spLocks noChangeArrowheads="1"/>
          </p:cNvSpPr>
          <p:nvPr/>
        </p:nvSpPr>
        <p:spPr bwMode="auto">
          <a:xfrm>
            <a:off x="4038600" y="42672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5" name="Oval 83"/>
          <p:cNvSpPr>
            <a:spLocks noChangeArrowheads="1"/>
          </p:cNvSpPr>
          <p:nvPr/>
        </p:nvSpPr>
        <p:spPr bwMode="auto">
          <a:xfrm>
            <a:off x="4038600" y="396240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74996" name="Picture 84" descr="B0001PND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1816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74997" name="Oval 85"/>
          <p:cNvSpPr>
            <a:spLocks noChangeArrowheads="1"/>
          </p:cNvSpPr>
          <p:nvPr/>
        </p:nvSpPr>
        <p:spPr bwMode="auto">
          <a:xfrm>
            <a:off x="58674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8" name="Oval 86"/>
          <p:cNvSpPr>
            <a:spLocks noChangeArrowheads="1"/>
          </p:cNvSpPr>
          <p:nvPr/>
        </p:nvSpPr>
        <p:spPr bwMode="auto">
          <a:xfrm>
            <a:off x="60960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4999" name="Oval 87"/>
          <p:cNvSpPr>
            <a:spLocks noChangeArrowheads="1"/>
          </p:cNvSpPr>
          <p:nvPr/>
        </p:nvSpPr>
        <p:spPr bwMode="auto">
          <a:xfrm>
            <a:off x="63246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0" name="Oval 88"/>
          <p:cNvSpPr>
            <a:spLocks noChangeArrowheads="1"/>
          </p:cNvSpPr>
          <p:nvPr/>
        </p:nvSpPr>
        <p:spPr bwMode="auto">
          <a:xfrm>
            <a:off x="5867400" y="4572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1" name="Oval 89"/>
          <p:cNvSpPr>
            <a:spLocks noChangeArrowheads="1"/>
          </p:cNvSpPr>
          <p:nvPr/>
        </p:nvSpPr>
        <p:spPr bwMode="auto">
          <a:xfrm>
            <a:off x="6096000" y="4572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2" name="Oval 90"/>
          <p:cNvSpPr>
            <a:spLocks noChangeArrowheads="1"/>
          </p:cNvSpPr>
          <p:nvPr/>
        </p:nvSpPr>
        <p:spPr bwMode="auto">
          <a:xfrm>
            <a:off x="6324600" y="4572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3" name="Oval 91"/>
          <p:cNvSpPr>
            <a:spLocks noChangeArrowheads="1"/>
          </p:cNvSpPr>
          <p:nvPr/>
        </p:nvSpPr>
        <p:spPr bwMode="auto">
          <a:xfrm>
            <a:off x="5867400" y="4267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4" name="Oval 92"/>
          <p:cNvSpPr>
            <a:spLocks noChangeArrowheads="1"/>
          </p:cNvSpPr>
          <p:nvPr/>
        </p:nvSpPr>
        <p:spPr bwMode="auto">
          <a:xfrm>
            <a:off x="6096000" y="4267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5" name="Oval 93"/>
          <p:cNvSpPr>
            <a:spLocks noChangeArrowheads="1"/>
          </p:cNvSpPr>
          <p:nvPr/>
        </p:nvSpPr>
        <p:spPr bwMode="auto">
          <a:xfrm>
            <a:off x="6324600" y="4267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6" name="Oval 94"/>
          <p:cNvSpPr>
            <a:spLocks noChangeArrowheads="1"/>
          </p:cNvSpPr>
          <p:nvPr/>
        </p:nvSpPr>
        <p:spPr bwMode="auto">
          <a:xfrm>
            <a:off x="5867400" y="3962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7" name="Oval 95"/>
          <p:cNvSpPr>
            <a:spLocks noChangeArrowheads="1"/>
          </p:cNvSpPr>
          <p:nvPr/>
        </p:nvSpPr>
        <p:spPr bwMode="auto">
          <a:xfrm>
            <a:off x="6096000" y="3962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008" name="Rectangle 96"/>
          <p:cNvSpPr>
            <a:spLocks noGrp="1" noChangeArrowheads="1"/>
          </p:cNvSpPr>
          <p:nvPr>
            <p:ph type="title"/>
          </p:nvPr>
        </p:nvSpPr>
        <p:spPr>
          <a:xfrm>
            <a:off x="457200" y="-228600"/>
            <a:ext cx="8229600" cy="1143000"/>
          </a:xfrm>
          <a:noFill/>
          <a:ln/>
        </p:spPr>
        <p:txBody>
          <a:bodyPr lIns="91440" tIns="45720" rIns="91440" bIns="45720"/>
          <a:lstStyle/>
          <a:p>
            <a:r>
              <a:rPr lang="en-US" dirty="0"/>
              <a:t>Feature variability </a:t>
            </a:r>
            <a:r>
              <a:rPr lang="en-US" sz="3600" dirty="0"/>
              <a:t>(Goodman, 1955)</a:t>
            </a:r>
          </a:p>
        </p:txBody>
      </p:sp>
    </p:spTree>
    <p:extLst>
      <p:ext uri="{BB962C8B-B14F-4D97-AF65-F5344CB8AC3E}">
        <p14:creationId xmlns:p14="http://schemas.microsoft.com/office/powerpoint/2010/main" val="1035823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73100" y="-85725"/>
            <a:ext cx="7807325" cy="1144588"/>
          </a:xfr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A hierarchical Bayesian model</a:t>
            </a:r>
          </a:p>
        </p:txBody>
      </p:sp>
      <p:sp>
        <p:nvSpPr>
          <p:cNvPr id="1575939" name="Text Box 3"/>
          <p:cNvSpPr txBox="1">
            <a:spLocks noChangeArrowheads="1"/>
          </p:cNvSpPr>
          <p:nvPr/>
        </p:nvSpPr>
        <p:spPr bwMode="auto">
          <a:xfrm>
            <a:off x="197573" y="3714243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Level 1:  Bag proportions</a:t>
            </a:r>
          </a:p>
        </p:txBody>
      </p:sp>
      <p:sp>
        <p:nvSpPr>
          <p:cNvPr id="1575940" name="Text Box 4"/>
          <p:cNvSpPr txBox="1">
            <a:spLocks noChangeArrowheads="1"/>
          </p:cNvSpPr>
          <p:nvPr/>
        </p:nvSpPr>
        <p:spPr bwMode="auto">
          <a:xfrm>
            <a:off x="226148" y="4969955"/>
            <a:ext cx="1209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Data	</a:t>
            </a:r>
          </a:p>
        </p:txBody>
      </p:sp>
      <p:sp>
        <p:nvSpPr>
          <p:cNvPr id="1575941" name="Line 5"/>
          <p:cNvSpPr>
            <a:spLocks noChangeShapeType="1"/>
          </p:cNvSpPr>
          <p:nvPr/>
        </p:nvSpPr>
        <p:spPr bwMode="auto">
          <a:xfrm>
            <a:off x="607148" y="4446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5942" name="Text Box 6"/>
          <p:cNvSpPr txBox="1">
            <a:spLocks noChangeArrowheads="1"/>
          </p:cNvSpPr>
          <p:nvPr/>
        </p:nvSpPr>
        <p:spPr bwMode="auto">
          <a:xfrm>
            <a:off x="8655050" y="360788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…</a:t>
            </a:r>
          </a:p>
        </p:txBody>
      </p:sp>
      <p:sp>
        <p:nvSpPr>
          <p:cNvPr id="1575943" name="Text Box 7"/>
          <p:cNvSpPr txBox="1">
            <a:spLocks noChangeArrowheads="1"/>
          </p:cNvSpPr>
          <p:nvPr/>
        </p:nvSpPr>
        <p:spPr bwMode="auto">
          <a:xfrm>
            <a:off x="8655050" y="544620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…</a:t>
            </a:r>
          </a:p>
        </p:txBody>
      </p:sp>
      <p:sp>
        <p:nvSpPr>
          <p:cNvPr id="1575944" name="Text Box 8"/>
          <p:cNvSpPr txBox="1">
            <a:spLocks noChangeArrowheads="1"/>
          </p:cNvSpPr>
          <p:nvPr/>
        </p:nvSpPr>
        <p:spPr bwMode="auto">
          <a:xfrm>
            <a:off x="3771900" y="3550730"/>
            <a:ext cx="10652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mostly</a:t>
            </a:r>
          </a:p>
          <a:p>
            <a:pPr algn="l"/>
            <a:r>
              <a:rPr lang="en-US" sz="2400"/>
              <a:t>white</a:t>
            </a:r>
          </a:p>
        </p:txBody>
      </p:sp>
      <p:sp>
        <p:nvSpPr>
          <p:cNvPr id="1575945" name="Text Box 9"/>
          <p:cNvSpPr txBox="1">
            <a:spLocks noChangeArrowheads="1"/>
          </p:cNvSpPr>
          <p:nvPr/>
        </p:nvSpPr>
        <p:spPr bwMode="auto">
          <a:xfrm>
            <a:off x="5067300" y="3550730"/>
            <a:ext cx="10652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mostly</a:t>
            </a:r>
          </a:p>
          <a:p>
            <a:pPr algn="l"/>
            <a:r>
              <a:rPr lang="en-US" sz="2400"/>
              <a:t>black</a:t>
            </a:r>
          </a:p>
        </p:txBody>
      </p:sp>
      <p:sp>
        <p:nvSpPr>
          <p:cNvPr id="1575946" name="Text Box 10"/>
          <p:cNvSpPr txBox="1">
            <a:spLocks noChangeArrowheads="1"/>
          </p:cNvSpPr>
          <p:nvPr/>
        </p:nvSpPr>
        <p:spPr bwMode="auto">
          <a:xfrm>
            <a:off x="6402388" y="3547555"/>
            <a:ext cx="106521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mostly</a:t>
            </a:r>
          </a:p>
          <a:p>
            <a:pPr algn="l"/>
            <a:r>
              <a:rPr lang="en-US" sz="2400"/>
              <a:t>white</a:t>
            </a:r>
          </a:p>
        </p:txBody>
      </p:sp>
      <p:sp>
        <p:nvSpPr>
          <p:cNvPr id="1575947" name="Text Box 11"/>
          <p:cNvSpPr txBox="1">
            <a:spLocks noChangeArrowheads="1"/>
          </p:cNvSpPr>
          <p:nvPr/>
        </p:nvSpPr>
        <p:spPr bwMode="auto">
          <a:xfrm>
            <a:off x="7742238" y="3547555"/>
            <a:ext cx="106521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mostly</a:t>
            </a:r>
          </a:p>
          <a:p>
            <a:pPr algn="l"/>
            <a:r>
              <a:rPr lang="en-US" sz="2400"/>
              <a:t>black</a:t>
            </a:r>
          </a:p>
        </p:txBody>
      </p:sp>
      <p:sp>
        <p:nvSpPr>
          <p:cNvPr id="1575948" name="Oval 12"/>
          <p:cNvSpPr>
            <a:spLocks noChangeArrowheads="1"/>
          </p:cNvSpPr>
          <p:nvPr/>
        </p:nvSpPr>
        <p:spPr bwMode="auto">
          <a:xfrm>
            <a:off x="5334000" y="582720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49" name="Oval 13"/>
          <p:cNvSpPr>
            <a:spLocks noChangeArrowheads="1"/>
          </p:cNvSpPr>
          <p:nvPr/>
        </p:nvSpPr>
        <p:spPr bwMode="auto">
          <a:xfrm>
            <a:off x="5562600" y="582720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50" name="Oval 14"/>
          <p:cNvSpPr>
            <a:spLocks noChangeArrowheads="1"/>
          </p:cNvSpPr>
          <p:nvPr/>
        </p:nvSpPr>
        <p:spPr bwMode="auto">
          <a:xfrm>
            <a:off x="5334000" y="552240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51" name="Oval 15"/>
          <p:cNvSpPr>
            <a:spLocks noChangeArrowheads="1"/>
          </p:cNvSpPr>
          <p:nvPr/>
        </p:nvSpPr>
        <p:spPr bwMode="auto">
          <a:xfrm>
            <a:off x="5562600" y="552240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52" name="Oval 16"/>
          <p:cNvSpPr>
            <a:spLocks noChangeArrowheads="1"/>
          </p:cNvSpPr>
          <p:nvPr/>
        </p:nvSpPr>
        <p:spPr bwMode="auto">
          <a:xfrm>
            <a:off x="5334000" y="521760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53" name="Oval 17"/>
          <p:cNvSpPr>
            <a:spLocks noChangeArrowheads="1"/>
          </p:cNvSpPr>
          <p:nvPr/>
        </p:nvSpPr>
        <p:spPr bwMode="auto">
          <a:xfrm>
            <a:off x="5562600" y="521760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54" name="Oval 18"/>
          <p:cNvSpPr>
            <a:spLocks noChangeArrowheads="1"/>
          </p:cNvSpPr>
          <p:nvPr/>
        </p:nvSpPr>
        <p:spPr bwMode="auto">
          <a:xfrm>
            <a:off x="8229600" y="521760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55" name="Oval 19"/>
          <p:cNvSpPr>
            <a:spLocks noChangeArrowheads="1"/>
          </p:cNvSpPr>
          <p:nvPr/>
        </p:nvSpPr>
        <p:spPr bwMode="auto">
          <a:xfrm>
            <a:off x="4267200" y="584625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56" name="Oval 20"/>
          <p:cNvSpPr>
            <a:spLocks noChangeArrowheads="1"/>
          </p:cNvSpPr>
          <p:nvPr/>
        </p:nvSpPr>
        <p:spPr bwMode="auto">
          <a:xfrm>
            <a:off x="4038600" y="584625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57" name="Oval 21"/>
          <p:cNvSpPr>
            <a:spLocks noChangeArrowheads="1"/>
          </p:cNvSpPr>
          <p:nvPr/>
        </p:nvSpPr>
        <p:spPr bwMode="auto">
          <a:xfrm>
            <a:off x="4267200" y="554145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58" name="Oval 22"/>
          <p:cNvSpPr>
            <a:spLocks noChangeArrowheads="1"/>
          </p:cNvSpPr>
          <p:nvPr/>
        </p:nvSpPr>
        <p:spPr bwMode="auto">
          <a:xfrm>
            <a:off x="4038600" y="554145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59" name="Oval 23"/>
          <p:cNvSpPr>
            <a:spLocks noChangeArrowheads="1"/>
          </p:cNvSpPr>
          <p:nvPr/>
        </p:nvSpPr>
        <p:spPr bwMode="auto">
          <a:xfrm>
            <a:off x="4267200" y="523665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60" name="Oval 24"/>
          <p:cNvSpPr>
            <a:spLocks noChangeArrowheads="1"/>
          </p:cNvSpPr>
          <p:nvPr/>
        </p:nvSpPr>
        <p:spPr bwMode="auto">
          <a:xfrm>
            <a:off x="4038600" y="523665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61" name="Oval 25"/>
          <p:cNvSpPr>
            <a:spLocks noChangeArrowheads="1"/>
          </p:cNvSpPr>
          <p:nvPr/>
        </p:nvSpPr>
        <p:spPr bwMode="auto">
          <a:xfrm>
            <a:off x="6934200" y="581768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62" name="Oval 26"/>
          <p:cNvSpPr>
            <a:spLocks noChangeArrowheads="1"/>
          </p:cNvSpPr>
          <p:nvPr/>
        </p:nvSpPr>
        <p:spPr bwMode="auto">
          <a:xfrm>
            <a:off x="6705600" y="581768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63" name="Oval 27"/>
          <p:cNvSpPr>
            <a:spLocks noChangeArrowheads="1"/>
          </p:cNvSpPr>
          <p:nvPr/>
        </p:nvSpPr>
        <p:spPr bwMode="auto">
          <a:xfrm>
            <a:off x="6934200" y="551288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64" name="Oval 28"/>
          <p:cNvSpPr>
            <a:spLocks noChangeArrowheads="1"/>
          </p:cNvSpPr>
          <p:nvPr/>
        </p:nvSpPr>
        <p:spPr bwMode="auto">
          <a:xfrm>
            <a:off x="6705600" y="551288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65" name="Oval 29"/>
          <p:cNvSpPr>
            <a:spLocks noChangeArrowheads="1"/>
          </p:cNvSpPr>
          <p:nvPr/>
        </p:nvSpPr>
        <p:spPr bwMode="auto">
          <a:xfrm>
            <a:off x="6934200" y="520808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66" name="Oval 30"/>
          <p:cNvSpPr>
            <a:spLocks noChangeArrowheads="1"/>
          </p:cNvSpPr>
          <p:nvPr/>
        </p:nvSpPr>
        <p:spPr bwMode="auto">
          <a:xfrm>
            <a:off x="6705600" y="520808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67" name="Line 31"/>
          <p:cNvSpPr>
            <a:spLocks noChangeShapeType="1"/>
          </p:cNvSpPr>
          <p:nvPr/>
        </p:nvSpPr>
        <p:spPr bwMode="auto">
          <a:xfrm>
            <a:off x="4267200" y="4446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5968" name="Line 32"/>
          <p:cNvSpPr>
            <a:spLocks noChangeShapeType="1"/>
          </p:cNvSpPr>
          <p:nvPr/>
        </p:nvSpPr>
        <p:spPr bwMode="auto">
          <a:xfrm>
            <a:off x="5562600" y="4446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5969" name="Line 33"/>
          <p:cNvSpPr>
            <a:spLocks noChangeShapeType="1"/>
          </p:cNvSpPr>
          <p:nvPr/>
        </p:nvSpPr>
        <p:spPr bwMode="auto">
          <a:xfrm>
            <a:off x="6858000" y="4446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5970" name="Line 34"/>
          <p:cNvSpPr>
            <a:spLocks noChangeShapeType="1"/>
          </p:cNvSpPr>
          <p:nvPr/>
        </p:nvSpPr>
        <p:spPr bwMode="auto">
          <a:xfrm>
            <a:off x="8229600" y="4446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5971" name="Text Box 35"/>
          <p:cNvSpPr txBox="1">
            <a:spLocks noChangeArrowheads="1"/>
          </p:cNvSpPr>
          <p:nvPr/>
        </p:nvSpPr>
        <p:spPr bwMode="auto">
          <a:xfrm>
            <a:off x="149948" y="2312480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Level 2:  Bags in general</a:t>
            </a:r>
          </a:p>
        </p:txBody>
      </p:sp>
      <p:sp>
        <p:nvSpPr>
          <p:cNvPr id="1575972" name="Line 36"/>
          <p:cNvSpPr>
            <a:spLocks noChangeShapeType="1"/>
          </p:cNvSpPr>
          <p:nvPr/>
        </p:nvSpPr>
        <p:spPr bwMode="auto">
          <a:xfrm>
            <a:off x="607148" y="29982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5973" name="Text Box 37"/>
          <p:cNvSpPr txBox="1">
            <a:spLocks noChangeArrowheads="1"/>
          </p:cNvSpPr>
          <p:nvPr/>
        </p:nvSpPr>
        <p:spPr bwMode="auto">
          <a:xfrm>
            <a:off x="4267200" y="231248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2400"/>
              <a:t>most bags are homogeneous</a:t>
            </a:r>
          </a:p>
        </p:txBody>
      </p:sp>
      <p:sp>
        <p:nvSpPr>
          <p:cNvPr id="1575974" name="Line 38"/>
          <p:cNvSpPr>
            <a:spLocks noChangeShapeType="1"/>
          </p:cNvSpPr>
          <p:nvPr/>
        </p:nvSpPr>
        <p:spPr bwMode="auto">
          <a:xfrm flipH="1">
            <a:off x="4267200" y="2845880"/>
            <a:ext cx="1981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5975" name="Line 39"/>
          <p:cNvSpPr>
            <a:spLocks noChangeShapeType="1"/>
          </p:cNvSpPr>
          <p:nvPr/>
        </p:nvSpPr>
        <p:spPr bwMode="auto">
          <a:xfrm flipH="1">
            <a:off x="5562600" y="284588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5976" name="Line 40"/>
          <p:cNvSpPr>
            <a:spLocks noChangeShapeType="1"/>
          </p:cNvSpPr>
          <p:nvPr/>
        </p:nvSpPr>
        <p:spPr bwMode="auto">
          <a:xfrm>
            <a:off x="6248400" y="284588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5977" name="Line 41"/>
          <p:cNvSpPr>
            <a:spLocks noChangeShapeType="1"/>
          </p:cNvSpPr>
          <p:nvPr/>
        </p:nvSpPr>
        <p:spPr bwMode="auto">
          <a:xfrm>
            <a:off x="6248400" y="2845880"/>
            <a:ext cx="2057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5978" name="Rectangle 42"/>
          <p:cNvSpPr>
            <a:spLocks noChangeArrowheads="1"/>
          </p:cNvSpPr>
          <p:nvPr/>
        </p:nvSpPr>
        <p:spPr bwMode="auto">
          <a:xfrm>
            <a:off x="4191000" y="2312480"/>
            <a:ext cx="4343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5979" name="Text Box 43"/>
          <p:cNvSpPr txBox="1">
            <a:spLocks noChangeArrowheads="1"/>
          </p:cNvSpPr>
          <p:nvPr/>
        </p:nvSpPr>
        <p:spPr bwMode="auto">
          <a:xfrm>
            <a:off x="5065547" y="1588648"/>
            <a:ext cx="30083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3200" dirty="0" err="1">
                <a:solidFill>
                  <a:srgbClr val="FF0000"/>
                </a:solidFill>
              </a:rPr>
              <a:t>Overhypothesis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176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73100" y="-85725"/>
            <a:ext cx="7807325" cy="1144588"/>
          </a:xfr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A hierarchical Bayesian model</a:t>
            </a:r>
          </a:p>
        </p:txBody>
      </p:sp>
      <p:sp>
        <p:nvSpPr>
          <p:cNvPr id="1577987" name="Text Box 3"/>
          <p:cNvSpPr txBox="1">
            <a:spLocks noChangeArrowheads="1"/>
          </p:cNvSpPr>
          <p:nvPr/>
        </p:nvSpPr>
        <p:spPr bwMode="auto">
          <a:xfrm>
            <a:off x="162781" y="3456445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Level 1:  Bag proportions</a:t>
            </a:r>
          </a:p>
        </p:txBody>
      </p:sp>
      <p:sp>
        <p:nvSpPr>
          <p:cNvPr id="1577988" name="Text Box 4"/>
          <p:cNvSpPr txBox="1">
            <a:spLocks noChangeArrowheads="1"/>
          </p:cNvSpPr>
          <p:nvPr/>
        </p:nvSpPr>
        <p:spPr bwMode="auto">
          <a:xfrm>
            <a:off x="191356" y="4712157"/>
            <a:ext cx="1209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Data	</a:t>
            </a:r>
          </a:p>
        </p:txBody>
      </p:sp>
      <p:sp>
        <p:nvSpPr>
          <p:cNvPr id="1577989" name="Line 5"/>
          <p:cNvSpPr>
            <a:spLocks noChangeShapeType="1"/>
          </p:cNvSpPr>
          <p:nvPr/>
        </p:nvSpPr>
        <p:spPr bwMode="auto">
          <a:xfrm>
            <a:off x="572356" y="418828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7990" name="Text Box 6"/>
          <p:cNvSpPr txBox="1">
            <a:spLocks noChangeArrowheads="1"/>
          </p:cNvSpPr>
          <p:nvPr/>
        </p:nvSpPr>
        <p:spPr bwMode="auto">
          <a:xfrm>
            <a:off x="8655050" y="335008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…</a:t>
            </a:r>
          </a:p>
        </p:txBody>
      </p:sp>
      <p:sp>
        <p:nvSpPr>
          <p:cNvPr id="1577991" name="Text Box 7"/>
          <p:cNvSpPr txBox="1">
            <a:spLocks noChangeArrowheads="1"/>
          </p:cNvSpPr>
          <p:nvPr/>
        </p:nvSpPr>
        <p:spPr bwMode="auto">
          <a:xfrm>
            <a:off x="8655050" y="4769307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…</a:t>
            </a:r>
          </a:p>
        </p:txBody>
      </p:sp>
      <p:sp>
        <p:nvSpPr>
          <p:cNvPr id="1577992" name="Text Box 8"/>
          <p:cNvSpPr txBox="1">
            <a:spLocks noChangeArrowheads="1"/>
          </p:cNvSpPr>
          <p:nvPr/>
        </p:nvSpPr>
        <p:spPr bwMode="auto">
          <a:xfrm>
            <a:off x="8655050" y="561703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…</a:t>
            </a:r>
          </a:p>
        </p:txBody>
      </p:sp>
      <p:sp>
        <p:nvSpPr>
          <p:cNvPr id="1577993" name="Oval 9"/>
          <p:cNvSpPr>
            <a:spLocks noChangeArrowheads="1"/>
          </p:cNvSpPr>
          <p:nvPr/>
        </p:nvSpPr>
        <p:spPr bwMode="auto">
          <a:xfrm>
            <a:off x="5334000" y="5998032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7994" name="Oval 10"/>
          <p:cNvSpPr>
            <a:spLocks noChangeArrowheads="1"/>
          </p:cNvSpPr>
          <p:nvPr/>
        </p:nvSpPr>
        <p:spPr bwMode="auto">
          <a:xfrm>
            <a:off x="5562600" y="5998032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7995" name="Oval 11"/>
          <p:cNvSpPr>
            <a:spLocks noChangeArrowheads="1"/>
          </p:cNvSpPr>
          <p:nvPr/>
        </p:nvSpPr>
        <p:spPr bwMode="auto">
          <a:xfrm>
            <a:off x="5334000" y="5693232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7996" name="Oval 12"/>
          <p:cNvSpPr>
            <a:spLocks noChangeArrowheads="1"/>
          </p:cNvSpPr>
          <p:nvPr/>
        </p:nvSpPr>
        <p:spPr bwMode="auto">
          <a:xfrm>
            <a:off x="5562600" y="5693232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7997" name="Oval 13"/>
          <p:cNvSpPr>
            <a:spLocks noChangeArrowheads="1"/>
          </p:cNvSpPr>
          <p:nvPr/>
        </p:nvSpPr>
        <p:spPr bwMode="auto">
          <a:xfrm>
            <a:off x="5334000" y="5388432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7998" name="Oval 14"/>
          <p:cNvSpPr>
            <a:spLocks noChangeArrowheads="1"/>
          </p:cNvSpPr>
          <p:nvPr/>
        </p:nvSpPr>
        <p:spPr bwMode="auto">
          <a:xfrm>
            <a:off x="5562600" y="5388432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7999" name="Oval 15"/>
          <p:cNvSpPr>
            <a:spLocks noChangeArrowheads="1"/>
          </p:cNvSpPr>
          <p:nvPr/>
        </p:nvSpPr>
        <p:spPr bwMode="auto">
          <a:xfrm>
            <a:off x="8045450" y="5388432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8000" name="Oval 16"/>
          <p:cNvSpPr>
            <a:spLocks noChangeArrowheads="1"/>
          </p:cNvSpPr>
          <p:nvPr/>
        </p:nvSpPr>
        <p:spPr bwMode="auto">
          <a:xfrm>
            <a:off x="4267200" y="6017082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8001" name="Oval 17"/>
          <p:cNvSpPr>
            <a:spLocks noChangeArrowheads="1"/>
          </p:cNvSpPr>
          <p:nvPr/>
        </p:nvSpPr>
        <p:spPr bwMode="auto">
          <a:xfrm>
            <a:off x="4038600" y="6017082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8002" name="Oval 18"/>
          <p:cNvSpPr>
            <a:spLocks noChangeArrowheads="1"/>
          </p:cNvSpPr>
          <p:nvPr/>
        </p:nvSpPr>
        <p:spPr bwMode="auto">
          <a:xfrm>
            <a:off x="4267200" y="5712282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8003" name="Oval 19"/>
          <p:cNvSpPr>
            <a:spLocks noChangeArrowheads="1"/>
          </p:cNvSpPr>
          <p:nvPr/>
        </p:nvSpPr>
        <p:spPr bwMode="auto">
          <a:xfrm>
            <a:off x="4038600" y="5712282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8004" name="Oval 20"/>
          <p:cNvSpPr>
            <a:spLocks noChangeArrowheads="1"/>
          </p:cNvSpPr>
          <p:nvPr/>
        </p:nvSpPr>
        <p:spPr bwMode="auto">
          <a:xfrm>
            <a:off x="4267200" y="5407482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8005" name="Oval 21"/>
          <p:cNvSpPr>
            <a:spLocks noChangeArrowheads="1"/>
          </p:cNvSpPr>
          <p:nvPr/>
        </p:nvSpPr>
        <p:spPr bwMode="auto">
          <a:xfrm>
            <a:off x="4038600" y="5407482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8006" name="Oval 22"/>
          <p:cNvSpPr>
            <a:spLocks noChangeArrowheads="1"/>
          </p:cNvSpPr>
          <p:nvPr/>
        </p:nvSpPr>
        <p:spPr bwMode="auto">
          <a:xfrm>
            <a:off x="6934200" y="5988507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8007" name="Oval 23"/>
          <p:cNvSpPr>
            <a:spLocks noChangeArrowheads="1"/>
          </p:cNvSpPr>
          <p:nvPr/>
        </p:nvSpPr>
        <p:spPr bwMode="auto">
          <a:xfrm>
            <a:off x="6705600" y="5988507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8008" name="Oval 24"/>
          <p:cNvSpPr>
            <a:spLocks noChangeArrowheads="1"/>
          </p:cNvSpPr>
          <p:nvPr/>
        </p:nvSpPr>
        <p:spPr bwMode="auto">
          <a:xfrm>
            <a:off x="6934200" y="5683707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8009" name="Oval 25"/>
          <p:cNvSpPr>
            <a:spLocks noChangeArrowheads="1"/>
          </p:cNvSpPr>
          <p:nvPr/>
        </p:nvSpPr>
        <p:spPr bwMode="auto">
          <a:xfrm>
            <a:off x="6705600" y="5683707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8010" name="Oval 26"/>
          <p:cNvSpPr>
            <a:spLocks noChangeArrowheads="1"/>
          </p:cNvSpPr>
          <p:nvPr/>
        </p:nvSpPr>
        <p:spPr bwMode="auto">
          <a:xfrm>
            <a:off x="6934200" y="5378907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8011" name="Oval 27"/>
          <p:cNvSpPr>
            <a:spLocks noChangeArrowheads="1"/>
          </p:cNvSpPr>
          <p:nvPr/>
        </p:nvSpPr>
        <p:spPr bwMode="auto">
          <a:xfrm>
            <a:off x="6705600" y="5378907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8012" name="Text Box 28"/>
          <p:cNvSpPr txBox="1">
            <a:spLocks noChangeArrowheads="1"/>
          </p:cNvSpPr>
          <p:nvPr/>
        </p:nvSpPr>
        <p:spPr bwMode="auto">
          <a:xfrm>
            <a:off x="3962400" y="4718507"/>
            <a:ext cx="44905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 i="1"/>
              <a:t>y</a:t>
            </a:r>
            <a:r>
              <a:rPr lang="en-US" sz="2200" i="1" baseline="-10000"/>
              <a:t>1</a:t>
            </a:r>
          </a:p>
        </p:txBody>
      </p:sp>
      <p:sp>
        <p:nvSpPr>
          <p:cNvPr id="1578013" name="Text Box 29"/>
          <p:cNvSpPr txBox="1">
            <a:spLocks noChangeArrowheads="1"/>
          </p:cNvSpPr>
          <p:nvPr/>
        </p:nvSpPr>
        <p:spPr bwMode="auto">
          <a:xfrm>
            <a:off x="5341938" y="4718507"/>
            <a:ext cx="44905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 i="1"/>
              <a:t>y</a:t>
            </a:r>
            <a:r>
              <a:rPr lang="en-US" sz="2200" i="1" baseline="-10000"/>
              <a:t>2</a:t>
            </a:r>
          </a:p>
        </p:txBody>
      </p:sp>
      <p:sp>
        <p:nvSpPr>
          <p:cNvPr id="1578014" name="Text Box 30"/>
          <p:cNvSpPr txBox="1">
            <a:spLocks noChangeArrowheads="1"/>
          </p:cNvSpPr>
          <p:nvPr/>
        </p:nvSpPr>
        <p:spPr bwMode="auto">
          <a:xfrm>
            <a:off x="6629400" y="4718507"/>
            <a:ext cx="44905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 i="1"/>
              <a:t>y</a:t>
            </a:r>
            <a:r>
              <a:rPr lang="en-US" sz="2200" i="1" baseline="-10000"/>
              <a:t>3</a:t>
            </a:r>
          </a:p>
        </p:txBody>
      </p:sp>
      <p:sp>
        <p:nvSpPr>
          <p:cNvPr id="1578015" name="Text Box 31"/>
          <p:cNvSpPr txBox="1">
            <a:spLocks noChangeArrowheads="1"/>
          </p:cNvSpPr>
          <p:nvPr/>
        </p:nvSpPr>
        <p:spPr bwMode="auto">
          <a:xfrm>
            <a:off x="8001000" y="4718507"/>
            <a:ext cx="67470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 i="1" dirty="0" err="1"/>
              <a:t>y</a:t>
            </a:r>
            <a:r>
              <a:rPr lang="en-US" sz="2200" i="1" baseline="-10000" dirty="0" err="1"/>
              <a:t>new</a:t>
            </a:r>
            <a:endParaRPr lang="en-US" sz="2200" i="1" baseline="-10000" dirty="0"/>
          </a:p>
        </p:txBody>
      </p:sp>
      <p:sp>
        <p:nvSpPr>
          <p:cNvPr id="1578016" name="Line 32"/>
          <p:cNvSpPr>
            <a:spLocks noChangeShapeType="1"/>
          </p:cNvSpPr>
          <p:nvPr/>
        </p:nvSpPr>
        <p:spPr bwMode="auto">
          <a:xfrm>
            <a:off x="4267200" y="418828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8017" name="Line 33"/>
          <p:cNvSpPr>
            <a:spLocks noChangeShapeType="1"/>
          </p:cNvSpPr>
          <p:nvPr/>
        </p:nvSpPr>
        <p:spPr bwMode="auto">
          <a:xfrm>
            <a:off x="5562600" y="418828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8018" name="Line 34"/>
          <p:cNvSpPr>
            <a:spLocks noChangeShapeType="1"/>
          </p:cNvSpPr>
          <p:nvPr/>
        </p:nvSpPr>
        <p:spPr bwMode="auto">
          <a:xfrm>
            <a:off x="6858000" y="418828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8019" name="Line 35"/>
          <p:cNvSpPr>
            <a:spLocks noChangeShapeType="1"/>
          </p:cNvSpPr>
          <p:nvPr/>
        </p:nvSpPr>
        <p:spPr bwMode="auto">
          <a:xfrm>
            <a:off x="8229600" y="418828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8020" name="Text Box 36"/>
          <p:cNvSpPr txBox="1">
            <a:spLocks noChangeArrowheads="1"/>
          </p:cNvSpPr>
          <p:nvPr/>
        </p:nvSpPr>
        <p:spPr bwMode="auto">
          <a:xfrm>
            <a:off x="97760" y="2054682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Level 2:  Bags in general</a:t>
            </a:r>
          </a:p>
        </p:txBody>
      </p:sp>
      <p:sp>
        <p:nvSpPr>
          <p:cNvPr id="1578021" name="Line 37"/>
          <p:cNvSpPr>
            <a:spLocks noChangeShapeType="1"/>
          </p:cNvSpPr>
          <p:nvPr/>
        </p:nvSpPr>
        <p:spPr bwMode="auto">
          <a:xfrm>
            <a:off x="572356" y="274048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8022" name="Text Box 38"/>
          <p:cNvSpPr txBox="1">
            <a:spLocks noChangeArrowheads="1"/>
          </p:cNvSpPr>
          <p:nvPr/>
        </p:nvSpPr>
        <p:spPr bwMode="auto">
          <a:xfrm>
            <a:off x="4343400" y="2054682"/>
            <a:ext cx="502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2400" dirty="0"/>
              <a:t>most bags are homogeneous </a:t>
            </a:r>
            <a:endParaRPr lang="el-GR" sz="2400" dirty="0"/>
          </a:p>
        </p:txBody>
      </p:sp>
      <p:sp>
        <p:nvSpPr>
          <p:cNvPr id="1578023" name="Line 39"/>
          <p:cNvSpPr>
            <a:spLocks noChangeShapeType="1"/>
          </p:cNvSpPr>
          <p:nvPr/>
        </p:nvSpPr>
        <p:spPr bwMode="auto">
          <a:xfrm flipH="1">
            <a:off x="4267200" y="2588082"/>
            <a:ext cx="1981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8024" name="Line 40"/>
          <p:cNvSpPr>
            <a:spLocks noChangeShapeType="1"/>
          </p:cNvSpPr>
          <p:nvPr/>
        </p:nvSpPr>
        <p:spPr bwMode="auto">
          <a:xfrm flipH="1">
            <a:off x="5562600" y="2588082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8025" name="Line 41"/>
          <p:cNvSpPr>
            <a:spLocks noChangeShapeType="1"/>
          </p:cNvSpPr>
          <p:nvPr/>
        </p:nvSpPr>
        <p:spPr bwMode="auto">
          <a:xfrm>
            <a:off x="6248400" y="2588082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8026" name="Line 42"/>
          <p:cNvSpPr>
            <a:spLocks noChangeShapeType="1"/>
          </p:cNvSpPr>
          <p:nvPr/>
        </p:nvSpPr>
        <p:spPr bwMode="auto">
          <a:xfrm>
            <a:off x="6248400" y="2588082"/>
            <a:ext cx="2057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8027" name="Text Box 43"/>
          <p:cNvSpPr txBox="1">
            <a:spLocks noChangeArrowheads="1"/>
          </p:cNvSpPr>
          <p:nvPr/>
        </p:nvSpPr>
        <p:spPr bwMode="auto">
          <a:xfrm>
            <a:off x="3810000" y="3451682"/>
            <a:ext cx="68486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/>
              <a:t>0.01</a:t>
            </a:r>
            <a:endParaRPr lang="en-US" sz="2200" baseline="-10000"/>
          </a:p>
        </p:txBody>
      </p:sp>
      <p:sp>
        <p:nvSpPr>
          <p:cNvPr id="1578028" name="Text Box 44"/>
          <p:cNvSpPr txBox="1">
            <a:spLocks noChangeArrowheads="1"/>
          </p:cNvSpPr>
          <p:nvPr/>
        </p:nvSpPr>
        <p:spPr bwMode="auto">
          <a:xfrm>
            <a:off x="5141913" y="3451682"/>
            <a:ext cx="68486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/>
              <a:t>0.99</a:t>
            </a:r>
            <a:endParaRPr lang="en-US" sz="2200" baseline="-10000"/>
          </a:p>
        </p:txBody>
      </p:sp>
      <p:sp>
        <p:nvSpPr>
          <p:cNvPr id="1578029" name="Text Box 45"/>
          <p:cNvSpPr txBox="1">
            <a:spLocks noChangeArrowheads="1"/>
          </p:cNvSpPr>
          <p:nvPr/>
        </p:nvSpPr>
        <p:spPr bwMode="auto">
          <a:xfrm>
            <a:off x="6477000" y="3451682"/>
            <a:ext cx="68486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/>
              <a:t>0.01</a:t>
            </a:r>
            <a:endParaRPr lang="en-US" sz="2200" baseline="-10000"/>
          </a:p>
        </p:txBody>
      </p:sp>
      <p:sp>
        <p:nvSpPr>
          <p:cNvPr id="1578030" name="Text Box 46"/>
          <p:cNvSpPr txBox="1">
            <a:spLocks noChangeArrowheads="1"/>
          </p:cNvSpPr>
          <p:nvPr/>
        </p:nvSpPr>
        <p:spPr bwMode="auto">
          <a:xfrm>
            <a:off x="7808913" y="3451682"/>
            <a:ext cx="68486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/>
              <a:t>0.99</a:t>
            </a:r>
            <a:endParaRPr lang="en-US" sz="2200" baseline="-10000"/>
          </a:p>
        </p:txBody>
      </p:sp>
      <p:sp>
        <p:nvSpPr>
          <p:cNvPr id="2" name="TextBox 1"/>
          <p:cNvSpPr txBox="1"/>
          <p:nvPr/>
        </p:nvSpPr>
        <p:spPr>
          <a:xfrm>
            <a:off x="4191000" y="1296502"/>
            <a:ext cx="4409581" cy="461665"/>
          </a:xfrm>
          <a:prstGeom prst="rect">
            <a:avLst/>
          </a:prstGeom>
          <a:noFill/>
          <a:ln w="1905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How to quantify?</a:t>
            </a:r>
          </a:p>
        </p:txBody>
      </p:sp>
      <p:cxnSp>
        <p:nvCxnSpPr>
          <p:cNvPr id="4" name="Straight Arrow Connector 3"/>
          <p:cNvCxnSpPr>
            <a:stCxn id="2" idx="2"/>
          </p:cNvCxnSpPr>
          <p:nvPr/>
        </p:nvCxnSpPr>
        <p:spPr>
          <a:xfrm>
            <a:off x="6395791" y="1758167"/>
            <a:ext cx="0" cy="4288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46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9326"/>
            <a:ext cx="8229600" cy="1143000"/>
          </a:xfrm>
        </p:spPr>
        <p:txBody>
          <a:bodyPr/>
          <a:lstStyle/>
          <a:p>
            <a:r>
              <a:rPr lang="en-US"/>
              <a:t>Distributions on bag proportions</a:t>
            </a:r>
          </a:p>
        </p:txBody>
      </p:sp>
      <p:pic>
        <p:nvPicPr>
          <p:cNvPr id="15820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728913"/>
            <a:ext cx="7772400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582084" name="Text Box 4"/>
          <p:cNvSpPr txBox="1">
            <a:spLocks noChangeArrowheads="1"/>
          </p:cNvSpPr>
          <p:nvPr/>
        </p:nvSpPr>
        <p:spPr bwMode="auto">
          <a:xfrm>
            <a:off x="1447800" y="48942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</a:t>
            </a:r>
          </a:p>
        </p:txBody>
      </p:sp>
      <p:sp>
        <p:nvSpPr>
          <p:cNvPr id="1582085" name="Text Box 5"/>
          <p:cNvSpPr txBox="1">
            <a:spLocks noChangeArrowheads="1"/>
          </p:cNvSpPr>
          <p:nvPr/>
        </p:nvSpPr>
        <p:spPr bwMode="auto">
          <a:xfrm>
            <a:off x="2135188" y="48910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0.5</a:t>
            </a:r>
          </a:p>
        </p:txBody>
      </p:sp>
      <p:sp>
        <p:nvSpPr>
          <p:cNvPr id="1582086" name="Text Box 6"/>
          <p:cNvSpPr txBox="1">
            <a:spLocks noChangeArrowheads="1"/>
          </p:cNvSpPr>
          <p:nvPr/>
        </p:nvSpPr>
        <p:spPr bwMode="auto">
          <a:xfrm>
            <a:off x="3151188" y="48910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1</a:t>
            </a:r>
          </a:p>
        </p:txBody>
      </p:sp>
      <p:sp>
        <p:nvSpPr>
          <p:cNvPr id="1582087" name="Text Box 7"/>
          <p:cNvSpPr txBox="1">
            <a:spLocks noChangeArrowheads="1"/>
          </p:cNvSpPr>
          <p:nvPr/>
        </p:nvSpPr>
        <p:spPr bwMode="auto">
          <a:xfrm>
            <a:off x="4191000" y="48942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</a:t>
            </a:r>
          </a:p>
        </p:txBody>
      </p:sp>
      <p:sp>
        <p:nvSpPr>
          <p:cNvPr id="1582088" name="Text Box 8"/>
          <p:cNvSpPr txBox="1">
            <a:spLocks noChangeArrowheads="1"/>
          </p:cNvSpPr>
          <p:nvPr/>
        </p:nvSpPr>
        <p:spPr bwMode="auto">
          <a:xfrm>
            <a:off x="4878388" y="48910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0.5</a:t>
            </a:r>
          </a:p>
        </p:txBody>
      </p:sp>
      <p:sp>
        <p:nvSpPr>
          <p:cNvPr id="1582089" name="Text Box 9"/>
          <p:cNvSpPr txBox="1">
            <a:spLocks noChangeArrowheads="1"/>
          </p:cNvSpPr>
          <p:nvPr/>
        </p:nvSpPr>
        <p:spPr bwMode="auto">
          <a:xfrm>
            <a:off x="5894388" y="48910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1</a:t>
            </a:r>
          </a:p>
        </p:txBody>
      </p:sp>
      <p:sp>
        <p:nvSpPr>
          <p:cNvPr id="1582090" name="Text Box 10"/>
          <p:cNvSpPr txBox="1">
            <a:spLocks noChangeArrowheads="1"/>
          </p:cNvSpPr>
          <p:nvPr/>
        </p:nvSpPr>
        <p:spPr bwMode="auto">
          <a:xfrm>
            <a:off x="7010400" y="48942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</a:t>
            </a:r>
          </a:p>
        </p:txBody>
      </p:sp>
      <p:sp>
        <p:nvSpPr>
          <p:cNvPr id="1582091" name="Text Box 11"/>
          <p:cNvSpPr txBox="1">
            <a:spLocks noChangeArrowheads="1"/>
          </p:cNvSpPr>
          <p:nvPr/>
        </p:nvSpPr>
        <p:spPr bwMode="auto">
          <a:xfrm>
            <a:off x="7697788" y="48910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0.5</a:t>
            </a:r>
          </a:p>
        </p:txBody>
      </p:sp>
      <p:sp>
        <p:nvSpPr>
          <p:cNvPr id="1582092" name="Text Box 12"/>
          <p:cNvSpPr txBox="1">
            <a:spLocks noChangeArrowheads="1"/>
          </p:cNvSpPr>
          <p:nvPr/>
        </p:nvSpPr>
        <p:spPr bwMode="auto">
          <a:xfrm>
            <a:off x="8713788" y="48910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1</a:t>
            </a:r>
          </a:p>
        </p:txBody>
      </p:sp>
      <p:sp>
        <p:nvSpPr>
          <p:cNvPr id="1582093" name="Rectangle 13"/>
          <p:cNvSpPr>
            <a:spLocks noChangeArrowheads="1"/>
          </p:cNvSpPr>
          <p:nvPr/>
        </p:nvSpPr>
        <p:spPr bwMode="auto">
          <a:xfrm>
            <a:off x="1908827" y="6248400"/>
            <a:ext cx="1041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dirty="0"/>
              <a:t>α</a:t>
            </a:r>
            <a:r>
              <a:rPr lang="en-US" sz="2400" dirty="0"/>
              <a:t> = 0.5</a:t>
            </a:r>
          </a:p>
        </p:txBody>
      </p:sp>
      <p:sp>
        <p:nvSpPr>
          <p:cNvPr id="1582094" name="Rectangle 14"/>
          <p:cNvSpPr>
            <a:spLocks noChangeArrowheads="1"/>
          </p:cNvSpPr>
          <p:nvPr/>
        </p:nvSpPr>
        <p:spPr bwMode="auto">
          <a:xfrm>
            <a:off x="4738137" y="6248400"/>
            <a:ext cx="8077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dirty="0"/>
              <a:t>α</a:t>
            </a:r>
            <a:r>
              <a:rPr lang="en-US" sz="2400" dirty="0"/>
              <a:t> = 2</a:t>
            </a:r>
          </a:p>
        </p:txBody>
      </p:sp>
      <p:sp>
        <p:nvSpPr>
          <p:cNvPr id="1582095" name="Rectangle 15"/>
          <p:cNvSpPr>
            <a:spLocks noChangeArrowheads="1"/>
          </p:cNvSpPr>
          <p:nvPr/>
        </p:nvSpPr>
        <p:spPr bwMode="auto">
          <a:xfrm>
            <a:off x="7562284" y="6248400"/>
            <a:ext cx="963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dirty="0"/>
              <a:t>α</a:t>
            </a:r>
            <a:r>
              <a:rPr lang="en-US" sz="2400" dirty="0"/>
              <a:t> = 10</a:t>
            </a:r>
          </a:p>
        </p:txBody>
      </p:sp>
      <p:sp>
        <p:nvSpPr>
          <p:cNvPr id="1582096" name="Rectangle 16"/>
          <p:cNvSpPr>
            <a:spLocks noChangeArrowheads="1"/>
          </p:cNvSpPr>
          <p:nvPr/>
        </p:nvSpPr>
        <p:spPr bwMode="auto">
          <a:xfrm>
            <a:off x="144064" y="3457575"/>
            <a:ext cx="1030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dirty="0"/>
              <a:t>β</a:t>
            </a:r>
            <a:r>
              <a:rPr lang="en-US" sz="2400" dirty="0"/>
              <a:t> = 0.5</a:t>
            </a:r>
          </a:p>
        </p:txBody>
      </p:sp>
      <p:sp>
        <p:nvSpPr>
          <p:cNvPr id="1582097" name="Line 17"/>
          <p:cNvSpPr>
            <a:spLocks noChangeShapeType="1"/>
          </p:cNvSpPr>
          <p:nvPr/>
        </p:nvSpPr>
        <p:spPr bwMode="auto">
          <a:xfrm flipV="1">
            <a:off x="3124200" y="48148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2098" name="Line 18"/>
          <p:cNvSpPr>
            <a:spLocks noChangeShapeType="1"/>
          </p:cNvSpPr>
          <p:nvPr/>
        </p:nvSpPr>
        <p:spPr bwMode="auto">
          <a:xfrm flipV="1">
            <a:off x="1828800" y="48148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2099" name="Rectangle 19"/>
          <p:cNvSpPr>
            <a:spLocks noChangeArrowheads="1"/>
          </p:cNvSpPr>
          <p:nvPr/>
        </p:nvSpPr>
        <p:spPr bwMode="auto">
          <a:xfrm>
            <a:off x="377825" y="5500688"/>
            <a:ext cx="180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 dirty="0"/>
              <a:t>mostly white</a:t>
            </a:r>
          </a:p>
        </p:txBody>
      </p:sp>
      <p:sp>
        <p:nvSpPr>
          <p:cNvPr id="1582100" name="Rectangle 20"/>
          <p:cNvSpPr>
            <a:spLocks noChangeArrowheads="1"/>
          </p:cNvSpPr>
          <p:nvPr/>
        </p:nvSpPr>
        <p:spPr bwMode="auto">
          <a:xfrm>
            <a:off x="2590800" y="5500688"/>
            <a:ext cx="17491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mostly black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8714" y="1228471"/>
            <a:ext cx="7848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Beta distribution? </a:t>
            </a:r>
          </a:p>
          <a:p>
            <a:endParaRPr lang="en-US" sz="1200" dirty="0"/>
          </a:p>
          <a:p>
            <a:r>
              <a:rPr lang="en-US" sz="2400" dirty="0"/>
              <a:t>Beta(a, b)</a:t>
            </a:r>
          </a:p>
          <a:p>
            <a:r>
              <a:rPr lang="en-US" sz="2400" dirty="0"/>
              <a:t>These are Beta(</a:t>
            </a:r>
            <a:r>
              <a:rPr lang="el-GR" sz="2400" dirty="0"/>
              <a:t>αβ</a:t>
            </a:r>
            <a:r>
              <a:rPr lang="en-US" sz="2400" dirty="0"/>
              <a:t>,</a:t>
            </a:r>
            <a:r>
              <a:rPr lang="el-GR" sz="2400" dirty="0"/>
              <a:t> α</a:t>
            </a:r>
            <a:r>
              <a:rPr lang="en-US" sz="2400" dirty="0"/>
              <a:t>(1-</a:t>
            </a:r>
            <a:r>
              <a:rPr lang="el-GR" sz="2400" dirty="0"/>
              <a:t>β</a:t>
            </a:r>
            <a:r>
              <a:rPr lang="en-US" sz="2400" dirty="0"/>
              <a:t>)).</a:t>
            </a:r>
          </a:p>
        </p:txBody>
      </p:sp>
      <p:sp>
        <p:nvSpPr>
          <p:cNvPr id="2" name="Rectangle 1"/>
          <p:cNvSpPr/>
          <p:nvPr/>
        </p:nvSpPr>
        <p:spPr>
          <a:xfrm>
            <a:off x="4056814" y="2728913"/>
            <a:ext cx="2481124" cy="2622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245838" y="6062206"/>
            <a:ext cx="2481124" cy="7957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778432" y="2846605"/>
            <a:ext cx="2289368" cy="38634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814" y="1251780"/>
            <a:ext cx="4533271" cy="7118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657" y="2104055"/>
            <a:ext cx="4738137" cy="426152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1174364" y="2875237"/>
            <a:ext cx="4680349" cy="813171"/>
            <a:chOff x="1174364" y="2875237"/>
            <a:chExt cx="4680349" cy="813171"/>
          </a:xfrm>
        </p:grpSpPr>
        <p:sp>
          <p:nvSpPr>
            <p:cNvPr id="6" name="TextBox 5"/>
            <p:cNvSpPr txBox="1"/>
            <p:nvPr/>
          </p:nvSpPr>
          <p:spPr>
            <a:xfrm>
              <a:off x="3902063" y="2875237"/>
              <a:ext cx="1952650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Average Value</a:t>
              </a:r>
            </a:p>
          </p:txBody>
        </p:sp>
        <p:cxnSp>
          <p:nvCxnSpPr>
            <p:cNvPr id="8" name="Straight Arrow Connector 7"/>
            <p:cNvCxnSpPr>
              <a:stCxn id="1582096" idx="3"/>
            </p:cNvCxnSpPr>
            <p:nvPr/>
          </p:nvCxnSpPr>
          <p:spPr>
            <a:xfrm flipV="1">
              <a:off x="1174364" y="3106069"/>
              <a:ext cx="2727699" cy="5823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2950248" y="6229270"/>
            <a:ext cx="3597993" cy="461665"/>
            <a:chOff x="2950248" y="6229270"/>
            <a:chExt cx="3597993" cy="461665"/>
          </a:xfrm>
        </p:grpSpPr>
        <p:sp>
          <p:nvSpPr>
            <p:cNvPr id="31" name="TextBox 30"/>
            <p:cNvSpPr txBox="1"/>
            <p:nvPr/>
          </p:nvSpPr>
          <p:spPr>
            <a:xfrm>
              <a:off x="5597340" y="6229270"/>
              <a:ext cx="950901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Shape</a:t>
              </a:r>
            </a:p>
          </p:txBody>
        </p:sp>
        <p:cxnSp>
          <p:nvCxnSpPr>
            <p:cNvPr id="32" name="Straight Arrow Connector 31"/>
            <p:cNvCxnSpPr>
              <a:stCxn id="1582093" idx="3"/>
            </p:cNvCxnSpPr>
            <p:nvPr/>
          </p:nvCxnSpPr>
          <p:spPr>
            <a:xfrm flipV="1">
              <a:off x="2950248" y="6477000"/>
              <a:ext cx="2595622" cy="22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052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2084" grpId="0"/>
      <p:bldP spid="1582085" grpId="0"/>
      <p:bldP spid="1582086" grpId="0"/>
      <p:bldP spid="1582093" grpId="0"/>
      <p:bldP spid="1582096" grpId="0"/>
      <p:bldP spid="1582097" grpId="0" animBg="1"/>
      <p:bldP spid="1582098" grpId="0" animBg="1"/>
      <p:bldP spid="1582099" grpId="0"/>
      <p:bldP spid="1582100" grpId="0"/>
      <p:bldP spid="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1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728913"/>
            <a:ext cx="7772400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583107" name="Text Box 3"/>
          <p:cNvSpPr txBox="1">
            <a:spLocks noChangeArrowheads="1"/>
          </p:cNvSpPr>
          <p:nvPr/>
        </p:nvSpPr>
        <p:spPr bwMode="auto">
          <a:xfrm>
            <a:off x="1447800" y="48942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</a:t>
            </a:r>
          </a:p>
        </p:txBody>
      </p:sp>
      <p:sp>
        <p:nvSpPr>
          <p:cNvPr id="1583108" name="Text Box 4"/>
          <p:cNvSpPr txBox="1">
            <a:spLocks noChangeArrowheads="1"/>
          </p:cNvSpPr>
          <p:nvPr/>
        </p:nvSpPr>
        <p:spPr bwMode="auto">
          <a:xfrm>
            <a:off x="2135188" y="48910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0.5</a:t>
            </a:r>
          </a:p>
        </p:txBody>
      </p:sp>
      <p:sp>
        <p:nvSpPr>
          <p:cNvPr id="1583109" name="Text Box 5"/>
          <p:cNvSpPr txBox="1">
            <a:spLocks noChangeArrowheads="1"/>
          </p:cNvSpPr>
          <p:nvPr/>
        </p:nvSpPr>
        <p:spPr bwMode="auto">
          <a:xfrm>
            <a:off x="3151188" y="48910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1</a:t>
            </a:r>
          </a:p>
        </p:txBody>
      </p:sp>
      <p:sp>
        <p:nvSpPr>
          <p:cNvPr id="1583110" name="Text Box 6"/>
          <p:cNvSpPr txBox="1">
            <a:spLocks noChangeArrowheads="1"/>
          </p:cNvSpPr>
          <p:nvPr/>
        </p:nvSpPr>
        <p:spPr bwMode="auto">
          <a:xfrm>
            <a:off x="4191000" y="48942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</a:t>
            </a:r>
          </a:p>
        </p:txBody>
      </p:sp>
      <p:sp>
        <p:nvSpPr>
          <p:cNvPr id="1583111" name="Text Box 7"/>
          <p:cNvSpPr txBox="1">
            <a:spLocks noChangeArrowheads="1"/>
          </p:cNvSpPr>
          <p:nvPr/>
        </p:nvSpPr>
        <p:spPr bwMode="auto">
          <a:xfrm>
            <a:off x="4878388" y="48910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0.5</a:t>
            </a:r>
          </a:p>
        </p:txBody>
      </p:sp>
      <p:sp>
        <p:nvSpPr>
          <p:cNvPr id="1583112" name="Text Box 8"/>
          <p:cNvSpPr txBox="1">
            <a:spLocks noChangeArrowheads="1"/>
          </p:cNvSpPr>
          <p:nvPr/>
        </p:nvSpPr>
        <p:spPr bwMode="auto">
          <a:xfrm>
            <a:off x="5894388" y="48910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1</a:t>
            </a:r>
          </a:p>
        </p:txBody>
      </p:sp>
      <p:sp>
        <p:nvSpPr>
          <p:cNvPr id="1583113" name="Text Box 9"/>
          <p:cNvSpPr txBox="1">
            <a:spLocks noChangeArrowheads="1"/>
          </p:cNvSpPr>
          <p:nvPr/>
        </p:nvSpPr>
        <p:spPr bwMode="auto">
          <a:xfrm>
            <a:off x="7010400" y="48942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</a:t>
            </a:r>
          </a:p>
        </p:txBody>
      </p:sp>
      <p:sp>
        <p:nvSpPr>
          <p:cNvPr id="1583114" name="Text Box 10"/>
          <p:cNvSpPr txBox="1">
            <a:spLocks noChangeArrowheads="1"/>
          </p:cNvSpPr>
          <p:nvPr/>
        </p:nvSpPr>
        <p:spPr bwMode="auto">
          <a:xfrm>
            <a:off x="7697788" y="48910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0.5</a:t>
            </a:r>
          </a:p>
        </p:txBody>
      </p:sp>
      <p:sp>
        <p:nvSpPr>
          <p:cNvPr id="1583115" name="Text Box 11"/>
          <p:cNvSpPr txBox="1">
            <a:spLocks noChangeArrowheads="1"/>
          </p:cNvSpPr>
          <p:nvPr/>
        </p:nvSpPr>
        <p:spPr bwMode="auto">
          <a:xfrm>
            <a:off x="8713788" y="48910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1</a:t>
            </a:r>
          </a:p>
        </p:txBody>
      </p:sp>
      <p:sp>
        <p:nvSpPr>
          <p:cNvPr id="1583116" name="Rectangle 12"/>
          <p:cNvSpPr>
            <a:spLocks noChangeArrowheads="1"/>
          </p:cNvSpPr>
          <p:nvPr/>
        </p:nvSpPr>
        <p:spPr bwMode="auto">
          <a:xfrm>
            <a:off x="1752600" y="6262688"/>
            <a:ext cx="1041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/>
              <a:t>α</a:t>
            </a:r>
            <a:r>
              <a:rPr lang="en-US" sz="2400"/>
              <a:t> = 0.5</a:t>
            </a:r>
          </a:p>
        </p:txBody>
      </p:sp>
      <p:sp>
        <p:nvSpPr>
          <p:cNvPr id="1583117" name="Rectangle 13"/>
          <p:cNvSpPr>
            <a:spLocks noChangeArrowheads="1"/>
          </p:cNvSpPr>
          <p:nvPr/>
        </p:nvSpPr>
        <p:spPr bwMode="auto">
          <a:xfrm>
            <a:off x="4648200" y="6248400"/>
            <a:ext cx="8077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/>
              <a:t>α</a:t>
            </a:r>
            <a:r>
              <a:rPr lang="en-US" sz="2400"/>
              <a:t> = 2</a:t>
            </a:r>
          </a:p>
        </p:txBody>
      </p:sp>
      <p:sp>
        <p:nvSpPr>
          <p:cNvPr id="1583118" name="Rectangle 14"/>
          <p:cNvSpPr>
            <a:spLocks noChangeArrowheads="1"/>
          </p:cNvSpPr>
          <p:nvPr/>
        </p:nvSpPr>
        <p:spPr bwMode="auto">
          <a:xfrm>
            <a:off x="7467600" y="6248400"/>
            <a:ext cx="963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/>
              <a:t>α</a:t>
            </a:r>
            <a:r>
              <a:rPr lang="en-US" sz="2400"/>
              <a:t> = 10</a:t>
            </a:r>
          </a:p>
        </p:txBody>
      </p:sp>
      <p:sp>
        <p:nvSpPr>
          <p:cNvPr id="1583119" name="Rectangle 15"/>
          <p:cNvSpPr>
            <a:spLocks noChangeArrowheads="1"/>
          </p:cNvSpPr>
          <p:nvPr/>
        </p:nvSpPr>
        <p:spPr bwMode="auto">
          <a:xfrm>
            <a:off x="191356" y="3457575"/>
            <a:ext cx="1030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dirty="0"/>
              <a:t>β</a:t>
            </a:r>
            <a:r>
              <a:rPr lang="en-US" sz="2400" dirty="0"/>
              <a:t> = 0.5</a:t>
            </a:r>
          </a:p>
        </p:txBody>
      </p:sp>
      <p:sp>
        <p:nvSpPr>
          <p:cNvPr id="1583120" name="Line 16"/>
          <p:cNvSpPr>
            <a:spLocks noChangeShapeType="1"/>
          </p:cNvSpPr>
          <p:nvPr/>
        </p:nvSpPr>
        <p:spPr bwMode="auto">
          <a:xfrm flipV="1">
            <a:off x="3124200" y="48148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3121" name="Line 17"/>
          <p:cNvSpPr>
            <a:spLocks noChangeShapeType="1"/>
          </p:cNvSpPr>
          <p:nvPr/>
        </p:nvSpPr>
        <p:spPr bwMode="auto">
          <a:xfrm flipV="1">
            <a:off x="1828800" y="48148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3122" name="Rectangle 18"/>
          <p:cNvSpPr>
            <a:spLocks noChangeArrowheads="1"/>
          </p:cNvSpPr>
          <p:nvPr/>
        </p:nvSpPr>
        <p:spPr bwMode="auto">
          <a:xfrm>
            <a:off x="367768" y="5500688"/>
            <a:ext cx="180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mostly white</a:t>
            </a:r>
          </a:p>
        </p:txBody>
      </p:sp>
      <p:sp>
        <p:nvSpPr>
          <p:cNvPr id="1583123" name="Rectangle 19"/>
          <p:cNvSpPr>
            <a:spLocks noChangeArrowheads="1"/>
          </p:cNvSpPr>
          <p:nvPr/>
        </p:nvSpPr>
        <p:spPr bwMode="auto">
          <a:xfrm>
            <a:off x="2590800" y="5500688"/>
            <a:ext cx="17491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mostly black</a:t>
            </a:r>
          </a:p>
        </p:txBody>
      </p:sp>
      <p:pic>
        <p:nvPicPr>
          <p:cNvPr id="1583124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304800"/>
            <a:ext cx="7677150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583125" name="Rectangle 21"/>
          <p:cNvSpPr>
            <a:spLocks noChangeArrowheads="1"/>
          </p:cNvSpPr>
          <p:nvPr/>
        </p:nvSpPr>
        <p:spPr bwMode="auto">
          <a:xfrm>
            <a:off x="191356" y="1081088"/>
            <a:ext cx="1030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/>
              <a:t>β</a:t>
            </a:r>
            <a:r>
              <a:rPr lang="en-US" sz="2400"/>
              <a:t> = 0.8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032" y="304456"/>
            <a:ext cx="2289368" cy="5196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854632" y="304456"/>
            <a:ext cx="2289368" cy="54905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5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73100" y="-85725"/>
            <a:ext cx="7807325" cy="1144588"/>
          </a:xfr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A hierarchical Bayesian model</a:t>
            </a:r>
          </a:p>
        </p:txBody>
      </p:sp>
      <p:sp>
        <p:nvSpPr>
          <p:cNvPr id="1580038" name="Text Box 6"/>
          <p:cNvSpPr txBox="1">
            <a:spLocks noChangeArrowheads="1"/>
          </p:cNvSpPr>
          <p:nvPr/>
        </p:nvSpPr>
        <p:spPr bwMode="auto">
          <a:xfrm>
            <a:off x="8437230" y="3508019"/>
            <a:ext cx="37945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/>
              <a:t>…</a:t>
            </a:r>
          </a:p>
        </p:txBody>
      </p:sp>
      <p:sp>
        <p:nvSpPr>
          <p:cNvPr id="1580039" name="Text Box 7"/>
          <p:cNvSpPr txBox="1">
            <a:spLocks noChangeArrowheads="1"/>
          </p:cNvSpPr>
          <p:nvPr/>
        </p:nvSpPr>
        <p:spPr bwMode="auto">
          <a:xfrm>
            <a:off x="8437230" y="4927244"/>
            <a:ext cx="37945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/>
              <a:t>…</a:t>
            </a:r>
          </a:p>
        </p:txBody>
      </p:sp>
      <p:sp>
        <p:nvSpPr>
          <p:cNvPr id="1580040" name="Text Box 8"/>
          <p:cNvSpPr txBox="1">
            <a:spLocks noChangeArrowheads="1"/>
          </p:cNvSpPr>
          <p:nvPr/>
        </p:nvSpPr>
        <p:spPr bwMode="auto">
          <a:xfrm>
            <a:off x="8437230" y="5774969"/>
            <a:ext cx="37945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/>
              <a:t>…</a:t>
            </a:r>
          </a:p>
        </p:txBody>
      </p:sp>
      <p:sp>
        <p:nvSpPr>
          <p:cNvPr id="1580041" name="Oval 9"/>
          <p:cNvSpPr>
            <a:spLocks noChangeArrowheads="1"/>
          </p:cNvSpPr>
          <p:nvPr/>
        </p:nvSpPr>
        <p:spPr bwMode="auto">
          <a:xfrm>
            <a:off x="5116180" y="615596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42" name="Oval 10"/>
          <p:cNvSpPr>
            <a:spLocks noChangeArrowheads="1"/>
          </p:cNvSpPr>
          <p:nvPr/>
        </p:nvSpPr>
        <p:spPr bwMode="auto">
          <a:xfrm>
            <a:off x="5344780" y="615596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43" name="Oval 11"/>
          <p:cNvSpPr>
            <a:spLocks noChangeArrowheads="1"/>
          </p:cNvSpPr>
          <p:nvPr/>
        </p:nvSpPr>
        <p:spPr bwMode="auto">
          <a:xfrm>
            <a:off x="5116180" y="585116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44" name="Oval 12"/>
          <p:cNvSpPr>
            <a:spLocks noChangeArrowheads="1"/>
          </p:cNvSpPr>
          <p:nvPr/>
        </p:nvSpPr>
        <p:spPr bwMode="auto">
          <a:xfrm>
            <a:off x="5344780" y="585116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45" name="Oval 13"/>
          <p:cNvSpPr>
            <a:spLocks noChangeArrowheads="1"/>
          </p:cNvSpPr>
          <p:nvPr/>
        </p:nvSpPr>
        <p:spPr bwMode="auto">
          <a:xfrm>
            <a:off x="5116180" y="554636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46" name="Oval 14"/>
          <p:cNvSpPr>
            <a:spLocks noChangeArrowheads="1"/>
          </p:cNvSpPr>
          <p:nvPr/>
        </p:nvSpPr>
        <p:spPr bwMode="auto">
          <a:xfrm>
            <a:off x="5344780" y="554636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47" name="Oval 15"/>
          <p:cNvSpPr>
            <a:spLocks noChangeArrowheads="1"/>
          </p:cNvSpPr>
          <p:nvPr/>
        </p:nvSpPr>
        <p:spPr bwMode="auto">
          <a:xfrm>
            <a:off x="7827630" y="554636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48" name="Oval 16"/>
          <p:cNvSpPr>
            <a:spLocks noChangeArrowheads="1"/>
          </p:cNvSpPr>
          <p:nvPr/>
        </p:nvSpPr>
        <p:spPr bwMode="auto">
          <a:xfrm>
            <a:off x="4049380" y="6175019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49" name="Oval 17"/>
          <p:cNvSpPr>
            <a:spLocks noChangeArrowheads="1"/>
          </p:cNvSpPr>
          <p:nvPr/>
        </p:nvSpPr>
        <p:spPr bwMode="auto">
          <a:xfrm>
            <a:off x="3820780" y="6175019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50" name="Oval 18"/>
          <p:cNvSpPr>
            <a:spLocks noChangeArrowheads="1"/>
          </p:cNvSpPr>
          <p:nvPr/>
        </p:nvSpPr>
        <p:spPr bwMode="auto">
          <a:xfrm>
            <a:off x="4049380" y="5870219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51" name="Oval 19"/>
          <p:cNvSpPr>
            <a:spLocks noChangeArrowheads="1"/>
          </p:cNvSpPr>
          <p:nvPr/>
        </p:nvSpPr>
        <p:spPr bwMode="auto">
          <a:xfrm>
            <a:off x="3820780" y="5870219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52" name="Oval 20"/>
          <p:cNvSpPr>
            <a:spLocks noChangeArrowheads="1"/>
          </p:cNvSpPr>
          <p:nvPr/>
        </p:nvSpPr>
        <p:spPr bwMode="auto">
          <a:xfrm>
            <a:off x="4049380" y="5565419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53" name="Oval 21"/>
          <p:cNvSpPr>
            <a:spLocks noChangeArrowheads="1"/>
          </p:cNvSpPr>
          <p:nvPr/>
        </p:nvSpPr>
        <p:spPr bwMode="auto">
          <a:xfrm>
            <a:off x="3820780" y="5565419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54" name="Oval 22"/>
          <p:cNvSpPr>
            <a:spLocks noChangeArrowheads="1"/>
          </p:cNvSpPr>
          <p:nvPr/>
        </p:nvSpPr>
        <p:spPr bwMode="auto">
          <a:xfrm>
            <a:off x="6716380" y="6146444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55" name="Oval 23"/>
          <p:cNvSpPr>
            <a:spLocks noChangeArrowheads="1"/>
          </p:cNvSpPr>
          <p:nvPr/>
        </p:nvSpPr>
        <p:spPr bwMode="auto">
          <a:xfrm>
            <a:off x="6487780" y="6146444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56" name="Oval 24"/>
          <p:cNvSpPr>
            <a:spLocks noChangeArrowheads="1"/>
          </p:cNvSpPr>
          <p:nvPr/>
        </p:nvSpPr>
        <p:spPr bwMode="auto">
          <a:xfrm>
            <a:off x="6716380" y="5841644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57" name="Oval 25"/>
          <p:cNvSpPr>
            <a:spLocks noChangeArrowheads="1"/>
          </p:cNvSpPr>
          <p:nvPr/>
        </p:nvSpPr>
        <p:spPr bwMode="auto">
          <a:xfrm>
            <a:off x="6487780" y="5841644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58" name="Oval 26"/>
          <p:cNvSpPr>
            <a:spLocks noChangeArrowheads="1"/>
          </p:cNvSpPr>
          <p:nvPr/>
        </p:nvSpPr>
        <p:spPr bwMode="auto">
          <a:xfrm>
            <a:off x="6716380" y="5536844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59" name="Oval 27"/>
          <p:cNvSpPr>
            <a:spLocks noChangeArrowheads="1"/>
          </p:cNvSpPr>
          <p:nvPr/>
        </p:nvSpPr>
        <p:spPr bwMode="auto">
          <a:xfrm>
            <a:off x="6487780" y="5536844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80060" name="Text Box 28"/>
          <p:cNvSpPr txBox="1">
            <a:spLocks noChangeArrowheads="1"/>
          </p:cNvSpPr>
          <p:nvPr/>
        </p:nvSpPr>
        <p:spPr bwMode="auto">
          <a:xfrm>
            <a:off x="3744580" y="4876444"/>
            <a:ext cx="44905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 i="1"/>
              <a:t>y</a:t>
            </a:r>
            <a:r>
              <a:rPr lang="en-US" sz="2200" i="1" baseline="-10000"/>
              <a:t>1</a:t>
            </a:r>
          </a:p>
        </p:txBody>
      </p:sp>
      <p:sp>
        <p:nvSpPr>
          <p:cNvPr id="1580061" name="Text Box 29"/>
          <p:cNvSpPr txBox="1">
            <a:spLocks noChangeArrowheads="1"/>
          </p:cNvSpPr>
          <p:nvPr/>
        </p:nvSpPr>
        <p:spPr bwMode="auto">
          <a:xfrm>
            <a:off x="5124118" y="4876444"/>
            <a:ext cx="44905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 i="1"/>
              <a:t>y</a:t>
            </a:r>
            <a:r>
              <a:rPr lang="en-US" sz="2200" i="1" baseline="-10000"/>
              <a:t>2</a:t>
            </a:r>
          </a:p>
        </p:txBody>
      </p:sp>
      <p:sp>
        <p:nvSpPr>
          <p:cNvPr id="1580062" name="Text Box 30"/>
          <p:cNvSpPr txBox="1">
            <a:spLocks noChangeArrowheads="1"/>
          </p:cNvSpPr>
          <p:nvPr/>
        </p:nvSpPr>
        <p:spPr bwMode="auto">
          <a:xfrm>
            <a:off x="6411580" y="4876444"/>
            <a:ext cx="44905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 i="1"/>
              <a:t>y</a:t>
            </a:r>
            <a:r>
              <a:rPr lang="en-US" sz="2200" i="1" baseline="-10000"/>
              <a:t>3</a:t>
            </a:r>
          </a:p>
        </p:txBody>
      </p:sp>
      <p:sp>
        <p:nvSpPr>
          <p:cNvPr id="1580063" name="Text Box 31"/>
          <p:cNvSpPr txBox="1">
            <a:spLocks noChangeArrowheads="1"/>
          </p:cNvSpPr>
          <p:nvPr/>
        </p:nvSpPr>
        <p:spPr bwMode="auto">
          <a:xfrm>
            <a:off x="7783180" y="4876444"/>
            <a:ext cx="67470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 i="1"/>
              <a:t>y</a:t>
            </a:r>
            <a:r>
              <a:rPr lang="en-US" sz="2200" i="1" baseline="-10000"/>
              <a:t>new</a:t>
            </a:r>
          </a:p>
        </p:txBody>
      </p:sp>
      <p:sp>
        <p:nvSpPr>
          <p:cNvPr id="1580064" name="Line 32"/>
          <p:cNvSpPr>
            <a:spLocks noChangeShapeType="1"/>
          </p:cNvSpPr>
          <p:nvPr/>
        </p:nvSpPr>
        <p:spPr bwMode="auto">
          <a:xfrm>
            <a:off x="4049380" y="434621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/>
          </a:p>
        </p:txBody>
      </p:sp>
      <p:sp>
        <p:nvSpPr>
          <p:cNvPr id="1580065" name="Line 33"/>
          <p:cNvSpPr>
            <a:spLocks noChangeShapeType="1"/>
          </p:cNvSpPr>
          <p:nvPr/>
        </p:nvSpPr>
        <p:spPr bwMode="auto">
          <a:xfrm>
            <a:off x="5344780" y="434621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/>
          </a:p>
        </p:txBody>
      </p:sp>
      <p:sp>
        <p:nvSpPr>
          <p:cNvPr id="1580066" name="Line 34"/>
          <p:cNvSpPr>
            <a:spLocks noChangeShapeType="1"/>
          </p:cNvSpPr>
          <p:nvPr/>
        </p:nvSpPr>
        <p:spPr bwMode="auto">
          <a:xfrm>
            <a:off x="6640180" y="434621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/>
          </a:p>
        </p:txBody>
      </p:sp>
      <p:sp>
        <p:nvSpPr>
          <p:cNvPr id="1580067" name="Line 35"/>
          <p:cNvSpPr>
            <a:spLocks noChangeShapeType="1"/>
          </p:cNvSpPr>
          <p:nvPr/>
        </p:nvSpPr>
        <p:spPr bwMode="auto">
          <a:xfrm>
            <a:off x="8011780" y="434621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/>
          </a:p>
        </p:txBody>
      </p:sp>
      <p:sp>
        <p:nvSpPr>
          <p:cNvPr id="1580070" name="Text Box 38"/>
          <p:cNvSpPr txBox="1">
            <a:spLocks noChangeArrowheads="1"/>
          </p:cNvSpPr>
          <p:nvPr/>
        </p:nvSpPr>
        <p:spPr bwMode="auto">
          <a:xfrm>
            <a:off x="3973180" y="1603019"/>
            <a:ext cx="51816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l-GR" sz="2200"/>
              <a:t>α</a:t>
            </a:r>
            <a:r>
              <a:rPr lang="en-US" sz="2200"/>
              <a:t> = 0.1 (within-bag variability)</a:t>
            </a:r>
          </a:p>
          <a:p>
            <a:pPr algn="l"/>
            <a:r>
              <a:rPr lang="el-GR" sz="2200"/>
              <a:t>β</a:t>
            </a:r>
            <a:r>
              <a:rPr lang="en-US" sz="2200"/>
              <a:t> = 0.5 (population proportion)</a:t>
            </a:r>
            <a:endParaRPr lang="el-GR" sz="2200"/>
          </a:p>
        </p:txBody>
      </p:sp>
      <p:sp>
        <p:nvSpPr>
          <p:cNvPr id="1580071" name="Line 39"/>
          <p:cNvSpPr>
            <a:spLocks noChangeShapeType="1"/>
          </p:cNvSpPr>
          <p:nvPr/>
        </p:nvSpPr>
        <p:spPr bwMode="auto">
          <a:xfrm flipH="1">
            <a:off x="4049380" y="2746019"/>
            <a:ext cx="1981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/>
          </a:p>
        </p:txBody>
      </p:sp>
      <p:sp>
        <p:nvSpPr>
          <p:cNvPr id="1580072" name="Line 40"/>
          <p:cNvSpPr>
            <a:spLocks noChangeShapeType="1"/>
          </p:cNvSpPr>
          <p:nvPr/>
        </p:nvSpPr>
        <p:spPr bwMode="auto">
          <a:xfrm flipH="1">
            <a:off x="5344780" y="2746019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/>
          </a:p>
        </p:txBody>
      </p:sp>
      <p:sp>
        <p:nvSpPr>
          <p:cNvPr id="1580073" name="Line 41"/>
          <p:cNvSpPr>
            <a:spLocks noChangeShapeType="1"/>
          </p:cNvSpPr>
          <p:nvPr/>
        </p:nvSpPr>
        <p:spPr bwMode="auto">
          <a:xfrm>
            <a:off x="6030580" y="2746019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/>
          </a:p>
        </p:txBody>
      </p:sp>
      <p:sp>
        <p:nvSpPr>
          <p:cNvPr id="1580074" name="Line 42"/>
          <p:cNvSpPr>
            <a:spLocks noChangeShapeType="1"/>
          </p:cNvSpPr>
          <p:nvPr/>
        </p:nvSpPr>
        <p:spPr bwMode="auto">
          <a:xfrm>
            <a:off x="6030580" y="2746019"/>
            <a:ext cx="2057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/>
          </a:p>
        </p:txBody>
      </p:sp>
      <p:sp>
        <p:nvSpPr>
          <p:cNvPr id="1580075" name="Text Box 43"/>
          <p:cNvSpPr txBox="1">
            <a:spLocks noChangeArrowheads="1"/>
          </p:cNvSpPr>
          <p:nvPr/>
        </p:nvSpPr>
        <p:spPr bwMode="auto">
          <a:xfrm>
            <a:off x="3592180" y="3609619"/>
            <a:ext cx="1447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2200"/>
              <a:t>0.01</a:t>
            </a:r>
          </a:p>
        </p:txBody>
      </p:sp>
      <p:sp>
        <p:nvSpPr>
          <p:cNvPr id="1580076" name="Text Box 44"/>
          <p:cNvSpPr txBox="1">
            <a:spLocks noChangeArrowheads="1"/>
          </p:cNvSpPr>
          <p:nvPr/>
        </p:nvSpPr>
        <p:spPr bwMode="auto">
          <a:xfrm>
            <a:off x="4924093" y="3609619"/>
            <a:ext cx="68486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/>
              <a:t>0.99</a:t>
            </a:r>
            <a:endParaRPr lang="en-US" sz="2200" baseline="-10000"/>
          </a:p>
        </p:txBody>
      </p:sp>
      <p:sp>
        <p:nvSpPr>
          <p:cNvPr id="1580077" name="Text Box 45"/>
          <p:cNvSpPr txBox="1">
            <a:spLocks noChangeArrowheads="1"/>
          </p:cNvSpPr>
          <p:nvPr/>
        </p:nvSpPr>
        <p:spPr bwMode="auto">
          <a:xfrm>
            <a:off x="6259180" y="3609619"/>
            <a:ext cx="68486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/>
              <a:t>0.01</a:t>
            </a:r>
            <a:endParaRPr lang="en-US" sz="2200" baseline="-10000"/>
          </a:p>
        </p:txBody>
      </p:sp>
      <p:sp>
        <p:nvSpPr>
          <p:cNvPr id="1580078" name="Text Box 46"/>
          <p:cNvSpPr txBox="1">
            <a:spLocks noChangeArrowheads="1"/>
          </p:cNvSpPr>
          <p:nvPr/>
        </p:nvSpPr>
        <p:spPr bwMode="auto">
          <a:xfrm>
            <a:off x="7591093" y="3609619"/>
            <a:ext cx="68486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/>
              <a:t>0.99</a:t>
            </a:r>
            <a:endParaRPr lang="en-US" sz="2200" baseline="-10000"/>
          </a:p>
        </p:txBody>
      </p:sp>
      <p:sp>
        <p:nvSpPr>
          <p:cNvPr id="47" name="Text Box 3"/>
          <p:cNvSpPr txBox="1">
            <a:spLocks noChangeArrowheads="1"/>
          </p:cNvSpPr>
          <p:nvPr/>
        </p:nvSpPr>
        <p:spPr bwMode="auto">
          <a:xfrm>
            <a:off x="162781" y="3456445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Level 1:  Bag proportions</a:t>
            </a:r>
          </a:p>
        </p:txBody>
      </p:sp>
      <p:sp>
        <p:nvSpPr>
          <p:cNvPr id="48" name="Text Box 4"/>
          <p:cNvSpPr txBox="1">
            <a:spLocks noChangeArrowheads="1"/>
          </p:cNvSpPr>
          <p:nvPr/>
        </p:nvSpPr>
        <p:spPr bwMode="auto">
          <a:xfrm>
            <a:off x="191356" y="4712157"/>
            <a:ext cx="1209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Data	</a:t>
            </a:r>
          </a:p>
        </p:txBody>
      </p:sp>
      <p:sp>
        <p:nvSpPr>
          <p:cNvPr id="49" name="Line 5"/>
          <p:cNvSpPr>
            <a:spLocks noChangeShapeType="1"/>
          </p:cNvSpPr>
          <p:nvPr/>
        </p:nvSpPr>
        <p:spPr bwMode="auto">
          <a:xfrm>
            <a:off x="572356" y="418828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Text Box 36"/>
          <p:cNvSpPr txBox="1">
            <a:spLocks noChangeArrowheads="1"/>
          </p:cNvSpPr>
          <p:nvPr/>
        </p:nvSpPr>
        <p:spPr bwMode="auto">
          <a:xfrm>
            <a:off x="97760" y="2054682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Level 2:  Bags in general</a:t>
            </a:r>
          </a:p>
        </p:txBody>
      </p:sp>
      <p:sp>
        <p:nvSpPr>
          <p:cNvPr id="51" name="Line 37"/>
          <p:cNvSpPr>
            <a:spLocks noChangeShapeType="1"/>
          </p:cNvSpPr>
          <p:nvPr/>
        </p:nvSpPr>
        <p:spPr bwMode="auto">
          <a:xfrm>
            <a:off x="572356" y="274048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18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73100" y="-85725"/>
            <a:ext cx="7807325" cy="1144588"/>
          </a:xfr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A hierarchical Bayesian model</a:t>
            </a:r>
          </a:p>
        </p:txBody>
      </p:sp>
      <p:sp>
        <p:nvSpPr>
          <p:cNvPr id="1584131" name="Text Box 3"/>
          <p:cNvSpPr txBox="1">
            <a:spLocks noChangeArrowheads="1"/>
          </p:cNvSpPr>
          <p:nvPr/>
        </p:nvSpPr>
        <p:spPr bwMode="auto">
          <a:xfrm>
            <a:off x="232365" y="3711468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Level 1:  Bag proportions</a:t>
            </a:r>
          </a:p>
        </p:txBody>
      </p:sp>
      <p:sp>
        <p:nvSpPr>
          <p:cNvPr id="1584132" name="Text Box 4"/>
          <p:cNvSpPr txBox="1">
            <a:spLocks noChangeArrowheads="1"/>
          </p:cNvSpPr>
          <p:nvPr/>
        </p:nvSpPr>
        <p:spPr bwMode="auto">
          <a:xfrm>
            <a:off x="260940" y="4967180"/>
            <a:ext cx="1209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Data	</a:t>
            </a:r>
          </a:p>
        </p:txBody>
      </p:sp>
      <p:sp>
        <p:nvSpPr>
          <p:cNvPr id="1584133" name="Line 5"/>
          <p:cNvSpPr>
            <a:spLocks noChangeShapeType="1"/>
          </p:cNvSpPr>
          <p:nvPr/>
        </p:nvSpPr>
        <p:spPr bwMode="auto">
          <a:xfrm>
            <a:off x="641940" y="444330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4134" name="Text Box 6"/>
          <p:cNvSpPr txBox="1">
            <a:spLocks noChangeArrowheads="1"/>
          </p:cNvSpPr>
          <p:nvPr/>
        </p:nvSpPr>
        <p:spPr bwMode="auto">
          <a:xfrm>
            <a:off x="8498486" y="3552920"/>
            <a:ext cx="3971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…</a:t>
            </a:r>
          </a:p>
        </p:txBody>
      </p:sp>
      <p:sp>
        <p:nvSpPr>
          <p:cNvPr id="1584135" name="Text Box 7"/>
          <p:cNvSpPr txBox="1">
            <a:spLocks noChangeArrowheads="1"/>
          </p:cNvSpPr>
          <p:nvPr/>
        </p:nvSpPr>
        <p:spPr bwMode="auto">
          <a:xfrm>
            <a:off x="8498486" y="4972145"/>
            <a:ext cx="3971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…</a:t>
            </a:r>
          </a:p>
        </p:txBody>
      </p:sp>
      <p:sp>
        <p:nvSpPr>
          <p:cNvPr id="1584136" name="Text Box 8"/>
          <p:cNvSpPr txBox="1">
            <a:spLocks noChangeArrowheads="1"/>
          </p:cNvSpPr>
          <p:nvPr/>
        </p:nvSpPr>
        <p:spPr bwMode="auto">
          <a:xfrm>
            <a:off x="8498486" y="5819870"/>
            <a:ext cx="3971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…</a:t>
            </a:r>
          </a:p>
        </p:txBody>
      </p:sp>
      <p:sp>
        <p:nvSpPr>
          <p:cNvPr id="1584137" name="Oval 9"/>
          <p:cNvSpPr>
            <a:spLocks noChangeArrowheads="1"/>
          </p:cNvSpPr>
          <p:nvPr/>
        </p:nvSpPr>
        <p:spPr bwMode="auto">
          <a:xfrm>
            <a:off x="5177436" y="620087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38" name="Oval 10"/>
          <p:cNvSpPr>
            <a:spLocks noChangeArrowheads="1"/>
          </p:cNvSpPr>
          <p:nvPr/>
        </p:nvSpPr>
        <p:spPr bwMode="auto">
          <a:xfrm>
            <a:off x="5406036" y="620087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39" name="Oval 11"/>
          <p:cNvSpPr>
            <a:spLocks noChangeArrowheads="1"/>
          </p:cNvSpPr>
          <p:nvPr/>
        </p:nvSpPr>
        <p:spPr bwMode="auto">
          <a:xfrm>
            <a:off x="5177436" y="589607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40" name="Oval 12"/>
          <p:cNvSpPr>
            <a:spLocks noChangeArrowheads="1"/>
          </p:cNvSpPr>
          <p:nvPr/>
        </p:nvSpPr>
        <p:spPr bwMode="auto">
          <a:xfrm>
            <a:off x="5406036" y="589607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41" name="Oval 13"/>
          <p:cNvSpPr>
            <a:spLocks noChangeArrowheads="1"/>
          </p:cNvSpPr>
          <p:nvPr/>
        </p:nvSpPr>
        <p:spPr bwMode="auto">
          <a:xfrm>
            <a:off x="5177436" y="559127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42" name="Oval 14"/>
          <p:cNvSpPr>
            <a:spLocks noChangeArrowheads="1"/>
          </p:cNvSpPr>
          <p:nvPr/>
        </p:nvSpPr>
        <p:spPr bwMode="auto">
          <a:xfrm>
            <a:off x="5406036" y="559127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43" name="Oval 15"/>
          <p:cNvSpPr>
            <a:spLocks noChangeArrowheads="1"/>
          </p:cNvSpPr>
          <p:nvPr/>
        </p:nvSpPr>
        <p:spPr bwMode="auto">
          <a:xfrm>
            <a:off x="7888886" y="559127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44" name="Oval 16"/>
          <p:cNvSpPr>
            <a:spLocks noChangeArrowheads="1"/>
          </p:cNvSpPr>
          <p:nvPr/>
        </p:nvSpPr>
        <p:spPr bwMode="auto">
          <a:xfrm>
            <a:off x="4110636" y="621992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45" name="Oval 17"/>
          <p:cNvSpPr>
            <a:spLocks noChangeArrowheads="1"/>
          </p:cNvSpPr>
          <p:nvPr/>
        </p:nvSpPr>
        <p:spPr bwMode="auto">
          <a:xfrm>
            <a:off x="3882036" y="621992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46" name="Oval 18"/>
          <p:cNvSpPr>
            <a:spLocks noChangeArrowheads="1"/>
          </p:cNvSpPr>
          <p:nvPr/>
        </p:nvSpPr>
        <p:spPr bwMode="auto">
          <a:xfrm>
            <a:off x="4110636" y="591512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47" name="Oval 19"/>
          <p:cNvSpPr>
            <a:spLocks noChangeArrowheads="1"/>
          </p:cNvSpPr>
          <p:nvPr/>
        </p:nvSpPr>
        <p:spPr bwMode="auto">
          <a:xfrm>
            <a:off x="3882036" y="591512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48" name="Oval 20"/>
          <p:cNvSpPr>
            <a:spLocks noChangeArrowheads="1"/>
          </p:cNvSpPr>
          <p:nvPr/>
        </p:nvSpPr>
        <p:spPr bwMode="auto">
          <a:xfrm>
            <a:off x="4110636" y="561032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49" name="Oval 21"/>
          <p:cNvSpPr>
            <a:spLocks noChangeArrowheads="1"/>
          </p:cNvSpPr>
          <p:nvPr/>
        </p:nvSpPr>
        <p:spPr bwMode="auto">
          <a:xfrm>
            <a:off x="3882036" y="561032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50" name="Oval 22"/>
          <p:cNvSpPr>
            <a:spLocks noChangeArrowheads="1"/>
          </p:cNvSpPr>
          <p:nvPr/>
        </p:nvSpPr>
        <p:spPr bwMode="auto">
          <a:xfrm>
            <a:off x="6777636" y="619134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51" name="Oval 23"/>
          <p:cNvSpPr>
            <a:spLocks noChangeArrowheads="1"/>
          </p:cNvSpPr>
          <p:nvPr/>
        </p:nvSpPr>
        <p:spPr bwMode="auto">
          <a:xfrm>
            <a:off x="6549036" y="619134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52" name="Oval 24"/>
          <p:cNvSpPr>
            <a:spLocks noChangeArrowheads="1"/>
          </p:cNvSpPr>
          <p:nvPr/>
        </p:nvSpPr>
        <p:spPr bwMode="auto">
          <a:xfrm>
            <a:off x="6777636" y="588654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53" name="Oval 25"/>
          <p:cNvSpPr>
            <a:spLocks noChangeArrowheads="1"/>
          </p:cNvSpPr>
          <p:nvPr/>
        </p:nvSpPr>
        <p:spPr bwMode="auto">
          <a:xfrm>
            <a:off x="6549036" y="588654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54" name="Oval 26"/>
          <p:cNvSpPr>
            <a:spLocks noChangeArrowheads="1"/>
          </p:cNvSpPr>
          <p:nvPr/>
        </p:nvSpPr>
        <p:spPr bwMode="auto">
          <a:xfrm>
            <a:off x="6777636" y="558174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55" name="Oval 27"/>
          <p:cNvSpPr>
            <a:spLocks noChangeArrowheads="1"/>
          </p:cNvSpPr>
          <p:nvPr/>
        </p:nvSpPr>
        <p:spPr bwMode="auto">
          <a:xfrm>
            <a:off x="6549036" y="558174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4156" name="Text Box 28"/>
          <p:cNvSpPr txBox="1">
            <a:spLocks noChangeArrowheads="1"/>
          </p:cNvSpPr>
          <p:nvPr/>
        </p:nvSpPr>
        <p:spPr bwMode="auto">
          <a:xfrm>
            <a:off x="3805836" y="4921345"/>
            <a:ext cx="4887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 i="1">
                <a:latin typeface="Times New Roman"/>
                <a:cs typeface="Times New Roman"/>
              </a:rPr>
              <a:t>y</a:t>
            </a:r>
            <a:r>
              <a:rPr lang="en-US" sz="2400" i="1" baseline="-10000"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584157" name="Text Box 29"/>
          <p:cNvSpPr txBox="1">
            <a:spLocks noChangeArrowheads="1"/>
          </p:cNvSpPr>
          <p:nvPr/>
        </p:nvSpPr>
        <p:spPr bwMode="auto">
          <a:xfrm>
            <a:off x="5185374" y="4921345"/>
            <a:ext cx="4887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 i="1">
                <a:latin typeface="Times New Roman"/>
                <a:cs typeface="Times New Roman"/>
              </a:rPr>
              <a:t>y</a:t>
            </a:r>
            <a:r>
              <a:rPr lang="en-US" sz="2400" i="1" baseline="-10000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584158" name="Text Box 30"/>
          <p:cNvSpPr txBox="1">
            <a:spLocks noChangeArrowheads="1"/>
          </p:cNvSpPr>
          <p:nvPr/>
        </p:nvSpPr>
        <p:spPr bwMode="auto">
          <a:xfrm>
            <a:off x="6472836" y="4921345"/>
            <a:ext cx="4887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 i="1">
                <a:latin typeface="Times New Roman"/>
                <a:cs typeface="Times New Roman"/>
              </a:rPr>
              <a:t>y</a:t>
            </a:r>
            <a:r>
              <a:rPr lang="en-US" sz="2400" i="1" baseline="-10000"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584159" name="Text Box 31"/>
          <p:cNvSpPr txBox="1">
            <a:spLocks noChangeArrowheads="1"/>
          </p:cNvSpPr>
          <p:nvPr/>
        </p:nvSpPr>
        <p:spPr bwMode="auto">
          <a:xfrm>
            <a:off x="7844436" y="4921345"/>
            <a:ext cx="7184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 i="1">
                <a:latin typeface="Times New Roman"/>
                <a:cs typeface="Times New Roman"/>
              </a:rPr>
              <a:t>y</a:t>
            </a:r>
            <a:r>
              <a:rPr lang="en-US" sz="2400" i="1" baseline="-10000">
                <a:latin typeface="Times New Roman"/>
                <a:cs typeface="Times New Roman"/>
              </a:rPr>
              <a:t>new</a:t>
            </a:r>
          </a:p>
        </p:txBody>
      </p:sp>
      <p:sp>
        <p:nvSpPr>
          <p:cNvPr id="1584160" name="Line 32"/>
          <p:cNvSpPr>
            <a:spLocks noChangeShapeType="1"/>
          </p:cNvSpPr>
          <p:nvPr/>
        </p:nvSpPr>
        <p:spPr bwMode="auto">
          <a:xfrm>
            <a:off x="4110636" y="439112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584161" name="Line 33"/>
          <p:cNvSpPr>
            <a:spLocks noChangeShapeType="1"/>
          </p:cNvSpPr>
          <p:nvPr/>
        </p:nvSpPr>
        <p:spPr bwMode="auto">
          <a:xfrm>
            <a:off x="5406036" y="439112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584162" name="Line 34"/>
          <p:cNvSpPr>
            <a:spLocks noChangeShapeType="1"/>
          </p:cNvSpPr>
          <p:nvPr/>
        </p:nvSpPr>
        <p:spPr bwMode="auto">
          <a:xfrm>
            <a:off x="6701436" y="439112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584163" name="Line 35"/>
          <p:cNvSpPr>
            <a:spLocks noChangeShapeType="1"/>
          </p:cNvSpPr>
          <p:nvPr/>
        </p:nvSpPr>
        <p:spPr bwMode="auto">
          <a:xfrm>
            <a:off x="8073036" y="439112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584164" name="Text Box 36"/>
          <p:cNvSpPr txBox="1">
            <a:spLocks noChangeArrowheads="1"/>
          </p:cNvSpPr>
          <p:nvPr/>
        </p:nvSpPr>
        <p:spPr bwMode="auto">
          <a:xfrm>
            <a:off x="167344" y="2309705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Level 2:  Bags in general</a:t>
            </a:r>
          </a:p>
        </p:txBody>
      </p:sp>
      <p:sp>
        <p:nvSpPr>
          <p:cNvPr id="1584165" name="Line 37"/>
          <p:cNvSpPr>
            <a:spLocks noChangeShapeType="1"/>
          </p:cNvSpPr>
          <p:nvPr/>
        </p:nvSpPr>
        <p:spPr bwMode="auto">
          <a:xfrm>
            <a:off x="641940" y="299550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4166" name="Text Box 38"/>
          <p:cNvSpPr txBox="1">
            <a:spLocks noChangeArrowheads="1"/>
          </p:cNvSpPr>
          <p:nvPr/>
        </p:nvSpPr>
        <p:spPr bwMode="auto">
          <a:xfrm>
            <a:off x="5634636" y="2181320"/>
            <a:ext cx="121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l-GR" sz="2400" dirty="0">
                <a:latin typeface="Times New Roman"/>
                <a:cs typeface="Times New Roman"/>
              </a:rPr>
              <a:t>α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l-GR" sz="2400" dirty="0">
                <a:latin typeface="Times New Roman"/>
                <a:cs typeface="Times New Roman"/>
              </a:rPr>
              <a:t>β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endParaRPr lang="el-GR" sz="2400" dirty="0">
              <a:latin typeface="Times New Roman"/>
              <a:cs typeface="Times New Roman"/>
            </a:endParaRPr>
          </a:p>
        </p:txBody>
      </p:sp>
      <p:sp>
        <p:nvSpPr>
          <p:cNvPr id="1584167" name="Line 39"/>
          <p:cNvSpPr>
            <a:spLocks noChangeShapeType="1"/>
          </p:cNvSpPr>
          <p:nvPr/>
        </p:nvSpPr>
        <p:spPr bwMode="auto">
          <a:xfrm flipH="1">
            <a:off x="4110636" y="2790920"/>
            <a:ext cx="1981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584168" name="Line 40"/>
          <p:cNvSpPr>
            <a:spLocks noChangeShapeType="1"/>
          </p:cNvSpPr>
          <p:nvPr/>
        </p:nvSpPr>
        <p:spPr bwMode="auto">
          <a:xfrm flipH="1">
            <a:off x="5406036" y="279092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584169" name="Line 41"/>
          <p:cNvSpPr>
            <a:spLocks noChangeShapeType="1"/>
          </p:cNvSpPr>
          <p:nvPr/>
        </p:nvSpPr>
        <p:spPr bwMode="auto">
          <a:xfrm>
            <a:off x="6091836" y="279092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584170" name="Line 42"/>
          <p:cNvSpPr>
            <a:spLocks noChangeShapeType="1"/>
          </p:cNvSpPr>
          <p:nvPr/>
        </p:nvSpPr>
        <p:spPr bwMode="auto">
          <a:xfrm>
            <a:off x="6091836" y="2790920"/>
            <a:ext cx="2057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584171" name="Text Box 43"/>
          <p:cNvSpPr txBox="1">
            <a:spLocks noChangeArrowheads="1"/>
          </p:cNvSpPr>
          <p:nvPr/>
        </p:nvSpPr>
        <p:spPr bwMode="auto">
          <a:xfrm>
            <a:off x="3882036" y="3654520"/>
            <a:ext cx="506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 dirty="0">
                <a:latin typeface="Times New Roman"/>
                <a:cs typeface="Times New Roman"/>
              </a:rPr>
              <a:t>θ</a:t>
            </a:r>
            <a:r>
              <a:rPr lang="en-US" sz="2400" i="1" baseline="-10000" dirty="0"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584172" name="Text Box 44"/>
          <p:cNvSpPr txBox="1">
            <a:spLocks noChangeArrowheads="1"/>
          </p:cNvSpPr>
          <p:nvPr/>
        </p:nvSpPr>
        <p:spPr bwMode="auto">
          <a:xfrm>
            <a:off x="5177436" y="3654520"/>
            <a:ext cx="506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>
                <a:latin typeface="Times New Roman"/>
                <a:cs typeface="Times New Roman"/>
              </a:rPr>
              <a:t>θ</a:t>
            </a:r>
            <a:r>
              <a:rPr lang="en-US" sz="2400" i="1" baseline="-10000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584173" name="Text Box 45"/>
          <p:cNvSpPr txBox="1">
            <a:spLocks noChangeArrowheads="1"/>
          </p:cNvSpPr>
          <p:nvPr/>
        </p:nvSpPr>
        <p:spPr bwMode="auto">
          <a:xfrm>
            <a:off x="6472836" y="3654520"/>
            <a:ext cx="506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>
                <a:latin typeface="Times New Roman"/>
                <a:cs typeface="Times New Roman"/>
              </a:rPr>
              <a:t>θ</a:t>
            </a:r>
            <a:r>
              <a:rPr lang="en-US" sz="2400" i="1" baseline="-10000"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584174" name="Text Box 46"/>
          <p:cNvSpPr txBox="1">
            <a:spLocks noChangeArrowheads="1"/>
          </p:cNvSpPr>
          <p:nvPr/>
        </p:nvSpPr>
        <p:spPr bwMode="auto">
          <a:xfrm>
            <a:off x="7915874" y="3654520"/>
            <a:ext cx="7526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>
                <a:latin typeface="Times New Roman"/>
                <a:cs typeface="Times New Roman"/>
              </a:rPr>
              <a:t>θ</a:t>
            </a:r>
            <a:r>
              <a:rPr lang="en-US" sz="2400" i="1" baseline="-10000">
                <a:latin typeface="Times New Roman"/>
                <a:cs typeface="Times New Roman"/>
              </a:rPr>
              <a:t>new</a:t>
            </a:r>
          </a:p>
        </p:txBody>
      </p:sp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11" y="1145838"/>
            <a:ext cx="3911600" cy="406400"/>
          </a:xfrm>
          <a:prstGeom prst="rect">
            <a:avLst/>
          </a:prstGeom>
        </p:spPr>
      </p:pic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273" y="1190288"/>
            <a:ext cx="32893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436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180" name="Text Box 4"/>
          <p:cNvSpPr txBox="1">
            <a:spLocks noChangeArrowheads="1"/>
          </p:cNvSpPr>
          <p:nvPr/>
        </p:nvSpPr>
        <p:spPr bwMode="auto">
          <a:xfrm>
            <a:off x="8622935" y="3485959"/>
            <a:ext cx="3971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…</a:t>
            </a:r>
          </a:p>
        </p:txBody>
      </p:sp>
      <p:sp>
        <p:nvSpPr>
          <p:cNvPr id="1586181" name="Text Box 5"/>
          <p:cNvSpPr txBox="1">
            <a:spLocks noChangeArrowheads="1"/>
          </p:cNvSpPr>
          <p:nvPr/>
        </p:nvSpPr>
        <p:spPr bwMode="auto">
          <a:xfrm>
            <a:off x="8622935" y="4892818"/>
            <a:ext cx="3971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…</a:t>
            </a:r>
          </a:p>
        </p:txBody>
      </p:sp>
      <p:sp>
        <p:nvSpPr>
          <p:cNvPr id="1586182" name="Text Box 6"/>
          <p:cNvSpPr txBox="1">
            <a:spLocks noChangeArrowheads="1"/>
          </p:cNvSpPr>
          <p:nvPr/>
        </p:nvSpPr>
        <p:spPr bwMode="auto">
          <a:xfrm>
            <a:off x="8622935" y="5646880"/>
            <a:ext cx="3971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…</a:t>
            </a:r>
          </a:p>
        </p:txBody>
      </p:sp>
      <p:sp>
        <p:nvSpPr>
          <p:cNvPr id="1586183" name="Oval 7"/>
          <p:cNvSpPr>
            <a:spLocks noChangeArrowheads="1"/>
          </p:cNvSpPr>
          <p:nvPr/>
        </p:nvSpPr>
        <p:spPr bwMode="auto">
          <a:xfrm>
            <a:off x="5149485" y="602788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84" name="Oval 8"/>
          <p:cNvSpPr>
            <a:spLocks noChangeArrowheads="1"/>
          </p:cNvSpPr>
          <p:nvPr/>
        </p:nvSpPr>
        <p:spPr bwMode="auto">
          <a:xfrm>
            <a:off x="5378085" y="602788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85" name="Oval 9"/>
          <p:cNvSpPr>
            <a:spLocks noChangeArrowheads="1"/>
          </p:cNvSpPr>
          <p:nvPr/>
        </p:nvSpPr>
        <p:spPr bwMode="auto">
          <a:xfrm>
            <a:off x="5149485" y="572308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86" name="Oval 10"/>
          <p:cNvSpPr>
            <a:spLocks noChangeArrowheads="1"/>
          </p:cNvSpPr>
          <p:nvPr/>
        </p:nvSpPr>
        <p:spPr bwMode="auto">
          <a:xfrm>
            <a:off x="5378085" y="572308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87" name="Oval 11"/>
          <p:cNvSpPr>
            <a:spLocks noChangeArrowheads="1"/>
          </p:cNvSpPr>
          <p:nvPr/>
        </p:nvSpPr>
        <p:spPr bwMode="auto">
          <a:xfrm>
            <a:off x="5149485" y="541828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88" name="Oval 12"/>
          <p:cNvSpPr>
            <a:spLocks noChangeArrowheads="1"/>
          </p:cNvSpPr>
          <p:nvPr/>
        </p:nvSpPr>
        <p:spPr bwMode="auto">
          <a:xfrm>
            <a:off x="5378085" y="541828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89" name="Oval 13"/>
          <p:cNvSpPr>
            <a:spLocks noChangeArrowheads="1"/>
          </p:cNvSpPr>
          <p:nvPr/>
        </p:nvSpPr>
        <p:spPr bwMode="auto">
          <a:xfrm>
            <a:off x="7860935" y="541828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90" name="Oval 14"/>
          <p:cNvSpPr>
            <a:spLocks noChangeArrowheads="1"/>
          </p:cNvSpPr>
          <p:nvPr/>
        </p:nvSpPr>
        <p:spPr bwMode="auto">
          <a:xfrm>
            <a:off x="4082685" y="604693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91" name="Oval 15"/>
          <p:cNvSpPr>
            <a:spLocks noChangeArrowheads="1"/>
          </p:cNvSpPr>
          <p:nvPr/>
        </p:nvSpPr>
        <p:spPr bwMode="auto">
          <a:xfrm>
            <a:off x="3854085" y="604693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92" name="Oval 16"/>
          <p:cNvSpPr>
            <a:spLocks noChangeArrowheads="1"/>
          </p:cNvSpPr>
          <p:nvPr/>
        </p:nvSpPr>
        <p:spPr bwMode="auto">
          <a:xfrm>
            <a:off x="4082685" y="574213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93" name="Oval 17"/>
          <p:cNvSpPr>
            <a:spLocks noChangeArrowheads="1"/>
          </p:cNvSpPr>
          <p:nvPr/>
        </p:nvSpPr>
        <p:spPr bwMode="auto">
          <a:xfrm>
            <a:off x="3854085" y="574213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94" name="Oval 18"/>
          <p:cNvSpPr>
            <a:spLocks noChangeArrowheads="1"/>
          </p:cNvSpPr>
          <p:nvPr/>
        </p:nvSpPr>
        <p:spPr bwMode="auto">
          <a:xfrm>
            <a:off x="4082685" y="543733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95" name="Oval 19"/>
          <p:cNvSpPr>
            <a:spLocks noChangeArrowheads="1"/>
          </p:cNvSpPr>
          <p:nvPr/>
        </p:nvSpPr>
        <p:spPr bwMode="auto">
          <a:xfrm>
            <a:off x="3854085" y="5437330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96" name="Oval 20"/>
          <p:cNvSpPr>
            <a:spLocks noChangeArrowheads="1"/>
          </p:cNvSpPr>
          <p:nvPr/>
        </p:nvSpPr>
        <p:spPr bwMode="auto">
          <a:xfrm>
            <a:off x="6749685" y="601835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97" name="Oval 21"/>
          <p:cNvSpPr>
            <a:spLocks noChangeArrowheads="1"/>
          </p:cNvSpPr>
          <p:nvPr/>
        </p:nvSpPr>
        <p:spPr bwMode="auto">
          <a:xfrm>
            <a:off x="6521085" y="601835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98" name="Oval 22"/>
          <p:cNvSpPr>
            <a:spLocks noChangeArrowheads="1"/>
          </p:cNvSpPr>
          <p:nvPr/>
        </p:nvSpPr>
        <p:spPr bwMode="auto">
          <a:xfrm>
            <a:off x="6749685" y="571355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199" name="Oval 23"/>
          <p:cNvSpPr>
            <a:spLocks noChangeArrowheads="1"/>
          </p:cNvSpPr>
          <p:nvPr/>
        </p:nvSpPr>
        <p:spPr bwMode="auto">
          <a:xfrm>
            <a:off x="6521085" y="571355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200" name="Oval 24"/>
          <p:cNvSpPr>
            <a:spLocks noChangeArrowheads="1"/>
          </p:cNvSpPr>
          <p:nvPr/>
        </p:nvSpPr>
        <p:spPr bwMode="auto">
          <a:xfrm>
            <a:off x="6749685" y="540875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201" name="Oval 25"/>
          <p:cNvSpPr>
            <a:spLocks noChangeArrowheads="1"/>
          </p:cNvSpPr>
          <p:nvPr/>
        </p:nvSpPr>
        <p:spPr bwMode="auto">
          <a:xfrm>
            <a:off x="6521085" y="5408755"/>
            <a:ext cx="152400" cy="152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202" name="Text Box 26"/>
          <p:cNvSpPr txBox="1">
            <a:spLocks noChangeArrowheads="1"/>
          </p:cNvSpPr>
          <p:nvPr/>
        </p:nvSpPr>
        <p:spPr bwMode="auto">
          <a:xfrm>
            <a:off x="3777885" y="4842018"/>
            <a:ext cx="4887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 i="1" dirty="0">
                <a:latin typeface="Times New Roman"/>
                <a:cs typeface="Times New Roman"/>
              </a:rPr>
              <a:t>y</a:t>
            </a:r>
            <a:r>
              <a:rPr lang="en-US" sz="2400" i="1" baseline="-10000" dirty="0"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586203" name="Text Box 27"/>
          <p:cNvSpPr txBox="1">
            <a:spLocks noChangeArrowheads="1"/>
          </p:cNvSpPr>
          <p:nvPr/>
        </p:nvSpPr>
        <p:spPr bwMode="auto">
          <a:xfrm>
            <a:off x="5157423" y="4842018"/>
            <a:ext cx="4887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 i="1" dirty="0">
                <a:latin typeface="Times New Roman"/>
                <a:cs typeface="Times New Roman"/>
              </a:rPr>
              <a:t>y</a:t>
            </a:r>
            <a:r>
              <a:rPr lang="en-US" sz="2400" i="1" baseline="-10000" dirty="0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586204" name="Text Box 28"/>
          <p:cNvSpPr txBox="1">
            <a:spLocks noChangeArrowheads="1"/>
          </p:cNvSpPr>
          <p:nvPr/>
        </p:nvSpPr>
        <p:spPr bwMode="auto">
          <a:xfrm>
            <a:off x="6444885" y="4842018"/>
            <a:ext cx="4887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 i="1" dirty="0">
                <a:latin typeface="Times New Roman"/>
                <a:cs typeface="Times New Roman"/>
              </a:rPr>
              <a:t>y</a:t>
            </a:r>
            <a:r>
              <a:rPr lang="en-US" sz="2400" i="1" baseline="-10000" dirty="0"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586205" name="Text Box 29"/>
          <p:cNvSpPr txBox="1">
            <a:spLocks noChangeArrowheads="1"/>
          </p:cNvSpPr>
          <p:nvPr/>
        </p:nvSpPr>
        <p:spPr bwMode="auto">
          <a:xfrm>
            <a:off x="7816485" y="4842018"/>
            <a:ext cx="7184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 i="1" dirty="0" err="1">
                <a:latin typeface="Times New Roman"/>
                <a:cs typeface="Times New Roman"/>
              </a:rPr>
              <a:t>y</a:t>
            </a:r>
            <a:r>
              <a:rPr lang="en-US" sz="2400" i="1" baseline="-10000" dirty="0" err="1">
                <a:latin typeface="Times New Roman"/>
                <a:cs typeface="Times New Roman"/>
              </a:rPr>
              <a:t>new</a:t>
            </a:r>
            <a:endParaRPr lang="en-US" sz="2400" i="1" baseline="-10000" dirty="0">
              <a:latin typeface="Times New Roman"/>
              <a:cs typeface="Times New Roman"/>
            </a:endParaRPr>
          </a:p>
        </p:txBody>
      </p:sp>
      <p:sp>
        <p:nvSpPr>
          <p:cNvPr id="1586213" name="Text Box 37"/>
          <p:cNvSpPr txBox="1">
            <a:spLocks noChangeArrowheads="1"/>
          </p:cNvSpPr>
          <p:nvPr/>
        </p:nvSpPr>
        <p:spPr bwMode="auto">
          <a:xfrm>
            <a:off x="5606685" y="2536634"/>
            <a:ext cx="99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l-GR" sz="2400" dirty="0">
                <a:latin typeface="Times New Roman"/>
                <a:cs typeface="Times New Roman"/>
              </a:rPr>
              <a:t>α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l-GR" sz="2400" dirty="0">
                <a:latin typeface="Times New Roman"/>
                <a:cs typeface="Times New Roman"/>
              </a:rPr>
              <a:t>β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endParaRPr lang="el-GR" sz="2400" dirty="0">
              <a:latin typeface="Times New Roman"/>
              <a:cs typeface="Times New Roman"/>
            </a:endParaRPr>
          </a:p>
        </p:txBody>
      </p:sp>
      <p:sp>
        <p:nvSpPr>
          <p:cNvPr id="1586216" name="Line 40"/>
          <p:cNvSpPr>
            <a:spLocks noChangeShapeType="1"/>
          </p:cNvSpPr>
          <p:nvPr/>
        </p:nvSpPr>
        <p:spPr bwMode="auto">
          <a:xfrm flipH="1">
            <a:off x="4082685" y="3116071"/>
            <a:ext cx="1981200" cy="4114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586217" name="Line 41"/>
          <p:cNvSpPr>
            <a:spLocks noChangeShapeType="1"/>
          </p:cNvSpPr>
          <p:nvPr/>
        </p:nvSpPr>
        <p:spPr bwMode="auto">
          <a:xfrm flipH="1">
            <a:off x="5378085" y="3116071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586218" name="Line 42"/>
          <p:cNvSpPr>
            <a:spLocks noChangeShapeType="1"/>
          </p:cNvSpPr>
          <p:nvPr/>
        </p:nvSpPr>
        <p:spPr bwMode="auto">
          <a:xfrm>
            <a:off x="6063885" y="3116071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586219" name="Line 43"/>
          <p:cNvSpPr>
            <a:spLocks noChangeShapeType="1"/>
          </p:cNvSpPr>
          <p:nvPr/>
        </p:nvSpPr>
        <p:spPr bwMode="auto">
          <a:xfrm>
            <a:off x="6063885" y="3116071"/>
            <a:ext cx="2057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586220" name="Text Box 44"/>
          <p:cNvSpPr txBox="1">
            <a:spLocks noChangeArrowheads="1"/>
          </p:cNvSpPr>
          <p:nvPr/>
        </p:nvSpPr>
        <p:spPr bwMode="auto">
          <a:xfrm>
            <a:off x="3854085" y="3587559"/>
            <a:ext cx="506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 dirty="0">
                <a:latin typeface="Times New Roman"/>
                <a:cs typeface="Times New Roman"/>
              </a:rPr>
              <a:t>θ</a:t>
            </a:r>
            <a:r>
              <a:rPr lang="en-US" sz="2400" i="1" baseline="-10000" dirty="0"/>
              <a:t>1</a:t>
            </a:r>
          </a:p>
        </p:txBody>
      </p:sp>
      <p:sp>
        <p:nvSpPr>
          <p:cNvPr id="1586221" name="Text Box 45"/>
          <p:cNvSpPr txBox="1">
            <a:spLocks noChangeArrowheads="1"/>
          </p:cNvSpPr>
          <p:nvPr/>
        </p:nvSpPr>
        <p:spPr bwMode="auto">
          <a:xfrm>
            <a:off x="5149485" y="3587559"/>
            <a:ext cx="506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 dirty="0">
                <a:latin typeface="Times New Roman"/>
                <a:cs typeface="Times New Roman"/>
              </a:rPr>
              <a:t>θ</a:t>
            </a:r>
            <a:r>
              <a:rPr lang="en-US" sz="2400" i="1" baseline="-10000" dirty="0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586222" name="Text Box 46"/>
          <p:cNvSpPr txBox="1">
            <a:spLocks noChangeArrowheads="1"/>
          </p:cNvSpPr>
          <p:nvPr/>
        </p:nvSpPr>
        <p:spPr bwMode="auto">
          <a:xfrm>
            <a:off x="6444885" y="3587559"/>
            <a:ext cx="506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 dirty="0">
                <a:latin typeface="Times New Roman"/>
                <a:cs typeface="Times New Roman"/>
              </a:rPr>
              <a:t>θ</a:t>
            </a:r>
            <a:r>
              <a:rPr lang="en-US" sz="2400" i="1" baseline="-10000" dirty="0"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586223" name="Text Box 47"/>
          <p:cNvSpPr txBox="1">
            <a:spLocks noChangeArrowheads="1"/>
          </p:cNvSpPr>
          <p:nvPr/>
        </p:nvSpPr>
        <p:spPr bwMode="auto">
          <a:xfrm>
            <a:off x="7887923" y="3587559"/>
            <a:ext cx="7526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 dirty="0">
                <a:latin typeface="Times New Roman"/>
                <a:cs typeface="Times New Roman"/>
              </a:rPr>
              <a:t>θ</a:t>
            </a:r>
            <a:r>
              <a:rPr lang="en-US" sz="2400" i="1" baseline="-10000" dirty="0">
                <a:latin typeface="Times New Roman"/>
                <a:cs typeface="Times New Roman"/>
              </a:rPr>
              <a:t>new</a:t>
            </a:r>
          </a:p>
        </p:txBody>
      </p:sp>
      <p:sp>
        <p:nvSpPr>
          <p:cNvPr id="1586230" name="Text Box 54"/>
          <p:cNvSpPr txBox="1">
            <a:spLocks noChangeArrowheads="1"/>
          </p:cNvSpPr>
          <p:nvPr/>
        </p:nvSpPr>
        <p:spPr bwMode="auto">
          <a:xfrm>
            <a:off x="152400" y="1295400"/>
            <a:ext cx="883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 dirty="0"/>
              <a:t>We simultaneously learn </a:t>
            </a:r>
            <a:r>
              <a:rPr lang="el-GR" sz="2400" dirty="0">
                <a:latin typeface="Times New Roman"/>
                <a:cs typeface="Times New Roman"/>
              </a:rPr>
              <a:t>α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l-GR" sz="2400" dirty="0">
                <a:latin typeface="Times New Roman"/>
                <a:cs typeface="Times New Roman"/>
              </a:rPr>
              <a:t>β</a:t>
            </a:r>
            <a:r>
              <a:rPr lang="en-US" sz="2400" dirty="0"/>
              <a:t>, and the </a:t>
            </a:r>
            <a:r>
              <a:rPr lang="el-GR" sz="2400" i="1" dirty="0">
                <a:latin typeface="Times New Roman"/>
                <a:cs typeface="Times New Roman"/>
              </a:rPr>
              <a:t>θ</a:t>
            </a:r>
            <a:r>
              <a:rPr lang="en-US" sz="2400" i="1" baseline="-10000" dirty="0" err="1">
                <a:latin typeface="Times New Roman"/>
                <a:cs typeface="Times New Roman"/>
              </a:rPr>
              <a:t>i</a:t>
            </a:r>
            <a:r>
              <a:rPr lang="en-US" sz="2400" i="1" baseline="-10000" dirty="0"/>
              <a:t> </a:t>
            </a:r>
            <a:r>
              <a:rPr lang="en-US" sz="2400" i="1" dirty="0"/>
              <a:t>:</a:t>
            </a:r>
            <a:endParaRPr lang="en-US" sz="2400" i="1" baseline="-10000" dirty="0"/>
          </a:p>
        </p:txBody>
      </p:sp>
      <p:sp>
        <p:nvSpPr>
          <p:cNvPr id="1586231" name="Rectangle 55"/>
          <p:cNvSpPr>
            <a:spLocks noChangeArrowheads="1"/>
          </p:cNvSpPr>
          <p:nvPr/>
        </p:nvSpPr>
        <p:spPr bwMode="auto">
          <a:xfrm>
            <a:off x="5378085" y="2598546"/>
            <a:ext cx="12192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232" name="Rectangle 56"/>
          <p:cNvSpPr>
            <a:spLocks noChangeArrowheads="1"/>
          </p:cNvSpPr>
          <p:nvPr/>
        </p:nvSpPr>
        <p:spPr bwMode="auto">
          <a:xfrm>
            <a:off x="3854085" y="3589146"/>
            <a:ext cx="533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233" name="Rectangle 57"/>
          <p:cNvSpPr>
            <a:spLocks noChangeArrowheads="1"/>
          </p:cNvSpPr>
          <p:nvPr/>
        </p:nvSpPr>
        <p:spPr bwMode="auto">
          <a:xfrm>
            <a:off x="5149485" y="3589146"/>
            <a:ext cx="533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234" name="Rectangle 58"/>
          <p:cNvSpPr>
            <a:spLocks noChangeArrowheads="1"/>
          </p:cNvSpPr>
          <p:nvPr/>
        </p:nvSpPr>
        <p:spPr bwMode="auto">
          <a:xfrm>
            <a:off x="6444885" y="3589146"/>
            <a:ext cx="533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235" name="Rectangle 59"/>
          <p:cNvSpPr>
            <a:spLocks noChangeArrowheads="1"/>
          </p:cNvSpPr>
          <p:nvPr/>
        </p:nvSpPr>
        <p:spPr bwMode="auto">
          <a:xfrm>
            <a:off x="7892685" y="3589146"/>
            <a:ext cx="7620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86236" name="Rectangle 60"/>
          <p:cNvSpPr>
            <a:spLocks noGrp="1" noChangeArrowheads="1"/>
          </p:cNvSpPr>
          <p:nvPr>
            <p:ph type="title"/>
          </p:nvPr>
        </p:nvSpPr>
        <p:spPr>
          <a:xfrm>
            <a:off x="673100" y="-85725"/>
            <a:ext cx="7807325" cy="1144588"/>
          </a:xfr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Learning</a:t>
            </a:r>
          </a:p>
        </p:txBody>
      </p:sp>
      <p:sp>
        <p:nvSpPr>
          <p:cNvPr id="61" name="Text Box 3"/>
          <p:cNvSpPr txBox="1">
            <a:spLocks noChangeArrowheads="1"/>
          </p:cNvSpPr>
          <p:nvPr/>
        </p:nvSpPr>
        <p:spPr bwMode="auto">
          <a:xfrm>
            <a:off x="232365" y="3916363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Level 1:  Bag proportions</a:t>
            </a:r>
          </a:p>
        </p:txBody>
      </p:sp>
      <p:sp>
        <p:nvSpPr>
          <p:cNvPr id="62" name="Text Box 4"/>
          <p:cNvSpPr txBox="1">
            <a:spLocks noChangeArrowheads="1"/>
          </p:cNvSpPr>
          <p:nvPr/>
        </p:nvSpPr>
        <p:spPr bwMode="auto">
          <a:xfrm>
            <a:off x="260940" y="5172075"/>
            <a:ext cx="1209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Data	</a:t>
            </a:r>
          </a:p>
        </p:txBody>
      </p:sp>
      <p:sp>
        <p:nvSpPr>
          <p:cNvPr id="63" name="Line 5"/>
          <p:cNvSpPr>
            <a:spLocks noChangeShapeType="1"/>
          </p:cNvSpPr>
          <p:nvPr/>
        </p:nvSpPr>
        <p:spPr bwMode="auto">
          <a:xfrm>
            <a:off x="641940" y="4648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Text Box 36"/>
          <p:cNvSpPr txBox="1">
            <a:spLocks noChangeArrowheads="1"/>
          </p:cNvSpPr>
          <p:nvPr/>
        </p:nvSpPr>
        <p:spPr bwMode="auto">
          <a:xfrm>
            <a:off x="167344" y="2514600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/>
              <a:t>Level 2:  Bags in general</a:t>
            </a:r>
          </a:p>
        </p:txBody>
      </p:sp>
      <p:sp>
        <p:nvSpPr>
          <p:cNvPr id="65" name="Line 37"/>
          <p:cNvSpPr>
            <a:spLocks noChangeShapeType="1"/>
          </p:cNvSpPr>
          <p:nvPr/>
        </p:nvSpPr>
        <p:spPr bwMode="auto">
          <a:xfrm>
            <a:off x="641940" y="3200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Line 32"/>
          <p:cNvSpPr>
            <a:spLocks noChangeShapeType="1"/>
          </p:cNvSpPr>
          <p:nvPr/>
        </p:nvSpPr>
        <p:spPr bwMode="auto">
          <a:xfrm>
            <a:off x="4110636" y="433893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7" name="Line 33"/>
          <p:cNvSpPr>
            <a:spLocks noChangeShapeType="1"/>
          </p:cNvSpPr>
          <p:nvPr/>
        </p:nvSpPr>
        <p:spPr bwMode="auto">
          <a:xfrm>
            <a:off x="5406036" y="433893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8" name="Line 34"/>
          <p:cNvSpPr>
            <a:spLocks noChangeShapeType="1"/>
          </p:cNvSpPr>
          <p:nvPr/>
        </p:nvSpPr>
        <p:spPr bwMode="auto">
          <a:xfrm>
            <a:off x="6701436" y="433893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9" name="Line 35"/>
          <p:cNvSpPr>
            <a:spLocks noChangeShapeType="1"/>
          </p:cNvSpPr>
          <p:nvPr/>
        </p:nvSpPr>
        <p:spPr bwMode="auto">
          <a:xfrm>
            <a:off x="8073036" y="433893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pic>
        <p:nvPicPr>
          <p:cNvPr id="2" name="Picture 1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845" y="1422170"/>
            <a:ext cx="35433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19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226" name="Text Box 2"/>
          <p:cNvSpPr txBox="1">
            <a:spLocks noChangeArrowheads="1"/>
          </p:cNvSpPr>
          <p:nvPr/>
        </p:nvSpPr>
        <p:spPr bwMode="auto">
          <a:xfrm>
            <a:off x="4800600" y="381000"/>
            <a:ext cx="518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2400" dirty="0">
                <a:latin typeface="Times New Roman"/>
                <a:cs typeface="Times New Roman"/>
              </a:rPr>
              <a:t>log(</a:t>
            </a:r>
            <a:r>
              <a:rPr lang="el-GR" sz="2400" dirty="0">
                <a:latin typeface="Times New Roman"/>
                <a:cs typeface="Times New Roman"/>
              </a:rPr>
              <a:t>α</a:t>
            </a:r>
            <a:r>
              <a:rPr lang="en-US" sz="2400" dirty="0">
                <a:latin typeface="Times New Roman"/>
                <a:cs typeface="Times New Roman"/>
              </a:rPr>
              <a:t>)  </a:t>
            </a:r>
            <a:r>
              <a:rPr lang="en-US" sz="2400" dirty="0"/>
              <a:t>(within-bag variability)</a:t>
            </a:r>
            <a:endParaRPr lang="el-GR" sz="2400" dirty="0"/>
          </a:p>
        </p:txBody>
      </p:sp>
      <p:sp>
        <p:nvSpPr>
          <p:cNvPr id="1588227" name="Text Box 3"/>
          <p:cNvSpPr txBox="1">
            <a:spLocks noChangeArrowheads="1"/>
          </p:cNvSpPr>
          <p:nvPr/>
        </p:nvSpPr>
        <p:spPr bwMode="auto">
          <a:xfrm>
            <a:off x="4876800" y="1828800"/>
            <a:ext cx="518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l-GR" sz="2400" dirty="0">
                <a:latin typeface="Times New Roman"/>
                <a:cs typeface="Times New Roman"/>
              </a:rPr>
              <a:t>β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/>
              <a:t>	 (population proportion)</a:t>
            </a:r>
            <a:endParaRPr lang="el-GR" sz="2400" dirty="0"/>
          </a:p>
        </p:txBody>
      </p:sp>
      <p:sp>
        <p:nvSpPr>
          <p:cNvPr id="1588228" name="Text Box 4"/>
          <p:cNvSpPr txBox="1">
            <a:spLocks noChangeArrowheads="1"/>
          </p:cNvSpPr>
          <p:nvPr/>
        </p:nvSpPr>
        <p:spPr bwMode="auto">
          <a:xfrm>
            <a:off x="1905000" y="5043488"/>
            <a:ext cx="5016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 dirty="0">
                <a:latin typeface="Times New Roman"/>
                <a:cs typeface="Times New Roman"/>
              </a:rPr>
              <a:t>θ</a:t>
            </a:r>
            <a:r>
              <a:rPr lang="en-US" sz="2400" i="1" baseline="-10000" dirty="0"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588229" name="Text Box 5"/>
          <p:cNvSpPr txBox="1">
            <a:spLocks noChangeArrowheads="1"/>
          </p:cNvSpPr>
          <p:nvPr/>
        </p:nvSpPr>
        <p:spPr bwMode="auto">
          <a:xfrm>
            <a:off x="3657600" y="5029200"/>
            <a:ext cx="5016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>
                <a:latin typeface="Times New Roman"/>
                <a:cs typeface="Times New Roman"/>
              </a:rPr>
              <a:t>θ</a:t>
            </a:r>
            <a:r>
              <a:rPr lang="en-US" sz="2400" i="1" baseline="-10000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588230" name="Text Box 6"/>
          <p:cNvSpPr txBox="1">
            <a:spLocks noChangeArrowheads="1"/>
          </p:cNvSpPr>
          <p:nvPr/>
        </p:nvSpPr>
        <p:spPr bwMode="auto">
          <a:xfrm>
            <a:off x="5715000" y="5029200"/>
            <a:ext cx="5016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>
                <a:latin typeface="Times New Roman"/>
                <a:cs typeface="Times New Roman"/>
              </a:rPr>
              <a:t>θ</a:t>
            </a:r>
            <a:r>
              <a:rPr lang="en-US" sz="2400" i="1" baseline="-10000"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588231" name="Text Box 7"/>
          <p:cNvSpPr txBox="1">
            <a:spLocks noChangeArrowheads="1"/>
          </p:cNvSpPr>
          <p:nvPr/>
        </p:nvSpPr>
        <p:spPr bwMode="auto">
          <a:xfrm>
            <a:off x="7488238" y="5029200"/>
            <a:ext cx="5016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>
                <a:latin typeface="Times New Roman"/>
                <a:cs typeface="Times New Roman"/>
              </a:rPr>
              <a:t>θ</a:t>
            </a:r>
            <a:r>
              <a:rPr lang="en-US" sz="2400" i="1" baseline="-10000"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1588232" name="Line 8"/>
          <p:cNvSpPr>
            <a:spLocks noChangeShapeType="1"/>
          </p:cNvSpPr>
          <p:nvPr/>
        </p:nvSpPr>
        <p:spPr bwMode="auto">
          <a:xfrm flipH="1">
            <a:off x="1447800" y="3048000"/>
            <a:ext cx="2667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8233" name="Line 9"/>
          <p:cNvSpPr>
            <a:spLocks noChangeShapeType="1"/>
          </p:cNvSpPr>
          <p:nvPr/>
        </p:nvSpPr>
        <p:spPr bwMode="auto">
          <a:xfrm flipH="1">
            <a:off x="3429000" y="30480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8234" name="Line 10"/>
          <p:cNvSpPr>
            <a:spLocks noChangeShapeType="1"/>
          </p:cNvSpPr>
          <p:nvPr/>
        </p:nvSpPr>
        <p:spPr bwMode="auto">
          <a:xfrm>
            <a:off x="4114800" y="30480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8235" name="Line 11"/>
          <p:cNvSpPr>
            <a:spLocks noChangeShapeType="1"/>
          </p:cNvSpPr>
          <p:nvPr/>
        </p:nvSpPr>
        <p:spPr bwMode="auto">
          <a:xfrm>
            <a:off x="4114800" y="3048000"/>
            <a:ext cx="2590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58823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-76200"/>
            <a:ext cx="1190625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588237" name="Rectangle 13"/>
          <p:cNvSpPr>
            <a:spLocks noChangeArrowheads="1"/>
          </p:cNvSpPr>
          <p:nvPr/>
        </p:nvSpPr>
        <p:spPr bwMode="auto">
          <a:xfrm>
            <a:off x="3886200" y="-152400"/>
            <a:ext cx="533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88238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25" y="1457325"/>
            <a:ext cx="1209675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588239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733800"/>
            <a:ext cx="1228725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588240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733800"/>
            <a:ext cx="1228725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588241" name="Picture 1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475" y="3733800"/>
            <a:ext cx="1228725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588242" name="Picture 1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733800"/>
            <a:ext cx="1228725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588243" name="Picture 19" descr="B0001PNDA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5626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88244" name="Picture 20" descr="B0001PNDA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5626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88245" name="Picture 21" descr="B0001PNDA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626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88246" name="Picture 22" descr="B0001PNDA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55626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982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92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0"/>
            <a:ext cx="1162050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5892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1524000"/>
            <a:ext cx="1247775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5892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657600"/>
            <a:ext cx="127635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5892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550" y="3657600"/>
            <a:ext cx="1238250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5892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3657600"/>
            <a:ext cx="1238250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5892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657600"/>
            <a:ext cx="127635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589257" name="Rectangle 9"/>
          <p:cNvSpPr>
            <a:spLocks noChangeArrowheads="1"/>
          </p:cNvSpPr>
          <p:nvPr/>
        </p:nvSpPr>
        <p:spPr bwMode="auto">
          <a:xfrm>
            <a:off x="4038600" y="-190500"/>
            <a:ext cx="533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63" name="Line 15"/>
          <p:cNvSpPr>
            <a:spLocks noChangeShapeType="1"/>
          </p:cNvSpPr>
          <p:nvPr/>
        </p:nvSpPr>
        <p:spPr bwMode="auto">
          <a:xfrm flipH="1">
            <a:off x="1447800" y="3048000"/>
            <a:ext cx="2667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9264" name="Line 16"/>
          <p:cNvSpPr>
            <a:spLocks noChangeShapeType="1"/>
          </p:cNvSpPr>
          <p:nvPr/>
        </p:nvSpPr>
        <p:spPr bwMode="auto">
          <a:xfrm flipH="1">
            <a:off x="3429000" y="30480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9265" name="Line 17"/>
          <p:cNvSpPr>
            <a:spLocks noChangeShapeType="1"/>
          </p:cNvSpPr>
          <p:nvPr/>
        </p:nvSpPr>
        <p:spPr bwMode="auto">
          <a:xfrm>
            <a:off x="4114800" y="30480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9266" name="Line 18"/>
          <p:cNvSpPr>
            <a:spLocks noChangeShapeType="1"/>
          </p:cNvSpPr>
          <p:nvPr/>
        </p:nvSpPr>
        <p:spPr bwMode="auto">
          <a:xfrm>
            <a:off x="4114800" y="3048000"/>
            <a:ext cx="2590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9267" name="Oval 19"/>
          <p:cNvSpPr>
            <a:spLocks noChangeArrowheads="1"/>
          </p:cNvSpPr>
          <p:nvPr/>
        </p:nvSpPr>
        <p:spPr bwMode="auto">
          <a:xfrm>
            <a:off x="4886325" y="6410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68" name="Oval 20"/>
          <p:cNvSpPr>
            <a:spLocks noChangeArrowheads="1"/>
          </p:cNvSpPr>
          <p:nvPr/>
        </p:nvSpPr>
        <p:spPr bwMode="auto">
          <a:xfrm>
            <a:off x="5076825" y="6410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69" name="Oval 21"/>
          <p:cNvSpPr>
            <a:spLocks noChangeArrowheads="1"/>
          </p:cNvSpPr>
          <p:nvPr/>
        </p:nvSpPr>
        <p:spPr bwMode="auto">
          <a:xfrm>
            <a:off x="4886325" y="6219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70" name="Oval 22"/>
          <p:cNvSpPr>
            <a:spLocks noChangeArrowheads="1"/>
          </p:cNvSpPr>
          <p:nvPr/>
        </p:nvSpPr>
        <p:spPr bwMode="auto">
          <a:xfrm>
            <a:off x="5076825" y="6219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71" name="Oval 23"/>
          <p:cNvSpPr>
            <a:spLocks noChangeArrowheads="1"/>
          </p:cNvSpPr>
          <p:nvPr/>
        </p:nvSpPr>
        <p:spPr bwMode="auto">
          <a:xfrm>
            <a:off x="4876800" y="5638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72" name="Oval 24"/>
          <p:cNvSpPr>
            <a:spLocks noChangeArrowheads="1"/>
          </p:cNvSpPr>
          <p:nvPr/>
        </p:nvSpPr>
        <p:spPr bwMode="auto">
          <a:xfrm>
            <a:off x="5067300" y="5638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73" name="Oval 25"/>
          <p:cNvSpPr>
            <a:spLocks noChangeArrowheads="1"/>
          </p:cNvSpPr>
          <p:nvPr/>
        </p:nvSpPr>
        <p:spPr bwMode="auto">
          <a:xfrm>
            <a:off x="4876800" y="6029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74" name="Oval 26"/>
          <p:cNvSpPr>
            <a:spLocks noChangeArrowheads="1"/>
          </p:cNvSpPr>
          <p:nvPr/>
        </p:nvSpPr>
        <p:spPr bwMode="auto">
          <a:xfrm>
            <a:off x="5067300" y="6029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75" name="Oval 27"/>
          <p:cNvSpPr>
            <a:spLocks noChangeArrowheads="1"/>
          </p:cNvSpPr>
          <p:nvPr/>
        </p:nvSpPr>
        <p:spPr bwMode="auto">
          <a:xfrm>
            <a:off x="4876800" y="5838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76" name="Oval 28"/>
          <p:cNvSpPr>
            <a:spLocks noChangeArrowheads="1"/>
          </p:cNvSpPr>
          <p:nvPr/>
        </p:nvSpPr>
        <p:spPr bwMode="auto">
          <a:xfrm>
            <a:off x="5067300" y="5838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77" name="Oval 29"/>
          <p:cNvSpPr>
            <a:spLocks noChangeArrowheads="1"/>
          </p:cNvSpPr>
          <p:nvPr/>
        </p:nvSpPr>
        <p:spPr bwMode="auto">
          <a:xfrm>
            <a:off x="5257800" y="6410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78" name="Oval 30"/>
          <p:cNvSpPr>
            <a:spLocks noChangeArrowheads="1"/>
          </p:cNvSpPr>
          <p:nvPr/>
        </p:nvSpPr>
        <p:spPr bwMode="auto">
          <a:xfrm>
            <a:off x="5448300" y="6410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79" name="Oval 31"/>
          <p:cNvSpPr>
            <a:spLocks noChangeArrowheads="1"/>
          </p:cNvSpPr>
          <p:nvPr/>
        </p:nvSpPr>
        <p:spPr bwMode="auto">
          <a:xfrm>
            <a:off x="5257800" y="6219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80" name="Oval 32"/>
          <p:cNvSpPr>
            <a:spLocks noChangeArrowheads="1"/>
          </p:cNvSpPr>
          <p:nvPr/>
        </p:nvSpPr>
        <p:spPr bwMode="auto">
          <a:xfrm>
            <a:off x="5448300" y="6219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81" name="Oval 33"/>
          <p:cNvSpPr>
            <a:spLocks noChangeArrowheads="1"/>
          </p:cNvSpPr>
          <p:nvPr/>
        </p:nvSpPr>
        <p:spPr bwMode="auto">
          <a:xfrm>
            <a:off x="5248275" y="5638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82" name="Oval 34"/>
          <p:cNvSpPr>
            <a:spLocks noChangeArrowheads="1"/>
          </p:cNvSpPr>
          <p:nvPr/>
        </p:nvSpPr>
        <p:spPr bwMode="auto">
          <a:xfrm>
            <a:off x="5438775" y="5638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83" name="Oval 35"/>
          <p:cNvSpPr>
            <a:spLocks noChangeArrowheads="1"/>
          </p:cNvSpPr>
          <p:nvPr/>
        </p:nvSpPr>
        <p:spPr bwMode="auto">
          <a:xfrm>
            <a:off x="5248275" y="6029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84" name="Oval 36"/>
          <p:cNvSpPr>
            <a:spLocks noChangeArrowheads="1"/>
          </p:cNvSpPr>
          <p:nvPr/>
        </p:nvSpPr>
        <p:spPr bwMode="auto">
          <a:xfrm>
            <a:off x="5438775" y="6029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85" name="Oval 37"/>
          <p:cNvSpPr>
            <a:spLocks noChangeArrowheads="1"/>
          </p:cNvSpPr>
          <p:nvPr/>
        </p:nvSpPr>
        <p:spPr bwMode="auto">
          <a:xfrm>
            <a:off x="5248275" y="5838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86" name="Oval 38"/>
          <p:cNvSpPr>
            <a:spLocks noChangeArrowheads="1"/>
          </p:cNvSpPr>
          <p:nvPr/>
        </p:nvSpPr>
        <p:spPr bwMode="auto">
          <a:xfrm>
            <a:off x="5438775" y="5838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87" name="Oval 39"/>
          <p:cNvSpPr>
            <a:spLocks noChangeArrowheads="1"/>
          </p:cNvSpPr>
          <p:nvPr/>
        </p:nvSpPr>
        <p:spPr bwMode="auto">
          <a:xfrm>
            <a:off x="923925" y="6400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88" name="Oval 40"/>
          <p:cNvSpPr>
            <a:spLocks noChangeArrowheads="1"/>
          </p:cNvSpPr>
          <p:nvPr/>
        </p:nvSpPr>
        <p:spPr bwMode="auto">
          <a:xfrm>
            <a:off x="1114425" y="6400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89" name="Oval 41"/>
          <p:cNvSpPr>
            <a:spLocks noChangeArrowheads="1"/>
          </p:cNvSpPr>
          <p:nvPr/>
        </p:nvSpPr>
        <p:spPr bwMode="auto">
          <a:xfrm>
            <a:off x="923925" y="62103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90" name="Oval 42"/>
          <p:cNvSpPr>
            <a:spLocks noChangeArrowheads="1"/>
          </p:cNvSpPr>
          <p:nvPr/>
        </p:nvSpPr>
        <p:spPr bwMode="auto">
          <a:xfrm>
            <a:off x="1114425" y="62103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91" name="Oval 43"/>
          <p:cNvSpPr>
            <a:spLocks noChangeArrowheads="1"/>
          </p:cNvSpPr>
          <p:nvPr/>
        </p:nvSpPr>
        <p:spPr bwMode="auto">
          <a:xfrm>
            <a:off x="914400" y="56292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92" name="Oval 44"/>
          <p:cNvSpPr>
            <a:spLocks noChangeArrowheads="1"/>
          </p:cNvSpPr>
          <p:nvPr/>
        </p:nvSpPr>
        <p:spPr bwMode="auto">
          <a:xfrm>
            <a:off x="1104900" y="56292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93" name="Oval 45"/>
          <p:cNvSpPr>
            <a:spLocks noChangeArrowheads="1"/>
          </p:cNvSpPr>
          <p:nvPr/>
        </p:nvSpPr>
        <p:spPr bwMode="auto">
          <a:xfrm>
            <a:off x="914400" y="6019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94" name="Oval 46"/>
          <p:cNvSpPr>
            <a:spLocks noChangeArrowheads="1"/>
          </p:cNvSpPr>
          <p:nvPr/>
        </p:nvSpPr>
        <p:spPr bwMode="auto">
          <a:xfrm>
            <a:off x="1104900" y="6019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95" name="Oval 47"/>
          <p:cNvSpPr>
            <a:spLocks noChangeArrowheads="1"/>
          </p:cNvSpPr>
          <p:nvPr/>
        </p:nvSpPr>
        <p:spPr bwMode="auto">
          <a:xfrm>
            <a:off x="914400" y="58293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96" name="Oval 48"/>
          <p:cNvSpPr>
            <a:spLocks noChangeArrowheads="1"/>
          </p:cNvSpPr>
          <p:nvPr/>
        </p:nvSpPr>
        <p:spPr bwMode="auto">
          <a:xfrm>
            <a:off x="1104900" y="58293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97" name="Oval 49"/>
          <p:cNvSpPr>
            <a:spLocks noChangeArrowheads="1"/>
          </p:cNvSpPr>
          <p:nvPr/>
        </p:nvSpPr>
        <p:spPr bwMode="auto">
          <a:xfrm>
            <a:off x="1295400" y="6400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98" name="Oval 50"/>
          <p:cNvSpPr>
            <a:spLocks noChangeArrowheads="1"/>
          </p:cNvSpPr>
          <p:nvPr/>
        </p:nvSpPr>
        <p:spPr bwMode="auto">
          <a:xfrm>
            <a:off x="1485900" y="6400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299" name="Oval 51"/>
          <p:cNvSpPr>
            <a:spLocks noChangeArrowheads="1"/>
          </p:cNvSpPr>
          <p:nvPr/>
        </p:nvSpPr>
        <p:spPr bwMode="auto">
          <a:xfrm>
            <a:off x="1295400" y="62103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00" name="Oval 52"/>
          <p:cNvSpPr>
            <a:spLocks noChangeArrowheads="1"/>
          </p:cNvSpPr>
          <p:nvPr/>
        </p:nvSpPr>
        <p:spPr bwMode="auto">
          <a:xfrm>
            <a:off x="1485900" y="62103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01" name="Oval 53"/>
          <p:cNvSpPr>
            <a:spLocks noChangeArrowheads="1"/>
          </p:cNvSpPr>
          <p:nvPr/>
        </p:nvSpPr>
        <p:spPr bwMode="auto">
          <a:xfrm>
            <a:off x="1285875" y="56292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02" name="Oval 54"/>
          <p:cNvSpPr>
            <a:spLocks noChangeArrowheads="1"/>
          </p:cNvSpPr>
          <p:nvPr/>
        </p:nvSpPr>
        <p:spPr bwMode="auto">
          <a:xfrm>
            <a:off x="1476375" y="562927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03" name="Oval 55"/>
          <p:cNvSpPr>
            <a:spLocks noChangeArrowheads="1"/>
          </p:cNvSpPr>
          <p:nvPr/>
        </p:nvSpPr>
        <p:spPr bwMode="auto">
          <a:xfrm>
            <a:off x="1285875" y="6019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04" name="Oval 56"/>
          <p:cNvSpPr>
            <a:spLocks noChangeArrowheads="1"/>
          </p:cNvSpPr>
          <p:nvPr/>
        </p:nvSpPr>
        <p:spPr bwMode="auto">
          <a:xfrm>
            <a:off x="1476375" y="6019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05" name="Oval 57"/>
          <p:cNvSpPr>
            <a:spLocks noChangeArrowheads="1"/>
          </p:cNvSpPr>
          <p:nvPr/>
        </p:nvSpPr>
        <p:spPr bwMode="auto">
          <a:xfrm>
            <a:off x="1285875" y="58293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06" name="Oval 58"/>
          <p:cNvSpPr>
            <a:spLocks noChangeArrowheads="1"/>
          </p:cNvSpPr>
          <p:nvPr/>
        </p:nvSpPr>
        <p:spPr bwMode="auto">
          <a:xfrm>
            <a:off x="1476375" y="58293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07" name="Oval 59"/>
          <p:cNvSpPr>
            <a:spLocks noChangeArrowheads="1"/>
          </p:cNvSpPr>
          <p:nvPr/>
        </p:nvSpPr>
        <p:spPr bwMode="auto">
          <a:xfrm>
            <a:off x="6638925" y="6410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08" name="Oval 60"/>
          <p:cNvSpPr>
            <a:spLocks noChangeArrowheads="1"/>
          </p:cNvSpPr>
          <p:nvPr/>
        </p:nvSpPr>
        <p:spPr bwMode="auto">
          <a:xfrm>
            <a:off x="6829425" y="6410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09" name="Oval 61"/>
          <p:cNvSpPr>
            <a:spLocks noChangeArrowheads="1"/>
          </p:cNvSpPr>
          <p:nvPr/>
        </p:nvSpPr>
        <p:spPr bwMode="auto">
          <a:xfrm>
            <a:off x="6638925" y="6219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10" name="Oval 62"/>
          <p:cNvSpPr>
            <a:spLocks noChangeArrowheads="1"/>
          </p:cNvSpPr>
          <p:nvPr/>
        </p:nvSpPr>
        <p:spPr bwMode="auto">
          <a:xfrm>
            <a:off x="6829425" y="6219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11" name="Oval 63"/>
          <p:cNvSpPr>
            <a:spLocks noChangeArrowheads="1"/>
          </p:cNvSpPr>
          <p:nvPr/>
        </p:nvSpPr>
        <p:spPr bwMode="auto">
          <a:xfrm>
            <a:off x="6629400" y="5638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12" name="Oval 64"/>
          <p:cNvSpPr>
            <a:spLocks noChangeArrowheads="1"/>
          </p:cNvSpPr>
          <p:nvPr/>
        </p:nvSpPr>
        <p:spPr bwMode="auto">
          <a:xfrm>
            <a:off x="6819900" y="5638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13" name="Oval 65"/>
          <p:cNvSpPr>
            <a:spLocks noChangeArrowheads="1"/>
          </p:cNvSpPr>
          <p:nvPr/>
        </p:nvSpPr>
        <p:spPr bwMode="auto">
          <a:xfrm>
            <a:off x="6629400" y="6029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14" name="Oval 66"/>
          <p:cNvSpPr>
            <a:spLocks noChangeArrowheads="1"/>
          </p:cNvSpPr>
          <p:nvPr/>
        </p:nvSpPr>
        <p:spPr bwMode="auto">
          <a:xfrm>
            <a:off x="6819900" y="6029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15" name="Oval 67"/>
          <p:cNvSpPr>
            <a:spLocks noChangeArrowheads="1"/>
          </p:cNvSpPr>
          <p:nvPr/>
        </p:nvSpPr>
        <p:spPr bwMode="auto">
          <a:xfrm>
            <a:off x="6629400" y="5838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16" name="Oval 68"/>
          <p:cNvSpPr>
            <a:spLocks noChangeArrowheads="1"/>
          </p:cNvSpPr>
          <p:nvPr/>
        </p:nvSpPr>
        <p:spPr bwMode="auto">
          <a:xfrm>
            <a:off x="6819900" y="5838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17" name="Oval 69"/>
          <p:cNvSpPr>
            <a:spLocks noChangeArrowheads="1"/>
          </p:cNvSpPr>
          <p:nvPr/>
        </p:nvSpPr>
        <p:spPr bwMode="auto">
          <a:xfrm>
            <a:off x="7010400" y="6410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18" name="Oval 70"/>
          <p:cNvSpPr>
            <a:spLocks noChangeArrowheads="1"/>
          </p:cNvSpPr>
          <p:nvPr/>
        </p:nvSpPr>
        <p:spPr bwMode="auto">
          <a:xfrm>
            <a:off x="7200900" y="6410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19" name="Oval 71"/>
          <p:cNvSpPr>
            <a:spLocks noChangeArrowheads="1"/>
          </p:cNvSpPr>
          <p:nvPr/>
        </p:nvSpPr>
        <p:spPr bwMode="auto">
          <a:xfrm>
            <a:off x="7010400" y="6219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20" name="Oval 72"/>
          <p:cNvSpPr>
            <a:spLocks noChangeArrowheads="1"/>
          </p:cNvSpPr>
          <p:nvPr/>
        </p:nvSpPr>
        <p:spPr bwMode="auto">
          <a:xfrm>
            <a:off x="7200900" y="6219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21" name="Oval 73"/>
          <p:cNvSpPr>
            <a:spLocks noChangeArrowheads="1"/>
          </p:cNvSpPr>
          <p:nvPr/>
        </p:nvSpPr>
        <p:spPr bwMode="auto">
          <a:xfrm>
            <a:off x="7000875" y="5638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22" name="Oval 74"/>
          <p:cNvSpPr>
            <a:spLocks noChangeArrowheads="1"/>
          </p:cNvSpPr>
          <p:nvPr/>
        </p:nvSpPr>
        <p:spPr bwMode="auto">
          <a:xfrm>
            <a:off x="7191375" y="5638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23" name="Oval 75"/>
          <p:cNvSpPr>
            <a:spLocks noChangeArrowheads="1"/>
          </p:cNvSpPr>
          <p:nvPr/>
        </p:nvSpPr>
        <p:spPr bwMode="auto">
          <a:xfrm>
            <a:off x="7000875" y="6029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24" name="Oval 76"/>
          <p:cNvSpPr>
            <a:spLocks noChangeArrowheads="1"/>
          </p:cNvSpPr>
          <p:nvPr/>
        </p:nvSpPr>
        <p:spPr bwMode="auto">
          <a:xfrm>
            <a:off x="7191375" y="60293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25" name="Oval 77"/>
          <p:cNvSpPr>
            <a:spLocks noChangeArrowheads="1"/>
          </p:cNvSpPr>
          <p:nvPr/>
        </p:nvSpPr>
        <p:spPr bwMode="auto">
          <a:xfrm>
            <a:off x="7000875" y="5838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26" name="Oval 78"/>
          <p:cNvSpPr>
            <a:spLocks noChangeArrowheads="1"/>
          </p:cNvSpPr>
          <p:nvPr/>
        </p:nvSpPr>
        <p:spPr bwMode="auto">
          <a:xfrm>
            <a:off x="7191375" y="58388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27" name="Oval 79"/>
          <p:cNvSpPr>
            <a:spLocks noChangeArrowheads="1"/>
          </p:cNvSpPr>
          <p:nvPr/>
        </p:nvSpPr>
        <p:spPr bwMode="auto">
          <a:xfrm>
            <a:off x="2867025" y="64103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28" name="Oval 80"/>
          <p:cNvSpPr>
            <a:spLocks noChangeArrowheads="1"/>
          </p:cNvSpPr>
          <p:nvPr/>
        </p:nvSpPr>
        <p:spPr bwMode="auto">
          <a:xfrm>
            <a:off x="3057525" y="64103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29" name="Oval 81"/>
          <p:cNvSpPr>
            <a:spLocks noChangeArrowheads="1"/>
          </p:cNvSpPr>
          <p:nvPr/>
        </p:nvSpPr>
        <p:spPr bwMode="auto">
          <a:xfrm>
            <a:off x="2867025" y="62198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30" name="Oval 82"/>
          <p:cNvSpPr>
            <a:spLocks noChangeArrowheads="1"/>
          </p:cNvSpPr>
          <p:nvPr/>
        </p:nvSpPr>
        <p:spPr bwMode="auto">
          <a:xfrm>
            <a:off x="3057525" y="62198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31" name="Oval 83"/>
          <p:cNvSpPr>
            <a:spLocks noChangeArrowheads="1"/>
          </p:cNvSpPr>
          <p:nvPr/>
        </p:nvSpPr>
        <p:spPr bwMode="auto">
          <a:xfrm>
            <a:off x="2857500" y="5638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32" name="Oval 84"/>
          <p:cNvSpPr>
            <a:spLocks noChangeArrowheads="1"/>
          </p:cNvSpPr>
          <p:nvPr/>
        </p:nvSpPr>
        <p:spPr bwMode="auto">
          <a:xfrm>
            <a:off x="3048000" y="5638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33" name="Oval 85"/>
          <p:cNvSpPr>
            <a:spLocks noChangeArrowheads="1"/>
          </p:cNvSpPr>
          <p:nvPr/>
        </p:nvSpPr>
        <p:spPr bwMode="auto">
          <a:xfrm>
            <a:off x="2857500" y="60293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34" name="Oval 86"/>
          <p:cNvSpPr>
            <a:spLocks noChangeArrowheads="1"/>
          </p:cNvSpPr>
          <p:nvPr/>
        </p:nvSpPr>
        <p:spPr bwMode="auto">
          <a:xfrm>
            <a:off x="3048000" y="60293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35" name="Oval 87"/>
          <p:cNvSpPr>
            <a:spLocks noChangeArrowheads="1"/>
          </p:cNvSpPr>
          <p:nvPr/>
        </p:nvSpPr>
        <p:spPr bwMode="auto">
          <a:xfrm>
            <a:off x="2857500" y="58388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36" name="Oval 88"/>
          <p:cNvSpPr>
            <a:spLocks noChangeArrowheads="1"/>
          </p:cNvSpPr>
          <p:nvPr/>
        </p:nvSpPr>
        <p:spPr bwMode="auto">
          <a:xfrm>
            <a:off x="3048000" y="58388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37" name="Oval 89"/>
          <p:cNvSpPr>
            <a:spLocks noChangeArrowheads="1"/>
          </p:cNvSpPr>
          <p:nvPr/>
        </p:nvSpPr>
        <p:spPr bwMode="auto">
          <a:xfrm>
            <a:off x="3238500" y="64103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38" name="Oval 90"/>
          <p:cNvSpPr>
            <a:spLocks noChangeArrowheads="1"/>
          </p:cNvSpPr>
          <p:nvPr/>
        </p:nvSpPr>
        <p:spPr bwMode="auto">
          <a:xfrm>
            <a:off x="3429000" y="64103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39" name="Oval 91"/>
          <p:cNvSpPr>
            <a:spLocks noChangeArrowheads="1"/>
          </p:cNvSpPr>
          <p:nvPr/>
        </p:nvSpPr>
        <p:spPr bwMode="auto">
          <a:xfrm>
            <a:off x="3238500" y="62198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40" name="Oval 92"/>
          <p:cNvSpPr>
            <a:spLocks noChangeArrowheads="1"/>
          </p:cNvSpPr>
          <p:nvPr/>
        </p:nvSpPr>
        <p:spPr bwMode="auto">
          <a:xfrm>
            <a:off x="3429000" y="62198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41" name="Oval 93"/>
          <p:cNvSpPr>
            <a:spLocks noChangeArrowheads="1"/>
          </p:cNvSpPr>
          <p:nvPr/>
        </p:nvSpPr>
        <p:spPr bwMode="auto">
          <a:xfrm>
            <a:off x="3228975" y="5638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42" name="Oval 94"/>
          <p:cNvSpPr>
            <a:spLocks noChangeArrowheads="1"/>
          </p:cNvSpPr>
          <p:nvPr/>
        </p:nvSpPr>
        <p:spPr bwMode="auto">
          <a:xfrm>
            <a:off x="3419475" y="5638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43" name="Oval 95"/>
          <p:cNvSpPr>
            <a:spLocks noChangeArrowheads="1"/>
          </p:cNvSpPr>
          <p:nvPr/>
        </p:nvSpPr>
        <p:spPr bwMode="auto">
          <a:xfrm>
            <a:off x="3228975" y="60293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44" name="Oval 96"/>
          <p:cNvSpPr>
            <a:spLocks noChangeArrowheads="1"/>
          </p:cNvSpPr>
          <p:nvPr/>
        </p:nvSpPr>
        <p:spPr bwMode="auto">
          <a:xfrm>
            <a:off x="3419475" y="60293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45" name="Oval 97"/>
          <p:cNvSpPr>
            <a:spLocks noChangeArrowheads="1"/>
          </p:cNvSpPr>
          <p:nvPr/>
        </p:nvSpPr>
        <p:spPr bwMode="auto">
          <a:xfrm>
            <a:off x="3228975" y="58388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9346" name="Oval 98"/>
          <p:cNvSpPr>
            <a:spLocks noChangeArrowheads="1"/>
          </p:cNvSpPr>
          <p:nvPr/>
        </p:nvSpPr>
        <p:spPr bwMode="auto">
          <a:xfrm>
            <a:off x="3419475" y="5838825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" name="Text Box 2"/>
          <p:cNvSpPr txBox="1">
            <a:spLocks noChangeArrowheads="1"/>
          </p:cNvSpPr>
          <p:nvPr/>
        </p:nvSpPr>
        <p:spPr bwMode="auto">
          <a:xfrm>
            <a:off x="4800600" y="381000"/>
            <a:ext cx="518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2400" dirty="0">
                <a:latin typeface="Times New Roman"/>
                <a:cs typeface="Times New Roman"/>
              </a:rPr>
              <a:t>log(</a:t>
            </a:r>
            <a:r>
              <a:rPr lang="el-GR" sz="2400" dirty="0">
                <a:latin typeface="Times New Roman"/>
                <a:cs typeface="Times New Roman"/>
              </a:rPr>
              <a:t>α</a:t>
            </a:r>
            <a:r>
              <a:rPr lang="en-US" sz="2400" dirty="0">
                <a:latin typeface="Times New Roman"/>
                <a:cs typeface="Times New Roman"/>
              </a:rPr>
              <a:t>)  </a:t>
            </a:r>
            <a:r>
              <a:rPr lang="en-US" sz="2400" dirty="0"/>
              <a:t>(within-bag variability)</a:t>
            </a:r>
            <a:endParaRPr lang="el-GR" sz="2400" dirty="0"/>
          </a:p>
        </p:txBody>
      </p:sp>
      <p:sp>
        <p:nvSpPr>
          <p:cNvPr id="100" name="Text Box 3"/>
          <p:cNvSpPr txBox="1">
            <a:spLocks noChangeArrowheads="1"/>
          </p:cNvSpPr>
          <p:nvPr/>
        </p:nvSpPr>
        <p:spPr bwMode="auto">
          <a:xfrm>
            <a:off x="4876800" y="1828800"/>
            <a:ext cx="518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l-GR" sz="2400" dirty="0">
                <a:latin typeface="Times New Roman"/>
                <a:cs typeface="Times New Roman"/>
              </a:rPr>
              <a:t>β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/>
              <a:t>	 (population proportion)</a:t>
            </a:r>
            <a:endParaRPr lang="el-GR" sz="2400" dirty="0"/>
          </a:p>
        </p:txBody>
      </p:sp>
      <p:sp>
        <p:nvSpPr>
          <p:cNvPr id="101" name="Text Box 4"/>
          <p:cNvSpPr txBox="1">
            <a:spLocks noChangeArrowheads="1"/>
          </p:cNvSpPr>
          <p:nvPr/>
        </p:nvSpPr>
        <p:spPr bwMode="auto">
          <a:xfrm>
            <a:off x="1905000" y="5043488"/>
            <a:ext cx="5016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 dirty="0">
                <a:latin typeface="Times New Roman"/>
                <a:cs typeface="Times New Roman"/>
              </a:rPr>
              <a:t>θ</a:t>
            </a:r>
            <a:r>
              <a:rPr lang="en-US" sz="2400" i="1" baseline="-10000" dirty="0"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02" name="Text Box 5"/>
          <p:cNvSpPr txBox="1">
            <a:spLocks noChangeArrowheads="1"/>
          </p:cNvSpPr>
          <p:nvPr/>
        </p:nvSpPr>
        <p:spPr bwMode="auto">
          <a:xfrm>
            <a:off x="3657600" y="5029200"/>
            <a:ext cx="5016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>
                <a:latin typeface="Times New Roman"/>
                <a:cs typeface="Times New Roman"/>
              </a:rPr>
              <a:t>θ</a:t>
            </a:r>
            <a:r>
              <a:rPr lang="en-US" sz="2400" i="1" baseline="-10000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03" name="Text Box 6"/>
          <p:cNvSpPr txBox="1">
            <a:spLocks noChangeArrowheads="1"/>
          </p:cNvSpPr>
          <p:nvPr/>
        </p:nvSpPr>
        <p:spPr bwMode="auto">
          <a:xfrm>
            <a:off x="5715000" y="5029200"/>
            <a:ext cx="5016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>
                <a:latin typeface="Times New Roman"/>
                <a:cs typeface="Times New Roman"/>
              </a:rPr>
              <a:t>θ</a:t>
            </a:r>
            <a:r>
              <a:rPr lang="en-US" sz="2400" i="1" baseline="-10000"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04" name="Text Box 7"/>
          <p:cNvSpPr txBox="1">
            <a:spLocks noChangeArrowheads="1"/>
          </p:cNvSpPr>
          <p:nvPr/>
        </p:nvSpPr>
        <p:spPr bwMode="auto">
          <a:xfrm>
            <a:off x="7488238" y="5029200"/>
            <a:ext cx="5016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i="1">
                <a:latin typeface="Times New Roman"/>
                <a:cs typeface="Times New Roman"/>
              </a:rPr>
              <a:t>θ</a:t>
            </a:r>
            <a:r>
              <a:rPr lang="en-US" sz="2400" i="1" baseline="-10000"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0846" y="854378"/>
            <a:ext cx="23008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Remember: negative logs of small probabilities are very tiny #s!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2636706" y="1333114"/>
            <a:ext cx="830793" cy="7463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00675" y="2349256"/>
            <a:ext cx="3289138" cy="8309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You will implement this for Assignment 3!</a:t>
            </a:r>
          </a:p>
        </p:txBody>
      </p:sp>
    </p:spTree>
    <p:extLst>
      <p:ext uri="{BB962C8B-B14F-4D97-AF65-F5344CB8AC3E}">
        <p14:creationId xmlns:p14="http://schemas.microsoft.com/office/powerpoint/2010/main" val="370684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9667-E116-A0BB-7CA6-4ABD4B44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4E9D-4084-0C79-772F-BB4FC7297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Hierarchical Bayesian Modeling</a:t>
            </a:r>
          </a:p>
          <a:p>
            <a:r>
              <a:rPr lang="en-US" dirty="0"/>
              <a:t>Bayesian Networks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Jess presenting Kemp et al. (2007)</a:t>
            </a:r>
          </a:p>
          <a:p>
            <a:pPr lvl="1"/>
            <a:r>
              <a:rPr lang="en-US" dirty="0"/>
              <a:t>Neha presenting Zhu et al. (2007)</a:t>
            </a:r>
          </a:p>
        </p:txBody>
      </p:sp>
    </p:spTree>
    <p:extLst>
      <p:ext uri="{BB962C8B-B14F-4D97-AF65-F5344CB8AC3E}">
        <p14:creationId xmlns:p14="http://schemas.microsoft.com/office/powerpoint/2010/main" val="860484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C9305-3101-13AF-9A30-9762442AC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C3AA0-26FE-15A6-CCB0-2CC33BDF8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Hierarchical Bayesian Modeling</a:t>
            </a:r>
          </a:p>
          <a:p>
            <a:r>
              <a:rPr lang="en-US" dirty="0"/>
              <a:t>Bayesian Networks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Jess presenting Kemp et al. (2007)</a:t>
            </a:r>
          </a:p>
          <a:p>
            <a:pPr lvl="1"/>
            <a:r>
              <a:rPr lang="en-US" dirty="0"/>
              <a:t>Neha presenting Zhu et al. (2007)</a:t>
            </a:r>
          </a:p>
        </p:txBody>
      </p:sp>
    </p:spTree>
    <p:extLst>
      <p:ext uri="{BB962C8B-B14F-4D97-AF65-F5344CB8AC3E}">
        <p14:creationId xmlns:p14="http://schemas.microsoft.com/office/powerpoint/2010/main" val="3041356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"/>
            <a:ext cx="8382000" cy="1143000"/>
          </a:xfrm>
        </p:spPr>
        <p:txBody>
          <a:bodyPr/>
          <a:lstStyle/>
          <a:p>
            <a:r>
              <a:rPr lang="en-US" dirty="0"/>
              <a:t>Challenges of probabilistic models</a:t>
            </a:r>
          </a:p>
        </p:txBody>
      </p:sp>
      <p:sp>
        <p:nvSpPr>
          <p:cNvPr id="82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81100"/>
            <a:ext cx="8305800" cy="53246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Specifying well-defined probabilistic models with many variables is hard (for modelers).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Representing probability distributions over those variables is hard (for computers/learners).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Computing quantities using those distributions is hard (for computers/learners).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4493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2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"/>
            <a:ext cx="8382000" cy="1143000"/>
          </a:xfrm>
        </p:spPr>
        <p:txBody>
          <a:bodyPr/>
          <a:lstStyle/>
          <a:p>
            <a:r>
              <a:rPr lang="en-US" dirty="0"/>
              <a:t>Challenges of probabilistic models</a:t>
            </a:r>
          </a:p>
        </p:txBody>
      </p:sp>
      <p:sp>
        <p:nvSpPr>
          <p:cNvPr id="82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81100"/>
            <a:ext cx="8686800" cy="5324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Specifying well-defined probabilistic models with many variables is hard (for modelers).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b="1" dirty="0"/>
              <a:t>Representing probability distributions over those variables is hard (for computers/learners).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b="1" dirty="0"/>
              <a:t>Computing quantities using those distributions is hard (for computers/learners).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0440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2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"/>
            <a:ext cx="8839200" cy="1143000"/>
          </a:xfrm>
        </p:spPr>
        <p:txBody>
          <a:bodyPr/>
          <a:lstStyle/>
          <a:p>
            <a:r>
              <a:rPr lang="en-US" sz="4000" dirty="0"/>
              <a:t>How do we use fewer numbers?</a:t>
            </a:r>
            <a:endParaRPr lang="en-US" dirty="0"/>
          </a:p>
        </p:txBody>
      </p:sp>
      <p:sp>
        <p:nvSpPr>
          <p:cNvPr id="87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305800" cy="41910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One random variable: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i="1" dirty="0"/>
              <a:t>	X</a:t>
            </a:r>
            <a:r>
              <a:rPr lang="en-US" baseline="-25000" dirty="0"/>
              <a:t>1</a:t>
            </a:r>
            <a:r>
              <a:rPr lang="en-US" dirty="0"/>
              <a:t>	coin toss produces heads</a:t>
            </a:r>
          </a:p>
        </p:txBody>
      </p:sp>
      <p:sp>
        <p:nvSpPr>
          <p:cNvPr id="877572" name="Text Box 4"/>
          <p:cNvSpPr txBox="1">
            <a:spLocks noChangeArrowheads="1"/>
          </p:cNvSpPr>
          <p:nvPr/>
        </p:nvSpPr>
        <p:spPr bwMode="auto">
          <a:xfrm>
            <a:off x="7090204" y="1981200"/>
            <a:ext cx="1519967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cs typeface="ＭＳ Ｐゴシック" charset="0"/>
              </a:rPr>
              <a:t>Domain</a:t>
            </a:r>
            <a:endParaRPr lang="en-US" sz="1400" b="1" dirty="0">
              <a:cs typeface="ＭＳ Ｐゴシック" charset="0"/>
            </a:endParaRPr>
          </a:p>
          <a:p>
            <a:pPr algn="ctr"/>
            <a:endParaRPr lang="en-US" sz="1400" dirty="0">
              <a:cs typeface="ＭＳ Ｐゴシック" charset="0"/>
            </a:endParaRPr>
          </a:p>
          <a:p>
            <a:pPr algn="ctr"/>
            <a:endParaRPr lang="en-US" sz="1400" dirty="0">
              <a:cs typeface="ＭＳ Ｐゴシック" charset="0"/>
            </a:endParaRPr>
          </a:p>
          <a:p>
            <a:pPr algn="ctr"/>
            <a:endParaRPr lang="en-US" sz="1000" dirty="0">
              <a:cs typeface="ＭＳ Ｐゴシック" charset="0"/>
            </a:endParaRPr>
          </a:p>
          <a:p>
            <a:pPr algn="ctr"/>
            <a:r>
              <a:rPr lang="en-US" sz="4000" dirty="0">
                <a:cs typeface="ＭＳ Ｐゴシック" charset="0"/>
              </a:rPr>
              <a:t>{0,1}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1B634-8EA5-BD4B-AFE5-681F876298ED}"/>
              </a:ext>
            </a:extLst>
          </p:cNvPr>
          <p:cNvSpPr txBox="1"/>
          <p:nvPr/>
        </p:nvSpPr>
        <p:spPr>
          <a:xfrm>
            <a:off x="740979" y="4566404"/>
            <a:ext cx="80220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I know probability of heads, can I have any value for the probability of tails?</a:t>
            </a:r>
          </a:p>
          <a:p>
            <a:r>
              <a:rPr lang="en-US" sz="2800" dirty="0"/>
              <a:t>	No, it must be 1 – probability of heads.</a:t>
            </a:r>
          </a:p>
        </p:txBody>
      </p:sp>
    </p:spTree>
    <p:extLst>
      <p:ext uri="{BB962C8B-B14F-4D97-AF65-F5344CB8AC3E}">
        <p14:creationId xmlns:p14="http://schemas.microsoft.com/office/powerpoint/2010/main" val="166223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"/>
            <a:ext cx="8839200" cy="1143000"/>
          </a:xfrm>
        </p:spPr>
        <p:txBody>
          <a:bodyPr/>
          <a:lstStyle/>
          <a:p>
            <a:r>
              <a:rPr lang="en-US" sz="4000" dirty="0"/>
              <a:t>How do we use fewer numbers?</a:t>
            </a:r>
            <a:endParaRPr lang="en-US" dirty="0"/>
          </a:p>
        </p:txBody>
      </p:sp>
      <p:sp>
        <p:nvSpPr>
          <p:cNvPr id="87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305800" cy="4608786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Two random variables: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i="1" dirty="0"/>
              <a:t>	X</a:t>
            </a:r>
            <a:r>
              <a:rPr lang="en-US" baseline="-25000" dirty="0"/>
              <a:t>1</a:t>
            </a:r>
            <a:r>
              <a:rPr lang="en-US" dirty="0"/>
              <a:t>	coin toss produces heads</a:t>
            </a:r>
          </a:p>
          <a:p>
            <a:pPr>
              <a:buFontTx/>
              <a:buNone/>
            </a:pPr>
            <a:r>
              <a:rPr lang="en-US" i="1" dirty="0"/>
              <a:t>	X</a:t>
            </a:r>
            <a:r>
              <a:rPr lang="en-US" baseline="-25000" dirty="0"/>
              <a:t>4</a:t>
            </a:r>
            <a:r>
              <a:rPr lang="en-US" dirty="0"/>
              <a:t>	friend has two-headed coin</a:t>
            </a:r>
          </a:p>
          <a:p>
            <a:pPr>
              <a:buFontTx/>
              <a:buNone/>
            </a:pPr>
            <a:endParaRPr lang="en-US" sz="1600" dirty="0"/>
          </a:p>
          <a:p>
            <a:pPr>
              <a:buFontTx/>
              <a:buNone/>
            </a:pPr>
            <a:r>
              <a:rPr lang="en-US" sz="2800" dirty="0"/>
              <a:t>Friend is equally likely to have normal or fixed coin.</a:t>
            </a:r>
          </a:p>
          <a:p>
            <a:pPr>
              <a:buFontTx/>
              <a:buNone/>
            </a:pPr>
            <a:r>
              <a:rPr lang="en-US" dirty="0"/>
              <a:t>P(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=H,</a:t>
            </a:r>
            <a:r>
              <a:rPr lang="en-US" i="1" dirty="0"/>
              <a:t> X</a:t>
            </a:r>
            <a:r>
              <a:rPr lang="en-US" baseline="-25000" dirty="0"/>
              <a:t>4</a:t>
            </a:r>
            <a:r>
              <a:rPr lang="en-US" dirty="0"/>
              <a:t>=F) = 0.25	P(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=H,</a:t>
            </a:r>
            <a:r>
              <a:rPr lang="en-US" i="1" dirty="0"/>
              <a:t> X</a:t>
            </a:r>
            <a:r>
              <a:rPr lang="en-US" baseline="-25000" dirty="0"/>
              <a:t>4</a:t>
            </a:r>
            <a:r>
              <a:rPr lang="en-US" dirty="0"/>
              <a:t>=T) = 0.5</a:t>
            </a:r>
          </a:p>
          <a:p>
            <a:pPr>
              <a:buFontTx/>
              <a:buNone/>
            </a:pPr>
            <a:r>
              <a:rPr lang="en-US" dirty="0"/>
              <a:t>P(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=T,</a:t>
            </a:r>
            <a:r>
              <a:rPr lang="en-US" i="1" dirty="0"/>
              <a:t> X</a:t>
            </a:r>
            <a:r>
              <a:rPr lang="en-US" baseline="-25000" dirty="0"/>
              <a:t>4</a:t>
            </a:r>
            <a:r>
              <a:rPr lang="en-US" dirty="0"/>
              <a:t>=F) = 0.25	P(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=T,</a:t>
            </a:r>
            <a:r>
              <a:rPr lang="en-US" i="1" dirty="0"/>
              <a:t> X</a:t>
            </a:r>
            <a:r>
              <a:rPr lang="en-US" baseline="-25000" dirty="0"/>
              <a:t>4</a:t>
            </a:r>
            <a:r>
              <a:rPr lang="en-US" dirty="0"/>
              <a:t>=T) = ????</a:t>
            </a:r>
          </a:p>
        </p:txBody>
      </p:sp>
      <p:sp>
        <p:nvSpPr>
          <p:cNvPr id="877572" name="Text Box 4"/>
          <p:cNvSpPr txBox="1">
            <a:spLocks noChangeArrowheads="1"/>
          </p:cNvSpPr>
          <p:nvPr/>
        </p:nvSpPr>
        <p:spPr bwMode="auto">
          <a:xfrm>
            <a:off x="7090204" y="1981200"/>
            <a:ext cx="1519967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cs typeface="ＭＳ Ｐゴシック" charset="0"/>
              </a:rPr>
              <a:t>Domain</a:t>
            </a:r>
            <a:endParaRPr lang="en-US" sz="1400" b="1" dirty="0">
              <a:cs typeface="ＭＳ Ｐゴシック" charset="0"/>
            </a:endParaRPr>
          </a:p>
          <a:p>
            <a:pPr algn="ctr"/>
            <a:endParaRPr lang="en-US" sz="1400" dirty="0">
              <a:cs typeface="ＭＳ Ｐゴシック" charset="0"/>
            </a:endParaRPr>
          </a:p>
          <a:p>
            <a:pPr algn="ctr"/>
            <a:endParaRPr lang="en-US" sz="1400" dirty="0">
              <a:cs typeface="ＭＳ Ｐゴシック" charset="0"/>
            </a:endParaRPr>
          </a:p>
          <a:p>
            <a:pPr algn="ctr"/>
            <a:endParaRPr lang="en-US" sz="1000" dirty="0">
              <a:cs typeface="ＭＳ Ｐゴシック" charset="0"/>
            </a:endParaRPr>
          </a:p>
          <a:p>
            <a:pPr algn="ctr"/>
            <a:r>
              <a:rPr lang="en-US" sz="4000" dirty="0">
                <a:cs typeface="ＭＳ Ｐゴシック" charset="0"/>
              </a:rPr>
              <a:t>{0,1}</a:t>
            </a:r>
          </a:p>
          <a:p>
            <a:pPr algn="ctr"/>
            <a:r>
              <a:rPr lang="en-US" sz="4000" dirty="0">
                <a:cs typeface="ＭＳ Ｐゴシック" charset="0"/>
              </a:rPr>
              <a:t>{0,1}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17A356-8DEC-2E44-9E1C-8F0D8B552702}"/>
              </a:ext>
            </a:extLst>
          </p:cNvPr>
          <p:cNvSpPr/>
          <p:nvPr/>
        </p:nvSpPr>
        <p:spPr>
          <a:xfrm>
            <a:off x="4193626" y="5252564"/>
            <a:ext cx="3389587" cy="4072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D850F9-3A9D-5F49-BCE7-CADD2E4FF266}"/>
              </a:ext>
            </a:extLst>
          </p:cNvPr>
          <p:cNvSpPr/>
          <p:nvPr/>
        </p:nvSpPr>
        <p:spPr>
          <a:xfrm>
            <a:off x="4193625" y="5796476"/>
            <a:ext cx="3389587" cy="541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9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"/>
            <a:ext cx="8839200" cy="1143000"/>
          </a:xfrm>
        </p:spPr>
        <p:txBody>
          <a:bodyPr/>
          <a:lstStyle/>
          <a:p>
            <a:r>
              <a:rPr lang="en-US" sz="4000" dirty="0"/>
              <a:t>How do we use fewer numbers?</a:t>
            </a:r>
            <a:endParaRPr lang="en-US" dirty="0"/>
          </a:p>
        </p:txBody>
      </p:sp>
      <p:sp>
        <p:nvSpPr>
          <p:cNvPr id="87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305800" cy="4608786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Two random variables: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i="1" dirty="0"/>
              <a:t>	X</a:t>
            </a:r>
            <a:r>
              <a:rPr lang="en-US" baseline="-25000" dirty="0"/>
              <a:t>1</a:t>
            </a:r>
            <a:r>
              <a:rPr lang="en-US" dirty="0"/>
              <a:t>	coin toss produces heads</a:t>
            </a:r>
          </a:p>
          <a:p>
            <a:pPr>
              <a:buFontTx/>
              <a:buNone/>
            </a:pPr>
            <a:r>
              <a:rPr lang="en-US" i="1" dirty="0"/>
              <a:t>	X</a:t>
            </a:r>
            <a:r>
              <a:rPr lang="en-US" baseline="-25000" dirty="0"/>
              <a:t>4</a:t>
            </a:r>
            <a:r>
              <a:rPr lang="en-US" dirty="0"/>
              <a:t>	friend has two-headed coin</a:t>
            </a:r>
          </a:p>
          <a:p>
            <a:pPr>
              <a:buFontTx/>
              <a:buNone/>
            </a:pPr>
            <a:endParaRPr lang="en-US" sz="1600" dirty="0"/>
          </a:p>
          <a:p>
            <a:pPr>
              <a:buFontTx/>
              <a:buNone/>
            </a:pPr>
            <a:r>
              <a:rPr lang="en-US" sz="2800" dirty="0"/>
              <a:t>Friend is equally likely to have normal or fixed coin.</a:t>
            </a:r>
          </a:p>
          <a:p>
            <a:pPr>
              <a:buFontTx/>
              <a:buNone/>
            </a:pPr>
            <a:r>
              <a:rPr lang="en-US" dirty="0"/>
              <a:t>P(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=H,</a:t>
            </a:r>
            <a:r>
              <a:rPr lang="en-US" i="1" dirty="0"/>
              <a:t> X</a:t>
            </a:r>
            <a:r>
              <a:rPr lang="en-US" baseline="-25000" dirty="0"/>
              <a:t>4</a:t>
            </a:r>
            <a:r>
              <a:rPr lang="en-US" dirty="0"/>
              <a:t>=F) = 0.25	P(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=H,</a:t>
            </a:r>
            <a:r>
              <a:rPr lang="en-US" i="1" dirty="0"/>
              <a:t> X</a:t>
            </a:r>
            <a:r>
              <a:rPr lang="en-US" baseline="-25000" dirty="0"/>
              <a:t>4</a:t>
            </a:r>
            <a:r>
              <a:rPr lang="en-US" dirty="0"/>
              <a:t>=T) = 0.5</a:t>
            </a:r>
          </a:p>
          <a:p>
            <a:pPr>
              <a:buFontTx/>
              <a:buNone/>
            </a:pPr>
            <a:r>
              <a:rPr lang="en-US" dirty="0"/>
              <a:t>P(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=T,</a:t>
            </a:r>
            <a:r>
              <a:rPr lang="en-US" i="1" dirty="0"/>
              <a:t> X</a:t>
            </a:r>
            <a:r>
              <a:rPr lang="en-US" baseline="-25000" dirty="0"/>
              <a:t>4</a:t>
            </a:r>
            <a:r>
              <a:rPr lang="en-US" dirty="0"/>
              <a:t>=F) = 0.25	P(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=T,</a:t>
            </a:r>
            <a:r>
              <a:rPr lang="en-US" i="1" dirty="0"/>
              <a:t> X</a:t>
            </a:r>
            <a:r>
              <a:rPr lang="en-US" baseline="-25000" dirty="0"/>
              <a:t>4</a:t>
            </a:r>
            <a:r>
              <a:rPr lang="en-US" dirty="0"/>
              <a:t>=T) = 0.0</a:t>
            </a:r>
          </a:p>
        </p:txBody>
      </p:sp>
      <p:sp>
        <p:nvSpPr>
          <p:cNvPr id="877572" name="Text Box 4"/>
          <p:cNvSpPr txBox="1">
            <a:spLocks noChangeArrowheads="1"/>
          </p:cNvSpPr>
          <p:nvPr/>
        </p:nvSpPr>
        <p:spPr bwMode="auto">
          <a:xfrm>
            <a:off x="7090204" y="1981200"/>
            <a:ext cx="1519967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cs typeface="ＭＳ Ｐゴシック" charset="0"/>
              </a:rPr>
              <a:t>Domain</a:t>
            </a:r>
            <a:endParaRPr lang="en-US" sz="1400" b="1" dirty="0">
              <a:cs typeface="ＭＳ Ｐゴシック" charset="0"/>
            </a:endParaRPr>
          </a:p>
          <a:p>
            <a:pPr algn="ctr"/>
            <a:endParaRPr lang="en-US" sz="1400" dirty="0">
              <a:cs typeface="ＭＳ Ｐゴシック" charset="0"/>
            </a:endParaRPr>
          </a:p>
          <a:p>
            <a:pPr algn="ctr"/>
            <a:endParaRPr lang="en-US" sz="1400" dirty="0">
              <a:cs typeface="ＭＳ Ｐゴシック" charset="0"/>
            </a:endParaRPr>
          </a:p>
          <a:p>
            <a:pPr algn="ctr"/>
            <a:endParaRPr lang="en-US" sz="1000" dirty="0">
              <a:cs typeface="ＭＳ Ｐゴシック" charset="0"/>
            </a:endParaRPr>
          </a:p>
          <a:p>
            <a:pPr algn="ctr"/>
            <a:r>
              <a:rPr lang="en-US" sz="4000" dirty="0">
                <a:cs typeface="ＭＳ Ｐゴシック" charset="0"/>
              </a:rPr>
              <a:t>{0,1}</a:t>
            </a:r>
          </a:p>
          <a:p>
            <a:pPr algn="ctr"/>
            <a:r>
              <a:rPr lang="en-US" sz="4000" dirty="0">
                <a:cs typeface="ＭＳ Ｐゴシック" charset="0"/>
              </a:rPr>
              <a:t>{0,1}</a:t>
            </a:r>
          </a:p>
        </p:txBody>
      </p:sp>
    </p:spTree>
    <p:extLst>
      <p:ext uri="{BB962C8B-B14F-4D97-AF65-F5344CB8AC3E}">
        <p14:creationId xmlns:p14="http://schemas.microsoft.com/office/powerpoint/2010/main" val="2062897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"/>
            <a:ext cx="8839200" cy="1143000"/>
          </a:xfrm>
        </p:spPr>
        <p:txBody>
          <a:bodyPr/>
          <a:lstStyle/>
          <a:p>
            <a:r>
              <a:rPr lang="en-US" sz="4000" dirty="0"/>
              <a:t>How do we use fewer numbers?</a:t>
            </a:r>
            <a:endParaRPr lang="en-US" dirty="0"/>
          </a:p>
        </p:txBody>
      </p:sp>
      <p:sp>
        <p:nvSpPr>
          <p:cNvPr id="87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305800" cy="41910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Four random variables: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i="1" dirty="0"/>
              <a:t>	X</a:t>
            </a:r>
            <a:r>
              <a:rPr lang="en-US" baseline="-25000" dirty="0"/>
              <a:t>1</a:t>
            </a:r>
            <a:r>
              <a:rPr lang="en-US" dirty="0"/>
              <a:t>	coin toss produces heads</a:t>
            </a:r>
          </a:p>
          <a:p>
            <a:pPr>
              <a:buFontTx/>
              <a:buNone/>
            </a:pPr>
            <a:r>
              <a:rPr lang="en-US" i="1" dirty="0"/>
              <a:t>	X</a:t>
            </a:r>
            <a:r>
              <a:rPr lang="en-US" baseline="-25000" dirty="0"/>
              <a:t>2</a:t>
            </a:r>
            <a:r>
              <a:rPr lang="en-US" dirty="0"/>
              <a:t>	pencil levitates</a:t>
            </a:r>
          </a:p>
          <a:p>
            <a:pPr>
              <a:buFontTx/>
              <a:buNone/>
            </a:pPr>
            <a:r>
              <a:rPr lang="en-US" i="1" dirty="0"/>
              <a:t>	X</a:t>
            </a:r>
            <a:r>
              <a:rPr lang="en-US" baseline="-25000" dirty="0"/>
              <a:t>3</a:t>
            </a:r>
            <a:r>
              <a:rPr lang="en-US" dirty="0"/>
              <a:t>	friend has psychic powers</a:t>
            </a:r>
          </a:p>
          <a:p>
            <a:pPr>
              <a:buFontTx/>
              <a:buNone/>
            </a:pPr>
            <a:r>
              <a:rPr lang="en-US" i="1" dirty="0"/>
              <a:t>	X</a:t>
            </a:r>
            <a:r>
              <a:rPr lang="en-US" baseline="-25000" dirty="0"/>
              <a:t>4</a:t>
            </a:r>
            <a:r>
              <a:rPr lang="en-US" dirty="0"/>
              <a:t>	friend has two-headed coin</a:t>
            </a:r>
          </a:p>
        </p:txBody>
      </p:sp>
      <p:sp>
        <p:nvSpPr>
          <p:cNvPr id="877572" name="Text Box 4"/>
          <p:cNvSpPr txBox="1">
            <a:spLocks noChangeArrowheads="1"/>
          </p:cNvSpPr>
          <p:nvPr/>
        </p:nvSpPr>
        <p:spPr bwMode="auto">
          <a:xfrm>
            <a:off x="7089503" y="1981200"/>
            <a:ext cx="1521370" cy="3693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cs typeface="ＭＳ Ｐゴシック" charset="0"/>
              </a:rPr>
              <a:t>Domain</a:t>
            </a:r>
            <a:endParaRPr lang="en-US" sz="1400" b="1" dirty="0">
              <a:cs typeface="ＭＳ Ｐゴシック" charset="0"/>
            </a:endParaRPr>
          </a:p>
          <a:p>
            <a:pPr algn="ctr"/>
            <a:endParaRPr lang="en-US" sz="1400" dirty="0">
              <a:cs typeface="ＭＳ Ｐゴシック" charset="0"/>
            </a:endParaRPr>
          </a:p>
          <a:p>
            <a:pPr algn="ctr"/>
            <a:endParaRPr lang="en-US" sz="1400" dirty="0">
              <a:cs typeface="ＭＳ Ｐゴシック" charset="0"/>
            </a:endParaRPr>
          </a:p>
          <a:p>
            <a:pPr algn="ctr"/>
            <a:endParaRPr lang="en-US" sz="1000" dirty="0">
              <a:cs typeface="ＭＳ Ｐゴシック" charset="0"/>
            </a:endParaRPr>
          </a:p>
          <a:p>
            <a:pPr algn="ctr"/>
            <a:r>
              <a:rPr lang="en-US" sz="4000" dirty="0">
                <a:cs typeface="ＭＳ Ｐゴシック" charset="0"/>
              </a:rPr>
              <a:t>{0,1}</a:t>
            </a:r>
          </a:p>
          <a:p>
            <a:pPr algn="ctr"/>
            <a:r>
              <a:rPr lang="en-US" sz="4000" dirty="0">
                <a:cs typeface="ＭＳ Ｐゴシック" charset="0"/>
              </a:rPr>
              <a:t>{0,1}</a:t>
            </a:r>
          </a:p>
          <a:p>
            <a:pPr algn="ctr"/>
            <a:r>
              <a:rPr lang="en-US" sz="4000" dirty="0">
                <a:cs typeface="ＭＳ Ｐゴシック" charset="0"/>
              </a:rPr>
              <a:t>{0,1}</a:t>
            </a:r>
          </a:p>
          <a:p>
            <a:pPr algn="ctr"/>
            <a:r>
              <a:rPr lang="en-US" sz="4000" dirty="0">
                <a:cs typeface="ＭＳ Ｐゴシック" charset="0"/>
              </a:rPr>
              <a:t>{0,1}</a:t>
            </a:r>
            <a:endParaRPr lang="en-US" sz="4000" b="1" dirty="0">
              <a:latin typeface="Arial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420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-609600" y="38100"/>
            <a:ext cx="8839200" cy="1143000"/>
          </a:xfrm>
        </p:spPr>
        <p:txBody>
          <a:bodyPr/>
          <a:lstStyle/>
          <a:p>
            <a:r>
              <a:rPr lang="en-US" sz="4000" dirty="0"/>
              <a:t>Joint Probability Distributions</a:t>
            </a:r>
            <a:endParaRPr lang="en-US" dirty="0"/>
          </a:p>
        </p:txBody>
      </p:sp>
      <p:sp>
        <p:nvSpPr>
          <p:cNvPr id="879619" name="Text Box 3"/>
          <p:cNvSpPr txBox="1">
            <a:spLocks noChangeArrowheads="1"/>
          </p:cNvSpPr>
          <p:nvPr/>
        </p:nvSpPr>
        <p:spPr bwMode="auto">
          <a:xfrm>
            <a:off x="7401681" y="1530763"/>
            <a:ext cx="915988" cy="593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0000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0001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0010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0011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0100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0101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0110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0111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1000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1001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1010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1011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1100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1101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1110</a:t>
            </a:r>
          </a:p>
          <a:p>
            <a:pPr algn="ctr"/>
            <a:r>
              <a:rPr lang="en-US" dirty="0">
                <a:latin typeface="Courier New" charset="0"/>
                <a:cs typeface="ＭＳ Ｐゴシック" charset="0"/>
              </a:rPr>
              <a:t>1111</a:t>
            </a:r>
          </a:p>
        </p:txBody>
      </p:sp>
      <p:sp>
        <p:nvSpPr>
          <p:cNvPr id="8796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3400" y="1530764"/>
            <a:ext cx="6477000" cy="46414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Requires 15 numbers to specify probability of all values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,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,</a:t>
            </a:r>
            <a:r>
              <a:rPr lang="en-US" i="1" dirty="0"/>
              <a:t>x</a:t>
            </a:r>
            <a:r>
              <a:rPr lang="en-US" baseline="-25000" dirty="0"/>
              <a:t>3</a:t>
            </a:r>
            <a:r>
              <a:rPr lang="en-US" dirty="0"/>
              <a:t>,</a:t>
            </a:r>
            <a:r>
              <a:rPr lang="en-US" i="1" dirty="0"/>
              <a:t>x</a:t>
            </a:r>
            <a:r>
              <a:rPr lang="en-US" baseline="-25000" dirty="0"/>
              <a:t>4</a:t>
            </a:r>
            <a:endParaRPr lang="en-US" dirty="0"/>
          </a:p>
          <a:p>
            <a:pPr lvl="1"/>
            <a:r>
              <a:rPr lang="en-US" i="1" dirty="0"/>
              <a:t>N</a:t>
            </a:r>
            <a:r>
              <a:rPr lang="en-US" dirty="0"/>
              <a:t> binary variables, 2</a:t>
            </a:r>
            <a:r>
              <a:rPr lang="en-US" i="1" baseline="30000" dirty="0"/>
              <a:t>N</a:t>
            </a:r>
            <a:r>
              <a:rPr lang="en-US" dirty="0"/>
              <a:t>-1 numbers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Similar cost when computing conditional probabilities </a:t>
            </a:r>
          </a:p>
        </p:txBody>
      </p:sp>
      <p:graphicFrame>
        <p:nvGraphicFramePr>
          <p:cNvPr id="879621" name="Object 5"/>
          <p:cNvGraphicFramePr>
            <a:graphicFrameLocks noChangeAspect="1"/>
          </p:cNvGraphicFramePr>
          <p:nvPr/>
        </p:nvGraphicFramePr>
        <p:xfrm>
          <a:off x="960438" y="4862513"/>
          <a:ext cx="6002337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25700" imgH="406400" progId="Equation.3">
                  <p:embed/>
                </p:oleObj>
              </mc:Choice>
              <mc:Fallback>
                <p:oleObj name="Equation" r:id="rId3" imgW="2425700" imgH="406400" progId="Equation.3">
                  <p:embed/>
                  <p:pic>
                    <p:nvPicPr>
                      <p:cNvPr id="8796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4862513"/>
                        <a:ext cx="6002337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7437438" y="1355931"/>
            <a:ext cx="915988" cy="49910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808" y="3371851"/>
            <a:ext cx="6703596" cy="249554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4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2815"/>
            <a:ext cx="9144000" cy="876518"/>
          </a:xfrm>
        </p:spPr>
        <p:txBody>
          <a:bodyPr/>
          <a:lstStyle/>
          <a:p>
            <a:r>
              <a:rPr lang="en-US" sz="4000" dirty="0"/>
              <a:t>Statistical independence</a:t>
            </a:r>
            <a:endParaRPr lang="en-US" dirty="0"/>
          </a:p>
        </p:txBody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28070"/>
            <a:ext cx="8915400" cy="4038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Two random variables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are </a:t>
            </a:r>
            <a:r>
              <a:rPr lang="en-US" i="1" dirty="0"/>
              <a:t>independent</a:t>
            </a:r>
            <a:r>
              <a:rPr lang="en-US" dirty="0"/>
              <a:t> if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|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) =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e.g. </a:t>
            </a:r>
            <a:r>
              <a:rPr lang="en-US" dirty="0" err="1"/>
              <a:t>coinflips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i="1" dirty="0">
                <a:latin typeface="Times New Roman"/>
                <a:cs typeface="Times New Roman"/>
              </a:rPr>
              <a:t>P</a:t>
            </a:r>
            <a:r>
              <a:rPr lang="en-US" dirty="0">
                <a:latin typeface="Times New Roman"/>
                <a:cs typeface="Times New Roman"/>
              </a:rPr>
              <a:t>(</a:t>
            </a:r>
            <a:r>
              <a:rPr lang="en-US" i="1" dirty="0">
                <a:latin typeface="Times New Roman"/>
                <a:cs typeface="Times New Roman"/>
              </a:rPr>
              <a:t>x</a:t>
            </a:r>
            <a:r>
              <a:rPr lang="en-US" baseline="-25000" dirty="0">
                <a:latin typeface="Times New Roman"/>
                <a:cs typeface="Times New Roman"/>
              </a:rPr>
              <a:t>1</a:t>
            </a:r>
            <a:r>
              <a:rPr lang="en-US" dirty="0">
                <a:latin typeface="Times New Roman"/>
                <a:cs typeface="Times New Roman"/>
              </a:rPr>
              <a:t>= H |</a:t>
            </a:r>
            <a:r>
              <a:rPr lang="en-US" i="1" dirty="0">
                <a:latin typeface="Times New Roman"/>
                <a:cs typeface="Times New Roman"/>
              </a:rPr>
              <a:t>x</a:t>
            </a:r>
            <a:r>
              <a:rPr lang="en-US" baseline="-25000" dirty="0">
                <a:latin typeface="Times New Roman"/>
                <a:cs typeface="Times New Roman"/>
              </a:rPr>
              <a:t>2</a:t>
            </a:r>
            <a:r>
              <a:rPr lang="en-US" dirty="0">
                <a:latin typeface="Times New Roman"/>
                <a:cs typeface="Times New Roman"/>
              </a:rPr>
              <a:t>= H) = </a:t>
            </a:r>
            <a:r>
              <a:rPr lang="en-US" i="1" dirty="0">
                <a:latin typeface="Times New Roman"/>
                <a:cs typeface="Times New Roman"/>
              </a:rPr>
              <a:t>P</a:t>
            </a:r>
            <a:r>
              <a:rPr lang="en-US" dirty="0">
                <a:latin typeface="Times New Roman"/>
                <a:cs typeface="Times New Roman"/>
              </a:rPr>
              <a:t>(</a:t>
            </a:r>
            <a:r>
              <a:rPr lang="en-US" i="1" dirty="0">
                <a:latin typeface="Times New Roman"/>
                <a:cs typeface="Times New Roman"/>
              </a:rPr>
              <a:t>x</a:t>
            </a:r>
            <a:r>
              <a:rPr lang="en-US" baseline="-25000" dirty="0">
                <a:latin typeface="Times New Roman"/>
                <a:cs typeface="Times New Roman"/>
              </a:rPr>
              <a:t>1 </a:t>
            </a:r>
            <a:r>
              <a:rPr lang="en-US" dirty="0">
                <a:latin typeface="Times New Roman"/>
                <a:cs typeface="Times New Roman"/>
              </a:rPr>
              <a:t>= H) = 0.5</a:t>
            </a:r>
          </a:p>
          <a:p>
            <a:pPr marL="0" indent="0">
              <a:buNone/>
            </a:pPr>
            <a:r>
              <a:rPr lang="en-US" dirty="0"/>
              <a:t>Independence makes it easier to represent and work with probability distributions</a:t>
            </a:r>
          </a:p>
          <a:p>
            <a:pPr marL="0" indent="0">
              <a:buNone/>
            </a:pPr>
            <a:r>
              <a:rPr lang="en-US" dirty="0"/>
              <a:t>We can exploit the product rule:</a:t>
            </a:r>
          </a:p>
        </p:txBody>
      </p:sp>
      <p:graphicFrame>
        <p:nvGraphicFramePr>
          <p:cNvPr id="883716" name="Object 4"/>
          <p:cNvGraphicFramePr>
            <a:graphicFrameLocks noChangeAspect="1"/>
          </p:cNvGraphicFramePr>
          <p:nvPr/>
        </p:nvGraphicFramePr>
        <p:xfrm>
          <a:off x="152400" y="4504683"/>
          <a:ext cx="86868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21100" imgH="177800" progId="Equation.3">
                  <p:embed/>
                </p:oleObj>
              </mc:Choice>
              <mc:Fallback>
                <p:oleObj name="Equation" r:id="rId3" imgW="3721100" imgH="177800" progId="Equation.3">
                  <p:embed/>
                  <p:pic>
                    <p:nvPicPr>
                      <p:cNvPr id="8837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504683"/>
                        <a:ext cx="86868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0" t="33225" r="26498" b="32393"/>
          <a:stretch/>
        </p:blipFill>
        <p:spPr>
          <a:xfrm>
            <a:off x="73571" y="5370108"/>
            <a:ext cx="7725895" cy="4256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ABC3A4-3A9B-C54E-B8D4-BA06B834033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1" t="67584" r="44981"/>
          <a:stretch/>
        </p:blipFill>
        <p:spPr>
          <a:xfrm>
            <a:off x="73571" y="5969814"/>
            <a:ext cx="4750678" cy="321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04F16C-C27E-8B4D-BB95-F5CDFC573CB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19" t="70038" b="-11734"/>
          <a:stretch/>
        </p:blipFill>
        <p:spPr>
          <a:xfrm>
            <a:off x="4869120" y="5999216"/>
            <a:ext cx="4198680" cy="41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7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71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2815"/>
            <a:ext cx="9144000" cy="876518"/>
          </a:xfrm>
        </p:spPr>
        <p:txBody>
          <a:bodyPr/>
          <a:lstStyle/>
          <a:p>
            <a:r>
              <a:rPr lang="en-US" sz="4000" dirty="0"/>
              <a:t>Statistical independence</a:t>
            </a:r>
            <a:endParaRPr lang="en-US" dirty="0"/>
          </a:p>
        </p:txBody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28070"/>
            <a:ext cx="8915400" cy="4038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Two random variables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are </a:t>
            </a:r>
            <a:r>
              <a:rPr lang="en-US" i="1" dirty="0"/>
              <a:t>independent</a:t>
            </a:r>
            <a:r>
              <a:rPr lang="en-US" dirty="0"/>
              <a:t> if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|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) =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e.g. </a:t>
            </a:r>
            <a:r>
              <a:rPr lang="en-US" dirty="0" err="1"/>
              <a:t>coinflips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i="1" dirty="0">
                <a:latin typeface="Times New Roman"/>
                <a:cs typeface="Times New Roman"/>
              </a:rPr>
              <a:t>P</a:t>
            </a:r>
            <a:r>
              <a:rPr lang="en-US" dirty="0">
                <a:latin typeface="Times New Roman"/>
                <a:cs typeface="Times New Roman"/>
              </a:rPr>
              <a:t>(</a:t>
            </a:r>
            <a:r>
              <a:rPr lang="en-US" i="1" dirty="0">
                <a:latin typeface="Times New Roman"/>
                <a:cs typeface="Times New Roman"/>
              </a:rPr>
              <a:t>x</a:t>
            </a:r>
            <a:r>
              <a:rPr lang="en-US" baseline="-25000" dirty="0">
                <a:latin typeface="Times New Roman"/>
                <a:cs typeface="Times New Roman"/>
              </a:rPr>
              <a:t>1</a:t>
            </a:r>
            <a:r>
              <a:rPr lang="en-US" dirty="0">
                <a:latin typeface="Times New Roman"/>
                <a:cs typeface="Times New Roman"/>
              </a:rPr>
              <a:t>= H |</a:t>
            </a:r>
            <a:r>
              <a:rPr lang="en-US" i="1" dirty="0">
                <a:latin typeface="Times New Roman"/>
                <a:cs typeface="Times New Roman"/>
              </a:rPr>
              <a:t>x</a:t>
            </a:r>
            <a:r>
              <a:rPr lang="en-US" baseline="-25000" dirty="0">
                <a:latin typeface="Times New Roman"/>
                <a:cs typeface="Times New Roman"/>
              </a:rPr>
              <a:t>2</a:t>
            </a:r>
            <a:r>
              <a:rPr lang="en-US" dirty="0">
                <a:latin typeface="Times New Roman"/>
                <a:cs typeface="Times New Roman"/>
              </a:rPr>
              <a:t>= H) = </a:t>
            </a:r>
            <a:r>
              <a:rPr lang="en-US" i="1" dirty="0">
                <a:latin typeface="Times New Roman"/>
                <a:cs typeface="Times New Roman"/>
              </a:rPr>
              <a:t>P</a:t>
            </a:r>
            <a:r>
              <a:rPr lang="en-US" dirty="0">
                <a:latin typeface="Times New Roman"/>
                <a:cs typeface="Times New Roman"/>
              </a:rPr>
              <a:t>(</a:t>
            </a:r>
            <a:r>
              <a:rPr lang="en-US" i="1" dirty="0">
                <a:latin typeface="Times New Roman"/>
                <a:cs typeface="Times New Roman"/>
              </a:rPr>
              <a:t>x</a:t>
            </a:r>
            <a:r>
              <a:rPr lang="en-US" baseline="-25000" dirty="0">
                <a:latin typeface="Times New Roman"/>
                <a:cs typeface="Times New Roman"/>
              </a:rPr>
              <a:t>1 </a:t>
            </a:r>
            <a:r>
              <a:rPr lang="en-US" dirty="0">
                <a:latin typeface="Times New Roman"/>
                <a:cs typeface="Times New Roman"/>
              </a:rPr>
              <a:t>= H) = 0.5</a:t>
            </a:r>
          </a:p>
          <a:p>
            <a:pPr marL="0" indent="0">
              <a:buNone/>
            </a:pPr>
            <a:r>
              <a:rPr lang="en-US" dirty="0"/>
              <a:t>Independence makes it easier to represent and work with probability distributions</a:t>
            </a:r>
          </a:p>
          <a:p>
            <a:pPr marL="0" indent="0">
              <a:buNone/>
            </a:pPr>
            <a:r>
              <a:rPr lang="en-US" dirty="0"/>
              <a:t>We can exploit the product rule:</a:t>
            </a:r>
          </a:p>
        </p:txBody>
      </p:sp>
      <p:graphicFrame>
        <p:nvGraphicFramePr>
          <p:cNvPr id="883716" name="Object 4"/>
          <p:cNvGraphicFramePr>
            <a:graphicFrameLocks noChangeAspect="1"/>
          </p:cNvGraphicFramePr>
          <p:nvPr/>
        </p:nvGraphicFramePr>
        <p:xfrm>
          <a:off x="152400" y="4504683"/>
          <a:ext cx="86868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21100" imgH="177800" progId="Equation.3">
                  <p:embed/>
                </p:oleObj>
              </mc:Choice>
              <mc:Fallback>
                <p:oleObj name="Equation" r:id="rId3" imgW="3721100" imgH="177800" progId="Equation.3">
                  <p:embed/>
                  <p:pic>
                    <p:nvPicPr>
                      <p:cNvPr id="8837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504683"/>
                        <a:ext cx="86868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3717" name="Object 5"/>
          <p:cNvGraphicFramePr>
            <a:graphicFrameLocks noChangeAspect="1"/>
          </p:cNvGraphicFramePr>
          <p:nvPr/>
        </p:nvGraphicFramePr>
        <p:xfrm>
          <a:off x="1593850" y="6018415"/>
          <a:ext cx="5649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63800" imgH="177800" progId="Equation.3">
                  <p:embed/>
                </p:oleObj>
              </mc:Choice>
              <mc:Fallback>
                <p:oleObj name="Equation" r:id="rId5" imgW="2463800" imgH="177800" progId="Equation.3">
                  <p:embed/>
                  <p:pic>
                    <p:nvPicPr>
                      <p:cNvPr id="8837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6018415"/>
                        <a:ext cx="5649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3718" name="Text Box 6"/>
          <p:cNvSpPr txBox="1">
            <a:spLocks noChangeArrowheads="1"/>
          </p:cNvSpPr>
          <p:nvPr/>
        </p:nvSpPr>
        <p:spPr bwMode="auto">
          <a:xfrm>
            <a:off x="533400" y="5237365"/>
            <a:ext cx="6708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>
                <a:cs typeface="ＭＳ Ｐゴシック" charset="0"/>
              </a:rPr>
              <a:t>If </a:t>
            </a:r>
            <a:r>
              <a:rPr lang="en-US" sz="3200" i="1">
                <a:cs typeface="ＭＳ Ｐゴシック" charset="0"/>
              </a:rPr>
              <a:t>x</a:t>
            </a:r>
            <a:r>
              <a:rPr lang="en-US" sz="3200" baseline="-25000">
                <a:cs typeface="ＭＳ Ｐゴシック" charset="0"/>
              </a:rPr>
              <a:t>1</a:t>
            </a:r>
            <a:r>
              <a:rPr lang="en-US" sz="3200">
                <a:cs typeface="ＭＳ Ｐゴシック" charset="0"/>
              </a:rPr>
              <a:t>, </a:t>
            </a:r>
            <a:r>
              <a:rPr lang="en-US" sz="3200" i="1">
                <a:cs typeface="ＭＳ Ｐゴシック" charset="0"/>
              </a:rPr>
              <a:t>x</a:t>
            </a:r>
            <a:r>
              <a:rPr lang="en-US" sz="3200" baseline="-25000">
                <a:cs typeface="ＭＳ Ｐゴシック" charset="0"/>
              </a:rPr>
              <a:t>2</a:t>
            </a:r>
            <a:r>
              <a:rPr lang="en-US" sz="3200">
                <a:cs typeface="ＭＳ Ｐゴシック" charset="0"/>
              </a:rPr>
              <a:t>, </a:t>
            </a:r>
            <a:r>
              <a:rPr lang="en-US" sz="3200" i="1">
                <a:cs typeface="ＭＳ Ｐゴシック" charset="0"/>
              </a:rPr>
              <a:t>x</a:t>
            </a:r>
            <a:r>
              <a:rPr lang="en-US" sz="3200" baseline="-25000">
                <a:cs typeface="ＭＳ Ｐゴシック" charset="0"/>
              </a:rPr>
              <a:t>3</a:t>
            </a:r>
            <a:r>
              <a:rPr lang="en-US" sz="3200">
                <a:cs typeface="ＭＳ Ｐゴシック" charset="0"/>
              </a:rPr>
              <a:t>, and </a:t>
            </a:r>
            <a:r>
              <a:rPr lang="en-US" sz="3200" i="1">
                <a:cs typeface="ＭＳ Ｐゴシック" charset="0"/>
              </a:rPr>
              <a:t>x</a:t>
            </a:r>
            <a:r>
              <a:rPr lang="en-US" sz="3200" baseline="-25000">
                <a:cs typeface="ＭＳ Ｐゴシック" charset="0"/>
              </a:rPr>
              <a:t>4</a:t>
            </a:r>
            <a:r>
              <a:rPr lang="en-US" sz="3200">
                <a:cs typeface="ＭＳ Ｐゴシック" charset="0"/>
              </a:rPr>
              <a:t> are all independent…</a:t>
            </a:r>
          </a:p>
        </p:txBody>
      </p:sp>
    </p:spTree>
    <p:extLst>
      <p:ext uri="{BB962C8B-B14F-4D97-AF65-F5344CB8AC3E}">
        <p14:creationId xmlns:p14="http://schemas.microsoft.com/office/powerpoint/2010/main" val="19838457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dirty="0"/>
              <a:t>Expressing independence</a:t>
            </a:r>
            <a:endParaRPr lang="en-US" dirty="0"/>
          </a:p>
        </p:txBody>
      </p:sp>
      <p:sp>
        <p:nvSpPr>
          <p:cNvPr id="885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61039"/>
            <a:ext cx="8915400" cy="5131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Statistical independence is the key to efficient probabilistic representation and computation.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This has led to the development of languages for indicating dependencies among variables.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Some of the most popular languages are based on </a:t>
            </a:r>
            <a:r>
              <a:rPr lang="ja-JP" altLang="en-US" dirty="0">
                <a:latin typeface="Arial"/>
              </a:rPr>
              <a:t>“</a:t>
            </a:r>
            <a:r>
              <a:rPr lang="en-US" dirty="0"/>
              <a:t>graphical models.</a:t>
            </a:r>
            <a:r>
              <a:rPr lang="ja-JP" altLang="en-US" dirty="0">
                <a:latin typeface="Arial"/>
              </a:rPr>
              <a:t>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43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576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9944"/>
            <a:ext cx="8229600" cy="818408"/>
          </a:xfrm>
        </p:spPr>
        <p:txBody>
          <a:bodyPr>
            <a:normAutofit/>
          </a:bodyPr>
          <a:lstStyle/>
          <a:p>
            <a:r>
              <a:rPr lang="en-US" dirty="0"/>
              <a:t>Directed graphical models</a:t>
            </a:r>
          </a:p>
        </p:txBody>
      </p:sp>
      <p:sp>
        <p:nvSpPr>
          <p:cNvPr id="404500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173965" y="858352"/>
            <a:ext cx="8665236" cy="5890885"/>
          </a:xfrm>
          <a:noFill/>
          <a:ln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Express the probabilistic dependency structure among a set of variables as a graph </a:t>
            </a:r>
            <a:r>
              <a:rPr lang="en-US" sz="2400" dirty="0"/>
              <a:t>(Pearl, 1988).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Consist of</a:t>
            </a:r>
          </a:p>
          <a:p>
            <a:pPr lvl="1"/>
            <a:r>
              <a:rPr lang="en-US" dirty="0"/>
              <a:t>a set of nodes</a:t>
            </a:r>
          </a:p>
          <a:p>
            <a:pPr lvl="1"/>
            <a:r>
              <a:rPr lang="en-US" dirty="0"/>
              <a:t>a set of edges</a:t>
            </a:r>
          </a:p>
          <a:p>
            <a:pPr lvl="1"/>
            <a:r>
              <a:rPr lang="en-US" dirty="0"/>
              <a:t>a </a:t>
            </a:r>
            <a:r>
              <a:rPr lang="en-US" i="1" dirty="0"/>
              <a:t>conditional probability distribution</a:t>
            </a:r>
            <a:r>
              <a:rPr lang="en-US" dirty="0"/>
              <a:t> for each node, conditioned on its parents, multiplied together to yield the distribution over variables</a:t>
            </a:r>
          </a:p>
          <a:p>
            <a:pPr marL="0" indent="0">
              <a:buNone/>
            </a:pPr>
            <a:r>
              <a:rPr lang="en-US" dirty="0"/>
              <a:t>Constrained to directed acyclic graphs (DAGs)</a:t>
            </a:r>
          </a:p>
          <a:p>
            <a:pPr lvl="1"/>
            <a:r>
              <a:rPr lang="en-US" dirty="0"/>
              <a:t>Acyclic just means that no cycles are allowed.</a:t>
            </a:r>
          </a:p>
          <a:p>
            <a:pPr marL="0" indent="0">
              <a:buNone/>
            </a:pPr>
            <a:r>
              <a:rPr lang="en-US" dirty="0"/>
              <a:t>Called Bayesian networks or Bayes nets</a:t>
            </a:r>
            <a:endParaRPr lang="en-US" sz="2400" dirty="0"/>
          </a:p>
          <a:p>
            <a:pPr lvl="1"/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124200"/>
            <a:ext cx="203835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1983193" y="4724400"/>
            <a:ext cx="4493807" cy="1861810"/>
            <a:chOff x="1983193" y="4724400"/>
            <a:chExt cx="4493807" cy="1861810"/>
          </a:xfrm>
        </p:grpSpPr>
        <p:sp>
          <p:nvSpPr>
            <p:cNvPr id="6" name="TextBox 5"/>
            <p:cNvSpPr txBox="1"/>
            <p:nvPr/>
          </p:nvSpPr>
          <p:spPr>
            <a:xfrm>
              <a:off x="1983193" y="6062990"/>
              <a:ext cx="3914198" cy="5232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800" dirty="0" err="1"/>
                <a:t>Rumelhart</a:t>
              </a:r>
              <a:r>
                <a:rPr lang="en-US" sz="2800" dirty="0"/>
                <a:t> prize winner</a:t>
              </a:r>
            </a:p>
          </p:txBody>
        </p:sp>
        <p:cxnSp>
          <p:nvCxnSpPr>
            <p:cNvPr id="7" name="Elbow Connector 6"/>
            <p:cNvCxnSpPr>
              <a:stCxn id="6" idx="0"/>
              <a:endCxn id="4" idx="1"/>
            </p:cNvCxnSpPr>
            <p:nvPr/>
          </p:nvCxnSpPr>
          <p:spPr>
            <a:xfrm rot="5400000" flipH="1" flipV="1">
              <a:off x="4539351" y="4125341"/>
              <a:ext cx="1338590" cy="2536708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13DDC7D-547B-A940-936D-A8FEC4343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142" y="288878"/>
            <a:ext cx="1781971" cy="277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94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6975"/>
            <a:ext cx="9144000" cy="906234"/>
          </a:xfrm>
        </p:spPr>
        <p:txBody>
          <a:bodyPr/>
          <a:lstStyle/>
          <a:p>
            <a:r>
              <a:rPr lang="en-US" sz="4000" dirty="0"/>
              <a:t>The Markov assumption</a:t>
            </a:r>
            <a:endParaRPr lang="en-US" dirty="0"/>
          </a:p>
        </p:txBody>
      </p:sp>
      <p:sp>
        <p:nvSpPr>
          <p:cNvPr id="889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55407"/>
            <a:ext cx="8915400" cy="5802593"/>
          </a:xfrm>
        </p:spPr>
        <p:txBody>
          <a:bodyPr>
            <a:normAutofit fontScale="92500"/>
          </a:bodyPr>
          <a:lstStyle/>
          <a:p>
            <a:pPr algn="ctr">
              <a:buFontTx/>
              <a:buNone/>
            </a:pPr>
            <a:r>
              <a:rPr lang="en-US" dirty="0"/>
              <a:t>  Every node is conditionally independent of its non-descendants, given its parents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2400" dirty="0"/>
              <a:t>The two representations are equivalent via </a:t>
            </a:r>
            <a:r>
              <a:rPr lang="en-US" sz="2400" dirty="0" err="1"/>
              <a:t>Hammerly</a:t>
            </a:r>
            <a:r>
              <a:rPr lang="en-US" sz="2400" dirty="0"/>
              <a:t>-Clifford’s Theorem…</a:t>
            </a:r>
          </a:p>
        </p:txBody>
      </p:sp>
      <p:graphicFrame>
        <p:nvGraphicFramePr>
          <p:cNvPr id="889860" name="Object 4"/>
          <p:cNvGraphicFramePr>
            <a:graphicFrameLocks noChangeAspect="1"/>
          </p:cNvGraphicFramePr>
          <p:nvPr/>
        </p:nvGraphicFramePr>
        <p:xfrm>
          <a:off x="1419225" y="2388908"/>
          <a:ext cx="63166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68500" imgH="177800" progId="Equation.3">
                  <p:embed/>
                </p:oleObj>
              </mc:Choice>
              <mc:Fallback>
                <p:oleObj name="Equation" r:id="rId3" imgW="1968500" imgH="177800" progId="Equation.3">
                  <p:embed/>
                  <p:pic>
                    <p:nvPicPr>
                      <p:cNvPr id="8898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2388908"/>
                        <a:ext cx="63166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9861" name="Text Box 5"/>
          <p:cNvSpPr txBox="1">
            <a:spLocks noChangeArrowheads="1"/>
          </p:cNvSpPr>
          <p:nvPr/>
        </p:nvSpPr>
        <p:spPr bwMode="auto">
          <a:xfrm>
            <a:off x="1101725" y="3346171"/>
            <a:ext cx="6502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>
                <a:cs typeface="ＭＳ Ｐゴシック" charset="0"/>
              </a:rPr>
              <a:t>where </a:t>
            </a:r>
            <a:r>
              <a:rPr lang="en-US" sz="3200" b="1" dirty="0">
                <a:cs typeface="ＭＳ Ｐゴシック" charset="0"/>
              </a:rPr>
              <a:t>Pa</a:t>
            </a:r>
            <a:r>
              <a:rPr lang="en-US" sz="3200" dirty="0">
                <a:cs typeface="ＭＳ Ｐゴシック" charset="0"/>
              </a:rPr>
              <a:t>(</a:t>
            </a:r>
            <a:r>
              <a:rPr lang="en-US" sz="3200" i="1" dirty="0">
                <a:cs typeface="ＭＳ Ｐゴシック" charset="0"/>
              </a:rPr>
              <a:t>X</a:t>
            </a:r>
            <a:r>
              <a:rPr lang="en-US" sz="3200" i="1" baseline="-25000" dirty="0">
                <a:cs typeface="ＭＳ Ｐゴシック" charset="0"/>
              </a:rPr>
              <a:t>i</a:t>
            </a:r>
            <a:r>
              <a:rPr lang="en-US" sz="3200" dirty="0">
                <a:cs typeface="ＭＳ Ｐゴシック" charset="0"/>
              </a:rPr>
              <a:t>) is the set of parents of </a:t>
            </a:r>
            <a:r>
              <a:rPr lang="en-US" sz="3200" i="1" dirty="0">
                <a:cs typeface="ＭＳ Ｐゴシック" charset="0"/>
              </a:rPr>
              <a:t>X</a:t>
            </a:r>
            <a:r>
              <a:rPr lang="en-US" sz="3200" i="1" baseline="-25000" dirty="0">
                <a:cs typeface="ＭＳ Ｐゴシック" charset="0"/>
              </a:rPr>
              <a:t>i</a:t>
            </a:r>
            <a:r>
              <a:rPr lang="en-US" dirty="0">
                <a:cs typeface="ＭＳ Ｐゴシック" charset="0"/>
              </a:rPr>
              <a:t> </a:t>
            </a:r>
          </a:p>
        </p:txBody>
      </p:sp>
      <p:graphicFrame>
        <p:nvGraphicFramePr>
          <p:cNvPr id="889863" name="Object 7"/>
          <p:cNvGraphicFramePr>
            <a:graphicFrameLocks noChangeAspect="1"/>
          </p:cNvGraphicFramePr>
          <p:nvPr/>
        </p:nvGraphicFramePr>
        <p:xfrm>
          <a:off x="1619250" y="3925608"/>
          <a:ext cx="6070600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92300" imgH="431800" progId="Equation.3">
                  <p:embed/>
                </p:oleObj>
              </mc:Choice>
              <mc:Fallback>
                <p:oleObj name="Equation" r:id="rId5" imgW="1892300" imgH="431800" progId="Equation.3">
                  <p:embed/>
                  <p:pic>
                    <p:nvPicPr>
                      <p:cNvPr id="8898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925608"/>
                        <a:ext cx="6070600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9864" name="Text Box 8"/>
          <p:cNvSpPr txBox="1">
            <a:spLocks noChangeArrowheads="1"/>
          </p:cNvSpPr>
          <p:nvPr/>
        </p:nvSpPr>
        <p:spPr bwMode="auto">
          <a:xfrm>
            <a:off x="2708275" y="5384521"/>
            <a:ext cx="36258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cs typeface="ＭＳ Ｐゴシック" charset="0"/>
              </a:rPr>
              <a:t>(via the product rule)</a:t>
            </a:r>
          </a:p>
        </p:txBody>
      </p:sp>
    </p:spTree>
    <p:extLst>
      <p:ext uri="{BB962C8B-B14F-4D97-AF65-F5344CB8AC3E}">
        <p14:creationId xmlns:p14="http://schemas.microsoft.com/office/powerpoint/2010/main" val="194925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810" name="Group 2"/>
          <p:cNvGrpSpPr>
            <a:grpSpLocks/>
          </p:cNvGrpSpPr>
          <p:nvPr/>
        </p:nvGrpSpPr>
        <p:grpSpPr bwMode="auto">
          <a:xfrm>
            <a:off x="3505200" y="4800600"/>
            <a:ext cx="2590800" cy="685800"/>
            <a:chOff x="2208" y="3024"/>
            <a:chExt cx="1632" cy="432"/>
          </a:xfrm>
        </p:grpSpPr>
        <p:sp>
          <p:nvSpPr>
            <p:cNvPr id="887811" name="Line 3"/>
            <p:cNvSpPr>
              <a:spLocks noChangeShapeType="1"/>
            </p:cNvSpPr>
            <p:nvPr/>
          </p:nvSpPr>
          <p:spPr bwMode="auto">
            <a:xfrm>
              <a:off x="2208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12" name="Line 4"/>
            <p:cNvSpPr>
              <a:spLocks noChangeShapeType="1"/>
            </p:cNvSpPr>
            <p:nvPr/>
          </p:nvSpPr>
          <p:spPr bwMode="auto">
            <a:xfrm>
              <a:off x="3456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13" name="Line 5"/>
            <p:cNvSpPr>
              <a:spLocks noChangeShapeType="1"/>
            </p:cNvSpPr>
            <p:nvPr/>
          </p:nvSpPr>
          <p:spPr bwMode="auto">
            <a:xfrm flipH="1">
              <a:off x="2880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887814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123182"/>
            <a:ext cx="9144000" cy="746570"/>
          </a:xfrm>
        </p:spPr>
        <p:txBody>
          <a:bodyPr/>
          <a:lstStyle/>
          <a:p>
            <a:r>
              <a:rPr lang="en-US" sz="4000" dirty="0"/>
              <a:t>Efficient representation and inference</a:t>
            </a:r>
            <a:endParaRPr lang="en-US" dirty="0"/>
          </a:p>
        </p:txBody>
      </p:sp>
      <p:sp>
        <p:nvSpPr>
          <p:cNvPr id="88781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46069" y="1083647"/>
            <a:ext cx="5975312" cy="3290887"/>
          </a:xfrm>
          <a:noFill/>
          <a:ln/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/>
              <a:t>Four random variables:</a:t>
            </a:r>
            <a:endParaRPr lang="en-US" sz="2800" dirty="0"/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1</a:t>
            </a:r>
            <a:r>
              <a:rPr lang="en-US" sz="2800" dirty="0"/>
              <a:t>	coin toss produces heads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2</a:t>
            </a:r>
            <a:r>
              <a:rPr lang="en-US" sz="2800" dirty="0"/>
              <a:t>	pencil levitates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3</a:t>
            </a:r>
            <a:r>
              <a:rPr lang="en-US" sz="2800" dirty="0"/>
              <a:t>	friend has psychic powers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4</a:t>
            </a:r>
            <a:r>
              <a:rPr lang="en-US" sz="2800" dirty="0"/>
              <a:t>	friend has two-headed coin</a:t>
            </a:r>
          </a:p>
        </p:txBody>
      </p:sp>
      <p:grpSp>
        <p:nvGrpSpPr>
          <p:cNvPr id="887816" name="Group 8"/>
          <p:cNvGrpSpPr>
            <a:grpSpLocks/>
          </p:cNvGrpSpPr>
          <p:nvPr/>
        </p:nvGrpSpPr>
        <p:grpSpPr bwMode="auto">
          <a:xfrm>
            <a:off x="3048000" y="4267200"/>
            <a:ext cx="3581400" cy="1752600"/>
            <a:chOff x="1920" y="2688"/>
            <a:chExt cx="2256" cy="1104"/>
          </a:xfrm>
        </p:grpSpPr>
        <p:sp>
          <p:nvSpPr>
            <p:cNvPr id="887817" name="Oval 9"/>
            <p:cNvSpPr>
              <a:spLocks noChangeArrowheads="1"/>
            </p:cNvSpPr>
            <p:nvPr/>
          </p:nvSpPr>
          <p:spPr bwMode="auto">
            <a:xfrm>
              <a:off x="2544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18" name="Text Box 10"/>
            <p:cNvSpPr txBox="1">
              <a:spLocks noChangeArrowheads="1"/>
            </p:cNvSpPr>
            <p:nvPr/>
          </p:nvSpPr>
          <p:spPr bwMode="auto">
            <a:xfrm>
              <a:off x="2592" y="345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1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887819" name="Oval 11"/>
            <p:cNvSpPr>
              <a:spLocks noChangeArrowheads="1"/>
            </p:cNvSpPr>
            <p:nvPr/>
          </p:nvSpPr>
          <p:spPr bwMode="auto">
            <a:xfrm>
              <a:off x="3792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20" name="Text Box 12"/>
            <p:cNvSpPr txBox="1">
              <a:spLocks noChangeArrowheads="1"/>
            </p:cNvSpPr>
            <p:nvPr/>
          </p:nvSpPr>
          <p:spPr bwMode="auto">
            <a:xfrm>
              <a:off x="3840" y="345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887821" name="Oval 13"/>
            <p:cNvSpPr>
              <a:spLocks noChangeArrowheads="1"/>
            </p:cNvSpPr>
            <p:nvPr/>
          </p:nvSpPr>
          <p:spPr bwMode="auto">
            <a:xfrm>
              <a:off x="3168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22" name="Text Box 14"/>
            <p:cNvSpPr txBox="1">
              <a:spLocks noChangeArrowheads="1"/>
            </p:cNvSpPr>
            <p:nvPr/>
          </p:nvSpPr>
          <p:spPr bwMode="auto">
            <a:xfrm>
              <a:off x="3216" y="273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887823" name="Oval 15"/>
            <p:cNvSpPr>
              <a:spLocks noChangeArrowheads="1"/>
            </p:cNvSpPr>
            <p:nvPr/>
          </p:nvSpPr>
          <p:spPr bwMode="auto">
            <a:xfrm>
              <a:off x="1920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24" name="Text Box 16"/>
            <p:cNvSpPr txBox="1">
              <a:spLocks noChangeArrowheads="1"/>
            </p:cNvSpPr>
            <p:nvPr/>
          </p:nvSpPr>
          <p:spPr bwMode="auto">
            <a:xfrm>
              <a:off x="1967" y="273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</p:grpSp>
      <p:grpSp>
        <p:nvGrpSpPr>
          <p:cNvPr id="887825" name="Group 17"/>
          <p:cNvGrpSpPr>
            <a:grpSpLocks/>
          </p:cNvGrpSpPr>
          <p:nvPr/>
        </p:nvGrpSpPr>
        <p:grpSpPr bwMode="auto">
          <a:xfrm>
            <a:off x="2217737" y="4343401"/>
            <a:ext cx="5554663" cy="1604963"/>
            <a:chOff x="1397" y="2736"/>
            <a:chExt cx="3499" cy="1011"/>
          </a:xfrm>
        </p:grpSpPr>
        <p:sp>
          <p:nvSpPr>
            <p:cNvPr id="887826" name="Text Box 18"/>
            <p:cNvSpPr txBox="1">
              <a:spLocks noChangeArrowheads="1"/>
            </p:cNvSpPr>
            <p:nvPr/>
          </p:nvSpPr>
          <p:spPr bwMode="auto">
            <a:xfrm>
              <a:off x="1397" y="2736"/>
              <a:ext cx="5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P</a:t>
              </a:r>
              <a:r>
                <a:rPr lang="en-US" sz="2400">
                  <a:cs typeface="ＭＳ Ｐゴシック" charset="0"/>
                </a:rPr>
                <a:t>(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r>
                <a:rPr lang="en-US" sz="2400">
                  <a:cs typeface="ＭＳ Ｐゴシック" charset="0"/>
                </a:rPr>
                <a:t>)</a:t>
              </a:r>
              <a:endParaRPr lang="en-US" sz="2400" baseline="-25000">
                <a:cs typeface="ＭＳ Ｐゴシック" charset="0"/>
              </a:endParaRPr>
            </a:p>
          </p:txBody>
        </p:sp>
        <p:sp>
          <p:nvSpPr>
            <p:cNvPr id="887827" name="Text Box 19"/>
            <p:cNvSpPr txBox="1">
              <a:spLocks noChangeArrowheads="1"/>
            </p:cNvSpPr>
            <p:nvPr/>
          </p:nvSpPr>
          <p:spPr bwMode="auto">
            <a:xfrm>
              <a:off x="3557" y="2736"/>
              <a:ext cx="5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P</a:t>
              </a:r>
              <a:r>
                <a:rPr lang="en-US" sz="2400">
                  <a:cs typeface="ＭＳ Ｐゴシック" charset="0"/>
                </a:rPr>
                <a:t>(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r>
                <a:rPr lang="en-US" sz="2400">
                  <a:cs typeface="ＭＳ Ｐゴシック" charset="0"/>
                </a:rPr>
                <a:t>)</a:t>
              </a:r>
              <a:endParaRPr lang="en-US" sz="2400" baseline="-25000">
                <a:cs typeface="ＭＳ Ｐゴシック" charset="0"/>
              </a:endParaRPr>
            </a:p>
          </p:txBody>
        </p:sp>
        <p:sp>
          <p:nvSpPr>
            <p:cNvPr id="887828" name="Text Box 20"/>
            <p:cNvSpPr txBox="1">
              <a:spLocks noChangeArrowheads="1"/>
            </p:cNvSpPr>
            <p:nvPr/>
          </p:nvSpPr>
          <p:spPr bwMode="auto">
            <a:xfrm>
              <a:off x="4158" y="3456"/>
              <a:ext cx="73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 dirty="0">
                  <a:cs typeface="ＭＳ Ｐゴシック" charset="0"/>
                </a:rPr>
                <a:t>P</a:t>
              </a:r>
              <a:r>
                <a:rPr lang="en-US" sz="2400" dirty="0">
                  <a:cs typeface="ＭＳ Ｐゴシック" charset="0"/>
                </a:rPr>
                <a:t>(</a:t>
              </a:r>
              <a:r>
                <a:rPr lang="en-US" sz="2400" i="1" dirty="0">
                  <a:cs typeface="ＭＳ Ｐゴシック" charset="0"/>
                </a:rPr>
                <a:t>x</a:t>
              </a:r>
              <a:r>
                <a:rPr lang="en-US" sz="2400" baseline="-25000" dirty="0">
                  <a:cs typeface="ＭＳ Ｐゴシック" charset="0"/>
                </a:rPr>
                <a:t>2</a:t>
              </a:r>
              <a:r>
                <a:rPr lang="en-US" sz="2400" dirty="0">
                  <a:cs typeface="ＭＳ Ｐゴシック" charset="0"/>
                </a:rPr>
                <a:t>|</a:t>
              </a:r>
              <a:r>
                <a:rPr lang="en-US" sz="2400" i="1" dirty="0">
                  <a:cs typeface="ＭＳ Ｐゴシック" charset="0"/>
                </a:rPr>
                <a:t>x</a:t>
              </a:r>
              <a:r>
                <a:rPr lang="en-US" sz="2400" baseline="-25000" dirty="0">
                  <a:cs typeface="ＭＳ Ｐゴシック" charset="0"/>
                </a:rPr>
                <a:t>3</a:t>
              </a:r>
              <a:r>
                <a:rPr lang="en-US" sz="2400" dirty="0">
                  <a:cs typeface="ＭＳ Ｐゴシック" charset="0"/>
                </a:rPr>
                <a:t>)</a:t>
              </a:r>
            </a:p>
          </p:txBody>
        </p:sp>
        <p:sp>
          <p:nvSpPr>
            <p:cNvPr id="887829" name="Text Box 21"/>
            <p:cNvSpPr txBox="1">
              <a:spLocks noChangeArrowheads="1"/>
            </p:cNvSpPr>
            <p:nvPr/>
          </p:nvSpPr>
          <p:spPr bwMode="auto">
            <a:xfrm>
              <a:off x="1534" y="3456"/>
              <a:ext cx="9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P</a:t>
              </a:r>
              <a:r>
                <a:rPr lang="en-US" sz="2400">
                  <a:cs typeface="ＭＳ Ｐゴシック" charset="0"/>
                </a:rPr>
                <a:t>(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1</a:t>
              </a:r>
              <a:r>
                <a:rPr lang="en-US" sz="2400">
                  <a:cs typeface="ＭＳ Ｐゴシック" charset="0"/>
                </a:rPr>
                <a:t>|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r>
                <a:rPr lang="en-US" sz="2400">
                  <a:cs typeface="ＭＳ Ｐゴシック" charset="0"/>
                </a:rPr>
                <a:t>, 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r>
                <a:rPr lang="en-US" sz="2400">
                  <a:cs typeface="ＭＳ Ｐゴシック" charset="0"/>
                </a:rPr>
                <a:t>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BFA774E-E97E-1449-BA5D-07CB88F80C37}"/>
              </a:ext>
            </a:extLst>
          </p:cNvPr>
          <p:cNvSpPr txBox="1"/>
          <p:nvPr/>
        </p:nvSpPr>
        <p:spPr>
          <a:xfrm>
            <a:off x="5509673" y="1295818"/>
            <a:ext cx="31783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Parents of </a:t>
            </a:r>
            <a:r>
              <a:rPr lang="en-US" sz="2400" i="1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? </a:t>
            </a:r>
            <a:r>
              <a:rPr lang="en-US" sz="2400" i="1" dirty="0"/>
              <a:t>X</a:t>
            </a:r>
            <a:r>
              <a:rPr lang="en-US" sz="2400" i="1" baseline="-25000" dirty="0"/>
              <a:t>3 </a:t>
            </a:r>
            <a:r>
              <a:rPr lang="en-US" sz="2400" dirty="0"/>
              <a:t>and</a:t>
            </a:r>
            <a:r>
              <a:rPr lang="en-US" sz="2400" i="1" dirty="0"/>
              <a:t> X</a:t>
            </a:r>
            <a:r>
              <a:rPr lang="en-US" sz="2400" baseline="-25000" dirty="0"/>
              <a:t>4</a:t>
            </a:r>
          </a:p>
          <a:p>
            <a:r>
              <a:rPr lang="en-US" sz="2400" dirty="0"/>
              <a:t>Parents of </a:t>
            </a:r>
            <a:r>
              <a:rPr lang="en-US" sz="2400" i="1" dirty="0"/>
              <a:t>X</a:t>
            </a:r>
            <a:r>
              <a:rPr lang="en-US" sz="2400" i="1" baseline="-25000" dirty="0"/>
              <a:t>4</a:t>
            </a:r>
            <a:r>
              <a:rPr lang="en-US" sz="2400" dirty="0"/>
              <a:t>? None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A340E-EF0F-9E4A-B7FD-C37BBCB7B9B7}"/>
              </a:ext>
            </a:extLst>
          </p:cNvPr>
          <p:cNvSpPr/>
          <p:nvPr/>
        </p:nvSpPr>
        <p:spPr>
          <a:xfrm>
            <a:off x="7378262" y="1326951"/>
            <a:ext cx="1166648" cy="3843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394E54-AB3D-3D4F-A75F-80C4AEC5AF2A}"/>
              </a:ext>
            </a:extLst>
          </p:cNvPr>
          <p:cNvSpPr/>
          <p:nvPr/>
        </p:nvSpPr>
        <p:spPr>
          <a:xfrm>
            <a:off x="7378262" y="1742450"/>
            <a:ext cx="1166648" cy="3843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0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810" name="Group 2"/>
          <p:cNvGrpSpPr>
            <a:grpSpLocks/>
          </p:cNvGrpSpPr>
          <p:nvPr/>
        </p:nvGrpSpPr>
        <p:grpSpPr bwMode="auto">
          <a:xfrm>
            <a:off x="3505200" y="4800600"/>
            <a:ext cx="2590800" cy="685800"/>
            <a:chOff x="2208" y="3024"/>
            <a:chExt cx="1632" cy="432"/>
          </a:xfrm>
        </p:grpSpPr>
        <p:sp>
          <p:nvSpPr>
            <p:cNvPr id="887811" name="Line 3"/>
            <p:cNvSpPr>
              <a:spLocks noChangeShapeType="1"/>
            </p:cNvSpPr>
            <p:nvPr/>
          </p:nvSpPr>
          <p:spPr bwMode="auto">
            <a:xfrm>
              <a:off x="2208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12" name="Line 4"/>
            <p:cNvSpPr>
              <a:spLocks noChangeShapeType="1"/>
            </p:cNvSpPr>
            <p:nvPr/>
          </p:nvSpPr>
          <p:spPr bwMode="auto">
            <a:xfrm>
              <a:off x="3456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13" name="Line 5"/>
            <p:cNvSpPr>
              <a:spLocks noChangeShapeType="1"/>
            </p:cNvSpPr>
            <p:nvPr/>
          </p:nvSpPr>
          <p:spPr bwMode="auto">
            <a:xfrm flipH="1">
              <a:off x="2880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887814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123182"/>
            <a:ext cx="9144000" cy="746570"/>
          </a:xfrm>
        </p:spPr>
        <p:txBody>
          <a:bodyPr/>
          <a:lstStyle/>
          <a:p>
            <a:r>
              <a:rPr lang="en-US" sz="4000" dirty="0"/>
              <a:t>Efficient representation and inference</a:t>
            </a:r>
            <a:endParaRPr lang="en-US" dirty="0"/>
          </a:p>
        </p:txBody>
      </p:sp>
      <p:sp>
        <p:nvSpPr>
          <p:cNvPr id="88781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46069" y="1083647"/>
            <a:ext cx="5975312" cy="3290887"/>
          </a:xfrm>
          <a:noFill/>
          <a:ln/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/>
              <a:t>Four random variables:</a:t>
            </a:r>
            <a:endParaRPr lang="en-US" sz="2800" dirty="0"/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1</a:t>
            </a:r>
            <a:r>
              <a:rPr lang="en-US" sz="2800" dirty="0"/>
              <a:t>	coin toss produces heads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2</a:t>
            </a:r>
            <a:r>
              <a:rPr lang="en-US" sz="2800" dirty="0"/>
              <a:t>	pencil levitates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3</a:t>
            </a:r>
            <a:r>
              <a:rPr lang="en-US" sz="2800" dirty="0"/>
              <a:t>	friend has psychic powers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4</a:t>
            </a:r>
            <a:r>
              <a:rPr lang="en-US" sz="2800" dirty="0"/>
              <a:t>	friend has two-headed coin</a:t>
            </a:r>
          </a:p>
        </p:txBody>
      </p:sp>
      <p:grpSp>
        <p:nvGrpSpPr>
          <p:cNvPr id="887816" name="Group 8"/>
          <p:cNvGrpSpPr>
            <a:grpSpLocks/>
          </p:cNvGrpSpPr>
          <p:nvPr/>
        </p:nvGrpSpPr>
        <p:grpSpPr bwMode="auto">
          <a:xfrm>
            <a:off x="3048000" y="4267200"/>
            <a:ext cx="3581400" cy="1752600"/>
            <a:chOff x="1920" y="2688"/>
            <a:chExt cx="2256" cy="1104"/>
          </a:xfrm>
        </p:grpSpPr>
        <p:sp>
          <p:nvSpPr>
            <p:cNvPr id="887817" name="Oval 9"/>
            <p:cNvSpPr>
              <a:spLocks noChangeArrowheads="1"/>
            </p:cNvSpPr>
            <p:nvPr/>
          </p:nvSpPr>
          <p:spPr bwMode="auto">
            <a:xfrm>
              <a:off x="2544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18" name="Text Box 10"/>
            <p:cNvSpPr txBox="1">
              <a:spLocks noChangeArrowheads="1"/>
            </p:cNvSpPr>
            <p:nvPr/>
          </p:nvSpPr>
          <p:spPr bwMode="auto">
            <a:xfrm>
              <a:off x="2592" y="345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1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887819" name="Oval 11"/>
            <p:cNvSpPr>
              <a:spLocks noChangeArrowheads="1"/>
            </p:cNvSpPr>
            <p:nvPr/>
          </p:nvSpPr>
          <p:spPr bwMode="auto">
            <a:xfrm>
              <a:off x="3792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20" name="Text Box 12"/>
            <p:cNvSpPr txBox="1">
              <a:spLocks noChangeArrowheads="1"/>
            </p:cNvSpPr>
            <p:nvPr/>
          </p:nvSpPr>
          <p:spPr bwMode="auto">
            <a:xfrm>
              <a:off x="3840" y="345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887821" name="Oval 13"/>
            <p:cNvSpPr>
              <a:spLocks noChangeArrowheads="1"/>
            </p:cNvSpPr>
            <p:nvPr/>
          </p:nvSpPr>
          <p:spPr bwMode="auto">
            <a:xfrm>
              <a:off x="3168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22" name="Text Box 14"/>
            <p:cNvSpPr txBox="1">
              <a:spLocks noChangeArrowheads="1"/>
            </p:cNvSpPr>
            <p:nvPr/>
          </p:nvSpPr>
          <p:spPr bwMode="auto">
            <a:xfrm>
              <a:off x="3216" y="273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887823" name="Oval 15"/>
            <p:cNvSpPr>
              <a:spLocks noChangeArrowheads="1"/>
            </p:cNvSpPr>
            <p:nvPr/>
          </p:nvSpPr>
          <p:spPr bwMode="auto">
            <a:xfrm>
              <a:off x="1920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24" name="Text Box 16"/>
            <p:cNvSpPr txBox="1">
              <a:spLocks noChangeArrowheads="1"/>
            </p:cNvSpPr>
            <p:nvPr/>
          </p:nvSpPr>
          <p:spPr bwMode="auto">
            <a:xfrm>
              <a:off x="1967" y="273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</p:grpSp>
      <p:grpSp>
        <p:nvGrpSpPr>
          <p:cNvPr id="887825" name="Group 17"/>
          <p:cNvGrpSpPr>
            <a:grpSpLocks/>
          </p:cNvGrpSpPr>
          <p:nvPr/>
        </p:nvGrpSpPr>
        <p:grpSpPr bwMode="auto">
          <a:xfrm>
            <a:off x="2217737" y="4343401"/>
            <a:ext cx="5554663" cy="1604963"/>
            <a:chOff x="1397" y="2736"/>
            <a:chExt cx="3499" cy="1011"/>
          </a:xfrm>
        </p:grpSpPr>
        <p:sp>
          <p:nvSpPr>
            <p:cNvPr id="887826" name="Text Box 18"/>
            <p:cNvSpPr txBox="1">
              <a:spLocks noChangeArrowheads="1"/>
            </p:cNvSpPr>
            <p:nvPr/>
          </p:nvSpPr>
          <p:spPr bwMode="auto">
            <a:xfrm>
              <a:off x="1397" y="2736"/>
              <a:ext cx="5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P</a:t>
              </a:r>
              <a:r>
                <a:rPr lang="en-US" sz="2400">
                  <a:cs typeface="ＭＳ Ｐゴシック" charset="0"/>
                </a:rPr>
                <a:t>(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r>
                <a:rPr lang="en-US" sz="2400">
                  <a:cs typeface="ＭＳ Ｐゴシック" charset="0"/>
                </a:rPr>
                <a:t>)</a:t>
              </a:r>
              <a:endParaRPr lang="en-US" sz="2400" baseline="-25000">
                <a:cs typeface="ＭＳ Ｐゴシック" charset="0"/>
              </a:endParaRPr>
            </a:p>
          </p:txBody>
        </p:sp>
        <p:sp>
          <p:nvSpPr>
            <p:cNvPr id="887827" name="Text Box 19"/>
            <p:cNvSpPr txBox="1">
              <a:spLocks noChangeArrowheads="1"/>
            </p:cNvSpPr>
            <p:nvPr/>
          </p:nvSpPr>
          <p:spPr bwMode="auto">
            <a:xfrm>
              <a:off x="3557" y="2736"/>
              <a:ext cx="5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P</a:t>
              </a:r>
              <a:r>
                <a:rPr lang="en-US" sz="2400">
                  <a:cs typeface="ＭＳ Ｐゴシック" charset="0"/>
                </a:rPr>
                <a:t>(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r>
                <a:rPr lang="en-US" sz="2400">
                  <a:cs typeface="ＭＳ Ｐゴシック" charset="0"/>
                </a:rPr>
                <a:t>)</a:t>
              </a:r>
              <a:endParaRPr lang="en-US" sz="2400" baseline="-25000">
                <a:cs typeface="ＭＳ Ｐゴシック" charset="0"/>
              </a:endParaRPr>
            </a:p>
          </p:txBody>
        </p:sp>
        <p:sp>
          <p:nvSpPr>
            <p:cNvPr id="887828" name="Text Box 20"/>
            <p:cNvSpPr txBox="1">
              <a:spLocks noChangeArrowheads="1"/>
            </p:cNvSpPr>
            <p:nvPr/>
          </p:nvSpPr>
          <p:spPr bwMode="auto">
            <a:xfrm>
              <a:off x="4158" y="3456"/>
              <a:ext cx="73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 dirty="0">
                  <a:cs typeface="ＭＳ Ｐゴシック" charset="0"/>
                </a:rPr>
                <a:t>P</a:t>
              </a:r>
              <a:r>
                <a:rPr lang="en-US" sz="2400" dirty="0">
                  <a:cs typeface="ＭＳ Ｐゴシック" charset="0"/>
                </a:rPr>
                <a:t>(</a:t>
              </a:r>
              <a:r>
                <a:rPr lang="en-US" sz="2400" i="1" dirty="0">
                  <a:cs typeface="ＭＳ Ｐゴシック" charset="0"/>
                </a:rPr>
                <a:t>x</a:t>
              </a:r>
              <a:r>
                <a:rPr lang="en-US" sz="2400" baseline="-25000" dirty="0">
                  <a:cs typeface="ＭＳ Ｐゴシック" charset="0"/>
                </a:rPr>
                <a:t>2</a:t>
              </a:r>
              <a:r>
                <a:rPr lang="en-US" sz="2400" dirty="0">
                  <a:cs typeface="ＭＳ Ｐゴシック" charset="0"/>
                </a:rPr>
                <a:t>|</a:t>
              </a:r>
              <a:r>
                <a:rPr lang="en-US" sz="2400" i="1" dirty="0">
                  <a:cs typeface="ＭＳ Ｐゴシック" charset="0"/>
                </a:rPr>
                <a:t>x</a:t>
              </a:r>
              <a:r>
                <a:rPr lang="en-US" sz="2400" baseline="-25000" dirty="0">
                  <a:cs typeface="ＭＳ Ｐゴシック" charset="0"/>
                </a:rPr>
                <a:t>3</a:t>
              </a:r>
              <a:r>
                <a:rPr lang="en-US" sz="2400" dirty="0">
                  <a:cs typeface="ＭＳ Ｐゴシック" charset="0"/>
                </a:rPr>
                <a:t>)</a:t>
              </a:r>
            </a:p>
          </p:txBody>
        </p:sp>
        <p:sp>
          <p:nvSpPr>
            <p:cNvPr id="887829" name="Text Box 21"/>
            <p:cNvSpPr txBox="1">
              <a:spLocks noChangeArrowheads="1"/>
            </p:cNvSpPr>
            <p:nvPr/>
          </p:nvSpPr>
          <p:spPr bwMode="auto">
            <a:xfrm>
              <a:off x="1534" y="3456"/>
              <a:ext cx="9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P</a:t>
              </a:r>
              <a:r>
                <a:rPr lang="en-US" sz="2400">
                  <a:cs typeface="ＭＳ Ｐゴシック" charset="0"/>
                </a:rPr>
                <a:t>(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1</a:t>
              </a:r>
              <a:r>
                <a:rPr lang="en-US" sz="2400">
                  <a:cs typeface="ＭＳ Ｐゴシック" charset="0"/>
                </a:rPr>
                <a:t>|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r>
                <a:rPr lang="en-US" sz="2400">
                  <a:cs typeface="ＭＳ Ｐゴシック" charset="0"/>
                </a:rPr>
                <a:t>, 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r>
                <a:rPr lang="en-US" sz="2400">
                  <a:cs typeface="ＭＳ Ｐゴシック" charset="0"/>
                </a:rPr>
                <a:t>)</a:t>
              </a:r>
            </a:p>
          </p:txBody>
        </p:sp>
      </p:grpSp>
      <p:sp>
        <p:nvSpPr>
          <p:cNvPr id="28" name="Text Box 22"/>
          <p:cNvSpPr txBox="1">
            <a:spLocks noChangeArrowheads="1"/>
          </p:cNvSpPr>
          <p:nvPr/>
        </p:nvSpPr>
        <p:spPr bwMode="auto">
          <a:xfrm>
            <a:off x="2286000" y="6304740"/>
            <a:ext cx="670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>
                <a:cs typeface="ＭＳ Ｐゴシック" charset="0"/>
              </a:rPr>
              <a:t>P</a:t>
            </a:r>
            <a:r>
              <a:rPr lang="en-US" sz="2400">
                <a:cs typeface="ＭＳ Ｐゴシック" charset="0"/>
              </a:rPr>
              <a:t>(</a:t>
            </a:r>
            <a:r>
              <a:rPr lang="en-US" sz="2400" i="1">
                <a:cs typeface="ＭＳ Ｐゴシック" charset="0"/>
              </a:rPr>
              <a:t>x</a:t>
            </a:r>
            <a:r>
              <a:rPr lang="en-US" sz="2400" i="1" baseline="-25000">
                <a:cs typeface="ＭＳ Ｐゴシック" charset="0"/>
              </a:rPr>
              <a:t>1</a:t>
            </a:r>
            <a:r>
              <a:rPr lang="en-US" sz="2400">
                <a:cs typeface="ＭＳ Ｐゴシック" charset="0"/>
              </a:rPr>
              <a:t>, </a:t>
            </a:r>
            <a:r>
              <a:rPr lang="en-US" sz="2400" i="1">
                <a:cs typeface="ＭＳ Ｐゴシック" charset="0"/>
              </a:rPr>
              <a:t>x</a:t>
            </a:r>
            <a:r>
              <a:rPr lang="en-US" sz="2400" baseline="-25000">
                <a:cs typeface="ＭＳ Ｐゴシック" charset="0"/>
              </a:rPr>
              <a:t>2</a:t>
            </a:r>
            <a:r>
              <a:rPr lang="en-US" sz="2400">
                <a:cs typeface="ＭＳ Ｐゴシック" charset="0"/>
              </a:rPr>
              <a:t>, </a:t>
            </a:r>
            <a:r>
              <a:rPr lang="en-US" sz="2400" i="1">
                <a:cs typeface="ＭＳ Ｐゴシック" charset="0"/>
              </a:rPr>
              <a:t>x</a:t>
            </a:r>
            <a:r>
              <a:rPr lang="en-US" sz="2400" baseline="-25000">
                <a:cs typeface="ＭＳ Ｐゴシック" charset="0"/>
              </a:rPr>
              <a:t>3</a:t>
            </a:r>
            <a:r>
              <a:rPr lang="en-US" sz="2400">
                <a:cs typeface="ＭＳ Ｐゴシック" charset="0"/>
              </a:rPr>
              <a:t>, </a:t>
            </a:r>
            <a:r>
              <a:rPr lang="en-US" sz="2400" i="1">
                <a:cs typeface="ＭＳ Ｐゴシック" charset="0"/>
              </a:rPr>
              <a:t>x</a:t>
            </a:r>
            <a:r>
              <a:rPr lang="en-US" sz="2400" baseline="-25000">
                <a:cs typeface="ＭＳ Ｐゴシック" charset="0"/>
              </a:rPr>
              <a:t>4</a:t>
            </a:r>
            <a:r>
              <a:rPr lang="en-US" sz="2400">
                <a:cs typeface="ＭＳ Ｐゴシック" charset="0"/>
              </a:rPr>
              <a:t>) = </a:t>
            </a:r>
            <a:r>
              <a:rPr lang="en-US" sz="2400" i="1">
                <a:cs typeface="ＭＳ Ｐゴシック" charset="0"/>
              </a:rPr>
              <a:t>P</a:t>
            </a:r>
            <a:r>
              <a:rPr lang="en-US" sz="2400">
                <a:cs typeface="ＭＳ Ｐゴシック" charset="0"/>
              </a:rPr>
              <a:t>(</a:t>
            </a:r>
            <a:r>
              <a:rPr lang="en-US" sz="2400" i="1">
                <a:cs typeface="ＭＳ Ｐゴシック" charset="0"/>
              </a:rPr>
              <a:t>x</a:t>
            </a:r>
            <a:r>
              <a:rPr lang="en-US" sz="2400" baseline="-25000">
                <a:cs typeface="ＭＳ Ｐゴシック" charset="0"/>
              </a:rPr>
              <a:t>1</a:t>
            </a:r>
            <a:r>
              <a:rPr lang="en-US" sz="2400">
                <a:cs typeface="ＭＳ Ｐゴシック" charset="0"/>
              </a:rPr>
              <a:t>|</a:t>
            </a:r>
            <a:r>
              <a:rPr lang="en-US" sz="2400" i="1">
                <a:cs typeface="ＭＳ Ｐゴシック" charset="0"/>
              </a:rPr>
              <a:t>x</a:t>
            </a:r>
            <a:r>
              <a:rPr lang="en-US" sz="2400" baseline="-25000">
                <a:cs typeface="ＭＳ Ｐゴシック" charset="0"/>
              </a:rPr>
              <a:t>3</a:t>
            </a:r>
            <a:r>
              <a:rPr lang="en-US" sz="2400">
                <a:cs typeface="ＭＳ Ｐゴシック" charset="0"/>
              </a:rPr>
              <a:t>, </a:t>
            </a:r>
            <a:r>
              <a:rPr lang="en-US" sz="2400" i="1">
                <a:cs typeface="ＭＳ Ｐゴシック" charset="0"/>
              </a:rPr>
              <a:t>x</a:t>
            </a:r>
            <a:r>
              <a:rPr lang="en-US" sz="2400" baseline="-25000">
                <a:cs typeface="ＭＳ Ｐゴシック" charset="0"/>
              </a:rPr>
              <a:t>4</a:t>
            </a:r>
            <a:r>
              <a:rPr lang="en-US" sz="2400">
                <a:cs typeface="ＭＳ Ｐゴシック" charset="0"/>
              </a:rPr>
              <a:t>)</a:t>
            </a:r>
            <a:r>
              <a:rPr lang="en-US" sz="2400" i="1">
                <a:cs typeface="ＭＳ Ｐゴシック" charset="0"/>
              </a:rPr>
              <a:t>P</a:t>
            </a:r>
            <a:r>
              <a:rPr lang="en-US" sz="2400">
                <a:cs typeface="ＭＳ Ｐゴシック" charset="0"/>
              </a:rPr>
              <a:t>(</a:t>
            </a:r>
            <a:r>
              <a:rPr lang="en-US" sz="2400" i="1">
                <a:cs typeface="ＭＳ Ｐゴシック" charset="0"/>
              </a:rPr>
              <a:t>x</a:t>
            </a:r>
            <a:r>
              <a:rPr lang="en-US" sz="2400" baseline="-25000">
                <a:cs typeface="ＭＳ Ｐゴシック" charset="0"/>
              </a:rPr>
              <a:t>2</a:t>
            </a:r>
            <a:r>
              <a:rPr lang="en-US" sz="2400">
                <a:cs typeface="ＭＳ Ｐゴシック" charset="0"/>
              </a:rPr>
              <a:t>|</a:t>
            </a:r>
            <a:r>
              <a:rPr lang="en-US" sz="2400" i="1">
                <a:cs typeface="ＭＳ Ｐゴシック" charset="0"/>
              </a:rPr>
              <a:t>x</a:t>
            </a:r>
            <a:r>
              <a:rPr lang="en-US" sz="2400" baseline="-25000">
                <a:cs typeface="ＭＳ Ｐゴシック" charset="0"/>
              </a:rPr>
              <a:t>3</a:t>
            </a:r>
            <a:r>
              <a:rPr lang="en-US" sz="2400">
                <a:cs typeface="ＭＳ Ｐゴシック" charset="0"/>
              </a:rPr>
              <a:t>)</a:t>
            </a:r>
            <a:r>
              <a:rPr lang="en-US" sz="2400" i="1">
                <a:cs typeface="ＭＳ Ｐゴシック" charset="0"/>
              </a:rPr>
              <a:t>P</a:t>
            </a:r>
            <a:r>
              <a:rPr lang="en-US" sz="2400">
                <a:cs typeface="ＭＳ Ｐゴシック" charset="0"/>
              </a:rPr>
              <a:t>(</a:t>
            </a:r>
            <a:r>
              <a:rPr lang="en-US" sz="2400" i="1">
                <a:cs typeface="ＭＳ Ｐゴシック" charset="0"/>
              </a:rPr>
              <a:t>x</a:t>
            </a:r>
            <a:r>
              <a:rPr lang="en-US" sz="2400" baseline="-25000">
                <a:cs typeface="ＭＳ Ｐゴシック" charset="0"/>
              </a:rPr>
              <a:t>3</a:t>
            </a:r>
            <a:r>
              <a:rPr lang="en-US" sz="2400">
                <a:cs typeface="ＭＳ Ｐゴシック" charset="0"/>
              </a:rPr>
              <a:t>)</a:t>
            </a:r>
            <a:r>
              <a:rPr lang="en-US" sz="2400" i="1">
                <a:cs typeface="ＭＳ Ｐゴシック" charset="0"/>
              </a:rPr>
              <a:t>P</a:t>
            </a:r>
            <a:r>
              <a:rPr lang="en-US" sz="2400">
                <a:cs typeface="ＭＳ Ｐゴシック" charset="0"/>
              </a:rPr>
              <a:t>(</a:t>
            </a:r>
            <a:r>
              <a:rPr lang="en-US" sz="2400" i="1">
                <a:cs typeface="ＭＳ Ｐゴシック" charset="0"/>
              </a:rPr>
              <a:t>x</a:t>
            </a:r>
            <a:r>
              <a:rPr lang="en-US" sz="2400" baseline="-25000">
                <a:cs typeface="ＭＳ Ｐゴシック" charset="0"/>
              </a:rPr>
              <a:t>4</a:t>
            </a:r>
            <a:r>
              <a:rPr lang="en-US" sz="2400">
                <a:cs typeface="ＭＳ Ｐゴシック" charset="0"/>
              </a:rPr>
              <a:t>)</a:t>
            </a:r>
          </a:p>
        </p:txBody>
      </p:sp>
      <p:sp>
        <p:nvSpPr>
          <p:cNvPr id="29" name="Text Box 23"/>
          <p:cNvSpPr txBox="1">
            <a:spLocks noChangeArrowheads="1"/>
          </p:cNvSpPr>
          <p:nvPr/>
        </p:nvSpPr>
        <p:spPr bwMode="auto">
          <a:xfrm>
            <a:off x="1760071" y="4119563"/>
            <a:ext cx="3406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cs typeface="ＭＳ Ｐゴシック" charset="0"/>
              </a:rPr>
              <a:t>1</a:t>
            </a:r>
            <a:endParaRPr lang="en-US" sz="2400" dirty="0">
              <a:cs typeface="ＭＳ Ｐゴシック" charset="0"/>
            </a:endParaRPr>
          </a:p>
        </p:txBody>
      </p:sp>
      <p:sp>
        <p:nvSpPr>
          <p:cNvPr id="30" name="Text Box 24"/>
          <p:cNvSpPr txBox="1">
            <a:spLocks noChangeArrowheads="1"/>
          </p:cNvSpPr>
          <p:nvPr/>
        </p:nvSpPr>
        <p:spPr bwMode="auto">
          <a:xfrm>
            <a:off x="6560671" y="4119563"/>
            <a:ext cx="3406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cs typeface="ＭＳ Ｐゴシック" charset="0"/>
              </a:rPr>
              <a:t>1</a:t>
            </a:r>
            <a:endParaRPr lang="en-US" sz="2400">
              <a:cs typeface="ＭＳ Ｐゴシック" charset="0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7932271" y="5262563"/>
            <a:ext cx="3406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cs typeface="ＭＳ Ｐゴシック" charset="0"/>
              </a:rPr>
              <a:t>2</a:t>
            </a:r>
            <a:endParaRPr lang="en-US" sz="2400">
              <a:cs typeface="ＭＳ Ｐゴシック" charset="0"/>
            </a:endParaRPr>
          </a:p>
        </p:txBody>
      </p:sp>
      <p:sp>
        <p:nvSpPr>
          <p:cNvPr id="32" name="Text Box 26"/>
          <p:cNvSpPr txBox="1">
            <a:spLocks noChangeArrowheads="1"/>
          </p:cNvSpPr>
          <p:nvPr/>
        </p:nvSpPr>
        <p:spPr bwMode="auto">
          <a:xfrm>
            <a:off x="1988671" y="5249863"/>
            <a:ext cx="3406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cs typeface="ＭＳ Ｐゴシック" charset="0"/>
              </a:rPr>
              <a:t>4</a:t>
            </a:r>
            <a:endParaRPr lang="en-US" sz="2400">
              <a:cs typeface="ＭＳ Ｐゴシック" charset="0"/>
            </a:endParaRPr>
          </a:p>
        </p:txBody>
      </p:sp>
      <p:sp>
        <p:nvSpPr>
          <p:cNvPr id="33" name="Text Box 27"/>
          <p:cNvSpPr txBox="1">
            <a:spLocks noChangeArrowheads="1"/>
          </p:cNvSpPr>
          <p:nvPr/>
        </p:nvSpPr>
        <p:spPr bwMode="auto">
          <a:xfrm>
            <a:off x="461963" y="6296803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cs typeface="ＭＳ Ｐゴシック" charset="0"/>
              </a:rPr>
              <a:t>total = 8 (vs 15)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46737" y="1740220"/>
            <a:ext cx="31841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How many values to specify?</a:t>
            </a:r>
          </a:p>
        </p:txBody>
      </p:sp>
    </p:spTree>
    <p:extLst>
      <p:ext uri="{BB962C8B-B14F-4D97-AF65-F5344CB8AC3E}">
        <p14:creationId xmlns:p14="http://schemas.microsoft.com/office/powerpoint/2010/main" val="97869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810" name="Group 2"/>
          <p:cNvGrpSpPr>
            <a:grpSpLocks/>
          </p:cNvGrpSpPr>
          <p:nvPr/>
        </p:nvGrpSpPr>
        <p:grpSpPr bwMode="auto">
          <a:xfrm>
            <a:off x="3505200" y="4800600"/>
            <a:ext cx="2590800" cy="685800"/>
            <a:chOff x="2208" y="3024"/>
            <a:chExt cx="1632" cy="432"/>
          </a:xfrm>
        </p:grpSpPr>
        <p:sp>
          <p:nvSpPr>
            <p:cNvPr id="887811" name="Line 3"/>
            <p:cNvSpPr>
              <a:spLocks noChangeShapeType="1"/>
            </p:cNvSpPr>
            <p:nvPr/>
          </p:nvSpPr>
          <p:spPr bwMode="auto">
            <a:xfrm>
              <a:off x="2208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12" name="Line 4"/>
            <p:cNvSpPr>
              <a:spLocks noChangeShapeType="1"/>
            </p:cNvSpPr>
            <p:nvPr/>
          </p:nvSpPr>
          <p:spPr bwMode="auto">
            <a:xfrm>
              <a:off x="3456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13" name="Line 5"/>
            <p:cNvSpPr>
              <a:spLocks noChangeShapeType="1"/>
            </p:cNvSpPr>
            <p:nvPr/>
          </p:nvSpPr>
          <p:spPr bwMode="auto">
            <a:xfrm flipH="1">
              <a:off x="2880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887814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123182"/>
            <a:ext cx="9144000" cy="746570"/>
          </a:xfrm>
        </p:spPr>
        <p:txBody>
          <a:bodyPr/>
          <a:lstStyle/>
          <a:p>
            <a:r>
              <a:rPr lang="en-US" sz="4000" dirty="0"/>
              <a:t>Reading a Bayesian network</a:t>
            </a:r>
            <a:endParaRPr lang="en-US" dirty="0"/>
          </a:p>
        </p:txBody>
      </p:sp>
      <p:sp>
        <p:nvSpPr>
          <p:cNvPr id="88781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46069" y="1083647"/>
            <a:ext cx="5975312" cy="3290887"/>
          </a:xfrm>
          <a:noFill/>
          <a:ln/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b="1" dirty="0"/>
              <a:t>Four random variables:</a:t>
            </a:r>
            <a:endParaRPr lang="en-US" sz="2800" dirty="0"/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1</a:t>
            </a:r>
            <a:r>
              <a:rPr lang="en-US" sz="2800" dirty="0"/>
              <a:t>	coin toss produces heads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2</a:t>
            </a:r>
            <a:r>
              <a:rPr lang="en-US" sz="2800" dirty="0"/>
              <a:t>	pencil levitates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3</a:t>
            </a:r>
            <a:r>
              <a:rPr lang="en-US" sz="2800" dirty="0"/>
              <a:t>	friend has psychic powers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4</a:t>
            </a:r>
            <a:r>
              <a:rPr lang="en-US" sz="2800" dirty="0"/>
              <a:t>	friend has two-headed coin</a:t>
            </a:r>
          </a:p>
        </p:txBody>
      </p:sp>
      <p:grpSp>
        <p:nvGrpSpPr>
          <p:cNvPr id="887816" name="Group 8"/>
          <p:cNvGrpSpPr>
            <a:grpSpLocks/>
          </p:cNvGrpSpPr>
          <p:nvPr/>
        </p:nvGrpSpPr>
        <p:grpSpPr bwMode="auto">
          <a:xfrm>
            <a:off x="3048000" y="4267200"/>
            <a:ext cx="3581400" cy="1752600"/>
            <a:chOff x="1920" y="2688"/>
            <a:chExt cx="2256" cy="1104"/>
          </a:xfrm>
        </p:grpSpPr>
        <p:sp>
          <p:nvSpPr>
            <p:cNvPr id="887817" name="Oval 9"/>
            <p:cNvSpPr>
              <a:spLocks noChangeArrowheads="1"/>
            </p:cNvSpPr>
            <p:nvPr/>
          </p:nvSpPr>
          <p:spPr bwMode="auto">
            <a:xfrm>
              <a:off x="2544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18" name="Text Box 10"/>
            <p:cNvSpPr txBox="1">
              <a:spLocks noChangeArrowheads="1"/>
            </p:cNvSpPr>
            <p:nvPr/>
          </p:nvSpPr>
          <p:spPr bwMode="auto">
            <a:xfrm>
              <a:off x="2592" y="345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1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887819" name="Oval 11"/>
            <p:cNvSpPr>
              <a:spLocks noChangeArrowheads="1"/>
            </p:cNvSpPr>
            <p:nvPr/>
          </p:nvSpPr>
          <p:spPr bwMode="auto">
            <a:xfrm>
              <a:off x="3792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20" name="Text Box 12"/>
            <p:cNvSpPr txBox="1">
              <a:spLocks noChangeArrowheads="1"/>
            </p:cNvSpPr>
            <p:nvPr/>
          </p:nvSpPr>
          <p:spPr bwMode="auto">
            <a:xfrm>
              <a:off x="3840" y="345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887821" name="Oval 13"/>
            <p:cNvSpPr>
              <a:spLocks noChangeArrowheads="1"/>
            </p:cNvSpPr>
            <p:nvPr/>
          </p:nvSpPr>
          <p:spPr bwMode="auto">
            <a:xfrm>
              <a:off x="3168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22" name="Text Box 14"/>
            <p:cNvSpPr txBox="1">
              <a:spLocks noChangeArrowheads="1"/>
            </p:cNvSpPr>
            <p:nvPr/>
          </p:nvSpPr>
          <p:spPr bwMode="auto">
            <a:xfrm>
              <a:off x="3216" y="273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887823" name="Oval 15"/>
            <p:cNvSpPr>
              <a:spLocks noChangeArrowheads="1"/>
            </p:cNvSpPr>
            <p:nvPr/>
          </p:nvSpPr>
          <p:spPr bwMode="auto">
            <a:xfrm>
              <a:off x="1920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87824" name="Text Box 16"/>
            <p:cNvSpPr txBox="1">
              <a:spLocks noChangeArrowheads="1"/>
            </p:cNvSpPr>
            <p:nvPr/>
          </p:nvSpPr>
          <p:spPr bwMode="auto">
            <a:xfrm>
              <a:off x="1967" y="2736"/>
              <a:ext cx="2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</p:grpSp>
      <p:grpSp>
        <p:nvGrpSpPr>
          <p:cNvPr id="887825" name="Group 17"/>
          <p:cNvGrpSpPr>
            <a:grpSpLocks/>
          </p:cNvGrpSpPr>
          <p:nvPr/>
        </p:nvGrpSpPr>
        <p:grpSpPr bwMode="auto">
          <a:xfrm>
            <a:off x="2217737" y="4343401"/>
            <a:ext cx="5554663" cy="1604963"/>
            <a:chOff x="1397" y="2736"/>
            <a:chExt cx="3499" cy="1011"/>
          </a:xfrm>
        </p:grpSpPr>
        <p:sp>
          <p:nvSpPr>
            <p:cNvPr id="887826" name="Text Box 18"/>
            <p:cNvSpPr txBox="1">
              <a:spLocks noChangeArrowheads="1"/>
            </p:cNvSpPr>
            <p:nvPr/>
          </p:nvSpPr>
          <p:spPr bwMode="auto">
            <a:xfrm>
              <a:off x="1397" y="2736"/>
              <a:ext cx="5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P</a:t>
              </a:r>
              <a:r>
                <a:rPr lang="en-US" sz="2400">
                  <a:cs typeface="ＭＳ Ｐゴシック" charset="0"/>
                </a:rPr>
                <a:t>(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r>
                <a:rPr lang="en-US" sz="2400">
                  <a:cs typeface="ＭＳ Ｐゴシック" charset="0"/>
                </a:rPr>
                <a:t>)</a:t>
              </a:r>
              <a:endParaRPr lang="en-US" sz="2400" baseline="-25000">
                <a:cs typeface="ＭＳ Ｐゴシック" charset="0"/>
              </a:endParaRPr>
            </a:p>
          </p:txBody>
        </p:sp>
        <p:sp>
          <p:nvSpPr>
            <p:cNvPr id="887827" name="Text Box 19"/>
            <p:cNvSpPr txBox="1">
              <a:spLocks noChangeArrowheads="1"/>
            </p:cNvSpPr>
            <p:nvPr/>
          </p:nvSpPr>
          <p:spPr bwMode="auto">
            <a:xfrm>
              <a:off x="3557" y="2736"/>
              <a:ext cx="5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P</a:t>
              </a:r>
              <a:r>
                <a:rPr lang="en-US" sz="2400">
                  <a:cs typeface="ＭＳ Ｐゴシック" charset="0"/>
                </a:rPr>
                <a:t>(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r>
                <a:rPr lang="en-US" sz="2400">
                  <a:cs typeface="ＭＳ Ｐゴシック" charset="0"/>
                </a:rPr>
                <a:t>)</a:t>
              </a:r>
              <a:endParaRPr lang="en-US" sz="2400" baseline="-25000">
                <a:cs typeface="ＭＳ Ｐゴシック" charset="0"/>
              </a:endParaRPr>
            </a:p>
          </p:txBody>
        </p:sp>
        <p:sp>
          <p:nvSpPr>
            <p:cNvPr id="887828" name="Text Box 20"/>
            <p:cNvSpPr txBox="1">
              <a:spLocks noChangeArrowheads="1"/>
            </p:cNvSpPr>
            <p:nvPr/>
          </p:nvSpPr>
          <p:spPr bwMode="auto">
            <a:xfrm>
              <a:off x="4158" y="3456"/>
              <a:ext cx="73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 dirty="0">
                  <a:cs typeface="ＭＳ Ｐゴシック" charset="0"/>
                </a:rPr>
                <a:t>P</a:t>
              </a:r>
              <a:r>
                <a:rPr lang="en-US" sz="2400" dirty="0">
                  <a:cs typeface="ＭＳ Ｐゴシック" charset="0"/>
                </a:rPr>
                <a:t>(</a:t>
              </a:r>
              <a:r>
                <a:rPr lang="en-US" sz="2400" i="1" dirty="0">
                  <a:cs typeface="ＭＳ Ｐゴシック" charset="0"/>
                </a:rPr>
                <a:t>x</a:t>
              </a:r>
              <a:r>
                <a:rPr lang="en-US" sz="2400" baseline="-25000" dirty="0">
                  <a:cs typeface="ＭＳ Ｐゴシック" charset="0"/>
                </a:rPr>
                <a:t>2</a:t>
              </a:r>
              <a:r>
                <a:rPr lang="en-US" sz="2400" dirty="0">
                  <a:cs typeface="ＭＳ Ｐゴシック" charset="0"/>
                </a:rPr>
                <a:t>|</a:t>
              </a:r>
              <a:r>
                <a:rPr lang="en-US" sz="2400" i="1" dirty="0">
                  <a:cs typeface="ＭＳ Ｐゴシック" charset="0"/>
                </a:rPr>
                <a:t>x</a:t>
              </a:r>
              <a:r>
                <a:rPr lang="en-US" sz="2400" baseline="-25000" dirty="0">
                  <a:cs typeface="ＭＳ Ｐゴシック" charset="0"/>
                </a:rPr>
                <a:t>3</a:t>
              </a:r>
              <a:r>
                <a:rPr lang="en-US" sz="2400" dirty="0">
                  <a:cs typeface="ＭＳ Ｐゴシック" charset="0"/>
                </a:rPr>
                <a:t>)</a:t>
              </a:r>
            </a:p>
          </p:txBody>
        </p:sp>
        <p:sp>
          <p:nvSpPr>
            <p:cNvPr id="887829" name="Text Box 21"/>
            <p:cNvSpPr txBox="1">
              <a:spLocks noChangeArrowheads="1"/>
            </p:cNvSpPr>
            <p:nvPr/>
          </p:nvSpPr>
          <p:spPr bwMode="auto">
            <a:xfrm>
              <a:off x="1534" y="3456"/>
              <a:ext cx="9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P</a:t>
              </a:r>
              <a:r>
                <a:rPr lang="en-US" sz="2400">
                  <a:cs typeface="ＭＳ Ｐゴシック" charset="0"/>
                </a:rPr>
                <a:t>(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1</a:t>
              </a:r>
              <a:r>
                <a:rPr lang="en-US" sz="2400">
                  <a:cs typeface="ＭＳ Ｐゴシック" charset="0"/>
                </a:rPr>
                <a:t>|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r>
                <a:rPr lang="en-US" sz="2400">
                  <a:cs typeface="ＭＳ Ｐゴシック" charset="0"/>
                </a:rPr>
                <a:t>, </a:t>
              </a:r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r>
                <a:rPr lang="en-US" sz="2400">
                  <a:cs typeface="ＭＳ Ｐゴシック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2461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395"/>
            <a:ext cx="9144000" cy="819259"/>
          </a:xfrm>
        </p:spPr>
        <p:txBody>
          <a:bodyPr/>
          <a:lstStyle/>
          <a:p>
            <a:r>
              <a:rPr lang="en-US" sz="4000" dirty="0"/>
              <a:t>Reading a Bayesian network</a:t>
            </a:r>
            <a:endParaRPr lang="en-US" dirty="0"/>
          </a:p>
        </p:txBody>
      </p:sp>
      <p:sp>
        <p:nvSpPr>
          <p:cNvPr id="992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8074"/>
            <a:ext cx="8915400" cy="5561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structure of a Bayes net can be read as the </a:t>
            </a:r>
            <a:r>
              <a:rPr lang="en-US" i="1" dirty="0"/>
              <a:t>generative process </a:t>
            </a:r>
            <a:r>
              <a:rPr lang="en-US" dirty="0"/>
              <a:t>behind a distribution.</a:t>
            </a:r>
          </a:p>
          <a:p>
            <a:endParaRPr lang="en-US" sz="1500" dirty="0"/>
          </a:p>
          <a:p>
            <a:pPr marL="0" indent="0">
              <a:buNone/>
            </a:pPr>
            <a:r>
              <a:rPr lang="en-US" dirty="0"/>
              <a:t>Gives the joint probability distribution over variables obtained by sampling each variable conditioned on its parents.</a:t>
            </a:r>
          </a:p>
          <a:p>
            <a:endParaRPr lang="en-US" sz="1500" dirty="0"/>
          </a:p>
          <a:p>
            <a:pPr marL="0" indent="0">
              <a:buNone/>
            </a:pPr>
            <a:r>
              <a:rPr lang="en-US" dirty="0"/>
              <a:t>Simple rules for determining whether two variables are dependent or independent.</a:t>
            </a:r>
          </a:p>
          <a:p>
            <a:endParaRPr lang="en-US" sz="15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3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4791"/>
            <a:ext cx="9144000" cy="729496"/>
          </a:xfrm>
        </p:spPr>
        <p:txBody>
          <a:bodyPr/>
          <a:lstStyle/>
          <a:p>
            <a:r>
              <a:rPr lang="en-US" sz="4000" dirty="0"/>
              <a:t>Identifying independence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685800" y="2545629"/>
            <a:ext cx="3352800" cy="609600"/>
            <a:chOff x="685800" y="2157615"/>
            <a:chExt cx="3352800" cy="609600"/>
          </a:xfrm>
        </p:grpSpPr>
        <p:grpSp>
          <p:nvGrpSpPr>
            <p:cNvPr id="990226" name="Group 18"/>
            <p:cNvGrpSpPr>
              <a:grpSpLocks/>
            </p:cNvGrpSpPr>
            <p:nvPr/>
          </p:nvGrpSpPr>
          <p:grpSpPr bwMode="auto">
            <a:xfrm>
              <a:off x="685800" y="2157615"/>
              <a:ext cx="609600" cy="609600"/>
              <a:chOff x="2496" y="1968"/>
              <a:chExt cx="384" cy="384"/>
            </a:xfrm>
          </p:grpSpPr>
          <p:sp>
            <p:nvSpPr>
              <p:cNvPr id="990214" name="Oval 6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215" name="Text Box 7"/>
              <p:cNvSpPr txBox="1">
                <a:spLocks noChangeArrowheads="1"/>
              </p:cNvSpPr>
              <p:nvPr/>
            </p:nvSpPr>
            <p:spPr bwMode="auto">
              <a:xfrm>
                <a:off x="2544" y="201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1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216" name="Oval 8"/>
            <p:cNvSpPr>
              <a:spLocks noChangeArrowheads="1"/>
            </p:cNvSpPr>
            <p:nvPr/>
          </p:nvSpPr>
          <p:spPr bwMode="auto">
            <a:xfrm>
              <a:off x="2057400" y="2157615"/>
              <a:ext cx="609600" cy="609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217" name="Text Box 9"/>
            <p:cNvSpPr txBox="1">
              <a:spLocks noChangeArrowheads="1"/>
            </p:cNvSpPr>
            <p:nvPr/>
          </p:nvSpPr>
          <p:spPr bwMode="auto">
            <a:xfrm>
              <a:off x="2133600" y="2233815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grpSp>
          <p:nvGrpSpPr>
            <p:cNvPr id="990228" name="Group 20"/>
            <p:cNvGrpSpPr>
              <a:grpSpLocks/>
            </p:cNvGrpSpPr>
            <p:nvPr/>
          </p:nvGrpSpPr>
          <p:grpSpPr bwMode="auto">
            <a:xfrm>
              <a:off x="3429000" y="2157615"/>
              <a:ext cx="609600" cy="609600"/>
              <a:chOff x="3120" y="1248"/>
              <a:chExt cx="384" cy="384"/>
            </a:xfrm>
          </p:grpSpPr>
          <p:sp>
            <p:nvSpPr>
              <p:cNvPr id="990218" name="Oval 10"/>
              <p:cNvSpPr>
                <a:spLocks noChangeArrowheads="1"/>
              </p:cNvSpPr>
              <p:nvPr/>
            </p:nvSpPr>
            <p:spPr bwMode="auto">
              <a:xfrm>
                <a:off x="3120" y="124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219" name="Text Box 11"/>
              <p:cNvSpPr txBox="1">
                <a:spLocks noChangeArrowheads="1"/>
              </p:cNvSpPr>
              <p:nvPr/>
            </p:nvSpPr>
            <p:spPr bwMode="auto">
              <a:xfrm>
                <a:off x="3168" y="12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3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223" name="Line 15"/>
            <p:cNvSpPr>
              <a:spLocks noChangeShapeType="1"/>
            </p:cNvSpPr>
            <p:nvPr/>
          </p:nvSpPr>
          <p:spPr bwMode="auto">
            <a:xfrm>
              <a:off x="1295400" y="2462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230" name="Line 22"/>
            <p:cNvSpPr>
              <a:spLocks noChangeShapeType="1"/>
            </p:cNvSpPr>
            <p:nvPr/>
          </p:nvSpPr>
          <p:spPr bwMode="auto">
            <a:xfrm>
              <a:off x="2667000" y="2462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85800" y="3688629"/>
            <a:ext cx="3352800" cy="609600"/>
            <a:chOff x="685800" y="3300615"/>
            <a:chExt cx="3352800" cy="609600"/>
          </a:xfrm>
        </p:grpSpPr>
        <p:grpSp>
          <p:nvGrpSpPr>
            <p:cNvPr id="990231" name="Group 23"/>
            <p:cNvGrpSpPr>
              <a:grpSpLocks/>
            </p:cNvGrpSpPr>
            <p:nvPr/>
          </p:nvGrpSpPr>
          <p:grpSpPr bwMode="auto">
            <a:xfrm>
              <a:off x="685800" y="3300615"/>
              <a:ext cx="609600" cy="609600"/>
              <a:chOff x="2496" y="1968"/>
              <a:chExt cx="384" cy="384"/>
            </a:xfrm>
          </p:grpSpPr>
          <p:sp>
            <p:nvSpPr>
              <p:cNvPr id="990232" name="Oval 24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233" name="Text Box 25"/>
              <p:cNvSpPr txBox="1">
                <a:spLocks noChangeArrowheads="1"/>
              </p:cNvSpPr>
              <p:nvPr/>
            </p:nvSpPr>
            <p:spPr bwMode="auto">
              <a:xfrm>
                <a:off x="2544" y="201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1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235" name="Oval 27"/>
            <p:cNvSpPr>
              <a:spLocks noChangeArrowheads="1"/>
            </p:cNvSpPr>
            <p:nvPr/>
          </p:nvSpPr>
          <p:spPr bwMode="auto">
            <a:xfrm>
              <a:off x="2057400" y="3300615"/>
              <a:ext cx="609600" cy="609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236" name="Text Box 28"/>
            <p:cNvSpPr txBox="1">
              <a:spLocks noChangeArrowheads="1"/>
            </p:cNvSpPr>
            <p:nvPr/>
          </p:nvSpPr>
          <p:spPr bwMode="auto">
            <a:xfrm>
              <a:off x="2133600" y="3365057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grpSp>
          <p:nvGrpSpPr>
            <p:cNvPr id="990237" name="Group 29"/>
            <p:cNvGrpSpPr>
              <a:grpSpLocks/>
            </p:cNvGrpSpPr>
            <p:nvPr/>
          </p:nvGrpSpPr>
          <p:grpSpPr bwMode="auto">
            <a:xfrm>
              <a:off x="3429000" y="3300615"/>
              <a:ext cx="609600" cy="609600"/>
              <a:chOff x="3120" y="1248"/>
              <a:chExt cx="384" cy="384"/>
            </a:xfrm>
          </p:grpSpPr>
          <p:sp>
            <p:nvSpPr>
              <p:cNvPr id="990238" name="Oval 30"/>
              <p:cNvSpPr>
                <a:spLocks noChangeArrowheads="1"/>
              </p:cNvSpPr>
              <p:nvPr/>
            </p:nvSpPr>
            <p:spPr bwMode="auto">
              <a:xfrm>
                <a:off x="3120" y="124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239" name="Text Box 31"/>
              <p:cNvSpPr txBox="1">
                <a:spLocks noChangeArrowheads="1"/>
              </p:cNvSpPr>
              <p:nvPr/>
            </p:nvSpPr>
            <p:spPr bwMode="auto">
              <a:xfrm>
                <a:off x="3168" y="12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3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240" name="Line 32"/>
            <p:cNvSpPr>
              <a:spLocks noChangeShapeType="1"/>
            </p:cNvSpPr>
            <p:nvPr/>
          </p:nvSpPr>
          <p:spPr bwMode="auto">
            <a:xfrm>
              <a:off x="1295400" y="3605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241" name="Line 33"/>
            <p:cNvSpPr>
              <a:spLocks noChangeShapeType="1"/>
            </p:cNvSpPr>
            <p:nvPr/>
          </p:nvSpPr>
          <p:spPr bwMode="auto">
            <a:xfrm>
              <a:off x="2667000" y="3605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85800" y="4831629"/>
            <a:ext cx="3352800" cy="609600"/>
            <a:chOff x="685800" y="4443615"/>
            <a:chExt cx="3352800" cy="609600"/>
          </a:xfrm>
        </p:grpSpPr>
        <p:grpSp>
          <p:nvGrpSpPr>
            <p:cNvPr id="990242" name="Group 34"/>
            <p:cNvGrpSpPr>
              <a:grpSpLocks/>
            </p:cNvGrpSpPr>
            <p:nvPr/>
          </p:nvGrpSpPr>
          <p:grpSpPr bwMode="auto">
            <a:xfrm>
              <a:off x="685800" y="4443615"/>
              <a:ext cx="609600" cy="609600"/>
              <a:chOff x="2496" y="1968"/>
              <a:chExt cx="384" cy="384"/>
            </a:xfrm>
          </p:grpSpPr>
          <p:sp>
            <p:nvSpPr>
              <p:cNvPr id="990243" name="Oval 35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244" name="Text Box 36"/>
              <p:cNvSpPr txBox="1">
                <a:spLocks noChangeArrowheads="1"/>
              </p:cNvSpPr>
              <p:nvPr/>
            </p:nvSpPr>
            <p:spPr bwMode="auto">
              <a:xfrm>
                <a:off x="2544" y="201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1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246" name="Oval 38"/>
            <p:cNvSpPr>
              <a:spLocks noChangeArrowheads="1"/>
            </p:cNvSpPr>
            <p:nvPr/>
          </p:nvSpPr>
          <p:spPr bwMode="auto">
            <a:xfrm>
              <a:off x="2057400" y="4443615"/>
              <a:ext cx="609600" cy="609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247" name="Text Box 39"/>
            <p:cNvSpPr txBox="1">
              <a:spLocks noChangeArrowheads="1"/>
            </p:cNvSpPr>
            <p:nvPr/>
          </p:nvSpPr>
          <p:spPr bwMode="auto">
            <a:xfrm>
              <a:off x="2133600" y="4519815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 dirty="0">
                  <a:cs typeface="ＭＳ Ｐゴシック" charset="0"/>
                </a:rPr>
                <a:t>X</a:t>
              </a:r>
              <a:r>
                <a:rPr lang="en-US" sz="2400" baseline="-25000" dirty="0">
                  <a:cs typeface="ＭＳ Ｐゴシック" charset="0"/>
                </a:rPr>
                <a:t>2</a:t>
              </a:r>
              <a:endParaRPr lang="en-US" sz="2400" dirty="0">
                <a:latin typeface="Arial" charset="0"/>
                <a:cs typeface="ＭＳ Ｐゴシック" charset="0"/>
              </a:endParaRPr>
            </a:p>
          </p:txBody>
        </p:sp>
        <p:grpSp>
          <p:nvGrpSpPr>
            <p:cNvPr id="990248" name="Group 40"/>
            <p:cNvGrpSpPr>
              <a:grpSpLocks/>
            </p:cNvGrpSpPr>
            <p:nvPr/>
          </p:nvGrpSpPr>
          <p:grpSpPr bwMode="auto">
            <a:xfrm>
              <a:off x="3429000" y="4443615"/>
              <a:ext cx="609600" cy="609600"/>
              <a:chOff x="3120" y="1248"/>
              <a:chExt cx="384" cy="384"/>
            </a:xfrm>
          </p:grpSpPr>
          <p:sp>
            <p:nvSpPr>
              <p:cNvPr id="990249" name="Oval 41"/>
              <p:cNvSpPr>
                <a:spLocks noChangeArrowheads="1"/>
              </p:cNvSpPr>
              <p:nvPr/>
            </p:nvSpPr>
            <p:spPr bwMode="auto">
              <a:xfrm>
                <a:off x="3120" y="124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250" name="Text Box 42"/>
              <p:cNvSpPr txBox="1">
                <a:spLocks noChangeArrowheads="1"/>
              </p:cNvSpPr>
              <p:nvPr/>
            </p:nvSpPr>
            <p:spPr bwMode="auto">
              <a:xfrm>
                <a:off x="3168" y="12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 dirty="0">
                    <a:cs typeface="ＭＳ Ｐゴシック" charset="0"/>
                  </a:rPr>
                  <a:t>X</a:t>
                </a:r>
                <a:r>
                  <a:rPr lang="en-US" sz="2400" baseline="-25000" dirty="0">
                    <a:cs typeface="ＭＳ Ｐゴシック" charset="0"/>
                  </a:rPr>
                  <a:t>3</a:t>
                </a:r>
                <a:endParaRPr lang="en-US" sz="2400" dirty="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251" name="Line 43"/>
            <p:cNvSpPr>
              <a:spLocks noChangeShapeType="1"/>
            </p:cNvSpPr>
            <p:nvPr/>
          </p:nvSpPr>
          <p:spPr bwMode="auto">
            <a:xfrm>
              <a:off x="1295400" y="4748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252" name="Line 44"/>
            <p:cNvSpPr>
              <a:spLocks noChangeShapeType="1"/>
            </p:cNvSpPr>
            <p:nvPr/>
          </p:nvSpPr>
          <p:spPr bwMode="auto">
            <a:xfrm>
              <a:off x="2667000" y="4748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953000" y="2545629"/>
            <a:ext cx="3352800" cy="609600"/>
            <a:chOff x="4953000" y="2157615"/>
            <a:chExt cx="3352800" cy="609600"/>
          </a:xfrm>
        </p:grpSpPr>
        <p:grpSp>
          <p:nvGrpSpPr>
            <p:cNvPr id="990308" name="Group 100"/>
            <p:cNvGrpSpPr>
              <a:grpSpLocks/>
            </p:cNvGrpSpPr>
            <p:nvPr/>
          </p:nvGrpSpPr>
          <p:grpSpPr bwMode="auto">
            <a:xfrm>
              <a:off x="4953000" y="2157615"/>
              <a:ext cx="609600" cy="609600"/>
              <a:chOff x="2496" y="1968"/>
              <a:chExt cx="384" cy="384"/>
            </a:xfrm>
          </p:grpSpPr>
          <p:sp>
            <p:nvSpPr>
              <p:cNvPr id="990309" name="Oval 101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310" name="Text Box 102"/>
              <p:cNvSpPr txBox="1">
                <a:spLocks noChangeArrowheads="1"/>
              </p:cNvSpPr>
              <p:nvPr/>
            </p:nvSpPr>
            <p:spPr bwMode="auto">
              <a:xfrm>
                <a:off x="2544" y="201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1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312" name="Oval 104"/>
            <p:cNvSpPr>
              <a:spLocks noChangeArrowheads="1"/>
            </p:cNvSpPr>
            <p:nvPr/>
          </p:nvSpPr>
          <p:spPr bwMode="auto">
            <a:xfrm>
              <a:off x="6324600" y="2157615"/>
              <a:ext cx="609600" cy="609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313" name="Text Box 105"/>
            <p:cNvSpPr txBox="1">
              <a:spLocks noChangeArrowheads="1"/>
            </p:cNvSpPr>
            <p:nvPr/>
          </p:nvSpPr>
          <p:spPr bwMode="auto">
            <a:xfrm>
              <a:off x="6400800" y="2233815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grpSp>
          <p:nvGrpSpPr>
            <p:cNvPr id="990314" name="Group 106"/>
            <p:cNvGrpSpPr>
              <a:grpSpLocks/>
            </p:cNvGrpSpPr>
            <p:nvPr/>
          </p:nvGrpSpPr>
          <p:grpSpPr bwMode="auto">
            <a:xfrm>
              <a:off x="7696200" y="2157615"/>
              <a:ext cx="609600" cy="609600"/>
              <a:chOff x="3120" y="1248"/>
              <a:chExt cx="384" cy="384"/>
            </a:xfrm>
          </p:grpSpPr>
          <p:sp>
            <p:nvSpPr>
              <p:cNvPr id="990315" name="Oval 107"/>
              <p:cNvSpPr>
                <a:spLocks noChangeArrowheads="1"/>
              </p:cNvSpPr>
              <p:nvPr/>
            </p:nvSpPr>
            <p:spPr bwMode="auto">
              <a:xfrm>
                <a:off x="3120" y="124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316" name="Text Box 108"/>
              <p:cNvSpPr txBox="1">
                <a:spLocks noChangeArrowheads="1"/>
              </p:cNvSpPr>
              <p:nvPr/>
            </p:nvSpPr>
            <p:spPr bwMode="auto">
              <a:xfrm>
                <a:off x="3168" y="12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3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317" name="Line 109"/>
            <p:cNvSpPr>
              <a:spLocks noChangeShapeType="1"/>
            </p:cNvSpPr>
            <p:nvPr/>
          </p:nvSpPr>
          <p:spPr bwMode="auto">
            <a:xfrm>
              <a:off x="5562600" y="2462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318" name="Line 110"/>
            <p:cNvSpPr>
              <a:spLocks noChangeShapeType="1"/>
            </p:cNvSpPr>
            <p:nvPr/>
          </p:nvSpPr>
          <p:spPr bwMode="auto">
            <a:xfrm>
              <a:off x="6934200" y="2462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953000" y="3688629"/>
            <a:ext cx="3352800" cy="609600"/>
            <a:chOff x="4953000" y="3300615"/>
            <a:chExt cx="3352800" cy="609600"/>
          </a:xfrm>
        </p:grpSpPr>
        <p:grpSp>
          <p:nvGrpSpPr>
            <p:cNvPr id="990319" name="Group 111"/>
            <p:cNvGrpSpPr>
              <a:grpSpLocks/>
            </p:cNvGrpSpPr>
            <p:nvPr/>
          </p:nvGrpSpPr>
          <p:grpSpPr bwMode="auto">
            <a:xfrm>
              <a:off x="4953000" y="3300615"/>
              <a:ext cx="609600" cy="609600"/>
              <a:chOff x="2496" y="1968"/>
              <a:chExt cx="384" cy="384"/>
            </a:xfrm>
          </p:grpSpPr>
          <p:sp>
            <p:nvSpPr>
              <p:cNvPr id="990320" name="Oval 112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321" name="Text Box 113"/>
              <p:cNvSpPr txBox="1">
                <a:spLocks noChangeArrowheads="1"/>
              </p:cNvSpPr>
              <p:nvPr/>
            </p:nvSpPr>
            <p:spPr bwMode="auto">
              <a:xfrm>
                <a:off x="2544" y="201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1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323" name="Oval 115"/>
            <p:cNvSpPr>
              <a:spLocks noChangeArrowheads="1"/>
            </p:cNvSpPr>
            <p:nvPr/>
          </p:nvSpPr>
          <p:spPr bwMode="auto">
            <a:xfrm>
              <a:off x="6324600" y="3300615"/>
              <a:ext cx="609600" cy="609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324" name="Text Box 116"/>
            <p:cNvSpPr txBox="1">
              <a:spLocks noChangeArrowheads="1"/>
            </p:cNvSpPr>
            <p:nvPr/>
          </p:nvSpPr>
          <p:spPr bwMode="auto">
            <a:xfrm>
              <a:off x="6400800" y="3376815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grpSp>
          <p:nvGrpSpPr>
            <p:cNvPr id="990325" name="Group 117"/>
            <p:cNvGrpSpPr>
              <a:grpSpLocks/>
            </p:cNvGrpSpPr>
            <p:nvPr/>
          </p:nvGrpSpPr>
          <p:grpSpPr bwMode="auto">
            <a:xfrm>
              <a:off x="7696200" y="3300615"/>
              <a:ext cx="609600" cy="609600"/>
              <a:chOff x="3120" y="1248"/>
              <a:chExt cx="384" cy="384"/>
            </a:xfrm>
          </p:grpSpPr>
          <p:sp>
            <p:nvSpPr>
              <p:cNvPr id="990326" name="Oval 118"/>
              <p:cNvSpPr>
                <a:spLocks noChangeArrowheads="1"/>
              </p:cNvSpPr>
              <p:nvPr/>
            </p:nvSpPr>
            <p:spPr bwMode="auto">
              <a:xfrm>
                <a:off x="3120" y="124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327" name="Text Box 119"/>
              <p:cNvSpPr txBox="1">
                <a:spLocks noChangeArrowheads="1"/>
              </p:cNvSpPr>
              <p:nvPr/>
            </p:nvSpPr>
            <p:spPr bwMode="auto">
              <a:xfrm>
                <a:off x="3168" y="12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3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328" name="Line 120"/>
            <p:cNvSpPr>
              <a:spLocks noChangeShapeType="1"/>
            </p:cNvSpPr>
            <p:nvPr/>
          </p:nvSpPr>
          <p:spPr bwMode="auto">
            <a:xfrm>
              <a:off x="5562600" y="3605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329" name="Line 121"/>
            <p:cNvSpPr>
              <a:spLocks noChangeShapeType="1"/>
            </p:cNvSpPr>
            <p:nvPr/>
          </p:nvSpPr>
          <p:spPr bwMode="auto">
            <a:xfrm>
              <a:off x="6934200" y="3605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953000" y="4831629"/>
            <a:ext cx="3352800" cy="609600"/>
            <a:chOff x="4953000" y="4443615"/>
            <a:chExt cx="3352800" cy="609600"/>
          </a:xfrm>
        </p:grpSpPr>
        <p:grpSp>
          <p:nvGrpSpPr>
            <p:cNvPr id="990330" name="Group 122"/>
            <p:cNvGrpSpPr>
              <a:grpSpLocks/>
            </p:cNvGrpSpPr>
            <p:nvPr/>
          </p:nvGrpSpPr>
          <p:grpSpPr bwMode="auto">
            <a:xfrm>
              <a:off x="4953000" y="4443615"/>
              <a:ext cx="609600" cy="609600"/>
              <a:chOff x="2496" y="1968"/>
              <a:chExt cx="384" cy="384"/>
            </a:xfrm>
          </p:grpSpPr>
          <p:sp>
            <p:nvSpPr>
              <p:cNvPr id="990331" name="Oval 123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332" name="Text Box 124"/>
              <p:cNvSpPr txBox="1">
                <a:spLocks noChangeArrowheads="1"/>
              </p:cNvSpPr>
              <p:nvPr/>
            </p:nvSpPr>
            <p:spPr bwMode="auto">
              <a:xfrm>
                <a:off x="2544" y="201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1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334" name="Oval 126"/>
            <p:cNvSpPr>
              <a:spLocks noChangeArrowheads="1"/>
            </p:cNvSpPr>
            <p:nvPr/>
          </p:nvSpPr>
          <p:spPr bwMode="auto">
            <a:xfrm>
              <a:off x="6324600" y="4443615"/>
              <a:ext cx="609600" cy="609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335" name="Text Box 127"/>
            <p:cNvSpPr txBox="1">
              <a:spLocks noChangeArrowheads="1"/>
            </p:cNvSpPr>
            <p:nvPr/>
          </p:nvSpPr>
          <p:spPr bwMode="auto">
            <a:xfrm>
              <a:off x="6400800" y="4519815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grpSp>
          <p:nvGrpSpPr>
            <p:cNvPr id="990336" name="Group 128"/>
            <p:cNvGrpSpPr>
              <a:grpSpLocks/>
            </p:cNvGrpSpPr>
            <p:nvPr/>
          </p:nvGrpSpPr>
          <p:grpSpPr bwMode="auto">
            <a:xfrm>
              <a:off x="7696200" y="4443615"/>
              <a:ext cx="609600" cy="609600"/>
              <a:chOff x="3120" y="1248"/>
              <a:chExt cx="384" cy="384"/>
            </a:xfrm>
          </p:grpSpPr>
          <p:sp>
            <p:nvSpPr>
              <p:cNvPr id="990337" name="Oval 129"/>
              <p:cNvSpPr>
                <a:spLocks noChangeArrowheads="1"/>
              </p:cNvSpPr>
              <p:nvPr/>
            </p:nvSpPr>
            <p:spPr bwMode="auto">
              <a:xfrm>
                <a:off x="3120" y="1248"/>
                <a:ext cx="384" cy="3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0338" name="Text Box 130"/>
              <p:cNvSpPr txBox="1">
                <a:spLocks noChangeArrowheads="1"/>
              </p:cNvSpPr>
              <p:nvPr/>
            </p:nvSpPr>
            <p:spPr bwMode="auto">
              <a:xfrm>
                <a:off x="3168" y="12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i="1">
                    <a:cs typeface="ＭＳ Ｐゴシック" charset="0"/>
                  </a:rPr>
                  <a:t>X</a:t>
                </a:r>
                <a:r>
                  <a:rPr lang="en-US" sz="2400" baseline="-25000">
                    <a:cs typeface="ＭＳ Ｐゴシック" charset="0"/>
                  </a:rPr>
                  <a:t>3</a:t>
                </a:r>
                <a:endParaRPr lang="en-US" sz="2400">
                  <a:latin typeface="Arial" charset="0"/>
                  <a:cs typeface="ＭＳ Ｐゴシック" charset="0"/>
                </a:endParaRPr>
              </a:p>
            </p:txBody>
          </p:sp>
        </p:grpSp>
        <p:sp>
          <p:nvSpPr>
            <p:cNvPr id="990339" name="Line 131"/>
            <p:cNvSpPr>
              <a:spLocks noChangeShapeType="1"/>
            </p:cNvSpPr>
            <p:nvPr/>
          </p:nvSpPr>
          <p:spPr bwMode="auto">
            <a:xfrm>
              <a:off x="5562600" y="4748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0340" name="Line 132"/>
            <p:cNvSpPr>
              <a:spLocks noChangeShapeType="1"/>
            </p:cNvSpPr>
            <p:nvPr/>
          </p:nvSpPr>
          <p:spPr bwMode="auto">
            <a:xfrm>
              <a:off x="6934200" y="4748415"/>
              <a:ext cx="76200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990341" name="Text Box 133"/>
          <p:cNvSpPr txBox="1">
            <a:spLocks noChangeArrowheads="1"/>
          </p:cNvSpPr>
          <p:nvPr/>
        </p:nvSpPr>
        <p:spPr bwMode="auto">
          <a:xfrm>
            <a:off x="914400" y="2054063"/>
            <a:ext cx="27884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1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and </a:t>
            </a:r>
            <a:r>
              <a:rPr lang="en-US" sz="2400" i="1" dirty="0"/>
              <a:t>X</a:t>
            </a:r>
            <a:r>
              <a:rPr lang="en-US" sz="2400" baseline="-25000" dirty="0"/>
              <a:t>3</a:t>
            </a:r>
            <a:r>
              <a:rPr lang="en-US" sz="2400" dirty="0"/>
              <a:t> dependent</a:t>
            </a:r>
          </a:p>
        </p:txBody>
      </p:sp>
      <p:sp>
        <p:nvSpPr>
          <p:cNvPr id="990342" name="Text Box 134"/>
          <p:cNvSpPr txBox="1">
            <a:spLocks noChangeArrowheads="1"/>
          </p:cNvSpPr>
          <p:nvPr/>
        </p:nvSpPr>
        <p:spPr bwMode="auto">
          <a:xfrm>
            <a:off x="5257800" y="2054063"/>
            <a:ext cx="30207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1"/>
              <a:t>X</a:t>
            </a:r>
            <a:r>
              <a:rPr lang="en-US" sz="2400" baseline="-25000"/>
              <a:t>1</a:t>
            </a:r>
            <a:r>
              <a:rPr lang="en-US" sz="2400"/>
              <a:t> and </a:t>
            </a:r>
            <a:r>
              <a:rPr lang="en-US" sz="2400" i="1"/>
              <a:t>X</a:t>
            </a:r>
            <a:r>
              <a:rPr lang="en-US" sz="2400" baseline="-25000"/>
              <a:t>3</a:t>
            </a:r>
            <a:r>
              <a:rPr lang="en-US" sz="2400"/>
              <a:t> independent</a:t>
            </a:r>
          </a:p>
        </p:txBody>
      </p:sp>
      <p:sp>
        <p:nvSpPr>
          <p:cNvPr id="990343" name="Text Box 135"/>
          <p:cNvSpPr txBox="1">
            <a:spLocks noChangeArrowheads="1"/>
          </p:cNvSpPr>
          <p:nvPr/>
        </p:nvSpPr>
        <p:spPr bwMode="auto">
          <a:xfrm>
            <a:off x="1012825" y="6373690"/>
            <a:ext cx="6759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/>
              <a:t>(shaded variables are observed)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39289" y="4667197"/>
            <a:ext cx="3688044" cy="1717600"/>
            <a:chOff x="539289" y="4279183"/>
            <a:chExt cx="3688044" cy="1717600"/>
          </a:xfrm>
        </p:grpSpPr>
        <p:sp>
          <p:nvSpPr>
            <p:cNvPr id="4" name="Rectangle 3"/>
            <p:cNvSpPr/>
            <p:nvPr/>
          </p:nvSpPr>
          <p:spPr>
            <a:xfrm>
              <a:off x="539289" y="4279183"/>
              <a:ext cx="3688044" cy="9393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181171" y="5535118"/>
              <a:ext cx="2393613" cy="461665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Why?</a:t>
              </a:r>
            </a:p>
          </p:txBody>
        </p:sp>
        <p:cxnSp>
          <p:nvCxnSpPr>
            <p:cNvPr id="7" name="Straight Arrow Connector 6"/>
            <p:cNvCxnSpPr>
              <a:stCxn id="5" idx="0"/>
              <a:endCxn id="4" idx="2"/>
            </p:cNvCxnSpPr>
            <p:nvPr/>
          </p:nvCxnSpPr>
          <p:spPr>
            <a:xfrm flipV="1">
              <a:off x="2377978" y="5218516"/>
              <a:ext cx="5333" cy="3166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17490" y="764286"/>
            <a:ext cx="8207699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Can identify independence relations for any graph with the rules for all Directed Acyclic Graphs of 3 variables (</a:t>
            </a:r>
            <a:r>
              <a:rPr lang="en-US" sz="2400" dirty="0" err="1"/>
              <a:t>obs</a:t>
            </a:r>
            <a:r>
              <a:rPr lang="en-US" sz="2400" dirty="0"/>
              <a:t> and </a:t>
            </a:r>
            <a:r>
              <a:rPr lang="en-US" sz="2400" dirty="0" err="1"/>
              <a:t>unobs</a:t>
            </a:r>
            <a:r>
              <a:rPr lang="en-US" sz="2400" dirty="0"/>
              <a:t>).</a:t>
            </a:r>
          </a:p>
          <a:p>
            <a:r>
              <a:rPr lang="en-US" sz="2400" dirty="0"/>
              <a:t>E.g., </a:t>
            </a:r>
            <a:r>
              <a:rPr lang="en-US" sz="2400" i="1" dirty="0"/>
              <a:t>X</a:t>
            </a:r>
            <a:r>
              <a:rPr lang="en-US" sz="2400" baseline="-25000" dirty="0"/>
              <a:t>1 </a:t>
            </a:r>
            <a:r>
              <a:rPr lang="en-US" sz="2400" dirty="0"/>
              <a:t>is sprinklers were on, </a:t>
            </a:r>
            <a:r>
              <a:rPr lang="en-US" sz="2400" i="1" dirty="0"/>
              <a:t>X</a:t>
            </a:r>
            <a:r>
              <a:rPr lang="en-US" sz="2400" baseline="-25000" dirty="0"/>
              <a:t>2 </a:t>
            </a:r>
            <a:r>
              <a:rPr lang="en-US" sz="2400" dirty="0"/>
              <a:t>is grass is wet, </a:t>
            </a:r>
            <a:r>
              <a:rPr lang="en-US" sz="2400" i="1" dirty="0"/>
              <a:t>X</a:t>
            </a:r>
            <a:r>
              <a:rPr lang="en-US" sz="2400" baseline="-25000" dirty="0"/>
              <a:t>3 </a:t>
            </a:r>
            <a:r>
              <a:rPr lang="en-US" sz="2400" dirty="0"/>
              <a:t>is it rained...</a:t>
            </a:r>
          </a:p>
        </p:txBody>
      </p:sp>
    </p:spTree>
    <p:extLst>
      <p:ext uri="{BB962C8B-B14F-4D97-AF65-F5344CB8AC3E}">
        <p14:creationId xmlns:p14="http://schemas.microsoft.com/office/powerpoint/2010/main" val="10100458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4561216" y="864624"/>
            <a:ext cx="1195387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Sprinkler</a:t>
            </a: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3482510" y="2236224"/>
            <a:ext cx="1676400" cy="457200"/>
          </a:xfrm>
          <a:prstGeom prst="rect">
            <a:avLst/>
          </a:prstGeom>
          <a:solidFill>
            <a:srgbClr val="BFBFB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Grass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wet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=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3125322" y="864624"/>
            <a:ext cx="1195388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82800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Rained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352425" y="3235052"/>
            <a:ext cx="8640832" cy="32407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b="1" dirty="0">
                <a:solidFill>
                  <a:srgbClr val="000000"/>
                </a:solidFill>
                <a:latin typeface="Calibri"/>
                <a:cs typeface="Calibri"/>
              </a:rPr>
              <a:t>Corresponding probability relations</a:t>
            </a:r>
          </a:p>
          <a:p>
            <a:pPr eaLnBrk="1" hangingPunct="1"/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Unconditional independence:</a:t>
            </a:r>
          </a:p>
          <a:p>
            <a:pPr eaLnBrk="1" hangingPunct="1"/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P(Rained = yes | Sprinkler = yes) = P(Rained = yes | Sprinkler = no)</a:t>
            </a:r>
          </a:p>
          <a:p>
            <a:pPr eaLnBrk="1" hangingPunct="1"/>
            <a:endParaRPr lang="en-GB" sz="1200" dirty="0">
              <a:solidFill>
                <a:srgbClr val="000000"/>
              </a:solidFill>
              <a:latin typeface="Calibri"/>
              <a:cs typeface="Calibri"/>
            </a:endParaRPr>
          </a:p>
          <a:p>
            <a:pPr eaLnBrk="1" hangingPunct="1"/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After learning effect: </a:t>
            </a:r>
          </a:p>
          <a:p>
            <a:pPr eaLnBrk="1" hangingPunct="1"/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P(Rained = yes | Grass wet = yes) &gt; P(Rained = yes) </a:t>
            </a:r>
          </a:p>
          <a:p>
            <a:pPr eaLnBrk="1" hangingPunct="1"/>
            <a:endParaRPr lang="en-GB" sz="1200" dirty="0">
              <a:solidFill>
                <a:srgbClr val="000000"/>
              </a:solidFill>
              <a:latin typeface="Calibri"/>
              <a:cs typeface="Calibri"/>
            </a:endParaRPr>
          </a:p>
          <a:p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After learning effect and one cause: </a:t>
            </a:r>
          </a:p>
          <a:p>
            <a:pPr eaLnBrk="1" hangingPunct="1"/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P(Rained = yes | Grass wet = yes, Sprinkler = yes) = P(Rained = yes)</a:t>
            </a:r>
          </a:p>
          <a:p>
            <a:pPr eaLnBrk="1" hangingPunct="1"/>
            <a:r>
              <a:rPr lang="en-GB" sz="2200" dirty="0">
                <a:solidFill>
                  <a:srgbClr val="000000"/>
                </a:solidFill>
                <a:latin typeface="Calibri"/>
                <a:cs typeface="Calibri"/>
              </a:rPr>
              <a:t>				&lt; P(Rained = yes | Grass wet = yes)</a:t>
            </a:r>
          </a:p>
        </p:txBody>
      </p:sp>
      <p:cxnSp>
        <p:nvCxnSpPr>
          <p:cNvPr id="50182" name="AutoShape 6"/>
          <p:cNvCxnSpPr>
            <a:cxnSpLocks noChangeShapeType="1"/>
            <a:stCxn id="50180" idx="2"/>
            <a:endCxn id="50179" idx="0"/>
          </p:cNvCxnSpPr>
          <p:nvPr/>
        </p:nvCxnSpPr>
        <p:spPr bwMode="auto">
          <a:xfrm>
            <a:off x="3723016" y="1626624"/>
            <a:ext cx="597694" cy="609600"/>
          </a:xfrm>
          <a:prstGeom prst="straightConnector1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50183" name="AutoShape 7"/>
          <p:cNvCxnSpPr>
            <a:cxnSpLocks noChangeShapeType="1"/>
            <a:stCxn id="50178" idx="2"/>
            <a:endCxn id="50179" idx="0"/>
          </p:cNvCxnSpPr>
          <p:nvPr/>
        </p:nvCxnSpPr>
        <p:spPr bwMode="auto">
          <a:xfrm flipH="1">
            <a:off x="4320710" y="1626624"/>
            <a:ext cx="838200" cy="609600"/>
          </a:xfrm>
          <a:prstGeom prst="straightConnector1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2462213" y="60308"/>
            <a:ext cx="44307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1" hangingPunct="1"/>
            <a:r>
              <a:rPr lang="en-US" sz="3600" b="1" dirty="0">
                <a:latin typeface="Calibri"/>
                <a:cs typeface="Calibri"/>
              </a:rPr>
              <a:t>Explaining Away</a:t>
            </a:r>
            <a:endParaRPr lang="de-DE" sz="3600" b="1" dirty="0">
              <a:latin typeface="Calibri"/>
              <a:cs typeface="Calibri"/>
            </a:endParaRPr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7580590" y="864624"/>
            <a:ext cx="1195388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Sprinkler</a:t>
            </a: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6484658" y="2236224"/>
            <a:ext cx="1746558" cy="457200"/>
          </a:xfrm>
          <a:prstGeom prst="rect">
            <a:avLst/>
          </a:prstGeom>
          <a:solidFill>
            <a:srgbClr val="BFBFB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Grass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wet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=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5969277" y="864624"/>
            <a:ext cx="1195387" cy="762000"/>
          </a:xfrm>
          <a:prstGeom prst="rect">
            <a:avLst/>
          </a:prstGeom>
          <a:solidFill>
            <a:srgbClr val="BFBFB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tIns="82800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Rained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=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endParaRPr lang="de-DE" sz="1800" dirty="0">
              <a:latin typeface="Calibri"/>
              <a:cs typeface="Calibri"/>
            </a:endParaRPr>
          </a:p>
        </p:txBody>
      </p:sp>
      <p:cxnSp>
        <p:nvCxnSpPr>
          <p:cNvPr id="38924" name="AutoShape 12"/>
          <p:cNvCxnSpPr>
            <a:cxnSpLocks noChangeShapeType="1"/>
            <a:stCxn id="38923" idx="2"/>
            <a:endCxn id="38922" idx="0"/>
          </p:cNvCxnSpPr>
          <p:nvPr/>
        </p:nvCxnSpPr>
        <p:spPr bwMode="auto">
          <a:xfrm>
            <a:off x="6566971" y="1626624"/>
            <a:ext cx="790966" cy="609600"/>
          </a:xfrm>
          <a:prstGeom prst="straightConnector1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8925" name="AutoShape 13"/>
          <p:cNvCxnSpPr>
            <a:cxnSpLocks noChangeShapeType="1"/>
            <a:stCxn id="38921" idx="2"/>
            <a:endCxn id="38922" idx="0"/>
          </p:cNvCxnSpPr>
          <p:nvPr/>
        </p:nvCxnSpPr>
        <p:spPr bwMode="auto">
          <a:xfrm flipH="1">
            <a:off x="7357937" y="1626624"/>
            <a:ext cx="820347" cy="609600"/>
          </a:xfrm>
          <a:prstGeom prst="straightConnector1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2347741" y="6475840"/>
            <a:ext cx="6796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(Pearl, 1988, 2000; </a:t>
            </a:r>
            <a:r>
              <a:rPr lang="en-US" dirty="0" err="1"/>
              <a:t>Spirtes</a:t>
            </a:r>
            <a:r>
              <a:rPr lang="en-US" dirty="0"/>
              <a:t>, </a:t>
            </a:r>
            <a:r>
              <a:rPr lang="en-US" dirty="0" err="1"/>
              <a:t>Glymour</a:t>
            </a:r>
            <a:r>
              <a:rPr lang="en-US" dirty="0"/>
              <a:t>, &amp; </a:t>
            </a:r>
            <a:r>
              <a:rPr lang="en-US" dirty="0" err="1"/>
              <a:t>Scheines</a:t>
            </a:r>
            <a:r>
              <a:rPr lang="en-US" dirty="0"/>
              <a:t>, 1993, </a:t>
            </a:r>
            <a:r>
              <a:rPr lang="en-US" dirty="0" err="1"/>
              <a:t>Sloman</a:t>
            </a:r>
            <a:r>
              <a:rPr lang="en-US" dirty="0"/>
              <a:t>, 2005)</a:t>
            </a: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1547455" y="871347"/>
            <a:ext cx="1195387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Sprinkler</a:t>
            </a: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450807" y="2242946"/>
            <a:ext cx="1676400" cy="70263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Grass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wet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98477" y="871347"/>
            <a:ext cx="1195388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82800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Rained</a:t>
            </a:r>
            <a:endParaRPr lang="de-DE" sz="1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(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yes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lang="de-DE"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  <a:endParaRPr lang="de-DE" sz="1800" dirty="0">
              <a:latin typeface="Calibri"/>
              <a:cs typeface="Calibri"/>
            </a:endParaRPr>
          </a:p>
        </p:txBody>
      </p:sp>
      <p:cxnSp>
        <p:nvCxnSpPr>
          <p:cNvPr id="18" name="AutoShape 6"/>
          <p:cNvCxnSpPr>
            <a:cxnSpLocks noChangeShapeType="1"/>
            <a:stCxn id="17" idx="2"/>
            <a:endCxn id="16" idx="0"/>
          </p:cNvCxnSpPr>
          <p:nvPr/>
        </p:nvCxnSpPr>
        <p:spPr bwMode="auto">
          <a:xfrm>
            <a:off x="796171" y="1633347"/>
            <a:ext cx="492836" cy="609599"/>
          </a:xfrm>
          <a:prstGeom prst="straightConnector1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9" name="AutoShape 7"/>
          <p:cNvCxnSpPr>
            <a:cxnSpLocks noChangeShapeType="1"/>
            <a:stCxn id="15" idx="2"/>
            <a:endCxn id="16" idx="0"/>
          </p:cNvCxnSpPr>
          <p:nvPr/>
        </p:nvCxnSpPr>
        <p:spPr bwMode="auto">
          <a:xfrm flipH="1">
            <a:off x="1289007" y="1633347"/>
            <a:ext cx="856142" cy="609599"/>
          </a:xfrm>
          <a:prstGeom prst="straightConnector1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04980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animBg="1"/>
      <p:bldP spid="50179" grpId="0" animBg="1"/>
      <p:bldP spid="50180" grpId="0" animBg="1"/>
      <p:bldP spid="38921" grpId="0" animBg="1"/>
      <p:bldP spid="38922" grpId="0" animBg="1"/>
      <p:bldP spid="389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395"/>
            <a:ext cx="9144000" cy="1130679"/>
          </a:xfrm>
        </p:spPr>
        <p:txBody>
          <a:bodyPr>
            <a:normAutofit fontScale="90000"/>
          </a:bodyPr>
          <a:lstStyle/>
          <a:p>
            <a:r>
              <a:rPr lang="en-US" dirty="0"/>
              <a:t>Determining (Conditional) Independence: Bayes Ball Algorithm</a:t>
            </a:r>
          </a:p>
        </p:txBody>
      </p:sp>
      <p:sp>
        <p:nvSpPr>
          <p:cNvPr id="992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325367"/>
            <a:ext cx="9067800" cy="9965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000" dirty="0"/>
              <a:t>In more complex Bayesian networks, how do we know which variables are independent of each other?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6030D-900B-44DE-B07B-10DB6CFC4DC9}"/>
              </a:ext>
            </a:extLst>
          </p:cNvPr>
          <p:cNvSpPr txBox="1">
            <a:spLocks noChangeArrowheads="1"/>
          </p:cNvSpPr>
          <p:nvPr/>
        </p:nvSpPr>
        <p:spPr>
          <a:xfrm>
            <a:off x="384424" y="2554283"/>
            <a:ext cx="4649913" cy="4268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000" i="1" dirty="0"/>
              <a:t>Bayes-Ball Algorithm: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Shade conditioned nodes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Place balls at one of two nodes of interest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Follow rules on right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Do balls make it to the other node of interest?</a:t>
            </a:r>
          </a:p>
          <a:p>
            <a:pPr marL="0" indent="0">
              <a:buFont typeface="Arial"/>
              <a:buNone/>
            </a:pP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093BAE-E97A-4E21-92EF-A099AF138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724" y="2379327"/>
            <a:ext cx="3476277" cy="4124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18CCAC-E4DB-4D3A-BB85-EC6756DBC651}"/>
              </a:ext>
            </a:extLst>
          </p:cNvPr>
          <p:cNvSpPr txBox="1"/>
          <p:nvPr/>
        </p:nvSpPr>
        <p:spPr>
          <a:xfrm>
            <a:off x="5034337" y="6503488"/>
            <a:ext cx="390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Figure from Sam </a:t>
            </a:r>
            <a:r>
              <a:rPr lang="en-US" dirty="0" err="1"/>
              <a:t>Roweis</a:t>
            </a:r>
            <a:r>
              <a:rPr lang="en-US" dirty="0"/>
              <a:t> Slides</a:t>
            </a:r>
          </a:p>
        </p:txBody>
      </p:sp>
    </p:spTree>
    <p:extLst>
      <p:ext uri="{BB962C8B-B14F-4D97-AF65-F5344CB8AC3E}">
        <p14:creationId xmlns:p14="http://schemas.microsoft.com/office/powerpoint/2010/main" val="67420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8466" name="Group 66"/>
          <p:cNvGrpSpPr>
            <a:grpSpLocks/>
          </p:cNvGrpSpPr>
          <p:nvPr/>
        </p:nvGrpSpPr>
        <p:grpSpPr bwMode="auto">
          <a:xfrm>
            <a:off x="5653088" y="1714500"/>
            <a:ext cx="2590800" cy="685800"/>
            <a:chOff x="2208" y="3024"/>
            <a:chExt cx="1632" cy="432"/>
          </a:xfrm>
        </p:grpSpPr>
        <p:sp>
          <p:nvSpPr>
            <p:cNvPr id="998467" name="Line 67"/>
            <p:cNvSpPr>
              <a:spLocks noChangeShapeType="1"/>
            </p:cNvSpPr>
            <p:nvPr/>
          </p:nvSpPr>
          <p:spPr bwMode="auto">
            <a:xfrm>
              <a:off x="2208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468" name="Line 68"/>
            <p:cNvSpPr>
              <a:spLocks noChangeShapeType="1"/>
            </p:cNvSpPr>
            <p:nvPr/>
          </p:nvSpPr>
          <p:spPr bwMode="auto">
            <a:xfrm>
              <a:off x="3456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469" name="Line 69"/>
            <p:cNvSpPr>
              <a:spLocks noChangeShapeType="1"/>
            </p:cNvSpPr>
            <p:nvPr/>
          </p:nvSpPr>
          <p:spPr bwMode="auto">
            <a:xfrm flipH="1">
              <a:off x="2880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998470" name="Group 70"/>
          <p:cNvGrpSpPr>
            <a:grpSpLocks/>
          </p:cNvGrpSpPr>
          <p:nvPr/>
        </p:nvGrpSpPr>
        <p:grpSpPr bwMode="auto">
          <a:xfrm>
            <a:off x="5195888" y="1181100"/>
            <a:ext cx="3581400" cy="1752600"/>
            <a:chOff x="1920" y="2688"/>
            <a:chExt cx="2256" cy="1104"/>
          </a:xfrm>
        </p:grpSpPr>
        <p:sp>
          <p:nvSpPr>
            <p:cNvPr id="998471" name="Oval 71"/>
            <p:cNvSpPr>
              <a:spLocks noChangeArrowheads="1"/>
            </p:cNvSpPr>
            <p:nvPr/>
          </p:nvSpPr>
          <p:spPr bwMode="auto">
            <a:xfrm>
              <a:off x="2544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472" name="Text Box 72"/>
            <p:cNvSpPr txBox="1">
              <a:spLocks noChangeArrowheads="1"/>
            </p:cNvSpPr>
            <p:nvPr/>
          </p:nvSpPr>
          <p:spPr bwMode="auto">
            <a:xfrm>
              <a:off x="2592" y="3456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 dirty="0">
                  <a:cs typeface="ＭＳ Ｐゴシック" charset="0"/>
                </a:rPr>
                <a:t>X</a:t>
              </a:r>
              <a:r>
                <a:rPr lang="en-US" sz="2400" baseline="-25000" dirty="0">
                  <a:cs typeface="ＭＳ Ｐゴシック" charset="0"/>
                </a:rPr>
                <a:t>1</a:t>
              </a:r>
              <a:endParaRPr lang="en-US" sz="2400" dirty="0">
                <a:latin typeface="Arial" charset="0"/>
                <a:cs typeface="ＭＳ Ｐゴシック" charset="0"/>
              </a:endParaRPr>
            </a:p>
          </p:txBody>
        </p:sp>
        <p:sp>
          <p:nvSpPr>
            <p:cNvPr id="998473" name="Oval 73"/>
            <p:cNvSpPr>
              <a:spLocks noChangeArrowheads="1"/>
            </p:cNvSpPr>
            <p:nvPr/>
          </p:nvSpPr>
          <p:spPr bwMode="auto">
            <a:xfrm>
              <a:off x="3792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474" name="Text Box 74"/>
            <p:cNvSpPr txBox="1">
              <a:spLocks noChangeArrowheads="1"/>
            </p:cNvSpPr>
            <p:nvPr/>
          </p:nvSpPr>
          <p:spPr bwMode="auto">
            <a:xfrm>
              <a:off x="3840" y="3456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 dirty="0">
                  <a:cs typeface="ＭＳ Ｐゴシック" charset="0"/>
                </a:rPr>
                <a:t>X</a:t>
              </a:r>
              <a:r>
                <a:rPr lang="en-US" sz="2400" baseline="-25000" dirty="0">
                  <a:cs typeface="ＭＳ Ｐゴシック" charset="0"/>
                </a:rPr>
                <a:t>2</a:t>
              </a:r>
              <a:endParaRPr lang="en-US" sz="2400" dirty="0">
                <a:latin typeface="Arial" charset="0"/>
                <a:cs typeface="ＭＳ Ｐゴシック" charset="0"/>
              </a:endParaRPr>
            </a:p>
          </p:txBody>
        </p:sp>
        <p:sp>
          <p:nvSpPr>
            <p:cNvPr id="998475" name="Oval 75"/>
            <p:cNvSpPr>
              <a:spLocks noChangeArrowheads="1"/>
            </p:cNvSpPr>
            <p:nvPr/>
          </p:nvSpPr>
          <p:spPr bwMode="auto">
            <a:xfrm>
              <a:off x="3168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476" name="Text Box 76"/>
            <p:cNvSpPr txBox="1">
              <a:spLocks noChangeArrowheads="1"/>
            </p:cNvSpPr>
            <p:nvPr/>
          </p:nvSpPr>
          <p:spPr bwMode="auto">
            <a:xfrm>
              <a:off x="3216" y="2736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998477" name="Oval 77"/>
            <p:cNvSpPr>
              <a:spLocks noChangeArrowheads="1"/>
            </p:cNvSpPr>
            <p:nvPr/>
          </p:nvSpPr>
          <p:spPr bwMode="auto">
            <a:xfrm>
              <a:off x="1920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478" name="Text Box 78"/>
            <p:cNvSpPr txBox="1">
              <a:spLocks noChangeArrowheads="1"/>
            </p:cNvSpPr>
            <p:nvPr/>
          </p:nvSpPr>
          <p:spPr bwMode="auto">
            <a:xfrm>
              <a:off x="1968" y="2736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85800" y="4343400"/>
            <a:ext cx="3581400" cy="1752600"/>
            <a:chOff x="685800" y="4343400"/>
            <a:chExt cx="3581400" cy="1752600"/>
          </a:xfrm>
        </p:grpSpPr>
        <p:grpSp>
          <p:nvGrpSpPr>
            <p:cNvPr id="998479" name="Group 79"/>
            <p:cNvGrpSpPr>
              <a:grpSpLocks/>
            </p:cNvGrpSpPr>
            <p:nvPr/>
          </p:nvGrpSpPr>
          <p:grpSpPr bwMode="auto">
            <a:xfrm>
              <a:off x="1143000" y="4876800"/>
              <a:ext cx="2590800" cy="685800"/>
              <a:chOff x="2208" y="3024"/>
              <a:chExt cx="1632" cy="432"/>
            </a:xfrm>
          </p:grpSpPr>
          <p:sp>
            <p:nvSpPr>
              <p:cNvPr id="998480" name="Line 80"/>
              <p:cNvSpPr>
                <a:spLocks noChangeShapeType="1"/>
              </p:cNvSpPr>
              <p:nvPr/>
            </p:nvSpPr>
            <p:spPr bwMode="auto">
              <a:xfrm>
                <a:off x="2208" y="3024"/>
                <a:ext cx="384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8481" name="Line 81"/>
              <p:cNvSpPr>
                <a:spLocks noChangeShapeType="1"/>
              </p:cNvSpPr>
              <p:nvPr/>
            </p:nvSpPr>
            <p:spPr bwMode="auto">
              <a:xfrm>
                <a:off x="3456" y="3024"/>
                <a:ext cx="384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8482" name="Line 82"/>
              <p:cNvSpPr>
                <a:spLocks noChangeShapeType="1"/>
              </p:cNvSpPr>
              <p:nvPr/>
            </p:nvSpPr>
            <p:spPr bwMode="auto">
              <a:xfrm flipH="1">
                <a:off x="2880" y="3024"/>
                <a:ext cx="384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998484" name="Oval 84"/>
            <p:cNvSpPr>
              <a:spLocks noChangeArrowheads="1"/>
            </p:cNvSpPr>
            <p:nvPr/>
          </p:nvSpPr>
          <p:spPr bwMode="auto">
            <a:xfrm>
              <a:off x="1676400" y="5486400"/>
              <a:ext cx="609600" cy="609600"/>
            </a:xfrm>
            <a:prstGeom prst="ellipse">
              <a:avLst/>
            </a:prstGeom>
            <a:solidFill>
              <a:srgbClr val="BFBFB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485" name="Text Box 85"/>
            <p:cNvSpPr txBox="1">
              <a:spLocks noChangeArrowheads="1"/>
            </p:cNvSpPr>
            <p:nvPr/>
          </p:nvSpPr>
          <p:spPr bwMode="auto">
            <a:xfrm>
              <a:off x="1752600" y="5562600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1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998486" name="Oval 86"/>
            <p:cNvSpPr>
              <a:spLocks noChangeArrowheads="1"/>
            </p:cNvSpPr>
            <p:nvPr/>
          </p:nvSpPr>
          <p:spPr bwMode="auto">
            <a:xfrm>
              <a:off x="3657600" y="5486400"/>
              <a:ext cx="609600" cy="609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487" name="Text Box 87"/>
            <p:cNvSpPr txBox="1">
              <a:spLocks noChangeArrowheads="1"/>
            </p:cNvSpPr>
            <p:nvPr/>
          </p:nvSpPr>
          <p:spPr bwMode="auto">
            <a:xfrm>
              <a:off x="3733800" y="5562600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 dirty="0">
                  <a:cs typeface="ＭＳ Ｐゴシック" charset="0"/>
                </a:rPr>
                <a:t>X</a:t>
              </a:r>
              <a:r>
                <a:rPr lang="en-US" sz="2400" baseline="-25000" dirty="0">
                  <a:cs typeface="ＭＳ Ｐゴシック" charset="0"/>
                </a:rPr>
                <a:t>2</a:t>
              </a:r>
              <a:endParaRPr lang="en-US" sz="2400" dirty="0">
                <a:latin typeface="Arial" charset="0"/>
                <a:cs typeface="ＭＳ Ｐゴシック" charset="0"/>
              </a:endParaRPr>
            </a:p>
          </p:txBody>
        </p:sp>
        <p:sp>
          <p:nvSpPr>
            <p:cNvPr id="998488" name="Oval 88"/>
            <p:cNvSpPr>
              <a:spLocks noChangeArrowheads="1"/>
            </p:cNvSpPr>
            <p:nvPr/>
          </p:nvSpPr>
          <p:spPr bwMode="auto">
            <a:xfrm>
              <a:off x="2667000" y="4343400"/>
              <a:ext cx="609600" cy="609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489" name="Text Box 89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998490" name="Oval 90"/>
            <p:cNvSpPr>
              <a:spLocks noChangeArrowheads="1"/>
            </p:cNvSpPr>
            <p:nvPr/>
          </p:nvSpPr>
          <p:spPr bwMode="auto">
            <a:xfrm>
              <a:off x="685800" y="4343400"/>
              <a:ext cx="609600" cy="609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491" name="Text Box 91"/>
            <p:cNvSpPr txBox="1">
              <a:spLocks noChangeArrowheads="1"/>
            </p:cNvSpPr>
            <p:nvPr/>
          </p:nvSpPr>
          <p:spPr bwMode="auto">
            <a:xfrm>
              <a:off x="762000" y="4419600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724400" y="4114800"/>
            <a:ext cx="3581400" cy="1752600"/>
            <a:chOff x="4724400" y="4114800"/>
            <a:chExt cx="3581400" cy="1752600"/>
          </a:xfrm>
        </p:grpSpPr>
        <p:grpSp>
          <p:nvGrpSpPr>
            <p:cNvPr id="998492" name="Group 92"/>
            <p:cNvGrpSpPr>
              <a:grpSpLocks/>
            </p:cNvGrpSpPr>
            <p:nvPr/>
          </p:nvGrpSpPr>
          <p:grpSpPr bwMode="auto">
            <a:xfrm>
              <a:off x="5181600" y="4648200"/>
              <a:ext cx="2590800" cy="685800"/>
              <a:chOff x="2208" y="3024"/>
              <a:chExt cx="1632" cy="432"/>
            </a:xfrm>
          </p:grpSpPr>
          <p:sp>
            <p:nvSpPr>
              <p:cNvPr id="998493" name="Line 93"/>
              <p:cNvSpPr>
                <a:spLocks noChangeShapeType="1"/>
              </p:cNvSpPr>
              <p:nvPr/>
            </p:nvSpPr>
            <p:spPr bwMode="auto">
              <a:xfrm>
                <a:off x="2208" y="3024"/>
                <a:ext cx="384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8494" name="Line 94"/>
              <p:cNvSpPr>
                <a:spLocks noChangeShapeType="1"/>
              </p:cNvSpPr>
              <p:nvPr/>
            </p:nvSpPr>
            <p:spPr bwMode="auto">
              <a:xfrm>
                <a:off x="3456" y="3024"/>
                <a:ext cx="384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98495" name="Line 95"/>
              <p:cNvSpPr>
                <a:spLocks noChangeShapeType="1"/>
              </p:cNvSpPr>
              <p:nvPr/>
            </p:nvSpPr>
            <p:spPr bwMode="auto">
              <a:xfrm flipH="1">
                <a:off x="2880" y="3024"/>
                <a:ext cx="384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998497" name="Oval 97"/>
            <p:cNvSpPr>
              <a:spLocks noChangeArrowheads="1"/>
            </p:cNvSpPr>
            <p:nvPr/>
          </p:nvSpPr>
          <p:spPr bwMode="auto">
            <a:xfrm>
              <a:off x="5715000" y="5257800"/>
              <a:ext cx="609600" cy="609600"/>
            </a:xfrm>
            <a:prstGeom prst="ellipse">
              <a:avLst/>
            </a:prstGeom>
            <a:solidFill>
              <a:srgbClr val="BFBFB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498" name="Text Box 98"/>
            <p:cNvSpPr txBox="1">
              <a:spLocks noChangeArrowheads="1"/>
            </p:cNvSpPr>
            <p:nvPr/>
          </p:nvSpPr>
          <p:spPr bwMode="auto">
            <a:xfrm>
              <a:off x="5791200" y="5334000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1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998499" name="Oval 99"/>
            <p:cNvSpPr>
              <a:spLocks noChangeArrowheads="1"/>
            </p:cNvSpPr>
            <p:nvPr/>
          </p:nvSpPr>
          <p:spPr bwMode="auto">
            <a:xfrm>
              <a:off x="7696200" y="5257800"/>
              <a:ext cx="609600" cy="609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500" name="Text Box 100"/>
            <p:cNvSpPr txBox="1">
              <a:spLocks noChangeArrowheads="1"/>
            </p:cNvSpPr>
            <p:nvPr/>
          </p:nvSpPr>
          <p:spPr bwMode="auto">
            <a:xfrm>
              <a:off x="7772400" y="5334000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2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998501" name="Oval 101"/>
            <p:cNvSpPr>
              <a:spLocks noChangeArrowheads="1"/>
            </p:cNvSpPr>
            <p:nvPr/>
          </p:nvSpPr>
          <p:spPr bwMode="auto">
            <a:xfrm>
              <a:off x="6705600" y="4114800"/>
              <a:ext cx="609600" cy="609600"/>
            </a:xfrm>
            <a:prstGeom prst="ellipse">
              <a:avLst/>
            </a:prstGeom>
            <a:solidFill>
              <a:srgbClr val="BFBFB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502" name="Text Box 102"/>
            <p:cNvSpPr txBox="1">
              <a:spLocks noChangeArrowheads="1"/>
            </p:cNvSpPr>
            <p:nvPr/>
          </p:nvSpPr>
          <p:spPr bwMode="auto">
            <a:xfrm>
              <a:off x="6781800" y="4191000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3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  <p:sp>
          <p:nvSpPr>
            <p:cNvPr id="998503" name="Oval 103"/>
            <p:cNvSpPr>
              <a:spLocks noChangeArrowheads="1"/>
            </p:cNvSpPr>
            <p:nvPr/>
          </p:nvSpPr>
          <p:spPr bwMode="auto">
            <a:xfrm>
              <a:off x="4724400" y="4114800"/>
              <a:ext cx="609600" cy="609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998504" name="Text Box 104"/>
            <p:cNvSpPr txBox="1">
              <a:spLocks noChangeArrowheads="1"/>
            </p:cNvSpPr>
            <p:nvPr/>
          </p:nvSpPr>
          <p:spPr bwMode="auto">
            <a:xfrm>
              <a:off x="4800600" y="4191000"/>
              <a:ext cx="471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>
                  <a:cs typeface="ＭＳ Ｐゴシック" charset="0"/>
                </a:rPr>
                <a:t>X</a:t>
              </a:r>
              <a:r>
                <a:rPr lang="en-US" sz="2400" baseline="-25000">
                  <a:cs typeface="ＭＳ Ｐゴシック" charset="0"/>
                </a:rPr>
                <a:t>4</a:t>
              </a:r>
              <a:endParaRPr lang="en-US" sz="2400">
                <a:latin typeface="Arial" charset="0"/>
                <a:cs typeface="ＭＳ Ｐゴシック" charset="0"/>
              </a:endParaRPr>
            </a:p>
          </p:txBody>
        </p:sp>
      </p:grpSp>
      <p:sp>
        <p:nvSpPr>
          <p:cNvPr id="998518" name="Text Box 118"/>
          <p:cNvSpPr txBox="1">
            <a:spLocks noChangeArrowheads="1"/>
          </p:cNvSpPr>
          <p:nvPr/>
        </p:nvSpPr>
        <p:spPr bwMode="auto">
          <a:xfrm>
            <a:off x="5410201" y="3086100"/>
            <a:ext cx="34981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1"/>
              <a:t>X</a:t>
            </a:r>
            <a:r>
              <a:rPr lang="en-US" sz="2400" baseline="-25000"/>
              <a:t>4</a:t>
            </a:r>
            <a:r>
              <a:rPr lang="en-US" sz="2400"/>
              <a:t> and </a:t>
            </a:r>
            <a:r>
              <a:rPr lang="en-US" sz="2400" i="1"/>
              <a:t>X</a:t>
            </a:r>
            <a:r>
              <a:rPr lang="en-US" sz="2400" baseline="-25000"/>
              <a:t>2</a:t>
            </a:r>
            <a:r>
              <a:rPr lang="en-US" sz="2400"/>
              <a:t> are independent</a:t>
            </a:r>
          </a:p>
        </p:txBody>
      </p:sp>
      <p:sp>
        <p:nvSpPr>
          <p:cNvPr id="998519" name="Text Box 119"/>
          <p:cNvSpPr txBox="1">
            <a:spLocks noChangeArrowheads="1"/>
          </p:cNvSpPr>
          <p:nvPr/>
        </p:nvSpPr>
        <p:spPr bwMode="auto">
          <a:xfrm>
            <a:off x="909638" y="6172200"/>
            <a:ext cx="32658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1" dirty="0"/>
              <a:t>X</a:t>
            </a:r>
            <a:r>
              <a:rPr lang="en-US" sz="2400" baseline="-25000" dirty="0"/>
              <a:t>4</a:t>
            </a:r>
            <a:r>
              <a:rPr lang="en-US" sz="2400" dirty="0"/>
              <a:t> and </a:t>
            </a:r>
            <a:r>
              <a:rPr lang="en-US" sz="2400" i="1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 are dependent</a:t>
            </a:r>
          </a:p>
        </p:txBody>
      </p:sp>
      <p:sp>
        <p:nvSpPr>
          <p:cNvPr id="998520" name="Text Box 120"/>
          <p:cNvSpPr txBox="1">
            <a:spLocks noChangeArrowheads="1"/>
          </p:cNvSpPr>
          <p:nvPr/>
        </p:nvSpPr>
        <p:spPr bwMode="auto">
          <a:xfrm>
            <a:off x="5257800" y="6019800"/>
            <a:ext cx="34981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i="1" dirty="0"/>
              <a:t>X</a:t>
            </a:r>
            <a:r>
              <a:rPr lang="en-US" sz="2400" baseline="-25000" dirty="0"/>
              <a:t>4</a:t>
            </a:r>
            <a:r>
              <a:rPr lang="en-US" sz="2400" dirty="0"/>
              <a:t> and </a:t>
            </a:r>
            <a:r>
              <a:rPr lang="en-US" sz="2400" i="1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 are independent</a:t>
            </a:r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4790"/>
            <a:ext cx="9144000" cy="854049"/>
          </a:xfrm>
        </p:spPr>
        <p:txBody>
          <a:bodyPr/>
          <a:lstStyle/>
          <a:p>
            <a:r>
              <a:rPr lang="en-US" sz="4000" dirty="0"/>
              <a:t>Identifying independence</a:t>
            </a:r>
            <a:endParaRPr lang="en-US" dirty="0"/>
          </a:p>
        </p:txBody>
      </p:sp>
      <p:sp>
        <p:nvSpPr>
          <p:cNvPr id="47" name="Rectangle 7"/>
          <p:cNvSpPr txBox="1">
            <a:spLocks noChangeArrowheads="1"/>
          </p:cNvSpPr>
          <p:nvPr/>
        </p:nvSpPr>
        <p:spPr>
          <a:xfrm>
            <a:off x="0" y="1053237"/>
            <a:ext cx="5975312" cy="2674129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2800" b="1" dirty="0"/>
              <a:t>Four random variables:</a:t>
            </a:r>
            <a:endParaRPr lang="en-US" sz="2800" dirty="0"/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1</a:t>
            </a:r>
            <a:r>
              <a:rPr lang="en-US" sz="2800" dirty="0"/>
              <a:t>	coin toss produces heads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2</a:t>
            </a:r>
            <a:r>
              <a:rPr lang="en-US" sz="2800" dirty="0"/>
              <a:t>	pencil levitates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3</a:t>
            </a:r>
            <a:r>
              <a:rPr lang="en-US" sz="2800" dirty="0"/>
              <a:t>	friend has psychic powers</a:t>
            </a:r>
          </a:p>
          <a:p>
            <a:pPr>
              <a:buFontTx/>
              <a:buNone/>
            </a:pPr>
            <a:r>
              <a:rPr lang="en-US" sz="2800" i="1" dirty="0"/>
              <a:t>	X</a:t>
            </a:r>
            <a:r>
              <a:rPr lang="en-US" sz="2800" baseline="-25000" dirty="0"/>
              <a:t>4</a:t>
            </a:r>
            <a:r>
              <a:rPr lang="en-US" sz="2800" dirty="0"/>
              <a:t>	friend has two-headed coin</a:t>
            </a:r>
          </a:p>
        </p:txBody>
      </p:sp>
    </p:spTree>
    <p:extLst>
      <p:ext uri="{BB962C8B-B14F-4D97-AF65-F5344CB8AC3E}">
        <p14:creationId xmlns:p14="http://schemas.microsoft.com/office/powerpoint/2010/main" val="2857836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8518" grpId="0"/>
      <p:bldP spid="998519" grpId="0"/>
      <p:bldP spid="99852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02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101"/>
          </a:xfrm>
        </p:spPr>
        <p:txBody>
          <a:bodyPr/>
          <a:lstStyle/>
          <a:p>
            <a:r>
              <a:rPr lang="en-US" sz="4000" dirty="0"/>
              <a:t>Computing with Bayes nets</a:t>
            </a:r>
            <a:endParaRPr lang="en-US" dirty="0"/>
          </a:p>
        </p:txBody>
      </p:sp>
      <p:graphicFrame>
        <p:nvGraphicFramePr>
          <p:cNvPr id="900118" name="Object 22"/>
          <p:cNvGraphicFramePr>
            <a:graphicFrameLocks noChangeAspect="1"/>
          </p:cNvGraphicFramePr>
          <p:nvPr/>
        </p:nvGraphicFramePr>
        <p:xfrm>
          <a:off x="990600" y="1570339"/>
          <a:ext cx="69342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25700" imgH="406400" progId="Equation.3">
                  <p:embed/>
                </p:oleObj>
              </mc:Choice>
              <mc:Fallback>
                <p:oleObj name="Equation" r:id="rId3" imgW="2425700" imgH="406400" progId="Equation.3">
                  <p:embed/>
                  <p:pic>
                    <p:nvPicPr>
                      <p:cNvPr id="90011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570339"/>
                        <a:ext cx="69342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"/>
          <p:cNvGrpSpPr>
            <a:grpSpLocks/>
          </p:cNvGrpSpPr>
          <p:nvPr/>
        </p:nvGrpSpPr>
        <p:grpSpPr bwMode="auto">
          <a:xfrm>
            <a:off x="2650429" y="3989092"/>
            <a:ext cx="2997448" cy="793442"/>
            <a:chOff x="2208" y="3024"/>
            <a:chExt cx="1632" cy="432"/>
          </a:xfrm>
        </p:grpSpPr>
        <p:sp>
          <p:nvSpPr>
            <p:cNvPr id="23" name="Line 3"/>
            <p:cNvSpPr>
              <a:spLocks noChangeShapeType="1"/>
            </p:cNvSpPr>
            <p:nvPr/>
          </p:nvSpPr>
          <p:spPr bwMode="auto">
            <a:xfrm>
              <a:off x="2208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24" name="Line 4"/>
            <p:cNvSpPr>
              <a:spLocks noChangeShapeType="1"/>
            </p:cNvSpPr>
            <p:nvPr/>
          </p:nvSpPr>
          <p:spPr bwMode="auto">
            <a:xfrm>
              <a:off x="3456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25" name="Line 5"/>
            <p:cNvSpPr>
              <a:spLocks noChangeShapeType="1"/>
            </p:cNvSpPr>
            <p:nvPr/>
          </p:nvSpPr>
          <p:spPr bwMode="auto">
            <a:xfrm flipH="1">
              <a:off x="2880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</p:grpSp>
      <p:grpSp>
        <p:nvGrpSpPr>
          <p:cNvPr id="26" name="Group 8"/>
          <p:cNvGrpSpPr>
            <a:grpSpLocks/>
          </p:cNvGrpSpPr>
          <p:nvPr/>
        </p:nvGrpSpPr>
        <p:grpSpPr bwMode="auto">
          <a:xfrm>
            <a:off x="2193229" y="3288250"/>
            <a:ext cx="4143528" cy="2027684"/>
            <a:chOff x="1920" y="2688"/>
            <a:chExt cx="2256" cy="1104"/>
          </a:xfrm>
        </p:grpSpPr>
        <p:sp>
          <p:nvSpPr>
            <p:cNvPr id="27" name="Oval 9"/>
            <p:cNvSpPr>
              <a:spLocks noChangeArrowheads="1"/>
            </p:cNvSpPr>
            <p:nvPr/>
          </p:nvSpPr>
          <p:spPr bwMode="auto">
            <a:xfrm>
              <a:off x="2544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28" name="Text Box 10"/>
            <p:cNvSpPr txBox="1">
              <a:spLocks noChangeArrowheads="1"/>
            </p:cNvSpPr>
            <p:nvPr/>
          </p:nvSpPr>
          <p:spPr bwMode="auto">
            <a:xfrm>
              <a:off x="2587" y="345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1</a:t>
              </a:r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29" name="Oval 11"/>
            <p:cNvSpPr>
              <a:spLocks noChangeArrowheads="1"/>
            </p:cNvSpPr>
            <p:nvPr/>
          </p:nvSpPr>
          <p:spPr bwMode="auto">
            <a:xfrm>
              <a:off x="3792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0" name="Text Box 12"/>
            <p:cNvSpPr txBox="1">
              <a:spLocks noChangeArrowheads="1"/>
            </p:cNvSpPr>
            <p:nvPr/>
          </p:nvSpPr>
          <p:spPr bwMode="auto">
            <a:xfrm>
              <a:off x="3835" y="345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2</a:t>
              </a:r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1" name="Oval 13"/>
            <p:cNvSpPr>
              <a:spLocks noChangeArrowheads="1"/>
            </p:cNvSpPr>
            <p:nvPr/>
          </p:nvSpPr>
          <p:spPr bwMode="auto">
            <a:xfrm>
              <a:off x="3168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2" name="Text Box 14"/>
            <p:cNvSpPr txBox="1">
              <a:spLocks noChangeArrowheads="1"/>
            </p:cNvSpPr>
            <p:nvPr/>
          </p:nvSpPr>
          <p:spPr bwMode="auto">
            <a:xfrm>
              <a:off x="3211" y="273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3</a:t>
              </a:r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3" name="Oval 15"/>
            <p:cNvSpPr>
              <a:spLocks noChangeArrowheads="1"/>
            </p:cNvSpPr>
            <p:nvPr/>
          </p:nvSpPr>
          <p:spPr bwMode="auto">
            <a:xfrm>
              <a:off x="1920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4" name="Text Box 16"/>
            <p:cNvSpPr txBox="1">
              <a:spLocks noChangeArrowheads="1"/>
            </p:cNvSpPr>
            <p:nvPr/>
          </p:nvSpPr>
          <p:spPr bwMode="auto">
            <a:xfrm>
              <a:off x="1962" y="273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4</a:t>
              </a:r>
              <a:endParaRPr lang="en-US" sz="2800">
                <a:latin typeface="Times New Roman"/>
                <a:cs typeface="Times New Roman"/>
              </a:endParaRPr>
            </a:p>
          </p:txBody>
        </p:sp>
      </p:grpSp>
      <p:grpSp>
        <p:nvGrpSpPr>
          <p:cNvPr id="35" name="Group 17"/>
          <p:cNvGrpSpPr>
            <a:grpSpLocks/>
          </p:cNvGrpSpPr>
          <p:nvPr/>
        </p:nvGrpSpPr>
        <p:grpSpPr bwMode="auto">
          <a:xfrm>
            <a:off x="1232101" y="3333299"/>
            <a:ext cx="6531202" cy="1911975"/>
            <a:chOff x="1321" y="2709"/>
            <a:chExt cx="3556" cy="1041"/>
          </a:xfrm>
        </p:grpSpPr>
        <p:sp>
          <p:nvSpPr>
            <p:cNvPr id="36" name="Text Box 18"/>
            <p:cNvSpPr txBox="1">
              <a:spLocks noChangeArrowheads="1"/>
            </p:cNvSpPr>
            <p:nvPr/>
          </p:nvSpPr>
          <p:spPr bwMode="auto">
            <a:xfrm>
              <a:off x="1321" y="2709"/>
              <a:ext cx="52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 dirty="0">
                  <a:latin typeface="Times New Roman"/>
                  <a:cs typeface="Times New Roman"/>
                </a:rPr>
                <a:t>P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4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  <a:endParaRPr lang="en-US" sz="2800" baseline="-25000" dirty="0">
                <a:latin typeface="Times New Roman"/>
                <a:cs typeface="Times New Roman"/>
              </a:endParaRPr>
            </a:p>
          </p:txBody>
        </p:sp>
        <p:sp>
          <p:nvSpPr>
            <p:cNvPr id="37" name="Text Box 19"/>
            <p:cNvSpPr txBox="1">
              <a:spLocks noChangeArrowheads="1"/>
            </p:cNvSpPr>
            <p:nvPr/>
          </p:nvSpPr>
          <p:spPr bwMode="auto">
            <a:xfrm>
              <a:off x="3544" y="2727"/>
              <a:ext cx="52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P</a:t>
              </a:r>
              <a:r>
                <a:rPr lang="en-US" sz="2800">
                  <a:latin typeface="Times New Roman"/>
                  <a:cs typeface="Times New Roman"/>
                </a:rPr>
                <a:t>(</a:t>
              </a:r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3</a:t>
              </a:r>
              <a:r>
                <a:rPr lang="en-US" sz="2800">
                  <a:latin typeface="Times New Roman"/>
                  <a:cs typeface="Times New Roman"/>
                </a:rPr>
                <a:t>)</a:t>
              </a:r>
              <a:endParaRPr lang="en-US" sz="2800" baseline="-25000">
                <a:latin typeface="Times New Roman"/>
                <a:cs typeface="Times New Roman"/>
              </a:endParaRPr>
            </a:p>
          </p:txBody>
        </p:sp>
        <p:sp>
          <p:nvSpPr>
            <p:cNvPr id="38" name="Text Box 20"/>
            <p:cNvSpPr txBox="1">
              <a:spLocks noChangeArrowheads="1"/>
            </p:cNvSpPr>
            <p:nvPr/>
          </p:nvSpPr>
          <p:spPr bwMode="auto">
            <a:xfrm>
              <a:off x="4159" y="3456"/>
              <a:ext cx="718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 dirty="0">
                  <a:latin typeface="Times New Roman"/>
                  <a:cs typeface="Times New Roman"/>
                </a:rPr>
                <a:t>P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2</a:t>
              </a:r>
              <a:r>
                <a:rPr lang="en-US" sz="2800" dirty="0">
                  <a:latin typeface="Times New Roman"/>
                  <a:cs typeface="Times New Roman"/>
                </a:rPr>
                <a:t>|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3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39" name="Text Box 21"/>
            <p:cNvSpPr txBox="1">
              <a:spLocks noChangeArrowheads="1"/>
            </p:cNvSpPr>
            <p:nvPr/>
          </p:nvSpPr>
          <p:spPr bwMode="auto">
            <a:xfrm>
              <a:off x="1477" y="3465"/>
              <a:ext cx="96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 dirty="0">
                  <a:latin typeface="Times New Roman"/>
                  <a:cs typeface="Times New Roman"/>
                </a:rPr>
                <a:t>P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1</a:t>
              </a:r>
              <a:r>
                <a:rPr lang="en-US" sz="2800" dirty="0">
                  <a:latin typeface="Times New Roman"/>
                  <a:cs typeface="Times New Roman"/>
                </a:rPr>
                <a:t>|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3</a:t>
              </a:r>
              <a:r>
                <a:rPr lang="en-US" sz="2800" dirty="0">
                  <a:latin typeface="Times New Roman"/>
                  <a:cs typeface="Times New Roman"/>
                </a:rPr>
                <a:t>, 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4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</a:p>
          </p:txBody>
        </p:sp>
      </p:grpSp>
      <p:sp>
        <p:nvSpPr>
          <p:cNvPr id="40" name="Text Box 22"/>
          <p:cNvSpPr txBox="1">
            <a:spLocks noChangeArrowheads="1"/>
          </p:cNvSpPr>
          <p:nvPr/>
        </p:nvSpPr>
        <p:spPr bwMode="auto">
          <a:xfrm>
            <a:off x="711297" y="6061747"/>
            <a:ext cx="7758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i="1" baseline="-25000" dirty="0">
                <a:latin typeface="Times New Roman"/>
                <a:cs typeface="Times New Roman"/>
              </a:rPr>
              <a:t>1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2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4</a:t>
            </a:r>
            <a:r>
              <a:rPr lang="en-US" sz="2800" dirty="0">
                <a:latin typeface="Times New Roman"/>
                <a:cs typeface="Times New Roman"/>
              </a:rPr>
              <a:t>) = 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1</a:t>
            </a:r>
            <a:r>
              <a:rPr lang="en-US" sz="2800" dirty="0">
                <a:latin typeface="Times New Roman"/>
                <a:cs typeface="Times New Roman"/>
              </a:rPr>
              <a:t>|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4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2</a:t>
            </a:r>
            <a:r>
              <a:rPr lang="en-US" sz="2800" dirty="0">
                <a:latin typeface="Times New Roman"/>
                <a:cs typeface="Times New Roman"/>
              </a:rPr>
              <a:t>|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4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1748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2166" name="Object 22"/>
          <p:cNvGraphicFramePr>
            <a:graphicFrameLocks noChangeAspect="1"/>
          </p:cNvGraphicFramePr>
          <p:nvPr/>
        </p:nvGraphicFramePr>
        <p:xfrm>
          <a:off x="1516063" y="1850450"/>
          <a:ext cx="5881687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57400" imgH="368300" progId="Equation.3">
                  <p:embed/>
                </p:oleObj>
              </mc:Choice>
              <mc:Fallback>
                <p:oleObj name="Equation" r:id="rId3" imgW="2057400" imgH="368300" progId="Equation.3">
                  <p:embed/>
                  <p:pic>
                    <p:nvPicPr>
                      <p:cNvPr id="90216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063" y="1850450"/>
                        <a:ext cx="5881687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167" name="Text Box 23"/>
          <p:cNvSpPr txBox="1">
            <a:spLocks noChangeArrowheads="1"/>
          </p:cNvSpPr>
          <p:nvPr/>
        </p:nvSpPr>
        <p:spPr bwMode="auto">
          <a:xfrm>
            <a:off x="4591591" y="2687063"/>
            <a:ext cx="40089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ＭＳ Ｐゴシック" charset="0"/>
              </a:rPr>
              <a:t>sum over 8 values (values for 2, 3, and 4)</a:t>
            </a:r>
          </a:p>
        </p:txBody>
      </p:sp>
      <p:grpSp>
        <p:nvGrpSpPr>
          <p:cNvPr id="24" name="Group 2"/>
          <p:cNvGrpSpPr>
            <a:grpSpLocks/>
          </p:cNvGrpSpPr>
          <p:nvPr/>
        </p:nvGrpSpPr>
        <p:grpSpPr bwMode="auto">
          <a:xfrm>
            <a:off x="2650429" y="3989092"/>
            <a:ext cx="2997448" cy="793442"/>
            <a:chOff x="2208" y="3024"/>
            <a:chExt cx="1632" cy="432"/>
          </a:xfrm>
        </p:grpSpPr>
        <p:sp>
          <p:nvSpPr>
            <p:cNvPr id="25" name="Line 3"/>
            <p:cNvSpPr>
              <a:spLocks noChangeShapeType="1"/>
            </p:cNvSpPr>
            <p:nvPr/>
          </p:nvSpPr>
          <p:spPr bwMode="auto">
            <a:xfrm>
              <a:off x="2208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26" name="Line 4"/>
            <p:cNvSpPr>
              <a:spLocks noChangeShapeType="1"/>
            </p:cNvSpPr>
            <p:nvPr/>
          </p:nvSpPr>
          <p:spPr bwMode="auto">
            <a:xfrm>
              <a:off x="3456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27" name="Line 5"/>
            <p:cNvSpPr>
              <a:spLocks noChangeShapeType="1"/>
            </p:cNvSpPr>
            <p:nvPr/>
          </p:nvSpPr>
          <p:spPr bwMode="auto">
            <a:xfrm flipH="1">
              <a:off x="2880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</p:grpSp>
      <p:grpSp>
        <p:nvGrpSpPr>
          <p:cNvPr id="28" name="Group 8"/>
          <p:cNvGrpSpPr>
            <a:grpSpLocks/>
          </p:cNvGrpSpPr>
          <p:nvPr/>
        </p:nvGrpSpPr>
        <p:grpSpPr bwMode="auto">
          <a:xfrm>
            <a:off x="2193229" y="3288250"/>
            <a:ext cx="4143528" cy="2027684"/>
            <a:chOff x="1920" y="2688"/>
            <a:chExt cx="2256" cy="1104"/>
          </a:xfrm>
        </p:grpSpPr>
        <p:sp>
          <p:nvSpPr>
            <p:cNvPr id="29" name="Oval 9"/>
            <p:cNvSpPr>
              <a:spLocks noChangeArrowheads="1"/>
            </p:cNvSpPr>
            <p:nvPr/>
          </p:nvSpPr>
          <p:spPr bwMode="auto">
            <a:xfrm>
              <a:off x="2544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0" name="Text Box 10"/>
            <p:cNvSpPr txBox="1">
              <a:spLocks noChangeArrowheads="1"/>
            </p:cNvSpPr>
            <p:nvPr/>
          </p:nvSpPr>
          <p:spPr bwMode="auto">
            <a:xfrm>
              <a:off x="2587" y="345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1</a:t>
              </a:r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1" name="Oval 11"/>
            <p:cNvSpPr>
              <a:spLocks noChangeArrowheads="1"/>
            </p:cNvSpPr>
            <p:nvPr/>
          </p:nvSpPr>
          <p:spPr bwMode="auto">
            <a:xfrm>
              <a:off x="3792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2" name="Text Box 12"/>
            <p:cNvSpPr txBox="1">
              <a:spLocks noChangeArrowheads="1"/>
            </p:cNvSpPr>
            <p:nvPr/>
          </p:nvSpPr>
          <p:spPr bwMode="auto">
            <a:xfrm>
              <a:off x="3835" y="345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2</a:t>
              </a:r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3" name="Oval 13"/>
            <p:cNvSpPr>
              <a:spLocks noChangeArrowheads="1"/>
            </p:cNvSpPr>
            <p:nvPr/>
          </p:nvSpPr>
          <p:spPr bwMode="auto">
            <a:xfrm>
              <a:off x="3168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4" name="Text Box 14"/>
            <p:cNvSpPr txBox="1">
              <a:spLocks noChangeArrowheads="1"/>
            </p:cNvSpPr>
            <p:nvPr/>
          </p:nvSpPr>
          <p:spPr bwMode="auto">
            <a:xfrm>
              <a:off x="3211" y="273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3</a:t>
              </a:r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5" name="Oval 15"/>
            <p:cNvSpPr>
              <a:spLocks noChangeArrowheads="1"/>
            </p:cNvSpPr>
            <p:nvPr/>
          </p:nvSpPr>
          <p:spPr bwMode="auto">
            <a:xfrm>
              <a:off x="1920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6" name="Text Box 16"/>
            <p:cNvSpPr txBox="1">
              <a:spLocks noChangeArrowheads="1"/>
            </p:cNvSpPr>
            <p:nvPr/>
          </p:nvSpPr>
          <p:spPr bwMode="auto">
            <a:xfrm>
              <a:off x="1962" y="273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4</a:t>
              </a:r>
              <a:endParaRPr lang="en-US" sz="2800">
                <a:latin typeface="Times New Roman"/>
                <a:cs typeface="Times New Roman"/>
              </a:endParaRPr>
            </a:p>
          </p:txBody>
        </p:sp>
      </p:grpSp>
      <p:grpSp>
        <p:nvGrpSpPr>
          <p:cNvPr id="37" name="Group 17"/>
          <p:cNvGrpSpPr>
            <a:grpSpLocks/>
          </p:cNvGrpSpPr>
          <p:nvPr/>
        </p:nvGrpSpPr>
        <p:grpSpPr bwMode="auto">
          <a:xfrm>
            <a:off x="1232101" y="3333299"/>
            <a:ext cx="6531202" cy="1911975"/>
            <a:chOff x="1321" y="2709"/>
            <a:chExt cx="3556" cy="1041"/>
          </a:xfrm>
        </p:grpSpPr>
        <p:sp>
          <p:nvSpPr>
            <p:cNvPr id="38" name="Text Box 18"/>
            <p:cNvSpPr txBox="1">
              <a:spLocks noChangeArrowheads="1"/>
            </p:cNvSpPr>
            <p:nvPr/>
          </p:nvSpPr>
          <p:spPr bwMode="auto">
            <a:xfrm>
              <a:off x="1321" y="2709"/>
              <a:ext cx="52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 dirty="0">
                  <a:latin typeface="Times New Roman"/>
                  <a:cs typeface="Times New Roman"/>
                </a:rPr>
                <a:t>P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4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  <a:endParaRPr lang="en-US" sz="2800" baseline="-25000" dirty="0">
                <a:latin typeface="Times New Roman"/>
                <a:cs typeface="Times New Roman"/>
              </a:endParaRPr>
            </a:p>
          </p:txBody>
        </p:sp>
        <p:sp>
          <p:nvSpPr>
            <p:cNvPr id="39" name="Text Box 19"/>
            <p:cNvSpPr txBox="1">
              <a:spLocks noChangeArrowheads="1"/>
            </p:cNvSpPr>
            <p:nvPr/>
          </p:nvSpPr>
          <p:spPr bwMode="auto">
            <a:xfrm>
              <a:off x="3544" y="2727"/>
              <a:ext cx="52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P</a:t>
              </a:r>
              <a:r>
                <a:rPr lang="en-US" sz="2800">
                  <a:latin typeface="Times New Roman"/>
                  <a:cs typeface="Times New Roman"/>
                </a:rPr>
                <a:t>(</a:t>
              </a:r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3</a:t>
              </a:r>
              <a:r>
                <a:rPr lang="en-US" sz="2800">
                  <a:latin typeface="Times New Roman"/>
                  <a:cs typeface="Times New Roman"/>
                </a:rPr>
                <a:t>)</a:t>
              </a:r>
              <a:endParaRPr lang="en-US" sz="2800" baseline="-25000">
                <a:latin typeface="Times New Roman"/>
                <a:cs typeface="Times New Roman"/>
              </a:endParaRPr>
            </a:p>
          </p:txBody>
        </p:sp>
        <p:sp>
          <p:nvSpPr>
            <p:cNvPr id="40" name="Text Box 20"/>
            <p:cNvSpPr txBox="1">
              <a:spLocks noChangeArrowheads="1"/>
            </p:cNvSpPr>
            <p:nvPr/>
          </p:nvSpPr>
          <p:spPr bwMode="auto">
            <a:xfrm>
              <a:off x="4159" y="3456"/>
              <a:ext cx="718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 dirty="0">
                  <a:latin typeface="Times New Roman"/>
                  <a:cs typeface="Times New Roman"/>
                </a:rPr>
                <a:t>P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2</a:t>
              </a:r>
              <a:r>
                <a:rPr lang="en-US" sz="2800" dirty="0">
                  <a:latin typeface="Times New Roman"/>
                  <a:cs typeface="Times New Roman"/>
                </a:rPr>
                <a:t>|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3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auto">
            <a:xfrm>
              <a:off x="1477" y="3465"/>
              <a:ext cx="96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 dirty="0">
                  <a:latin typeface="Times New Roman"/>
                  <a:cs typeface="Times New Roman"/>
                </a:rPr>
                <a:t>P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1</a:t>
              </a:r>
              <a:r>
                <a:rPr lang="en-US" sz="2800" dirty="0">
                  <a:latin typeface="Times New Roman"/>
                  <a:cs typeface="Times New Roman"/>
                </a:rPr>
                <a:t>|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3</a:t>
              </a:r>
              <a:r>
                <a:rPr lang="en-US" sz="2800" dirty="0">
                  <a:latin typeface="Times New Roman"/>
                  <a:cs typeface="Times New Roman"/>
                </a:rPr>
                <a:t>, 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4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</a:p>
          </p:txBody>
        </p:sp>
      </p:grpSp>
      <p:sp>
        <p:nvSpPr>
          <p:cNvPr id="42" name="Text Box 22"/>
          <p:cNvSpPr txBox="1">
            <a:spLocks noChangeArrowheads="1"/>
          </p:cNvSpPr>
          <p:nvPr/>
        </p:nvSpPr>
        <p:spPr bwMode="auto">
          <a:xfrm>
            <a:off x="711297" y="6061747"/>
            <a:ext cx="7758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i="1" baseline="-25000" dirty="0">
                <a:latin typeface="Times New Roman"/>
                <a:cs typeface="Times New Roman"/>
              </a:rPr>
              <a:t>1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2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4</a:t>
            </a:r>
            <a:r>
              <a:rPr lang="en-US" sz="2800" dirty="0">
                <a:latin typeface="Times New Roman"/>
                <a:cs typeface="Times New Roman"/>
              </a:rPr>
              <a:t>) = 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1</a:t>
            </a:r>
            <a:r>
              <a:rPr lang="en-US" sz="2800" dirty="0">
                <a:latin typeface="Times New Roman"/>
                <a:cs typeface="Times New Roman"/>
              </a:rPr>
              <a:t>|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4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2</a:t>
            </a:r>
            <a:r>
              <a:rPr lang="en-US" sz="2800" dirty="0">
                <a:latin typeface="Times New Roman"/>
                <a:cs typeface="Times New Roman"/>
              </a:rPr>
              <a:t>|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4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44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101"/>
          </a:xfrm>
        </p:spPr>
        <p:txBody>
          <a:bodyPr/>
          <a:lstStyle/>
          <a:p>
            <a:r>
              <a:rPr lang="en-US" sz="4000" dirty="0"/>
              <a:t>Computing with Bayes nets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68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216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4214" name="Object 22"/>
          <p:cNvGraphicFramePr>
            <a:graphicFrameLocks noChangeAspect="1"/>
          </p:cNvGraphicFramePr>
          <p:nvPr/>
        </p:nvGraphicFramePr>
        <p:xfrm>
          <a:off x="155575" y="1624315"/>
          <a:ext cx="860425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09900" imgH="368300" progId="Equation.3">
                  <p:embed/>
                </p:oleObj>
              </mc:Choice>
              <mc:Fallback>
                <p:oleObj name="Equation" r:id="rId3" imgW="3009900" imgH="368300" progId="Equation.3">
                  <p:embed/>
                  <p:pic>
                    <p:nvPicPr>
                      <p:cNvPr id="90421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" y="1624315"/>
                        <a:ext cx="860425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"/>
          <p:cNvGrpSpPr>
            <a:grpSpLocks/>
          </p:cNvGrpSpPr>
          <p:nvPr/>
        </p:nvGrpSpPr>
        <p:grpSpPr bwMode="auto">
          <a:xfrm>
            <a:off x="2650429" y="3989092"/>
            <a:ext cx="2997448" cy="793442"/>
            <a:chOff x="2208" y="3024"/>
            <a:chExt cx="1632" cy="432"/>
          </a:xfrm>
        </p:grpSpPr>
        <p:sp>
          <p:nvSpPr>
            <p:cNvPr id="25" name="Line 3"/>
            <p:cNvSpPr>
              <a:spLocks noChangeShapeType="1"/>
            </p:cNvSpPr>
            <p:nvPr/>
          </p:nvSpPr>
          <p:spPr bwMode="auto">
            <a:xfrm>
              <a:off x="2208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26" name="Line 4"/>
            <p:cNvSpPr>
              <a:spLocks noChangeShapeType="1"/>
            </p:cNvSpPr>
            <p:nvPr/>
          </p:nvSpPr>
          <p:spPr bwMode="auto">
            <a:xfrm>
              <a:off x="3456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27" name="Line 5"/>
            <p:cNvSpPr>
              <a:spLocks noChangeShapeType="1"/>
            </p:cNvSpPr>
            <p:nvPr/>
          </p:nvSpPr>
          <p:spPr bwMode="auto">
            <a:xfrm flipH="1">
              <a:off x="2880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</p:grpSp>
      <p:grpSp>
        <p:nvGrpSpPr>
          <p:cNvPr id="28" name="Group 8"/>
          <p:cNvGrpSpPr>
            <a:grpSpLocks/>
          </p:cNvGrpSpPr>
          <p:nvPr/>
        </p:nvGrpSpPr>
        <p:grpSpPr bwMode="auto">
          <a:xfrm>
            <a:off x="2193229" y="3288250"/>
            <a:ext cx="4143528" cy="2027684"/>
            <a:chOff x="1920" y="2688"/>
            <a:chExt cx="2256" cy="1104"/>
          </a:xfrm>
        </p:grpSpPr>
        <p:sp>
          <p:nvSpPr>
            <p:cNvPr id="29" name="Oval 9"/>
            <p:cNvSpPr>
              <a:spLocks noChangeArrowheads="1"/>
            </p:cNvSpPr>
            <p:nvPr/>
          </p:nvSpPr>
          <p:spPr bwMode="auto">
            <a:xfrm>
              <a:off x="2544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0" name="Text Box 10"/>
            <p:cNvSpPr txBox="1">
              <a:spLocks noChangeArrowheads="1"/>
            </p:cNvSpPr>
            <p:nvPr/>
          </p:nvSpPr>
          <p:spPr bwMode="auto">
            <a:xfrm>
              <a:off x="2587" y="345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1</a:t>
              </a:r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1" name="Oval 11"/>
            <p:cNvSpPr>
              <a:spLocks noChangeArrowheads="1"/>
            </p:cNvSpPr>
            <p:nvPr/>
          </p:nvSpPr>
          <p:spPr bwMode="auto">
            <a:xfrm>
              <a:off x="3792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2" name="Text Box 12"/>
            <p:cNvSpPr txBox="1">
              <a:spLocks noChangeArrowheads="1"/>
            </p:cNvSpPr>
            <p:nvPr/>
          </p:nvSpPr>
          <p:spPr bwMode="auto">
            <a:xfrm>
              <a:off x="3835" y="345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2</a:t>
              </a:r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3" name="Oval 13"/>
            <p:cNvSpPr>
              <a:spLocks noChangeArrowheads="1"/>
            </p:cNvSpPr>
            <p:nvPr/>
          </p:nvSpPr>
          <p:spPr bwMode="auto">
            <a:xfrm>
              <a:off x="3168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4" name="Text Box 14"/>
            <p:cNvSpPr txBox="1">
              <a:spLocks noChangeArrowheads="1"/>
            </p:cNvSpPr>
            <p:nvPr/>
          </p:nvSpPr>
          <p:spPr bwMode="auto">
            <a:xfrm>
              <a:off x="3211" y="273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3</a:t>
              </a:r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5" name="Oval 15"/>
            <p:cNvSpPr>
              <a:spLocks noChangeArrowheads="1"/>
            </p:cNvSpPr>
            <p:nvPr/>
          </p:nvSpPr>
          <p:spPr bwMode="auto">
            <a:xfrm>
              <a:off x="1920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6" name="Text Box 16"/>
            <p:cNvSpPr txBox="1">
              <a:spLocks noChangeArrowheads="1"/>
            </p:cNvSpPr>
            <p:nvPr/>
          </p:nvSpPr>
          <p:spPr bwMode="auto">
            <a:xfrm>
              <a:off x="1962" y="273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4</a:t>
              </a:r>
              <a:endParaRPr lang="en-US" sz="2800">
                <a:latin typeface="Times New Roman"/>
                <a:cs typeface="Times New Roman"/>
              </a:endParaRPr>
            </a:p>
          </p:txBody>
        </p:sp>
      </p:grpSp>
      <p:grpSp>
        <p:nvGrpSpPr>
          <p:cNvPr id="37" name="Group 17"/>
          <p:cNvGrpSpPr>
            <a:grpSpLocks/>
          </p:cNvGrpSpPr>
          <p:nvPr/>
        </p:nvGrpSpPr>
        <p:grpSpPr bwMode="auto">
          <a:xfrm>
            <a:off x="1232101" y="3333299"/>
            <a:ext cx="6531202" cy="1911975"/>
            <a:chOff x="1321" y="2709"/>
            <a:chExt cx="3556" cy="1041"/>
          </a:xfrm>
        </p:grpSpPr>
        <p:sp>
          <p:nvSpPr>
            <p:cNvPr id="38" name="Text Box 18"/>
            <p:cNvSpPr txBox="1">
              <a:spLocks noChangeArrowheads="1"/>
            </p:cNvSpPr>
            <p:nvPr/>
          </p:nvSpPr>
          <p:spPr bwMode="auto">
            <a:xfrm>
              <a:off x="1321" y="2709"/>
              <a:ext cx="52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 dirty="0">
                  <a:latin typeface="Times New Roman"/>
                  <a:cs typeface="Times New Roman"/>
                </a:rPr>
                <a:t>P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4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  <a:endParaRPr lang="en-US" sz="2800" baseline="-25000" dirty="0">
                <a:latin typeface="Times New Roman"/>
                <a:cs typeface="Times New Roman"/>
              </a:endParaRPr>
            </a:p>
          </p:txBody>
        </p:sp>
        <p:sp>
          <p:nvSpPr>
            <p:cNvPr id="39" name="Text Box 19"/>
            <p:cNvSpPr txBox="1">
              <a:spLocks noChangeArrowheads="1"/>
            </p:cNvSpPr>
            <p:nvPr/>
          </p:nvSpPr>
          <p:spPr bwMode="auto">
            <a:xfrm>
              <a:off x="3544" y="2727"/>
              <a:ext cx="52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P</a:t>
              </a:r>
              <a:r>
                <a:rPr lang="en-US" sz="2800">
                  <a:latin typeface="Times New Roman"/>
                  <a:cs typeface="Times New Roman"/>
                </a:rPr>
                <a:t>(</a:t>
              </a:r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3</a:t>
              </a:r>
              <a:r>
                <a:rPr lang="en-US" sz="2800">
                  <a:latin typeface="Times New Roman"/>
                  <a:cs typeface="Times New Roman"/>
                </a:rPr>
                <a:t>)</a:t>
              </a:r>
              <a:endParaRPr lang="en-US" sz="2800" baseline="-25000">
                <a:latin typeface="Times New Roman"/>
                <a:cs typeface="Times New Roman"/>
              </a:endParaRPr>
            </a:p>
          </p:txBody>
        </p:sp>
        <p:sp>
          <p:nvSpPr>
            <p:cNvPr id="40" name="Text Box 20"/>
            <p:cNvSpPr txBox="1">
              <a:spLocks noChangeArrowheads="1"/>
            </p:cNvSpPr>
            <p:nvPr/>
          </p:nvSpPr>
          <p:spPr bwMode="auto">
            <a:xfrm>
              <a:off x="4159" y="3456"/>
              <a:ext cx="718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 dirty="0">
                  <a:latin typeface="Times New Roman"/>
                  <a:cs typeface="Times New Roman"/>
                </a:rPr>
                <a:t>P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2</a:t>
              </a:r>
              <a:r>
                <a:rPr lang="en-US" sz="2800" dirty="0">
                  <a:latin typeface="Times New Roman"/>
                  <a:cs typeface="Times New Roman"/>
                </a:rPr>
                <a:t>|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3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auto">
            <a:xfrm>
              <a:off x="1477" y="3465"/>
              <a:ext cx="96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 dirty="0">
                  <a:latin typeface="Times New Roman"/>
                  <a:cs typeface="Times New Roman"/>
                </a:rPr>
                <a:t>P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1</a:t>
              </a:r>
              <a:r>
                <a:rPr lang="en-US" sz="2800" dirty="0">
                  <a:latin typeface="Times New Roman"/>
                  <a:cs typeface="Times New Roman"/>
                </a:rPr>
                <a:t>|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3</a:t>
              </a:r>
              <a:r>
                <a:rPr lang="en-US" sz="2800" dirty="0">
                  <a:latin typeface="Times New Roman"/>
                  <a:cs typeface="Times New Roman"/>
                </a:rPr>
                <a:t>, 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4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</a:p>
          </p:txBody>
        </p:sp>
      </p:grpSp>
      <p:sp>
        <p:nvSpPr>
          <p:cNvPr id="42" name="Text Box 22"/>
          <p:cNvSpPr txBox="1">
            <a:spLocks noChangeArrowheads="1"/>
          </p:cNvSpPr>
          <p:nvPr/>
        </p:nvSpPr>
        <p:spPr bwMode="auto">
          <a:xfrm>
            <a:off x="711297" y="6061747"/>
            <a:ext cx="7758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i="1" baseline="-25000" dirty="0">
                <a:latin typeface="Times New Roman"/>
                <a:cs typeface="Times New Roman"/>
              </a:rPr>
              <a:t>1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2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4</a:t>
            </a:r>
            <a:r>
              <a:rPr lang="en-US" sz="2800" dirty="0">
                <a:latin typeface="Times New Roman"/>
                <a:cs typeface="Times New Roman"/>
              </a:rPr>
              <a:t>) = 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1</a:t>
            </a:r>
            <a:r>
              <a:rPr lang="en-US" sz="2800" dirty="0">
                <a:latin typeface="Times New Roman"/>
                <a:cs typeface="Times New Roman"/>
              </a:rPr>
              <a:t>|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4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2</a:t>
            </a:r>
            <a:r>
              <a:rPr lang="en-US" sz="2800" dirty="0">
                <a:latin typeface="Times New Roman"/>
                <a:cs typeface="Times New Roman"/>
              </a:rPr>
              <a:t>|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4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43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101"/>
          </a:xfrm>
        </p:spPr>
        <p:txBody>
          <a:bodyPr/>
          <a:lstStyle/>
          <a:p>
            <a:r>
              <a:rPr lang="en-US" sz="4000" dirty="0"/>
              <a:t>Computing with Bayes nets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898510" y="1660321"/>
            <a:ext cx="6245490" cy="7155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/>
          <p:cNvSpPr/>
          <p:nvPr/>
        </p:nvSpPr>
        <p:spPr>
          <a:xfrm rot="16200000">
            <a:off x="2493288" y="4020536"/>
            <a:ext cx="3592513" cy="4899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397334" y="1740221"/>
            <a:ext cx="529143" cy="576154"/>
          </a:xfrm>
          <a:prstGeom prst="rect">
            <a:avLst/>
          </a:prstGeom>
          <a:noFill/>
          <a:ln w="28575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2104840" y="2378105"/>
            <a:ext cx="274056" cy="298723"/>
          </a:xfrm>
          <a:prstGeom prst="rect">
            <a:avLst/>
          </a:prstGeom>
          <a:noFill/>
          <a:ln w="28575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4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4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6262" name="Object 22"/>
          <p:cNvGraphicFramePr>
            <a:graphicFrameLocks noChangeAspect="1"/>
          </p:cNvGraphicFramePr>
          <p:nvPr/>
        </p:nvGraphicFramePr>
        <p:xfrm>
          <a:off x="1062038" y="1585118"/>
          <a:ext cx="6789737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74900" imgH="368300" progId="Equation.3">
                  <p:embed/>
                </p:oleObj>
              </mc:Choice>
              <mc:Fallback>
                <p:oleObj name="Equation" r:id="rId3" imgW="2374900" imgH="368300" progId="Equation.3">
                  <p:embed/>
                  <p:pic>
                    <p:nvPicPr>
                      <p:cNvPr id="90626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1585118"/>
                        <a:ext cx="6789737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6263" name="Text Box 23"/>
          <p:cNvSpPr txBox="1">
            <a:spLocks noChangeArrowheads="1"/>
          </p:cNvSpPr>
          <p:nvPr/>
        </p:nvSpPr>
        <p:spPr bwMode="auto">
          <a:xfrm>
            <a:off x="6057746" y="3038986"/>
            <a:ext cx="302396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cs typeface="ＭＳ Ｐゴシック" charset="0"/>
              </a:rPr>
              <a:t>sum over 4 values</a:t>
            </a:r>
          </a:p>
          <a:p>
            <a:pPr algn="ctr"/>
            <a:r>
              <a:rPr lang="en-US" dirty="0">
                <a:solidFill>
                  <a:srgbClr val="FF0000"/>
                </a:solidFill>
                <a:cs typeface="ＭＳ Ｐゴシック" charset="0"/>
              </a:rPr>
              <a:t>(instead of 8)</a:t>
            </a:r>
          </a:p>
          <a:p>
            <a:pPr algn="ctr"/>
            <a:endParaRPr lang="en-US" dirty="0">
              <a:solidFill>
                <a:srgbClr val="FF0000"/>
              </a:solidFill>
              <a:cs typeface="ＭＳ Ｐゴシック" charset="0"/>
            </a:endParaRPr>
          </a:p>
          <a:p>
            <a:pPr algn="ctr"/>
            <a:r>
              <a:rPr lang="en-US" dirty="0">
                <a:solidFill>
                  <a:srgbClr val="FF0000"/>
                </a:solidFill>
                <a:cs typeface="ＭＳ Ｐゴシック" charset="0"/>
              </a:rPr>
              <a:t>This benefit scales well when</a:t>
            </a:r>
          </a:p>
          <a:p>
            <a:pPr algn="ctr"/>
            <a:r>
              <a:rPr lang="en-US" dirty="0">
                <a:solidFill>
                  <a:srgbClr val="FF0000"/>
                </a:solidFill>
                <a:cs typeface="ＭＳ Ｐゴシック" charset="0"/>
              </a:rPr>
              <a:t>max “width” &lt;&lt; num of nodes</a:t>
            </a:r>
          </a:p>
        </p:txBody>
      </p:sp>
      <p:grpSp>
        <p:nvGrpSpPr>
          <p:cNvPr id="25" name="Group 2"/>
          <p:cNvGrpSpPr>
            <a:grpSpLocks/>
          </p:cNvGrpSpPr>
          <p:nvPr/>
        </p:nvGrpSpPr>
        <p:grpSpPr bwMode="auto">
          <a:xfrm>
            <a:off x="2650429" y="3989092"/>
            <a:ext cx="2997448" cy="793442"/>
            <a:chOff x="2208" y="3024"/>
            <a:chExt cx="1632" cy="432"/>
          </a:xfrm>
        </p:grpSpPr>
        <p:sp>
          <p:nvSpPr>
            <p:cNvPr id="26" name="Line 3"/>
            <p:cNvSpPr>
              <a:spLocks noChangeShapeType="1"/>
            </p:cNvSpPr>
            <p:nvPr/>
          </p:nvSpPr>
          <p:spPr bwMode="auto">
            <a:xfrm>
              <a:off x="2208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27" name="Line 4"/>
            <p:cNvSpPr>
              <a:spLocks noChangeShapeType="1"/>
            </p:cNvSpPr>
            <p:nvPr/>
          </p:nvSpPr>
          <p:spPr bwMode="auto">
            <a:xfrm>
              <a:off x="3456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28" name="Line 5"/>
            <p:cNvSpPr>
              <a:spLocks noChangeShapeType="1"/>
            </p:cNvSpPr>
            <p:nvPr/>
          </p:nvSpPr>
          <p:spPr bwMode="auto">
            <a:xfrm flipH="1">
              <a:off x="2880" y="3024"/>
              <a:ext cx="38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</p:grpSp>
      <p:grpSp>
        <p:nvGrpSpPr>
          <p:cNvPr id="29" name="Group 8"/>
          <p:cNvGrpSpPr>
            <a:grpSpLocks/>
          </p:cNvGrpSpPr>
          <p:nvPr/>
        </p:nvGrpSpPr>
        <p:grpSpPr bwMode="auto">
          <a:xfrm>
            <a:off x="2193229" y="3288250"/>
            <a:ext cx="4143528" cy="2027684"/>
            <a:chOff x="1920" y="2688"/>
            <a:chExt cx="2256" cy="1104"/>
          </a:xfrm>
        </p:grpSpPr>
        <p:sp>
          <p:nvSpPr>
            <p:cNvPr id="30" name="Oval 9"/>
            <p:cNvSpPr>
              <a:spLocks noChangeArrowheads="1"/>
            </p:cNvSpPr>
            <p:nvPr/>
          </p:nvSpPr>
          <p:spPr bwMode="auto">
            <a:xfrm>
              <a:off x="2544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1" name="Text Box 10"/>
            <p:cNvSpPr txBox="1">
              <a:spLocks noChangeArrowheads="1"/>
            </p:cNvSpPr>
            <p:nvPr/>
          </p:nvSpPr>
          <p:spPr bwMode="auto">
            <a:xfrm>
              <a:off x="2587" y="345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1</a:t>
              </a:r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2" name="Oval 11"/>
            <p:cNvSpPr>
              <a:spLocks noChangeArrowheads="1"/>
            </p:cNvSpPr>
            <p:nvPr/>
          </p:nvSpPr>
          <p:spPr bwMode="auto">
            <a:xfrm>
              <a:off x="3792" y="340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3" name="Text Box 12"/>
            <p:cNvSpPr txBox="1">
              <a:spLocks noChangeArrowheads="1"/>
            </p:cNvSpPr>
            <p:nvPr/>
          </p:nvSpPr>
          <p:spPr bwMode="auto">
            <a:xfrm>
              <a:off x="3835" y="345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2</a:t>
              </a:r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4" name="Oval 13"/>
            <p:cNvSpPr>
              <a:spLocks noChangeArrowheads="1"/>
            </p:cNvSpPr>
            <p:nvPr/>
          </p:nvSpPr>
          <p:spPr bwMode="auto">
            <a:xfrm>
              <a:off x="3168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5" name="Text Box 14"/>
            <p:cNvSpPr txBox="1">
              <a:spLocks noChangeArrowheads="1"/>
            </p:cNvSpPr>
            <p:nvPr/>
          </p:nvSpPr>
          <p:spPr bwMode="auto">
            <a:xfrm>
              <a:off x="3211" y="273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3</a:t>
              </a:r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6" name="Oval 15"/>
            <p:cNvSpPr>
              <a:spLocks noChangeArrowheads="1"/>
            </p:cNvSpPr>
            <p:nvPr/>
          </p:nvSpPr>
          <p:spPr bwMode="auto">
            <a:xfrm>
              <a:off x="1920" y="2688"/>
              <a:ext cx="384" cy="3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/>
                <a:cs typeface="Times New Roman"/>
              </a:endParaRPr>
            </a:p>
          </p:txBody>
        </p:sp>
        <p:sp>
          <p:nvSpPr>
            <p:cNvPr id="37" name="Text Box 16"/>
            <p:cNvSpPr txBox="1">
              <a:spLocks noChangeArrowheads="1"/>
            </p:cNvSpPr>
            <p:nvPr/>
          </p:nvSpPr>
          <p:spPr bwMode="auto">
            <a:xfrm>
              <a:off x="1962" y="2736"/>
              <a:ext cx="31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4</a:t>
              </a:r>
              <a:endParaRPr lang="en-US" sz="2800">
                <a:latin typeface="Times New Roman"/>
                <a:cs typeface="Times New Roman"/>
              </a:endParaRPr>
            </a:p>
          </p:txBody>
        </p:sp>
      </p:grpSp>
      <p:grpSp>
        <p:nvGrpSpPr>
          <p:cNvPr id="38" name="Group 17"/>
          <p:cNvGrpSpPr>
            <a:grpSpLocks/>
          </p:cNvGrpSpPr>
          <p:nvPr/>
        </p:nvGrpSpPr>
        <p:grpSpPr bwMode="auto">
          <a:xfrm>
            <a:off x="1232101" y="3333299"/>
            <a:ext cx="6531202" cy="1911975"/>
            <a:chOff x="1321" y="2709"/>
            <a:chExt cx="3556" cy="1041"/>
          </a:xfrm>
        </p:grpSpPr>
        <p:sp>
          <p:nvSpPr>
            <p:cNvPr id="39" name="Text Box 18"/>
            <p:cNvSpPr txBox="1">
              <a:spLocks noChangeArrowheads="1"/>
            </p:cNvSpPr>
            <p:nvPr/>
          </p:nvSpPr>
          <p:spPr bwMode="auto">
            <a:xfrm>
              <a:off x="1321" y="2709"/>
              <a:ext cx="52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 dirty="0">
                  <a:latin typeface="Times New Roman"/>
                  <a:cs typeface="Times New Roman"/>
                </a:rPr>
                <a:t>P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4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  <a:endParaRPr lang="en-US" sz="2800" baseline="-25000" dirty="0">
                <a:latin typeface="Times New Roman"/>
                <a:cs typeface="Times New Roman"/>
              </a:endParaRPr>
            </a:p>
          </p:txBody>
        </p:sp>
        <p:sp>
          <p:nvSpPr>
            <p:cNvPr id="40" name="Text Box 19"/>
            <p:cNvSpPr txBox="1">
              <a:spLocks noChangeArrowheads="1"/>
            </p:cNvSpPr>
            <p:nvPr/>
          </p:nvSpPr>
          <p:spPr bwMode="auto">
            <a:xfrm>
              <a:off x="3544" y="2727"/>
              <a:ext cx="52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>
                  <a:latin typeface="Times New Roman"/>
                  <a:cs typeface="Times New Roman"/>
                </a:rPr>
                <a:t>P</a:t>
              </a:r>
              <a:r>
                <a:rPr lang="en-US" sz="2800">
                  <a:latin typeface="Times New Roman"/>
                  <a:cs typeface="Times New Roman"/>
                </a:rPr>
                <a:t>(</a:t>
              </a:r>
              <a:r>
                <a:rPr lang="en-US" sz="2800" i="1">
                  <a:latin typeface="Times New Roman"/>
                  <a:cs typeface="Times New Roman"/>
                </a:rPr>
                <a:t>x</a:t>
              </a:r>
              <a:r>
                <a:rPr lang="en-US" sz="2800" baseline="-25000">
                  <a:latin typeface="Times New Roman"/>
                  <a:cs typeface="Times New Roman"/>
                </a:rPr>
                <a:t>3</a:t>
              </a:r>
              <a:r>
                <a:rPr lang="en-US" sz="2800">
                  <a:latin typeface="Times New Roman"/>
                  <a:cs typeface="Times New Roman"/>
                </a:rPr>
                <a:t>)</a:t>
              </a:r>
              <a:endParaRPr lang="en-US" sz="2800" baseline="-25000">
                <a:latin typeface="Times New Roman"/>
                <a:cs typeface="Times New Roman"/>
              </a:endParaRPr>
            </a:p>
          </p:txBody>
        </p:sp>
        <p:sp>
          <p:nvSpPr>
            <p:cNvPr id="41" name="Text Box 20"/>
            <p:cNvSpPr txBox="1">
              <a:spLocks noChangeArrowheads="1"/>
            </p:cNvSpPr>
            <p:nvPr/>
          </p:nvSpPr>
          <p:spPr bwMode="auto">
            <a:xfrm>
              <a:off x="4159" y="3456"/>
              <a:ext cx="718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 dirty="0">
                  <a:latin typeface="Times New Roman"/>
                  <a:cs typeface="Times New Roman"/>
                </a:rPr>
                <a:t>P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2</a:t>
              </a:r>
              <a:r>
                <a:rPr lang="en-US" sz="2800" dirty="0">
                  <a:latin typeface="Times New Roman"/>
                  <a:cs typeface="Times New Roman"/>
                </a:rPr>
                <a:t>|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3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42" name="Text Box 21"/>
            <p:cNvSpPr txBox="1">
              <a:spLocks noChangeArrowheads="1"/>
            </p:cNvSpPr>
            <p:nvPr/>
          </p:nvSpPr>
          <p:spPr bwMode="auto">
            <a:xfrm>
              <a:off x="1477" y="3465"/>
              <a:ext cx="96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00" i="1" dirty="0">
                  <a:latin typeface="Times New Roman"/>
                  <a:cs typeface="Times New Roman"/>
                </a:rPr>
                <a:t>P</a:t>
              </a:r>
              <a:r>
                <a:rPr lang="en-US" sz="2800" dirty="0">
                  <a:latin typeface="Times New Roman"/>
                  <a:cs typeface="Times New Roman"/>
                </a:rPr>
                <a:t>(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1</a:t>
              </a:r>
              <a:r>
                <a:rPr lang="en-US" sz="2800" dirty="0">
                  <a:latin typeface="Times New Roman"/>
                  <a:cs typeface="Times New Roman"/>
                </a:rPr>
                <a:t>|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3</a:t>
              </a:r>
              <a:r>
                <a:rPr lang="en-US" sz="2800" dirty="0">
                  <a:latin typeface="Times New Roman"/>
                  <a:cs typeface="Times New Roman"/>
                </a:rPr>
                <a:t>, </a:t>
              </a:r>
              <a:r>
                <a:rPr lang="en-US" sz="2800" i="1" dirty="0">
                  <a:latin typeface="Times New Roman"/>
                  <a:cs typeface="Times New Roman"/>
                </a:rPr>
                <a:t>x</a:t>
              </a:r>
              <a:r>
                <a:rPr lang="en-US" sz="2800" baseline="-25000" dirty="0">
                  <a:latin typeface="Times New Roman"/>
                  <a:cs typeface="Times New Roman"/>
                </a:rPr>
                <a:t>4</a:t>
              </a:r>
              <a:r>
                <a:rPr lang="en-US" sz="2800" dirty="0">
                  <a:latin typeface="Times New Roman"/>
                  <a:cs typeface="Times New Roman"/>
                </a:rPr>
                <a:t>)</a:t>
              </a:r>
            </a:p>
          </p:txBody>
        </p:sp>
      </p:grpSp>
      <p:sp>
        <p:nvSpPr>
          <p:cNvPr id="43" name="Text Box 22"/>
          <p:cNvSpPr txBox="1">
            <a:spLocks noChangeArrowheads="1"/>
          </p:cNvSpPr>
          <p:nvPr/>
        </p:nvSpPr>
        <p:spPr bwMode="auto">
          <a:xfrm>
            <a:off x="711297" y="6061747"/>
            <a:ext cx="7758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i="1" baseline="-25000" dirty="0">
                <a:latin typeface="Times New Roman"/>
                <a:cs typeface="Times New Roman"/>
              </a:rPr>
              <a:t>1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2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4</a:t>
            </a:r>
            <a:r>
              <a:rPr lang="en-US" sz="2800" dirty="0">
                <a:latin typeface="Times New Roman"/>
                <a:cs typeface="Times New Roman"/>
              </a:rPr>
              <a:t>) = 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1</a:t>
            </a:r>
            <a:r>
              <a:rPr lang="en-US" sz="2800" dirty="0">
                <a:latin typeface="Times New Roman"/>
                <a:cs typeface="Times New Roman"/>
              </a:rPr>
              <a:t>|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4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2</a:t>
            </a:r>
            <a:r>
              <a:rPr lang="en-US" sz="2800" dirty="0">
                <a:latin typeface="Times New Roman"/>
                <a:cs typeface="Times New Roman"/>
              </a:rPr>
              <a:t>|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3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x</a:t>
            </a:r>
            <a:r>
              <a:rPr lang="en-US" sz="2800" baseline="-25000" dirty="0">
                <a:latin typeface="Times New Roman"/>
                <a:cs typeface="Times New Roman"/>
              </a:rPr>
              <a:t>4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44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101"/>
          </a:xfrm>
        </p:spPr>
        <p:txBody>
          <a:bodyPr/>
          <a:lstStyle/>
          <a:p>
            <a:r>
              <a:rPr lang="en-US" sz="4000" dirty="0"/>
              <a:t>Computing with Bayes nets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022032" y="2374699"/>
            <a:ext cx="658497" cy="25117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3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6263" grpId="0"/>
      <p:bldP spid="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99390-A956-183C-37F2-4AA64D64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52"/>
            <a:ext cx="8229600" cy="793443"/>
          </a:xfrm>
        </p:spPr>
        <p:txBody>
          <a:bodyPr/>
          <a:lstStyle/>
          <a:p>
            <a:r>
              <a:rPr lang="en-US" dirty="0"/>
              <a:t>Short rest 1</a:t>
            </a:r>
          </a:p>
        </p:txBody>
      </p:sp>
      <p:pic>
        <p:nvPicPr>
          <p:cNvPr id="7" name="Picture 6" descr="A cat and a cat lying on a rug near a fireplace&#10;&#10;AI-generated content may be incorrect.">
            <a:extLst>
              <a:ext uri="{FF2B5EF4-FFF2-40B4-BE49-F238E27FC236}">
                <a16:creationId xmlns:a16="http://schemas.microsoft.com/office/drawing/2014/main" id="{086D3126-CB12-6F28-EAFB-5CD74FC4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79" y="1119947"/>
            <a:ext cx="6861841" cy="514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24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5905</TotalTime>
  <Words>2583</Words>
  <Application>Microsoft Office PowerPoint</Application>
  <PresentationFormat>On-screen Show (4:3)</PresentationFormat>
  <Paragraphs>608</Paragraphs>
  <Slides>47</Slides>
  <Notes>41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ＭＳ Ｐゴシック</vt:lpstr>
      <vt:lpstr>StarSymbol</vt:lpstr>
      <vt:lpstr>Arial</vt:lpstr>
      <vt:lpstr>Calibri</vt:lpstr>
      <vt:lpstr>Courier New</vt:lpstr>
      <vt:lpstr>Helvetica</vt:lpstr>
      <vt:lpstr>Times New Roman</vt:lpstr>
      <vt:lpstr>Office Theme</vt:lpstr>
      <vt:lpstr>Equation</vt:lpstr>
      <vt:lpstr>Hierarchical Bayesian Models and Bayesian Networks</vt:lpstr>
      <vt:lpstr>PowerPoint Presentation</vt:lpstr>
      <vt:lpstr>Administrative Matters</vt:lpstr>
      <vt:lpstr>PowerPoint Presentation</vt:lpstr>
      <vt:lpstr>Hierarchical Bayesian Framework (Kemp &amp; Tenenbaum)</vt:lpstr>
      <vt:lpstr>Motor Control</vt:lpstr>
      <vt:lpstr>Word learning</vt:lpstr>
      <vt:lpstr>Hierarchical Bayes</vt:lpstr>
      <vt:lpstr>Feature variability (Goodman, 1955)</vt:lpstr>
      <vt:lpstr>Feature variability (Goodman, 1955)</vt:lpstr>
      <vt:lpstr>Feature variability (Goodman, 1955)</vt:lpstr>
      <vt:lpstr>A hierarchical Bayesian model</vt:lpstr>
      <vt:lpstr>A hierarchical Bayesian model</vt:lpstr>
      <vt:lpstr>Distributions on bag proportions</vt:lpstr>
      <vt:lpstr>PowerPoint Presentation</vt:lpstr>
      <vt:lpstr>A hierarchical Bayesian model</vt:lpstr>
      <vt:lpstr>A hierarchical Bayesian model</vt:lpstr>
      <vt:lpstr>Learning</vt:lpstr>
      <vt:lpstr>PowerPoint Presentation</vt:lpstr>
      <vt:lpstr>PowerPoint Presentation</vt:lpstr>
      <vt:lpstr>PowerPoint Presentation</vt:lpstr>
      <vt:lpstr>PowerPoint Presentation</vt:lpstr>
      <vt:lpstr>Challenges of probabilistic models</vt:lpstr>
      <vt:lpstr>Challenges of probabilistic models</vt:lpstr>
      <vt:lpstr>How do we use fewer numbers?</vt:lpstr>
      <vt:lpstr>How do we use fewer numbers?</vt:lpstr>
      <vt:lpstr>How do we use fewer numbers?</vt:lpstr>
      <vt:lpstr>How do we use fewer numbers?</vt:lpstr>
      <vt:lpstr>Joint Probability Distributions</vt:lpstr>
      <vt:lpstr>Statistical independence</vt:lpstr>
      <vt:lpstr>Statistical independence</vt:lpstr>
      <vt:lpstr>Expressing independence</vt:lpstr>
      <vt:lpstr>Directed graphical models</vt:lpstr>
      <vt:lpstr>The Markov assumption</vt:lpstr>
      <vt:lpstr>Efficient representation and inference</vt:lpstr>
      <vt:lpstr>Efficient representation and inference</vt:lpstr>
      <vt:lpstr>Reading a Bayesian network</vt:lpstr>
      <vt:lpstr>Reading a Bayesian network</vt:lpstr>
      <vt:lpstr>Identifying independence</vt:lpstr>
      <vt:lpstr>PowerPoint Presentation</vt:lpstr>
      <vt:lpstr>Determining (Conditional) Independence: Bayes Ball Algorithm</vt:lpstr>
      <vt:lpstr>Identifying independence</vt:lpstr>
      <vt:lpstr>Computing with Bayes nets</vt:lpstr>
      <vt:lpstr>Computing with Bayes nets</vt:lpstr>
      <vt:lpstr>Computing with Bayes nets</vt:lpstr>
      <vt:lpstr>Computing with Bayes nets</vt:lpstr>
      <vt:lpstr>Short rest 1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Joseph Austerweil</dc:creator>
  <cp:lastModifiedBy>Joseph Austerweil</cp:lastModifiedBy>
  <cp:revision>281</cp:revision>
  <cp:lastPrinted>2017-09-13T02:18:10Z</cp:lastPrinted>
  <dcterms:created xsi:type="dcterms:W3CDTF">2015-09-05T16:34:09Z</dcterms:created>
  <dcterms:modified xsi:type="dcterms:W3CDTF">2025-02-20T17:38:39Z</dcterms:modified>
</cp:coreProperties>
</file>