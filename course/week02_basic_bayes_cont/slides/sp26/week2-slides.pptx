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Crisp start. Today's backbone is the second half: continuous probability, Gaussian, and the Gaussian-Gaussian update. Marr is a 7-min frame; Chibany meets us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~8 min. First 3 min: syllabus updates + Week 1 pulse. Next 5 min: introduce Chibany and the bento scenario properly, so the rest of the session has a narrative it can actually lean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two facts, move on. If a student asks for detail, say 'I'll get to that at 1:40 / 1:50.'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'Before we do math, meet Chibany. They're the character we'll use as our worked example all semester. They\'re also the protagonist of the textbook, so reading T3 Ch 1 tonight will top this up.'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'The hook: opaque bentos. Chibany can\'t directly see the meal. Classic hidden-variable setup. Just like last week\'s checkershadow and Heider-Simmel — an inference problem under incomplete information.'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'Prior knowledge. Two canonical weights and a 70/30 prior on the meal. Note the prior comes from the world (overheard conversation), not from nowhere — priors are usually knowledge from somewhere else.'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'Chibany\'s strategy: weigh the bento and update. This is the Week 1 sick-friend move, just with a bento instead of a patient. Prior belief, observation, posterior. Same rule. New anchor.'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min hard cap. Trimmed from the earlier draft to free time for Gaussian visualization. 3 slides (one per level) + check-in. Do NOT let this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Bayes is the normative answer for 'combine prior + evidence.' Counterfactual: if the goal were 'minimize reaction time,' L1 differs. Choosing L1 IS a modeling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The bad-algorithm point is important: "always guess tonkatsu" is 70% accurate because of the prior — it's still a well-defined L2, just one that ignores the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FAST. Land the independence point — this is the thread for the rest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Fast — elicit the answer. Bridge: "humans systematically use a non-Bayesian L2 on this problem; that gap between L1 and L2 is behavioral economics."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Quick. No theatrical apology.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'H = hypothesis, D = data. For Chibany, H is the meal, D is the weight. Simple, consistent.'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'The formula you saw last week. Same 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'Name the four pieces. You\'ll see these names the rest of the semester.'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min. Three build-ups + a Week-1 bridge slide. Now in H/D notation with Chibany — students saw these moves last week in the 2-coin-flip grid and in the sick-friend/cab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'Quick re-cast. H = disease hypothesis (note: lowercase h from last week is now uppercase H; content unchanged). D = cough. Same problem, new notation.'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'Same numbers as last week. Prior, likelihood, multiply, sum 'for the evidence.'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'Posterior 0.75 / 0.083 / 0.167. Cold wins despite smoking — priors matter, likelihoods matter, neither alone is enough. Now today: same structure, but with Chibany.'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The 2×2 is the scaffolding. Structurally the same as last week\'s 2-coin-flip grid {HH, HT, TH, TT} — same moves apply. The difference: different numbers, and meal ≠ weight (two variables, not the same coin twice).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'Four combinations of (meal, weight). We want the joint probability of each.'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'Joint = prior times conditional. Multiply across.'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'Sanity check. Sum to 1. Analogy to last week\'s {HH, HT, TH, TT} — the structure is the same; we\'re just working with asymmetric probabilities.'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'What\'s P(heavy) unconditionally? The bento is heavy either because it\'s a heavy tonkatsu OR a heavy hamburger. Sum across 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'And P(light). Check it sums to 1.'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'Named: marginalization. Sum rule. Same move as last week.'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'Observation arrives. Now ask the conditional question. This is the SAME move as last week\'s P(first=H | at least one H) = 2/3 on the coin-flip grid. Restrict and renormalize.'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'Two steps. Slice the joint to keep only rows consistent with the observation; renormalize.'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'Posterior. Observing heavy moved prior 0.70 to posterior 0.91 — strongly diagnostic. Much stronger than the cab problem (0.15 prior → 0.41 posterior). Why? The likelihoods here are more informative, and the prior was less extreme.'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Mental model to carry forward. Everything today (and Week 3) is operations on this table — just with infinitely many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min. E[X] (4 slides), Bernoulli (3 slides), Binomial (4 slides + 1 real PMF image). Bernoulli IS the meal draw; Binomial IS a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'Expected value. Weighted average. The formula is what you\'d naïvely call an average — but weighted by probability instead of counted equally.'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'Encode meal as 1/0. Then E[meal] equals the probability. Key trick — we use it constantly in RL and in hypothesis testing.'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'Variance. Spread. For Bernoulli(p), it simplifies to p(1-p). Maxed at p=0.5; smaller at the extremes.'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'Mental model: mean = balance point, variance = width.'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'Bernoulli. One parameter.'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'The bento meal is Bernoulli(0.7). Every day, a weighted flip.'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'Flag: in Week 3 we shift gears and INFER p from observed counts. That\'s what conjugacy enables — we\'ll put a prior on p '(Beta distribution) and use Bayes to update.'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'Zoom out. A single bento is Bernoulli. A WEEK is Binomial. Y counts successes.'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'Binomial formula. Name each piece. Binomial coefficient C(n,k) = "n choose k" = count of orderings.'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'Plug in for k=3, 4, 5. The mode is k=4 — this surprises students who expect k=5 because p=0.7 &gt; 0.5. The answer: 5 orderings for k=4 vs 1 ordering for k=5. The combinatorics wins over the extra factor of 0.7.'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Real bar chart. Let it sit — students can see the shape. Flag the Week-3 connection: when we don\'t KNOW p, this PMF with an unknown p becomes a function of p, and Beta conjugates nicely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min. Build: PMF→PDF (4 text + 1 image), Gaussian formula (5 text + 1 image), continuous-Bayes worked (6 text + 1 image). The images are the payoff — do NOT speak over them;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'Weight is continuous. No finite outcome space. We need a new object — the PDF.'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'Binning thought experiment. Bin the weights. Shrink bins. In the limit: a smooth curve. That curve is the density.'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'Density ≠ probability. This trips students up. Density is 'probability PER UNIT. You integrate to get a probability. Density values can be &gt; 1 (density of N(0, 0.01) at 0 is ~40).'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'Corollary: probability of ANY exact value is 0 for a continuous RV. But probability of being near any value is f(x) × (small interval). Intuitive and mathematically honest.'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10 seconds. Let them see the histograms smoothing into the PDF. The blue curve is the same Gaussian in all three panels — the histograms are approaching it from above and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'Real bentos vary. Not every tonkatsu is exactly 500g. The natural distribution for that variation is the Gaussian.'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'The formula. Don\'t try to hold the whole thing at once — we\'ll name each piece now.'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'Four pieces. Mean, variance, the exponential (which does the peaking), and the normalizer (which makes the area equal 1 — 'required of any PDF).'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'Shape. Symmetric around μ. SHARPER (smaller σ) → TALLER peak. The 68-95-99.7 rule — most mass within 1, 2, 3 sigma.'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'Two Gaussians for Chibany. They overlap in the 380-470 range. Next slide: picture.'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Let them trace the curve and see the shaded bands. The peak height formula 1/√(2πσ²) ≈ 0.013 for σ=30 — visible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setup image for the continuous-Bayes worked example that follows. 450g sits squarely in the tonkatsu Gaussian, far in the right tail of hamburger. The next slide computes the densities.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'New observation: actual weight, 450g. Same Bayesian question.'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'Prior unchanged — still 0.7/0.3 on meal.'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'The work: compute each Gaussian density value. I\'m showing the arithmetic for f_T: the normalizer coefficient ≈ 0.0133, the exponent is −(−50)²/1800 = −1.389, exp of that is 0.249, product ≈ 0.00332. f_H comes out to 0.00044 — much smaller because 450 is far from 350.'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'Multiply prior by likelihood. Sum for the evidence.'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'Divide. Posterior is 0.95/0.05.'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'Compare to Block 4 (heavy/light bucketing): 0.91. The continuous exact value moves belief further because it uses the precise weight, not just a bucket.'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10. Block 7 is the highest-stakes block of the session. Come back sharp. Double-check the tonk_hamb.png loaded correctly on the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min. THE block of the session. Now with: (a) explicit motivation for inferring μ, (b) a derivation SKETCH (complete the square), (c) a real posterior-curve picture, (d) precision visualized, (e) N-observation generalization given its own build-up.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'Up to now, the question has been about today\'s meal. A discrete hypothesis.'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'But we wrote 500g as if we KNEW it. We don\'t really. This term is an unknown PARAMETER. Call it μ.'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'So now Bayesian inference is shifting: H = μ, a continuous parameter, not a discrete category. Why not just average the weights? Because Chibany has prior knowledge from past experience, and early in the semester they have very few data points. Averaging is what a frequentist would do and it discards the prior. 'Bayes keeps both.'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'Prior is a Gaussian over μ. Two hyperparameters: μ₀ and σ₀.'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'Chibany\'s best guess 500, uncertainty 20. Prior = N(500, 400).'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'THIS IS THE BIG MOVE. The density isn\'t over weights now. 'It\'s over the unknown parameter μ. Priors can live on parameters. In Week 4 we\'ll even put a prior on the PRIOR — hierarchical Bayes.'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'One observation. 510g. We pretend σ is known — only μ is unknown. Week 3 will relax this.'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'Likelihood is the Gaussian density evaluated at the 'observed weight, as a function of μ.'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'Here\'s the trick: when you treat the likelihood N(D|μ,σ²) as a function of μ for fixed D, it\'s STILL a Gaussian shape — peaked where μ=D. So we have two Gaussians in μ. Multiplying them is the Bayes step.'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'Multiply the two Gaussian densities. Normalizers are constants in μ — we absorb them into the final normalization later.'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'Expand the squared terms and combine. You get a quadratic in μ. Form: Aμ² − 2Bμ + constants.'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'Complete the square — just like in high school algebra. A quadratic in μ inside an exp is the kernel of a Gaussian. So the posterior IS Gaussian. Not magic — algebra.'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'The new μ and σ come from matching coefficients. A (coefficient of μ²) gives you 1/σ²_post. B/A (the minimum of the quadratic) gives you μ_post. Full derivation in T3 Ch 4 — read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Two Gaussians, same mean, different widths. The sharp one is more precise — if you\'re that sharp, you\'re very sure, and in a Bayesian update your view gets more weight. Intuition for the precision-sum formula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'The formulas. Precisions add. Posterior mean is precision-weighted average.'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'The inputs.'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'Posterior variance. 1/400 + 1/900 combines on 3600. Gets you 13/3600, so σ²_post ≈ 277, σ_post ≈ 16.6. TIGHTER than either input. Combining information reduces uncertainty — that\'s the whole point of Bayesian updating.'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'Posterior mean ≈ 503.1. Moved from 500 toward 510 but mostly stayed near the prior. Because the prior was more precise (σ₀=20 vs data σ=30). The more precise source wins.'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visual. Pause. Red prior, blue likelihood, yellow posterior. The posterior IS tighter than both inputs and lives between them — closer to the prior because the prior is tighter. This one picture replaces 20 minutes of algebra in students\'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'Each independent observation adds precision 1/σ². Two observations = 2/σ² added. N observations = N/σ². This is the key property of conjugate updates.'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'The general formulas. Σ_i D_i is the sum of observed weights.'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'Asymptotic behavior: as N grows, the prior term becomes negligible and the posterior mean approaches the sample mean. You recover the frequentist answer in the limit of much data — but with a Bayesian path there, and a well-calibrated posterior variance 'along the way. This formula IS the skeleton of Week 3\'s conjugate updates and Week 4\'s hierarchical models.'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'Zoom out. Three flavors of Bayes today. Same rule, progressively more general objects.'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'Named: conjugacy. Today was Gaussian-Gaussian. Week 3 we do it on the discrete side (Beta-Binomial, Dirichlet-Multinomial). Beta × Binomial gives Beta — try to see what\'s on your tongue re Bayesian inference on a coin\'s 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Email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 min. Signups on the board. Photograph; transcribe into readings_map.yml.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 min. T3 Ch 1 is added so Chibany\'s backstory is reinforced; T3 Ch 4 derives what we sketched in Block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 min. Close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pic>
        <p:nvPicPr>
          <p:cNvPr id="3" name="Picture 2" descr="sds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3483864"/>
            <a:ext cx="20574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37160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</a:defRPr>
            </a:pPr>
            <a:r>
              <a:t>Week 2 — Levels of Analysis + Bayes Continued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Prof. Joseph Austerweil</a:t>
            </a:r>
          </a:p>
          <a:p>
            <a:pPr algn="l">
              <a:defRPr sz="1600" b="0" i="0">
                <a:solidFill>
                  <a:srgbClr val="999999"/>
                </a:solidFill>
              </a:defRPr>
            </a:pPr>
            <a:r>
              <a:t>Friday, April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Welcome back + meet Chibany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Two changes since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Paper presentations are in.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Each of you presents one reading once. More at 1:40.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Reflections: 6 of 12, not 8 of 13.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Class is now 2 h × 12 weeks. More at 1:50.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Meet Chibany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is a probability-minded professor at our school.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Every day, students bring them bentos.</a:t>
            </a:r>
          </a:p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Chibany is the protagonist of our textbook,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"A Narrative Introduction to Probability" — Tutorial 3 Ch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Meet Chibany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is a probability-minded professor at our school.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Every day, students bring them bentos.</a:t>
            </a:r>
          </a:p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Chibany is the protagonist of our textbook,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"A Narrative Introduction to Probability" — Tutorial 3 Ch 1.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EB3B"/>
                </a:solidFill>
              </a:defRPr>
            </a:pPr>
            <a:r>
              <a:t>There's a catch:   the bento boxes are OPAQUE.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can't peek. They want to know the meal — without opening.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Meet Chibany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is a probability-minded professor at our school.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Every day, students bring them bentos.</a:t>
            </a:r>
          </a:p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Chibany is the protagonist of our textbook,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"A Narrative Introduction to Probability" — Tutorial 3 Ch 1.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EB3B"/>
                </a:solidFill>
              </a:defRPr>
            </a:pPr>
            <a:r>
              <a:t>There's a catch:   the bento boxes are OPAQUE.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can't peek. They want to know the meal — without opening.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What Chibany knows  (from past semesters):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   • Tonkatsu bentos weigh about 500 g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   • Hamburger bentos weigh about 350 g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   • Students bring tonkatsu about 70% of the time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  (overheard two students chatting last week)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Meet Chibany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Chibany is the protagonist of our textbook,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"A Narrative Introduction to Probability" — Tutorial 3 Ch 1.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EB3B"/>
                </a:solidFill>
              </a:defRPr>
            </a:pPr>
            <a:r>
              <a:t>There's a catch:   the bento boxes are OPAQUE.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can't peek. They want to know the meal — without opening.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What Chibany knows  (from past semesters):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   • Tonkatsu bentos weigh about 500 g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   • Hamburger bentos weigh about 350 g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   • Students bring tonkatsu about 70% of the time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  (overheard two students chatting last week)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EB3B"/>
                </a:solidFill>
              </a:defRPr>
            </a:pPr>
            <a:r>
              <a:t>Chibany's plan:   WEIGH THE BENTO.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1">
                <a:solidFill>
                  <a:srgbClr val="64B5F6"/>
                </a:solidFill>
              </a:defRPr>
            </a:pPr>
            <a:r>
              <a:t>"If the weight doesn't tell me for sure, it'll at least UPDATE</a:t>
            </a:r>
          </a:p>
          <a:p>
            <a:pPr algn="l">
              <a:defRPr sz="2200" b="0" i="1">
                <a:solidFill>
                  <a:srgbClr val="64B5F6"/>
                </a:solidFill>
              </a:defRPr>
            </a:pPr>
            <a:r>
              <a:t> my belief about today's meal."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That update is Bayes' rule. Same rule as last week — new anchor.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Marr's three levels — frame for the whole course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Marr L1 — what problem is being solved?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64B5F6"/>
                </a:solidFill>
              </a:defRPr>
            </a:pPr>
            <a:r>
              <a:t>For Chibany:   Compute  P(meal | weight).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L1 specifies the CORRECT computation — not how to do it,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not how Chibany's brain actually does it.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Different goal  ⇒  different L1  ⇒  different normative answer.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Marr L2 — what algorithm?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Same L1 — multiple algorithms: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• Enumerate  (today: 2 hypotheses, sum-and-normalize)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• Sample  (Week 7 Monte Carlo)</a:t>
            </a:r>
          </a:p>
          <a:p>
            <a:pPr algn="l">
              <a:defRPr sz="2000" b="0" i="0">
                <a:solidFill>
                  <a:srgbClr val="EF5350"/>
                </a:solidFill>
              </a:defRPr>
            </a:pPr>
            <a:r>
              <a:t>  • "Always guess tonkatsu"  —  an algorithm. A BAD one.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Bayes is L1. Algorithms are L2.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Marr L3 — what implementation?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Chibany:  neurons, experience, gut feeling.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Our simulation:  JAX arrays, floating-point math, Colab.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Three levels — mostly independent.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Right L1 + wrong L2 → systematic human biases.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(Full L3 treatment: Week 11, Deep NNs.)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Check-in — the cab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Last week: witness says "blue"; 15% blue cabs;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witness accurate 80%.  Most of you guessed ~80%.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600" b="1" i="0">
                <a:solidFill>
                  <a:srgbClr val="FFEB3B"/>
                </a:solidFill>
              </a:defRPr>
            </a:pPr>
            <a:r>
              <a:t>At which level was the mistake?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Target: L1 = P(blue | report). Actual L1 answer ≈ 0.41.</a:t>
            </a: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80% is a wrong-L2 claim  (ignore the base rate).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Notation — one rule, starting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From today:</a:t>
            </a:r>
          </a:p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600" b="1" i="0">
                <a:solidFill>
                  <a:srgbClr val="FFEB3B"/>
                </a:solidFill>
              </a:defRPr>
            </a:pPr>
            <a:r>
              <a:t>H = hypothesis  (hidden — what we want to know)</a:t>
            </a:r>
          </a:p>
          <a:p>
            <a:pPr algn="l">
              <a:defRPr sz="2600" b="1" i="0">
                <a:solidFill>
                  <a:srgbClr val="FFEB3B"/>
                </a:solidFill>
              </a:defRPr>
            </a:pPr>
            <a:r>
              <a:t>D = data  (observed — what we see)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For Chibany:   H = meal,   D = weight.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Notation — one rule, starting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From today:</a:t>
            </a:r>
          </a:p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600" b="1" i="0">
                <a:solidFill>
                  <a:srgbClr val="FFEB3B"/>
                </a:solidFill>
              </a:defRPr>
            </a:pPr>
            <a:r>
              <a:t>H = hypothesis  (hidden — what we want to know)</a:t>
            </a:r>
          </a:p>
          <a:p>
            <a:pPr algn="l">
              <a:defRPr sz="2600" b="1" i="0">
                <a:solidFill>
                  <a:srgbClr val="FFEB3B"/>
                </a:solidFill>
              </a:defRPr>
            </a:pPr>
            <a:r>
              <a:t>D = data  (observed — what we see)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For Chibany:   H = meal,   D = weight.</a:t>
            </a:r>
          </a:p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P(H = h | D = d)  =  P(D = d | H = h) · P(H = h)  /  P(D = 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Notation — one rule, starting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From today:</a:t>
            </a:r>
          </a:p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600" b="1" i="0">
                <a:solidFill>
                  <a:srgbClr val="FFEB3B"/>
                </a:solidFill>
              </a:defRPr>
            </a:pPr>
            <a:r>
              <a:t>H = hypothesis  (hidden — what we want to know)</a:t>
            </a:r>
          </a:p>
          <a:p>
            <a:pPr algn="l">
              <a:defRPr sz="2600" b="1" i="0">
                <a:solidFill>
                  <a:srgbClr val="FFEB3B"/>
                </a:solidFill>
              </a:defRPr>
            </a:pPr>
            <a:r>
              <a:t>D = data  (observed — what we see)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For Chibany:   H = meal,   D = weight.</a:t>
            </a:r>
          </a:p>
          <a:p>
            <a:pPr algn="l">
              <a:defRPr sz="12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P(H = h | D = d)  =  P(D = d | H = h) · P(H = h)  /  P(D = d)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1600" b="0" i="0">
                <a:solidFill>
                  <a:srgbClr val="999999"/>
                </a:solidFill>
              </a:defRPr>
            </a:pPr>
            <a:r>
              <a:t>  posterior     =      likelihood     ·    prior    /   evidence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Joint + marginalization — Chibany-style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Last week's sick-friend problem, in H/D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Last week:   smoker friend, cough heard, three hypotheses.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In the new notation: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H ∈ { cold, stomach virus, lung cancer }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D = cough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Last week's sick-friend problem, in H/D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Last week:   smoker friend, cough heard, three hypotheses.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In the new notation: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H ∈ { cold, stomach virus, lung cancer }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D = cough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Prior      P(H):      0.45     0.10     0.10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Likelihood P(D|H):  0.90     0.45     0.90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Numerators:          0.405   0.045   0.090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Evidence P(D) = 0.540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Last week's sick-friend problem, in H/D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Last week:   smoker friend, cough heard, three hypotheses.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In the new notation: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H ∈ { cold, stomach virus, lung cancer }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D = cough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Prior      P(H):      0.45     0.10     0.10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Likelihood P(D|H):  0.90     0.45     0.90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Numerators:          0.405   0.045   0.090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Evidence P(D) = 0.540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Posteriors:           0.75     0.083    0.167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Same answer as last week. Same rule. New labels.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Everything we do today uses this SAME structure.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Setup — two-by-two Chibany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Start simple: discretize weight to TWO buckets.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H ∈ {tonkatsu, hamburger}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D ∈ {heavy, light}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Prior:    P(tonkatsu) = 0.7,   P(hamburger) = 0.3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Likelihood:   P(heavy | tonkatsu) = 0.9,   P(heavy | hamburger) = 0.2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Later (Block 6): continuize weight. For now, 2×2.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joint  P(H, D)  — build the 2×2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Four cells: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                |   heavy   |   light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tonkatsu    |     ?     |     ?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hamburger |     ?     |     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joint  P(H, D)  — build the 2×2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Four cells: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                |   heavy   |   light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tonkatsu    |     ?     |     ?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hamburger |     ?     |     ?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Joint by the product rule:    P(H, D)  =  P(D | H) · P(H)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P(tonk, heavy)   =  0.9 · 0.7  =  0.63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P(tonk, light)    =  0.1 · 0.7  =  0.07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P(hamb, heavy)  =  0.2 · 0.3  =  0.06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P(hamb, light)   =  0.8 · 0.3  =  0.24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joint  P(H, D)  — build the 2×2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Four cells: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                |   heavy   |   light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tonkatsu    |     ?     |     ?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hamburger |     ?     |     ?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Joint by the product rule:    P(H, D)  =  P(D | H) · P(H)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P(tonk, heavy)   =  0.9 · 0.7  =  0.63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P(tonk, light)    =  0.1 · 0.7  =  0.07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P(hamb, heavy)  =  0.2 · 0.3  =  0.06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P(hamb, light)   =  0.8 · 0.3  =  0.24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Sanity check:   0.63 + 0.07 + 0.06 + 0.24  =  1.00  ✓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Recognize the shape?  Week 1's 2-coin-flip grid had 4 cells too.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Different numbers, same structure.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Marginalization — sum over what you don't care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P(heavy)  =  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Sum the joint over H: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P(heavy)  =  P(tonk, heavy)  +  P(hamb, heavy)</a:t>
            </a:r>
          </a:p>
          <a:p>
            <a:pPr algn="l">
              <a:defRPr sz="2400" b="1" i="0">
                <a:solidFill>
                  <a:srgbClr val="64B5F6"/>
                </a:solidFill>
              </a:defRPr>
            </a:pPr>
            <a:r>
              <a:t>               =  0.63  +  0.06   =   0.69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Marginalization — sum over what you don't care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P(heavy)  =  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Sum the joint over H: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P(heavy)  =  P(tonk, heavy)  +  P(hamb, heavy)</a:t>
            </a:r>
          </a:p>
          <a:p>
            <a:pPr algn="l">
              <a:defRPr sz="2400" b="1" i="0">
                <a:solidFill>
                  <a:srgbClr val="64B5F6"/>
                </a:solidFill>
              </a:defRPr>
            </a:pPr>
            <a:r>
              <a:t>               =  0.63  +  0.06   =   0.69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P(light)  =  0.07 + 0.24  =  0.31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0.69 + 0.31 = 1 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Marginalization — sum over what you don't care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P(heavy)  =  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Sum the joint over H: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P(heavy)  =  P(tonk, heavy)  +  P(hamb, heavy)</a:t>
            </a:r>
          </a:p>
          <a:p>
            <a:pPr algn="l">
              <a:defRPr sz="2400" b="1" i="0">
                <a:solidFill>
                  <a:srgbClr val="64B5F6"/>
                </a:solidFill>
              </a:defRPr>
            </a:pPr>
            <a:r>
              <a:t>               =  0.63  +  0.06   =   0.69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P(light)  =  0.07 + 0.24  =  0.31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0.69 + 0.31 = 1 ✓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EB3B"/>
                </a:solidFill>
              </a:defRPr>
            </a:pPr>
            <a:r>
              <a:t>The named move:  MARGINALIZATION.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Given the joint, sum over the variable you're not asking about.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Week 1 called this the sum rule.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Conditional — restrict and renormalize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Chibany weighs today's bento and reads:   D = heavy.</a:t>
            </a: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What's  P(meal | heavy)?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Same move as Week 1's 2×2 coin-flip grid: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"Restrict to the slice where the observation is true; renormalize."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Conditional — restrict and renormalize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Chibany weighs today's bento and reads:   D = heavy.</a:t>
            </a: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What's  P(meal | heavy)?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Same move as Week 1's 2×2 coin-flip grid: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"Restrict to the slice where the observation is true; renormalize."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Step 1:   keep only the "heavy" column of the joint.</a:t>
            </a:r>
          </a:p>
          <a:p>
            <a:pPr algn="l">
              <a:defRPr sz="2000" b="0" i="0">
                <a:solidFill>
                  <a:srgbClr val="64B5F6"/>
                </a:solidFill>
              </a:defRPr>
            </a:pPr>
            <a:r>
              <a:t>   P(tonk, heavy) = 0.63        P(hamb, heavy) = 0.06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Step 2:   renormalize by P(heavy) = 0.69.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Conditional — restrict and renormalize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Chibany weighs today's bento and reads:   D = heavy.</a:t>
            </a: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What's  P(meal | heavy)?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Same move as Week 1's 2×2 coin-flip grid: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"Restrict to the slice where the observation is true; renormalize."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Step 1:   keep only the "heavy" column of the joint.</a:t>
            </a:r>
          </a:p>
          <a:p>
            <a:pPr algn="l">
              <a:defRPr sz="2000" b="0" i="0">
                <a:solidFill>
                  <a:srgbClr val="64B5F6"/>
                </a:solidFill>
              </a:defRPr>
            </a:pPr>
            <a:r>
              <a:t>   P(tonk, heavy) = 0.63        P(hamb, heavy) = 0.06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Step 2:   renormalize by P(heavy) = 0.69.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   P(tonk | heavy)   =  0.63 / 0.69  ≈  0.913</a:t>
            </a: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   P(hamb | heavy)  =  0.06 / 0.69  ≈  0.087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Prior 0.70 → posterior 0.91. "Heavy" was very diagnostic.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Summary — three operations on the joint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Joint         =  full picture, P(H, D). All cells sum to 1.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Marginal   =  sum the joint over the thing you don't care about.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Conditional =  slice on your observation, renormalize.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Same Bayes as last week. Now you can SEE it as a table operation.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Expected value + discrete distributions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Expected value  E[X]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For a discrete RV X with values {xᵢ} and probabilities {pᵢ}: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800" b="1" i="0">
                <a:solidFill>
                  <a:srgbClr val="64B5F6"/>
                </a:solidFill>
              </a:defRPr>
            </a:pPr>
            <a:r>
              <a:t>E[X]  =  Σᵢ  xᵢ · pᵢ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"Weight each value by its probability, then add."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Expected value  E[X]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For a discrete RV X with values {xᵢ} and probabilities {pᵢ}: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800" b="1" i="0">
                <a:solidFill>
                  <a:srgbClr val="64B5F6"/>
                </a:solidFill>
              </a:defRPr>
            </a:pPr>
            <a:r>
              <a:t>E[X]  =  Σᵢ  xᵢ · pᵢ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"Weight each value by its probability, then add."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Chibany: encode meal numerically.  tonkatsu = 1, hamburger = 0.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E[meal]  =  1 · 0.7  +  0 · 0.3  =  0.7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The expected value of an indicator IS the probability.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Expected value  E[X]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For a discrete RV X with values {xᵢ} and probabilities {pᵢ}: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800" b="1" i="0">
                <a:solidFill>
                  <a:srgbClr val="64B5F6"/>
                </a:solidFill>
              </a:defRPr>
            </a:pPr>
            <a:r>
              <a:t>E[X]  =  Σᵢ  xᵢ · pᵢ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"Weight each value by its probability, then add."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Chibany: encode meal numerically.  tonkatsu = 1, hamburger = 0.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E[meal]  =  1 · 0.7  +  0 · 0.3  =  0.7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The expected value of an indicator IS the probability.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Variance:   Var[X]  =  E[(X − E[X])²]  =  E[X²] − E[X]²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For Bernoulli(p):   Var  =  p(1 − p)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Bento meal:   Var = 0.21,   σ ≈ 0.46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Expected value  E[X]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For a discrete RV X with values {xᵢ} and probabilities {pᵢ}: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800" b="1" i="0">
                <a:solidFill>
                  <a:srgbClr val="64B5F6"/>
                </a:solidFill>
              </a:defRPr>
            </a:pPr>
            <a:r>
              <a:t>E[X]  =  Σᵢ  xᵢ · pᵢ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"Weight each value by its probability, then add."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Chibany: encode meal numerically.  tonkatsu = 1, hamburger = 0.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E[meal]  =  1 · 0.7  +  0 · 0.3  =  0.7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The expected value of an indicator IS the probability.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Variance:   Var[X]  =  E[(X − E[X])²]  =  E[X²] − E[X]²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For Bernoulli(p):   Var  =  p(1 − p)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Bento meal:   Var = 0.21,   σ ≈ 0.46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E[X]  =  center of mass.      Var[X]  =  spread.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Two numbers that summarize a lot. Used everywhere downstream.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Bernoulli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X ~ Bernoulli(p)     means: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 P(X = 1) = p,     P(X = 0) = 1 − p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One flip of a weighted coin. One parameter: 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Bernoulli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X ~ Bernoulli(p)     means: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 P(X = 1) = p,     P(X = 0) = 1 − p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One flip of a weighted coin. One parameter: p.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Chibany: meal_today  ~  Bernoulli(0.7).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 P(meal_today = tonkatsu) = 0.7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 P(meal_today = hamburger) = 0.3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Bernoulli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X ~ Bernoulli(p)     means: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 P(X = 1) = p,     P(X = 0) = 1 − p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One flip of a weighted coin. One parameter: p.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Chibany: meal_today  ~  Bernoulli(0.7).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 P(meal_today = tonkatsu) = 0.7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 P(meal_today = hamburger) = 0.3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999999"/>
                </a:solidFill>
              </a:defRPr>
            </a:pPr>
            <a:r>
              <a:t>Today we treat  p = 0.7  as GIVEN.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Next week: we ask where p comes from, and infer it from data.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The conjugate prior on p is the Beta distribution — Week 3.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Binomial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counts tonkatsu across 5 days.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Each day:  Bernoulli(0.7), independent.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Let Y = total tonkatsu in 5 days.    Y  ~  Binomial(5, 0.7).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Binomial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counts tonkatsu across 5 days.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Each day:  Bernoulli(0.7), independent.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Let Y = total tonkatsu in 5 days.    Y  ~  Binomial(5, 0.7).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P(Y = k)  =  C(n, k) · pᵏ · (1 − p)ⁿ⁻ᵏ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n = 5      (trials)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k          (count of successes)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p = 0.7   (per-trial success prob)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C(n, k)   counts orderings of k successes among n trials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Binomial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 counts tonkatsu across 5 days.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Each day:  Bernoulli(0.7), independent.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Let Y = total tonkatsu in 5 days.    Y  ~  Binomial(5, 0.7).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P(Y = k)  =  C(n, k) · pᵏ · (1 − p)ⁿ⁻ᵏ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n = 5      (trials)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k          (count of successes)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p = 0.7   (per-trial success prob)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C(n, k)   counts orderings of k successes among n trials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P(Y = 5)  =  1 · 0.7⁵ · 1         ≈  0.168</a:t>
            </a:r>
          </a:p>
          <a:p>
            <a:pPr algn="l">
              <a:defRPr sz="2000" b="1" i="0">
                <a:solidFill>
                  <a:srgbClr val="FFEB3B"/>
                </a:solidFill>
              </a:defRPr>
            </a:pPr>
            <a:r>
              <a:t>P(Y = 4)  =  5 · 0.7⁴ · 0.3     ≈  0.360        ← the MODE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P(Y = 3)  =  10 · 0.7³ · 0.3²   ≈  0.309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Why is k=4 more likely than k=5,  even though p = 0.7?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   There are 5 ways to get 4 tonkatsu in 5 days, but only 1 way to get all 5.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   The extra orderings outweigh the smaller (0.7·0.3) factor.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Binomial(5, 0.7) — full PMF</a:t>
            </a:r>
          </a:p>
        </p:txBody>
      </p:sp>
      <p:pic>
        <p:nvPicPr>
          <p:cNvPr id="3" name="Picture 2" descr="binomial_p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400"/>
            <a:ext cx="6858000" cy="29489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3085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Mode at k=4 (0.360). In Week 3 this PMF becomes the LIKELIHOOD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for inferring  p  from observed counts. Beta × Binomial = Beta.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Continuous probability + the Gaussian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From PMF to PDF — going continuous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Weight isn't heavy-or-light. It's a real number.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We need a different object — a probability DENSITY.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From PMF to PDF — going continuous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Weight isn't heavy-or-light. It's a real number.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We need a different object — a probability DENSITY.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Thought experiment — shrink the bins: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30g bins:   coarse histogram, PMF over bins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10g bins:   finer, still PMF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 2g bins:   finer still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 bin → 0:   PMF → PDF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From PMF to PDF — going continuous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Weight isn't heavy-or-light. It's a real number.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We need a different object — a probability DENSITY.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Thought experiment — shrink the bins: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30g bins:   coarse histogram, PMF over bins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10g bins:   finer, still PMF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 2g bins:   finer still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 bin → 0:   PMF → PDF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density  f(x)  is NOT a probability — it's probability PER UNIT.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P(X ∈ [a, b])  =  ∫ₐᵇ f(x) dx       "area under the density"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PDF values can exceed 1. Probabilities cannot.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From PMF to PDF — going continuous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Weight isn't heavy-or-light. It's a real number.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We need a different object — a probability DENSITY.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Thought experiment — shrink the bins: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30g bins:   coarse histogram, PMF over bins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10g bins:   finer, still PMF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 2g bins:   finer still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 bin → 0:   PMF → PDF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density  f(x)  is NOT a probability — it's probability PER UNIT.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P(X ∈ [a, b])  =  ∫ₐᵇ f(x) dx       "area under the density"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PDF values can exceed 1. Probabilities cannot.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Why  P(X = exactly 450g)  =  0   for continuous X: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∫₄₅₀⁴⁵⁰ f(x) dx  =  0      (integrate over a single point)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But  P(X ∈ [449.5, 450.5])  ≈  f(450) · 1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"density × interval width = probability."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Shrinking bins → PDF as the limit</a:t>
            </a:r>
          </a:p>
        </p:txBody>
      </p:sp>
      <p:pic>
        <p:nvPicPr>
          <p:cNvPr id="3" name="Picture 2" descr="pmf_to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005840"/>
            <a:ext cx="7680960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3085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Same underlying data, three bin widths. Blue curve: limit (PDF).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Gaussian (normal)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Chibany's bento weights vary — even within one meal type.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Tonkatsu weight is roughly  N(500, 30²)  —  centered at 500, spread ≈ 30g.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Gaussian (normal)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Chibany's bento weights vary — even within one meal type.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Tonkatsu weight is roughly  N(500, 30²)  —  centered at 500, spread ≈ 30g.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N(x | μ, σ²)   =    ( 1 / √(2π σ²) )  ·  exp( − (x − μ)² / (2σ²) 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Gaussian (normal)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Chibany's bento weights vary — even within one meal type.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Tonkatsu weight is roughly  N(500, 30²)  —  centered at 500, spread ≈ 30g.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N(x | μ, σ²)   =    ( 1 / √(2π σ²) )  ·  exp( − (x − μ)² / (2σ²) 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Name each piece: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μ       mean — where the curve peaks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σ²      variance — how wide the curve is  (σ = std dev)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exp(−(x−μ)²/(2σ²))    peaks at μ, falls off fast outside ±σ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1/√(2π σ²)                the normalizer — makes total area = 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Gaussian (normal)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Chibany's bento weights vary — even within one meal type.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Tonkatsu weight is roughly  N(500, 30²)  —  centered at 500, spread ≈ 30g.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N(x | μ, σ²)   =    ( 1 / √(2π σ²) )  ·  exp( − (x − μ)² / (2σ²) 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Name each piece: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μ       mean — where the curve peaks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σ²      variance — how wide the curve is  (σ = std dev)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exp(−(x−μ)²/(2σ²))    peaks at μ, falls off fast outside ±σ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1/√(2π σ²)                the normalizer — makes total area = 1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Shape facts: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symmetric around μ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peak height = 1/√(2π σ²) — sharper curves are TALLER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~68% of mass within  μ ± σ;    ~95% within  μ ± 2σ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Gaussian (normal)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N(x | μ, σ²)   =    ( 1 / √(2π σ²) )  ·  exp( − (x − μ)² / (2σ²) 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Name each piece: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μ       mean — where the curve peaks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σ²      variance — how wide the curve is  (σ = std dev)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exp(−(x−μ)²/(2σ²))    peaks at μ, falls off fast outside ±σ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1/√(2π σ²)                the normalizer — makes total area = 1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Shape facts: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symmetric around μ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peak height = 1/√(2π σ²) — sharper curves are TALLER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~68% of mass within  μ ± σ;    ~95% within  μ ± 2σ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Chibany's two bento-weight distributions: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   tonkatsu weight     ~   N(500, 30²)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   hamburger weight  ~   N(350, 30²)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Two bell curves. They overlap in the middle — that's where 450g lives.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The Gaussian — shape and the 68-95 rule</a:t>
            </a:r>
          </a:p>
        </p:txBody>
      </p:sp>
      <p:pic>
        <p:nvPicPr>
          <p:cNvPr id="3" name="Picture 2" descr="gaussian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005840"/>
            <a:ext cx="7680960" cy="3456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3085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Dark fill: ±1σ (~68%). Light fill: ±2σ (~95%).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Chibany's two bento-weight likelihoods</a:t>
            </a:r>
          </a:p>
        </p:txBody>
      </p:sp>
      <p:pic>
        <p:nvPicPr>
          <p:cNvPr id="3" name="Picture 2" descr="tonk_ha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005840"/>
            <a:ext cx="7680960" cy="3456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3085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Yellow line: observed 450g. Closer to tonkatsu, but within hamburger tail.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Bayes with a continuous likelihood —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Today's observation:   D  =  weight  =  450g.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What's  P(meal | weight = 450g) 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Bayes with a continuous likelihood —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Today's observation:   D  =  weight  =  450g.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What's  P(meal | weight = 450g) 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Prior stays discrete:    P(tonkatsu) = 0.7,   P(hamburger) = 0.3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Bayes with a continuous likelihood —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Today's observation:   D  =  weight  =  450g.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What's  P(meal | weight = 450g) 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Prior stays discrete:    P(tonkatsu) = 0.7,   P(hamburger) = 0.3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Likelihood is a Gaussian density: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f_T  =  N(450 | 500, 30²)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       =  (1/√(2π·900)) · exp(−(−50)²/1800)</a:t>
            </a: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          =  0.01330 · exp(−1.389)     ≈   0.00332</a:t>
            </a: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   f_H  =  N(450 | 350, 30²)     ≈   0.00044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600" b="0" i="1">
                <a:solidFill>
                  <a:srgbClr val="999999"/>
                </a:solidFill>
              </a:defRPr>
            </a:pPr>
            <a:r>
              <a:t>Density values, not probabilities. (Integral → probability.)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Bayes with a continuous likelihood —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Today's observation:   D  =  weight  =  450g.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What's  P(meal | weight = 450g) 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Prior stays discrete:    P(tonkatsu) = 0.7,   P(hamburger) = 0.3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Likelihood is a Gaussian density: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f_T  =  N(450 | 500, 30²)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       =  (1/√(2π·900)) · exp(−(−50)²/1800)</a:t>
            </a: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          =  0.01330 · exp(−1.389)     ≈   0.00332</a:t>
            </a: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   f_H  =  N(450 | 350, 30²)     ≈   0.00044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600" b="0" i="1">
                <a:solidFill>
                  <a:srgbClr val="999999"/>
                </a:solidFill>
              </a:defRPr>
            </a:pPr>
            <a:r>
              <a:t>Density values, not probabilities. (Integral → probability.)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Numerator   =   prior · likelihood: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tonkatsu:     0.7 · 0.00332   =   0.00232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hamburger:  0.3 · 0.00044   =   0.000132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Evidence   =   sum   =   0.00246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Bayes with a continuous likelihood —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Today's observation:   D  =  weight  =  450g.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What's  P(meal | weight = 450g) ?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Prior stays discrete:    P(tonkatsu) = 0.7,   P(hamburger) = 0.3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Likelihood is a Gaussian density: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f_T  =  N(450 | 500, 30²)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       =  (1/√(2π·900)) · exp(−(−50)²/1800)</a:t>
            </a: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          =  0.01330 · exp(−1.389)     ≈   0.00332</a:t>
            </a: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   f_H  =  N(450 | 350, 30²)     ≈   0.00044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600" b="0" i="1">
                <a:solidFill>
                  <a:srgbClr val="999999"/>
                </a:solidFill>
              </a:defRPr>
            </a:pPr>
            <a:r>
              <a:t>Density values, not probabilities. (Integral → probability.)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Numerator   =   prior · likelihood: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tonkatsu:     0.7 · 0.00332   =   0.00232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hamburger:  0.3 · 0.00044   =   0.000132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Evidence   =   sum   =   0.00246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Posterior:</a:t>
            </a: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   P(tonkatsu | 450g)    =  0.00232 / 0.00246   ≈  0.946</a:t>
            </a: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   P(hamburger | 450g) =  0.000132 / 0.00246  ≈  0.054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Bayes with a continuous likelihood —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        =  (1/√(2π·900)) · exp(−(−50)²/1800)</a:t>
            </a: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          =  0.01330 · exp(−1.389)     ≈   0.00332</a:t>
            </a:r>
          </a:p>
          <a:p>
            <a:pPr algn="l">
              <a:defRPr sz="2000" b="1" i="0">
                <a:solidFill>
                  <a:srgbClr val="64B5F6"/>
                </a:solidFill>
              </a:defRPr>
            </a:pPr>
            <a:r>
              <a:t>   f_H  =  N(450 | 350, 30²)     ≈   0.00044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600" b="0" i="1">
                <a:solidFill>
                  <a:srgbClr val="999999"/>
                </a:solidFill>
              </a:defRPr>
            </a:pPr>
            <a:r>
              <a:t>Density values, not probabilities. (Integral → probability.)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Numerator   =   prior · likelihood: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tonkatsu:     0.7 · 0.00332   =   0.00232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hamburger:  0.3 · 0.00044   =   0.000132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Evidence   =   sum   =   0.00246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Posterior:</a:t>
            </a: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   P(tonkatsu | 450g)    =  0.00232 / 0.00246   ≈  0.946</a:t>
            </a: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   P(hamburger | 450g) =  0.000132 / 0.00246  ≈  0.054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Prior → Posterior:      0.70  →  0.946   (tonkatsu)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                                0.30  →  0.054   (hamburger)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Block 4 coarse (heavy-vs-light):     0.70 → 0.91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Block 6 continuous (exact weight):  0.70 → 0.95</a:t>
            </a:r>
          </a:p>
          <a:p>
            <a:pPr algn="l">
              <a:defRPr sz="2000" b="0" i="1">
                <a:solidFill>
                  <a:srgbClr val="FFEB3B"/>
                </a:solidFill>
              </a:defRPr>
            </a:pPr>
            <a:r>
              <a:t>Exact continuous value is more informative than a bucket.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</a:defRPr>
            </a:pPr>
            <a:r>
              <a:t>Break — 10 minutes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Gaussian-Gaussian update — launching Week 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Why would Chibany want to infer μ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So far Chibany asks:  "what's in TODAY's bento?"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Today's weight, 450g  →  posterior over today's meal.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Why would Chibany want to infer μ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So far Chibany asks:  "what's in TODAY's bento?"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Today's weight, 450g  →  posterior over today's meal.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But to DO that well, Chibany needs to know:</a:t>
            </a:r>
          </a:p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   How much DO tonkatsu bentos typically weigh?</a:t>
            </a: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   (We wrote "500" as if it were known. But is it?)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Why would Chibany want to infer μ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So far Chibany asks:  "what's in TODAY's bento?"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Today's weight, 450g  →  posterior over today's meal.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But to DO that well, Chibany needs to know:</a:t>
            </a:r>
          </a:p>
          <a:p>
            <a:pPr algn="l">
              <a:defRPr sz="2200" b="0" i="0">
                <a:solidFill>
                  <a:srgbClr val="FFEB3B"/>
                </a:solidFill>
              </a:defRPr>
            </a:pPr>
            <a:r>
              <a:t>   How much DO tonkatsu bentos typically weigh?</a:t>
            </a: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   (We wrote "500" as if it were known. But is it?)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Shift in perspective: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Yesterday's Bayes:   H = today's MEAL  (discrete hypothesis)</a:t>
            </a:r>
          </a:p>
          <a:p>
            <a:pPr algn="l">
              <a:defRPr sz="2000" b="0" i="0">
                <a:solidFill>
                  <a:srgbClr val="64B5F6"/>
                </a:solidFill>
              </a:defRPr>
            </a:pPr>
            <a:r>
              <a:t>   • Today's Bayes:        H = tonkatsu's MEAN WEIGHT μ  (continuous parameter)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FFFFFF"/>
                </a:solidFill>
              </a:defRPr>
            </a:pPr>
            <a:r>
              <a:t>Why Bayesian inference on μ instead of just averaging?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Because Chibany has PRIOR knowledge (last semester), plus LIMITED data.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Averaging throws the prior away. Bayes combines both.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Step 1 — the prior  μ ~ N(μ₀, σ₀²)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Chibany's belief about μ BEFORE observing any new weights: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800" b="1" i="0">
                <a:solidFill>
                  <a:srgbClr val="64B5F6"/>
                </a:solidFill>
              </a:defRPr>
            </a:pPr>
            <a:r>
              <a:t>   μ  ~  N(μ₀, σ₀²)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"I think μ is around μ₀, give or take σ₀."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Step 1 — the prior  μ ~ N(μ₀, σ₀²)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Chibany's belief about μ BEFORE observing any new weights: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800" b="1" i="0">
                <a:solidFill>
                  <a:srgbClr val="64B5F6"/>
                </a:solidFill>
              </a:defRPr>
            </a:pPr>
            <a:r>
              <a:t>   μ  ~  N(μ₀, σ₀²)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"I think μ is around μ₀, give or take σ₀."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From last semester's memory: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μ₀ = 500  (best guess)        σ₀ = 20  (uncertainty)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Prior:   μ  ~  N(500, 20²)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Step 1 — the prior  μ ~ N(μ₀, σ₀²)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Chibany's belief about μ BEFORE observing any new weights: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800" b="1" i="0">
                <a:solidFill>
                  <a:srgbClr val="64B5F6"/>
                </a:solidFill>
              </a:defRPr>
            </a:pPr>
            <a:r>
              <a:t>   μ  ~  N(μ₀, σ₀²)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"I think μ is around μ₀, give or take σ₀."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From last semester's memory: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μ₀ = 500  (best guess)        σ₀ = 20  (uncertainty)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Prior:   μ  ~  N(500, 20²)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The conceptual leap:   priors over PARAMETERS.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The Gaussian is NOT over weights now. It's over μ.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A prior is a distribution over anything hidden —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including parameters of OTHER distributions.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Step 2 — the likelihood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Chibany weighs one bento:   D₁ = 510g.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(Assume σ = 30 is known — we infer μ only.)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Step 2 — the likelihood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Chibany weighs one bento:   D₁ = 510g.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(Assume σ = 30 is known — we infer μ only.)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Likelihood:</a:t>
            </a:r>
          </a:p>
          <a:p>
            <a:pPr algn="l">
              <a:defRPr sz="2400" b="1" i="0">
                <a:solidFill>
                  <a:srgbClr val="64B5F6"/>
                </a:solidFill>
              </a:defRPr>
            </a:pPr>
            <a:r>
              <a:t>   P(D₁ = 510 | μ)   =   N(510 | μ, 30²)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Step 2 — the likelihood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Chibany weighs one bento:   D₁ = 510g.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(Assume σ = 30 is known — we infer μ only.)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Likelihood:</a:t>
            </a:r>
          </a:p>
          <a:p>
            <a:pPr algn="l">
              <a:defRPr sz="2400" b="1" i="0">
                <a:solidFill>
                  <a:srgbClr val="64B5F6"/>
                </a:solidFill>
              </a:defRPr>
            </a:pPr>
            <a:r>
              <a:t>   P(D₁ = 510 | μ)   =   N(510 | μ, 30²)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As a function of  μ,  this is ALSO a Gaussian —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peaked at  μ = 510,  width σ = 30.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So we have two Gaussian functions of μ: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prior          (peaked at 500, tight)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likelihood   (peaked at 510, broader)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Why Gaussian × Gaussian = Gaussian  (derivation sketch)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Multiply the two densities (drop the normalizers — collect at end):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  P(μ|D) ∝ exp( −(μ − μ₀)² / 2σ₀² )   ·   exp( −(D − μ)² / 2σ² 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Why Gaussian × Gaussian = Gaussian  (derivation sketch)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Multiply the two densities (drop the normalizers — collect at end):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  P(μ|D) ∝ exp( −(μ − μ₀)² / 2σ₀² )   ·   exp( −(D − μ)² / 2σ² 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Combine exponents:</a:t>
            </a: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  ∝  exp( − [ (μ − μ₀)² / 2σ₀²  +  (D − μ)² / 2σ² ] 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The thing in [ ] is a quadratic in μ — A·μ² − 2B·μ + const.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Why Gaussian × Gaussian = Gaussian  (derivation sketch)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Multiply the two densities (drop the normalizers — collect at end):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  P(μ|D) ∝ exp( −(μ − μ₀)² / 2σ₀² )   ·   exp( −(D − μ)² / 2σ² 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Combine exponents:</a:t>
            </a: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  ∝  exp( − [ (μ − μ₀)² / 2σ₀²  +  (D − μ)² / 2σ² ] 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The thing in [ ] is a quadratic in μ — A·μ² − 2B·μ + const.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Complete the square → exp( −(μ − μ_post)² / 2σ²_post )  +  const.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That's the kernel of a Gaussian in μ.  Posterior is Gaussian.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Why Gaussian × Gaussian = Gaussian  (derivation sketch)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Multiply the two densities (drop the normalizers — collect at end):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  P(μ|D) ∝ exp( −(μ − μ₀)² / 2σ₀² )   ·   exp( −(D − μ)² / 2σ² 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Combine exponents:</a:t>
            </a: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  ∝  exp( − [ (μ − μ₀)² / 2σ₀²  +  (D − μ)² / 2σ² ] 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The thing in [ ] is a quadratic in μ — A·μ² − 2B·μ + const.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Complete the square → exp( −(μ − μ_post)² / 2σ²_post )  +  const.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6BB6A"/>
                </a:solidFill>
              </a:defRPr>
            </a:pPr>
            <a:r>
              <a:t>That's the kernel of a Gaussian in μ.  Posterior is Gaussian.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The new mean and variance come from matching coefficients: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1 / σ²_post   =   1/σ₀²   +   1/σ²              (coefficient of μ²)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μ_post         =   σ²_post · (μ₀/σ₀² + D/σ²)        (coefficient of μ)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Full derivation: textbook T3 Ch 4 — read this week.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Precision  =  1 / variance  =  "how sharp I am"</a:t>
            </a:r>
          </a:p>
        </p:txBody>
      </p:sp>
      <p:pic>
        <p:nvPicPr>
          <p:cNvPr id="3" name="Picture 2" descr="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005840"/>
            <a:ext cx="7680960" cy="3456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3085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Sharper curve = higher precision = more confident (more weight in the update).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Plug in the numbers  —  posterior  =  prior × likelihood, rescaled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The update formulas  (from the derivation):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1 / σ²_post  =  1/σ₀²  +  1/σ²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μ_post         =  σ²_post · ( μ₀/σ₀² + D/σ² 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FFEB3B"/>
                </a:solidFill>
              </a:defRPr>
            </a:pPr>
            <a:r>
              <a:t>Intuition:   precisions add.  μ_post = precision-weighted average.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Plug in the numbers  —  posterior  =  prior × likelihood, rescaled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The update formulas  (from the derivation):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1 / σ²_post  =  1/σ₀²  +  1/σ²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μ_post         =  σ²_post · ( μ₀/σ₀² + D/σ² 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FFEB3B"/>
                </a:solidFill>
              </a:defRPr>
            </a:pPr>
            <a:r>
              <a:t>Intuition:   precisions add.  μ_post = precision-weighted average.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Numbers: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σ₀² = 400   (prior),    σ² = 900   (data),    μ₀ = 500,    D = 510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Plug in the numbers  —  posterior  =  prior × likelihood, rescaled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The update formulas  (from the derivation):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1 / σ²_post  =  1/σ₀²  +  1/σ²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μ_post         =  σ²_post · ( μ₀/σ₀² + D/σ² 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FFEB3B"/>
                </a:solidFill>
              </a:defRPr>
            </a:pPr>
            <a:r>
              <a:t>Intuition:   precisions add.  μ_post = precision-weighted average.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Numbers: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σ₀² = 400   (prior),    σ² = 900   (data),    μ₀ = 500,    D = 510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Posterior variance: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1/σ²_post  =  1/400  +  1/900  =  9/3600 + 4/3600  =  13/3600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σ²_post   ≈   277              σ_post   ≈   16.6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800" b="0" i="1">
                <a:solidFill>
                  <a:srgbClr val="66BB6A"/>
                </a:solidFill>
              </a:defRPr>
            </a:pPr>
            <a:r>
              <a:t>Tighter than both inputs (20 and 30). Adding precisions REDUCES uncertainty.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Plug in the numbers  —  posterior  =  prior × likelihood, rescaled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The update formulas  (from the derivation):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1 / σ²_post  =  1/σ₀²  +  1/σ²</a:t>
            </a: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   μ_post         =  σ²_post · ( μ₀/σ₀² + D/σ² 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FFEB3B"/>
                </a:solidFill>
              </a:defRPr>
            </a:pPr>
            <a:r>
              <a:t>Intuition:   precisions add.  μ_post = precision-weighted average.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Numbers: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σ₀² = 400   (prior),    σ² = 900   (data),    μ₀ = 500,    D = 510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Posterior variance: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1/σ²_post  =  1/400  +  1/900  =  9/3600 + 4/3600  =  13/3600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σ²_post   ≈   277              σ_post   ≈   16.6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800" b="0" i="1">
                <a:solidFill>
                  <a:srgbClr val="66BB6A"/>
                </a:solidFill>
              </a:defRPr>
            </a:pPr>
            <a:r>
              <a:t>Tighter than both inputs (20 and 30). Adding precisions REDUCES uncertainty.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Posterior mean: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μ_post  =  277 · ( 500/400  +  510/900 )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           =  277 · ( 1.250  +  0.567 )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              =  277 · 1.817    ≈    503.1</a:t>
            </a:r>
          </a:p>
          <a:p>
            <a:pPr algn="l">
              <a:defRPr sz="400" b="0" i="0">
                <a:solidFill>
                  <a:srgbClr val="FFFFFF"/>
                </a:solidFill>
              </a:defRPr>
            </a:pP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Moved from prior (500) toward data (510), but stayed closer to prior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— because prior precision (1/400) &gt; data precision (1/900).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Prior × Likelihood = Posterior</a:t>
            </a:r>
          </a:p>
        </p:txBody>
      </p:sp>
      <p:pic>
        <p:nvPicPr>
          <p:cNvPr id="3" name="Picture 2" descr="gg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3730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3085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Red = prior. Blue = likelihood. Yellow = posterior (tighter; between both).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 observations  —  precisions keep 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One observation:   precision added = 1/σ².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Two observations: precision added = 2/σ².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N observations:    precision added = N/σ².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 observations  —  precisions keep 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One observation:   precision added = 1/σ².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Two observations: precision added = 2/σ².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N observations:    precision added = N/σ².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   1 / σ²_post   =   1/σ₀²   +   N/σ²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   μ_post          =   σ²_post · ( μ₀/σ₀²  +  Σᵢ Dᵢ / σ² 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N observations  —  precisions keep 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One observation:   precision added = 1/σ².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Two observations: precision added = 2/σ².</a:t>
            </a: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N observations:    precision added = N/σ².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   1 / σ²_post   =   1/σ₀²   +   N/σ²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   μ_post          =   σ²_post · ( μ₀/σ₀²  +  Σᵢ Dᵢ / σ² )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As N grows: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1/σ²_post  →  ∞        (posterior gets sharp)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 • μ_post       →  mean of observed weights      (data dominates)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EB3B"/>
                </a:solidFill>
              </a:defRPr>
            </a:pPr>
            <a:r>
              <a:t>More data  →  sharper posterior, pulled toward sample mean.</a:t>
            </a: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This single formula underlies much of Weeks 3 and 4.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Closing the arc — same Bayes, new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Block 4:   H discrete, D discrete.   Joint is a 4-cell table.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Block 6:   H discrete, D continuous.   Likelihood is a density.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Block 7:   H continuous, D continuous.   Prior, likelihood, posterior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             all densities. Updates via precision arithmetic.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Same Bayes rule throughout.  The OBJECTS generalized.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Closing the arc — same Bayes, new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Block 4:   H discrete, D discrete.   Joint is a 4-cell table.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Block 6:   H discrete, D continuous.   Likelihood is a density.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Block 7:   H continuous, D continuous.   Prior, likelihood, posterior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                all densities. Updates via precision arithmetic.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Same Bayes rule throughout.  The OBJECTS generalized.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600" b="1" i="0">
                <a:solidFill>
                  <a:srgbClr val="FFEB3B"/>
                </a:solidFill>
              </a:defRPr>
            </a:pPr>
            <a:r>
              <a:t>The named move:   CONJUGACY.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Gaussian × Gaussian  =  Gaussian         (today)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Beta × Binomial  =  Beta                      (Week 3)</a:t>
            </a:r>
          </a:p>
          <a:p>
            <a:pPr algn="l">
              <a:defRPr sz="2200" b="0" i="0">
                <a:solidFill>
                  <a:srgbClr val="64B5F6"/>
                </a:solidFill>
              </a:defRPr>
            </a:pPr>
            <a:r>
              <a:t>Dirichlet × Multinomial  =  Dirichlet       (Week 3)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Conjugacy = algebra works out; the posterior stays in the prior's family.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Paper presentations — rubric + signup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Presentations — why and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Enrollment is 6.  Each of you presents ONCE.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20 min presentation + 10-15 min discussion you facilitate.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7.5% of grade.  Reflections dropped 15% → 12.5% to make room.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Meet with me in office hours the week before your slot.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Rubric — 5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Understanding of the paper              1.5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Covering key aspects                      1.5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Presentation clarity                         1.0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Discussion questions (at least 3)        0.5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Appropriate use of time                    0.5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1">
                <a:solidFill>
                  <a:srgbClr val="999999"/>
                </a:solidFill>
              </a:defRPr>
            </a:pPr>
            <a:r>
              <a:t>Focus: how the math connects to cognitive science.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Full guidelines:  resources/classPresentationGuidelines.pdf  (emailed today).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Signup — Weeks 4 through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99999"/>
                </a:solidFill>
              </a:defRPr>
            </a:pPr>
            <a:r>
              <a:t>9 slots, 6 students. Three stay open for contemporary-ML content.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  Week  4 (May 22)  —  Generalization + hierarchical Bayes</a:t>
            </a:r>
          </a:p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  Week  5 (May 29)  —  Bayes nets + causal Bayes nets</a:t>
            </a:r>
          </a:p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  Week  6 (Jun  5)  —  Markov chains + networks</a:t>
            </a:r>
          </a:p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  Week  7 (Jun 12)  —  Monte Carlo</a:t>
            </a:r>
          </a:p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  Week  8 (Jun 19)  —  SDT / MDP / RL</a:t>
            </a:r>
          </a:p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  Week  9 (Jun 26)  —  Inverse RL</a:t>
            </a:r>
          </a:p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  Week 10 (Jul  3)  —  Bayesian nonparametrics</a:t>
            </a:r>
          </a:p>
          <a:p>
            <a:pPr algn="l">
              <a:defRPr sz="1800" b="0" i="0">
                <a:solidFill>
                  <a:srgbClr val="FFFFFF"/>
                </a:solidFill>
              </a:defRPr>
            </a:pPr>
            <a:r>
              <a:t>  Week 11 (Jul 10)  —  Deep NNs</a:t>
            </a:r>
          </a:p>
          <a:p>
            <a:pPr algn="l">
              <a:defRPr sz="1800" b="0" i="0">
                <a:solidFill>
                  <a:srgbClr val="999999"/>
                </a:solidFill>
              </a:defRPr>
            </a:pPr>
            <a:r>
              <a:t>  Week 12 (Jul 17)  —  Ethics + adversarial ML + project presentations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64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Welcome + meet Chibany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Marr's three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Notation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Joint + marginalization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Expected value + discrete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Continuous prob + Gaussian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Gaussian-Gaussian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Paper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Admin + 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97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4B5F6"/>
                </a:solidFill>
              </a:defRPr>
            </a:pPr>
            <a:r>
              <a:t>1:50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0" y="502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Human and Machine Learning SP26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Admin + Week 3 homework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Syllabus — three things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① 12 sessions, not 13.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No class May 1 AND May 8. Week 3 is Friday May 15.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② Reflections: 6 of 12, not 8 of 13.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~200 words, pre-class, pass/fail.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③ Paper presentations exist → 7.5%.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    Reflections dropped 15% → 12.5% to make room.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Week 3 — readings +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Next class:   Friday May 15  —  Week 3: Conjugate Bayes + Topics.</a:t>
            </a:r>
          </a:p>
          <a:p>
            <a:pPr algn="l">
              <a:defRPr sz="10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Required reading: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• Textbook T3 Ch 1   (Chibany's mystery bentos — the full story)</a:t>
            </a:r>
          </a:p>
          <a:p>
            <a:pPr algn="l">
              <a:defRPr sz="2000" b="0" i="0">
                <a:solidFill>
                  <a:srgbClr val="FFFFFF"/>
                </a:solidFill>
              </a:defRPr>
            </a:pPr>
            <a:r>
              <a:t>  • Textbook T3 Ch 4   (Bayesian learning with Gaussians)</a:t>
            </a:r>
          </a:p>
          <a:p>
            <a:pPr algn="l">
              <a:defRPr sz="1800" b="0" i="1">
                <a:solidFill>
                  <a:srgbClr val="999999"/>
                </a:solidFill>
              </a:defRPr>
            </a:pPr>
            <a:r>
              <a:t>     — formalizes what we did in Block 7.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Ungraded self-check: "Intro Probability Theory 1" quiz.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Preview — the arc from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Week 3:  Conjugacy proper.  Beta-Binomial + Gaussian-Gaussian.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Week 4:  Hierarchical Bayes.  Chibany's distribution of tonkatsu rates.</a:t>
            </a:r>
          </a:p>
          <a:p>
            <a:pPr algn="l">
              <a:defRPr sz="2200" b="0" i="0">
                <a:solidFill>
                  <a:srgbClr val="FFFFFF"/>
                </a:solidFill>
              </a:defRPr>
            </a:pPr>
            <a:r>
              <a:t>Week 5:  Bayes nets + causal.</a:t>
            </a:r>
          </a:p>
          <a:p>
            <a:pPr algn="l">
              <a:defRPr sz="800" b="0" i="0">
                <a:solidFill>
                  <a:srgbClr val="FFFFFF"/>
                </a:solidFill>
              </a:defRPr>
            </a:pP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Weeks 6-7:  Markov chains, Monte Carlo  (sampling-based L2).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Weeks 8-10:  Decision, RL, IRL, nonparametrics.</a:t>
            </a:r>
          </a:p>
          <a:p>
            <a:pPr algn="l">
              <a:defRPr sz="2000" b="0" i="0">
                <a:solidFill>
                  <a:srgbClr val="999999"/>
                </a:solidFill>
              </a:defRPr>
            </a:pPr>
            <a:r>
              <a:t>Weeks 11-12:  Deep NNs, ethics  —  contemporary ML.</a:t>
            </a:r>
          </a:p>
          <a:p>
            <a:pPr algn="l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defRPr sz="2200" b="1" i="0">
                <a:solidFill>
                  <a:srgbClr val="64B5F6"/>
                </a:solidFill>
              </a:defRPr>
            </a:pPr>
            <a:r>
              <a:t>Thanks — see you May 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