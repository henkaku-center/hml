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1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49" Type="http://schemas.openxmlformats.org/officeDocument/2006/relationships/slide" Target="slides/slide48.xml" /><Relationship Id="rId50" Type="http://schemas.openxmlformats.org/officeDocument/2006/relationships/slide" Target="slides/slide49.xml" /><Relationship Id="rId51" Type="http://schemas.openxmlformats.org/officeDocument/2006/relationships/slide" Target="slides/slide50.xml" /><Relationship Id="rId52" Type="http://schemas.openxmlformats.org/officeDocument/2006/relationships/slide" Target="slides/slide51.xml" /><Relationship Id="rId53" Type="http://schemas.openxmlformats.org/officeDocument/2006/relationships/slide" Target="slides/slide52.xml" /><Relationship Id="rId54" Type="http://schemas.openxmlformats.org/officeDocument/2006/relationships/slide" Target="slides/slide53.xml" /><Relationship Id="rId55" Type="http://schemas.openxmlformats.org/officeDocument/2006/relationships/slide" Target="slides/slide54.xml" /><Relationship Id="rId56" Type="http://schemas.openxmlformats.org/officeDocument/2006/relationships/slide" Target="slides/slide55.xml" /><Relationship Id="rId57" Type="http://schemas.openxmlformats.org/officeDocument/2006/relationships/slide" Target="slides/slide56.xml" /><Relationship Id="rId58" Type="http://schemas.openxmlformats.org/officeDocument/2006/relationships/slide" Target="slides/slide57.xml" /><Relationship Id="rId59" Type="http://schemas.openxmlformats.org/officeDocument/2006/relationships/slide" Target="slides/slide58.xml" /><Relationship Id="rId60" Type="http://schemas.openxmlformats.org/officeDocument/2006/relationships/slide" Target="slides/slide59.xml" /><Relationship Id="rId61" Type="http://schemas.openxmlformats.org/officeDocument/2006/relationships/slide" Target="slides/slide60.xml" /><Relationship Id="rId62" Type="http://schemas.openxmlformats.org/officeDocument/2006/relationships/slide" Target="slides/slide61.xml" /><Relationship Id="rId63" Type="http://schemas.openxmlformats.org/officeDocument/2006/relationships/slide" Target="slides/slide62.xml" /><Relationship Id="rId64" Type="http://schemas.openxmlformats.org/officeDocument/2006/relationships/slide" Target="slides/slide63.xml" /><Relationship Id="rId65" Type="http://schemas.openxmlformats.org/officeDocument/2006/relationships/slide" Target="slides/slide64.xml" /><Relationship Id="rId66" Type="http://schemas.openxmlformats.org/officeDocument/2006/relationships/slide" Target="slides/slide65.xml" /><Relationship Id="rId67" Type="http://schemas.openxmlformats.org/officeDocument/2006/relationships/slide" Target="slides/slide66.xml" /><Relationship Id="rId68" Type="http://schemas.openxmlformats.org/officeDocument/2006/relationships/slide" Target="slides/slide67.xml" /><Relationship Id="rId69" Type="http://schemas.openxmlformats.org/officeDocument/2006/relationships/slide" Target="slides/slide68.xml" /><Relationship Id="rId70" Type="http://schemas.openxmlformats.org/officeDocument/2006/relationships/slide" Target="slides/slide69.xml" /><Relationship Id="rId71" Type="http://schemas.openxmlformats.org/officeDocument/2006/relationships/slide" Target="slides/slide70.xml" /><Relationship Id="rId72" Type="http://schemas.openxmlformats.org/officeDocument/2006/relationships/slide" Target="slides/slide71.xml" /><Relationship Id="rId73" Type="http://schemas.openxmlformats.org/officeDocument/2006/relationships/slide" Target="slides/slide72.xml" /><Relationship Id="rId74" Type="http://schemas.openxmlformats.org/officeDocument/2006/relationships/slide" Target="slides/slide73.xml" /><Relationship Id="rId75" Type="http://schemas.openxmlformats.org/officeDocument/2006/relationships/slide" Target="slides/slide74.xml" /><Relationship Id="rId76" Type="http://schemas.openxmlformats.org/officeDocument/2006/relationships/slide" Target="slides/slide75.xml" /><Relationship Id="rId77" Type="http://schemas.openxmlformats.org/officeDocument/2006/relationships/slide" Target="slides/slide76.xml" /><Relationship Id="rId78" Type="http://schemas.openxmlformats.org/officeDocument/2006/relationships/slide" Target="slides/slide77.xml" /><Relationship Id="rId79" Type="http://schemas.openxmlformats.org/officeDocument/2006/relationships/slide" Target="slides/slide78.xml" /><Relationship Id="rId80" Type="http://schemas.openxmlformats.org/officeDocument/2006/relationships/slide" Target="slides/slide79.xml" /><Relationship Id="rId81" Type="http://schemas.openxmlformats.org/officeDocument/2006/relationships/slide" Target="slides/slide80.xml" /><Relationship Id="rId82" Type="http://schemas.openxmlformats.org/officeDocument/2006/relationships/slide" Target="slides/slide81.xml" /><Relationship Id="rId83" Type="http://schemas.openxmlformats.org/officeDocument/2006/relationships/slide" Target="slides/slide82.xml" /><Relationship Id="rId84" Type="http://schemas.openxmlformats.org/officeDocument/2006/relationships/slide" Target="slides/slide83.xml" /><Relationship Id="rId85" Type="http://schemas.openxmlformats.org/officeDocument/2006/relationships/slide" Target="slides/slide84.xml" /><Relationship Id="rId86" Type="http://schemas.openxmlformats.org/officeDocument/2006/relationships/slide" Target="slides/slide85.xml" /><Relationship Id="rId87" Type="http://schemas.openxmlformats.org/officeDocument/2006/relationships/slide" Target="slides/slide86.xml" /><Relationship Id="rId88" Type="http://schemas.openxmlformats.org/officeDocument/2006/relationships/slide" Target="slides/slide87.xml" /><Relationship Id="rId89" Type="http://schemas.openxmlformats.org/officeDocument/2006/relationships/slide" Target="slides/slide88.xml" /><Relationship Id="rId90" Type="http://schemas.openxmlformats.org/officeDocument/2006/relationships/slide" Target="slides/slide89.xml" /><Relationship Id="rId91" Type="http://schemas.openxmlformats.org/officeDocument/2006/relationships/slide" Target="slides/slide90.xml" /><Relationship Id="rId92" Type="http://schemas.openxmlformats.org/officeDocument/2006/relationships/slide" Target="slides/slide91.xml" /><Relationship Id="rId93" Type="http://schemas.openxmlformats.org/officeDocument/2006/relationships/slide" Target="slides/slide92.xml" /><Relationship Id="rId94" Type="http://schemas.openxmlformats.org/officeDocument/2006/relationships/slide" Target="slides/slide93.xml" /><Relationship Id="rId95" Type="http://schemas.openxmlformats.org/officeDocument/2006/relationships/slide" Target="slides/slide94.xml" /><Relationship Id="rId96" Type="http://schemas.openxmlformats.org/officeDocument/2006/relationships/slide" Target="slides/slide95.xml" /><Relationship Id="rId97" Type="http://schemas.openxmlformats.org/officeDocument/2006/relationships/slide" Target="slides/slide96.xml" /><Relationship Id="rId98" Type="http://schemas.openxmlformats.org/officeDocument/2006/relationships/slide" Target="slides/slide97.xml" /><Relationship Id="rId99" Type="http://schemas.openxmlformats.org/officeDocument/2006/relationships/slide" Target="slides/slide98.xml" /><Relationship Id="rId100" Type="http://schemas.openxmlformats.org/officeDocument/2006/relationships/slide" Target="slides/slide99.xml" /><Relationship Id="rId101" Type="http://schemas.openxmlformats.org/officeDocument/2006/relationships/slide" Target="slides/slide100.xml" /><Relationship Id="rId102" Type="http://schemas.openxmlformats.org/officeDocument/2006/relationships/slide" Target="slides/slide101.xml" /><Relationship Id="rId103" Type="http://schemas.openxmlformats.org/officeDocument/2006/relationships/slide" Target="slides/slide102.xml" /><Relationship Id="rId104" Type="http://schemas.openxmlformats.org/officeDocument/2006/relationships/slide" Target="slides/slide103.xml" /><Relationship Id="rId105" Type="http://schemas.openxmlformats.org/officeDocument/2006/relationships/slide" Target="slides/slide104.xml" /><Relationship Id="rId106" Type="http://schemas.openxmlformats.org/officeDocument/2006/relationships/slide" Target="slides/slide105.xml" /><Relationship Id="rId107" Type="http://schemas.openxmlformats.org/officeDocument/2006/relationships/slide" Target="slides/slide106.xml" /><Relationship Id="rId108" Type="http://schemas.openxmlformats.org/officeDocument/2006/relationships/slide" Target="slides/slide107.xml" /><Relationship Id="rId109" Type="http://schemas.openxmlformats.org/officeDocument/2006/relationships/slide" Target="slides/slide108.xml" /><Relationship Id="rId110" Type="http://schemas.openxmlformats.org/officeDocument/2006/relationships/slide" Target="slides/slide109.xml" /><Relationship Id="rId111" Type="http://schemas.openxmlformats.org/officeDocument/2006/relationships/slide" Target="slides/slide110.xml" /><Relationship Id="rId112" Type="http://schemas.openxmlformats.org/officeDocument/2006/relationships/slide" Target="slides/slide111.xml" /><Relationship Id="rId113" Type="http://schemas.openxmlformats.org/officeDocument/2006/relationships/slide" Target="slides/slide112.xml" /><Relationship Id="rId114" Type="http://schemas.openxmlformats.org/officeDocument/2006/relationships/slide" Target="slides/slide113.xml" /><Relationship Id="rId115" Type="http://schemas.openxmlformats.org/officeDocument/2006/relationships/slide" Target="slides/slide114.xml" /><Relationship Id="rId116" Type="http://schemas.openxmlformats.org/officeDocument/2006/relationships/slide" Target="slides/slide115.xml" /><Relationship Id="rId117" Type="http://schemas.openxmlformats.org/officeDocument/2006/relationships/slide" Target="slides/slide116.xml" /><Relationship Id="rId118" Type="http://schemas.openxmlformats.org/officeDocument/2006/relationships/slide" Target="slides/slide117.xml" /><Relationship Id="rId119" Type="http://schemas.openxmlformats.org/officeDocument/2006/relationships/slide" Target="slides/slide118.xml" /><Relationship Id="rId120" Type="http://schemas.openxmlformats.org/officeDocument/2006/relationships/slide" Target="slides/slide119.xml" /><Relationship Id="rId121" Type="http://schemas.openxmlformats.org/officeDocument/2006/relationships/slide" Target="slides/slide120.xml" /><Relationship Id="rId122" Type="http://schemas.openxmlformats.org/officeDocument/2006/relationships/slide" Target="slides/slide121.xml" /><Relationship Id="rId123" Type="http://schemas.openxmlformats.org/officeDocument/2006/relationships/notesMaster" Target="notesMasters/notesMaster1.xml" /><Relationship Id="rId125" Type="http://schemas.openxmlformats.org/officeDocument/2006/relationships/viewProps" Target="viewProps.xml" /><Relationship Id="rId12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27" Type="http://schemas.openxmlformats.org/officeDocument/2006/relationships/tableStyles" Target="tableStyles.xml" /><Relationship Id="rId126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25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26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27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8.xml" /><Relationship Id="rId1" Type="http://schemas.openxmlformats.org/officeDocument/2006/relationships/notesMaster" Target="../notesMasters/notesMaster1.xml" /></Relationships>
</file>

<file path=ppt/notesSlides/_rels/notesSlide21.xml.rels><?xml version="1.0" encoding="UTF-8"?><Relationships xmlns="http://schemas.openxmlformats.org/package/2006/relationships"><Relationship Id="rId2" Type="http://schemas.openxmlformats.org/officeDocument/2006/relationships/slide" Target="../slides/slide29.xml" /><Relationship Id="rId1" Type="http://schemas.openxmlformats.org/officeDocument/2006/relationships/notesMaster" Target="../notesMasters/notesMaster1.xml" /></Relationships>
</file>

<file path=ppt/notesSlides/_rels/notesSlide22.xml.rels><?xml version="1.0" encoding="UTF-8"?><Relationships xmlns="http://schemas.openxmlformats.org/package/2006/relationships"><Relationship Id="rId2" Type="http://schemas.openxmlformats.org/officeDocument/2006/relationships/slide" Target="../slides/slide30.xml" /><Relationship Id="rId1" Type="http://schemas.openxmlformats.org/officeDocument/2006/relationships/notesMaster" Target="../notesMasters/notesMaster1.xml" /></Relationships>
</file>

<file path=ppt/notesSlides/_rels/notesSlide23.xml.rels><?xml version="1.0" encoding="UTF-8"?><Relationships xmlns="http://schemas.openxmlformats.org/package/2006/relationships"><Relationship Id="rId2" Type="http://schemas.openxmlformats.org/officeDocument/2006/relationships/slide" Target="../slides/slide31.xml" /><Relationship Id="rId1" Type="http://schemas.openxmlformats.org/officeDocument/2006/relationships/notesMaster" Target="../notesMasters/notesMaster1.xml" /></Relationships>
</file>

<file path=ppt/notesSlides/_rels/notesSlide24.xml.rels><?xml version="1.0" encoding="UTF-8"?><Relationships xmlns="http://schemas.openxmlformats.org/package/2006/relationships"><Relationship Id="rId2" Type="http://schemas.openxmlformats.org/officeDocument/2006/relationships/slide" Target="../slides/slide32.xml" /><Relationship Id="rId1" Type="http://schemas.openxmlformats.org/officeDocument/2006/relationships/notesMaster" Target="../notesMasters/notesMaster1.xml" /></Relationships>
</file>

<file path=ppt/notesSlides/_rels/notesSlide25.xml.rels><?xml version="1.0" encoding="UTF-8"?><Relationships xmlns="http://schemas.openxmlformats.org/package/2006/relationships"><Relationship Id="rId2" Type="http://schemas.openxmlformats.org/officeDocument/2006/relationships/slide" Target="../slides/slide33.xml" /><Relationship Id="rId1" Type="http://schemas.openxmlformats.org/officeDocument/2006/relationships/notesMaster" Target="../notesMasters/notesMaster1.xml" /></Relationships>
</file>

<file path=ppt/notesSlides/_rels/notesSlide26.xml.rels><?xml version="1.0" encoding="UTF-8"?><Relationships xmlns="http://schemas.openxmlformats.org/package/2006/relationships"><Relationship Id="rId2" Type="http://schemas.openxmlformats.org/officeDocument/2006/relationships/slide" Target="../slides/slide34.xml" /><Relationship Id="rId1" Type="http://schemas.openxmlformats.org/officeDocument/2006/relationships/notesMaster" Target="../notesMasters/notesMaster1.xml" /></Relationships>
</file>

<file path=ppt/notesSlides/_rels/notesSlide27.xml.rels><?xml version="1.0" encoding="UTF-8"?><Relationships xmlns="http://schemas.openxmlformats.org/package/2006/relationships"><Relationship Id="rId2" Type="http://schemas.openxmlformats.org/officeDocument/2006/relationships/slide" Target="../slides/slide35.xml" /><Relationship Id="rId1" Type="http://schemas.openxmlformats.org/officeDocument/2006/relationships/notesMaster" Target="../notesMasters/notesMaster1.xml" /></Relationships>
</file>

<file path=ppt/notesSlides/_rels/notesSlide28.xml.rels><?xml version="1.0" encoding="UTF-8"?><Relationships xmlns="http://schemas.openxmlformats.org/package/2006/relationships"><Relationship Id="rId2" Type="http://schemas.openxmlformats.org/officeDocument/2006/relationships/slide" Target="../slides/slide36.xml" /><Relationship Id="rId1" Type="http://schemas.openxmlformats.org/officeDocument/2006/relationships/notesMaster" Target="../notesMasters/notesMaster1.xml" /></Relationships>
</file>

<file path=ppt/notesSlides/_rels/notesSlide29.xml.rels><?xml version="1.0" encoding="UTF-8"?><Relationships xmlns="http://schemas.openxmlformats.org/package/2006/relationships"><Relationship Id="rId2" Type="http://schemas.openxmlformats.org/officeDocument/2006/relationships/slide" Target="../slides/slide37.xml" /><Relationship Id="rId1" Type="http://schemas.openxmlformats.org/officeDocument/2006/relationships/notesMaster" Target="../notesMasters/notesMaster1.xml" /></Relationships>
</file>

<file path=ppt/notesSlides/_rels/notesSlide30.xml.rels><?xml version="1.0" encoding="UTF-8"?><Relationships xmlns="http://schemas.openxmlformats.org/package/2006/relationships"><Relationship Id="rId2" Type="http://schemas.openxmlformats.org/officeDocument/2006/relationships/slide" Target="../slides/slide38.xml" /><Relationship Id="rId1" Type="http://schemas.openxmlformats.org/officeDocument/2006/relationships/notesMaster" Target="../notesMasters/notesMaster1.xml" /></Relationships>
</file>

<file path=ppt/notesSlides/_rels/notesSlide31.xml.rels><?xml version="1.0" encoding="UTF-8"?><Relationships xmlns="http://schemas.openxmlformats.org/package/2006/relationships"><Relationship Id="rId2" Type="http://schemas.openxmlformats.org/officeDocument/2006/relationships/slide" Target="../slides/slide39.xml" /><Relationship Id="rId1" Type="http://schemas.openxmlformats.org/officeDocument/2006/relationships/notesMaster" Target="../notesMasters/notesMaster1.xml" /></Relationships>
</file>

<file path=ppt/notesSlides/_rels/notesSlide32.xml.rels><?xml version="1.0" encoding="UTF-8"?><Relationships xmlns="http://schemas.openxmlformats.org/package/2006/relationships"><Relationship Id="rId2" Type="http://schemas.openxmlformats.org/officeDocument/2006/relationships/slide" Target="../slides/slide42.xml" /><Relationship Id="rId1" Type="http://schemas.openxmlformats.org/officeDocument/2006/relationships/notesMaster" Target="../notesMasters/notesMaster1.xml" /></Relationships>
</file>

<file path=ppt/notesSlides/_rels/notesSlide33.xml.rels><?xml version="1.0" encoding="UTF-8"?><Relationships xmlns="http://schemas.openxmlformats.org/package/2006/relationships"><Relationship Id="rId2" Type="http://schemas.openxmlformats.org/officeDocument/2006/relationships/slide" Target="../slides/slide43.xml" /><Relationship Id="rId1" Type="http://schemas.openxmlformats.org/officeDocument/2006/relationships/notesMaster" Target="../notesMasters/notesMaster1.xml" /></Relationships>
</file>

<file path=ppt/notesSlides/_rels/notesSlide34.xml.rels><?xml version="1.0" encoding="UTF-8"?><Relationships xmlns="http://schemas.openxmlformats.org/package/2006/relationships"><Relationship Id="rId2" Type="http://schemas.openxmlformats.org/officeDocument/2006/relationships/slide" Target="../slides/slide44.xml" /><Relationship Id="rId1" Type="http://schemas.openxmlformats.org/officeDocument/2006/relationships/notesMaster" Target="../notesMasters/notesMaster1.xml" /></Relationships>
</file>

<file path=ppt/notesSlides/_rels/notesSlide35.xml.rels><?xml version="1.0" encoding="UTF-8"?><Relationships xmlns="http://schemas.openxmlformats.org/package/2006/relationships"><Relationship Id="rId2" Type="http://schemas.openxmlformats.org/officeDocument/2006/relationships/slide" Target="../slides/slide45.xml" /><Relationship Id="rId1" Type="http://schemas.openxmlformats.org/officeDocument/2006/relationships/notesMaster" Target="../notesMasters/notesMaster1.xml" /></Relationships>
</file>

<file path=ppt/notesSlides/_rels/notesSlide36.xml.rels><?xml version="1.0" encoding="UTF-8"?><Relationships xmlns="http://schemas.openxmlformats.org/package/2006/relationships"><Relationship Id="rId2" Type="http://schemas.openxmlformats.org/officeDocument/2006/relationships/slide" Target="../slides/slide46.xml" /><Relationship Id="rId1" Type="http://schemas.openxmlformats.org/officeDocument/2006/relationships/notesMaster" Target="../notesMasters/notesMaster1.xml" /></Relationships>
</file>

<file path=ppt/notesSlides/_rels/notesSlide37.xml.rels><?xml version="1.0" encoding="UTF-8"?><Relationships xmlns="http://schemas.openxmlformats.org/package/2006/relationships"><Relationship Id="rId2" Type="http://schemas.openxmlformats.org/officeDocument/2006/relationships/slide" Target="../slides/slide47.xml" /><Relationship Id="rId1" Type="http://schemas.openxmlformats.org/officeDocument/2006/relationships/notesMaster" Target="../notesMasters/notesMaster1.xml" /></Relationships>
</file>

<file path=ppt/notesSlides/_rels/notesSlide38.xml.rels><?xml version="1.0" encoding="UTF-8"?><Relationships xmlns="http://schemas.openxmlformats.org/package/2006/relationships"><Relationship Id="rId2" Type="http://schemas.openxmlformats.org/officeDocument/2006/relationships/slide" Target="../slides/slide48.xml" /><Relationship Id="rId1" Type="http://schemas.openxmlformats.org/officeDocument/2006/relationships/notesMaster" Target="../notesMasters/notesMaster1.xml" /></Relationships>
</file>

<file path=ppt/notesSlides/_rels/notesSlide39.xml.rels><?xml version="1.0" encoding="UTF-8"?><Relationships xmlns="http://schemas.openxmlformats.org/package/2006/relationships"><Relationship Id="rId2" Type="http://schemas.openxmlformats.org/officeDocument/2006/relationships/slide" Target="../slides/slide49.xml" /><Relationship Id="rId1" Type="http://schemas.openxmlformats.org/officeDocument/2006/relationships/notesMaster" Target="../notesMasters/notesMaster1.xml" /></Relationships>
</file>

<file path=ppt/notesSlides/_rels/notesSlide40.xml.rels><?xml version="1.0" encoding="UTF-8"?><Relationships xmlns="http://schemas.openxmlformats.org/package/2006/relationships"><Relationship Id="rId2" Type="http://schemas.openxmlformats.org/officeDocument/2006/relationships/slide" Target="../slides/slide50.xml" /><Relationship Id="rId1" Type="http://schemas.openxmlformats.org/officeDocument/2006/relationships/notesMaster" Target="../notesMasters/notesMaster1.xml" /></Relationships>
</file>

<file path=ppt/notesSlides/_rels/notesSlide41.xml.rels><?xml version="1.0" encoding="UTF-8"?><Relationships xmlns="http://schemas.openxmlformats.org/package/2006/relationships"><Relationship Id="rId2" Type="http://schemas.openxmlformats.org/officeDocument/2006/relationships/slide" Target="../slides/slide51.xml" /><Relationship Id="rId1" Type="http://schemas.openxmlformats.org/officeDocument/2006/relationships/notesMaster" Target="../notesMasters/notesMaster1.xml" /></Relationships>
</file>

<file path=ppt/notesSlides/_rels/notesSlide42.xml.rels><?xml version="1.0" encoding="UTF-8"?><Relationships xmlns="http://schemas.openxmlformats.org/package/2006/relationships"><Relationship Id="rId2" Type="http://schemas.openxmlformats.org/officeDocument/2006/relationships/slide" Target="../slides/slide52.xml" /><Relationship Id="rId1" Type="http://schemas.openxmlformats.org/officeDocument/2006/relationships/notesMaster" Target="../notesMasters/notesMaster1.xml" /></Relationships>
</file>

<file path=ppt/notesSlides/_rels/notesSlide43.xml.rels><?xml version="1.0" encoding="UTF-8"?><Relationships xmlns="http://schemas.openxmlformats.org/package/2006/relationships"><Relationship Id="rId2" Type="http://schemas.openxmlformats.org/officeDocument/2006/relationships/slide" Target="../slides/slide54.xml" /><Relationship Id="rId1" Type="http://schemas.openxmlformats.org/officeDocument/2006/relationships/notesMaster" Target="../notesMasters/notesMaster1.xml" /></Relationships>
</file>

<file path=ppt/notesSlides/_rels/notesSlide44.xml.rels><?xml version="1.0" encoding="UTF-8"?><Relationships xmlns="http://schemas.openxmlformats.org/package/2006/relationships"><Relationship Id="rId2" Type="http://schemas.openxmlformats.org/officeDocument/2006/relationships/slide" Target="../slides/slide57.xml" /><Relationship Id="rId1" Type="http://schemas.openxmlformats.org/officeDocument/2006/relationships/notesMaster" Target="../notesMasters/notesMaster1.xml" /></Relationships>
</file>

<file path=ppt/notesSlides/_rels/notesSlide45.xml.rels><?xml version="1.0" encoding="UTF-8"?><Relationships xmlns="http://schemas.openxmlformats.org/package/2006/relationships"><Relationship Id="rId2" Type="http://schemas.openxmlformats.org/officeDocument/2006/relationships/slide" Target="../slides/slide58.xml" /><Relationship Id="rId1" Type="http://schemas.openxmlformats.org/officeDocument/2006/relationships/notesMaster" Target="../notesMasters/notesMaster1.xml" /></Relationships>
</file>

<file path=ppt/notesSlides/_rels/notesSlide46.xml.rels><?xml version="1.0" encoding="UTF-8"?><Relationships xmlns="http://schemas.openxmlformats.org/package/2006/relationships"><Relationship Id="rId2" Type="http://schemas.openxmlformats.org/officeDocument/2006/relationships/slide" Target="../slides/slide59.xml" /><Relationship Id="rId1" Type="http://schemas.openxmlformats.org/officeDocument/2006/relationships/notesMaster" Target="../notesMasters/notesMaster1.xml" /></Relationships>
</file>

<file path=ppt/notesSlides/_rels/notesSlide47.xml.rels><?xml version="1.0" encoding="UTF-8"?><Relationships xmlns="http://schemas.openxmlformats.org/package/2006/relationships"><Relationship Id="rId2" Type="http://schemas.openxmlformats.org/officeDocument/2006/relationships/slide" Target="../slides/slide60.xml" /><Relationship Id="rId1" Type="http://schemas.openxmlformats.org/officeDocument/2006/relationships/notesMaster" Target="../notesMasters/notesMaster1.xml" /></Relationships>
</file>

<file path=ppt/notesSlides/_rels/notesSlide48.xml.rels><?xml version="1.0" encoding="UTF-8"?><Relationships xmlns="http://schemas.openxmlformats.org/package/2006/relationships"><Relationship Id="rId2" Type="http://schemas.openxmlformats.org/officeDocument/2006/relationships/slide" Target="../slides/slide61.xml" /><Relationship Id="rId1" Type="http://schemas.openxmlformats.org/officeDocument/2006/relationships/notesMaster" Target="../notesMasters/notesMaster1.xml" /></Relationships>
</file>

<file path=ppt/notesSlides/_rels/notesSlide49.xml.rels><?xml version="1.0" encoding="UTF-8"?><Relationships xmlns="http://schemas.openxmlformats.org/package/2006/relationships"><Relationship Id="rId2" Type="http://schemas.openxmlformats.org/officeDocument/2006/relationships/slide" Target="../slides/slide63.xml" /><Relationship Id="rId1" Type="http://schemas.openxmlformats.org/officeDocument/2006/relationships/notesMaster" Target="../notesMasters/notesMaster1.xml" /></Relationships>
</file>

<file path=ppt/notesSlides/_rels/notesSlide50.xml.rels><?xml version="1.0" encoding="UTF-8"?><Relationships xmlns="http://schemas.openxmlformats.org/package/2006/relationships"><Relationship Id="rId2" Type="http://schemas.openxmlformats.org/officeDocument/2006/relationships/slide" Target="../slides/slide64.xml" /><Relationship Id="rId1" Type="http://schemas.openxmlformats.org/officeDocument/2006/relationships/notesMaster" Target="../notesMasters/notesMaster1.xml" /></Relationships>
</file>

<file path=ppt/notesSlides/_rels/notesSlide51.xml.rels><?xml version="1.0" encoding="UTF-8"?><Relationships xmlns="http://schemas.openxmlformats.org/package/2006/relationships"><Relationship Id="rId2" Type="http://schemas.openxmlformats.org/officeDocument/2006/relationships/slide" Target="../slides/slide65.xml" /><Relationship Id="rId1" Type="http://schemas.openxmlformats.org/officeDocument/2006/relationships/notesMaster" Target="../notesMasters/notesMaster1.xml" /></Relationships>
</file>

<file path=ppt/notesSlides/_rels/notesSlide52.xml.rels><?xml version="1.0" encoding="UTF-8"?><Relationships xmlns="http://schemas.openxmlformats.org/package/2006/relationships"><Relationship Id="rId2" Type="http://schemas.openxmlformats.org/officeDocument/2006/relationships/slide" Target="../slides/slide66.xml" /><Relationship Id="rId1" Type="http://schemas.openxmlformats.org/officeDocument/2006/relationships/notesMaster" Target="../notesMasters/notesMaster1.xml" /></Relationships>
</file>

<file path=ppt/notesSlides/_rels/notesSlide53.xml.rels><?xml version="1.0" encoding="UTF-8"?><Relationships xmlns="http://schemas.openxmlformats.org/package/2006/relationships"><Relationship Id="rId2" Type="http://schemas.openxmlformats.org/officeDocument/2006/relationships/slide" Target="../slides/slide67.xml" /><Relationship Id="rId1" Type="http://schemas.openxmlformats.org/officeDocument/2006/relationships/notesMaster" Target="../notesMasters/notesMaster1.xml" /></Relationships>
</file>

<file path=ppt/notesSlides/_rels/notesSlide54.xml.rels><?xml version="1.0" encoding="UTF-8"?><Relationships xmlns="http://schemas.openxmlformats.org/package/2006/relationships"><Relationship Id="rId2" Type="http://schemas.openxmlformats.org/officeDocument/2006/relationships/slide" Target="../slides/slide68.xml" /><Relationship Id="rId1" Type="http://schemas.openxmlformats.org/officeDocument/2006/relationships/notesMaster" Target="../notesMasters/notesMaster1.xml" /></Relationships>
</file>

<file path=ppt/notesSlides/_rels/notesSlide55.xml.rels><?xml version="1.0" encoding="UTF-8"?><Relationships xmlns="http://schemas.openxmlformats.org/package/2006/relationships"><Relationship Id="rId2" Type="http://schemas.openxmlformats.org/officeDocument/2006/relationships/slide" Target="../slides/slide70.xml" /><Relationship Id="rId1" Type="http://schemas.openxmlformats.org/officeDocument/2006/relationships/notesMaster" Target="../notesMasters/notesMaster1.xml" /></Relationships>
</file>

<file path=ppt/notesSlides/_rels/notesSlide56.xml.rels><?xml version="1.0" encoding="UTF-8"?><Relationships xmlns="http://schemas.openxmlformats.org/package/2006/relationships"><Relationship Id="rId2" Type="http://schemas.openxmlformats.org/officeDocument/2006/relationships/slide" Target="../slides/slide72.xml" /><Relationship Id="rId1" Type="http://schemas.openxmlformats.org/officeDocument/2006/relationships/notesMaster" Target="../notesMasters/notesMaster1.xml" /></Relationships>
</file>

<file path=ppt/notesSlides/_rels/notesSlide57.xml.rels><?xml version="1.0" encoding="UTF-8"?><Relationships xmlns="http://schemas.openxmlformats.org/package/2006/relationships"><Relationship Id="rId2" Type="http://schemas.openxmlformats.org/officeDocument/2006/relationships/slide" Target="../slides/slide73.xml" /><Relationship Id="rId1" Type="http://schemas.openxmlformats.org/officeDocument/2006/relationships/notesMaster" Target="../notesMasters/notesMaster1.xml" /></Relationships>
</file>

<file path=ppt/notesSlides/_rels/notesSlide58.xml.rels><?xml version="1.0" encoding="UTF-8"?><Relationships xmlns="http://schemas.openxmlformats.org/package/2006/relationships"><Relationship Id="rId2" Type="http://schemas.openxmlformats.org/officeDocument/2006/relationships/slide" Target="../slides/slide74.xml" /><Relationship Id="rId1" Type="http://schemas.openxmlformats.org/officeDocument/2006/relationships/notesMaster" Target="../notesMasters/notesMaster1.xml" /></Relationships>
</file>

<file path=ppt/notesSlides/_rels/notesSlide59.xml.rels><?xml version="1.0" encoding="UTF-8"?><Relationships xmlns="http://schemas.openxmlformats.org/package/2006/relationships"><Relationship Id="rId2" Type="http://schemas.openxmlformats.org/officeDocument/2006/relationships/slide" Target="../slides/slide75.xml" /><Relationship Id="rId1" Type="http://schemas.openxmlformats.org/officeDocument/2006/relationships/notesMaster" Target="../notesMasters/notesMaster1.xml" /></Relationships>
</file>

<file path=ppt/notesSlides/_rels/notesSlide60.xml.rels><?xml version="1.0" encoding="UTF-8"?><Relationships xmlns="http://schemas.openxmlformats.org/package/2006/relationships"><Relationship Id="rId2" Type="http://schemas.openxmlformats.org/officeDocument/2006/relationships/slide" Target="../slides/slide76.xml" /><Relationship Id="rId1" Type="http://schemas.openxmlformats.org/officeDocument/2006/relationships/notesMaster" Target="../notesMasters/notesMaster1.xml" /></Relationships>
</file>

<file path=ppt/notesSlides/_rels/notesSlide61.xml.rels><?xml version="1.0" encoding="UTF-8"?><Relationships xmlns="http://schemas.openxmlformats.org/package/2006/relationships"><Relationship Id="rId2" Type="http://schemas.openxmlformats.org/officeDocument/2006/relationships/slide" Target="../slides/slide77.xml" /><Relationship Id="rId1" Type="http://schemas.openxmlformats.org/officeDocument/2006/relationships/notesMaster" Target="../notesMasters/notesMaster1.xml" /></Relationships>
</file>

<file path=ppt/notesSlides/_rels/notesSlide62.xml.rels><?xml version="1.0" encoding="UTF-8"?><Relationships xmlns="http://schemas.openxmlformats.org/package/2006/relationships"><Relationship Id="rId2" Type="http://schemas.openxmlformats.org/officeDocument/2006/relationships/slide" Target="../slides/slide78.xml" /><Relationship Id="rId1" Type="http://schemas.openxmlformats.org/officeDocument/2006/relationships/notesMaster" Target="../notesMasters/notesMaster1.xml" /></Relationships>
</file>

<file path=ppt/notesSlides/_rels/notesSlide63.xml.rels><?xml version="1.0" encoding="UTF-8"?><Relationships xmlns="http://schemas.openxmlformats.org/package/2006/relationships"><Relationship Id="rId2" Type="http://schemas.openxmlformats.org/officeDocument/2006/relationships/slide" Target="../slides/slide80.xml" /><Relationship Id="rId1" Type="http://schemas.openxmlformats.org/officeDocument/2006/relationships/notesMaster" Target="../notesMasters/notesMaster1.xml" /></Relationships>
</file>

<file path=ppt/notesSlides/_rels/notesSlide64.xml.rels><?xml version="1.0" encoding="UTF-8"?><Relationships xmlns="http://schemas.openxmlformats.org/package/2006/relationships"><Relationship Id="rId2" Type="http://schemas.openxmlformats.org/officeDocument/2006/relationships/slide" Target="../slides/slide83.xml" /><Relationship Id="rId1" Type="http://schemas.openxmlformats.org/officeDocument/2006/relationships/notesMaster" Target="../notesMasters/notesMaster1.xml" /></Relationships>
</file>

<file path=ppt/notesSlides/_rels/notesSlide65.xml.rels><?xml version="1.0" encoding="UTF-8"?><Relationships xmlns="http://schemas.openxmlformats.org/package/2006/relationships"><Relationship Id="rId2" Type="http://schemas.openxmlformats.org/officeDocument/2006/relationships/slide" Target="../slides/slide84.xml" /><Relationship Id="rId1" Type="http://schemas.openxmlformats.org/officeDocument/2006/relationships/notesMaster" Target="../notesMasters/notesMaster1.xml" /></Relationships>
</file>

<file path=ppt/notesSlides/_rels/notesSlide66.xml.rels><?xml version="1.0" encoding="UTF-8"?><Relationships xmlns="http://schemas.openxmlformats.org/package/2006/relationships"><Relationship Id="rId2" Type="http://schemas.openxmlformats.org/officeDocument/2006/relationships/slide" Target="../slides/slide85.xml" /><Relationship Id="rId1" Type="http://schemas.openxmlformats.org/officeDocument/2006/relationships/notesMaster" Target="../notesMasters/notesMaster1.xml" /></Relationships>
</file>

<file path=ppt/notesSlides/_rels/notesSlide67.xml.rels><?xml version="1.0" encoding="UTF-8"?><Relationships xmlns="http://schemas.openxmlformats.org/package/2006/relationships"><Relationship Id="rId2" Type="http://schemas.openxmlformats.org/officeDocument/2006/relationships/slide" Target="../slides/slide86.xml" /><Relationship Id="rId1" Type="http://schemas.openxmlformats.org/officeDocument/2006/relationships/notesMaster" Target="../notesMasters/notesMaster1.xml" /></Relationships>
</file>

<file path=ppt/notesSlides/_rels/notesSlide68.xml.rels><?xml version="1.0" encoding="UTF-8"?><Relationships xmlns="http://schemas.openxmlformats.org/package/2006/relationships"><Relationship Id="rId2" Type="http://schemas.openxmlformats.org/officeDocument/2006/relationships/slide" Target="../slides/slide87.xml" /><Relationship Id="rId1" Type="http://schemas.openxmlformats.org/officeDocument/2006/relationships/notesMaster" Target="../notesMasters/notesMaster1.xml" /></Relationships>
</file>

<file path=ppt/notesSlides/_rels/notesSlide69.xml.rels><?xml version="1.0" encoding="UTF-8"?><Relationships xmlns="http://schemas.openxmlformats.org/package/2006/relationships"><Relationship Id="rId2" Type="http://schemas.openxmlformats.org/officeDocument/2006/relationships/slide" Target="../slides/slide88.xml" /><Relationship Id="rId1" Type="http://schemas.openxmlformats.org/officeDocument/2006/relationships/notesMaster" Target="../notesMasters/notesMaster1.xml" /></Relationships>
</file>

<file path=ppt/notesSlides/_rels/notesSlide70.xml.rels><?xml version="1.0" encoding="UTF-8"?><Relationships xmlns="http://schemas.openxmlformats.org/package/2006/relationships"><Relationship Id="rId2" Type="http://schemas.openxmlformats.org/officeDocument/2006/relationships/slide" Target="../slides/slide89.xml" /><Relationship Id="rId1" Type="http://schemas.openxmlformats.org/officeDocument/2006/relationships/notesMaster" Target="../notesMasters/notesMaster1.xml" /></Relationships>
</file>

<file path=ppt/notesSlides/_rels/notesSlide71.xml.rels><?xml version="1.0" encoding="UTF-8"?><Relationships xmlns="http://schemas.openxmlformats.org/package/2006/relationships"><Relationship Id="rId2" Type="http://schemas.openxmlformats.org/officeDocument/2006/relationships/slide" Target="../slides/slide90.xml" /><Relationship Id="rId1" Type="http://schemas.openxmlformats.org/officeDocument/2006/relationships/notesMaster" Target="../notesMasters/notesMaster1.xml" /></Relationships>
</file>

<file path=ppt/notesSlides/_rels/notesSlide72.xml.rels><?xml version="1.0" encoding="UTF-8"?><Relationships xmlns="http://schemas.openxmlformats.org/package/2006/relationships"><Relationship Id="rId2" Type="http://schemas.openxmlformats.org/officeDocument/2006/relationships/slide" Target="../slides/slide91.xml" /><Relationship Id="rId1" Type="http://schemas.openxmlformats.org/officeDocument/2006/relationships/notesMaster" Target="../notesMasters/notesMaster1.xml" /></Relationships>
</file>

<file path=ppt/notesSlides/_rels/notesSlide73.xml.rels><?xml version="1.0" encoding="UTF-8"?><Relationships xmlns="http://schemas.openxmlformats.org/package/2006/relationships"><Relationship Id="rId2" Type="http://schemas.openxmlformats.org/officeDocument/2006/relationships/slide" Target="../slides/slide92.xml" /><Relationship Id="rId1" Type="http://schemas.openxmlformats.org/officeDocument/2006/relationships/notesMaster" Target="../notesMasters/notesMaster1.xml" /></Relationships>
</file>

<file path=ppt/notesSlides/_rels/notesSlide74.xml.rels><?xml version="1.0" encoding="UTF-8"?><Relationships xmlns="http://schemas.openxmlformats.org/package/2006/relationships"><Relationship Id="rId2" Type="http://schemas.openxmlformats.org/officeDocument/2006/relationships/slide" Target="../slides/slide93.xml" /><Relationship Id="rId1" Type="http://schemas.openxmlformats.org/officeDocument/2006/relationships/notesMaster" Target="../notesMasters/notesMaster1.xml" /></Relationships>
</file>

<file path=ppt/notesSlides/_rels/notesSlide75.xml.rels><?xml version="1.0" encoding="UTF-8"?><Relationships xmlns="http://schemas.openxmlformats.org/package/2006/relationships"><Relationship Id="rId2" Type="http://schemas.openxmlformats.org/officeDocument/2006/relationships/slide" Target="../slides/slide94.xml" /><Relationship Id="rId1" Type="http://schemas.openxmlformats.org/officeDocument/2006/relationships/notesMaster" Target="../notesMasters/notesMaster1.xml" /></Relationships>
</file>

<file path=ppt/notesSlides/_rels/notesSlide76.xml.rels><?xml version="1.0" encoding="UTF-8"?><Relationships xmlns="http://schemas.openxmlformats.org/package/2006/relationships"><Relationship Id="rId2" Type="http://schemas.openxmlformats.org/officeDocument/2006/relationships/slide" Target="../slides/slide95.xml" /><Relationship Id="rId1" Type="http://schemas.openxmlformats.org/officeDocument/2006/relationships/notesMaster" Target="../notesMasters/notesMaster1.xml" /></Relationships>
</file>

<file path=ppt/notesSlides/_rels/notesSlide77.xml.rels><?xml version="1.0" encoding="UTF-8"?><Relationships xmlns="http://schemas.openxmlformats.org/package/2006/relationships"><Relationship Id="rId2" Type="http://schemas.openxmlformats.org/officeDocument/2006/relationships/slide" Target="../slides/slide96.xml" /><Relationship Id="rId1" Type="http://schemas.openxmlformats.org/officeDocument/2006/relationships/notesMaster" Target="../notesMasters/notesMaster1.xml" /></Relationships>
</file>

<file path=ppt/notesSlides/_rels/notesSlide78.xml.rels><?xml version="1.0" encoding="UTF-8"?><Relationships xmlns="http://schemas.openxmlformats.org/package/2006/relationships"><Relationship Id="rId2" Type="http://schemas.openxmlformats.org/officeDocument/2006/relationships/slide" Target="../slides/slide98.xml" /><Relationship Id="rId1" Type="http://schemas.openxmlformats.org/officeDocument/2006/relationships/notesMaster" Target="../notesMasters/notesMaster1.xml" /></Relationships>
</file>

<file path=ppt/notesSlides/_rels/notesSlide79.xml.rels><?xml version="1.0" encoding="UTF-8"?><Relationships xmlns="http://schemas.openxmlformats.org/package/2006/relationships"><Relationship Id="rId2" Type="http://schemas.openxmlformats.org/officeDocument/2006/relationships/slide" Target="../slides/slide99.xml" /><Relationship Id="rId1" Type="http://schemas.openxmlformats.org/officeDocument/2006/relationships/notesMaster" Target="../notesMasters/notesMaster1.xml" /></Relationships>
</file>

<file path=ppt/notesSlides/_rels/notesSlide80.xml.rels><?xml version="1.0" encoding="UTF-8"?><Relationships xmlns="http://schemas.openxmlformats.org/package/2006/relationships"><Relationship Id="rId2" Type="http://schemas.openxmlformats.org/officeDocument/2006/relationships/slide" Target="../slides/slide100.xml" /><Relationship Id="rId1" Type="http://schemas.openxmlformats.org/officeDocument/2006/relationships/notesMaster" Target="../notesMasters/notesMaster1.xml" /></Relationships>
</file>

<file path=ppt/notesSlides/_rels/notesSlide81.xml.rels><?xml version="1.0" encoding="UTF-8"?><Relationships xmlns="http://schemas.openxmlformats.org/package/2006/relationships"><Relationship Id="rId2" Type="http://schemas.openxmlformats.org/officeDocument/2006/relationships/slide" Target="../slides/slide101.xml" /><Relationship Id="rId1" Type="http://schemas.openxmlformats.org/officeDocument/2006/relationships/notesMaster" Target="../notesMasters/notesMaster1.xml" /></Relationships>
</file>

<file path=ppt/notesSlides/_rels/notesSlide82.xml.rels><?xml version="1.0" encoding="UTF-8"?><Relationships xmlns="http://schemas.openxmlformats.org/package/2006/relationships"><Relationship Id="rId2" Type="http://schemas.openxmlformats.org/officeDocument/2006/relationships/slide" Target="../slides/slide102.xml" /><Relationship Id="rId1" Type="http://schemas.openxmlformats.org/officeDocument/2006/relationships/notesMaster" Target="../notesMasters/notesMaster1.xml" /></Relationships>
</file>

<file path=ppt/notesSlides/_rels/notesSlide83.xml.rels><?xml version="1.0" encoding="UTF-8"?><Relationships xmlns="http://schemas.openxmlformats.org/package/2006/relationships"><Relationship Id="rId2" Type="http://schemas.openxmlformats.org/officeDocument/2006/relationships/slide" Target="../slides/slide104.xml" /><Relationship Id="rId1" Type="http://schemas.openxmlformats.org/officeDocument/2006/relationships/notesMaster" Target="../notesMasters/notesMaster1.xml" /></Relationships>
</file>

<file path=ppt/notesSlides/_rels/notesSlide84.xml.rels><?xml version="1.0" encoding="UTF-8"?><Relationships xmlns="http://schemas.openxmlformats.org/package/2006/relationships"><Relationship Id="rId2" Type="http://schemas.openxmlformats.org/officeDocument/2006/relationships/slide" Target="../slides/slide105.xml" /><Relationship Id="rId1" Type="http://schemas.openxmlformats.org/officeDocument/2006/relationships/notesMaster" Target="../notesMasters/notesMaster1.xml" /></Relationships>
</file>

<file path=ppt/notesSlides/_rels/notesSlide85.xml.rels><?xml version="1.0" encoding="UTF-8"?><Relationships xmlns="http://schemas.openxmlformats.org/package/2006/relationships"><Relationship Id="rId2" Type="http://schemas.openxmlformats.org/officeDocument/2006/relationships/slide" Target="../slides/slide106.xml" /><Relationship Id="rId1" Type="http://schemas.openxmlformats.org/officeDocument/2006/relationships/notesMaster" Target="../notesMasters/notesMaster1.xml" /></Relationships>
</file>

<file path=ppt/notesSlides/_rels/notesSlide86.xml.rels><?xml version="1.0" encoding="UTF-8"?><Relationships xmlns="http://schemas.openxmlformats.org/package/2006/relationships"><Relationship Id="rId2" Type="http://schemas.openxmlformats.org/officeDocument/2006/relationships/slide" Target="../slides/slide107.xml" /><Relationship Id="rId1" Type="http://schemas.openxmlformats.org/officeDocument/2006/relationships/notesMaster" Target="../notesMasters/notesMaster1.xml" /></Relationships>
</file>

<file path=ppt/notesSlides/_rels/notesSlide87.xml.rels><?xml version="1.0" encoding="UTF-8"?><Relationships xmlns="http://schemas.openxmlformats.org/package/2006/relationships"><Relationship Id="rId2" Type="http://schemas.openxmlformats.org/officeDocument/2006/relationships/slide" Target="../slides/slide108.xml" /><Relationship Id="rId1" Type="http://schemas.openxmlformats.org/officeDocument/2006/relationships/notesMaster" Target="../notesMasters/notesMaster1.xml" /></Relationships>
</file>

<file path=ppt/notesSlides/_rels/notesSlide88.xml.rels><?xml version="1.0" encoding="UTF-8"?><Relationships xmlns="http://schemas.openxmlformats.org/package/2006/relationships"><Relationship Id="rId2" Type="http://schemas.openxmlformats.org/officeDocument/2006/relationships/slide" Target="../slides/slide109.xml" /><Relationship Id="rId1" Type="http://schemas.openxmlformats.org/officeDocument/2006/relationships/notesMaster" Target="../notesMasters/notesMaster1.xml" /></Relationships>
</file>

<file path=ppt/notesSlides/_rels/notesSlide89.xml.rels><?xml version="1.0" encoding="UTF-8"?><Relationships xmlns="http://schemas.openxmlformats.org/package/2006/relationships"><Relationship Id="rId2" Type="http://schemas.openxmlformats.org/officeDocument/2006/relationships/slide" Target="../slides/slide112.xml" /><Relationship Id="rId1" Type="http://schemas.openxmlformats.org/officeDocument/2006/relationships/notesMaster" Target="../notesMasters/notesMaster1.xml" /></Relationships>
</file>

<file path=ppt/notesSlides/_rels/notesSlide90.xml.rels><?xml version="1.0" encoding="UTF-8"?><Relationships xmlns="http://schemas.openxmlformats.org/package/2006/relationships"><Relationship Id="rId2" Type="http://schemas.openxmlformats.org/officeDocument/2006/relationships/slide" Target="../slides/slide113.xml" /><Relationship Id="rId1" Type="http://schemas.openxmlformats.org/officeDocument/2006/relationships/notesMaster" Target="../notesMasters/notesMaster1.xml" /></Relationships>
</file>

<file path=ppt/notesSlides/_rels/notesSlide91.xml.rels><?xml version="1.0" encoding="UTF-8"?><Relationships xmlns="http://schemas.openxmlformats.org/package/2006/relationships"><Relationship Id="rId2" Type="http://schemas.openxmlformats.org/officeDocument/2006/relationships/slide" Target="../slides/slide114.xml" /><Relationship Id="rId1" Type="http://schemas.openxmlformats.org/officeDocument/2006/relationships/notesMaster" Target="../notesMasters/notesMaster1.xml" /></Relationships>
</file>

<file path=ppt/notesSlides/_rels/notesSlide92.xml.rels><?xml version="1.0" encoding="UTF-8"?><Relationships xmlns="http://schemas.openxmlformats.org/package/2006/relationships"><Relationship Id="rId2" Type="http://schemas.openxmlformats.org/officeDocument/2006/relationships/slide" Target="../slides/slide115.xml" /><Relationship Id="rId1" Type="http://schemas.openxmlformats.org/officeDocument/2006/relationships/notesMaster" Target="../notesMasters/notesMaster1.xml" /></Relationships>
</file>

<file path=ppt/notesSlides/_rels/notesSlide93.xml.rels><?xml version="1.0" encoding="UTF-8"?><Relationships xmlns="http://schemas.openxmlformats.org/package/2006/relationships"><Relationship Id="rId2" Type="http://schemas.openxmlformats.org/officeDocument/2006/relationships/slide" Target="../slides/slide118.xml" /><Relationship Id="rId1" Type="http://schemas.openxmlformats.org/officeDocument/2006/relationships/notesMaster" Target="../notesMasters/notesMaster1.xml" /></Relationships>
</file>

<file path=ppt/notesSlides/_rels/notesSlide94.xml.rels><?xml version="1.0" encoding="UTF-8"?><Relationships xmlns="http://schemas.openxmlformats.org/package/2006/relationships"><Relationship Id="rId2" Type="http://schemas.openxmlformats.org/officeDocument/2006/relationships/slide" Target="../slides/slide119.xml" /><Relationship Id="rId1" Type="http://schemas.openxmlformats.org/officeDocument/2006/relationships/notesMaster" Target="../notesMasters/notesMaster1.xml" /></Relationships>
</file>

<file path=ppt/notesSlides/_rels/notesSlide95.xml.rels><?xml version="1.0" encoding="UTF-8"?><Relationships xmlns="http://schemas.openxmlformats.org/package/2006/relationships"><Relationship Id="rId2" Type="http://schemas.openxmlformats.org/officeDocument/2006/relationships/slide" Target="../slides/slide120.xml" /><Relationship Id="rId1" Type="http://schemas.openxmlformats.org/officeDocument/2006/relationships/notesMaster" Target="../notesMasters/notesMaster1.xml" /></Relationships>
</file>

<file path=ppt/notesSlides/_rels/notesSlide96.xml.rels><?xml version="1.0" encoding="UTF-8"?><Relationships xmlns="http://schemas.openxmlformats.org/package/2006/relationships"><Relationship Id="rId2" Type="http://schemas.openxmlformats.org/officeDocument/2006/relationships/slide" Target="../slides/slide121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Crisp start. Today’s backbone is the second half: continuous probability, Gaussian, and the Gaussian-Gaussian update. Marr is a 7-min frame; Chibany meets us at the top.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~8 min. First 3 min: syllabus updates + Week 1 pulse. Next 5 min: introduce Chibany and the bento scenario properly, so the rest of the session has a narrative it can actually lean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State the two facts, move on. If a student asks for detail, say ‘I’ll get to that at 1:40 / 1:50.’ ~1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1: ‘Before we do math, meet Chibany. They’re the character we’ll use as our worked example all semester. They're also the protagonist of the textbook, so reading T3 Ch 1 tonight will top this up.’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2: ‘The hook: opaque bentos. Chibany can't directly see the meal. Classic hidden-variable setup. Just like last week's checkershadow and Heider-Simmel — an inference problem under incomplete information.’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3: ‘Prior knowledge. Two canonical weights and a 70/30 prior on the meal. Note the prior comes from the world (overheard conversation), not from nowhere — priors are usually knowledge from somewhere else.’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4: ‘Chibany's strategy: weigh the bento and update. This is the Week 1 sick-friend move, just with a bento instead of a patient. Prior belief, observation, posterior. Same rule. New anchor.’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7 min hard cap. Trimmed from the earlier draft to free time for Gaussian visualization. 3 slides (one per level) + check-in. Do NOT let this expand.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~2 min. Bayes is the normative answer for ‘combine prior + evidence.’ Counterfactual: if the goal were ‘minimize reaction time,’ L1 differs. Choosing L1 IS a modeling move.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~2 min. The bad-algorithm point is important: “always guess tonkatsu” is 70% accurate because of the prior — it’s still a well-defined L2, just one that ignores the observation.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14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~2 min. FAST. Land the independence point — this is the thread for the rest of the course.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~1 min. Fast — elicit the answer. Bridge: “humans systematically use a non-Bayesian L2 on this problem; that gap between L1 and L2 is behavioral economics.”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16</a:t>
            </a:fld>
            <a:endParaRPr lang="en-US"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 min. Quick. No theatrical apology.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1: ‘H = hypothesis, D = data. For Chibany, H is the meal, D is the weight. Simple, consistent.’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20</a:t>
            </a:fld>
            <a:endParaRPr lang="en-US"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2: ‘The formula you saw last week. Same one.’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21</a:t>
            </a:fld>
            <a:endParaRPr lang="en-US"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3: ‘Name the four pieces. You'll see these names the rest of the semester.’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22</a:t>
            </a:fld>
            <a:endParaRPr lang="en-US"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12 min. Three build-ups + a Week-1 bridge slide. Now in H/D notation with Chibany — students saw these moves last week in the 2-coin-flip grid and in the sick-friend/cab problems.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25</a:t>
            </a:fld>
            <a:endParaRPr lang="en-US"/>
          </a:p>
        </p:txBody>
      </p:sp>
    </p:spTree>
  </p:cSld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1: ‘Quick re-cast. H = disease hypothesis (note: lowercase h from last week is now uppercase H; content unchanged). D = cough. Same problem, new notation.’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26</a:t>
            </a:fld>
            <a:endParaRPr lang="en-US"/>
          </a:p>
        </p:txBody>
      </p:sp>
    </p:spTree>
  </p:cSld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2: ‘Same numbers as last week. Prior, likelihood, multiply, sum ’for the evidence.’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27</a:t>
            </a:fld>
            <a:endParaRPr lang="en-US"/>
          </a:p>
        </p:txBody>
      </p:sp>
    </p:spTree>
  </p:cSld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3: ‘Posterior 0.75 / 0.083 / 0.167. Cold wins despite smoking — priors matter, likelihoods matter, neither alone is enough. Now today: same structure, but with Chibany.’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28</a:t>
            </a:fld>
            <a:endParaRPr lang="en-US"/>
          </a:p>
        </p:txBody>
      </p:sp>
    </p:spTree>
  </p:cSld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~1 min. The 2×2 is the scaffolding. Structurally the same as last week's 2-coin-flip grid {HH, HT, TH, TT} — same moves apply. The difference: different numbers, and meal ≠ weight (two variables, not the same coin twice).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29</a:t>
            </a:fld>
            <a:endParaRPr lang="en-US"/>
          </a:p>
        </p:txBody>
      </p:sp>
    </p:spTree>
  </p:cSld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1: ‘Four combinations of (meal, weight). We want the joint probability of each.’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30</a:t>
            </a:fld>
            <a:endParaRPr lang="en-US"/>
          </a:p>
        </p:txBody>
      </p:sp>
    </p:spTree>
  </p:cSld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2: ‘Joint = prior times conditional. Multiply across.’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31</a:t>
            </a:fld>
            <a:endParaRPr lang="en-US"/>
          </a:p>
        </p:txBody>
      </p:sp>
    </p:spTree>
  </p:cSld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3: ‘Sanity check. Sum to 1. Analogy to last week's {HH, HT, TH, TT} — the structure is the same; we're just working with asymmetric probabilities.’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32</a:t>
            </a:fld>
            <a:endParaRPr lang="en-US"/>
          </a:p>
        </p:txBody>
      </p:sp>
    </p:spTree>
  </p:cSld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1: ‘What's P(heavy) unconditionally? The bento is heavy either because it's a heavy tonkatsu OR a heavy hamburger. Sum across H.’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33</a:t>
            </a:fld>
            <a:endParaRPr lang="en-US"/>
          </a:p>
        </p:txBody>
      </p:sp>
    </p:spTree>
  </p:cSld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2: ‘And P(light). Check it sums to 1.’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34</a:t>
            </a:fld>
            <a:endParaRPr lang="en-US"/>
          </a:p>
        </p:txBody>
      </p:sp>
    </p:spTree>
  </p:cSld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3: ‘Named: marginalization. Sum rule. Same move as last week.’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35</a:t>
            </a:fld>
            <a:endParaRPr lang="en-US"/>
          </a:p>
        </p:txBody>
      </p:sp>
    </p:spTree>
  </p:cSld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1: ‘Observation arrives. Now ask the conditional question. This is the SAME move as last week's P(first=H | at least one H) = 2/3 on the coin-flip grid. Restrict and renormalize.’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36</a:t>
            </a:fld>
            <a:endParaRPr lang="en-US"/>
          </a:p>
        </p:txBody>
      </p:sp>
    </p:spTree>
  </p:cSld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2: ‘Two steps. Slice the joint to keep only rows consistent with the observation; renormalize.’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37</a:t>
            </a:fld>
            <a:endParaRPr lang="en-US"/>
          </a:p>
        </p:txBody>
      </p:sp>
    </p:spTree>
  </p:cSld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3: ‘Posterior. Observing heavy moved prior 0.70 to posterior 0.91 — strongly diagnostic. Much stronger than the cab problem (0.15 prior → 0.41 posterior). Why? The likelihoods here are more informative, and the prior was less extreme.’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38</a:t>
            </a:fld>
            <a:endParaRPr lang="en-US"/>
          </a:p>
        </p:txBody>
      </p:sp>
    </p:spTree>
  </p:cSld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~1 min. Mental model to carry forward. Everything today (and Week 3) is operations on this table — just with infinitely many cells.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39</a:t>
            </a:fld>
            <a:endParaRPr lang="en-US"/>
          </a:p>
        </p:txBody>
      </p:sp>
    </p:spTree>
  </p:cSld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15 min. E[X] (4 slides), Bernoulli (3 slides), Binomial (4 slides + 1 real PMF image). Bernoulli IS the meal draw; Binomial IS a week.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42</a:t>
            </a:fld>
            <a:endParaRPr lang="en-US"/>
          </a:p>
        </p:txBody>
      </p:sp>
    </p:spTree>
  </p:cSld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1: ‘Expected value. Weighted average. The formula is what you'd naïvely call an average — but weighted by probability instead of counted equally.’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43</a:t>
            </a:fld>
            <a:endParaRPr lang="en-US"/>
          </a:p>
        </p:txBody>
      </p:sp>
    </p:spTree>
  </p:cSld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2: ‘Encode meal as 1/0. Then E[meal] equals the probability. Key trick — we use it constantly in RL and in hypothesis testing.’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44</a:t>
            </a:fld>
            <a:endParaRPr lang="en-US"/>
          </a:p>
        </p:txBody>
      </p:sp>
    </p:spTree>
  </p:cSld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3: ‘Variance. Spread. For Bernoulli(p), it simplifies to p(1-p). Maxed at p=0.5; smaller at the extremes.’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45</a:t>
            </a:fld>
            <a:endParaRPr lang="en-US"/>
          </a:p>
        </p:txBody>
      </p:sp>
    </p:spTree>
  </p:cSld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4: ‘Mental model: mean = balance point, variance = width.’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46</a:t>
            </a:fld>
            <a:endParaRPr lang="en-US"/>
          </a:p>
        </p:txBody>
      </p:sp>
    </p:spTree>
  </p:cSld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1: ‘Bernoulli. One parameter.’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47</a:t>
            </a:fld>
            <a:endParaRPr lang="en-US"/>
          </a:p>
        </p:txBody>
      </p:sp>
    </p:spTree>
  </p:cSld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2: ‘The bento meal is Bernoulli(0.7). Every day, a weighted flip.’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48</a:t>
            </a:fld>
            <a:endParaRPr lang="en-US"/>
          </a:p>
        </p:txBody>
      </p:sp>
    </p:spTree>
  </p:cSld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3: ‘Flag: in Week 3 we shift gears and INFER p from observed counts. That's what conjugacy enables — we'll put a prior on p’(Beta distribution) and use Bayes to update.’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49</a:t>
            </a:fld>
            <a:endParaRPr lang="en-US"/>
          </a:p>
        </p:txBody>
      </p:sp>
    </p:spTree>
  </p:cSld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1: ‘Zoom out. A single bento is Bernoulli. A WEEK is Binomial. Y counts successes.’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50</a:t>
            </a:fld>
            <a:endParaRPr lang="en-US"/>
          </a:p>
        </p:txBody>
      </p:sp>
    </p:spTree>
  </p:cSld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2: ‘Binomial formula. Name each piece. Binomial coefficient C(n,k) = “n choose k” = count of orderings.’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51</a:t>
            </a:fld>
            <a:endParaRPr lang="en-US"/>
          </a:p>
        </p:txBody>
      </p:sp>
    </p:spTree>
  </p:cSld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3: ‘Plug in for k=3, 4, 5. The mode is k=4 — this surprises students who expect k=5 because p=0.7 &gt; 0.5. The answer: 5 orderings for k=4 vs 1 ordering for k=5. The combinatorics wins over the extra factor of 0.7.’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52</a:t>
            </a:fld>
            <a:endParaRPr lang="en-US"/>
          </a:p>
        </p:txBody>
      </p:sp>
    </p:spTree>
  </p:cSld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~1 min. Real bar chart. Let it sit — students can see the shape. Flag the Week-3 connection: when we don't KNOW p, this PMF with an unknown p becomes a function of p, and Beta conjugates nicely with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54</a:t>
            </a:fld>
            <a:endParaRPr lang="en-US"/>
          </a:p>
        </p:txBody>
      </p:sp>
    </p:spTree>
  </p:cSld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 min. Build: PMF→PDF (4 text + 1 image), Gaussian formula (5 text + 1 image), continuous-Bayes worked (6 text + 1 image). The images are the payoff — do NOT speak over them; pause.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57</a:t>
            </a:fld>
            <a:endParaRPr lang="en-US"/>
          </a:p>
        </p:txBody>
      </p:sp>
    </p:spTree>
  </p:cSld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1: ‘Weight is continuous. No finite outcome space. We need a new object — the PDF.’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58</a:t>
            </a:fld>
            <a:endParaRPr lang="en-US"/>
          </a:p>
        </p:txBody>
      </p:sp>
    </p:spTree>
  </p:cSld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2: ‘Binning thought experiment. Bin the weights. Shrink bins. In the limit: a smooth curve. That curve is the density.’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59</a:t>
            </a:fld>
            <a:endParaRPr lang="en-US"/>
          </a:p>
        </p:txBody>
      </p:sp>
    </p:spTree>
  </p:cSld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3: ‘Density ≠ probability. This trips students up. Density is ’probability PER UNIT. You integrate to get a probability. Density values can be &gt; 1 (density of N(0, 0.01) at 0 is ~40).’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60</a:t>
            </a:fld>
            <a:endParaRPr lang="en-US"/>
          </a:p>
        </p:txBody>
      </p:sp>
    </p:spTree>
  </p:cSld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4: ‘Corollary: probability of ANY exact value is 0 for a continuous RV. But probability of being near any value is f(x) × (small interval). Intuitive and mathematically honest.’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61</a:t>
            </a:fld>
            <a:endParaRPr lang="en-US"/>
          </a:p>
        </p:txBody>
      </p:sp>
    </p:spTree>
  </p:cSld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Pause 10 seconds. Let them see the histograms smoothing into the PDF. The blue curve is the same Gaussian in all three panels — the histograms are approaching it from above and below.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63</a:t>
            </a:fld>
            <a:endParaRPr lang="en-US"/>
          </a:p>
        </p:txBody>
      </p:sp>
    </p:spTree>
  </p:cSld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1: ‘Real bentos vary. Not every tonkatsu is exactly 500g. The natural distribution for that variation is the Gaussian.’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64</a:t>
            </a:fld>
            <a:endParaRPr lang="en-US"/>
          </a:p>
        </p:txBody>
      </p:sp>
    </p:spTree>
  </p:cSld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2: ‘The formula. Don't try to hold the whole thing at once — we'll name each piece now.’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65</a:t>
            </a:fld>
            <a:endParaRPr lang="en-US"/>
          </a:p>
        </p:txBody>
      </p:sp>
    </p:spTree>
  </p:cSld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3: ‘Four pieces. Mean, variance, the exponential (which does the peaking), and the normalizer (which makes the area equal 1 — ’required of any PDF).’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66</a:t>
            </a:fld>
            <a:endParaRPr lang="en-US"/>
          </a:p>
        </p:txBody>
      </p:sp>
    </p:spTree>
  </p:cSld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4: ‘Shape. Symmetric around μ. SHARPER (smaller σ) → TALLER peak. The 68-95-99.7 rule — most mass within 1, 2, 3 sigma.’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67</a:t>
            </a:fld>
            <a:endParaRPr lang="en-US"/>
          </a:p>
        </p:txBody>
      </p:sp>
    </p:spTree>
  </p:cSld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5: ‘Two Gaussians for Chibany. They overlap in the 380-470 range. Next slide: picture.’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68</a:t>
            </a:fld>
            <a:endParaRPr lang="en-US"/>
          </a:p>
        </p:txBody>
      </p:sp>
    </p:spTree>
  </p:cSld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Pause. Let them trace the curve and see the shaded bands. The peak height formula 1/√(2πσ²) ≈ 0.013 for σ=30 — visible at the top.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70</a:t>
            </a:fld>
            <a:endParaRPr lang="en-US"/>
          </a:p>
        </p:txBody>
      </p:sp>
    </p:spTree>
  </p:cSld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Key setup image for the continuous-Bayes worked example that follows. 450g sits squarely in the tonkatsu Gaussian, far in the right tail of hamburger. The next slide computes the densities.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72</a:t>
            </a:fld>
            <a:endParaRPr lang="en-US"/>
          </a:p>
        </p:txBody>
      </p:sp>
    </p:spTree>
  </p:cSld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1: ‘New observation: actual weight, 450g. Same Bayesian question.’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73</a:t>
            </a:fld>
            <a:endParaRPr lang="en-US"/>
          </a:p>
        </p:txBody>
      </p:sp>
    </p:spTree>
  </p:cSld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2: ‘Prior unchanged — still 0.7/0.3 on meal.’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74</a:t>
            </a:fld>
            <a:endParaRPr lang="en-US"/>
          </a:p>
        </p:txBody>
      </p:sp>
    </p:spTree>
  </p:cSld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3: ‘The work: compute each Gaussian density value. I'm showing the arithmetic for f_T: the normalizer coefficient ≈ 0.0133, the exponent is −(−50)²/1800 = −1.389, exp of that is 0.249, product ≈ 0.00332. f_H comes out to 0.00044 — much smaller because 450 is far from 350.’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75</a:t>
            </a:fld>
            <a:endParaRPr lang="en-US"/>
          </a:p>
        </p:txBody>
      </p:sp>
    </p:spTree>
  </p:cSld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4: ‘Multiply prior by likelihood. Sum for the evidence.’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76</a:t>
            </a:fld>
            <a:endParaRPr lang="en-US"/>
          </a:p>
        </p:txBody>
      </p:sp>
    </p:spTree>
  </p:cSld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5: ‘Divide. Posterior is 0.95/0.05.’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77</a:t>
            </a:fld>
            <a:endParaRPr lang="en-US"/>
          </a:p>
        </p:txBody>
      </p:sp>
    </p:spTree>
  </p:cSld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6: ‘Compare to Block 4 (heavy/light bucketing): 0.91. The continuous exact value moves belief further because it uses the precise weight, not just a bucket.’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78</a:t>
            </a:fld>
            <a:endParaRPr lang="en-US"/>
          </a:p>
        </p:txBody>
      </p:sp>
    </p:spTree>
  </p:cSld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Hard 10. Block 7 is the highest-stakes block of the session. Come back sharp. Double-check the tonk_hamb.png loaded correctly on the projector.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80</a:t>
            </a:fld>
            <a:endParaRPr lang="en-US"/>
          </a:p>
        </p:txBody>
      </p:sp>
    </p:spTree>
  </p:cSld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25 min. THE block of the session. Now with: (a) explicit motivation for inferring μ, (b) a derivation SKETCH (complete the square), (c) a real posterior-curve picture, (d) precision visualized, (e) N-observation generalization given its own build-up.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83</a:t>
            </a:fld>
            <a:endParaRPr lang="en-US"/>
          </a:p>
        </p:txBody>
      </p:sp>
    </p:spTree>
  </p:cSld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1: ‘Up to now, the question has been about today's meal. A discrete hypothesis.’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84</a:t>
            </a:fld>
            <a:endParaRPr lang="en-US"/>
          </a:p>
        </p:txBody>
      </p:sp>
    </p:spTree>
  </p:cSld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2: ‘But we wrote 500g as if we KNEW it. We don't really. This term is an unknown PARAMETER. Call it μ.’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85</a:t>
            </a:fld>
            <a:endParaRPr lang="en-US"/>
          </a:p>
        </p:txBody>
      </p:sp>
    </p:spTree>
  </p:cSld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3: ‘So now Bayesian inference is shifting: H = μ, a continuous parameter, not a discrete category. Why not just average the weights? Because Chibany has prior knowledge from past experience, and early in the semester they have very few data points. Averaging is what a frequentist would do and it discards the prior. ’Bayes keeps both.’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86</a:t>
            </a:fld>
            <a:endParaRPr lang="en-US"/>
          </a:p>
        </p:txBody>
      </p:sp>
    </p:spTree>
  </p:cSld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1: ‘Prior is a Gaussian over μ. Two hyperparameters: μ₀ and σ₀.’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87</a:t>
            </a:fld>
            <a:endParaRPr lang="en-US"/>
          </a:p>
        </p:txBody>
      </p:sp>
    </p:spTree>
  </p:cSld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2: ‘Chibany's best guess 500, uncertainty 20. Prior = N(500, 400).’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88</a:t>
            </a:fld>
            <a:endParaRPr lang="en-US"/>
          </a:p>
        </p:txBody>
      </p:sp>
    </p:spTree>
  </p:cSld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3: ‘THIS IS THE BIG MOVE. The density isn't over weights now. ’It's over the unknown parameter μ. Priors can live on parameters. In Week 4 we'll even put a prior on the PRIOR — hierarchical Bayes.’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89</a:t>
            </a:fld>
            <a:endParaRPr lang="en-US"/>
          </a:p>
        </p:txBody>
      </p:sp>
    </p:spTree>
  </p:cSld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1: ‘One observation. 510g. We pretend σ is known — only μ is unknown. Week 3 will relax this.’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90</a:t>
            </a:fld>
            <a:endParaRPr lang="en-US"/>
          </a:p>
        </p:txBody>
      </p:sp>
    </p:spTree>
  </p:cSld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2: ‘Likelihood is the Gaussian density evaluated at the ’observed weight, as a function of μ.’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91</a:t>
            </a:fld>
            <a:endParaRPr lang="en-US"/>
          </a:p>
        </p:txBody>
      </p:sp>
    </p:spTree>
  </p:cSld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3: ‘Here's the trick: when you treat the likelihood N(D|μ,σ²) as a function of μ for fixed D, it's STILL a Gaussian shape — peaked where μ=D. So we have two Gaussians in μ. Multiplying them is the Bayes step.’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92</a:t>
            </a:fld>
            <a:endParaRPr lang="en-US"/>
          </a:p>
        </p:txBody>
      </p:sp>
    </p:spTree>
  </p:cSld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1: ‘Multiply the two Gaussian densities. Normalizers are constants in μ — we absorb them into the final normalization later.’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93</a:t>
            </a:fld>
            <a:endParaRPr lang="en-US"/>
          </a:p>
        </p:txBody>
      </p:sp>
    </p:spTree>
  </p:cSld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2: ‘Expand the squared terms and combine. You get a quadratic in μ. Form: Aμ² − 2Bμ + constants.’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94</a:t>
            </a:fld>
            <a:endParaRPr lang="en-US"/>
          </a:p>
        </p:txBody>
      </p:sp>
    </p:spTree>
  </p:cSld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3: ‘Complete the square — just like in high school algebra. A quadratic in μ inside an exp is the kernel of a Gaussian. So the posterior IS Gaussian. Not magic — algebra.’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95</a:t>
            </a:fld>
            <a:endParaRPr lang="en-US"/>
          </a:p>
        </p:txBody>
      </p:sp>
    </p:spTree>
  </p:cSld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4: ‘The new μ and σ come from matching coefficients. A (coefficient of μ²) gives you 1/σ²_post. B/A (the minimum of the quadratic) gives you μ_post. Full derivation in T3 Ch 4 — read it.’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96</a:t>
            </a:fld>
            <a:endParaRPr lang="en-US"/>
          </a:p>
        </p:txBody>
      </p:sp>
    </p:spTree>
  </p:cSld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Pause. Two Gaussians, same mean, different widths. The sharp one is more precise — if you're that sharp, you're very sure, and in a Bayesian update your view gets more weight. Intuition for the precision-sum formula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98</a:t>
            </a:fld>
            <a:endParaRPr lang="en-US"/>
          </a:p>
        </p:txBody>
      </p:sp>
    </p:spTree>
  </p:cSld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1: ‘The formulas. Precisions add. Posterior mean is precision-weighted average.’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99</a:t>
            </a:fld>
            <a:endParaRPr lang="en-US"/>
          </a:p>
        </p:txBody>
      </p:sp>
    </p:spTree>
  </p:cSld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2: ‘The inputs.’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100</a:t>
            </a:fld>
            <a:endParaRPr lang="en-US"/>
          </a:p>
        </p:txBody>
      </p:sp>
    </p:spTree>
  </p:cSld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3: ‘Posterior variance. 1/400 + 1/900 combines on 3600. Gets you 13/3600, so σ²_post ≈ 277, σ_post ≈ 16.6. TIGHTER than either input. Combining information reduces uncertainty — that's the whole point of Bayesian updating.’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101</a:t>
            </a:fld>
            <a:endParaRPr lang="en-US"/>
          </a:p>
        </p:txBody>
      </p:sp>
    </p:spTree>
  </p:cSld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4: ‘Posterior mean ≈ 503.1. Moved from 500 toward 510 but mostly stayed near the prior. Because the prior was more precise (σ₀=20 vs data σ=30). The more precise source wins.’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102</a:t>
            </a:fld>
            <a:endParaRPr lang="en-US"/>
          </a:p>
        </p:txBody>
      </p:sp>
    </p:spTree>
  </p:cSld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payoff visual. Pause. Red prior, blue likelihood, yellow posterior. The posterior IS tighter than both inputs and lives between them — closer to the prior because the prior is tighter. This one picture replaces 20 minutes of algebra in students' memory.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104</a:t>
            </a:fld>
            <a:endParaRPr lang="en-US"/>
          </a:p>
        </p:txBody>
      </p:sp>
    </p:spTree>
  </p:cSld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1: ‘Each independent observation adds precision 1/σ². Two observations = 2/σ² added. N observations = N/σ². This is the key property of conjugate updates.’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105</a:t>
            </a:fld>
            <a:endParaRPr lang="en-US"/>
          </a:p>
        </p:txBody>
      </p:sp>
    </p:spTree>
  </p:cSld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2: ‘The general formulas. Σ_i D_i is the sum of observed weights.’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106</a:t>
            </a:fld>
            <a:endParaRPr lang="en-US"/>
          </a:p>
        </p:txBody>
      </p:sp>
    </p:spTree>
  </p:cSld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3: ‘Asymptotic behavior: as N grows, the prior term becomes negligible and the posterior mean approaches the sample mean. You recover the frequentist answer in the limit of much data — but with a Bayesian path there, and a well-calibrated posterior variance ’along the way. This formula IS the skeleton of Week 3's conjugate updates and Week 4's hierarchical models.’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107</a:t>
            </a:fld>
            <a:endParaRPr lang="en-US"/>
          </a:p>
        </p:txBody>
      </p:sp>
    </p:spTree>
  </p:cSld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1: ‘Zoom out. Three flavors of Bayes today. Same rule, progressively more general objects.’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108</a:t>
            </a:fld>
            <a:endParaRPr lang="en-US"/>
          </a:p>
        </p:txBody>
      </p:sp>
    </p:spTree>
  </p:cSld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2: ‘Named: conjugacy. Today was Gaussian-Gaussian. Week 3 we do it on the discrete side (Beta-Binomial, Dirichlet-Multinomial). Beta × Binomial gives Beta — try to see what's on your tongue re Bayesian inference on a coin's p.’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109</a:t>
            </a:fld>
            <a:endParaRPr lang="en-US"/>
          </a:p>
        </p:txBody>
      </p:sp>
    </p:spTree>
  </p:cSld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10 min tight.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112</a:t>
            </a:fld>
            <a:endParaRPr lang="en-US"/>
          </a:p>
        </p:txBody>
      </p:sp>
    </p:spTree>
  </p:cSld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~2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113</a:t>
            </a:fld>
            <a:endParaRPr lang="en-US"/>
          </a:p>
        </p:txBody>
      </p:sp>
    </p:spTree>
  </p:cSld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~2 min. Email the PDF.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114</a:t>
            </a:fld>
            <a:endParaRPr lang="en-US"/>
          </a:p>
        </p:txBody>
      </p:sp>
    </p:spTree>
  </p:cSld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~6 min. Signups on the board. Photograph; transcribe into readings_map.yml.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115</a:t>
            </a:fld>
            <a:endParaRPr lang="en-US"/>
          </a:p>
        </p:txBody>
      </p:sp>
    </p:spTree>
  </p:cSld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10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118</a:t>
            </a:fld>
            <a:endParaRPr lang="en-US"/>
          </a:p>
        </p:txBody>
      </p:sp>
    </p:spTree>
  </p:cSld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~3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119</a:t>
            </a:fld>
            <a:endParaRPr lang="en-US"/>
          </a:p>
        </p:txBody>
      </p:sp>
    </p:spTree>
  </p:cSld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~4 min. T3 Ch 1 is added so Chibany's backstory is reinforced; T3 Ch 4 derives what we sketched in Block 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120</a:t>
            </a:fld>
            <a:endParaRPr lang="en-US"/>
          </a:p>
        </p:txBody>
      </p:sp>
    </p:spTree>
  </p:cSld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~3 min. Close warm.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121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Relationship Id="rId2" Type="http://schemas.openxmlformats.org/officeDocument/2006/relationships/notesSlide" Target="../notesSlides/notesSlide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Relationship Id="rId2" Type="http://schemas.openxmlformats.org/officeDocument/2006/relationships/notesSlide" Target="../notesSlides/notesSlide8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Relationship Id="rId2" Type="http://schemas.openxmlformats.org/officeDocument/2006/relationships/notesSlide" Target="../notesSlides/notesSlide13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4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5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6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Relationship Id="rId2" Type="http://schemas.openxmlformats.org/officeDocument/2006/relationships/notesSlide" Target="../notesSlides/notesSlide17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8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9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0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1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3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4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5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6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7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8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9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0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1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Relationship Id="rId2" Type="http://schemas.openxmlformats.org/officeDocument/2006/relationships/notesSlide" Target="../notesSlides/notesSlide32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3.xml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4.xml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5.xml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6.xml" 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7.xml" /></Relationships>
</file>

<file path=ppt/slides/_rels/slide4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8.xml" /></Relationships>
</file>

<file path=ppt/slides/_rels/slide4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9.xml" /></Relationships>
</file>

<file path=ppt/slides/_rels/slide5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0.xml" /></Relationships>
</file>

<file path=ppt/slides/_rels/slide5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1.xml" /></Relationships>
</file>

<file path=ppt/slides/_rels/slide5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2.xml" /></Relationships>
</file>

<file path=ppt/slides/_rels/slide5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5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3.xml" /></Relationships>
</file>

<file path=ppt/slides/_rels/slide5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6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5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Relationship Id="rId2" Type="http://schemas.openxmlformats.org/officeDocument/2006/relationships/notesSlide" Target="../notesSlides/notesSlide44.xml" /></Relationships>
</file>

<file path=ppt/slides/_rels/slide5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5.xml" /></Relationships>
</file>

<file path=ppt/slides/_rels/slide5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6.xml" /></Relationships>
</file>

<file path=ppt/slides/_rels/slide6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7.xml" /></Relationships>
</file>

<file path=ppt/slides/_rels/slide6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8.xml" /></Relationships>
</file>

<file path=ppt/slides/_rels/slide6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6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9.xml" /></Relationships>
</file>

<file path=ppt/slides/_rels/slide6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0.xml" /></Relationships>
</file>

<file path=ppt/slides/_rels/slide6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1.xml" /></Relationships>
</file>

<file path=ppt/slides/_rels/slide6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2.xml" /></Relationships>
</file>

<file path=ppt/slides/_rels/slide6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3.xml" /></Relationships>
</file>

<file path=ppt/slides/_rels/slide6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4.xml" /></Relationships>
</file>

<file path=ppt/slides/_rels/slide6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7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5.xml" /></Relationships>
</file>

<file path=ppt/slides/_rels/slide7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7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6.xml" /></Relationships>
</file>

<file path=ppt/slides/_rels/slide7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7.xml" /></Relationships>
</file>

<file path=ppt/slides/_rels/slide7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8.xml" /></Relationships>
</file>

<file path=ppt/slides/_rels/slide7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9.xml" /></Relationships>
</file>

<file path=ppt/slides/_rels/slide7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0.xml" /></Relationships>
</file>

<file path=ppt/slides/_rels/slide7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1.xml" /></Relationships>
</file>

<file path=ppt/slides/_rels/slide7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2.xml" /></Relationships>
</file>

<file path=ppt/slides/_rels/slide79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80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Relationship Id="rId2" Type="http://schemas.openxmlformats.org/officeDocument/2006/relationships/notesSlide" Target="../notesSlides/notesSlide63.xml" /></Relationships>
</file>

<file path=ppt/slides/_rels/slide8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2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8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Relationship Id="rId2" Type="http://schemas.openxmlformats.org/officeDocument/2006/relationships/notesSlide" Target="../notesSlides/notesSlide64.xml" /></Relationships>
</file>

<file path=ppt/slides/_rels/slide8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5.xml" /></Relationships>
</file>

<file path=ppt/slides/_rels/slide8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6.xml" /></Relationships>
</file>

<file path=ppt/slides/_rels/slide8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7.xml" /></Relationships>
</file>

<file path=ppt/slides/_rels/slide8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8.xml" /></Relationships>
</file>

<file path=ppt/slides/_rels/slide8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9.xml" /></Relationships>
</file>

<file path=ppt/slides/_rels/slide8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0.xml" /></Relationships>
</file>

<file path=ppt/slides/_rels/slide9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1.xml" /></Relationships>
</file>

<file path=ppt/slides/_rels/slide9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2.xml" /></Relationships>
</file>

<file path=ppt/slides/_rels/slide9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3.xml" /></Relationships>
</file>

<file path=ppt/slides/_rels/slide9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4.xml" /></Relationships>
</file>

<file path=ppt/slides/_rels/slide9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5.xml" /></Relationships>
</file>

<file path=ppt/slides/_rels/slide9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6.xml" /></Relationships>
</file>

<file path=ppt/slides/_rels/slide9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7.xml" /></Relationships>
</file>

<file path=ppt/slides/_rels/slide9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9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8.xml" /></Relationships>
</file>

<file path=ppt/slides/_rels/slide9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9.xml" /></Relationships>
</file>

<file path=ppt/slides/_rels/slide10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0.xml" /></Relationships>
</file>

<file path=ppt/slides/_rels/slide10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1.xml" /></Relationships>
</file>

<file path=ppt/slides/_rels/slide10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2.xml" /></Relationships>
</file>

<file path=ppt/slides/_rels/slide10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10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3.xml" /></Relationships>
</file>

<file path=ppt/slides/_rels/slide10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4.xml" /></Relationships>
</file>

<file path=ppt/slides/_rels/slide10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5.xml" /></Relationships>
</file>

<file path=ppt/slides/_rels/slide10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6.xml" /></Relationships>
</file>

<file path=ppt/slides/_rels/slide10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7.xml" /></Relationships>
</file>

<file path=ppt/slides/_rels/slide10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8.xml" /></Relationships>
</file>

<file path=ppt/slides/_rels/slide1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Relationship Id="rId2" Type="http://schemas.openxmlformats.org/officeDocument/2006/relationships/notesSlide" Target="../notesSlides/notesSlide89.xml" /></Relationships>
</file>

<file path=ppt/slides/_rels/slide1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0.xml" /></Relationships>
</file>

<file path=ppt/slides/_rels/slide1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1.xml" /></Relationships>
</file>

<file path=ppt/slides/_rels/slide1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2.xml" /></Relationships>
</file>

<file path=ppt/slides/_rels/slide1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Relationship Id="rId2" Type="http://schemas.openxmlformats.org/officeDocument/2006/relationships/notesSlide" Target="../notesSlides/notesSlide93.xml" /></Relationships>
</file>

<file path=ppt/slides/_rels/slide1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4.xml" /></Relationships>
</file>

<file path=ppt/slides/_rels/slide1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5.xml" /></Relationships>
</file>

<file path=ppt/slides/_rels/slide1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6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Week 2 — Levels of Analysis + Bayes Continued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Friday, April 24, 2026</a:t>
            </a:r>
            <a:br/>
            <a:br/>
            <a:r>
              <a:rPr/>
              <a:t>Prof. Joseph Austerweil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Welcome + meet Chibany 0:00</a:t>
            </a:r>
          </a:p>
          <a:p>
            <a:pPr lvl="0"/>
            <a:r>
              <a:rPr/>
              <a:t>Marr’s three levels 0:08</a:t>
            </a:r>
          </a:p>
          <a:p>
            <a:pPr lvl="0"/>
            <a:r>
              <a:rPr/>
              <a:t>Notation lock-in 0:15</a:t>
            </a:r>
          </a:p>
          <a:p>
            <a:pPr lvl="0"/>
            <a:r>
              <a:rPr/>
              <a:t>Joint + marginalization 0:18</a:t>
            </a:r>
          </a:p>
          <a:p>
            <a:pPr lvl="0"/>
            <a:r>
              <a:rPr/>
              <a:t>Expected value + discrete 0:30</a:t>
            </a:r>
          </a:p>
          <a:p>
            <a:pPr lvl="0"/>
            <a:r>
              <a:rPr/>
              <a:t>Continuous prob + Gaussian 0:45</a:t>
            </a:r>
          </a:p>
          <a:p>
            <a:pPr lvl="0"/>
            <a:r>
              <a:rPr/>
              <a:t>Break 1:05</a:t>
            </a:r>
          </a:p>
          <a:p>
            <a:pPr lvl="0"/>
            <a:r>
              <a:rPr/>
              <a:t>Gaussian-Gaussian update 1:15</a:t>
            </a:r>
          </a:p>
          <a:p>
            <a:pPr lvl="0"/>
            <a:r>
              <a:rPr/>
              <a:t>Paper presentations 1:40</a:t>
            </a:r>
          </a:p>
          <a:p>
            <a:pPr lvl="0"/>
            <a:r>
              <a:rPr/>
              <a:t>Admin + Week 3 1:50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Welcome back + meet Chibany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Two changes since Week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Paper presentations are in.</a:t>
            </a:r>
          </a:p>
          <a:p>
            <a:pPr lvl="0" indent="0" marL="0">
              <a:buNone/>
            </a:pPr>
            <a:r>
              <a:rPr/>
              <a:t>Each of you presents one reading once. More at 1:40.</a:t>
            </a:r>
          </a:p>
          <a:p>
            <a:pPr lvl="0" indent="0" marL="0">
              <a:buNone/>
            </a:pPr>
            <a:r>
              <a:rPr b="1"/>
              <a:t>Reflections: 6 of 12, not 8 of 13.</a:t>
            </a:r>
          </a:p>
          <a:p>
            <a:pPr lvl="0" indent="0" marL="0">
              <a:buNone/>
            </a:pPr>
            <a:r>
              <a:rPr/>
              <a:t>Class is now 2 h × 12 weeks. More at 1:50.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Meet Chibany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Chibany is a probability-minded professor at our school.</a:t>
            </a:r>
          </a:p>
          <a:p>
            <a:pPr lvl="0" indent="0" marL="0">
              <a:buNone/>
            </a:pPr>
            <a:r>
              <a:rPr/>
              <a:t>Every day, students bring them bentos.</a:t>
            </a:r>
          </a:p>
          <a:p>
            <a:pPr lvl="0" indent="0" marL="0">
              <a:buNone/>
            </a:pPr>
            <a:r>
              <a:rPr/>
              <a:t>Chibany is the protagonist of our textbook,</a:t>
            </a:r>
          </a:p>
          <a:p>
            <a:pPr lvl="0" indent="0" marL="0">
              <a:buNone/>
            </a:pPr>
            <a:r>
              <a:rPr/>
              <a:t>“A Narrative Introduction to Probability” — Tutorial 3 Ch 1.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Meet Chibany (2/4)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Chibany is a probability-minded professor at our school.</a:t>
            </a:r>
          </a:p>
          <a:p>
            <a:pPr lvl="0" indent="0" marL="0">
              <a:buNone/>
            </a:pPr>
            <a:r>
              <a:rPr/>
              <a:t>Every day, students bring them bentos.</a:t>
            </a:r>
          </a:p>
          <a:p>
            <a:pPr lvl="0" indent="0" marL="0">
              <a:buNone/>
            </a:pPr>
            <a:r>
              <a:rPr/>
              <a:t>Chibany is the protagonist of our textbook,</a:t>
            </a:r>
          </a:p>
          <a:p>
            <a:pPr lvl="0" indent="0" marL="0">
              <a:buNone/>
            </a:pPr>
            <a:r>
              <a:rPr/>
              <a:t>“A Narrative Introduction to Probability” — Tutorial 3 Ch 1.</a:t>
            </a:r>
          </a:p>
          <a:p>
            <a:pPr lvl="0" indent="0" marL="0">
              <a:buNone/>
            </a:pPr>
            <a:r>
              <a:rPr b="1"/>
              <a:t>There’s a catch: the bento boxes are OPAQUE.</a:t>
            </a:r>
          </a:p>
          <a:p>
            <a:pPr lvl="0" indent="0" marL="0">
              <a:buNone/>
            </a:pPr>
            <a:r>
              <a:rPr/>
              <a:t>Chibany can’t peek. They want to know the meal — without opening.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Meet Chibany (3/4)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Chibany is a probability-minded professor at our school.</a:t>
            </a:r>
          </a:p>
          <a:p>
            <a:pPr lvl="0" indent="0" marL="0">
              <a:buNone/>
            </a:pPr>
            <a:r>
              <a:rPr/>
              <a:t>Every day, students bring them bentos.</a:t>
            </a:r>
          </a:p>
          <a:p>
            <a:pPr lvl="0" indent="0" marL="0">
              <a:buNone/>
            </a:pPr>
            <a:r>
              <a:rPr/>
              <a:t>Chibany is the protagonist of our textbook,</a:t>
            </a:r>
          </a:p>
          <a:p>
            <a:pPr lvl="0" indent="0" marL="0">
              <a:buNone/>
            </a:pPr>
            <a:r>
              <a:rPr/>
              <a:t>“A Narrative Introduction to Probability” — Tutorial 3 Ch 1.</a:t>
            </a:r>
          </a:p>
          <a:p>
            <a:pPr lvl="0" indent="0" marL="0">
              <a:buNone/>
            </a:pPr>
            <a:r>
              <a:rPr b="1"/>
              <a:t>There’s a catch: the bento boxes are OPAQUE.</a:t>
            </a:r>
          </a:p>
          <a:p>
            <a:pPr lvl="0" indent="0" marL="0">
              <a:buNone/>
            </a:pPr>
            <a:r>
              <a:rPr/>
              <a:t>Chibany can’t peek. They want to know the meal — without opening.</a:t>
            </a:r>
          </a:p>
          <a:p>
            <a:pPr lvl="0" indent="0" marL="0">
              <a:buNone/>
            </a:pPr>
            <a:r>
              <a:rPr b="1"/>
              <a:t>What Chibany knows (from past semesters):</a:t>
            </a:r>
          </a:p>
          <a:p>
            <a:pPr lvl="0" indent="0" marL="0">
              <a:buNone/>
            </a:pPr>
            <a:r>
              <a:rPr/>
              <a:t>• Tonkatsu bentos weigh about 500 g</a:t>
            </a:r>
          </a:p>
          <a:p>
            <a:pPr lvl="0" indent="0" marL="0">
              <a:buNone/>
            </a:pPr>
            <a:r>
              <a:rPr/>
              <a:t>• Hamburger bentos weigh about 350 g</a:t>
            </a:r>
          </a:p>
          <a:p>
            <a:pPr lvl="0" indent="0" marL="0">
              <a:buNone/>
            </a:pPr>
            <a:r>
              <a:rPr/>
              <a:t>• Students bring tonkatsu about 70% of the time</a:t>
            </a:r>
          </a:p>
          <a:p>
            <a:pPr lvl="0" indent="0" marL="0">
              <a:buNone/>
            </a:pPr>
            <a:r>
              <a:rPr/>
              <a:t>(overheard two students chatting last week)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Meet Chibany (4/4)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Chibany is a probability-minded professor at our school.</a:t>
            </a:r>
          </a:p>
          <a:p>
            <a:pPr lvl="0" indent="0" marL="0">
              <a:buNone/>
            </a:pPr>
            <a:r>
              <a:rPr/>
              <a:t>Every day, students bring them bentos.</a:t>
            </a:r>
          </a:p>
          <a:p>
            <a:pPr lvl="0" indent="0" marL="0">
              <a:buNone/>
            </a:pPr>
            <a:r>
              <a:rPr/>
              <a:t>Chibany is the protagonist of our textbook,</a:t>
            </a:r>
          </a:p>
          <a:p>
            <a:pPr lvl="0" indent="0" marL="0">
              <a:buNone/>
            </a:pPr>
            <a:r>
              <a:rPr/>
              <a:t>“A Narrative Introduction to Probability” — Tutorial 3 Ch 1.</a:t>
            </a:r>
          </a:p>
          <a:p>
            <a:pPr lvl="0" indent="0" marL="0">
              <a:buNone/>
            </a:pPr>
            <a:r>
              <a:rPr b="1"/>
              <a:t>There’s a catch: the bento boxes are OPAQUE.</a:t>
            </a:r>
          </a:p>
          <a:p>
            <a:pPr lvl="0" indent="0" marL="0">
              <a:buNone/>
            </a:pPr>
            <a:r>
              <a:rPr/>
              <a:t>Chibany can’t peek. They want to know the meal — without opening.</a:t>
            </a:r>
          </a:p>
          <a:p>
            <a:pPr lvl="0" indent="0" marL="0">
              <a:buNone/>
            </a:pPr>
            <a:r>
              <a:rPr b="1"/>
              <a:t>What Chibany knows (from past semesters):</a:t>
            </a:r>
          </a:p>
          <a:p>
            <a:pPr lvl="0" indent="0" marL="0">
              <a:buNone/>
            </a:pPr>
            <a:r>
              <a:rPr/>
              <a:t>• Tonkatsu bentos weigh about 500 g</a:t>
            </a:r>
          </a:p>
          <a:p>
            <a:pPr lvl="0" indent="0" marL="0">
              <a:buNone/>
            </a:pPr>
            <a:r>
              <a:rPr/>
              <a:t>• Hamburger bentos weigh about 350 g</a:t>
            </a:r>
          </a:p>
          <a:p>
            <a:pPr lvl="0" indent="0" marL="0">
              <a:buNone/>
            </a:pPr>
            <a:r>
              <a:rPr/>
              <a:t>• Students bring tonkatsu about 70% of the time</a:t>
            </a:r>
          </a:p>
          <a:p>
            <a:pPr lvl="0" indent="0" marL="0">
              <a:buNone/>
            </a:pPr>
            <a:r>
              <a:rPr/>
              <a:t>(overheard two students chatting last week)</a:t>
            </a:r>
          </a:p>
          <a:p>
            <a:pPr lvl="0" indent="0" marL="0">
              <a:buNone/>
            </a:pPr>
            <a:r>
              <a:rPr b="1"/>
              <a:t>Chibany’s plan: WEIGH THE BENTO.</a:t>
            </a:r>
          </a:p>
          <a:p>
            <a:pPr lvl="0" indent="0" marL="0">
              <a:buNone/>
            </a:pPr>
            <a:r>
              <a:rPr i="1"/>
              <a:t>“If the weight doesn’t tell me for sure, it’ll at least UPDATE</a:t>
            </a:r>
          </a:p>
          <a:p>
            <a:pPr lvl="0" indent="0" marL="0">
              <a:buNone/>
            </a:pPr>
            <a:r>
              <a:rPr/>
              <a:t>* my belief about today’s meal.”*</a:t>
            </a:r>
          </a:p>
          <a:p>
            <a:pPr lvl="0" indent="0" marL="0">
              <a:buNone/>
            </a:pPr>
            <a:r>
              <a:rPr/>
              <a:t>That update is Bayes’ rule. Same rule as last week — new anchor.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Welcome + meet Chibany 0:00</a:t>
            </a:r>
          </a:p>
          <a:p>
            <a:pPr lvl="0"/>
            <a:r>
              <a:rPr/>
              <a:t>Marr’s three levels 0:08</a:t>
            </a:r>
          </a:p>
          <a:p>
            <a:pPr lvl="0"/>
            <a:r>
              <a:rPr/>
              <a:t>Notation lock-in 0:15</a:t>
            </a:r>
          </a:p>
          <a:p>
            <a:pPr lvl="0"/>
            <a:r>
              <a:rPr/>
              <a:t>Joint + marginalization 0:18</a:t>
            </a:r>
          </a:p>
          <a:p>
            <a:pPr lvl="0"/>
            <a:r>
              <a:rPr/>
              <a:t>Expected value + discrete 0:30</a:t>
            </a:r>
          </a:p>
          <a:p>
            <a:pPr lvl="0"/>
            <a:r>
              <a:rPr/>
              <a:t>Continuous prob + Gaussian 0:45</a:t>
            </a:r>
          </a:p>
          <a:p>
            <a:pPr lvl="0"/>
            <a:r>
              <a:rPr/>
              <a:t>Break 1:05</a:t>
            </a:r>
          </a:p>
          <a:p>
            <a:pPr lvl="0"/>
            <a:r>
              <a:rPr/>
              <a:t>Gaussian-Gaussian update 1:15</a:t>
            </a:r>
          </a:p>
          <a:p>
            <a:pPr lvl="0"/>
            <a:r>
              <a:rPr/>
              <a:t>Paper presentations 1:40</a:t>
            </a:r>
          </a:p>
          <a:p>
            <a:pPr lvl="0"/>
            <a:r>
              <a:rPr/>
              <a:t>Admin + Week 3 1:50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Marr’s three levels — frame for the whole course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Marr L1 — what problem is being solved?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For Chibany: Compute P(meal | weight).</a:t>
            </a:r>
          </a:p>
          <a:p>
            <a:pPr lvl="0" indent="0" marL="0">
              <a:buNone/>
            </a:pPr>
            <a:r>
              <a:rPr/>
              <a:t>L1 specifies the CORRECT computation — not how to do it,</a:t>
            </a:r>
          </a:p>
          <a:p>
            <a:pPr lvl="0" indent="0" marL="0">
              <a:buNone/>
            </a:pPr>
            <a:r>
              <a:rPr/>
              <a:t>not how Chibany’s brain actually does it.</a:t>
            </a:r>
          </a:p>
          <a:p>
            <a:pPr lvl="0" indent="0" marL="0">
              <a:buNone/>
            </a:pPr>
            <a:r>
              <a:rPr b="1"/>
              <a:t>Different goal ⇒ different L1 ⇒ different normative answer.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Marr L2 — what algorithm?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Same L1 — multiple algorithms:</a:t>
            </a:r>
          </a:p>
          <a:p>
            <a:pPr lvl="0" indent="0" marL="0">
              <a:buNone/>
            </a:pPr>
            <a:r>
              <a:rPr/>
              <a:t>• Enumerate (today: 2 hypotheses, sum-and-normalize)</a:t>
            </a:r>
          </a:p>
          <a:p>
            <a:pPr lvl="0" indent="0" marL="0">
              <a:buNone/>
            </a:pPr>
            <a:r>
              <a:rPr/>
              <a:t>• Sample (Week 7 Monte Carlo)</a:t>
            </a:r>
          </a:p>
          <a:p>
            <a:pPr lvl="0" indent="0" marL="0">
              <a:buNone/>
            </a:pPr>
            <a:r>
              <a:rPr/>
              <a:t>• “Always guess tonkatsu” — an algorithm. A BAD one.</a:t>
            </a:r>
          </a:p>
          <a:p>
            <a:pPr lvl="0" indent="0" marL="0">
              <a:buNone/>
            </a:pPr>
            <a:r>
              <a:rPr b="1"/>
              <a:t>Bayes is L1. Algorithms are L2.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Marr L3 — what implementation?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Chibany: neurons, experience, gut feeling.</a:t>
            </a:r>
          </a:p>
          <a:p>
            <a:pPr lvl="0" indent="0" marL="0">
              <a:buNone/>
            </a:pPr>
            <a:r>
              <a:rPr/>
              <a:t>Our simulation: JAX arrays, floating-point math, Colab.</a:t>
            </a:r>
          </a:p>
          <a:p>
            <a:pPr lvl="0" indent="0" marL="0">
              <a:buNone/>
            </a:pPr>
            <a:r>
              <a:rPr b="1"/>
              <a:t>Three levels — mostly independent.</a:t>
            </a:r>
          </a:p>
          <a:p>
            <a:pPr lvl="0" indent="0" marL="0">
              <a:buNone/>
            </a:pPr>
            <a:r>
              <a:rPr/>
              <a:t>Right L1 + wrong L2 → systematic human biases.</a:t>
            </a:r>
          </a:p>
          <a:p>
            <a:pPr lvl="0" indent="0" marL="0">
              <a:buNone/>
            </a:pPr>
            <a:r>
              <a:rPr i="1"/>
              <a:t>(Full L3 treatment: Week 11, Deep NNs.)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Check-in — the cab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Last week: witness says “blue”; 15% blue cabs;</a:t>
            </a:r>
          </a:p>
          <a:p>
            <a:pPr lvl="0" indent="0" marL="0">
              <a:buNone/>
            </a:pPr>
            <a:r>
              <a:rPr/>
              <a:t>witness accurate 80%. Most of you guessed ~80%.</a:t>
            </a:r>
          </a:p>
          <a:p>
            <a:pPr lvl="0" indent="0" marL="0">
              <a:buNone/>
            </a:pPr>
            <a:r>
              <a:rPr b="1"/>
              <a:t>At which level was the mistake?</a:t>
            </a:r>
          </a:p>
          <a:p>
            <a:pPr lvl="0" indent="0" marL="0">
              <a:buNone/>
            </a:pPr>
            <a:r>
              <a:rPr i="1"/>
              <a:t>Target: L1 = P(blue | report). Actual L1 answer ≈ 0.41.</a:t>
            </a:r>
          </a:p>
          <a:p>
            <a:pPr lvl="0" indent="0" marL="0">
              <a:buNone/>
            </a:pPr>
            <a:r>
              <a:rPr i="1"/>
              <a:t>80% is a wrong-L2 claim (ignore the base rate).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Welcome + meet Chibany 0:00</a:t>
            </a:r>
          </a:p>
          <a:p>
            <a:pPr lvl="0"/>
            <a:r>
              <a:rPr/>
              <a:t>Marr’s three levels 0:08</a:t>
            </a:r>
          </a:p>
          <a:p>
            <a:pPr lvl="0"/>
            <a:r>
              <a:rPr/>
              <a:t>Notation lock-in 0:15</a:t>
            </a:r>
          </a:p>
          <a:p>
            <a:pPr lvl="0"/>
            <a:r>
              <a:rPr/>
              <a:t>Joint + marginalization 0:18</a:t>
            </a:r>
          </a:p>
          <a:p>
            <a:pPr lvl="0"/>
            <a:r>
              <a:rPr/>
              <a:t>Expected value + discrete 0:30</a:t>
            </a:r>
          </a:p>
          <a:p>
            <a:pPr lvl="0"/>
            <a:r>
              <a:rPr/>
              <a:t>Continuous prob + Gaussian 0:45</a:t>
            </a:r>
          </a:p>
          <a:p>
            <a:pPr lvl="0"/>
            <a:r>
              <a:rPr/>
              <a:t>Break 1:05</a:t>
            </a:r>
          </a:p>
          <a:p>
            <a:pPr lvl="0"/>
            <a:r>
              <a:rPr/>
              <a:t>Gaussian-Gaussian update 1:15</a:t>
            </a:r>
          </a:p>
          <a:p>
            <a:pPr lvl="0"/>
            <a:r>
              <a:rPr/>
              <a:t>Paper presentations 1:40</a:t>
            </a:r>
          </a:p>
          <a:p>
            <a:pPr lvl="0"/>
            <a:r>
              <a:rPr/>
              <a:t>Admin + Week 3 1:50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Notation lock-in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Notation — one rule, starting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From today:</a:t>
            </a:r>
          </a:p>
          <a:p>
            <a:pPr lvl="0" indent="0" marL="0">
              <a:buNone/>
            </a:pPr>
            <a:r>
              <a:rPr b="1"/>
              <a:t>H = hypothesis (hidden — what we want to know)</a:t>
            </a:r>
          </a:p>
          <a:p>
            <a:pPr lvl="0" indent="0" marL="0">
              <a:buNone/>
            </a:pPr>
            <a:r>
              <a:rPr b="1"/>
              <a:t>D = data (observed — what we see)</a:t>
            </a:r>
          </a:p>
          <a:p>
            <a:pPr lvl="0" indent="0" marL="0">
              <a:buNone/>
            </a:pPr>
            <a:r>
              <a:rPr/>
              <a:t>For Chibany: H = meal, D = weight.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Notation — one rule, starting today (2/3)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From today:</a:t>
            </a:r>
          </a:p>
          <a:p>
            <a:pPr lvl="0" indent="0" marL="0">
              <a:buNone/>
            </a:pPr>
            <a:r>
              <a:rPr b="1"/>
              <a:t>H = hypothesis (hidden — what we want to know)</a:t>
            </a:r>
          </a:p>
          <a:p>
            <a:pPr lvl="0" indent="0" marL="0">
              <a:buNone/>
            </a:pPr>
            <a:r>
              <a:rPr b="1"/>
              <a:t>D = data (observed — what we see)</a:t>
            </a:r>
          </a:p>
          <a:p>
            <a:pPr lvl="0" indent="0" marL="0">
              <a:buNone/>
            </a:pPr>
            <a:r>
              <a:rPr/>
              <a:t>For Chibany: H = meal, D = weight.</a:t>
            </a:r>
          </a:p>
          <a:p>
            <a:pPr lvl="0" indent="0" marL="0">
              <a:buNone/>
            </a:pPr>
            <a:r>
              <a:rPr b="1"/>
              <a:t>P(H = h | D = d) = P(D = d | H = h) · P(H = h) / P(D = d)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Notation — one rule, starting today (3/3)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From today:</a:t>
            </a:r>
          </a:p>
          <a:p>
            <a:pPr lvl="0" indent="0" marL="0">
              <a:buNone/>
            </a:pPr>
            <a:r>
              <a:rPr b="1"/>
              <a:t>H = hypothesis (hidden — what we want to know)</a:t>
            </a:r>
          </a:p>
          <a:p>
            <a:pPr lvl="0" indent="0" marL="0">
              <a:buNone/>
            </a:pPr>
            <a:r>
              <a:rPr b="1"/>
              <a:t>D = data (observed — what we see)</a:t>
            </a:r>
          </a:p>
          <a:p>
            <a:pPr lvl="0" indent="0" marL="0">
              <a:buNone/>
            </a:pPr>
            <a:r>
              <a:rPr/>
              <a:t>For Chibany: H = meal, D = weight.</a:t>
            </a:r>
          </a:p>
          <a:p>
            <a:pPr lvl="0" indent="0" marL="0">
              <a:buNone/>
            </a:pPr>
            <a:r>
              <a:rPr b="1"/>
              <a:t>P(H = h | D = d) = P(D = d | H = h) · P(H = h) / P(D = d)</a:t>
            </a:r>
          </a:p>
          <a:p>
            <a:pPr lvl="0" indent="0" marL="0">
              <a:buNone/>
            </a:pPr>
            <a:r>
              <a:rPr/>
              <a:t>posterior = likelihood · prior / evidence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Welcome + meet Chibany 0:00</a:t>
            </a:r>
          </a:p>
          <a:p>
            <a:pPr lvl="0"/>
            <a:r>
              <a:rPr/>
              <a:t>Marr’s three levels 0:08</a:t>
            </a:r>
          </a:p>
          <a:p>
            <a:pPr lvl="0"/>
            <a:r>
              <a:rPr/>
              <a:t>Notation lock-in 0:15</a:t>
            </a:r>
          </a:p>
          <a:p>
            <a:pPr lvl="0"/>
            <a:r>
              <a:rPr/>
              <a:t>Joint + marginalization 0:18</a:t>
            </a:r>
          </a:p>
          <a:p>
            <a:pPr lvl="0"/>
            <a:r>
              <a:rPr/>
              <a:t>Expected value + discrete 0:30</a:t>
            </a:r>
          </a:p>
          <a:p>
            <a:pPr lvl="0"/>
            <a:r>
              <a:rPr/>
              <a:t>Continuous prob + Gaussian 0:45</a:t>
            </a:r>
          </a:p>
          <a:p>
            <a:pPr lvl="0"/>
            <a:r>
              <a:rPr/>
              <a:t>Break 1:05</a:t>
            </a:r>
          </a:p>
          <a:p>
            <a:pPr lvl="0"/>
            <a:r>
              <a:rPr/>
              <a:t>Gaussian-Gaussian update 1:15</a:t>
            </a:r>
          </a:p>
          <a:p>
            <a:pPr lvl="0"/>
            <a:r>
              <a:rPr/>
              <a:t>Paper presentations 1:40</a:t>
            </a:r>
          </a:p>
          <a:p>
            <a:pPr lvl="0"/>
            <a:r>
              <a:rPr/>
              <a:t>Admin + Week 3 1:50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Joint + marginalization — Chibany-style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Last week’s sick-friend problem, in H/D notation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Last week: smoker friend, cough heard, three hypotheses.</a:t>
            </a:r>
          </a:p>
          <a:p>
            <a:pPr lvl="0" indent="0" marL="0">
              <a:buNone/>
            </a:pPr>
            <a:r>
              <a:rPr/>
              <a:t>In the new notation:</a:t>
            </a:r>
          </a:p>
          <a:p>
            <a:pPr lvl="0" indent="0" marL="0">
              <a:buNone/>
            </a:pPr>
            <a:r>
              <a:rPr/>
              <a:t>H ∈ { cold, stomach virus, lung cancer }</a:t>
            </a:r>
          </a:p>
          <a:p>
            <a:pPr lvl="0" indent="0" marL="0">
              <a:buNone/>
            </a:pPr>
            <a:r>
              <a:rPr/>
              <a:t>D = cough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Last week’s sick-friend problem, in H/D notation (2/3)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Last week: smoker friend, cough heard, three hypotheses.</a:t>
            </a:r>
          </a:p>
          <a:p>
            <a:pPr lvl="0" indent="0" marL="0">
              <a:buNone/>
            </a:pPr>
            <a:r>
              <a:rPr/>
              <a:t>In the new notation:</a:t>
            </a:r>
          </a:p>
          <a:p>
            <a:pPr lvl="0" indent="0" marL="0">
              <a:buNone/>
            </a:pPr>
            <a:r>
              <a:rPr/>
              <a:t>H ∈ { cold, stomach virus, lung cancer }</a:t>
            </a:r>
          </a:p>
          <a:p>
            <a:pPr lvl="0" indent="0" marL="0">
              <a:buNone/>
            </a:pPr>
            <a:r>
              <a:rPr/>
              <a:t>D = cough</a:t>
            </a:r>
          </a:p>
          <a:p>
            <a:pPr lvl="0" indent="0" marL="0">
              <a:buNone/>
            </a:pPr>
            <a:r>
              <a:rPr/>
              <a:t>Prior P(H): 0.45 0.10 0.10</a:t>
            </a:r>
          </a:p>
          <a:p>
            <a:pPr lvl="0" indent="0" marL="0">
              <a:buNone/>
            </a:pPr>
            <a:r>
              <a:rPr/>
              <a:t>Likelihood P(D|H): 0.90 0.45 0.90</a:t>
            </a:r>
          </a:p>
          <a:p>
            <a:pPr lvl="0" indent="0" marL="0">
              <a:buNone/>
            </a:pPr>
            <a:r>
              <a:rPr/>
              <a:t>Numerators: 0.405 0.045 0.090</a:t>
            </a:r>
          </a:p>
          <a:p>
            <a:pPr lvl="0" indent="0" marL="0">
              <a:buNone/>
            </a:pPr>
            <a:r>
              <a:rPr/>
              <a:t>Evidence P(D) = 0.540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Last week’s sick-friend problem, in H/D notation (3/3)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Last week: smoker friend, cough heard, three hypotheses.</a:t>
            </a:r>
          </a:p>
          <a:p>
            <a:pPr lvl="0" indent="0" marL="0">
              <a:buNone/>
            </a:pPr>
            <a:r>
              <a:rPr/>
              <a:t>In the new notation:</a:t>
            </a:r>
          </a:p>
          <a:p>
            <a:pPr lvl="0" indent="0" marL="0">
              <a:buNone/>
            </a:pPr>
            <a:r>
              <a:rPr/>
              <a:t>H ∈ { cold, stomach virus, lung cancer }</a:t>
            </a:r>
          </a:p>
          <a:p>
            <a:pPr lvl="0" indent="0" marL="0">
              <a:buNone/>
            </a:pPr>
            <a:r>
              <a:rPr/>
              <a:t>D = cough</a:t>
            </a:r>
          </a:p>
          <a:p>
            <a:pPr lvl="0" indent="0" marL="0">
              <a:buNone/>
            </a:pPr>
            <a:r>
              <a:rPr/>
              <a:t>Prior P(H): 0.45 0.10 0.10</a:t>
            </a:r>
          </a:p>
          <a:p>
            <a:pPr lvl="0" indent="0" marL="0">
              <a:buNone/>
            </a:pPr>
            <a:r>
              <a:rPr/>
              <a:t>Likelihood P(D|H): 0.90 0.45 0.90</a:t>
            </a:r>
          </a:p>
          <a:p>
            <a:pPr lvl="0" indent="0" marL="0">
              <a:buNone/>
            </a:pPr>
            <a:r>
              <a:rPr/>
              <a:t>Numerators: 0.405 0.045 0.090</a:t>
            </a:r>
          </a:p>
          <a:p>
            <a:pPr lvl="0" indent="0" marL="0">
              <a:buNone/>
            </a:pPr>
            <a:r>
              <a:rPr/>
              <a:t>Evidence P(D) = 0.540</a:t>
            </a:r>
          </a:p>
          <a:p>
            <a:pPr lvl="0" indent="0" marL="0">
              <a:buNone/>
            </a:pPr>
            <a:r>
              <a:rPr/>
              <a:t>** Posteriors: 0.75 0.083 0.167**</a:t>
            </a:r>
          </a:p>
          <a:p>
            <a:pPr lvl="0" indent="0" marL="0">
              <a:buNone/>
            </a:pPr>
            <a:r>
              <a:rPr/>
              <a:t>Same answer as last week. Same rule. New labels.</a:t>
            </a:r>
          </a:p>
          <a:p>
            <a:pPr lvl="0" indent="0" marL="0">
              <a:buNone/>
            </a:pPr>
            <a:r>
              <a:rPr/>
              <a:t>Everything we do today uses this SAME structure.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Setup — two-by-two Chibany world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Start simple: discretize weight to TWO buckets.</a:t>
            </a:r>
          </a:p>
          <a:p>
            <a:pPr lvl="0" indent="0" marL="0">
              <a:buNone/>
            </a:pPr>
            <a:r>
              <a:rPr/>
              <a:t>H ∈ {tonkatsu, hamburger}</a:t>
            </a:r>
          </a:p>
          <a:p>
            <a:pPr lvl="0" indent="0" marL="0">
              <a:buNone/>
            </a:pPr>
            <a:r>
              <a:rPr/>
              <a:t>D ∈ {heavy, light}</a:t>
            </a:r>
          </a:p>
          <a:p>
            <a:pPr lvl="0" indent="0" marL="0">
              <a:buNone/>
            </a:pPr>
            <a:r>
              <a:rPr/>
              <a:t>Prior: P(tonkatsu) = 0.7, P(hamburger) = 0.3</a:t>
            </a:r>
          </a:p>
          <a:p>
            <a:pPr lvl="0" indent="0" marL="0">
              <a:buNone/>
            </a:pPr>
            <a:r>
              <a:rPr/>
              <a:t>Likelihood: P(heavy | tonkatsu) = 0.9, P(heavy | hamburger) = 0.2</a:t>
            </a:r>
          </a:p>
          <a:p>
            <a:pPr lvl="0" indent="0" marL="0">
              <a:buNone/>
            </a:pPr>
            <a:r>
              <a:rPr i="1"/>
              <a:t>Later (Block 6): continuize weight. For now, 2×2.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joint P(H, D) — build the 2×2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Four cells:</a:t>
            </a:r>
          </a:p>
          <a:p>
            <a:pPr lvl="0" indent="0">
              <a:buNone/>
            </a:pPr>
            <a:r>
              <a:rPr>
                <a:latin typeface="Courier"/>
              </a:rPr>
              <a:t>               |   heavy   |   light</a:t>
            </a:r>
          </a:p>
          <a:p>
            <a:pPr lvl="0" indent="0" marL="0">
              <a:buNone/>
            </a:pPr>
            <a:r>
              <a:rPr/>
              <a:t>tonkatsu | ? | ?</a:t>
            </a:r>
          </a:p>
          <a:p>
            <a:pPr lvl="0" indent="0" marL="0">
              <a:buNone/>
            </a:pPr>
            <a:r>
              <a:rPr/>
              <a:t>hamburger | ? | ?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joint P(H, D) — build the 2×2 table (2/3)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Four cells:</a:t>
            </a:r>
          </a:p>
          <a:p>
            <a:pPr lvl="0" indent="0">
              <a:buNone/>
            </a:pPr>
            <a:r>
              <a:rPr>
                <a:latin typeface="Courier"/>
              </a:rPr>
              <a:t>               |   heavy   |   light</a:t>
            </a:r>
          </a:p>
          <a:p>
            <a:pPr lvl="0" indent="0" marL="0">
              <a:buNone/>
            </a:pPr>
            <a:r>
              <a:rPr/>
              <a:t>tonkatsu | ? | ?</a:t>
            </a:r>
          </a:p>
          <a:p>
            <a:pPr lvl="0" indent="0" marL="0">
              <a:buNone/>
            </a:pPr>
            <a:r>
              <a:rPr/>
              <a:t>hamburger | ? | ?</a:t>
            </a:r>
          </a:p>
          <a:p>
            <a:pPr lvl="0" indent="0" marL="0">
              <a:buNone/>
            </a:pPr>
            <a:r>
              <a:rPr b="1"/>
              <a:t>Joint by the product rule: P(H, D) = P(D | H) · P(H)</a:t>
            </a:r>
          </a:p>
          <a:p>
            <a:pPr lvl="0" indent="0" marL="0">
              <a:buNone/>
            </a:pPr>
            <a:r>
              <a:rPr/>
              <a:t>P(tonk, heavy) = 0.9 · 0.7 = 0.63</a:t>
            </a:r>
          </a:p>
          <a:p>
            <a:pPr lvl="0" indent="0" marL="0">
              <a:buNone/>
            </a:pPr>
            <a:r>
              <a:rPr/>
              <a:t>P(tonk, light) = 0.1 · 0.7 = 0.07</a:t>
            </a:r>
          </a:p>
          <a:p>
            <a:pPr lvl="0" indent="0" marL="0">
              <a:buNone/>
            </a:pPr>
            <a:r>
              <a:rPr/>
              <a:t>P(hamb, heavy) = 0.2 · 0.3 = 0.06</a:t>
            </a:r>
          </a:p>
          <a:p>
            <a:pPr lvl="0" indent="0" marL="0">
              <a:buNone/>
            </a:pPr>
            <a:r>
              <a:rPr/>
              <a:t>P(hamb, light) = 0.8 · 0.3 = 0.24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joint P(H, D) — build the 2×2 table (3/3)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Four cells:</a:t>
            </a:r>
          </a:p>
          <a:p>
            <a:pPr lvl="0" indent="0">
              <a:buNone/>
            </a:pPr>
            <a:r>
              <a:rPr>
                <a:latin typeface="Courier"/>
              </a:rPr>
              <a:t>               |   heavy   |   light</a:t>
            </a:r>
          </a:p>
          <a:p>
            <a:pPr lvl="0" indent="0" marL="0">
              <a:buNone/>
            </a:pPr>
            <a:r>
              <a:rPr/>
              <a:t>tonkatsu | ? | ?</a:t>
            </a:r>
          </a:p>
          <a:p>
            <a:pPr lvl="0" indent="0" marL="0">
              <a:buNone/>
            </a:pPr>
            <a:r>
              <a:rPr/>
              <a:t>hamburger | ? | ?</a:t>
            </a:r>
          </a:p>
          <a:p>
            <a:pPr lvl="0" indent="0" marL="0">
              <a:buNone/>
            </a:pPr>
            <a:r>
              <a:rPr b="1"/>
              <a:t>Joint by the product rule: P(H, D) = P(D | H) · P(H)</a:t>
            </a:r>
          </a:p>
          <a:p>
            <a:pPr lvl="0" indent="0" marL="0">
              <a:buNone/>
            </a:pPr>
            <a:r>
              <a:rPr/>
              <a:t>P(tonk, heavy) = 0.9 · 0.7 = 0.63</a:t>
            </a:r>
          </a:p>
          <a:p>
            <a:pPr lvl="0" indent="0" marL="0">
              <a:buNone/>
            </a:pPr>
            <a:r>
              <a:rPr/>
              <a:t>P(tonk, light) = 0.1 · 0.7 = 0.07</a:t>
            </a:r>
          </a:p>
          <a:p>
            <a:pPr lvl="0" indent="0" marL="0">
              <a:buNone/>
            </a:pPr>
            <a:r>
              <a:rPr/>
              <a:t>P(hamb, heavy) = 0.2 · 0.3 = 0.06</a:t>
            </a:r>
          </a:p>
          <a:p>
            <a:pPr lvl="0" indent="0" marL="0">
              <a:buNone/>
            </a:pPr>
            <a:r>
              <a:rPr/>
              <a:t>P(hamb, light) = 0.8 · 0.3 = 0.24</a:t>
            </a:r>
          </a:p>
          <a:p>
            <a:pPr lvl="0" indent="0" marL="0">
              <a:buNone/>
            </a:pPr>
            <a:r>
              <a:rPr b="1"/>
              <a:t>Sanity check: 0.63 + 0.07 + 0.06 + 0.24 = 1.00 ✓</a:t>
            </a:r>
          </a:p>
          <a:p>
            <a:pPr lvl="0" indent="0" marL="0">
              <a:buNone/>
            </a:pPr>
            <a:r>
              <a:rPr i="1"/>
              <a:t>Recognize the shape? Week 1’s 2-coin-flip grid had 4 cells too.</a:t>
            </a:r>
          </a:p>
          <a:p>
            <a:pPr lvl="0" indent="0" marL="0">
              <a:buNone/>
            </a:pPr>
            <a:r>
              <a:rPr i="1"/>
              <a:t>Different numbers, same structure.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Marginalization — sum over what you don’t care about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P(heavy) = ?</a:t>
            </a:r>
          </a:p>
          <a:p>
            <a:pPr lvl="0" indent="0" marL="0">
              <a:buNone/>
            </a:pPr>
            <a:r>
              <a:rPr/>
              <a:t>Sum the joint over H:</a:t>
            </a:r>
          </a:p>
          <a:p>
            <a:pPr lvl="0" indent="0" marL="0">
              <a:buNone/>
            </a:pPr>
            <a:r>
              <a:rPr/>
              <a:t>P(heavy) = P(tonk, heavy) + P(hamb, heavy)</a:t>
            </a:r>
          </a:p>
          <a:p>
            <a:pPr lvl="0" indent="0" marL="0">
              <a:buNone/>
            </a:pPr>
            <a:r>
              <a:rPr/>
              <a:t>** = 0.63 + 0.06 = 0.69**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Marginalization — sum over what you don’t care about (2/3)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P(heavy) = ?</a:t>
            </a:r>
          </a:p>
          <a:p>
            <a:pPr lvl="0" indent="0" marL="0">
              <a:buNone/>
            </a:pPr>
            <a:r>
              <a:rPr/>
              <a:t>Sum the joint over H:</a:t>
            </a:r>
          </a:p>
          <a:p>
            <a:pPr lvl="0" indent="0" marL="0">
              <a:buNone/>
            </a:pPr>
            <a:r>
              <a:rPr/>
              <a:t>P(heavy) = P(tonk, heavy) + P(hamb, heavy)</a:t>
            </a:r>
          </a:p>
          <a:p>
            <a:pPr lvl="0" indent="0" marL="0">
              <a:buNone/>
            </a:pPr>
            <a:r>
              <a:rPr/>
              <a:t>** = 0.63 + 0.06 = 0.69**</a:t>
            </a:r>
          </a:p>
          <a:p>
            <a:pPr lvl="0" indent="0" marL="0">
              <a:buNone/>
            </a:pPr>
            <a:r>
              <a:rPr b="1"/>
              <a:t>P(light) = 0.07 + 0.24 = 0.31</a:t>
            </a:r>
          </a:p>
          <a:p>
            <a:pPr lvl="0" indent="0" marL="0">
              <a:buNone/>
            </a:pPr>
            <a:r>
              <a:rPr/>
              <a:t>0.69 + 0.31 = 1 ✓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Marginalization — sum over what you don’t care about (3/3)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P(heavy) = ?</a:t>
            </a:r>
          </a:p>
          <a:p>
            <a:pPr lvl="0" indent="0" marL="0">
              <a:buNone/>
            </a:pPr>
            <a:r>
              <a:rPr/>
              <a:t>Sum the joint over H:</a:t>
            </a:r>
          </a:p>
          <a:p>
            <a:pPr lvl="0" indent="0" marL="0">
              <a:buNone/>
            </a:pPr>
            <a:r>
              <a:rPr/>
              <a:t>P(heavy) = P(tonk, heavy) + P(hamb, heavy)</a:t>
            </a:r>
          </a:p>
          <a:p>
            <a:pPr lvl="0" indent="0" marL="0">
              <a:buNone/>
            </a:pPr>
            <a:r>
              <a:rPr/>
              <a:t>** = 0.63 + 0.06 = 0.69**</a:t>
            </a:r>
          </a:p>
          <a:p>
            <a:pPr lvl="0" indent="0" marL="0">
              <a:buNone/>
            </a:pPr>
            <a:r>
              <a:rPr b="1"/>
              <a:t>P(light) = 0.07 + 0.24 = 0.31</a:t>
            </a:r>
          </a:p>
          <a:p>
            <a:pPr lvl="0" indent="0" marL="0">
              <a:buNone/>
            </a:pPr>
            <a:r>
              <a:rPr/>
              <a:t>0.69 + 0.31 = 1 ✓</a:t>
            </a:r>
          </a:p>
          <a:p>
            <a:pPr lvl="0" indent="0" marL="0">
              <a:buNone/>
            </a:pPr>
            <a:r>
              <a:rPr b="1"/>
              <a:t>The named move: MARGINALIZATION.</a:t>
            </a:r>
          </a:p>
          <a:p>
            <a:pPr lvl="0" indent="0" marL="0">
              <a:buNone/>
            </a:pPr>
            <a:r>
              <a:rPr/>
              <a:t>Given the joint, sum over the variable you’re not asking about.</a:t>
            </a:r>
          </a:p>
          <a:p>
            <a:pPr lvl="0" indent="0" marL="0">
              <a:buNone/>
            </a:pPr>
            <a:r>
              <a:rPr/>
              <a:t>Week 1 called this the sum rule.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Conditional — restrict and renormalize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Chibany weighs today’s bento and reads: D = heavy.</a:t>
            </a:r>
          </a:p>
          <a:p>
            <a:pPr lvl="0" indent="0" marL="0">
              <a:buNone/>
            </a:pPr>
            <a:r>
              <a:rPr b="1"/>
              <a:t>What’s P(meal | heavy)?</a:t>
            </a:r>
          </a:p>
          <a:p>
            <a:pPr lvl="0" indent="0" marL="0">
              <a:buNone/>
            </a:pPr>
            <a:r>
              <a:rPr/>
              <a:t>Same move as Week 1’s 2×2 coin-flip grid:</a:t>
            </a:r>
          </a:p>
          <a:p>
            <a:pPr lvl="0" indent="0" marL="0">
              <a:buNone/>
            </a:pPr>
            <a:r>
              <a:rPr i="1"/>
              <a:t>“Restrict to the slice where the observation is true; renormalize.”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Conditional — restrict and renormalize (2/3)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Chibany weighs today’s bento and reads: D = heavy.</a:t>
            </a:r>
          </a:p>
          <a:p>
            <a:pPr lvl="0" indent="0" marL="0">
              <a:buNone/>
            </a:pPr>
            <a:r>
              <a:rPr b="1"/>
              <a:t>What’s P(meal | heavy)?</a:t>
            </a:r>
          </a:p>
          <a:p>
            <a:pPr lvl="0" indent="0" marL="0">
              <a:buNone/>
            </a:pPr>
            <a:r>
              <a:rPr/>
              <a:t>Same move as Week 1’s 2×2 coin-flip grid:</a:t>
            </a:r>
          </a:p>
          <a:p>
            <a:pPr lvl="0" indent="0" marL="0">
              <a:buNone/>
            </a:pPr>
            <a:r>
              <a:rPr i="1"/>
              <a:t>“Restrict to the slice where the observation is true; renormalize.”</a:t>
            </a:r>
          </a:p>
          <a:p>
            <a:pPr lvl="0" indent="0" marL="0">
              <a:buNone/>
            </a:pPr>
            <a:r>
              <a:rPr/>
              <a:t>Step 1: keep only the “heavy” column of the joint.</a:t>
            </a:r>
          </a:p>
          <a:p>
            <a:pPr lvl="0" indent="0" marL="0">
              <a:buNone/>
            </a:pPr>
            <a:r>
              <a:rPr/>
              <a:t>P(tonk, heavy) = 0.63 P(hamb, heavy) = 0.06</a:t>
            </a:r>
          </a:p>
          <a:p>
            <a:pPr lvl="0" indent="0" marL="0">
              <a:buNone/>
            </a:pPr>
            <a:r>
              <a:rPr/>
              <a:t>Step 2: renormalize by P(heavy) = 0.69.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Conditional — restrict and renormalize (3/3)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Chibany weighs today’s bento and reads: D = heavy.</a:t>
            </a:r>
          </a:p>
          <a:p>
            <a:pPr lvl="0" indent="0" marL="0">
              <a:buNone/>
            </a:pPr>
            <a:r>
              <a:rPr b="1"/>
              <a:t>What’s P(meal | heavy)?</a:t>
            </a:r>
          </a:p>
          <a:p>
            <a:pPr lvl="0" indent="0" marL="0">
              <a:buNone/>
            </a:pPr>
            <a:r>
              <a:rPr/>
              <a:t>Same move as Week 1’s 2×2 coin-flip grid:</a:t>
            </a:r>
          </a:p>
          <a:p>
            <a:pPr lvl="0" indent="0" marL="0">
              <a:buNone/>
            </a:pPr>
            <a:r>
              <a:rPr i="1"/>
              <a:t>“Restrict to the slice where the observation is true; renormalize.”</a:t>
            </a:r>
          </a:p>
          <a:p>
            <a:pPr lvl="0" indent="0" marL="0">
              <a:buNone/>
            </a:pPr>
            <a:r>
              <a:rPr/>
              <a:t>Step 1: keep only the “heavy” column of the joint.</a:t>
            </a:r>
          </a:p>
          <a:p>
            <a:pPr lvl="0" indent="0" marL="0">
              <a:buNone/>
            </a:pPr>
            <a:r>
              <a:rPr/>
              <a:t>P(tonk, heavy) = 0.63 P(hamb, heavy) = 0.06</a:t>
            </a:r>
          </a:p>
          <a:p>
            <a:pPr lvl="0" indent="0" marL="0">
              <a:buNone/>
            </a:pPr>
            <a:r>
              <a:rPr/>
              <a:t>Step 2: renormalize by P(heavy) = 0.69.</a:t>
            </a:r>
          </a:p>
          <a:p>
            <a:pPr lvl="0" indent="0" marL="0">
              <a:buNone/>
            </a:pPr>
            <a:r>
              <a:rPr/>
              <a:t>** P(tonk | heavy) = 0.63 / 0.69 ≈ 0.913**</a:t>
            </a:r>
          </a:p>
          <a:p>
            <a:pPr lvl="0" indent="0" marL="0">
              <a:buNone/>
            </a:pPr>
            <a:r>
              <a:rPr/>
              <a:t>** P(hamb | heavy) = 0.06 / 0.69 ≈ 0.087**</a:t>
            </a:r>
          </a:p>
          <a:p>
            <a:pPr lvl="0" indent="0" marL="0">
              <a:buNone/>
            </a:pPr>
            <a:r>
              <a:rPr i="1"/>
              <a:t>Prior 0.70 → posterior 0.91. “Heavy” was very diagnostic.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Summary — three operations on the joint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Joint = full picture, P(H, D). All cells sum to 1.</a:t>
            </a:r>
          </a:p>
          <a:p>
            <a:pPr lvl="0" indent="0" marL="0">
              <a:buNone/>
            </a:pPr>
            <a:r>
              <a:rPr/>
              <a:t>Marginal = sum the joint over the thing you don’t care about.</a:t>
            </a:r>
          </a:p>
          <a:p>
            <a:pPr lvl="0" indent="0" marL="0">
              <a:buNone/>
            </a:pPr>
            <a:r>
              <a:rPr/>
              <a:t>Conditional = slice on your observation, renormalize.</a:t>
            </a:r>
          </a:p>
          <a:p>
            <a:pPr lvl="0" indent="0" marL="0">
              <a:buNone/>
            </a:pPr>
            <a:r>
              <a:rPr b="1"/>
              <a:t>Same Bayes as last week. Now you can SEE it as a table operation.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Welcome + meet Chibany 0:00</a:t>
            </a:r>
          </a:p>
          <a:p>
            <a:pPr lvl="0"/>
            <a:r>
              <a:rPr/>
              <a:t>Marr’s three levels 0:08</a:t>
            </a:r>
          </a:p>
          <a:p>
            <a:pPr lvl="0"/>
            <a:r>
              <a:rPr/>
              <a:t>Notation lock-in 0:15</a:t>
            </a:r>
          </a:p>
          <a:p>
            <a:pPr lvl="0"/>
            <a:r>
              <a:rPr/>
              <a:t>Joint + marginalization 0:18</a:t>
            </a:r>
          </a:p>
          <a:p>
            <a:pPr lvl="0"/>
            <a:r>
              <a:rPr/>
              <a:t>Expected value + discrete 0:30</a:t>
            </a:r>
          </a:p>
          <a:p>
            <a:pPr lvl="0"/>
            <a:r>
              <a:rPr/>
              <a:t>Continuous prob + Gaussian 0:45</a:t>
            </a:r>
          </a:p>
          <a:p>
            <a:pPr lvl="0"/>
            <a:r>
              <a:rPr/>
              <a:t>Break 1:05</a:t>
            </a:r>
          </a:p>
          <a:p>
            <a:pPr lvl="0"/>
            <a:r>
              <a:rPr/>
              <a:t>Gaussian-Gaussian update 1:15</a:t>
            </a:r>
          </a:p>
          <a:p>
            <a:pPr lvl="0"/>
            <a:r>
              <a:rPr/>
              <a:t>Paper presentations 1:40</a:t>
            </a:r>
          </a:p>
          <a:p>
            <a:pPr lvl="0"/>
            <a:r>
              <a:rPr/>
              <a:t>Admin + Week 3 1:50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Expected value + discrete distributions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Expected value E[X]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 a discrete RV X with values {xᵢ} and probabilities {pᵢ}:</a:t>
            </a:r>
          </a:p>
          <a:p>
            <a:pPr lvl="0" indent="0" marL="0">
              <a:buNone/>
            </a:pPr>
            <a:r>
              <a:rPr b="1"/>
              <a:t>E[X] = Σᵢ xᵢ · pᵢ</a:t>
            </a:r>
          </a:p>
          <a:p>
            <a:pPr lvl="0" indent="0" marL="0">
              <a:buNone/>
            </a:pPr>
            <a:r>
              <a:rPr i="1"/>
              <a:t>“Weight each value by its probability, then add.”</a:t>
            </a:r>
          </a:p>
        </p:txBody>
      </p:sp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Expected value E[X] (2/4)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 a discrete RV X with values {xᵢ} and probabilities {pᵢ}:</a:t>
            </a:r>
          </a:p>
          <a:p>
            <a:pPr lvl="0" indent="0" marL="0">
              <a:buNone/>
            </a:pPr>
            <a:r>
              <a:rPr b="1"/>
              <a:t>E[X] = Σᵢ xᵢ · pᵢ</a:t>
            </a:r>
          </a:p>
          <a:p>
            <a:pPr lvl="0" indent="0" marL="0">
              <a:buNone/>
            </a:pPr>
            <a:r>
              <a:rPr i="1"/>
              <a:t>“Weight each value by its probability, then add.”</a:t>
            </a:r>
          </a:p>
          <a:p>
            <a:pPr lvl="0" indent="0" marL="0">
              <a:buNone/>
            </a:pPr>
            <a:r>
              <a:rPr/>
              <a:t>Chibany: encode meal numerically. tonkatsu = 1, hamburger = 0.</a:t>
            </a:r>
          </a:p>
          <a:p>
            <a:pPr lvl="0" indent="0" marL="0">
              <a:buNone/>
            </a:pPr>
            <a:r>
              <a:rPr b="1"/>
              <a:t>E[meal] = 1 · 0.7 + 0 · 0.3 = 0.7</a:t>
            </a:r>
          </a:p>
          <a:p>
            <a:pPr lvl="0" indent="0" marL="0">
              <a:buNone/>
            </a:pPr>
            <a:r>
              <a:rPr/>
              <a:t>The expected value of an indicator IS the probability.</a:t>
            </a:r>
          </a:p>
        </p:txBody>
      </p:sp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Expected value E[X] (3/4)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 a discrete RV X with values {xᵢ} and probabilities {pᵢ}:</a:t>
            </a:r>
          </a:p>
          <a:p>
            <a:pPr lvl="0" indent="0" marL="0">
              <a:buNone/>
            </a:pPr>
            <a:r>
              <a:rPr b="1"/>
              <a:t>E[X] = Σᵢ xᵢ · pᵢ</a:t>
            </a:r>
          </a:p>
          <a:p>
            <a:pPr lvl="0" indent="0" marL="0">
              <a:buNone/>
            </a:pPr>
            <a:r>
              <a:rPr i="1"/>
              <a:t>“Weight each value by its probability, then add.”</a:t>
            </a:r>
          </a:p>
          <a:p>
            <a:pPr lvl="0" indent="0" marL="0">
              <a:buNone/>
            </a:pPr>
            <a:r>
              <a:rPr/>
              <a:t>Chibany: encode meal numerically. tonkatsu = 1, hamburger = 0.</a:t>
            </a:r>
          </a:p>
          <a:p>
            <a:pPr lvl="0" indent="0" marL="0">
              <a:buNone/>
            </a:pPr>
            <a:r>
              <a:rPr b="1"/>
              <a:t>E[meal] = 1 · 0.7 + 0 · 0.3 = 0.7</a:t>
            </a:r>
          </a:p>
          <a:p>
            <a:pPr lvl="0" indent="0" marL="0">
              <a:buNone/>
            </a:pPr>
            <a:r>
              <a:rPr/>
              <a:t>The expected value of an indicator IS the probability.</a:t>
            </a:r>
          </a:p>
          <a:p>
            <a:pPr lvl="0" indent="0" marL="0">
              <a:buNone/>
            </a:pPr>
            <a:r>
              <a:rPr/>
              <a:t>Variance: Var[X] = E[(X − E[X])²] = E[X²] − E[X]²</a:t>
            </a:r>
          </a:p>
          <a:p>
            <a:pPr lvl="0" indent="0" marL="0">
              <a:buNone/>
            </a:pPr>
            <a:r>
              <a:rPr/>
              <a:t>For Bernoulli(p): Var = p(1 − p)</a:t>
            </a:r>
          </a:p>
          <a:p>
            <a:pPr lvl="0" indent="0" marL="0">
              <a:buNone/>
            </a:pPr>
            <a:r>
              <a:rPr b="1"/>
              <a:t>Bento meal: Var = 0.21, σ ≈ 0.46</a:t>
            </a:r>
          </a:p>
        </p:txBody>
      </p:sp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Expected value E[X] (4/4)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 a discrete RV X with values {xᵢ} and probabilities {pᵢ}:</a:t>
            </a:r>
          </a:p>
          <a:p>
            <a:pPr lvl="0" indent="0" marL="0">
              <a:buNone/>
            </a:pPr>
            <a:r>
              <a:rPr b="1"/>
              <a:t>E[X] = Σᵢ xᵢ · pᵢ</a:t>
            </a:r>
          </a:p>
          <a:p>
            <a:pPr lvl="0" indent="0" marL="0">
              <a:buNone/>
            </a:pPr>
            <a:r>
              <a:rPr i="1"/>
              <a:t>“Weight each value by its probability, then add.”</a:t>
            </a:r>
          </a:p>
          <a:p>
            <a:pPr lvl="0" indent="0" marL="0">
              <a:buNone/>
            </a:pPr>
            <a:r>
              <a:rPr/>
              <a:t>Chibany: encode meal numerically. tonkatsu = 1, hamburger = 0.</a:t>
            </a:r>
          </a:p>
          <a:p>
            <a:pPr lvl="0" indent="0" marL="0">
              <a:buNone/>
            </a:pPr>
            <a:r>
              <a:rPr b="1"/>
              <a:t>E[meal] = 1 · 0.7 + 0 · 0.3 = 0.7</a:t>
            </a:r>
          </a:p>
          <a:p>
            <a:pPr lvl="0" indent="0" marL="0">
              <a:buNone/>
            </a:pPr>
            <a:r>
              <a:rPr/>
              <a:t>The expected value of an indicator IS the probability.</a:t>
            </a:r>
          </a:p>
          <a:p>
            <a:pPr lvl="0" indent="0" marL="0">
              <a:buNone/>
            </a:pPr>
            <a:r>
              <a:rPr/>
              <a:t>Variance: Var[X] = E[(X − E[X])²] = E[X²] − E[X]²</a:t>
            </a:r>
          </a:p>
          <a:p>
            <a:pPr lvl="0" indent="0" marL="0">
              <a:buNone/>
            </a:pPr>
            <a:r>
              <a:rPr/>
              <a:t>For Bernoulli(p): Var = p(1 − p)</a:t>
            </a:r>
          </a:p>
          <a:p>
            <a:pPr lvl="0" indent="0" marL="0">
              <a:buNone/>
            </a:pPr>
            <a:r>
              <a:rPr b="1"/>
              <a:t>Bento meal: Var = 0.21, σ ≈ 0.46</a:t>
            </a:r>
          </a:p>
          <a:p>
            <a:pPr lvl="0" indent="0" marL="0">
              <a:buNone/>
            </a:pPr>
            <a:r>
              <a:rPr b="1"/>
              <a:t>E[X] = center of mass. Var[X] = spread.</a:t>
            </a:r>
          </a:p>
          <a:p>
            <a:pPr lvl="0" indent="0" marL="0">
              <a:buNone/>
            </a:pPr>
            <a:r>
              <a:rPr/>
              <a:t>Two numbers that summarize a lot. Used everywhere downstream.</a:t>
            </a:r>
          </a:p>
        </p:txBody>
      </p:sp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Bernoulli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X ~ Bernoulli(p) means:</a:t>
            </a:r>
          </a:p>
          <a:p>
            <a:pPr lvl="0" indent="0" marL="0">
              <a:buNone/>
            </a:pPr>
            <a:r>
              <a:rPr/>
              <a:t>** P(X = 1) = p, P(X = 0) = 1 − p**</a:t>
            </a:r>
          </a:p>
          <a:p>
            <a:pPr lvl="0" indent="0" marL="0">
              <a:buNone/>
            </a:pPr>
            <a:r>
              <a:rPr/>
              <a:t>One flip of a weighted coin. One parameter: p.</a:t>
            </a:r>
          </a:p>
        </p:txBody>
      </p:sp>
    </p:spTree>
  </p:cSld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Bernoulli distribution (2/3)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X ~ Bernoulli(p) means:</a:t>
            </a:r>
          </a:p>
          <a:p>
            <a:pPr lvl="0" indent="0" marL="0">
              <a:buNone/>
            </a:pPr>
            <a:r>
              <a:rPr/>
              <a:t>** P(X = 1) = p, P(X = 0) = 1 − p**</a:t>
            </a:r>
          </a:p>
          <a:p>
            <a:pPr lvl="0" indent="0" marL="0">
              <a:buNone/>
            </a:pPr>
            <a:r>
              <a:rPr/>
              <a:t>One flip of a weighted coin. One parameter: p.</a:t>
            </a:r>
          </a:p>
          <a:p>
            <a:pPr lvl="0" indent="0" marL="0">
              <a:buNone/>
            </a:pPr>
            <a:r>
              <a:rPr b="1"/>
              <a:t>Chibany: meal_today ~ Bernoulli(0.7).</a:t>
            </a:r>
          </a:p>
          <a:p>
            <a:pPr lvl="0" indent="0">
              <a:buNone/>
            </a:pPr>
            <a:r>
              <a:rPr>
                <a:latin typeface="Courier"/>
              </a:rPr>
              <a:t>P(meal_today = tonkatsu) = 0.7
P(meal_today = hamburger) = 0.3</a:t>
            </a:r>
          </a:p>
        </p:txBody>
      </p:sp>
    </p:spTree>
  </p:cSld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Bernoulli distribution (3/3)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X ~ Bernoulli(p) means:</a:t>
            </a:r>
          </a:p>
          <a:p>
            <a:pPr lvl="0" indent="0" marL="0">
              <a:buNone/>
            </a:pPr>
            <a:r>
              <a:rPr/>
              <a:t>** P(X = 1) = p, P(X = 0) = 1 − p**</a:t>
            </a:r>
          </a:p>
          <a:p>
            <a:pPr lvl="0" indent="0" marL="0">
              <a:buNone/>
            </a:pPr>
            <a:r>
              <a:rPr/>
              <a:t>One flip of a weighted coin. One parameter: p.</a:t>
            </a:r>
          </a:p>
          <a:p>
            <a:pPr lvl="0" indent="0" marL="0">
              <a:buNone/>
            </a:pPr>
            <a:r>
              <a:rPr b="1"/>
              <a:t>Chibany: meal_today ~ Bernoulli(0.7).</a:t>
            </a:r>
          </a:p>
          <a:p>
            <a:pPr lvl="0" indent="0">
              <a:buNone/>
            </a:pPr>
            <a:r>
              <a:rPr>
                <a:latin typeface="Courier"/>
              </a:rPr>
              <a:t>P(meal_today = tonkatsu) = 0.7
P(meal_today = hamburger) = 0.3</a:t>
            </a:r>
          </a:p>
          <a:p>
            <a:pPr lvl="0" indent="0" marL="0">
              <a:buNone/>
            </a:pPr>
            <a:r>
              <a:rPr/>
              <a:t>Today we treat p = 0.7 as GIVEN.</a:t>
            </a:r>
          </a:p>
          <a:p>
            <a:pPr lvl="0" indent="0" marL="0">
              <a:buNone/>
            </a:pPr>
            <a:r>
              <a:rPr b="1"/>
              <a:t>Next week: we ask where p comes from, and infer it from data.</a:t>
            </a:r>
          </a:p>
          <a:p>
            <a:pPr lvl="0" indent="0" marL="0">
              <a:buNone/>
            </a:pPr>
            <a:r>
              <a:rPr/>
              <a:t>The conjugate prior on p is the Beta distribution — Week 3.</a:t>
            </a:r>
          </a:p>
        </p:txBody>
      </p:sp>
    </p:spTree>
  </p:cSld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Binomial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Chibany counts tonkatsu across 5 days.</a:t>
            </a:r>
          </a:p>
          <a:p>
            <a:pPr lvl="0" indent="0" marL="0">
              <a:buNone/>
            </a:pPr>
            <a:r>
              <a:rPr/>
              <a:t>Each day: Bernoulli(0.7), independent.</a:t>
            </a:r>
          </a:p>
          <a:p>
            <a:pPr lvl="0" indent="0" marL="0">
              <a:buNone/>
            </a:pPr>
            <a:r>
              <a:rPr b="1"/>
              <a:t>Let Y = total tonkatsu in 5 days. Y ~ Binomial(5, 0.7).</a:t>
            </a:r>
          </a:p>
        </p:txBody>
      </p:sp>
    </p:spTree>
  </p:cSld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Binomial distribution (2/3)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Chibany counts tonkatsu across 5 days.</a:t>
            </a:r>
          </a:p>
          <a:p>
            <a:pPr lvl="0" indent="0" marL="0">
              <a:buNone/>
            </a:pPr>
            <a:r>
              <a:rPr/>
              <a:t>Each day: Bernoulli(0.7), independent.</a:t>
            </a:r>
          </a:p>
          <a:p>
            <a:pPr lvl="0" indent="0" marL="0">
              <a:buNone/>
            </a:pPr>
            <a:r>
              <a:rPr b="1"/>
              <a:t>Let Y = total tonkatsu in 5 days. Y ~ Binomial(5, 0.7).</a:t>
            </a:r>
          </a:p>
          <a:p>
            <a:pPr lvl="0" indent="0" marL="0">
              <a:buNone/>
            </a:pPr>
            <a:r>
              <a:rPr b="1"/>
              <a:t>P(Y = k) = C(n, k) · pᵏ · (1 − p)ⁿ⁻ᵏ</a:t>
            </a:r>
          </a:p>
          <a:p>
            <a:pPr lvl="0" indent="0" marL="0">
              <a:buNone/>
            </a:pPr>
            <a:r>
              <a:rPr/>
              <a:t>n = 5 (trials)</a:t>
            </a:r>
          </a:p>
          <a:p>
            <a:pPr lvl="0" indent="0" marL="0">
              <a:buNone/>
            </a:pPr>
            <a:r>
              <a:rPr/>
              <a:t>k (count of successes)</a:t>
            </a:r>
          </a:p>
          <a:p>
            <a:pPr lvl="0" indent="0" marL="0">
              <a:buNone/>
            </a:pPr>
            <a:r>
              <a:rPr/>
              <a:t>p = 0.7 (per-trial success prob)</a:t>
            </a:r>
          </a:p>
          <a:p>
            <a:pPr lvl="0" indent="0" marL="0">
              <a:buNone/>
            </a:pPr>
            <a:r>
              <a:rPr/>
              <a:t>C(n, k) counts orderings of k successes among n trials</a:t>
            </a:r>
          </a:p>
        </p:txBody>
      </p:sp>
    </p:spTree>
  </p:cSld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Binomial distribution (3/3)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Chibany counts tonkatsu across 5 days.</a:t>
            </a:r>
          </a:p>
          <a:p>
            <a:pPr lvl="0" indent="0" marL="0">
              <a:buNone/>
            </a:pPr>
            <a:r>
              <a:rPr/>
              <a:t>Each day: Bernoulli(0.7), independent.</a:t>
            </a:r>
          </a:p>
          <a:p>
            <a:pPr lvl="0" indent="0" marL="0">
              <a:buNone/>
            </a:pPr>
            <a:r>
              <a:rPr b="1"/>
              <a:t>Let Y = total tonkatsu in 5 days. Y ~ Binomial(5, 0.7).</a:t>
            </a:r>
          </a:p>
          <a:p>
            <a:pPr lvl="0" indent="0" marL="0">
              <a:buNone/>
            </a:pPr>
            <a:r>
              <a:rPr b="1"/>
              <a:t>P(Y = k) = C(n, k) · pᵏ · (1 − p)ⁿ⁻ᵏ</a:t>
            </a:r>
          </a:p>
          <a:p>
            <a:pPr lvl="0" indent="0" marL="0">
              <a:buNone/>
            </a:pPr>
            <a:r>
              <a:rPr/>
              <a:t>n = 5 (trials)</a:t>
            </a:r>
          </a:p>
          <a:p>
            <a:pPr lvl="0" indent="0" marL="0">
              <a:buNone/>
            </a:pPr>
            <a:r>
              <a:rPr/>
              <a:t>k (count of successes)</a:t>
            </a:r>
          </a:p>
          <a:p>
            <a:pPr lvl="0" indent="0" marL="0">
              <a:buNone/>
            </a:pPr>
            <a:r>
              <a:rPr/>
              <a:t>p = 0.7 (per-trial success prob)</a:t>
            </a:r>
          </a:p>
          <a:p>
            <a:pPr lvl="0" indent="0" marL="0">
              <a:buNone/>
            </a:pPr>
            <a:r>
              <a:rPr/>
              <a:t>C(n, k) counts orderings of k successes among n trials</a:t>
            </a:r>
          </a:p>
          <a:p>
            <a:pPr lvl="0" indent="0" marL="0">
              <a:buNone/>
            </a:pPr>
            <a:r>
              <a:rPr/>
              <a:t>P(Y = 5) = 1 · 0.7⁵ · 1 ≈ 0.168</a:t>
            </a:r>
          </a:p>
          <a:p>
            <a:pPr lvl="0" indent="0" marL="0">
              <a:buNone/>
            </a:pPr>
            <a:r>
              <a:rPr b="1"/>
              <a:t>P(Y = 4) = 5 · 0.7⁴ · 0.3 ≈ 0.360 ← the MODE</a:t>
            </a:r>
          </a:p>
          <a:p>
            <a:pPr lvl="0" indent="0" marL="0">
              <a:buNone/>
            </a:pPr>
            <a:r>
              <a:rPr/>
              <a:t>P(Y = 3) = 10 · 0.7³ · 0.3² ≈ 0.309</a:t>
            </a:r>
          </a:p>
          <a:p>
            <a:pPr lvl="0" indent="0" marL="0">
              <a:buNone/>
            </a:pPr>
            <a:r>
              <a:rPr b="1"/>
              <a:t>Why is k=4 more likely than k=5, even though p = 0.7?</a:t>
            </a:r>
          </a:p>
          <a:p>
            <a:pPr lvl="0" indent="0" marL="0">
              <a:buNone/>
            </a:pPr>
            <a:r>
              <a:rPr/>
              <a:t>* There are 5 ways to get 4 tonkatsu in 5 days, but only 1 way to get all 5.*</a:t>
            </a:r>
          </a:p>
          <a:p>
            <a:pPr lvl="0" indent="0" marL="0">
              <a:buNone/>
            </a:pPr>
            <a:r>
              <a:rPr/>
              <a:t>* The extra orderings outweigh the smaller (0.7·0.3) factor.*</a:t>
            </a:r>
          </a:p>
        </p:txBody>
      </p:sp>
    </p:spTree>
  </p:cSld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Binomial(5, 0.7) — full PMF</a:t>
            </a:r>
          </a:p>
        </p:txBody>
      </p:sp>
      <p:pic>
        <p:nvPicPr>
          <p:cNvPr descr="images/binomial_pmf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35000" y="1193800"/>
            <a:ext cx="78867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Mode at k=4 (0.360). In Week 3 this PMF becomes the LIKELIHOOD</a:t>
            </a:r>
          </a:p>
          <a:p>
            <a:pPr lvl="0" indent="0" marL="0">
              <a:buNone/>
            </a:pPr>
            <a:r>
              <a:rPr i="1"/>
              <a:t>for inferring p from observed counts. Beta × Binomial = Beta.</a:t>
            </a:r>
          </a:p>
        </p:txBody>
      </p:sp>
    </p:spTree>
  </p:cSld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Welcome + meet Chibany 0:00</a:t>
            </a:r>
          </a:p>
          <a:p>
            <a:pPr lvl="0"/>
            <a:r>
              <a:rPr/>
              <a:t>Marr’s three levels 0:08</a:t>
            </a:r>
          </a:p>
          <a:p>
            <a:pPr lvl="0"/>
            <a:r>
              <a:rPr/>
              <a:t>Notation lock-in 0:15</a:t>
            </a:r>
          </a:p>
          <a:p>
            <a:pPr lvl="0"/>
            <a:r>
              <a:rPr/>
              <a:t>Joint + marginalization 0:18</a:t>
            </a:r>
          </a:p>
          <a:p>
            <a:pPr lvl="0"/>
            <a:r>
              <a:rPr/>
              <a:t>Expected value + discrete 0:30</a:t>
            </a:r>
          </a:p>
          <a:p>
            <a:pPr lvl="0"/>
            <a:r>
              <a:rPr/>
              <a:t>Continuous prob + Gaussian 0:45</a:t>
            </a:r>
          </a:p>
          <a:p>
            <a:pPr lvl="0"/>
            <a:r>
              <a:rPr/>
              <a:t>Break 1:05</a:t>
            </a:r>
          </a:p>
          <a:p>
            <a:pPr lvl="0"/>
            <a:r>
              <a:rPr/>
              <a:t>Gaussian-Gaussian update 1:15</a:t>
            </a:r>
          </a:p>
          <a:p>
            <a:pPr lvl="0"/>
            <a:r>
              <a:rPr/>
              <a:t>Paper presentations 1:40</a:t>
            </a:r>
          </a:p>
          <a:p>
            <a:pPr lvl="0"/>
            <a:r>
              <a:rPr/>
              <a:t>Admin + Week 3 1:50</a:t>
            </a:r>
          </a:p>
        </p:txBody>
      </p:sp>
    </p:spTree>
  </p:cSld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Continuous probability + the Gaussian</a:t>
            </a:r>
          </a:p>
        </p:txBody>
      </p:sp>
    </p:spTree>
  </p:cSld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From PMF to PDF — going continuous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Weight isn’t heavy-or-light. It’s a real number.</a:t>
            </a:r>
          </a:p>
          <a:p>
            <a:pPr lvl="0" indent="0" marL="0">
              <a:buNone/>
            </a:pPr>
            <a:r>
              <a:rPr b="1"/>
              <a:t>We need a different object — a probability DENSITY.</a:t>
            </a:r>
          </a:p>
        </p:txBody>
      </p:sp>
    </p:spTree>
  </p:cSld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From PMF to PDF — going continuous (2/4)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Weight isn’t heavy-or-light. It’s a real number.</a:t>
            </a:r>
          </a:p>
          <a:p>
            <a:pPr lvl="0" indent="0" marL="0">
              <a:buNone/>
            </a:pPr>
            <a:r>
              <a:rPr b="1"/>
              <a:t>We need a different object — a probability DENSITY.</a:t>
            </a:r>
          </a:p>
          <a:p>
            <a:pPr lvl="0" indent="0" marL="0">
              <a:buNone/>
            </a:pPr>
            <a:r>
              <a:rPr/>
              <a:t>Thought experiment — shrink the bins:</a:t>
            </a:r>
          </a:p>
          <a:p>
            <a:pPr lvl="0" indent="0" marL="0">
              <a:buNone/>
            </a:pPr>
            <a:r>
              <a:rPr/>
              <a:t>30g bins: coarse histogram, PMF over bins</a:t>
            </a:r>
          </a:p>
          <a:p>
            <a:pPr lvl="0" indent="0" marL="0">
              <a:buNone/>
            </a:pPr>
            <a:r>
              <a:rPr/>
              <a:t>10g bins: finer, still PMF</a:t>
            </a:r>
          </a:p>
          <a:p>
            <a:pPr lvl="0" indent="0" marL="0">
              <a:buNone/>
            </a:pPr>
            <a:r>
              <a:rPr/>
              <a:t>2g bins: finer still</a:t>
            </a:r>
          </a:p>
          <a:p>
            <a:pPr lvl="0" indent="0" marL="0">
              <a:buNone/>
            </a:pPr>
            <a:r>
              <a:rPr/>
              <a:t>** bin → 0: PMF → PDF**</a:t>
            </a:r>
          </a:p>
        </p:txBody>
      </p:sp>
    </p:spTree>
  </p:cSld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From PMF to PDF — going continuous (3/4)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Weight isn’t heavy-or-light. It’s a real number.</a:t>
            </a:r>
          </a:p>
          <a:p>
            <a:pPr lvl="0" indent="0" marL="0">
              <a:buNone/>
            </a:pPr>
            <a:r>
              <a:rPr b="1"/>
              <a:t>We need a different object — a probability DENSITY.</a:t>
            </a:r>
          </a:p>
          <a:p>
            <a:pPr lvl="0" indent="0" marL="0">
              <a:buNone/>
            </a:pPr>
            <a:r>
              <a:rPr/>
              <a:t>Thought experiment — shrink the bins:</a:t>
            </a:r>
          </a:p>
          <a:p>
            <a:pPr lvl="0" indent="0" marL="0">
              <a:buNone/>
            </a:pPr>
            <a:r>
              <a:rPr/>
              <a:t>30g bins: coarse histogram, PMF over bins</a:t>
            </a:r>
          </a:p>
          <a:p>
            <a:pPr lvl="0" indent="0" marL="0">
              <a:buNone/>
            </a:pPr>
            <a:r>
              <a:rPr/>
              <a:t>10g bins: finer, still PMF</a:t>
            </a:r>
          </a:p>
          <a:p>
            <a:pPr lvl="0" indent="0" marL="0">
              <a:buNone/>
            </a:pPr>
            <a:r>
              <a:rPr/>
              <a:t>2g bins: finer still</a:t>
            </a:r>
          </a:p>
          <a:p>
            <a:pPr lvl="0" indent="0" marL="0">
              <a:buNone/>
            </a:pPr>
            <a:r>
              <a:rPr/>
              <a:t>** bin → 0: PMF → PDF**</a:t>
            </a:r>
          </a:p>
          <a:p>
            <a:pPr lvl="0" indent="0" marL="0">
              <a:buNone/>
            </a:pPr>
            <a:r>
              <a:rPr b="1"/>
              <a:t>The density f(x) is NOT a probability — it’s probability PER UNIT.</a:t>
            </a:r>
          </a:p>
          <a:p>
            <a:pPr lvl="0" indent="0" marL="0">
              <a:buNone/>
            </a:pPr>
            <a:r>
              <a:rPr/>
              <a:t>P(X ∈ [a, b]) = ∫ₐᵇ f(x) dx “area under the density”</a:t>
            </a:r>
          </a:p>
          <a:p>
            <a:pPr lvl="0" indent="0" marL="0">
              <a:buNone/>
            </a:pPr>
            <a:r>
              <a:rPr/>
              <a:t>PDF values can exceed 1. Probabilities cannot.</a:t>
            </a:r>
          </a:p>
        </p:txBody>
      </p:sp>
    </p:spTree>
  </p:cSld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From PMF to PDF — going continuous (4/4)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Weight isn’t heavy-or-light. It’s a real number.</a:t>
            </a:r>
          </a:p>
          <a:p>
            <a:pPr lvl="0" indent="0" marL="0">
              <a:buNone/>
            </a:pPr>
            <a:r>
              <a:rPr b="1"/>
              <a:t>We need a different object — a probability DENSITY.</a:t>
            </a:r>
          </a:p>
          <a:p>
            <a:pPr lvl="0" indent="0" marL="0">
              <a:buNone/>
            </a:pPr>
            <a:r>
              <a:rPr/>
              <a:t>Thought experiment — shrink the bins:</a:t>
            </a:r>
          </a:p>
          <a:p>
            <a:pPr lvl="0" indent="0" marL="0">
              <a:buNone/>
            </a:pPr>
            <a:r>
              <a:rPr/>
              <a:t>30g bins: coarse histogram, PMF over bins</a:t>
            </a:r>
          </a:p>
          <a:p>
            <a:pPr lvl="0" indent="0" marL="0">
              <a:buNone/>
            </a:pPr>
            <a:r>
              <a:rPr/>
              <a:t>10g bins: finer, still PMF</a:t>
            </a:r>
          </a:p>
          <a:p>
            <a:pPr lvl="0" indent="0" marL="0">
              <a:buNone/>
            </a:pPr>
            <a:r>
              <a:rPr/>
              <a:t>2g bins: finer still</a:t>
            </a:r>
          </a:p>
          <a:p>
            <a:pPr lvl="0" indent="0" marL="0">
              <a:buNone/>
            </a:pPr>
            <a:r>
              <a:rPr/>
              <a:t>** bin → 0: PMF → PDF**</a:t>
            </a:r>
          </a:p>
          <a:p>
            <a:pPr lvl="0" indent="0" marL="0">
              <a:buNone/>
            </a:pPr>
            <a:r>
              <a:rPr b="1"/>
              <a:t>The density f(x) is NOT a probability — it’s probability PER UNIT.</a:t>
            </a:r>
          </a:p>
          <a:p>
            <a:pPr lvl="0" indent="0" marL="0">
              <a:buNone/>
            </a:pPr>
            <a:r>
              <a:rPr/>
              <a:t>P(X ∈ [a, b]) = ∫ₐᵇ f(x) dx “area under the density”</a:t>
            </a:r>
          </a:p>
          <a:p>
            <a:pPr lvl="0" indent="0" marL="0">
              <a:buNone/>
            </a:pPr>
            <a:r>
              <a:rPr/>
              <a:t>PDF values can exceed 1. Probabilities cannot.</a:t>
            </a:r>
          </a:p>
          <a:p>
            <a:pPr lvl="0" indent="0" marL="0">
              <a:buNone/>
            </a:pPr>
            <a:r>
              <a:rPr/>
              <a:t>Why P(X = exactly 450g) = 0 for continuous X:</a:t>
            </a:r>
          </a:p>
          <a:p>
            <a:pPr lvl="0" indent="0" marL="0">
              <a:buNone/>
            </a:pPr>
            <a:r>
              <a:rPr/>
              <a:t>∫₄₅₀⁴⁵⁰ f(x) dx = 0 (integrate over a single point)</a:t>
            </a:r>
          </a:p>
          <a:p>
            <a:pPr lvl="0" indent="0" marL="0">
              <a:buNone/>
            </a:pPr>
            <a:r>
              <a:rPr b="1"/>
              <a:t>But P(X ∈ [449.5, 450.5]) ≈ f(450) · 1</a:t>
            </a:r>
          </a:p>
          <a:p>
            <a:pPr lvl="0" indent="0" marL="0">
              <a:buNone/>
            </a:pPr>
            <a:r>
              <a:rPr i="1"/>
              <a:t>“density × interval width = probability.”</a:t>
            </a:r>
          </a:p>
        </p:txBody>
      </p:sp>
    </p:spTree>
  </p:cSld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Shrinking bins → PDF as the limit</a:t>
            </a:r>
          </a:p>
        </p:txBody>
      </p:sp>
      <p:pic>
        <p:nvPicPr>
          <p:cNvPr descr="images/pmf_to_pdf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689100"/>
            <a:ext cx="8229600" cy="2400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Same underlying data, three bin widths. Blue curve: limit (PDF).</a:t>
            </a:r>
          </a:p>
        </p:txBody>
      </p:sp>
    </p:spTree>
  </p:cSld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Gaussian (normal)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Chibany’s bento weights vary — even within one meal type.</a:t>
            </a:r>
          </a:p>
          <a:p>
            <a:pPr lvl="0" indent="0" marL="0">
              <a:buNone/>
            </a:pPr>
            <a:r>
              <a:rPr/>
              <a:t>Tonkatsu weight is roughly N(500, 30²) — centered at 500, spread ≈ 30g.</a:t>
            </a:r>
          </a:p>
        </p:txBody>
      </p:sp>
    </p:spTree>
  </p:cSld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Gaussian (normal) distribution (2/5)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Chibany’s bento weights vary — even within one meal type.</a:t>
            </a:r>
          </a:p>
          <a:p>
            <a:pPr lvl="0" indent="0" marL="0">
              <a:buNone/>
            </a:pPr>
            <a:r>
              <a:rPr/>
              <a:t>Tonkatsu weight is roughly N(500, 30²) — centered at 500, spread ≈ 30g.</a:t>
            </a:r>
          </a:p>
          <a:p>
            <a:pPr lvl="0" indent="0" marL="0">
              <a:buNone/>
            </a:pPr>
            <a:r>
              <a:rPr b="1"/>
              <a:t>N(x | μ, σ²) = ( 1 / √(2π σ²) ) · exp( − (x − μ)² / (2σ²) )</a:t>
            </a:r>
          </a:p>
        </p:txBody>
      </p:sp>
    </p:spTree>
  </p:cSld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Gaussian (normal) distribution (3/5)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Chibany’s bento weights vary — even within one meal type.</a:t>
            </a:r>
          </a:p>
          <a:p>
            <a:pPr lvl="0" indent="0" marL="0">
              <a:buNone/>
            </a:pPr>
            <a:r>
              <a:rPr/>
              <a:t>Tonkatsu weight is roughly N(500, 30²) — centered at 500, spread ≈ 30g.</a:t>
            </a:r>
          </a:p>
          <a:p>
            <a:pPr lvl="0" indent="0" marL="0">
              <a:buNone/>
            </a:pPr>
            <a:r>
              <a:rPr b="1"/>
              <a:t>N(x | μ, σ²) = ( 1 / √(2π σ²) ) · exp( − (x − μ)² / (2σ²) )</a:t>
            </a:r>
          </a:p>
          <a:p>
            <a:pPr lvl="0" indent="0" marL="0">
              <a:buNone/>
            </a:pPr>
            <a:r>
              <a:rPr/>
              <a:t>Name each piece:</a:t>
            </a:r>
          </a:p>
          <a:p>
            <a:pPr lvl="0" indent="0" marL="0">
              <a:buNone/>
            </a:pPr>
            <a:r>
              <a:rPr/>
              <a:t>μ mean — where the curve peaks</a:t>
            </a:r>
          </a:p>
          <a:p>
            <a:pPr lvl="0" indent="0" marL="0">
              <a:buNone/>
            </a:pPr>
            <a:r>
              <a:rPr/>
              <a:t>σ² variance — how wide the curve is (σ = std dev)</a:t>
            </a:r>
          </a:p>
          <a:p>
            <a:pPr lvl="0" indent="0" marL="0">
              <a:buNone/>
            </a:pPr>
            <a:r>
              <a:rPr/>
              <a:t>exp(−(x−μ)²/(2σ²)) peaks at μ, falls off fast outside ±σ</a:t>
            </a:r>
          </a:p>
          <a:p>
            <a:pPr lvl="0" indent="0" marL="0">
              <a:buNone/>
            </a:pPr>
            <a:r>
              <a:rPr/>
              <a:t>1/√(2π σ²) the normalizer — makes total area = 1</a:t>
            </a:r>
          </a:p>
        </p:txBody>
      </p:sp>
    </p:spTree>
  </p:cSld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Gaussian (normal) distribution (4/5)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Chibany’s bento weights vary — even within one meal type.</a:t>
            </a:r>
          </a:p>
          <a:p>
            <a:pPr lvl="0" indent="0" marL="0">
              <a:buNone/>
            </a:pPr>
            <a:r>
              <a:rPr/>
              <a:t>Tonkatsu weight is roughly N(500, 30²) — centered at 500, spread ≈ 30g.</a:t>
            </a:r>
          </a:p>
          <a:p>
            <a:pPr lvl="0" indent="0" marL="0">
              <a:buNone/>
            </a:pPr>
            <a:r>
              <a:rPr b="1"/>
              <a:t>N(x | μ, σ²) = ( 1 / √(2π σ²) ) · exp( − (x − μ)² / (2σ²) )</a:t>
            </a:r>
          </a:p>
          <a:p>
            <a:pPr lvl="0" indent="0" marL="0">
              <a:buNone/>
            </a:pPr>
            <a:r>
              <a:rPr/>
              <a:t>Name each piece:</a:t>
            </a:r>
          </a:p>
          <a:p>
            <a:pPr lvl="0" indent="0" marL="0">
              <a:buNone/>
            </a:pPr>
            <a:r>
              <a:rPr/>
              <a:t>μ mean — where the curve peaks</a:t>
            </a:r>
          </a:p>
          <a:p>
            <a:pPr lvl="0" indent="0" marL="0">
              <a:buNone/>
            </a:pPr>
            <a:r>
              <a:rPr/>
              <a:t>σ² variance — how wide the curve is (σ = std dev)</a:t>
            </a:r>
          </a:p>
          <a:p>
            <a:pPr lvl="0" indent="0" marL="0">
              <a:buNone/>
            </a:pPr>
            <a:r>
              <a:rPr/>
              <a:t>exp(−(x−μ)²/(2σ²)) peaks at μ, falls off fast outside ±σ</a:t>
            </a:r>
          </a:p>
          <a:p>
            <a:pPr lvl="0" indent="0" marL="0">
              <a:buNone/>
            </a:pPr>
            <a:r>
              <a:rPr/>
              <a:t>1/√(2π σ²) the normalizer — makes total area = 1</a:t>
            </a:r>
          </a:p>
          <a:p>
            <a:pPr lvl="0" indent="0" marL="0">
              <a:buNone/>
            </a:pPr>
            <a:r>
              <a:rPr b="1"/>
              <a:t>Shape facts:</a:t>
            </a:r>
          </a:p>
          <a:p>
            <a:pPr lvl="0" indent="0" marL="0">
              <a:buNone/>
            </a:pPr>
            <a:r>
              <a:rPr/>
              <a:t>• symmetric around μ</a:t>
            </a:r>
          </a:p>
          <a:p>
            <a:pPr lvl="0" indent="0" marL="0">
              <a:buNone/>
            </a:pPr>
            <a:r>
              <a:rPr/>
              <a:t>• peak height = 1/√(2π σ²) — sharper curves are TALLER</a:t>
            </a:r>
          </a:p>
          <a:p>
            <a:pPr lvl="0" indent="0" marL="0">
              <a:buNone/>
            </a:pPr>
            <a:r>
              <a:rPr/>
              <a:t>• ~68% of mass within μ ± σ; ~95% within μ ± 2σ</a:t>
            </a:r>
          </a:p>
        </p:txBody>
      </p:sp>
    </p:spTree>
  </p:cSld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Gaussian (normal) distribution (5/5)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Chibany’s bento weights vary — even within one meal type.</a:t>
            </a:r>
          </a:p>
          <a:p>
            <a:pPr lvl="0" indent="0" marL="0">
              <a:buNone/>
            </a:pPr>
            <a:r>
              <a:rPr/>
              <a:t>Tonkatsu weight is roughly N(500, 30²) — centered at 500, spread ≈ 30g.</a:t>
            </a:r>
          </a:p>
          <a:p>
            <a:pPr lvl="0" indent="0" marL="0">
              <a:buNone/>
            </a:pPr>
            <a:r>
              <a:rPr b="1"/>
              <a:t>N(x | μ, σ²) = ( 1 / √(2π σ²) ) · exp( − (x − μ)² / (2σ²) )</a:t>
            </a:r>
          </a:p>
          <a:p>
            <a:pPr lvl="0" indent="0" marL="0">
              <a:buNone/>
            </a:pPr>
            <a:r>
              <a:rPr/>
              <a:t>Name each piece:</a:t>
            </a:r>
          </a:p>
          <a:p>
            <a:pPr lvl="0" indent="0" marL="0">
              <a:buNone/>
            </a:pPr>
            <a:r>
              <a:rPr/>
              <a:t>μ mean — where the curve peaks</a:t>
            </a:r>
          </a:p>
          <a:p>
            <a:pPr lvl="0" indent="0" marL="0">
              <a:buNone/>
            </a:pPr>
            <a:r>
              <a:rPr/>
              <a:t>σ² variance — how wide the curve is (σ = std dev)</a:t>
            </a:r>
          </a:p>
          <a:p>
            <a:pPr lvl="0" indent="0" marL="0">
              <a:buNone/>
            </a:pPr>
            <a:r>
              <a:rPr/>
              <a:t>exp(−(x−μ)²/(2σ²)) peaks at μ, falls off fast outside ±σ</a:t>
            </a:r>
          </a:p>
          <a:p>
            <a:pPr lvl="0" indent="0" marL="0">
              <a:buNone/>
            </a:pPr>
            <a:r>
              <a:rPr/>
              <a:t>1/√(2π σ²) the normalizer — makes total area = 1</a:t>
            </a:r>
          </a:p>
          <a:p>
            <a:pPr lvl="0" indent="0" marL="0">
              <a:buNone/>
            </a:pPr>
            <a:r>
              <a:rPr b="1"/>
              <a:t>Shape facts:</a:t>
            </a:r>
          </a:p>
          <a:p>
            <a:pPr lvl="0" indent="0" marL="0">
              <a:buNone/>
            </a:pPr>
            <a:r>
              <a:rPr/>
              <a:t>• symmetric around μ</a:t>
            </a:r>
          </a:p>
          <a:p>
            <a:pPr lvl="0" indent="0" marL="0">
              <a:buNone/>
            </a:pPr>
            <a:r>
              <a:rPr/>
              <a:t>• peak height = 1/√(2π σ²) — sharper curves are TALLER</a:t>
            </a:r>
          </a:p>
          <a:p>
            <a:pPr lvl="0" indent="0" marL="0">
              <a:buNone/>
            </a:pPr>
            <a:r>
              <a:rPr/>
              <a:t>• ~68% of mass within μ ± σ; ~95% within μ ± 2σ</a:t>
            </a:r>
          </a:p>
          <a:p>
            <a:pPr lvl="0" indent="0" marL="0">
              <a:buNone/>
            </a:pPr>
            <a:r>
              <a:rPr b="1"/>
              <a:t>Chibany’s two bento-weight distributions:</a:t>
            </a:r>
          </a:p>
          <a:p>
            <a:pPr lvl="0" indent="0" marL="0">
              <a:buNone/>
            </a:pPr>
            <a:r>
              <a:rPr/>
              <a:t>tonkatsu weight ~ N(500, 30²)</a:t>
            </a:r>
          </a:p>
          <a:p>
            <a:pPr lvl="0" indent="0" marL="0">
              <a:buNone/>
            </a:pPr>
            <a:r>
              <a:rPr/>
              <a:t>hamburger weight ~ N(350, 30²)</a:t>
            </a:r>
          </a:p>
          <a:p>
            <a:pPr lvl="0" indent="0" marL="0">
              <a:buNone/>
            </a:pPr>
            <a:r>
              <a:rPr i="1"/>
              <a:t>Two bell curves. They overlap in the middle — that’s where 450g lives.</a:t>
            </a:r>
          </a:p>
        </p:txBody>
      </p:sp>
    </p:spTree>
  </p:cSld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Gaussian — shape and the 68-95 rule</a:t>
            </a:r>
          </a:p>
        </p:txBody>
      </p:sp>
      <p:pic>
        <p:nvPicPr>
          <p:cNvPr descr="images/gaussian_shap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00100" y="1193800"/>
            <a:ext cx="75311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Dark fill: ±1σ (~68%). Light fill: ±2σ (~95%).</a:t>
            </a:r>
          </a:p>
        </p:txBody>
      </p:sp>
    </p:spTree>
  </p:cSld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Chibany’s two bento-weight likelihoods</a:t>
            </a:r>
          </a:p>
        </p:txBody>
      </p:sp>
      <p:pic>
        <p:nvPicPr>
          <p:cNvPr descr="images/tonk_hamb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00100" y="1193800"/>
            <a:ext cx="75311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Yellow line: observed 450g. Closer to tonkatsu, but within hamburger tail.</a:t>
            </a:r>
          </a:p>
        </p:txBody>
      </p:sp>
    </p:spTree>
  </p:cSld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Bayes with a continuous likelihood — worked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Today’s observation: D = weight = 450g.</a:t>
            </a:r>
          </a:p>
          <a:p>
            <a:pPr lvl="0" indent="0" marL="0">
              <a:buNone/>
            </a:pPr>
            <a:r>
              <a:rPr/>
              <a:t>What’s P(meal | weight = 450g) ?</a:t>
            </a:r>
          </a:p>
        </p:txBody>
      </p:sp>
    </p:spTree>
  </p:cSld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Bayes with a continuous likelihood — worked (2/6)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Today’s observation: D = weight = 450g.</a:t>
            </a:r>
          </a:p>
          <a:p>
            <a:pPr lvl="0" indent="0" marL="0">
              <a:buNone/>
            </a:pPr>
            <a:r>
              <a:rPr/>
              <a:t>What’s P(meal | weight = 450g) ?</a:t>
            </a:r>
          </a:p>
          <a:p>
            <a:pPr lvl="0" indent="0" marL="0">
              <a:buNone/>
            </a:pPr>
            <a:r>
              <a:rPr/>
              <a:t>Prior stays discrete: P(tonkatsu) = 0.7, P(hamburger) = 0.3</a:t>
            </a:r>
          </a:p>
        </p:txBody>
      </p:sp>
    </p:spTree>
  </p:cSld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Bayes with a continuous likelihood — worked (3/6)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Today’s observation: D = weight = 450g.</a:t>
            </a:r>
          </a:p>
          <a:p>
            <a:pPr lvl="0" indent="0" marL="0">
              <a:buNone/>
            </a:pPr>
            <a:r>
              <a:rPr/>
              <a:t>What’s P(meal | weight = 450g) ?</a:t>
            </a:r>
          </a:p>
          <a:p>
            <a:pPr lvl="0" indent="0" marL="0">
              <a:buNone/>
            </a:pPr>
            <a:r>
              <a:rPr/>
              <a:t>Prior stays discrete: P(tonkatsu) = 0.7, P(hamburger) = 0.3</a:t>
            </a:r>
          </a:p>
          <a:p>
            <a:pPr lvl="0" indent="0" marL="0">
              <a:buNone/>
            </a:pPr>
            <a:r>
              <a:rPr/>
              <a:t>Likelihood is a Gaussian density:</a:t>
            </a:r>
          </a:p>
          <a:p>
            <a:pPr lvl="0" indent="0" marL="0">
              <a:buNone/>
            </a:pPr>
            <a:r>
              <a:rPr/>
              <a:t>f_T = N(450 | 500, 30²)</a:t>
            </a:r>
          </a:p>
          <a:p>
            <a:pPr lvl="0" indent="0" marL="0">
              <a:buNone/>
            </a:pPr>
            <a:r>
              <a:rPr/>
              <a:t>= (1/√(2π·900)) · exp(−(−50)²/1800)</a:t>
            </a:r>
          </a:p>
          <a:p>
            <a:pPr lvl="0" indent="0" marL="0">
              <a:buNone/>
            </a:pPr>
            <a:r>
              <a:rPr/>
              <a:t>** = 0.01330 · exp(−1.389) ≈ 0.00332**</a:t>
            </a:r>
          </a:p>
          <a:p>
            <a:pPr lvl="0" indent="0" marL="0">
              <a:buNone/>
            </a:pPr>
            <a:r>
              <a:rPr/>
              <a:t>** f_H = N(450 | 350, 30²) ≈ 0.00044**</a:t>
            </a:r>
          </a:p>
          <a:p>
            <a:pPr lvl="0" indent="0" marL="0">
              <a:buNone/>
            </a:pPr>
            <a:r>
              <a:rPr i="1"/>
              <a:t>Density values, not probabilities. (Integral → probability.)</a:t>
            </a:r>
          </a:p>
        </p:txBody>
      </p:sp>
    </p:spTree>
  </p:cSld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Bayes with a continuous likelihood — worked (4/6)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Today’s observation: D = weight = 450g.</a:t>
            </a:r>
          </a:p>
          <a:p>
            <a:pPr lvl="0" indent="0" marL="0">
              <a:buNone/>
            </a:pPr>
            <a:r>
              <a:rPr/>
              <a:t>What’s P(meal | weight = 450g) ?</a:t>
            </a:r>
          </a:p>
          <a:p>
            <a:pPr lvl="0" indent="0" marL="0">
              <a:buNone/>
            </a:pPr>
            <a:r>
              <a:rPr/>
              <a:t>Prior stays discrete: P(tonkatsu) = 0.7, P(hamburger) = 0.3</a:t>
            </a:r>
          </a:p>
          <a:p>
            <a:pPr lvl="0" indent="0" marL="0">
              <a:buNone/>
            </a:pPr>
            <a:r>
              <a:rPr/>
              <a:t>Likelihood is a Gaussian density:</a:t>
            </a:r>
          </a:p>
          <a:p>
            <a:pPr lvl="0" indent="0" marL="0">
              <a:buNone/>
            </a:pPr>
            <a:r>
              <a:rPr/>
              <a:t>f_T = N(450 | 500, 30²)</a:t>
            </a:r>
          </a:p>
          <a:p>
            <a:pPr lvl="0" indent="0" marL="0">
              <a:buNone/>
            </a:pPr>
            <a:r>
              <a:rPr/>
              <a:t>= (1/√(2π·900)) · exp(−(−50)²/1800)</a:t>
            </a:r>
          </a:p>
          <a:p>
            <a:pPr lvl="0" indent="0" marL="0">
              <a:buNone/>
            </a:pPr>
            <a:r>
              <a:rPr/>
              <a:t>** = 0.01330 · exp(−1.389) ≈ 0.00332**</a:t>
            </a:r>
          </a:p>
          <a:p>
            <a:pPr lvl="0" indent="0" marL="0">
              <a:buNone/>
            </a:pPr>
            <a:r>
              <a:rPr/>
              <a:t>** f_H = N(450 | 350, 30²) ≈ 0.00044**</a:t>
            </a:r>
          </a:p>
          <a:p>
            <a:pPr lvl="0" indent="0" marL="0">
              <a:buNone/>
            </a:pPr>
            <a:r>
              <a:rPr i="1"/>
              <a:t>Density values, not probabilities. (Integral → probability.)</a:t>
            </a:r>
          </a:p>
          <a:p>
            <a:pPr lvl="0" indent="0" marL="0">
              <a:buNone/>
            </a:pPr>
            <a:r>
              <a:rPr/>
              <a:t>Numerator = prior · likelihood:</a:t>
            </a:r>
          </a:p>
          <a:p>
            <a:pPr lvl="0" indent="0" marL="0">
              <a:buNone/>
            </a:pPr>
            <a:r>
              <a:rPr/>
              <a:t>tonkatsu: 0.7 · 0.00332 = 0.00232</a:t>
            </a:r>
          </a:p>
          <a:p>
            <a:pPr lvl="0" indent="0" marL="0">
              <a:buNone/>
            </a:pPr>
            <a:r>
              <a:rPr/>
              <a:t>hamburger: 0.3 · 0.00044 = 0.000132</a:t>
            </a:r>
          </a:p>
          <a:p>
            <a:pPr lvl="0" indent="0" marL="0">
              <a:buNone/>
            </a:pPr>
            <a:r>
              <a:rPr b="1"/>
              <a:t>Evidence = sum = 0.00246</a:t>
            </a:r>
          </a:p>
        </p:txBody>
      </p:sp>
    </p:spTree>
  </p:cSld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Bayes with a continuous likelihood — worked (5/6)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Today’s observation: D = weight = 450g.</a:t>
            </a:r>
          </a:p>
          <a:p>
            <a:pPr lvl="0" indent="0" marL="0">
              <a:buNone/>
            </a:pPr>
            <a:r>
              <a:rPr/>
              <a:t>What’s P(meal | weight = 450g) ?</a:t>
            </a:r>
          </a:p>
          <a:p>
            <a:pPr lvl="0" indent="0" marL="0">
              <a:buNone/>
            </a:pPr>
            <a:r>
              <a:rPr/>
              <a:t>Prior stays discrete: P(tonkatsu) = 0.7, P(hamburger) = 0.3</a:t>
            </a:r>
          </a:p>
          <a:p>
            <a:pPr lvl="0" indent="0" marL="0">
              <a:buNone/>
            </a:pPr>
            <a:r>
              <a:rPr/>
              <a:t>Likelihood is a Gaussian density:</a:t>
            </a:r>
          </a:p>
          <a:p>
            <a:pPr lvl="0" indent="0" marL="0">
              <a:buNone/>
            </a:pPr>
            <a:r>
              <a:rPr/>
              <a:t>f_T = N(450 | 500, 30²)</a:t>
            </a:r>
          </a:p>
          <a:p>
            <a:pPr lvl="0" indent="0" marL="0">
              <a:buNone/>
            </a:pPr>
            <a:r>
              <a:rPr/>
              <a:t>= (1/√(2π·900)) · exp(−(−50)²/1800)</a:t>
            </a:r>
          </a:p>
          <a:p>
            <a:pPr lvl="0" indent="0" marL="0">
              <a:buNone/>
            </a:pPr>
            <a:r>
              <a:rPr/>
              <a:t>** = 0.01330 · exp(−1.389) ≈ 0.00332**</a:t>
            </a:r>
          </a:p>
          <a:p>
            <a:pPr lvl="0" indent="0" marL="0">
              <a:buNone/>
            </a:pPr>
            <a:r>
              <a:rPr/>
              <a:t>** f_H = N(450 | 350, 30²) ≈ 0.00044**</a:t>
            </a:r>
          </a:p>
          <a:p>
            <a:pPr lvl="0" indent="0" marL="0">
              <a:buNone/>
            </a:pPr>
            <a:r>
              <a:rPr i="1"/>
              <a:t>Density values, not probabilities. (Integral → probability.)</a:t>
            </a:r>
          </a:p>
          <a:p>
            <a:pPr lvl="0" indent="0" marL="0">
              <a:buNone/>
            </a:pPr>
            <a:r>
              <a:rPr/>
              <a:t>Numerator = prior · likelihood:</a:t>
            </a:r>
          </a:p>
          <a:p>
            <a:pPr lvl="0" indent="0" marL="0">
              <a:buNone/>
            </a:pPr>
            <a:r>
              <a:rPr/>
              <a:t>tonkatsu: 0.7 · 0.00332 = 0.00232</a:t>
            </a:r>
          </a:p>
          <a:p>
            <a:pPr lvl="0" indent="0" marL="0">
              <a:buNone/>
            </a:pPr>
            <a:r>
              <a:rPr/>
              <a:t>hamburger: 0.3 · 0.00044 = 0.000132</a:t>
            </a:r>
          </a:p>
          <a:p>
            <a:pPr lvl="0" indent="0" marL="0">
              <a:buNone/>
            </a:pPr>
            <a:r>
              <a:rPr b="1"/>
              <a:t>Evidence = sum = 0.00246</a:t>
            </a:r>
          </a:p>
          <a:p>
            <a:pPr lvl="0" indent="0" marL="0">
              <a:buNone/>
            </a:pPr>
            <a:r>
              <a:rPr/>
              <a:t>Posterior:</a:t>
            </a:r>
          </a:p>
          <a:p>
            <a:pPr lvl="0" indent="0" marL="0">
              <a:buNone/>
            </a:pPr>
            <a:r>
              <a:rPr/>
              <a:t>** P(tonkatsu | 450g) = 0.00232 / 0.00246 ≈ 0.946**</a:t>
            </a:r>
          </a:p>
          <a:p>
            <a:pPr lvl="0" indent="0" marL="0">
              <a:buNone/>
            </a:pPr>
            <a:r>
              <a:rPr/>
              <a:t>** P(hamburger | 450g) = 0.000132 / 0.00246 ≈ 0.054**</a:t>
            </a:r>
          </a:p>
        </p:txBody>
      </p:sp>
    </p:spTree>
  </p:cSld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Bayes with a continuous likelihood — worked (6/6)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Today’s observation: D = weight = 450g.</a:t>
            </a:r>
          </a:p>
          <a:p>
            <a:pPr lvl="0" indent="0" marL="0">
              <a:buNone/>
            </a:pPr>
            <a:r>
              <a:rPr/>
              <a:t>What’s P(meal | weight = 450g) ?</a:t>
            </a:r>
          </a:p>
          <a:p>
            <a:pPr lvl="0" indent="0" marL="0">
              <a:buNone/>
            </a:pPr>
            <a:r>
              <a:rPr/>
              <a:t>Prior stays discrete: P(tonkatsu) = 0.7, P(hamburger) = 0.3</a:t>
            </a:r>
          </a:p>
          <a:p>
            <a:pPr lvl="0" indent="0" marL="0">
              <a:buNone/>
            </a:pPr>
            <a:r>
              <a:rPr/>
              <a:t>Likelihood is a Gaussian density:</a:t>
            </a:r>
          </a:p>
          <a:p>
            <a:pPr lvl="0" indent="0" marL="0">
              <a:buNone/>
            </a:pPr>
            <a:r>
              <a:rPr/>
              <a:t>f_T = N(450 | 500, 30²)</a:t>
            </a:r>
          </a:p>
          <a:p>
            <a:pPr lvl="0" indent="0" marL="0">
              <a:buNone/>
            </a:pPr>
            <a:r>
              <a:rPr/>
              <a:t>= (1/√(2π·900)) · exp(−(−50)²/1800)</a:t>
            </a:r>
          </a:p>
          <a:p>
            <a:pPr lvl="0" indent="0" marL="0">
              <a:buNone/>
            </a:pPr>
            <a:r>
              <a:rPr/>
              <a:t>** = 0.01330 · exp(−1.389) ≈ 0.00332**</a:t>
            </a:r>
          </a:p>
          <a:p>
            <a:pPr lvl="0" indent="0" marL="0">
              <a:buNone/>
            </a:pPr>
            <a:r>
              <a:rPr/>
              <a:t>** f_H = N(450 | 350, 30²) ≈ 0.00044**</a:t>
            </a:r>
          </a:p>
          <a:p>
            <a:pPr lvl="0" indent="0" marL="0">
              <a:buNone/>
            </a:pPr>
            <a:r>
              <a:rPr i="1"/>
              <a:t>Density values, not probabilities. (Integral → probability.)</a:t>
            </a:r>
          </a:p>
          <a:p>
            <a:pPr lvl="0" indent="0" marL="0">
              <a:buNone/>
            </a:pPr>
            <a:r>
              <a:rPr/>
              <a:t>Numerator = prior · likelihood:</a:t>
            </a:r>
          </a:p>
          <a:p>
            <a:pPr lvl="0" indent="0" marL="0">
              <a:buNone/>
            </a:pPr>
            <a:r>
              <a:rPr/>
              <a:t>tonkatsu: 0.7 · 0.00332 = 0.00232</a:t>
            </a:r>
          </a:p>
          <a:p>
            <a:pPr lvl="0" indent="0" marL="0">
              <a:buNone/>
            </a:pPr>
            <a:r>
              <a:rPr/>
              <a:t>hamburger: 0.3 · 0.00044 = 0.000132</a:t>
            </a:r>
          </a:p>
          <a:p>
            <a:pPr lvl="0" indent="0" marL="0">
              <a:buNone/>
            </a:pPr>
            <a:r>
              <a:rPr b="1"/>
              <a:t>Evidence = sum = 0.00246</a:t>
            </a:r>
          </a:p>
          <a:p>
            <a:pPr lvl="0" indent="0" marL="0">
              <a:buNone/>
            </a:pPr>
            <a:r>
              <a:rPr/>
              <a:t>Posterior:</a:t>
            </a:r>
          </a:p>
          <a:p>
            <a:pPr lvl="0" indent="0" marL="0">
              <a:buNone/>
            </a:pPr>
            <a:r>
              <a:rPr/>
              <a:t>** P(tonkatsu | 450g) = 0.00232 / 0.00246 ≈ 0.946**</a:t>
            </a:r>
          </a:p>
          <a:p>
            <a:pPr lvl="0" indent="0" marL="0">
              <a:buNone/>
            </a:pPr>
            <a:r>
              <a:rPr/>
              <a:t>** P(hamburger | 450g) = 0.000132 / 0.00246 ≈ 0.054**</a:t>
            </a:r>
          </a:p>
          <a:p>
            <a:pPr lvl="0" indent="0" marL="0">
              <a:buNone/>
            </a:pPr>
            <a:r>
              <a:rPr b="1"/>
              <a:t>Prior → Posterior: 0.70 → 0.946 (tonkatsu)</a:t>
            </a:r>
          </a:p>
          <a:p>
            <a:pPr lvl="0" indent="0" marL="0">
              <a:buNone/>
            </a:pPr>
            <a:r>
              <a:rPr/>
              <a:t>** 0.30 → 0.054 (hamburger)**</a:t>
            </a:r>
          </a:p>
          <a:p>
            <a:pPr lvl="0" indent="0" marL="0">
              <a:buNone/>
            </a:pPr>
            <a:r>
              <a:rPr/>
              <a:t>Block 4 coarse (heavy-vs-light): 0.70 → 0.91</a:t>
            </a:r>
          </a:p>
          <a:p>
            <a:pPr lvl="0" indent="0" marL="0">
              <a:buNone/>
            </a:pPr>
            <a:r>
              <a:rPr/>
              <a:t>Block 6 continuous (exact weight): 0.70 → 0.95</a:t>
            </a:r>
          </a:p>
          <a:p>
            <a:pPr lvl="0" indent="0" marL="0">
              <a:buNone/>
            </a:pPr>
            <a:r>
              <a:rPr i="1"/>
              <a:t>Exact continuous value is more informative than a bucket.</a:t>
            </a:r>
          </a:p>
        </p:txBody>
      </p:sp>
    </p:spTree>
  </p:cSld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Break — 10 minutes</a:t>
            </a:r>
          </a:p>
        </p:txBody>
      </p:sp>
    </p:spTree>
  </p:cSld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Welcome + meet Chibany 0:00</a:t>
            </a:r>
          </a:p>
          <a:p>
            <a:pPr lvl="0"/>
            <a:r>
              <a:rPr/>
              <a:t>Marr’s three levels 0:08</a:t>
            </a:r>
          </a:p>
          <a:p>
            <a:pPr lvl="0"/>
            <a:r>
              <a:rPr/>
              <a:t>Notation lock-in 0:15</a:t>
            </a:r>
          </a:p>
          <a:p>
            <a:pPr lvl="0"/>
            <a:r>
              <a:rPr/>
              <a:t>Joint + marginalization 0:18</a:t>
            </a:r>
          </a:p>
          <a:p>
            <a:pPr lvl="0"/>
            <a:r>
              <a:rPr/>
              <a:t>Expected value + discrete 0:30</a:t>
            </a:r>
          </a:p>
          <a:p>
            <a:pPr lvl="0"/>
            <a:r>
              <a:rPr/>
              <a:t>Continuous prob + Gaussian 0:45</a:t>
            </a:r>
          </a:p>
          <a:p>
            <a:pPr lvl="0"/>
            <a:r>
              <a:rPr/>
              <a:t>Break 1:05</a:t>
            </a:r>
          </a:p>
          <a:p>
            <a:pPr lvl="0"/>
            <a:r>
              <a:rPr/>
              <a:t>Gaussian-Gaussian update 1:15</a:t>
            </a:r>
          </a:p>
          <a:p>
            <a:pPr lvl="0"/>
            <a:r>
              <a:rPr/>
              <a:t>Paper presentations 1:40</a:t>
            </a:r>
          </a:p>
          <a:p>
            <a:pPr lvl="0"/>
            <a:r>
              <a:rPr/>
              <a:t>Admin + Week 3 1:50</a:t>
            </a:r>
          </a:p>
        </p:txBody>
      </p:sp>
    </p:spTree>
  </p:cSld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Gaussian-Gaussian update — launching Week 3</a:t>
            </a:r>
          </a:p>
        </p:txBody>
      </p:sp>
    </p:spTree>
  </p:cSld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would Chibany want to infer μ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So far Chibany asks: “what’s in TODAY’s bento?”</a:t>
            </a:r>
          </a:p>
          <a:p>
            <a:pPr lvl="0" indent="0" marL="0">
              <a:buNone/>
            </a:pPr>
            <a:r>
              <a:rPr/>
              <a:t>Today’s weight, 450g → posterior over today’s meal.</a:t>
            </a:r>
          </a:p>
        </p:txBody>
      </p:sp>
    </p:spTree>
  </p:cSld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would Chibany want to infer μ ? (2/3)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So far Chibany asks: “what’s in TODAY’s bento?”</a:t>
            </a:r>
          </a:p>
          <a:p>
            <a:pPr lvl="0" indent="0" marL="0">
              <a:buNone/>
            </a:pPr>
            <a:r>
              <a:rPr/>
              <a:t>Today’s weight, 450g → posterior over today’s meal.</a:t>
            </a:r>
          </a:p>
          <a:p>
            <a:pPr lvl="0" indent="0" marL="0">
              <a:buNone/>
            </a:pPr>
            <a:r>
              <a:rPr b="1"/>
              <a:t>But to DO that well, Chibany needs to know:</a:t>
            </a:r>
          </a:p>
          <a:p>
            <a:pPr lvl="0" indent="0" marL="0">
              <a:buNone/>
            </a:pPr>
            <a:r>
              <a:rPr/>
              <a:t>How much DO tonkatsu bentos typically weigh?</a:t>
            </a:r>
          </a:p>
          <a:p>
            <a:pPr lvl="0" indent="0" marL="0">
              <a:buNone/>
            </a:pPr>
            <a:r>
              <a:rPr/>
              <a:t>* (We wrote “500” as if it were known. But is it?)*</a:t>
            </a:r>
          </a:p>
        </p:txBody>
      </p:sp>
    </p:spTree>
  </p:cSld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would Chibany want to infer μ ? (3/3)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So far Chibany asks: “what’s in TODAY’s bento?”</a:t>
            </a:r>
          </a:p>
          <a:p>
            <a:pPr lvl="0" indent="0" marL="0">
              <a:buNone/>
            </a:pPr>
            <a:r>
              <a:rPr/>
              <a:t>Today’s weight, 450g → posterior over today’s meal.</a:t>
            </a:r>
          </a:p>
          <a:p>
            <a:pPr lvl="0" indent="0" marL="0">
              <a:buNone/>
            </a:pPr>
            <a:r>
              <a:rPr b="1"/>
              <a:t>But to DO that well, Chibany needs to know:</a:t>
            </a:r>
          </a:p>
          <a:p>
            <a:pPr lvl="0" indent="0" marL="0">
              <a:buNone/>
            </a:pPr>
            <a:r>
              <a:rPr/>
              <a:t>How much DO tonkatsu bentos typically weigh?</a:t>
            </a:r>
          </a:p>
          <a:p>
            <a:pPr lvl="0" indent="0" marL="0">
              <a:buNone/>
            </a:pPr>
            <a:r>
              <a:rPr/>
              <a:t>* (We wrote “500” as if it were known. But is it?)*</a:t>
            </a:r>
          </a:p>
          <a:p>
            <a:pPr lvl="0" indent="0" marL="0">
              <a:buNone/>
            </a:pPr>
            <a:r>
              <a:rPr b="1"/>
              <a:t>Shift in perspective:</a:t>
            </a:r>
          </a:p>
          <a:p>
            <a:pPr lvl="0" indent="0" marL="0">
              <a:buNone/>
            </a:pPr>
            <a:r>
              <a:rPr/>
              <a:t>• Yesterday’s Bayes: H = today’s MEAL (discrete hypothesis)</a:t>
            </a:r>
          </a:p>
          <a:p>
            <a:pPr lvl="0" indent="0" marL="0">
              <a:buNone/>
            </a:pPr>
            <a:r>
              <a:rPr/>
              <a:t>• Today’s Bayes: H = tonkatsu’s MEAN WEIGHT μ (continuous parameter)</a:t>
            </a:r>
          </a:p>
          <a:p>
            <a:pPr lvl="0" indent="0" marL="0">
              <a:buNone/>
            </a:pPr>
            <a:r>
              <a:rPr i="1"/>
              <a:t>Why Bayesian inference on μ instead of just averaging?</a:t>
            </a:r>
          </a:p>
          <a:p>
            <a:pPr lvl="0" indent="0" marL="0">
              <a:buNone/>
            </a:pPr>
            <a:r>
              <a:rPr/>
              <a:t>Because Chibany has PRIOR knowledge (last semester), plus LIMITED data.</a:t>
            </a:r>
          </a:p>
          <a:p>
            <a:pPr lvl="0" indent="0" marL="0">
              <a:buNone/>
            </a:pPr>
            <a:r>
              <a:rPr/>
              <a:t>Averaging throws the prior away. Bayes combines both.</a:t>
            </a:r>
          </a:p>
        </p:txBody>
      </p:sp>
    </p:spTree>
  </p:cSld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Step 1 — the prior μ ~ N(μ₀, σ₀²)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Chibany’s belief about μ BEFORE observing any new weights:</a:t>
            </a:r>
          </a:p>
          <a:p>
            <a:pPr lvl="0" indent="0" marL="0">
              <a:buNone/>
            </a:pPr>
            <a:r>
              <a:rPr/>
              <a:t>** μ ~ N(μ₀, σ₀²)**</a:t>
            </a:r>
          </a:p>
          <a:p>
            <a:pPr lvl="0" indent="0" marL="0">
              <a:buNone/>
            </a:pPr>
            <a:r>
              <a:rPr i="1"/>
              <a:t>“I think μ is around μ₀, give or take σ₀.”</a:t>
            </a:r>
          </a:p>
        </p:txBody>
      </p:sp>
    </p:spTree>
  </p:cSld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Step 1 — the prior μ ~ N(μ₀, σ₀²) (2/3)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Chibany’s belief about μ BEFORE observing any new weights:</a:t>
            </a:r>
          </a:p>
          <a:p>
            <a:pPr lvl="0" indent="0" marL="0">
              <a:buNone/>
            </a:pPr>
            <a:r>
              <a:rPr/>
              <a:t>** μ ~ N(μ₀, σ₀²)**</a:t>
            </a:r>
          </a:p>
          <a:p>
            <a:pPr lvl="0" indent="0" marL="0">
              <a:buNone/>
            </a:pPr>
            <a:r>
              <a:rPr i="1"/>
              <a:t>“I think μ is around μ₀, give or take σ₀.”</a:t>
            </a:r>
          </a:p>
          <a:p>
            <a:pPr lvl="0" indent="0" marL="0">
              <a:buNone/>
            </a:pPr>
            <a:r>
              <a:rPr/>
              <a:t>From last semester’s memory:</a:t>
            </a:r>
          </a:p>
          <a:p>
            <a:pPr lvl="0" indent="0" marL="0">
              <a:buNone/>
            </a:pPr>
            <a:r>
              <a:rPr/>
              <a:t>** μ₀ = 500 (best guess) σ₀ = 20 (uncertainty)**</a:t>
            </a:r>
          </a:p>
          <a:p>
            <a:pPr lvl="0" indent="0" marL="0">
              <a:buNone/>
            </a:pPr>
            <a:r>
              <a:rPr b="1"/>
              <a:t>Prior: μ ~ N(500, 20²)</a:t>
            </a:r>
          </a:p>
        </p:txBody>
      </p:sp>
    </p:spTree>
  </p:cSld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Step 1 — the prior μ ~ N(μ₀, σ₀²) (3/3)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Chibany’s belief about μ BEFORE observing any new weights:</a:t>
            </a:r>
          </a:p>
          <a:p>
            <a:pPr lvl="0" indent="0" marL="0">
              <a:buNone/>
            </a:pPr>
            <a:r>
              <a:rPr/>
              <a:t>** μ ~ N(μ₀, σ₀²)**</a:t>
            </a:r>
          </a:p>
          <a:p>
            <a:pPr lvl="0" indent="0" marL="0">
              <a:buNone/>
            </a:pPr>
            <a:r>
              <a:rPr i="1"/>
              <a:t>“I think μ is around μ₀, give or take σ₀.”</a:t>
            </a:r>
          </a:p>
          <a:p>
            <a:pPr lvl="0" indent="0" marL="0">
              <a:buNone/>
            </a:pPr>
            <a:r>
              <a:rPr/>
              <a:t>From last semester’s memory:</a:t>
            </a:r>
          </a:p>
          <a:p>
            <a:pPr lvl="0" indent="0" marL="0">
              <a:buNone/>
            </a:pPr>
            <a:r>
              <a:rPr/>
              <a:t>** μ₀ = 500 (best guess) σ₀ = 20 (uncertainty)**</a:t>
            </a:r>
          </a:p>
          <a:p>
            <a:pPr lvl="0" indent="0" marL="0">
              <a:buNone/>
            </a:pPr>
            <a:r>
              <a:rPr b="1"/>
              <a:t>Prior: μ ~ N(500, 20²)</a:t>
            </a:r>
          </a:p>
          <a:p>
            <a:pPr lvl="0" indent="0" marL="0">
              <a:buNone/>
            </a:pPr>
            <a:r>
              <a:rPr b="1"/>
              <a:t>The conceptual leap: priors over PARAMETERS.</a:t>
            </a:r>
          </a:p>
          <a:p>
            <a:pPr lvl="0" indent="0" marL="0">
              <a:buNone/>
            </a:pPr>
            <a:r>
              <a:rPr/>
              <a:t>The Gaussian is NOT over weights now. It’s over μ.</a:t>
            </a:r>
          </a:p>
          <a:p>
            <a:pPr lvl="0" indent="0" marL="0">
              <a:buNone/>
            </a:pPr>
            <a:r>
              <a:rPr/>
              <a:t>A prior is a distribution over anything hidden —</a:t>
            </a:r>
          </a:p>
          <a:p>
            <a:pPr lvl="0" indent="0" marL="0">
              <a:buNone/>
            </a:pPr>
            <a:r>
              <a:rPr b="1"/>
              <a:t>including parameters of OTHER distributions.</a:t>
            </a:r>
          </a:p>
        </p:txBody>
      </p:sp>
    </p:spTree>
  </p:cSld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Step 2 — the likelihood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Chibany weighs one bento: D₁ = 510g.</a:t>
            </a:r>
          </a:p>
          <a:p>
            <a:pPr lvl="0" indent="0" marL="0">
              <a:buNone/>
            </a:pPr>
            <a:r>
              <a:rPr/>
              <a:t>(Assume σ = 30 is known — we infer μ only.)</a:t>
            </a:r>
          </a:p>
        </p:txBody>
      </p:sp>
    </p:spTree>
  </p:cSld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Step 2 — the likelihood (2/3)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Chibany weighs one bento: D₁ = 510g.</a:t>
            </a:r>
          </a:p>
          <a:p>
            <a:pPr lvl="0" indent="0" marL="0">
              <a:buNone/>
            </a:pPr>
            <a:r>
              <a:rPr/>
              <a:t>(Assume σ = 30 is known — we infer μ only.)</a:t>
            </a:r>
          </a:p>
          <a:p>
            <a:pPr lvl="0" indent="0" marL="0">
              <a:buNone/>
            </a:pPr>
            <a:r>
              <a:rPr/>
              <a:t>Likelihood:</a:t>
            </a:r>
          </a:p>
          <a:p>
            <a:pPr lvl="0" indent="0" marL="0">
              <a:buNone/>
            </a:pPr>
            <a:r>
              <a:rPr/>
              <a:t>** P(D₁ = 510 | μ) = N(510 | μ, 30²)**</a:t>
            </a:r>
          </a:p>
        </p:txBody>
      </p:sp>
    </p:spTree>
  </p:cSld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Step 2 — the likelihood (3/3)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Chibany weighs one bento: D₁ = 510g.</a:t>
            </a:r>
          </a:p>
          <a:p>
            <a:pPr lvl="0" indent="0" marL="0">
              <a:buNone/>
            </a:pPr>
            <a:r>
              <a:rPr/>
              <a:t>(Assume σ = 30 is known — we infer μ only.)</a:t>
            </a:r>
          </a:p>
          <a:p>
            <a:pPr lvl="0" indent="0" marL="0">
              <a:buNone/>
            </a:pPr>
            <a:r>
              <a:rPr/>
              <a:t>Likelihood:</a:t>
            </a:r>
          </a:p>
          <a:p>
            <a:pPr lvl="0" indent="0" marL="0">
              <a:buNone/>
            </a:pPr>
            <a:r>
              <a:rPr/>
              <a:t>** P(D₁ = 510 | μ) = N(510 | μ, 30²)**</a:t>
            </a:r>
          </a:p>
          <a:p>
            <a:pPr lvl="0" indent="0" marL="0">
              <a:buNone/>
            </a:pPr>
            <a:r>
              <a:rPr b="1"/>
              <a:t>As a function of μ, this is ALSO a Gaussian —</a:t>
            </a:r>
          </a:p>
          <a:p>
            <a:pPr lvl="0" indent="0" marL="0">
              <a:buNone/>
            </a:pPr>
            <a:r>
              <a:rPr b="1"/>
              <a:t>peaked at μ = 510, width σ = 30.</a:t>
            </a:r>
          </a:p>
          <a:p>
            <a:pPr lvl="0" indent="0" marL="0">
              <a:buNone/>
            </a:pPr>
            <a:r>
              <a:rPr/>
              <a:t>So we have two Gaussian functions of μ:</a:t>
            </a:r>
          </a:p>
          <a:p>
            <a:pPr lvl="0" indent="0" marL="0">
              <a:buNone/>
            </a:pPr>
            <a:r>
              <a:rPr/>
              <a:t>prior (peaked at 500, tight)</a:t>
            </a:r>
          </a:p>
          <a:p>
            <a:pPr lvl="0" indent="0" marL="0">
              <a:buNone/>
            </a:pPr>
            <a:r>
              <a:rPr/>
              <a:t>likelihood (peaked at 510, broader)</a:t>
            </a:r>
          </a:p>
        </p:txBody>
      </p:sp>
    </p:spTree>
  </p:cSld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Gaussian × Gaussian = Gaussian (derivation sketch)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Multiply the two densities (drop the normalizers — collect at end):</a:t>
            </a:r>
          </a:p>
          <a:p>
            <a:pPr lvl="0" indent="0" marL="0">
              <a:buNone/>
            </a:pPr>
            <a:r>
              <a:rPr/>
              <a:t>** P(μ|D) ∝ exp( −(μ − μ₀)² / 2σ₀² ) · exp( −(D − μ)² / 2σ² )**</a:t>
            </a:r>
          </a:p>
        </p:txBody>
      </p:sp>
    </p:spTree>
  </p:cSld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Gaussian × Gaussian = Gaussian (derivation sketch) (2/4)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Multiply the two densities (drop the normalizers — collect at end):</a:t>
            </a:r>
          </a:p>
          <a:p>
            <a:pPr lvl="0" indent="0" marL="0">
              <a:buNone/>
            </a:pPr>
            <a:r>
              <a:rPr/>
              <a:t>** P(μ|D) ∝ exp( −(μ − μ₀)² / 2σ₀² ) · exp( −(D − μ)² / 2σ² )**</a:t>
            </a:r>
          </a:p>
          <a:p>
            <a:pPr lvl="0" indent="0" marL="0">
              <a:buNone/>
            </a:pPr>
            <a:r>
              <a:rPr/>
              <a:t>Combine exponents:</a:t>
            </a:r>
          </a:p>
          <a:p>
            <a:pPr lvl="0" indent="0" marL="0">
              <a:buNone/>
            </a:pPr>
            <a:r>
              <a:rPr/>
              <a:t>** ∝ exp( − [ (μ − μ₀)² / 2σ₀² + (D − μ)² / 2σ² ] )**</a:t>
            </a:r>
          </a:p>
          <a:p>
            <a:pPr lvl="0" indent="0" marL="0">
              <a:buNone/>
            </a:pPr>
            <a:r>
              <a:rPr/>
              <a:t>The thing in [ ] is a quadratic in μ — A·μ² − 2B·μ + const.</a:t>
            </a:r>
          </a:p>
        </p:txBody>
      </p:sp>
    </p:spTree>
  </p:cSld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Gaussian × Gaussian = Gaussian (derivation sketch) (3/4)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Multiply the two densities (drop the normalizers — collect at end):</a:t>
            </a:r>
          </a:p>
          <a:p>
            <a:pPr lvl="0" indent="0" marL="0">
              <a:buNone/>
            </a:pPr>
            <a:r>
              <a:rPr/>
              <a:t>** P(μ|D) ∝ exp( −(μ − μ₀)² / 2σ₀² ) · exp( −(D − μ)² / 2σ² )**</a:t>
            </a:r>
          </a:p>
          <a:p>
            <a:pPr lvl="0" indent="0" marL="0">
              <a:buNone/>
            </a:pPr>
            <a:r>
              <a:rPr/>
              <a:t>Combine exponents:</a:t>
            </a:r>
          </a:p>
          <a:p>
            <a:pPr lvl="0" indent="0" marL="0">
              <a:buNone/>
            </a:pPr>
            <a:r>
              <a:rPr/>
              <a:t>** ∝ exp( − [ (μ − μ₀)² / 2σ₀² + (D − μ)² / 2σ² ] )**</a:t>
            </a:r>
          </a:p>
          <a:p>
            <a:pPr lvl="0" indent="0" marL="0">
              <a:buNone/>
            </a:pPr>
            <a:r>
              <a:rPr/>
              <a:t>The thing in [ ] is a quadratic in μ — A·μ² − 2B·μ + const.</a:t>
            </a:r>
          </a:p>
          <a:p>
            <a:pPr lvl="0" indent="0" marL="0">
              <a:buNone/>
            </a:pPr>
            <a:r>
              <a:rPr b="1"/>
              <a:t>Complete the square → exp( −(μ − μ_post)² / 2σ²_post ) + const.</a:t>
            </a:r>
          </a:p>
          <a:p>
            <a:pPr lvl="0" indent="0" marL="0">
              <a:buNone/>
            </a:pPr>
            <a:r>
              <a:rPr b="1"/>
              <a:t>That’s the kernel of a Gaussian in μ. Posterior is Gaussian.</a:t>
            </a:r>
          </a:p>
        </p:txBody>
      </p:sp>
    </p:spTree>
  </p:cSld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Gaussian × Gaussian = Gaussian (derivation sketch) (4/4)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Multiply the two densities (drop the normalizers — collect at end):</a:t>
            </a:r>
          </a:p>
          <a:p>
            <a:pPr lvl="0" indent="0" marL="0">
              <a:buNone/>
            </a:pPr>
            <a:r>
              <a:rPr/>
              <a:t>** P(μ|D) ∝ exp( −(μ − μ₀)² / 2σ₀² ) · exp( −(D − μ)² / 2σ² )**</a:t>
            </a:r>
          </a:p>
          <a:p>
            <a:pPr lvl="0" indent="0" marL="0">
              <a:buNone/>
            </a:pPr>
            <a:r>
              <a:rPr/>
              <a:t>Combine exponents:</a:t>
            </a:r>
          </a:p>
          <a:p>
            <a:pPr lvl="0" indent="0" marL="0">
              <a:buNone/>
            </a:pPr>
            <a:r>
              <a:rPr/>
              <a:t>** ∝ exp( − [ (μ − μ₀)² / 2σ₀² + (D − μ)² / 2σ² ] )**</a:t>
            </a:r>
          </a:p>
          <a:p>
            <a:pPr lvl="0" indent="0" marL="0">
              <a:buNone/>
            </a:pPr>
            <a:r>
              <a:rPr/>
              <a:t>The thing in [ ] is a quadratic in μ — A·μ² − 2B·μ + const.</a:t>
            </a:r>
          </a:p>
          <a:p>
            <a:pPr lvl="0" indent="0" marL="0">
              <a:buNone/>
            </a:pPr>
            <a:r>
              <a:rPr b="1"/>
              <a:t>Complete the square → exp( −(μ − μ_post)² / 2σ²_post ) + const.</a:t>
            </a:r>
          </a:p>
          <a:p>
            <a:pPr lvl="0" indent="0" marL="0">
              <a:buNone/>
            </a:pPr>
            <a:r>
              <a:rPr b="1"/>
              <a:t>That’s the kernel of a Gaussian in μ. Posterior is Gaussian.</a:t>
            </a:r>
          </a:p>
          <a:p>
            <a:pPr lvl="0" indent="0" marL="0">
              <a:buNone/>
            </a:pPr>
            <a:r>
              <a:rPr/>
              <a:t>The new mean and variance come from matching coefficients:</a:t>
            </a:r>
          </a:p>
          <a:p>
            <a:pPr lvl="0" indent="0" marL="0">
              <a:buNone/>
            </a:pPr>
            <a:r>
              <a:rPr/>
              <a:t>** 1 / σ²_post = 1/σ₀² + 1/σ² (coefficient of μ²)**</a:t>
            </a:r>
          </a:p>
          <a:p>
            <a:pPr lvl="0" indent="0" marL="0">
              <a:buNone/>
            </a:pPr>
            <a:r>
              <a:rPr/>
              <a:t>** μ_post = σ²_post · (μ₀/σ₀² + D/σ²) (coefficient of μ)**</a:t>
            </a:r>
          </a:p>
          <a:p>
            <a:pPr lvl="0" indent="0" marL="0">
              <a:buNone/>
            </a:pPr>
            <a:r>
              <a:rPr i="1"/>
              <a:t>Full derivation: textbook T3 Ch 4 — read this week.</a:t>
            </a:r>
          </a:p>
        </p:txBody>
      </p:sp>
    </p:spTree>
  </p:cSld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Precision = 1 / variance = “how sharp I am”</a:t>
            </a:r>
          </a:p>
        </p:txBody>
      </p:sp>
      <p:pic>
        <p:nvPicPr>
          <p:cNvPr descr="images/precisio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00100" y="1193800"/>
            <a:ext cx="75311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Sharper curve = higher precision = more confident (more weight in the update).</a:t>
            </a:r>
          </a:p>
        </p:txBody>
      </p:sp>
    </p:spTree>
  </p:cSld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Plug in the numbers — posterior = prior × likelihood, rescaled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The update formulas (from the derivation):</a:t>
            </a:r>
          </a:p>
          <a:p>
            <a:pPr lvl="0" indent="0" marL="0">
              <a:buNone/>
            </a:pPr>
            <a:r>
              <a:rPr/>
              <a:t>** 1 / σ²_post = 1/σ₀² + 1/σ²**</a:t>
            </a:r>
          </a:p>
          <a:p>
            <a:pPr lvl="0" indent="0" marL="0">
              <a:buNone/>
            </a:pPr>
            <a:r>
              <a:rPr/>
              <a:t>** μ_post = σ²_post · ( μ₀/σ₀² + D/σ² )**</a:t>
            </a:r>
          </a:p>
          <a:p>
            <a:pPr lvl="0" indent="0" marL="0">
              <a:buNone/>
            </a:pPr>
            <a:r>
              <a:rPr i="1"/>
              <a:t>Intuition: precisions add. μ_post = precision-weighted average.</a:t>
            </a:r>
          </a:p>
        </p:txBody>
      </p:sp>
    </p:spTree>
  </p:cSld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Plug in the numbers — posterior = prior × likelihood, rescaled (2/4)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The update formulas (from the derivation):</a:t>
            </a:r>
          </a:p>
          <a:p>
            <a:pPr lvl="0" indent="0" marL="0">
              <a:buNone/>
            </a:pPr>
            <a:r>
              <a:rPr/>
              <a:t>** 1 / σ²_post = 1/σ₀² + 1/σ²**</a:t>
            </a:r>
          </a:p>
          <a:p>
            <a:pPr lvl="0" indent="0" marL="0">
              <a:buNone/>
            </a:pPr>
            <a:r>
              <a:rPr/>
              <a:t>** μ_post = σ²_post · ( μ₀/σ₀² + D/σ² )**</a:t>
            </a:r>
          </a:p>
          <a:p>
            <a:pPr lvl="0" indent="0" marL="0">
              <a:buNone/>
            </a:pPr>
            <a:r>
              <a:rPr i="1"/>
              <a:t>Intuition: precisions add. μ_post = precision-weighted average.</a:t>
            </a:r>
          </a:p>
          <a:p>
            <a:pPr lvl="0" indent="0" marL="0">
              <a:buNone/>
            </a:pPr>
            <a:r>
              <a:rPr/>
              <a:t>Numbers:</a:t>
            </a:r>
          </a:p>
          <a:p>
            <a:pPr lvl="0" indent="0" marL="0">
              <a:buNone/>
            </a:pPr>
            <a:r>
              <a:rPr/>
              <a:t>σ₀² = 400 (prior), σ² = 900 (data), μ₀ = 500, D = 510</a:t>
            </a:r>
          </a:p>
        </p:txBody>
      </p:sp>
    </p:spTree>
  </p:cSld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Plug in the numbers — posterior = prior × likelihood, rescaled (3/4)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The update formulas (from the derivation):</a:t>
            </a:r>
          </a:p>
          <a:p>
            <a:pPr lvl="0" indent="0" marL="0">
              <a:buNone/>
            </a:pPr>
            <a:r>
              <a:rPr/>
              <a:t>** 1 / σ²_post = 1/σ₀² + 1/σ²**</a:t>
            </a:r>
          </a:p>
          <a:p>
            <a:pPr lvl="0" indent="0" marL="0">
              <a:buNone/>
            </a:pPr>
            <a:r>
              <a:rPr/>
              <a:t>** μ_post = σ²_post · ( μ₀/σ₀² + D/σ² )**</a:t>
            </a:r>
          </a:p>
          <a:p>
            <a:pPr lvl="0" indent="0" marL="0">
              <a:buNone/>
            </a:pPr>
            <a:r>
              <a:rPr i="1"/>
              <a:t>Intuition: precisions add. μ_post = precision-weighted average.</a:t>
            </a:r>
          </a:p>
          <a:p>
            <a:pPr lvl="0" indent="0" marL="0">
              <a:buNone/>
            </a:pPr>
            <a:r>
              <a:rPr/>
              <a:t>Numbers:</a:t>
            </a:r>
          </a:p>
          <a:p>
            <a:pPr lvl="0" indent="0" marL="0">
              <a:buNone/>
            </a:pPr>
            <a:r>
              <a:rPr/>
              <a:t>σ₀² = 400 (prior), σ² = 900 (data), μ₀ = 500, D = 510</a:t>
            </a:r>
          </a:p>
          <a:p>
            <a:pPr lvl="0" indent="0" marL="0">
              <a:buNone/>
            </a:pPr>
            <a:r>
              <a:rPr/>
              <a:t>Posterior variance:</a:t>
            </a:r>
          </a:p>
          <a:p>
            <a:pPr lvl="0" indent="0" marL="0">
              <a:buNone/>
            </a:pPr>
            <a:r>
              <a:rPr/>
              <a:t>1/σ²_post = 1/400 + 1/900 = 9/3600 + 4/3600 = 13/3600</a:t>
            </a:r>
          </a:p>
          <a:p>
            <a:pPr lvl="0" indent="0" marL="0">
              <a:buNone/>
            </a:pPr>
            <a:r>
              <a:rPr/>
              <a:t>** σ²_post ≈ 277 σ_post ≈ 16.6**</a:t>
            </a:r>
          </a:p>
          <a:p>
            <a:pPr lvl="0" indent="0" marL="0">
              <a:buNone/>
            </a:pPr>
            <a:r>
              <a:rPr i="1"/>
              <a:t>Tighter than both inputs (20 and 30). Adding precisions REDUCES uncertainty.</a:t>
            </a:r>
          </a:p>
        </p:txBody>
      </p:sp>
    </p:spTree>
  </p:cSld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Plug in the numbers — posterior = prior × likelihood, rescaled (4/4)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The update formulas (from the derivation):</a:t>
            </a:r>
          </a:p>
          <a:p>
            <a:pPr lvl="0" indent="0" marL="0">
              <a:buNone/>
            </a:pPr>
            <a:r>
              <a:rPr/>
              <a:t>** 1 / σ²_post = 1/σ₀² + 1/σ²**</a:t>
            </a:r>
          </a:p>
          <a:p>
            <a:pPr lvl="0" indent="0" marL="0">
              <a:buNone/>
            </a:pPr>
            <a:r>
              <a:rPr/>
              <a:t>** μ_post = σ²_post · ( μ₀/σ₀² + D/σ² )**</a:t>
            </a:r>
          </a:p>
          <a:p>
            <a:pPr lvl="0" indent="0" marL="0">
              <a:buNone/>
            </a:pPr>
            <a:r>
              <a:rPr i="1"/>
              <a:t>Intuition: precisions add. μ_post = precision-weighted average.</a:t>
            </a:r>
          </a:p>
          <a:p>
            <a:pPr lvl="0" indent="0" marL="0">
              <a:buNone/>
            </a:pPr>
            <a:r>
              <a:rPr/>
              <a:t>Numbers:</a:t>
            </a:r>
          </a:p>
          <a:p>
            <a:pPr lvl="0" indent="0" marL="0">
              <a:buNone/>
            </a:pPr>
            <a:r>
              <a:rPr/>
              <a:t>σ₀² = 400 (prior), σ² = 900 (data), μ₀ = 500, D = 510</a:t>
            </a:r>
          </a:p>
          <a:p>
            <a:pPr lvl="0" indent="0" marL="0">
              <a:buNone/>
            </a:pPr>
            <a:r>
              <a:rPr/>
              <a:t>Posterior variance:</a:t>
            </a:r>
          </a:p>
          <a:p>
            <a:pPr lvl="0" indent="0" marL="0">
              <a:buNone/>
            </a:pPr>
            <a:r>
              <a:rPr/>
              <a:t>1/σ²_post = 1/400 + 1/900 = 9/3600 + 4/3600 = 13/3600</a:t>
            </a:r>
          </a:p>
          <a:p>
            <a:pPr lvl="0" indent="0" marL="0">
              <a:buNone/>
            </a:pPr>
            <a:r>
              <a:rPr/>
              <a:t>** σ²_post ≈ 277 σ_post ≈ 16.6**</a:t>
            </a:r>
          </a:p>
          <a:p>
            <a:pPr lvl="0" indent="0" marL="0">
              <a:buNone/>
            </a:pPr>
            <a:r>
              <a:rPr i="1"/>
              <a:t>Tighter than both inputs (20 and 30). Adding precisions REDUCES uncertainty.</a:t>
            </a:r>
          </a:p>
          <a:p>
            <a:pPr lvl="0" indent="0" marL="0">
              <a:buNone/>
            </a:pPr>
            <a:r>
              <a:rPr/>
              <a:t>Posterior mean:</a:t>
            </a:r>
          </a:p>
          <a:p>
            <a:pPr lvl="0" indent="0" marL="0">
              <a:buNone/>
            </a:pPr>
            <a:r>
              <a:rPr/>
              <a:t>μ_post = 277 · ( 500/400 + 510/900 )</a:t>
            </a:r>
          </a:p>
          <a:p>
            <a:pPr lvl="0" indent="0">
              <a:buNone/>
            </a:pPr>
            <a:r>
              <a:rPr>
                <a:latin typeface="Courier"/>
              </a:rPr>
              <a:t>          =  277 · ( 1.250  +  0.567 )</a:t>
            </a:r>
          </a:p>
          <a:p>
            <a:pPr lvl="0" indent="0" marL="0">
              <a:buNone/>
            </a:pPr>
            <a:r>
              <a:rPr/>
              <a:t>** = 277 · 1.817 ≈ 503.1**</a:t>
            </a:r>
          </a:p>
          <a:p>
            <a:pPr lvl="0" indent="0" marL="0">
              <a:buNone/>
            </a:pPr>
            <a:r>
              <a:rPr i="1"/>
              <a:t>Moved from prior (500) toward data (510), but stayed closer to prior</a:t>
            </a:r>
          </a:p>
          <a:p>
            <a:pPr lvl="0" indent="0" marL="0">
              <a:buNone/>
            </a:pPr>
            <a:r>
              <a:rPr i="1"/>
              <a:t>— because prior precision (1/400) &gt; data precision (1/900).</a:t>
            </a:r>
          </a:p>
        </p:txBody>
      </p:sp>
    </p:spTree>
  </p:cSld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Prior × Likelihood = Posterior</a:t>
            </a:r>
          </a:p>
        </p:txBody>
      </p:sp>
      <p:pic>
        <p:nvPicPr>
          <p:cNvPr descr="images/gg_updat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041400" y="1193800"/>
            <a:ext cx="70612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Red = prior. Blue = likelihood. Yellow = posterior (tighter; between both).</a:t>
            </a:r>
          </a:p>
        </p:txBody>
      </p:sp>
    </p:spTree>
  </p:cSld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 observations — precisions keep adding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One observation: precision added = 1/σ².</a:t>
            </a:r>
          </a:p>
          <a:p>
            <a:pPr lvl="0" indent="0" marL="0">
              <a:buNone/>
            </a:pPr>
            <a:r>
              <a:rPr/>
              <a:t>Two observations: precision added = 2/σ².</a:t>
            </a:r>
          </a:p>
          <a:p>
            <a:pPr lvl="0" indent="0" marL="0">
              <a:buNone/>
            </a:pPr>
            <a:r>
              <a:rPr b="1"/>
              <a:t>N observations: precision added = N/σ².</a:t>
            </a:r>
          </a:p>
        </p:txBody>
      </p:sp>
    </p:spTree>
  </p:cSld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 observations — precisions keep adding (2/3)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One observation: precision added = 1/σ².</a:t>
            </a:r>
          </a:p>
          <a:p>
            <a:pPr lvl="0" indent="0" marL="0">
              <a:buNone/>
            </a:pPr>
            <a:r>
              <a:rPr/>
              <a:t>Two observations: precision added = 2/σ².</a:t>
            </a:r>
          </a:p>
          <a:p>
            <a:pPr lvl="0" indent="0" marL="0">
              <a:buNone/>
            </a:pPr>
            <a:r>
              <a:rPr b="1"/>
              <a:t>N observations: precision added = N/σ².</a:t>
            </a:r>
          </a:p>
          <a:p>
            <a:pPr lvl="0" indent="0" marL="0">
              <a:buNone/>
            </a:pPr>
            <a:r>
              <a:rPr/>
              <a:t>** 1 / σ²_post = 1/σ₀² + N/σ²**</a:t>
            </a:r>
          </a:p>
          <a:p>
            <a:pPr lvl="0" indent="0" marL="0">
              <a:buNone/>
            </a:pPr>
            <a:r>
              <a:rPr/>
              <a:t>** μ_post = σ²_post · ( μ₀/σ₀² + Σᵢ Dᵢ / σ² )**</a:t>
            </a:r>
          </a:p>
        </p:txBody>
      </p:sp>
    </p:spTree>
  </p:cSld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 observations — precisions keep adding (3/3)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One observation: precision added = 1/σ².</a:t>
            </a:r>
          </a:p>
          <a:p>
            <a:pPr lvl="0" indent="0" marL="0">
              <a:buNone/>
            </a:pPr>
            <a:r>
              <a:rPr/>
              <a:t>Two observations: precision added = 2/σ².</a:t>
            </a:r>
          </a:p>
          <a:p>
            <a:pPr lvl="0" indent="0" marL="0">
              <a:buNone/>
            </a:pPr>
            <a:r>
              <a:rPr b="1"/>
              <a:t>N observations: precision added = N/σ².</a:t>
            </a:r>
          </a:p>
          <a:p>
            <a:pPr lvl="0" indent="0" marL="0">
              <a:buNone/>
            </a:pPr>
            <a:r>
              <a:rPr/>
              <a:t>** 1 / σ²_post = 1/σ₀² + N/σ²**</a:t>
            </a:r>
          </a:p>
          <a:p>
            <a:pPr lvl="0" indent="0" marL="0">
              <a:buNone/>
            </a:pPr>
            <a:r>
              <a:rPr/>
              <a:t>** μ_post = σ²_post · ( μ₀/σ₀² + Σᵢ Dᵢ / σ² )**</a:t>
            </a:r>
          </a:p>
          <a:p>
            <a:pPr lvl="0" indent="0" marL="0">
              <a:buNone/>
            </a:pPr>
            <a:r>
              <a:rPr/>
              <a:t>As N grows:</a:t>
            </a:r>
          </a:p>
          <a:p>
            <a:pPr lvl="0" indent="0" marL="0">
              <a:buNone/>
            </a:pPr>
            <a:r>
              <a:rPr/>
              <a:t>• 1/σ²_post → ∞ (posterior gets sharp)</a:t>
            </a:r>
          </a:p>
          <a:p>
            <a:pPr lvl="0" indent="0" marL="0">
              <a:buNone/>
            </a:pPr>
            <a:r>
              <a:rPr/>
              <a:t>• μ_post → mean of observed weights (data dominates)</a:t>
            </a:r>
          </a:p>
          <a:p>
            <a:pPr lvl="0" indent="0" marL="0">
              <a:buNone/>
            </a:pPr>
            <a:r>
              <a:rPr b="1"/>
              <a:t>More data → sharper posterior, pulled toward sample mean.</a:t>
            </a:r>
          </a:p>
          <a:p>
            <a:pPr lvl="0" indent="0" marL="0">
              <a:buNone/>
            </a:pPr>
            <a:r>
              <a:rPr i="1"/>
              <a:t>This single formula underlies much of Weeks 3 and 4.</a:t>
            </a:r>
          </a:p>
        </p:txBody>
      </p:sp>
    </p:spTree>
  </p:cSld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Closing the arc — same Bayes, new objects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4: H discrete, D discrete. Joint is a 4-cell table.</a:t>
            </a:r>
          </a:p>
          <a:p>
            <a:pPr lvl="0" indent="0" marL="0">
              <a:buNone/>
            </a:pPr>
            <a:r>
              <a:rPr/>
              <a:t>Block 6: H discrete, D continuous. Likelihood is a density.</a:t>
            </a:r>
          </a:p>
          <a:p>
            <a:pPr lvl="0" indent="0" marL="0">
              <a:buNone/>
            </a:pPr>
            <a:r>
              <a:rPr/>
              <a:t>Block 7: H continuous, D continuous. Prior, likelihood, posterior</a:t>
            </a:r>
          </a:p>
          <a:p>
            <a:pPr lvl="0" indent="0">
              <a:buNone/>
            </a:pPr>
            <a:r>
              <a:rPr>
                <a:latin typeface="Courier"/>
              </a:rPr>
              <a:t>            all densities. Updates via precision arithmetic.</a:t>
            </a:r>
          </a:p>
          <a:p>
            <a:pPr lvl="0" indent="0" marL="0">
              <a:buNone/>
            </a:pPr>
            <a:r>
              <a:rPr b="1"/>
              <a:t>Same Bayes rule throughout. The OBJECTS generalized.</a:t>
            </a:r>
          </a:p>
        </p:txBody>
      </p:sp>
    </p:spTree>
  </p:cSld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Closing the arc — same Bayes, new objects (2/2)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4: H discrete, D discrete. Joint is a 4-cell table.</a:t>
            </a:r>
          </a:p>
          <a:p>
            <a:pPr lvl="0" indent="0" marL="0">
              <a:buNone/>
            </a:pPr>
            <a:r>
              <a:rPr/>
              <a:t>Block 6: H discrete, D continuous. Likelihood is a density.</a:t>
            </a:r>
          </a:p>
          <a:p>
            <a:pPr lvl="0" indent="0" marL="0">
              <a:buNone/>
            </a:pPr>
            <a:r>
              <a:rPr/>
              <a:t>Block 7: H continuous, D continuous. Prior, likelihood, posterior</a:t>
            </a:r>
          </a:p>
          <a:p>
            <a:pPr lvl="0" indent="0">
              <a:buNone/>
            </a:pPr>
            <a:r>
              <a:rPr>
                <a:latin typeface="Courier"/>
              </a:rPr>
              <a:t>            all densities. Updates via precision arithmetic.</a:t>
            </a:r>
          </a:p>
          <a:p>
            <a:pPr lvl="0" indent="0" marL="0">
              <a:buNone/>
            </a:pPr>
            <a:r>
              <a:rPr b="1"/>
              <a:t>Same Bayes rule throughout. The OBJECTS generalized.</a:t>
            </a:r>
          </a:p>
          <a:p>
            <a:pPr lvl="0" indent="0" marL="0">
              <a:buNone/>
            </a:pPr>
            <a:r>
              <a:rPr b="1"/>
              <a:t>The named move: CONJUGACY.</a:t>
            </a:r>
          </a:p>
          <a:p>
            <a:pPr lvl="0" indent="0" marL="0">
              <a:buNone/>
            </a:pPr>
            <a:r>
              <a:rPr/>
              <a:t>Gaussian × Gaussian = Gaussian (today)</a:t>
            </a:r>
          </a:p>
          <a:p>
            <a:pPr lvl="0" indent="0" marL="0">
              <a:buNone/>
            </a:pPr>
            <a:r>
              <a:rPr/>
              <a:t>Beta × Binomial = Beta (Week 3)</a:t>
            </a:r>
          </a:p>
          <a:p>
            <a:pPr lvl="0" indent="0" marL="0">
              <a:buNone/>
            </a:pPr>
            <a:r>
              <a:rPr/>
              <a:t>Dirichlet × Multinomial = Dirichlet (Week 3)</a:t>
            </a:r>
          </a:p>
          <a:p>
            <a:pPr lvl="0" indent="0" marL="0">
              <a:buNone/>
            </a:pPr>
            <a:r>
              <a:rPr i="1"/>
              <a:t>Conjugacy = algebra works out; the posterior stays in the prior’s family.</a:t>
            </a:r>
          </a:p>
        </p:txBody>
      </p:sp>
    </p:spTree>
  </p:cSld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Welcome + meet Chibany 0:00</a:t>
            </a:r>
          </a:p>
          <a:p>
            <a:pPr lvl="0"/>
            <a:r>
              <a:rPr/>
              <a:t>Marr’s three levels 0:08</a:t>
            </a:r>
          </a:p>
          <a:p>
            <a:pPr lvl="0"/>
            <a:r>
              <a:rPr/>
              <a:t>Notation lock-in 0:15</a:t>
            </a:r>
          </a:p>
          <a:p>
            <a:pPr lvl="0"/>
            <a:r>
              <a:rPr/>
              <a:t>Joint + marginalization 0:18</a:t>
            </a:r>
          </a:p>
          <a:p>
            <a:pPr lvl="0"/>
            <a:r>
              <a:rPr/>
              <a:t>Expected value + discrete 0:30</a:t>
            </a:r>
          </a:p>
          <a:p>
            <a:pPr lvl="0"/>
            <a:r>
              <a:rPr/>
              <a:t>Continuous prob + Gaussian 0:45</a:t>
            </a:r>
          </a:p>
          <a:p>
            <a:pPr lvl="0"/>
            <a:r>
              <a:rPr/>
              <a:t>Break 1:05</a:t>
            </a:r>
          </a:p>
          <a:p>
            <a:pPr lvl="0"/>
            <a:r>
              <a:rPr/>
              <a:t>Gaussian-Gaussian update 1:15</a:t>
            </a:r>
          </a:p>
          <a:p>
            <a:pPr lvl="0"/>
            <a:r>
              <a:rPr/>
              <a:t>Paper presentations 1:40</a:t>
            </a:r>
          </a:p>
          <a:p>
            <a:pPr lvl="0"/>
            <a:r>
              <a:rPr/>
              <a:t>Admin + Week 3 1:50</a:t>
            </a:r>
          </a:p>
        </p:txBody>
      </p:sp>
    </p:spTree>
  </p:cSld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Paper presentations — rubric + signup</a:t>
            </a:r>
          </a:p>
        </p:txBody>
      </p:sp>
    </p:spTree>
  </p:cSld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Presentations — why and what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Enrollment is 6. Each of you presents ONCE.</a:t>
            </a:r>
          </a:p>
          <a:p>
            <a:pPr lvl="0" indent="0" marL="0">
              <a:buNone/>
            </a:pPr>
            <a:r>
              <a:rPr/>
              <a:t>20 min presentation + 10-15 min discussion you facilitate.</a:t>
            </a:r>
          </a:p>
          <a:p>
            <a:pPr lvl="0" indent="0" marL="0">
              <a:buNone/>
            </a:pPr>
            <a:r>
              <a:rPr/>
              <a:t>7.5% of grade. Reflections dropped 15% → 12.5% to make room.</a:t>
            </a:r>
          </a:p>
          <a:p>
            <a:pPr lvl="0" indent="0" marL="0">
              <a:buNone/>
            </a:pPr>
            <a:r>
              <a:rPr b="1"/>
              <a:t>Meet with me in office hours the week before your slot.</a:t>
            </a:r>
          </a:p>
        </p:txBody>
      </p:sp>
    </p:spTree>
  </p:cSld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Rubric — 5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Understanding of the paper 1.5</a:t>
            </a:r>
          </a:p>
          <a:p>
            <a:pPr lvl="0" indent="0" marL="0">
              <a:buNone/>
            </a:pPr>
            <a:r>
              <a:rPr/>
              <a:t>Covering key aspects 1.5</a:t>
            </a:r>
          </a:p>
          <a:p>
            <a:pPr lvl="0" indent="0" marL="0">
              <a:buNone/>
            </a:pPr>
            <a:r>
              <a:rPr/>
              <a:t>Presentation clarity 1.0</a:t>
            </a:r>
          </a:p>
          <a:p>
            <a:pPr lvl="0" indent="0" marL="0">
              <a:buNone/>
            </a:pPr>
            <a:r>
              <a:rPr/>
              <a:t>Discussion questions (at least 3) 0.5</a:t>
            </a:r>
          </a:p>
          <a:p>
            <a:pPr lvl="0" indent="0" marL="0">
              <a:buNone/>
            </a:pPr>
            <a:r>
              <a:rPr/>
              <a:t>Appropriate use of time 0.5</a:t>
            </a:r>
          </a:p>
          <a:p>
            <a:pPr lvl="0" indent="0" marL="0">
              <a:buNone/>
            </a:pPr>
            <a:r>
              <a:rPr i="1"/>
              <a:t>Focus: how the math connects to cognitive science.</a:t>
            </a:r>
          </a:p>
          <a:p>
            <a:pPr lvl="0" indent="0" marL="0">
              <a:buNone/>
            </a:pPr>
            <a:r>
              <a:rPr/>
              <a:t>Full guidelines: resources/classPresentationGuidelines.pdf (emailed today).</a:t>
            </a:r>
          </a:p>
        </p:txBody>
      </p:sp>
    </p:spTree>
  </p:cSld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Signup — Weeks 4 through 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9 slots, 6 students. Three stay open for contemporary-ML content.</a:t>
            </a:r>
          </a:p>
          <a:p>
            <a:pPr lvl="0" indent="0" marL="0">
              <a:buNone/>
            </a:pPr>
            <a:r>
              <a:rPr/>
              <a:t>Week 4 (May 22) — Generalization + hierarchical Bayes</a:t>
            </a:r>
          </a:p>
          <a:p>
            <a:pPr lvl="0" indent="0" marL="0">
              <a:buNone/>
            </a:pPr>
            <a:r>
              <a:rPr/>
              <a:t>Week 5 (May 29) — Bayes nets + causal Bayes nets</a:t>
            </a:r>
          </a:p>
          <a:p>
            <a:pPr lvl="0" indent="0" marL="0">
              <a:buNone/>
            </a:pPr>
            <a:r>
              <a:rPr/>
              <a:t>Week 6 (Jun 5) — Markov chains + networks</a:t>
            </a:r>
          </a:p>
          <a:p>
            <a:pPr lvl="0" indent="0" marL="0">
              <a:buNone/>
            </a:pPr>
            <a:r>
              <a:rPr/>
              <a:t>Week 7 (Jun 12) — Monte Carlo</a:t>
            </a:r>
          </a:p>
          <a:p>
            <a:pPr lvl="0" indent="0" marL="0">
              <a:buNone/>
            </a:pPr>
            <a:r>
              <a:rPr/>
              <a:t>Week 8 (Jun 19) — SDT / MDP / RL</a:t>
            </a:r>
          </a:p>
          <a:p>
            <a:pPr lvl="0" indent="0" marL="0">
              <a:buNone/>
            </a:pPr>
            <a:r>
              <a:rPr/>
              <a:t>Week 9 (Jun 26) — Inverse RL</a:t>
            </a:r>
          </a:p>
          <a:p>
            <a:pPr lvl="0" indent="0" marL="0">
              <a:buNone/>
            </a:pPr>
            <a:r>
              <a:rPr/>
              <a:t>Week 10 (Jul 3) — Bayesian nonparametrics</a:t>
            </a:r>
          </a:p>
          <a:p>
            <a:pPr lvl="0" indent="0" marL="0">
              <a:buNone/>
            </a:pPr>
            <a:r>
              <a:rPr/>
              <a:t>Week 11 (Jul 10) — Deep NNs</a:t>
            </a:r>
          </a:p>
          <a:p>
            <a:pPr lvl="0" indent="0" marL="0">
              <a:buNone/>
            </a:pPr>
            <a:r>
              <a:rPr/>
              <a:t>Week 12 (Jul 17) — Ethics + adversarial ML + project presentations</a:t>
            </a:r>
          </a:p>
        </p:txBody>
      </p:sp>
    </p:spTree>
  </p:cSld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Welcome + meet Chibany 0:00</a:t>
            </a:r>
          </a:p>
          <a:p>
            <a:pPr lvl="0"/>
            <a:r>
              <a:rPr/>
              <a:t>Marr’s three levels 0:08</a:t>
            </a:r>
          </a:p>
          <a:p>
            <a:pPr lvl="0"/>
            <a:r>
              <a:rPr/>
              <a:t>Notation lock-in 0:15</a:t>
            </a:r>
          </a:p>
          <a:p>
            <a:pPr lvl="0"/>
            <a:r>
              <a:rPr/>
              <a:t>Joint + marginalization 0:18</a:t>
            </a:r>
          </a:p>
          <a:p>
            <a:pPr lvl="0"/>
            <a:r>
              <a:rPr/>
              <a:t>Expected value + discrete 0:30</a:t>
            </a:r>
          </a:p>
          <a:p>
            <a:pPr lvl="0"/>
            <a:r>
              <a:rPr/>
              <a:t>Continuous prob + Gaussian 0:45</a:t>
            </a:r>
          </a:p>
          <a:p>
            <a:pPr lvl="0"/>
            <a:r>
              <a:rPr/>
              <a:t>Break 1:05</a:t>
            </a:r>
          </a:p>
          <a:p>
            <a:pPr lvl="0"/>
            <a:r>
              <a:rPr/>
              <a:t>Gaussian-Gaussian update 1:15</a:t>
            </a:r>
          </a:p>
          <a:p>
            <a:pPr lvl="0"/>
            <a:r>
              <a:rPr/>
              <a:t>Paper presentations 1:40</a:t>
            </a:r>
          </a:p>
          <a:p>
            <a:pPr lvl="0"/>
            <a:r>
              <a:rPr/>
              <a:t>Admin + Week 3 1:50</a:t>
            </a:r>
          </a:p>
        </p:txBody>
      </p:sp>
    </p:spTree>
  </p:cSld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Admin + Week 3 homework</a:t>
            </a:r>
          </a:p>
        </p:txBody>
      </p:sp>
    </p:spTree>
  </p:cSld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Syllabus — three things changed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① 12 sessions, not 13.</a:t>
            </a:r>
          </a:p>
          <a:p>
            <a:pPr lvl="0" indent="0" marL="0">
              <a:buNone/>
            </a:pPr>
            <a:r>
              <a:rPr/>
              <a:t>No class May 1 AND May 8. Week 3 is Friday May 15.</a:t>
            </a:r>
          </a:p>
          <a:p>
            <a:pPr lvl="0" indent="0" marL="0">
              <a:buNone/>
            </a:pPr>
            <a:r>
              <a:rPr b="1"/>
              <a:t>② Reflections: 6 of 12, not 8 of 13.</a:t>
            </a:r>
          </a:p>
          <a:p>
            <a:pPr lvl="0" indent="0" marL="0">
              <a:buNone/>
            </a:pPr>
            <a:r>
              <a:rPr/>
              <a:t>~200 words, pre-class, pass/fail.</a:t>
            </a:r>
          </a:p>
          <a:p>
            <a:pPr lvl="0" indent="0" marL="0">
              <a:buNone/>
            </a:pPr>
            <a:r>
              <a:rPr b="1"/>
              <a:t>③ Paper presentations exist → 7.5%.</a:t>
            </a:r>
          </a:p>
          <a:p>
            <a:pPr lvl="0" indent="0" marL="0">
              <a:buNone/>
            </a:pPr>
            <a:r>
              <a:rPr/>
              <a:t>Reflections dropped 15% → 12.5% to make room.</a:t>
            </a:r>
          </a:p>
        </p:txBody>
      </p:sp>
    </p:spTree>
  </p:cSld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Week 3 — readings + homework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Next class: Friday May 15 — Week 3: Conjugate Bayes + Topics.</a:t>
            </a:r>
          </a:p>
          <a:p>
            <a:pPr lvl="0" indent="0" marL="0">
              <a:buNone/>
            </a:pPr>
            <a:r>
              <a:rPr b="1"/>
              <a:t>Required reading:</a:t>
            </a:r>
          </a:p>
          <a:p>
            <a:pPr lvl="0" indent="0" marL="0">
              <a:buNone/>
            </a:pPr>
            <a:r>
              <a:rPr/>
              <a:t>• Textbook T3 Ch 1 (Chibany’s mystery bentos — the full story)</a:t>
            </a:r>
          </a:p>
          <a:p>
            <a:pPr lvl="0" indent="0" marL="0">
              <a:buNone/>
            </a:pPr>
            <a:r>
              <a:rPr/>
              <a:t>• Textbook T3 Ch 4 (Bayesian learning with Gaussians)</a:t>
            </a:r>
          </a:p>
          <a:p>
            <a:pPr lvl="0" indent="0" marL="0">
              <a:buNone/>
            </a:pPr>
            <a:r>
              <a:rPr/>
              <a:t>* — formalizes what we did in Block 7.*</a:t>
            </a:r>
          </a:p>
          <a:p>
            <a:pPr lvl="0" indent="0" marL="0">
              <a:buNone/>
            </a:pPr>
            <a:r>
              <a:rPr/>
              <a:t>Ungraded self-check: “Intro Probability Theory 1” quiz.</a:t>
            </a:r>
          </a:p>
        </p:txBody>
      </p:sp>
    </p:spTree>
  </p:cSld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Preview — the arc from here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Week 3: Conjugacy proper. Beta-Binomial + Gaussian-Gaussian.</a:t>
            </a:r>
          </a:p>
          <a:p>
            <a:pPr lvl="0" indent="0" marL="0">
              <a:buNone/>
            </a:pPr>
            <a:r>
              <a:rPr/>
              <a:t>Week 4: Hierarchical Bayes. Chibany’s distribution of tonkatsu rates.</a:t>
            </a:r>
          </a:p>
          <a:p>
            <a:pPr lvl="0" indent="0" marL="0">
              <a:buNone/>
            </a:pPr>
            <a:r>
              <a:rPr/>
              <a:t>Week 5: Bayes nets + causal.</a:t>
            </a:r>
          </a:p>
          <a:p>
            <a:pPr lvl="0" indent="0" marL="0">
              <a:buNone/>
            </a:pPr>
            <a:r>
              <a:rPr/>
              <a:t>Weeks 6-7: Markov chains, Monte Carlo (sampling-based L2).</a:t>
            </a:r>
          </a:p>
          <a:p>
            <a:pPr lvl="0" indent="0" marL="0">
              <a:buNone/>
            </a:pPr>
            <a:r>
              <a:rPr/>
              <a:t>Weeks 8-10: Decision, RL, IRL, nonparametrics.</a:t>
            </a:r>
          </a:p>
          <a:p>
            <a:pPr lvl="0" indent="0" marL="0">
              <a:buNone/>
            </a:pPr>
            <a:r>
              <a:rPr/>
              <a:t>Weeks 11-12: Deep NNs, ethics — contemporary ML.</a:t>
            </a:r>
          </a:p>
          <a:p>
            <a:pPr lvl="0" indent="0" marL="0">
              <a:buNone/>
            </a:pPr>
            <a:r>
              <a:rPr b="1"/>
              <a:t>Thanks — see you May 15.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2 — Levels of Analysis + Bayes Continued</dc:title>
  <dc:creator>Prof. Joseph Austerweil</dc:creator>
  <cp:keywords/>
  <dcterms:created xsi:type="dcterms:W3CDTF">2026-04-23T09:20:51Z</dcterms:created>
  <dcterms:modified xsi:type="dcterms:W3CDTF">2026-04-23T09:20:51Z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header-includes">
    <vt:lpwstr/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labels">
    <vt:lpwstr/>
  </property>
  <property fmtid="{D5CDD505-2E9C-101B-9397-08002B2CF9AE}" pid="9" name="output-dir">
    <vt:lpwstr>_build</vt:lpwstr>
  </property>
  <property fmtid="{D5CDD505-2E9C-101B-9397-08002B2CF9AE}" pid="10" name="resources">
    <vt:lpwstr/>
  </property>
  <property fmtid="{D5CDD505-2E9C-101B-9397-08002B2CF9AE}" pid="11" name="subtitle">
    <vt:lpwstr>Friday, April 24, 2026</vt:lpwstr>
  </property>
  <property fmtid="{D5CDD505-2E9C-101B-9397-08002B2CF9AE}" pid="12" name="toc-title">
    <vt:lpwstr>Table of contents</vt:lpwstr>
  </property>
</Properties>
</file>