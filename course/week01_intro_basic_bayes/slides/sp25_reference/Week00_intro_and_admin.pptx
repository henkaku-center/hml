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7" r:id="rId2"/>
    <p:sldId id="259" r:id="rId3"/>
    <p:sldId id="260" r:id="rId4"/>
    <p:sldId id="261" r:id="rId5"/>
    <p:sldId id="263" r:id="rId6"/>
    <p:sldId id="264" r:id="rId7"/>
    <p:sldId id="265" r:id="rId8"/>
    <p:sldId id="266" r:id="rId9"/>
    <p:sldId id="267" r:id="rId10"/>
    <p:sldId id="268" r:id="rId11"/>
    <p:sldId id="269" r:id="rId12"/>
    <p:sldId id="270" r:id="rId13"/>
    <p:sldId id="271" r:id="rId14"/>
    <p:sldId id="272" r:id="rId15"/>
    <p:sldId id="282" r:id="rId16"/>
    <p:sldId id="283" r:id="rId17"/>
    <p:sldId id="278" r:id="rId18"/>
    <p:sldId id="279" r:id="rId19"/>
    <p:sldId id="286" r:id="rId20"/>
    <p:sldId id="284" r:id="rId21"/>
    <p:sldId id="294" r:id="rId22"/>
    <p:sldId id="314" r:id="rId23"/>
    <p:sldId id="296" r:id="rId24"/>
    <p:sldId id="297" r:id="rId25"/>
    <p:sldId id="298" r:id="rId26"/>
    <p:sldId id="322" r:id="rId27"/>
    <p:sldId id="315" r:id="rId28"/>
    <p:sldId id="320" r:id="rId29"/>
    <p:sldId id="299" r:id="rId30"/>
    <p:sldId id="300" r:id="rId31"/>
    <p:sldId id="301" r:id="rId32"/>
    <p:sldId id="302" r:id="rId33"/>
    <p:sldId id="303" r:id="rId34"/>
    <p:sldId id="304" r:id="rId35"/>
    <p:sldId id="305" r:id="rId36"/>
    <p:sldId id="306" r:id="rId37"/>
    <p:sldId id="307" r:id="rId38"/>
    <p:sldId id="308" r:id="rId39"/>
    <p:sldId id="309" r:id="rId40"/>
    <p:sldId id="319" r:id="rId41"/>
    <p:sldId id="310" r:id="rId42"/>
    <p:sldId id="318" r:id="rId43"/>
    <p:sldId id="321" r:id="rId44"/>
    <p:sldId id="317"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843"/>
    <p:restoredTop sz="90768" autoAdjust="0"/>
  </p:normalViewPr>
  <p:slideViewPr>
    <p:cSldViewPr snapToGrid="0" snapToObjects="1">
      <p:cViewPr varScale="1">
        <p:scale>
          <a:sx n="145" d="100"/>
          <a:sy n="145" d="100"/>
        </p:scale>
        <p:origin x="214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21CB42-D47B-CE44-8DEE-D3A42889BE6E}" type="datetimeFigureOut">
              <a:rPr lang="en-US" smtClean="0"/>
              <a:t>1/22/2025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18A63-2409-0241-8255-D95D06F653A2}" type="slidenum">
              <a:rPr lang="en-US" smtClean="0"/>
              <a:t>‹#›</a:t>
            </a:fld>
            <a:endParaRPr lang="en-US"/>
          </a:p>
        </p:txBody>
      </p:sp>
    </p:spTree>
    <p:extLst>
      <p:ext uri="{BB962C8B-B14F-4D97-AF65-F5344CB8AC3E}">
        <p14:creationId xmlns:p14="http://schemas.microsoft.com/office/powerpoint/2010/main" val="94149071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an idea of what the class is about and then</a:t>
            </a:r>
            <a:r>
              <a:rPr lang="en-US" baseline="0" dirty="0"/>
              <a:t> a short break and talk about some administrative things</a:t>
            </a:r>
            <a:endParaRPr lang="en-US" dirty="0"/>
          </a:p>
        </p:txBody>
      </p:sp>
      <p:sp>
        <p:nvSpPr>
          <p:cNvPr id="4" name="Slide Number Placeholder 3"/>
          <p:cNvSpPr>
            <a:spLocks noGrp="1"/>
          </p:cNvSpPr>
          <p:nvPr>
            <p:ph type="sldNum" sz="quarter" idx="10"/>
          </p:nvPr>
        </p:nvSpPr>
        <p:spPr/>
        <p:txBody>
          <a:bodyPr/>
          <a:lstStyle/>
          <a:p>
            <a:fld id="{A80A284C-79A3-AE45-A29D-322D8EC7B22F}" type="slidenum">
              <a:rPr lang="en-US" smtClean="0"/>
              <a:t>1</a:t>
            </a:fld>
            <a:endParaRPr lang="en-US"/>
          </a:p>
        </p:txBody>
      </p:sp>
    </p:spTree>
    <p:extLst>
      <p:ext uri="{BB962C8B-B14F-4D97-AF65-F5344CB8AC3E}">
        <p14:creationId xmlns:p14="http://schemas.microsoft.com/office/powerpoint/2010/main" val="2067281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C70D38-6157-C643-AF37-5C76CEF22D18}" type="slidenum">
              <a:rPr lang="en-US"/>
              <a:pPr/>
              <a:t>2</a:t>
            </a:fld>
            <a:endParaRPr lang="en-US"/>
          </a:p>
        </p:txBody>
      </p:sp>
      <p:sp>
        <p:nvSpPr>
          <p:cNvPr id="153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53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8504D2-426E-B54E-9303-B637746DC992}" type="slidenum">
              <a:rPr lang="en-US"/>
              <a:pPr/>
              <a:t>3</a:t>
            </a:fld>
            <a:endParaRPr lang="en-US"/>
          </a:p>
        </p:txBody>
      </p:sp>
      <p:sp>
        <p:nvSpPr>
          <p:cNvPr id="1229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122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A and B are same color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7E601B-C153-2B46-A92A-8F56E83F09AC}" type="slidenum">
              <a:rPr lang="en-US"/>
              <a:pPr/>
              <a:t>4</a:t>
            </a:fld>
            <a:endParaRPr lang="en-US"/>
          </a:p>
        </p:txBody>
      </p:sp>
      <p:sp>
        <p:nvSpPr>
          <p:cNvPr id="174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174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4899D8-2CBA-5243-8913-78615EC3B449}" type="slidenum">
              <a:rPr lang="en-US"/>
              <a:pPr/>
              <a:t>5</a:t>
            </a:fld>
            <a:endParaRPr lang="en-US"/>
          </a:p>
        </p:txBody>
      </p:sp>
      <p:sp>
        <p:nvSpPr>
          <p:cNvPr id="2355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2355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F63E3E-EB4A-0A4F-9744-C51B1558FC20}" type="slidenum">
              <a:rPr lang="en-US"/>
              <a:pPr/>
              <a:t>6</a:t>
            </a:fld>
            <a:endParaRPr lang="en-US"/>
          </a:p>
        </p:txBody>
      </p:sp>
      <p:sp>
        <p:nvSpPr>
          <p:cNvPr id="2150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215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83C0C5-F374-DA4E-A548-B66152BC1899}" type="slidenum">
              <a:rPr lang="en-US"/>
              <a:pPr/>
              <a:t>7</a:t>
            </a:fld>
            <a:endParaRPr lang="en-US"/>
          </a:p>
        </p:txBody>
      </p:sp>
      <p:sp>
        <p:nvSpPr>
          <p:cNvPr id="256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256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F49276-6D48-AA47-BB1C-DE0DC22A516E}" type="slidenum">
              <a:rPr lang="en-US"/>
              <a:pPr/>
              <a:t>8</a:t>
            </a:fld>
            <a:endParaRPr lang="en-US"/>
          </a:p>
        </p:txBody>
      </p:sp>
      <p:sp>
        <p:nvSpPr>
          <p:cNvPr id="276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276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Does everyone see the two interpretations?... (parsing)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079FF8-51B2-4243-90C3-19FCD2B3D0C3}" type="slidenum">
              <a:rPr lang="en-US"/>
              <a:pPr/>
              <a:t>9</a:t>
            </a:fld>
            <a:endParaRPr lang="en-US"/>
          </a:p>
        </p:txBody>
      </p:sp>
      <p:sp>
        <p:nvSpPr>
          <p:cNvPr id="942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942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C09EC5-B9E9-2040-8567-0F7AAE4EC1FE}" type="slidenum">
              <a:rPr lang="en-US"/>
              <a:pPr/>
              <a:t>10</a:t>
            </a:fld>
            <a:endParaRPr lang="en-US"/>
          </a:p>
        </p:txBody>
      </p:sp>
      <p:sp>
        <p:nvSpPr>
          <p:cNvPr id="3174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317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499F90-B552-1341-AE1C-D9E647223889}" type="slidenum">
              <a:rPr lang="en-US"/>
              <a:pPr/>
              <a:t>11</a:t>
            </a:fld>
            <a:endParaRPr lang="en-US"/>
          </a:p>
        </p:txBody>
      </p:sp>
      <p:sp>
        <p:nvSpPr>
          <p:cNvPr id="3379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337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2133E2-01F2-CD43-A84F-AFD2F6BF2E99}" type="slidenum">
              <a:rPr lang="en-US"/>
              <a:pPr/>
              <a:t>12</a:t>
            </a:fld>
            <a:endParaRPr lang="en-US"/>
          </a:p>
        </p:txBody>
      </p:sp>
      <p:sp>
        <p:nvSpPr>
          <p:cNvPr id="829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82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360F65-8B52-7244-B270-A7FBE565E5C9}" type="slidenum">
              <a:rPr lang="en-US"/>
              <a:pPr/>
              <a:t>13</a:t>
            </a:fld>
            <a:endParaRPr lang="en-US"/>
          </a:p>
        </p:txBody>
      </p:sp>
      <p:sp>
        <p:nvSpPr>
          <p:cNvPr id="3584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358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71DBA3-31EA-7147-8ED5-4228036F5A8D}" type="slidenum">
              <a:rPr lang="en-US"/>
              <a:pPr/>
              <a:t>14</a:t>
            </a:fld>
            <a:endParaRPr lang="en-US"/>
          </a:p>
        </p:txBody>
      </p:sp>
      <p:sp>
        <p:nvSpPr>
          <p:cNvPr id="3891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3891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pPr marL="0" indent="0">
              <a:buNone/>
            </a:pPr>
            <a:r>
              <a:rPr lang="en-US" sz="1200" u="sng" dirty="0"/>
              <a:t>Driving in</a:t>
            </a:r>
            <a:r>
              <a:rPr lang="en-US" sz="1200" u="sng" baseline="0" dirty="0"/>
              <a:t> Australia outback with native…</a:t>
            </a:r>
            <a:endParaRPr lang="en-US" sz="1200" u="sng" dirty="0"/>
          </a:p>
          <a:p>
            <a:pPr marL="0" indent="0">
              <a:buNone/>
            </a:pPr>
            <a:r>
              <a:rPr lang="en-US" sz="1200" dirty="0"/>
              <a:t>Rabbit</a:t>
            </a:r>
          </a:p>
          <a:p>
            <a:pPr marL="0" indent="0">
              <a:buNone/>
            </a:pPr>
            <a:r>
              <a:rPr lang="en-US" sz="1200" dirty="0"/>
              <a:t>Dinner</a:t>
            </a:r>
          </a:p>
          <a:p>
            <a:pPr marL="0" indent="0">
              <a:buNone/>
            </a:pPr>
            <a:r>
              <a:rPr lang="en-US" sz="1200" dirty="0"/>
              <a:t>Rabbit before </a:t>
            </a:r>
            <a:r>
              <a:rPr lang="en-US" sz="1200" i="1" dirty="0"/>
              <a:t>t</a:t>
            </a:r>
            <a:r>
              <a:rPr lang="en-US" sz="1200" dirty="0"/>
              <a:t>, dinner after</a:t>
            </a:r>
          </a:p>
          <a:p>
            <a:pPr marL="0" indent="0">
              <a:buNone/>
            </a:pPr>
            <a:r>
              <a:rPr lang="en-US" sz="1200" dirty="0"/>
              <a:t>Undetached rabbit parts</a:t>
            </a:r>
          </a:p>
          <a:p>
            <a:pPr marL="0" indent="0">
              <a:buNone/>
            </a:pPr>
            <a:r>
              <a:rPr lang="en-US" sz="1200" dirty="0"/>
              <a:t>Momentary rabbit-stage</a:t>
            </a:r>
          </a:p>
          <a:p>
            <a:pPr marL="0" indent="0">
              <a:buNone/>
            </a:pPr>
            <a:r>
              <a:rPr lang="en-US" sz="1200" dirty="0"/>
              <a:t>Mass of </a:t>
            </a:r>
            <a:r>
              <a:rPr lang="en-US" sz="1200" dirty="0" err="1"/>
              <a:t>rabbithood</a:t>
            </a:r>
            <a:endParaRPr lang="en-US" sz="1200" dirty="0"/>
          </a:p>
          <a:p>
            <a:pPr marL="0" indent="0">
              <a:buNone/>
            </a:pPr>
            <a:r>
              <a:rPr lang="en-US" sz="1200" dirty="0"/>
              <a:t>Temporal cross-section of a four-dimensional space-time extension of a rabbit</a:t>
            </a:r>
          </a:p>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9972EF-2421-DC43-9434-7F8115EAD04B}" type="slidenum">
              <a:rPr lang="en-US"/>
              <a:pPr/>
              <a:t>15</a:t>
            </a:fld>
            <a:endParaRPr lang="en-US"/>
          </a:p>
        </p:txBody>
      </p:sp>
      <p:sp>
        <p:nvSpPr>
          <p:cNvPr id="4710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471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39C09D-AE2A-7749-B96D-24E53043CFEB}" type="slidenum">
              <a:rPr lang="en-US"/>
              <a:pPr/>
              <a:t>16</a:t>
            </a:fld>
            <a:endParaRPr lang="en-US"/>
          </a:p>
        </p:txBody>
      </p:sp>
      <p:sp>
        <p:nvSpPr>
          <p:cNvPr id="4915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4915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41E23B-5F4A-D840-9333-67BB0D646D20}" type="slidenum">
              <a:rPr lang="en-US"/>
              <a:pPr/>
              <a:t>17</a:t>
            </a:fld>
            <a:endParaRPr lang="en-US"/>
          </a:p>
        </p:txBody>
      </p:sp>
      <p:sp>
        <p:nvSpPr>
          <p:cNvPr id="512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512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2C843B-0FCA-6A4A-B934-E011BA1D7026}" type="slidenum">
              <a:rPr lang="en-US"/>
              <a:pPr/>
              <a:t>18</a:t>
            </a:fld>
            <a:endParaRPr lang="en-US"/>
          </a:p>
        </p:txBody>
      </p:sp>
      <p:sp>
        <p:nvSpPr>
          <p:cNvPr id="8397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788C01-BF75-954B-BF04-D8287CE6D2C7}" type="slidenum">
              <a:rPr lang="en-US"/>
              <a:pPr/>
              <a:t>19</a:t>
            </a:fld>
            <a:endParaRPr lang="en-US"/>
          </a:p>
        </p:txBody>
      </p:sp>
      <p:sp>
        <p:nvSpPr>
          <p:cNvPr id="563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563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5C18A63-2409-0241-8255-D95D06F653A2}" type="slidenum">
              <a:rPr lang="en-US" smtClean="0"/>
              <a:t>20</a:t>
            </a:fld>
            <a:endParaRPr lang="en-US"/>
          </a:p>
        </p:txBody>
      </p:sp>
    </p:spTree>
    <p:extLst>
      <p:ext uri="{BB962C8B-B14F-4D97-AF65-F5344CB8AC3E}">
        <p14:creationId xmlns:p14="http://schemas.microsoft.com/office/powerpoint/2010/main" val="23204811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5C18A63-2409-0241-8255-D95D06F653A2}" type="slidenum">
              <a:rPr lang="en-US" smtClean="0"/>
              <a:t>21</a:t>
            </a:fld>
            <a:endParaRPr lang="en-US"/>
          </a:p>
        </p:txBody>
      </p:sp>
    </p:spTree>
    <p:extLst>
      <p:ext uri="{BB962C8B-B14F-4D97-AF65-F5344CB8AC3E}">
        <p14:creationId xmlns:p14="http://schemas.microsoft.com/office/powerpoint/2010/main" val="3687931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5C18A63-2409-0241-8255-D95D06F653A2}" type="slidenum">
              <a:rPr lang="en-US" smtClean="0"/>
              <a:t>22</a:t>
            </a:fld>
            <a:endParaRPr lang="en-US"/>
          </a:p>
        </p:txBody>
      </p:sp>
    </p:spTree>
    <p:extLst>
      <p:ext uri="{BB962C8B-B14F-4D97-AF65-F5344CB8AC3E}">
        <p14:creationId xmlns:p14="http://schemas.microsoft.com/office/powerpoint/2010/main" val="1969853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23</a:t>
            </a:fld>
            <a:endParaRPr lang="en-US"/>
          </a:p>
        </p:txBody>
      </p:sp>
    </p:spTree>
    <p:extLst>
      <p:ext uri="{BB962C8B-B14F-4D97-AF65-F5344CB8AC3E}">
        <p14:creationId xmlns:p14="http://schemas.microsoft.com/office/powerpoint/2010/main" val="17018768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5C18A63-2409-0241-8255-D95D06F653A2}" type="slidenum">
              <a:rPr lang="en-US" smtClean="0"/>
              <a:t>24</a:t>
            </a:fld>
            <a:endParaRPr lang="en-US"/>
          </a:p>
        </p:txBody>
      </p:sp>
    </p:spTree>
    <p:extLst>
      <p:ext uri="{BB962C8B-B14F-4D97-AF65-F5344CB8AC3E}">
        <p14:creationId xmlns:p14="http://schemas.microsoft.com/office/powerpoint/2010/main" val="7211262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a:t>
            </a:r>
            <a:r>
              <a:rPr lang="en-US" baseline="0" dirty="0"/>
              <a:t> also a project at the end if appropriate and there is time...</a:t>
            </a:r>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25</a:t>
            </a:fld>
            <a:endParaRPr lang="en-US"/>
          </a:p>
        </p:txBody>
      </p:sp>
    </p:spTree>
    <p:extLst>
      <p:ext uri="{BB962C8B-B14F-4D97-AF65-F5344CB8AC3E}">
        <p14:creationId xmlns:p14="http://schemas.microsoft.com/office/powerpoint/2010/main" val="11723299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AF9B7-3EE9-121D-B28A-06F521B96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B6DC-97FC-4736-8240-503C4299E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983E95-2B2E-07DA-E0C0-E8F8053ABD95}"/>
              </a:ext>
            </a:extLst>
          </p:cNvPr>
          <p:cNvSpPr>
            <a:spLocks noGrp="1"/>
          </p:cNvSpPr>
          <p:nvPr>
            <p:ph type="body" idx="1"/>
          </p:nvPr>
        </p:nvSpPr>
        <p:spPr/>
        <p:txBody>
          <a:bodyPr/>
          <a:lstStyle/>
          <a:p>
            <a:r>
              <a:rPr lang="en-US" dirty="0"/>
              <a:t>And</a:t>
            </a:r>
            <a:r>
              <a:rPr lang="en-US" baseline="0" dirty="0"/>
              <a:t> also a project at the end if appropriate and there is time...</a:t>
            </a:r>
            <a:endParaRPr lang="en-US" dirty="0"/>
          </a:p>
        </p:txBody>
      </p:sp>
      <p:sp>
        <p:nvSpPr>
          <p:cNvPr id="4" name="Slide Number Placeholder 3">
            <a:extLst>
              <a:ext uri="{FF2B5EF4-FFF2-40B4-BE49-F238E27FC236}">
                <a16:creationId xmlns:a16="http://schemas.microsoft.com/office/drawing/2014/main" id="{2C920149-C786-9490-4001-55D53A998FB7}"/>
              </a:ext>
            </a:extLst>
          </p:cNvPr>
          <p:cNvSpPr>
            <a:spLocks noGrp="1"/>
          </p:cNvSpPr>
          <p:nvPr>
            <p:ph type="sldNum" sz="quarter" idx="10"/>
          </p:nvPr>
        </p:nvSpPr>
        <p:spPr/>
        <p:txBody>
          <a:bodyPr/>
          <a:lstStyle/>
          <a:p>
            <a:fld id="{D5C18A63-2409-0241-8255-D95D06F653A2}" type="slidenum">
              <a:rPr lang="en-US" smtClean="0"/>
              <a:t>26</a:t>
            </a:fld>
            <a:endParaRPr lang="en-US"/>
          </a:p>
        </p:txBody>
      </p:sp>
    </p:spTree>
    <p:extLst>
      <p:ext uri="{BB962C8B-B14F-4D97-AF65-F5344CB8AC3E}">
        <p14:creationId xmlns:p14="http://schemas.microsoft.com/office/powerpoint/2010/main" val="4894142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27</a:t>
            </a:fld>
            <a:endParaRPr lang="en-US"/>
          </a:p>
        </p:txBody>
      </p:sp>
    </p:spTree>
    <p:extLst>
      <p:ext uri="{BB962C8B-B14F-4D97-AF65-F5344CB8AC3E}">
        <p14:creationId xmlns:p14="http://schemas.microsoft.com/office/powerpoint/2010/main" val="1596203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5C18A63-2409-0241-8255-D95D06F653A2}" type="slidenum">
              <a:rPr lang="en-US" smtClean="0"/>
              <a:t>29</a:t>
            </a:fld>
            <a:endParaRPr lang="en-US"/>
          </a:p>
        </p:txBody>
      </p:sp>
    </p:spTree>
    <p:extLst>
      <p:ext uri="{BB962C8B-B14F-4D97-AF65-F5344CB8AC3E}">
        <p14:creationId xmlns:p14="http://schemas.microsoft.com/office/powerpoint/2010/main" val="6566545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5C18A63-2409-0241-8255-D95D06F653A2}" type="slidenum">
              <a:rPr lang="en-US" smtClean="0"/>
              <a:t>30</a:t>
            </a:fld>
            <a:endParaRPr lang="en-US"/>
          </a:p>
        </p:txBody>
      </p:sp>
    </p:spTree>
    <p:extLst>
      <p:ext uri="{BB962C8B-B14F-4D97-AF65-F5344CB8AC3E}">
        <p14:creationId xmlns:p14="http://schemas.microsoft.com/office/powerpoint/2010/main" val="24470512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class for </a:t>
            </a:r>
            <a:r>
              <a:rPr lang="en-US" dirty="0" err="1"/>
              <a:t>Matlab</a:t>
            </a:r>
            <a:r>
              <a:rPr lang="en-US" dirty="0"/>
              <a:t> tutorial...</a:t>
            </a:r>
          </a:p>
        </p:txBody>
      </p:sp>
      <p:sp>
        <p:nvSpPr>
          <p:cNvPr id="4" name="Slide Number Placeholder 3"/>
          <p:cNvSpPr>
            <a:spLocks noGrp="1"/>
          </p:cNvSpPr>
          <p:nvPr>
            <p:ph type="sldNum" sz="quarter" idx="10"/>
          </p:nvPr>
        </p:nvSpPr>
        <p:spPr/>
        <p:txBody>
          <a:bodyPr/>
          <a:lstStyle/>
          <a:p>
            <a:fld id="{D5C18A63-2409-0241-8255-D95D06F653A2}" type="slidenum">
              <a:rPr lang="en-US" smtClean="0"/>
              <a:t>31</a:t>
            </a:fld>
            <a:endParaRPr lang="en-US"/>
          </a:p>
        </p:txBody>
      </p:sp>
    </p:spTree>
    <p:extLst>
      <p:ext uri="{BB962C8B-B14F-4D97-AF65-F5344CB8AC3E}">
        <p14:creationId xmlns:p14="http://schemas.microsoft.com/office/powerpoint/2010/main" val="19970106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5C18A63-2409-0241-8255-D95D06F653A2}" type="slidenum">
              <a:rPr lang="en-US" smtClean="0"/>
              <a:t>32</a:t>
            </a:fld>
            <a:endParaRPr lang="en-US"/>
          </a:p>
        </p:txBody>
      </p:sp>
    </p:spTree>
    <p:extLst>
      <p:ext uri="{BB962C8B-B14F-4D97-AF65-F5344CB8AC3E}">
        <p14:creationId xmlns:p14="http://schemas.microsoft.com/office/powerpoint/2010/main" val="38282442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33</a:t>
            </a:fld>
            <a:endParaRPr lang="en-US"/>
          </a:p>
        </p:txBody>
      </p:sp>
    </p:spTree>
    <p:extLst>
      <p:ext uri="{BB962C8B-B14F-4D97-AF65-F5344CB8AC3E}">
        <p14:creationId xmlns:p14="http://schemas.microsoft.com/office/powerpoint/2010/main" val="1096346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 : GO THROUGH papers in syllabus </a:t>
            </a:r>
            <a:r>
              <a:rPr lang="en-US"/>
              <a:t>after this.</a:t>
            </a:r>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34</a:t>
            </a:fld>
            <a:endParaRPr lang="en-US"/>
          </a:p>
        </p:txBody>
      </p:sp>
    </p:spTree>
    <p:extLst>
      <p:ext uri="{BB962C8B-B14F-4D97-AF65-F5344CB8AC3E}">
        <p14:creationId xmlns:p14="http://schemas.microsoft.com/office/powerpoint/2010/main" val="10839888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projects: modeling a simplified version of spit/</a:t>
            </a:r>
            <a:r>
              <a:rPr lang="en-US" dirty="0" err="1"/>
              <a:t>bs</a:t>
            </a:r>
            <a:r>
              <a:rPr lang="en-US" dirty="0"/>
              <a:t>.</a:t>
            </a:r>
            <a:r>
              <a:rPr lang="en-US" baseline="0" dirty="0"/>
              <a:t> Statistical decision theory analysis of adversarial reasoning (with human experiments).</a:t>
            </a:r>
          </a:p>
          <a:p>
            <a:r>
              <a:rPr lang="en-US" baseline="0" dirty="0"/>
              <a:t>Example for math: ecological rationality proofs. Bayes-NN proofs.</a:t>
            </a:r>
          </a:p>
          <a:p>
            <a:r>
              <a:rPr lang="en-US" baseline="0" dirty="0"/>
              <a:t>Grad students expected to do a bit more (go for preliminary version of a conference paper)</a:t>
            </a:r>
          </a:p>
          <a:p>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35</a:t>
            </a:fld>
            <a:endParaRPr lang="en-US"/>
          </a:p>
        </p:txBody>
      </p:sp>
    </p:spTree>
    <p:extLst>
      <p:ext uri="{BB962C8B-B14F-4D97-AF65-F5344CB8AC3E}">
        <p14:creationId xmlns:p14="http://schemas.microsoft.com/office/powerpoint/2010/main" val="10839888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Reasonable fonts</a:t>
            </a:r>
            <a:r>
              <a:rPr lang="en-US" baseline="0" dirty="0"/>
              <a:t>/margins</a:t>
            </a:r>
          </a:p>
          <a:p>
            <a:r>
              <a:rPr lang="en-US" baseline="0" dirty="0"/>
              <a:t>Submit through  Canvas</a:t>
            </a:r>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36</a:t>
            </a:fld>
            <a:endParaRPr lang="en-US"/>
          </a:p>
        </p:txBody>
      </p:sp>
    </p:spTree>
    <p:extLst>
      <p:ext uri="{BB962C8B-B14F-4D97-AF65-F5344CB8AC3E}">
        <p14:creationId xmlns:p14="http://schemas.microsoft.com/office/powerpoint/2010/main" val="10839888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Reasonable fonts</a:t>
            </a:r>
            <a:r>
              <a:rPr lang="en-US" baseline="0" dirty="0"/>
              <a:t>/margins</a:t>
            </a:r>
          </a:p>
          <a:p>
            <a:r>
              <a:rPr lang="en-US" baseline="0" dirty="0"/>
              <a:t>Submit </a:t>
            </a:r>
            <a:r>
              <a:rPr lang="en-US" baseline="0"/>
              <a:t>through  Canvas</a:t>
            </a:r>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37</a:t>
            </a:fld>
            <a:endParaRPr lang="en-US"/>
          </a:p>
        </p:txBody>
      </p:sp>
    </p:spTree>
    <p:extLst>
      <p:ext uri="{BB962C8B-B14F-4D97-AF65-F5344CB8AC3E}">
        <p14:creationId xmlns:p14="http://schemas.microsoft.com/office/powerpoint/2010/main" val="10839888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Reasonable fonts</a:t>
            </a:r>
            <a:r>
              <a:rPr lang="en-US" baseline="0" dirty="0"/>
              <a:t>/margins</a:t>
            </a:r>
          </a:p>
          <a:p>
            <a:r>
              <a:rPr lang="en-US" baseline="0" dirty="0"/>
              <a:t>Submit through  Canvas</a:t>
            </a:r>
          </a:p>
          <a:p>
            <a:r>
              <a:rPr lang="en-US" baseline="0" dirty="0"/>
              <a:t>Remember points/percentage interchangeable.</a:t>
            </a:r>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38</a:t>
            </a:fld>
            <a:endParaRPr lang="en-US"/>
          </a:p>
        </p:txBody>
      </p:sp>
    </p:spTree>
    <p:extLst>
      <p:ext uri="{BB962C8B-B14F-4D97-AF65-F5344CB8AC3E}">
        <p14:creationId xmlns:p14="http://schemas.microsoft.com/office/powerpoint/2010/main" val="10839888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I want to go on vacation with my family, so can I have a day or two late </a:t>
            </a:r>
          </a:p>
          <a:p>
            <a:r>
              <a:rPr lang="en-US" baseline="0" dirty="0"/>
              <a:t>Or I need to turn in a cello. I don’t care how expensive your cello is...</a:t>
            </a:r>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39</a:t>
            </a:fld>
            <a:endParaRPr lang="en-US"/>
          </a:p>
        </p:txBody>
      </p:sp>
    </p:spTree>
    <p:extLst>
      <p:ext uri="{BB962C8B-B14F-4D97-AF65-F5344CB8AC3E}">
        <p14:creationId xmlns:p14="http://schemas.microsoft.com/office/powerpoint/2010/main" val="10839888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3A1CF-67D4-F51E-4392-B8BC613E3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A231C-6FBD-CDE3-EB17-7D290FA48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E6DE5-1EBA-353B-B0AB-44E01F07E5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CB8BB8-CBAC-BC60-CA13-4780BF6800CA}"/>
              </a:ext>
            </a:extLst>
          </p:cNvPr>
          <p:cNvSpPr>
            <a:spLocks noGrp="1"/>
          </p:cNvSpPr>
          <p:nvPr>
            <p:ph type="sldNum" sz="quarter" idx="10"/>
          </p:nvPr>
        </p:nvSpPr>
        <p:spPr/>
        <p:txBody>
          <a:bodyPr/>
          <a:lstStyle/>
          <a:p>
            <a:fld id="{D5C18A63-2409-0241-8255-D95D06F653A2}" type="slidenum">
              <a:rPr lang="en-US" smtClean="0"/>
              <a:t>40</a:t>
            </a:fld>
            <a:endParaRPr lang="en-US"/>
          </a:p>
        </p:txBody>
      </p:sp>
    </p:spTree>
    <p:extLst>
      <p:ext uri="{BB962C8B-B14F-4D97-AF65-F5344CB8AC3E}">
        <p14:creationId xmlns:p14="http://schemas.microsoft.com/office/powerpoint/2010/main" val="17422959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I want to go on vacation with my family, so can I have a day or two late </a:t>
            </a:r>
          </a:p>
          <a:p>
            <a:r>
              <a:rPr lang="en-US" baseline="0" dirty="0"/>
              <a:t>Or I need to turn in a cello. I don’t care how expensive your cello is...</a:t>
            </a:r>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41</a:t>
            </a:fld>
            <a:endParaRPr lang="en-US"/>
          </a:p>
        </p:txBody>
      </p:sp>
    </p:spTree>
    <p:extLst>
      <p:ext uri="{BB962C8B-B14F-4D97-AF65-F5344CB8AC3E}">
        <p14:creationId xmlns:p14="http://schemas.microsoft.com/office/powerpoint/2010/main" val="1083988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A15393-3CCC-4343-B59B-737CD1DF110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759536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986" y="592428"/>
            <a:ext cx="8802710" cy="1098261"/>
          </a:xfrm>
        </p:spPr>
        <p:txBody>
          <a:bodyPr/>
          <a:lstStyle/>
          <a:p>
            <a:r>
              <a:rPr lang="en-US" dirty="0"/>
              <a:t>Click to edit Master title style</a:t>
            </a:r>
          </a:p>
        </p:txBody>
      </p:sp>
      <p:sp>
        <p:nvSpPr>
          <p:cNvPr id="3" name="Content Placeholder 2"/>
          <p:cNvSpPr>
            <a:spLocks noGrp="1"/>
          </p:cNvSpPr>
          <p:nvPr>
            <p:ph idx="1"/>
          </p:nvPr>
        </p:nvSpPr>
        <p:spPr>
          <a:xfrm>
            <a:off x="160986" y="1825625"/>
            <a:ext cx="880271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07DA050E-CC6D-98EF-362A-F9D1EA6F22C7}"/>
              </a:ext>
            </a:extLst>
          </p:cNvPr>
          <p:cNvCxnSpPr>
            <a:cxnSpLocks/>
          </p:cNvCxnSpPr>
          <p:nvPr userDrawn="1"/>
        </p:nvCxnSpPr>
        <p:spPr>
          <a:xfrm>
            <a:off x="0" y="6272011"/>
            <a:ext cx="9144000" cy="0"/>
          </a:xfrm>
          <a:prstGeom prst="line">
            <a:avLst/>
          </a:prstGeom>
          <a:ln>
            <a:solidFill>
              <a:srgbClr val="C00000"/>
            </a:solidFill>
          </a:ln>
        </p:spPr>
        <p:style>
          <a:lnRef idx="3">
            <a:schemeClr val="accent2"/>
          </a:lnRef>
          <a:fillRef idx="0">
            <a:schemeClr val="accent2"/>
          </a:fillRef>
          <a:effectRef idx="2">
            <a:schemeClr val="accent2"/>
          </a:effectRef>
          <a:fontRef idx="minor">
            <a:schemeClr val="tx1"/>
          </a:fontRef>
        </p:style>
      </p:cxnSp>
      <p:sp>
        <p:nvSpPr>
          <p:cNvPr id="18" name="Date Placeholder 10">
            <a:extLst>
              <a:ext uri="{FF2B5EF4-FFF2-40B4-BE49-F238E27FC236}">
                <a16:creationId xmlns:a16="http://schemas.microsoft.com/office/drawing/2014/main" id="{8E9276AA-ADBE-0345-F76F-7C2ED7836D07}"/>
              </a:ext>
            </a:extLst>
          </p:cNvPr>
          <p:cNvSpPr txBox="1">
            <a:spLocks/>
          </p:cNvSpPr>
          <p:nvPr userDrawn="1"/>
        </p:nvSpPr>
        <p:spPr>
          <a:xfrm>
            <a:off x="160986" y="5184"/>
            <a:ext cx="7247204" cy="365125"/>
          </a:xfrm>
          <a:prstGeom prst="rect">
            <a:avLst/>
          </a:prstGeom>
          <a:solidFill>
            <a:schemeClr val="accent4">
              <a:lumMod val="40000"/>
              <a:lumOff val="60000"/>
            </a:schemeClr>
          </a:solidFill>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solidFill>
                  <a:schemeClr val="tx1"/>
                </a:solidFill>
              </a:rPr>
              <a:t>Week 1: Intro, Admin, and Basic Bayes</a:t>
            </a:r>
          </a:p>
        </p:txBody>
      </p:sp>
      <p:sp>
        <p:nvSpPr>
          <p:cNvPr id="4" name="Date Placeholder 10">
            <a:extLst>
              <a:ext uri="{FF2B5EF4-FFF2-40B4-BE49-F238E27FC236}">
                <a16:creationId xmlns:a16="http://schemas.microsoft.com/office/drawing/2014/main" id="{50BEEA41-C349-4D63-5DDD-F48812339C64}"/>
              </a:ext>
            </a:extLst>
          </p:cNvPr>
          <p:cNvSpPr txBox="1">
            <a:spLocks/>
          </p:cNvSpPr>
          <p:nvPr userDrawn="1"/>
        </p:nvSpPr>
        <p:spPr>
          <a:xfrm>
            <a:off x="160985" y="6367060"/>
            <a:ext cx="3254867" cy="365125"/>
          </a:xfrm>
          <a:prstGeom prst="rect">
            <a:avLst/>
          </a:prstGeom>
          <a:solidFill>
            <a:schemeClr val="accent6">
              <a:lumMod val="60000"/>
              <a:lumOff val="40000"/>
            </a:schemeClr>
          </a:solidFill>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solidFill>
                  <a:schemeClr val="tx1"/>
                </a:solidFill>
              </a:rPr>
              <a:t>PSYC414: Austerweil</a:t>
            </a:r>
          </a:p>
        </p:txBody>
      </p:sp>
    </p:spTree>
    <p:extLst>
      <p:ext uri="{BB962C8B-B14F-4D97-AF65-F5344CB8AC3E}">
        <p14:creationId xmlns:p14="http://schemas.microsoft.com/office/powerpoint/2010/main" val="1564659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11263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A15393-3CCC-4343-B59B-737CD1DF110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2951171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A15393-3CCC-4343-B59B-737CD1DF1100}"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33449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A15393-3CCC-4343-B59B-737CD1DF1100}"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82285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A15393-3CCC-4343-B59B-737CD1DF1100}"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530638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A15393-3CCC-4343-B59B-737CD1DF1100}"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76846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30537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85576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11501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75279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A15393-3CCC-4343-B59B-737CD1DF1100}" type="datetimeFigureOut">
              <a:rPr lang="en-US" smtClean="0"/>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155EF-18F2-0A4E-9AF3-3F3A983262B4}" type="slidenum">
              <a:rPr lang="en-US" smtClean="0"/>
              <a:t>‹#›</a:t>
            </a:fld>
            <a:endParaRPr lang="en-US"/>
          </a:p>
        </p:txBody>
      </p:sp>
    </p:spTree>
    <p:extLst>
      <p:ext uri="{BB962C8B-B14F-4D97-AF65-F5344CB8AC3E}">
        <p14:creationId xmlns:p14="http://schemas.microsoft.com/office/powerpoint/2010/main" val="214451396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VTNmLt7QX8E"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23865"/>
            <a:ext cx="7772400" cy="1470025"/>
          </a:xfrm>
        </p:spPr>
        <p:txBody>
          <a:bodyPr/>
          <a:lstStyle/>
          <a:p>
            <a:r>
              <a:rPr lang="en-US"/>
              <a:t>Introduction</a:t>
            </a:r>
            <a:endParaRPr lang="en-US" dirty="0"/>
          </a:p>
        </p:txBody>
      </p:sp>
      <p:sp>
        <p:nvSpPr>
          <p:cNvPr id="4" name="Subtitle 2"/>
          <p:cNvSpPr>
            <a:spLocks noGrp="1"/>
          </p:cNvSpPr>
          <p:nvPr>
            <p:ph type="subTitle" idx="1"/>
          </p:nvPr>
        </p:nvSpPr>
        <p:spPr>
          <a:xfrm>
            <a:off x="3229125" y="4086470"/>
            <a:ext cx="5914875" cy="2647546"/>
          </a:xfrm>
        </p:spPr>
        <p:txBody>
          <a:bodyPr>
            <a:normAutofit/>
          </a:bodyPr>
          <a:lstStyle/>
          <a:p>
            <a:r>
              <a:rPr lang="en-US" b="1" dirty="0">
                <a:solidFill>
                  <a:schemeClr val="tx1"/>
                </a:solidFill>
              </a:rPr>
              <a:t>PSYCH/COMPSCI/BMI 841: Computational Cognitive Science</a:t>
            </a:r>
            <a:endParaRPr lang="en-US" dirty="0">
              <a:solidFill>
                <a:schemeClr val="tx1"/>
              </a:solidFill>
            </a:endParaRPr>
          </a:p>
          <a:p>
            <a:r>
              <a:rPr lang="en-US" dirty="0">
                <a:solidFill>
                  <a:schemeClr val="tx1"/>
                </a:solidFill>
              </a:rPr>
              <a:t>Joseph Austerweil</a:t>
            </a:r>
          </a:p>
          <a:p>
            <a:r>
              <a:rPr lang="en-US" dirty="0">
                <a:solidFill>
                  <a:schemeClr val="tx1"/>
                </a:solidFill>
              </a:rPr>
              <a:t>January 23, 2025</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110" y="3946986"/>
            <a:ext cx="3344993" cy="2647546"/>
          </a:xfrm>
          <a:prstGeom prst="rect">
            <a:avLst/>
          </a:prstGeom>
        </p:spPr>
      </p:pic>
    </p:spTree>
    <p:extLst>
      <p:ext uri="{BB962C8B-B14F-4D97-AF65-F5344CB8AC3E}">
        <p14:creationId xmlns:p14="http://schemas.microsoft.com/office/powerpoint/2010/main" val="790325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0"/>
            <a:ext cx="8229600" cy="813773"/>
          </a:xfrm>
        </p:spPr>
        <p:txBody>
          <a:bodyPr/>
          <a:lstStyle/>
          <a:p>
            <a:r>
              <a:rPr lang="en-US" dirty="0"/>
              <a:t>Deductive and inductive</a:t>
            </a:r>
          </a:p>
        </p:txBody>
      </p:sp>
      <p:sp>
        <p:nvSpPr>
          <p:cNvPr id="6147" name="Rectangle 3"/>
          <p:cNvSpPr>
            <a:spLocks noGrp="1" noChangeArrowheads="1"/>
          </p:cNvSpPr>
          <p:nvPr>
            <p:ph type="body" sz="half" idx="1"/>
          </p:nvPr>
        </p:nvSpPr>
        <p:spPr>
          <a:xfrm>
            <a:off x="457200" y="1217087"/>
            <a:ext cx="4038600" cy="4525963"/>
          </a:xfrm>
        </p:spPr>
        <p:txBody>
          <a:bodyPr/>
          <a:lstStyle/>
          <a:p>
            <a:pPr algn="ctr">
              <a:buFontTx/>
              <a:buNone/>
            </a:pPr>
            <a:r>
              <a:rPr lang="en-US" sz="3200" dirty="0"/>
              <a:t>Deductive</a:t>
            </a:r>
          </a:p>
          <a:p>
            <a:pPr algn="ctr">
              <a:buFontTx/>
              <a:buNone/>
            </a:pPr>
            <a:endParaRPr lang="en-US" sz="3200" dirty="0"/>
          </a:p>
          <a:p>
            <a:pPr algn="ctr">
              <a:buFontTx/>
              <a:buNone/>
            </a:pPr>
            <a:r>
              <a:rPr lang="en-US" sz="3200" dirty="0"/>
              <a:t>1 + 4 = ? </a:t>
            </a:r>
          </a:p>
        </p:txBody>
      </p:sp>
      <p:sp>
        <p:nvSpPr>
          <p:cNvPr id="6148" name="Rectangle 4"/>
          <p:cNvSpPr>
            <a:spLocks noGrp="1" noChangeArrowheads="1"/>
          </p:cNvSpPr>
          <p:nvPr>
            <p:ph type="body" sz="half" idx="2"/>
          </p:nvPr>
        </p:nvSpPr>
        <p:spPr>
          <a:xfrm>
            <a:off x="4648200" y="1217087"/>
            <a:ext cx="4191000" cy="4114800"/>
          </a:xfrm>
        </p:spPr>
        <p:txBody>
          <a:bodyPr/>
          <a:lstStyle/>
          <a:p>
            <a:pPr algn="ctr">
              <a:buFontTx/>
              <a:buNone/>
            </a:pPr>
            <a:r>
              <a:rPr lang="en-US" sz="3200" dirty="0"/>
              <a:t>Inductive</a:t>
            </a:r>
          </a:p>
          <a:p>
            <a:pPr algn="ctr">
              <a:buFontTx/>
              <a:buNone/>
            </a:pPr>
            <a:endParaRPr lang="en-US" sz="3200" dirty="0"/>
          </a:p>
          <a:p>
            <a:pPr algn="ctr">
              <a:buFontTx/>
              <a:buNone/>
            </a:pPr>
            <a:r>
              <a:rPr lang="en-US" sz="3200" dirty="0"/>
              <a:t>? + ? = 5</a:t>
            </a:r>
          </a:p>
          <a:p>
            <a:pPr>
              <a:buFontTx/>
              <a:buNone/>
            </a:pPr>
            <a:endParaRPr lang="en-US" sz="3200" dirty="0"/>
          </a:p>
        </p:txBody>
      </p:sp>
      <p:sp>
        <p:nvSpPr>
          <p:cNvPr id="6149" name="Text Box 5"/>
          <p:cNvSpPr txBox="1">
            <a:spLocks noChangeArrowheads="1"/>
          </p:cNvSpPr>
          <p:nvPr/>
        </p:nvSpPr>
        <p:spPr bwMode="auto">
          <a:xfrm>
            <a:off x="282212" y="3963784"/>
            <a:ext cx="8565852" cy="10772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en-US" sz="3200" dirty="0"/>
              <a:t>Inductive problems involves going from observed data to underdetermined answers.</a:t>
            </a:r>
          </a:p>
        </p:txBody>
      </p:sp>
      <p:sp>
        <p:nvSpPr>
          <p:cNvPr id="6151" name="Text Box 7"/>
          <p:cNvSpPr txBox="1">
            <a:spLocks noChangeArrowheads="1"/>
          </p:cNvSpPr>
          <p:nvPr/>
        </p:nvSpPr>
        <p:spPr bwMode="auto">
          <a:xfrm>
            <a:off x="282212" y="5410200"/>
            <a:ext cx="8448644" cy="10772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en-US" sz="3200" dirty="0"/>
              <a:t>Requires knowledge of the rules of the system, but also expectations about possible answers</a:t>
            </a:r>
          </a:p>
        </p:txBody>
      </p:sp>
      <p:sp>
        <p:nvSpPr>
          <p:cNvPr id="2" name="TextBox 1">
            <a:extLst>
              <a:ext uri="{FF2B5EF4-FFF2-40B4-BE49-F238E27FC236}">
                <a16:creationId xmlns:a16="http://schemas.microsoft.com/office/drawing/2014/main" id="{53F68198-96F7-F14D-97E6-7F53918A9DEB}"/>
              </a:ext>
            </a:extLst>
          </p:cNvPr>
          <p:cNvSpPr txBox="1"/>
          <p:nvPr/>
        </p:nvSpPr>
        <p:spPr>
          <a:xfrm>
            <a:off x="282212" y="1217087"/>
            <a:ext cx="8706513" cy="1815882"/>
          </a:xfrm>
          <a:prstGeom prst="rect">
            <a:avLst/>
          </a:prstGeom>
          <a:solidFill>
            <a:schemeClr val="bg1"/>
          </a:solidFill>
          <a:ln w="28575">
            <a:solidFill>
              <a:schemeClr val="tx1"/>
            </a:solidFill>
          </a:ln>
        </p:spPr>
        <p:txBody>
          <a:bodyPr wrap="square" rtlCol="0">
            <a:spAutoFit/>
          </a:bodyPr>
          <a:lstStyle/>
          <a:p>
            <a:r>
              <a:rPr lang="en-US" sz="2800" dirty="0"/>
              <a:t>The problems that people excel relative to machines are inductive problems.</a:t>
            </a:r>
          </a:p>
          <a:p>
            <a:endParaRPr lang="en-US" sz="2800" dirty="0"/>
          </a:p>
          <a:p>
            <a:r>
              <a:rPr lang="en-US" sz="2800" dirty="0"/>
              <a:t>They feel easy to solve, but REALLY HARD!</a:t>
            </a:r>
          </a:p>
        </p:txBody>
      </p:sp>
    </p:spTree>
    <p:extLst>
      <p:ext uri="{BB962C8B-B14F-4D97-AF65-F5344CB8AC3E}">
        <p14:creationId xmlns:p14="http://schemas.microsoft.com/office/powerpoint/2010/main" val="92776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5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p:bldP spid="6149" grpId="0"/>
      <p:bldP spid="6151" grpId="0"/>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Visual illusions</a:t>
            </a:r>
          </a:p>
        </p:txBody>
      </p:sp>
      <p:sp>
        <p:nvSpPr>
          <p:cNvPr id="11267" name="Rectangle 3"/>
          <p:cNvSpPr>
            <a:spLocks noChangeArrowheads="1"/>
          </p:cNvSpPr>
          <p:nvPr/>
        </p:nvSpPr>
        <p:spPr bwMode="auto">
          <a:xfrm>
            <a:off x="4408488" y="1516063"/>
            <a:ext cx="18415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algn="ctr"/>
            <a:endParaRPr lang="en-US"/>
          </a:p>
        </p:txBody>
      </p:sp>
      <p:sp>
        <p:nvSpPr>
          <p:cNvPr id="11268" name="Text Box 4"/>
          <p:cNvSpPr txBox="1">
            <a:spLocks noChangeArrowheads="1"/>
          </p:cNvSpPr>
          <p:nvPr/>
        </p:nvSpPr>
        <p:spPr bwMode="auto">
          <a:xfrm>
            <a:off x="609600" y="6156325"/>
            <a:ext cx="8034338" cy="39687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algn="ctr"/>
            <a:r>
              <a:rPr lang="en-US" sz="2000" dirty="0"/>
              <a:t>http://</a:t>
            </a:r>
            <a:r>
              <a:rPr lang="en-US" sz="2000" dirty="0" err="1"/>
              <a:t>web.mit.edu</a:t>
            </a:r>
            <a:r>
              <a:rPr lang="en-US" sz="2000" dirty="0"/>
              <a:t>/</a:t>
            </a:r>
            <a:r>
              <a:rPr lang="en-US" sz="2000" dirty="0" err="1"/>
              <a:t>persci</a:t>
            </a:r>
            <a:r>
              <a:rPr lang="en-US" sz="2000" dirty="0"/>
              <a:t>/people/</a:t>
            </a:r>
            <a:r>
              <a:rPr lang="en-US" sz="2000" dirty="0" err="1"/>
              <a:t>adelson</a:t>
            </a:r>
            <a:r>
              <a:rPr lang="en-US" sz="2000" dirty="0"/>
              <a:t>/</a:t>
            </a:r>
            <a:r>
              <a:rPr lang="en-US" sz="2000" dirty="0" err="1"/>
              <a:t>checkershadow_illusion.html</a:t>
            </a:r>
            <a:endParaRPr lang="en-US" sz="2000" dirty="0"/>
          </a:p>
        </p:txBody>
      </p:sp>
      <p:pic>
        <p:nvPicPr>
          <p:cNvPr id="112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600200"/>
            <a:ext cx="5638800" cy="4384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grpSp>
        <p:nvGrpSpPr>
          <p:cNvPr id="11270" name="Group 6"/>
          <p:cNvGrpSpPr>
            <a:grpSpLocks/>
          </p:cNvGrpSpPr>
          <p:nvPr/>
        </p:nvGrpSpPr>
        <p:grpSpPr bwMode="auto">
          <a:xfrm>
            <a:off x="1066800" y="1600200"/>
            <a:ext cx="6934200" cy="4419600"/>
            <a:chOff x="672" y="1008"/>
            <a:chExt cx="4368" cy="2784"/>
          </a:xfrm>
        </p:grpSpPr>
        <p:sp>
          <p:nvSpPr>
            <p:cNvPr id="11271" name="Rectangle 7"/>
            <p:cNvSpPr>
              <a:spLocks noChangeArrowheads="1"/>
            </p:cNvSpPr>
            <p:nvPr/>
          </p:nvSpPr>
          <p:spPr bwMode="auto">
            <a:xfrm>
              <a:off x="2928" y="1008"/>
              <a:ext cx="2112" cy="2784"/>
            </a:xfrm>
            <a:prstGeom prst="rect">
              <a:avLst/>
            </a:prstGeom>
            <a:solidFill>
              <a:schemeClr val="bg2"/>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endParaRPr lang="en-US"/>
            </a:p>
          </p:txBody>
        </p:sp>
        <p:sp>
          <p:nvSpPr>
            <p:cNvPr id="11272" name="Rectangle 8"/>
            <p:cNvSpPr>
              <a:spLocks noChangeArrowheads="1"/>
            </p:cNvSpPr>
            <p:nvPr/>
          </p:nvSpPr>
          <p:spPr bwMode="auto">
            <a:xfrm>
              <a:off x="672" y="1008"/>
              <a:ext cx="2112" cy="2784"/>
            </a:xfrm>
            <a:prstGeom prst="rect">
              <a:avLst/>
            </a:prstGeom>
            <a:solidFill>
              <a:schemeClr val="bg2"/>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endParaRPr lang="en-US"/>
            </a:p>
          </p:txBody>
        </p:sp>
      </p:grpSp>
    </p:spTree>
    <p:extLst>
      <p:ext uri="{BB962C8B-B14F-4D97-AF65-F5344CB8AC3E}">
        <p14:creationId xmlns:p14="http://schemas.microsoft.com/office/powerpoint/2010/main" val="27097849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Perception and induction</a:t>
            </a:r>
          </a:p>
        </p:txBody>
      </p:sp>
      <p:sp>
        <p:nvSpPr>
          <p:cNvPr id="16393" name="Text Box 9"/>
          <p:cNvSpPr txBox="1">
            <a:spLocks noChangeArrowheads="1"/>
          </p:cNvSpPr>
          <p:nvPr/>
        </p:nvSpPr>
        <p:spPr bwMode="auto">
          <a:xfrm>
            <a:off x="3886200" y="2236788"/>
            <a:ext cx="1587500" cy="51911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a:t>? + ? = 5</a:t>
            </a:r>
          </a:p>
        </p:txBody>
      </p:sp>
      <p:sp>
        <p:nvSpPr>
          <p:cNvPr id="16394" name="Text Box 10"/>
          <p:cNvSpPr txBox="1">
            <a:spLocks noChangeArrowheads="1"/>
          </p:cNvSpPr>
          <p:nvPr/>
        </p:nvSpPr>
        <p:spPr bwMode="auto">
          <a:xfrm>
            <a:off x="2057400" y="3455988"/>
            <a:ext cx="5481638" cy="51911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dirty="0"/>
              <a:t>square color + shadow = intensity</a:t>
            </a:r>
          </a:p>
        </p:txBody>
      </p:sp>
      <p:sp>
        <p:nvSpPr>
          <p:cNvPr id="16395" name="Text Box 11"/>
          <p:cNvSpPr txBox="1">
            <a:spLocks noChangeArrowheads="1"/>
          </p:cNvSpPr>
          <p:nvPr/>
        </p:nvSpPr>
        <p:spPr bwMode="auto">
          <a:xfrm>
            <a:off x="381000" y="4572000"/>
            <a:ext cx="8382000" cy="137318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a:spcBef>
                <a:spcPct val="50000"/>
              </a:spcBef>
            </a:pPr>
            <a:r>
              <a:rPr lang="en-US" sz="2800" dirty="0"/>
              <a:t>Your visual system solves this inductive problem, using rules about how retinal images are generated, and some expectations about color and shadow</a:t>
            </a:r>
          </a:p>
        </p:txBody>
      </p:sp>
    </p:spTree>
    <p:extLst>
      <p:ext uri="{BB962C8B-B14F-4D97-AF65-F5344CB8AC3E}">
        <p14:creationId xmlns:p14="http://schemas.microsoft.com/office/powerpoint/2010/main" val="1443294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Learning language</a:t>
            </a:r>
          </a:p>
        </p:txBody>
      </p:sp>
      <p:sp>
        <p:nvSpPr>
          <p:cNvPr id="22531" name="Text Box 3"/>
          <p:cNvSpPr txBox="1">
            <a:spLocks noChangeArrowheads="1"/>
          </p:cNvSpPr>
          <p:nvPr/>
        </p:nvSpPr>
        <p:spPr bwMode="auto">
          <a:xfrm>
            <a:off x="1511300" y="2133600"/>
            <a:ext cx="5544807" cy="52322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dirty="0"/>
              <a:t>data: utterances produced by people</a:t>
            </a:r>
          </a:p>
        </p:txBody>
      </p:sp>
      <p:sp>
        <p:nvSpPr>
          <p:cNvPr id="22532" name="Text Box 4"/>
          <p:cNvSpPr txBox="1">
            <a:spLocks noChangeArrowheads="1"/>
          </p:cNvSpPr>
          <p:nvPr/>
        </p:nvSpPr>
        <p:spPr bwMode="auto">
          <a:xfrm>
            <a:off x="457200" y="3138488"/>
            <a:ext cx="7542850" cy="52322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a:t>hypotheses: all possible ways of combining sounds</a:t>
            </a:r>
          </a:p>
        </p:txBody>
      </p:sp>
      <p:pic>
        <p:nvPicPr>
          <p:cNvPr id="22534" name="Picture 6" descr="P10608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267200"/>
            <a:ext cx="2868613" cy="2151063"/>
          </a:xfrm>
          <a:prstGeom prst="rect">
            <a:avLst/>
          </a:prstGeom>
          <a:noFill/>
          <a:extLst>
            <a:ext uri="{909E8E84-426E-40dd-AFC4-6F175D3DCCD1}">
              <a14:hiddenFill xmlns="" xmlns:a14="http://schemas.microsoft.com/office/drawing/2010/main">
                <a:solidFill>
                  <a:srgbClr val="FFFFFF"/>
                </a:solidFill>
              </a14:hiddenFill>
            </a:ext>
          </a:extLst>
        </p:spPr>
      </p:pic>
      <p:pic>
        <p:nvPicPr>
          <p:cNvPr id="2253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4343400"/>
            <a:ext cx="2679700" cy="20367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2431003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5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40312"/>
            <a:ext cx="9144000" cy="924702"/>
          </a:xfrm>
        </p:spPr>
        <p:txBody>
          <a:bodyPr/>
          <a:lstStyle/>
          <a:p>
            <a:r>
              <a:rPr lang="en-US" dirty="0"/>
              <a:t>The poverty of the stimulus</a:t>
            </a:r>
          </a:p>
        </p:txBody>
      </p:sp>
      <p:sp>
        <p:nvSpPr>
          <p:cNvPr id="20483" name="Rectangle 3"/>
          <p:cNvSpPr>
            <a:spLocks noGrp="1" noChangeArrowheads="1"/>
          </p:cNvSpPr>
          <p:nvPr>
            <p:ph type="body" idx="1"/>
          </p:nvPr>
        </p:nvSpPr>
        <p:spPr>
          <a:xfrm>
            <a:off x="3657600" y="1517116"/>
            <a:ext cx="5486400" cy="4800600"/>
          </a:xfrm>
        </p:spPr>
        <p:txBody>
          <a:bodyPr>
            <a:normAutofit/>
          </a:bodyPr>
          <a:lstStyle/>
          <a:p>
            <a:pPr marL="0" indent="0">
              <a:lnSpc>
                <a:spcPct val="90000"/>
              </a:lnSpc>
              <a:buFontTx/>
              <a:buNone/>
            </a:pPr>
            <a:r>
              <a:rPr lang="en-US" dirty="0"/>
              <a:t>   </a:t>
            </a:r>
          </a:p>
          <a:p>
            <a:pPr marL="0" indent="0">
              <a:lnSpc>
                <a:spcPct val="90000"/>
              </a:lnSpc>
              <a:buFontTx/>
              <a:buNone/>
            </a:pPr>
            <a:r>
              <a:rPr lang="en-US" dirty="0"/>
              <a:t>Utterances do not contain enough information to determine a language.</a:t>
            </a:r>
          </a:p>
          <a:p>
            <a:pPr marL="0" indent="0">
              <a:lnSpc>
                <a:spcPct val="90000"/>
              </a:lnSpc>
              <a:buFontTx/>
              <a:buNone/>
            </a:pPr>
            <a:endParaRPr lang="en-US" dirty="0"/>
          </a:p>
          <a:p>
            <a:pPr marL="0" indent="0">
              <a:lnSpc>
                <a:spcPct val="90000"/>
              </a:lnSpc>
              <a:buFontTx/>
              <a:buNone/>
            </a:pPr>
            <a:endParaRPr lang="en-US" dirty="0"/>
          </a:p>
          <a:p>
            <a:pPr marL="0" indent="0">
              <a:lnSpc>
                <a:spcPct val="90000"/>
              </a:lnSpc>
              <a:buFontTx/>
              <a:buNone/>
            </a:pPr>
            <a:r>
              <a:rPr lang="en-US" dirty="0"/>
              <a:t>What are the rules of the system, and expectations about answers that humans have?</a:t>
            </a:r>
          </a:p>
        </p:txBody>
      </p:sp>
      <p:sp>
        <p:nvSpPr>
          <p:cNvPr id="20484" name="Text Box 4"/>
          <p:cNvSpPr txBox="1">
            <a:spLocks noChangeArrowheads="1"/>
          </p:cNvSpPr>
          <p:nvPr/>
        </p:nvSpPr>
        <p:spPr bwMode="auto">
          <a:xfrm>
            <a:off x="430213" y="6012916"/>
            <a:ext cx="3227387" cy="52322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algn="ctr"/>
            <a:r>
              <a:rPr lang="en-US" sz="2800" dirty="0"/>
              <a:t>Noam Chomsky</a:t>
            </a:r>
          </a:p>
        </p:txBody>
      </p:sp>
      <p:pic>
        <p:nvPicPr>
          <p:cNvPr id="204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69516"/>
            <a:ext cx="2862263" cy="4343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1855835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274638"/>
            <a:ext cx="8229600" cy="894397"/>
          </a:xfrm>
        </p:spPr>
        <p:txBody>
          <a:bodyPr/>
          <a:lstStyle/>
          <a:p>
            <a:r>
              <a:rPr lang="en-US" dirty="0"/>
              <a:t>Speech recognition</a:t>
            </a:r>
          </a:p>
        </p:txBody>
      </p:sp>
      <p:sp>
        <p:nvSpPr>
          <p:cNvPr id="24579" name="Text Box 3"/>
          <p:cNvSpPr txBox="1">
            <a:spLocks noChangeArrowheads="1"/>
          </p:cNvSpPr>
          <p:nvPr/>
        </p:nvSpPr>
        <p:spPr bwMode="auto">
          <a:xfrm>
            <a:off x="1511300" y="2133600"/>
            <a:ext cx="925955" cy="52322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a:t>data:</a:t>
            </a:r>
          </a:p>
        </p:txBody>
      </p:sp>
      <p:sp>
        <p:nvSpPr>
          <p:cNvPr id="24580" name="Text Box 4"/>
          <p:cNvSpPr txBox="1">
            <a:spLocks noChangeArrowheads="1"/>
          </p:cNvSpPr>
          <p:nvPr/>
        </p:nvSpPr>
        <p:spPr bwMode="auto">
          <a:xfrm>
            <a:off x="457200" y="3138488"/>
            <a:ext cx="5664481" cy="181588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dirty="0"/>
              <a:t>hypotheses: speech sounds</a:t>
            </a:r>
          </a:p>
          <a:p>
            <a:r>
              <a:rPr lang="en-US" sz="2800" dirty="0"/>
              <a:t>		  		accent of speaker</a:t>
            </a:r>
          </a:p>
          <a:p>
            <a:r>
              <a:rPr lang="en-US" sz="2800" dirty="0"/>
              <a:t>		  		segmentation into words</a:t>
            </a:r>
          </a:p>
          <a:p>
            <a:r>
              <a:rPr lang="en-US" sz="2800" dirty="0"/>
              <a:t>		</a:t>
            </a:r>
          </a:p>
        </p:txBody>
      </p:sp>
      <p:pic>
        <p:nvPicPr>
          <p:cNvPr id="24583" name="Picture 5"/>
          <p:cNvPicPr>
            <a:picLocks noChangeAspect="1" noChangeArrowheads="1"/>
          </p:cNvPicPr>
          <p:nvPr/>
        </p:nvPicPr>
        <p:blipFill>
          <a:blip r:embed="rId3">
            <a:extLst>
              <a:ext uri="{28A0092B-C50C-407E-A947-70E740481C1C}">
                <a14:useLocalDpi xmlns:a14="http://schemas.microsoft.com/office/drawing/2010/main" val="0"/>
              </a:ext>
            </a:extLst>
          </a:blip>
          <a:srcRect b="2499"/>
          <a:stretch>
            <a:fillRect/>
          </a:stretch>
        </p:blipFill>
        <p:spPr bwMode="auto">
          <a:xfrm>
            <a:off x="2590800" y="1981200"/>
            <a:ext cx="3771900" cy="887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4584" name="Text Box 8"/>
          <p:cNvSpPr txBox="1">
            <a:spLocks noChangeArrowheads="1"/>
          </p:cNvSpPr>
          <p:nvPr/>
        </p:nvSpPr>
        <p:spPr bwMode="auto">
          <a:xfrm>
            <a:off x="181419" y="4953000"/>
            <a:ext cx="8581581" cy="137318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en-US" sz="2800" dirty="0"/>
              <a:t>How can human children go from raw sound to the structured representations required to understand and learn language?</a:t>
            </a:r>
          </a:p>
        </p:txBody>
      </p:sp>
    </p:spTree>
    <p:extLst>
      <p:ext uri="{BB962C8B-B14F-4D97-AF65-F5344CB8AC3E}">
        <p14:creationId xmlns:p14="http://schemas.microsoft.com/office/powerpoint/2010/main" val="3815215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t>Interpreting sentences</a:t>
            </a:r>
          </a:p>
        </p:txBody>
      </p:sp>
      <p:sp>
        <p:nvSpPr>
          <p:cNvPr id="26627" name="Text Box 3"/>
          <p:cNvSpPr txBox="1">
            <a:spLocks noChangeArrowheads="1"/>
          </p:cNvSpPr>
          <p:nvPr/>
        </p:nvSpPr>
        <p:spPr bwMode="auto">
          <a:xfrm>
            <a:off x="1143000" y="2133600"/>
            <a:ext cx="7813675" cy="51911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dirty="0"/>
              <a:t>data: </a:t>
            </a:r>
            <a:r>
              <a:rPr lang="ja-JP" altLang="en-US" sz="2800" dirty="0"/>
              <a:t>“</a:t>
            </a:r>
            <a:r>
              <a:rPr lang="en-US" sz="2800" dirty="0"/>
              <a:t>The woman hit the man with the umbrella.</a:t>
            </a:r>
            <a:r>
              <a:rPr lang="ja-JP" altLang="en-US" sz="2800" dirty="0"/>
              <a:t>”</a:t>
            </a:r>
            <a:endParaRPr lang="en-US" sz="2800" dirty="0"/>
          </a:p>
        </p:txBody>
      </p:sp>
      <p:sp>
        <p:nvSpPr>
          <p:cNvPr id="26628" name="Text Box 4"/>
          <p:cNvSpPr txBox="1">
            <a:spLocks noChangeArrowheads="1"/>
          </p:cNvSpPr>
          <p:nvPr/>
        </p:nvSpPr>
        <p:spPr bwMode="auto">
          <a:xfrm>
            <a:off x="76200" y="3321050"/>
            <a:ext cx="6135688" cy="9461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dirty="0"/>
              <a:t>hypotheses: what actually happened?</a:t>
            </a:r>
          </a:p>
          <a:p>
            <a:r>
              <a:rPr lang="en-US" sz="2800" dirty="0"/>
              <a:t>		</a:t>
            </a:r>
          </a:p>
        </p:txBody>
      </p:sp>
    </p:spTree>
    <p:extLst>
      <p:ext uri="{BB962C8B-B14F-4D97-AF65-F5344CB8AC3E}">
        <p14:creationId xmlns:p14="http://schemas.microsoft.com/office/powerpoint/2010/main" val="427294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t>Interpreting sentences</a:t>
            </a:r>
          </a:p>
        </p:txBody>
      </p:sp>
      <p:sp>
        <p:nvSpPr>
          <p:cNvPr id="93187" name="Text Box 3"/>
          <p:cNvSpPr txBox="1">
            <a:spLocks noChangeArrowheads="1"/>
          </p:cNvSpPr>
          <p:nvPr/>
        </p:nvSpPr>
        <p:spPr bwMode="auto">
          <a:xfrm>
            <a:off x="1143000" y="2133600"/>
            <a:ext cx="7714171" cy="95410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dirty="0"/>
              <a:t>data: </a:t>
            </a:r>
            <a:r>
              <a:rPr lang="ja-JP" altLang="en-US" sz="2800" dirty="0"/>
              <a:t>“</a:t>
            </a:r>
            <a:r>
              <a:rPr lang="en-US" sz="2800" dirty="0"/>
              <a:t>The woman hit the man with the umbrella.</a:t>
            </a:r>
            <a:r>
              <a:rPr lang="ja-JP" altLang="en-US" sz="2800" dirty="0"/>
              <a:t>”</a:t>
            </a:r>
            <a:endParaRPr lang="en-US" sz="2800" dirty="0"/>
          </a:p>
          <a:p>
            <a:r>
              <a:rPr lang="en-US" sz="2800" dirty="0"/>
              <a:t>	    </a:t>
            </a:r>
            <a:r>
              <a:rPr lang="ja-JP" altLang="en-US" sz="2800" dirty="0"/>
              <a:t>“</a:t>
            </a:r>
            <a:r>
              <a:rPr lang="en-US" sz="2800" dirty="0"/>
              <a:t>The woman hit the man with the mustache.</a:t>
            </a:r>
            <a:r>
              <a:rPr lang="ja-JP" altLang="en-US" sz="2800" dirty="0"/>
              <a:t>”</a:t>
            </a:r>
            <a:endParaRPr lang="en-US" sz="2800" dirty="0"/>
          </a:p>
        </p:txBody>
      </p:sp>
      <p:sp>
        <p:nvSpPr>
          <p:cNvPr id="93188" name="Text Box 4"/>
          <p:cNvSpPr txBox="1">
            <a:spLocks noChangeArrowheads="1"/>
          </p:cNvSpPr>
          <p:nvPr/>
        </p:nvSpPr>
        <p:spPr bwMode="auto">
          <a:xfrm>
            <a:off x="197148" y="3321050"/>
            <a:ext cx="6135688" cy="9461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dirty="0"/>
              <a:t>hypotheses: what actually happened?</a:t>
            </a:r>
          </a:p>
          <a:p>
            <a:r>
              <a:rPr lang="en-US" sz="2800" dirty="0"/>
              <a:t>		</a:t>
            </a:r>
          </a:p>
        </p:txBody>
      </p:sp>
      <p:sp>
        <p:nvSpPr>
          <p:cNvPr id="93189" name="Text Box 5"/>
          <p:cNvSpPr txBox="1">
            <a:spLocks noChangeArrowheads="1"/>
          </p:cNvSpPr>
          <p:nvPr/>
        </p:nvSpPr>
        <p:spPr bwMode="auto">
          <a:xfrm>
            <a:off x="381000" y="4953000"/>
            <a:ext cx="8382000" cy="9461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algn="ctr">
              <a:spcBef>
                <a:spcPct val="50000"/>
              </a:spcBef>
            </a:pPr>
            <a:r>
              <a:rPr lang="en-US" sz="2800" dirty="0"/>
              <a:t>How do people integrate expectations about the world with syntactic rules to interpret sentences?</a:t>
            </a:r>
          </a:p>
        </p:txBody>
      </p:sp>
      <p:sp>
        <p:nvSpPr>
          <p:cNvPr id="2" name="Rectangle 1"/>
          <p:cNvSpPr/>
          <p:nvPr/>
        </p:nvSpPr>
        <p:spPr>
          <a:xfrm>
            <a:off x="1970933" y="1668208"/>
            <a:ext cx="6673747" cy="523220"/>
          </a:xfrm>
          <a:prstGeom prst="rect">
            <a:avLst/>
          </a:prstGeom>
        </p:spPr>
        <p:txBody>
          <a:bodyPr wrap="none">
            <a:spAutoFit/>
          </a:bodyPr>
          <a:lstStyle/>
          <a:p>
            <a:r>
              <a:rPr lang="en-US" sz="2800" dirty="0"/>
              <a:t>“The woman hit the man with the hammer.”</a:t>
            </a:r>
          </a:p>
        </p:txBody>
      </p:sp>
    </p:spTree>
    <p:extLst>
      <p:ext uri="{BB962C8B-B14F-4D97-AF65-F5344CB8AC3E}">
        <p14:creationId xmlns:p14="http://schemas.microsoft.com/office/powerpoint/2010/main" val="439526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t>Inferring mental states</a:t>
            </a:r>
          </a:p>
        </p:txBody>
      </p:sp>
      <p:sp>
        <p:nvSpPr>
          <p:cNvPr id="30727" name="Text Box 7"/>
          <p:cNvSpPr txBox="1">
            <a:spLocks noChangeArrowheads="1"/>
          </p:cNvSpPr>
          <p:nvPr/>
        </p:nvSpPr>
        <p:spPr bwMode="auto">
          <a:xfrm>
            <a:off x="5991572" y="6248400"/>
            <a:ext cx="3000028" cy="43088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pPr algn="r"/>
            <a:r>
              <a:rPr lang="en-US" sz="2200" dirty="0"/>
              <a:t>(</a:t>
            </a:r>
            <a:r>
              <a:rPr lang="en-US" sz="2200" dirty="0" err="1"/>
              <a:t>Heider</a:t>
            </a:r>
            <a:r>
              <a:rPr lang="en-US" sz="2200" dirty="0"/>
              <a:t> &amp; </a:t>
            </a:r>
            <a:r>
              <a:rPr lang="en-US" sz="2200" dirty="0" err="1"/>
              <a:t>Simmel</a:t>
            </a:r>
            <a:r>
              <a:rPr lang="en-US" sz="2200" dirty="0"/>
              <a:t>, 1958)</a:t>
            </a:r>
          </a:p>
        </p:txBody>
      </p:sp>
      <p:sp>
        <p:nvSpPr>
          <p:cNvPr id="2" name="TextBox 1"/>
          <p:cNvSpPr txBox="1"/>
          <p:nvPr/>
        </p:nvSpPr>
        <p:spPr>
          <a:xfrm>
            <a:off x="191407" y="3295339"/>
            <a:ext cx="8854908" cy="584776"/>
          </a:xfrm>
          <a:prstGeom prst="rect">
            <a:avLst/>
          </a:prstGeom>
          <a:noFill/>
        </p:spPr>
        <p:txBody>
          <a:bodyPr wrap="none" rtlCol="0">
            <a:spAutoFit/>
          </a:bodyPr>
          <a:lstStyle/>
          <a:p>
            <a:r>
              <a:rPr lang="en-US" sz="3200" dirty="0">
                <a:hlinkClick r:id="rId3"/>
              </a:rPr>
              <a:t>https://</a:t>
            </a:r>
            <a:r>
              <a:rPr lang="en-US" sz="3200" dirty="0" err="1">
                <a:hlinkClick r:id="rId3"/>
              </a:rPr>
              <a:t>www.youtube.com</a:t>
            </a:r>
            <a:r>
              <a:rPr lang="en-US" sz="3200" dirty="0">
                <a:hlinkClick r:id="rId3"/>
              </a:rPr>
              <a:t>/</a:t>
            </a:r>
            <a:r>
              <a:rPr lang="en-US" sz="3200" dirty="0" err="1">
                <a:hlinkClick r:id="rId3"/>
              </a:rPr>
              <a:t>watch?v</a:t>
            </a:r>
            <a:r>
              <a:rPr lang="en-US" sz="3200" dirty="0">
                <a:hlinkClick r:id="rId3"/>
              </a:rPr>
              <a:t>=VTNmLt7QX8E</a:t>
            </a:r>
            <a:endParaRPr lang="en-US" sz="3200" dirty="0"/>
          </a:p>
        </p:txBody>
      </p:sp>
    </p:spTree>
    <p:extLst>
      <p:ext uri="{BB962C8B-B14F-4D97-AF65-F5344CB8AC3E}">
        <p14:creationId xmlns:p14="http://schemas.microsoft.com/office/powerpoint/2010/main" val="1754922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t>Inferring mental states</a:t>
            </a:r>
          </a:p>
        </p:txBody>
      </p:sp>
      <p:sp>
        <p:nvSpPr>
          <p:cNvPr id="32771" name="Text Box 3"/>
          <p:cNvSpPr txBox="1">
            <a:spLocks noChangeArrowheads="1"/>
          </p:cNvSpPr>
          <p:nvPr/>
        </p:nvSpPr>
        <p:spPr bwMode="auto">
          <a:xfrm>
            <a:off x="2022475" y="2209800"/>
            <a:ext cx="3921125" cy="51911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a:t>data: behavior of others</a:t>
            </a:r>
          </a:p>
        </p:txBody>
      </p:sp>
      <p:sp>
        <p:nvSpPr>
          <p:cNvPr id="32772" name="Text Box 4"/>
          <p:cNvSpPr txBox="1">
            <a:spLocks noChangeArrowheads="1"/>
          </p:cNvSpPr>
          <p:nvPr/>
        </p:nvSpPr>
        <p:spPr bwMode="auto">
          <a:xfrm>
            <a:off x="990600" y="3352800"/>
            <a:ext cx="4868863" cy="9461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dirty="0"/>
              <a:t>hypotheses: goals and beliefs</a:t>
            </a:r>
          </a:p>
          <a:p>
            <a:r>
              <a:rPr lang="en-US" sz="2800" dirty="0"/>
              <a:t>		</a:t>
            </a:r>
          </a:p>
        </p:txBody>
      </p:sp>
      <p:sp>
        <p:nvSpPr>
          <p:cNvPr id="32773" name="Text Box 5"/>
          <p:cNvSpPr txBox="1">
            <a:spLocks noChangeArrowheads="1"/>
          </p:cNvSpPr>
          <p:nvPr/>
        </p:nvSpPr>
        <p:spPr bwMode="auto">
          <a:xfrm>
            <a:off x="181422" y="4688512"/>
            <a:ext cx="8869352" cy="16004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en-US" sz="2800" dirty="0"/>
              <a:t>Are there rules that describe how we expect goals and beliefs to relate to behavior?</a:t>
            </a:r>
          </a:p>
          <a:p>
            <a:pPr>
              <a:spcBef>
                <a:spcPct val="50000"/>
              </a:spcBef>
            </a:pPr>
            <a:r>
              <a:rPr lang="en-US" sz="2800" dirty="0"/>
              <a:t>Expectations we have about the goals and beliefs of others?</a:t>
            </a:r>
          </a:p>
        </p:txBody>
      </p:sp>
    </p:spTree>
    <p:extLst>
      <p:ext uri="{BB962C8B-B14F-4D97-AF65-F5344CB8AC3E}">
        <p14:creationId xmlns:p14="http://schemas.microsoft.com/office/powerpoint/2010/main" val="239649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685800" y="331788"/>
            <a:ext cx="7772400" cy="1143000"/>
          </a:xfrm>
        </p:spPr>
        <p:txBody>
          <a:bodyPr lIns="91420" tIns="45711" rIns="91420" bIns="45711"/>
          <a:lstStyle/>
          <a:p>
            <a:r>
              <a:rPr lang="en-US"/>
              <a:t>Learning new concepts</a:t>
            </a:r>
          </a:p>
        </p:txBody>
      </p:sp>
      <p:pic>
        <p:nvPicPr>
          <p:cNvPr id="36867" name="Picture 3"/>
          <p:cNvPicPr>
            <a:picLocks noChangeAspect="1" noChangeArrowheads="1"/>
          </p:cNvPicPr>
          <p:nvPr/>
        </p:nvPicPr>
        <p:blipFill>
          <a:blip r:embed="rId3">
            <a:extLst>
              <a:ext uri="{28A0092B-C50C-407E-A947-70E740481C1C}">
                <a14:useLocalDpi xmlns:a14="http://schemas.microsoft.com/office/drawing/2010/main" val="0"/>
              </a:ext>
            </a:extLst>
          </a:blip>
          <a:srcRect b="14897"/>
          <a:stretch>
            <a:fillRect/>
          </a:stretch>
        </p:blipFill>
        <p:spPr bwMode="auto">
          <a:xfrm>
            <a:off x="1185863" y="1920875"/>
            <a:ext cx="6734175" cy="4327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2" name="Group 4"/>
          <p:cNvGrpSpPr>
            <a:grpSpLocks/>
          </p:cNvGrpSpPr>
          <p:nvPr/>
        </p:nvGrpSpPr>
        <p:grpSpPr bwMode="auto">
          <a:xfrm>
            <a:off x="4071938" y="1463675"/>
            <a:ext cx="4773612" cy="1911350"/>
            <a:chOff x="2665" y="711"/>
            <a:chExt cx="3007" cy="1204"/>
          </a:xfrm>
        </p:grpSpPr>
        <p:sp>
          <p:nvSpPr>
            <p:cNvPr id="36869" name="Rectangle 5"/>
            <p:cNvSpPr>
              <a:spLocks noChangeArrowheads="1"/>
            </p:cNvSpPr>
            <p:nvPr/>
          </p:nvSpPr>
          <p:spPr bwMode="auto">
            <a:xfrm>
              <a:off x="2665" y="1007"/>
              <a:ext cx="599" cy="458"/>
            </a:xfrm>
            <a:prstGeom prst="rect">
              <a:avLst/>
            </a:prstGeom>
            <a:noFill/>
            <a:ln w="57150">
              <a:solidFill>
                <a:srgbClr val="FF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Times New Roman" charset="0"/>
              </a:endParaRPr>
            </a:p>
          </p:txBody>
        </p:sp>
        <p:sp>
          <p:nvSpPr>
            <p:cNvPr id="36870" name="Rectangle 6"/>
            <p:cNvSpPr>
              <a:spLocks noChangeArrowheads="1"/>
            </p:cNvSpPr>
            <p:nvPr/>
          </p:nvSpPr>
          <p:spPr bwMode="auto">
            <a:xfrm>
              <a:off x="4465" y="999"/>
              <a:ext cx="599" cy="458"/>
            </a:xfrm>
            <a:prstGeom prst="rect">
              <a:avLst/>
            </a:prstGeom>
            <a:noFill/>
            <a:ln w="57150">
              <a:solidFill>
                <a:srgbClr val="FF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Times New Roman" charset="0"/>
              </a:endParaRPr>
            </a:p>
          </p:txBody>
        </p:sp>
        <p:sp>
          <p:nvSpPr>
            <p:cNvPr id="36871" name="Rectangle 7"/>
            <p:cNvSpPr>
              <a:spLocks noChangeArrowheads="1"/>
            </p:cNvSpPr>
            <p:nvPr/>
          </p:nvSpPr>
          <p:spPr bwMode="auto">
            <a:xfrm>
              <a:off x="4465" y="1457"/>
              <a:ext cx="599" cy="458"/>
            </a:xfrm>
            <a:prstGeom prst="rect">
              <a:avLst/>
            </a:prstGeom>
            <a:noFill/>
            <a:ln w="57150">
              <a:solidFill>
                <a:srgbClr val="FF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latin typeface="Times New Roman" charset="0"/>
              </a:endParaRPr>
            </a:p>
          </p:txBody>
        </p:sp>
        <p:sp>
          <p:nvSpPr>
            <p:cNvPr id="36872" name="Text Box 8"/>
            <p:cNvSpPr txBox="1">
              <a:spLocks noChangeArrowheads="1"/>
            </p:cNvSpPr>
            <p:nvPr/>
          </p:nvSpPr>
          <p:spPr bwMode="auto">
            <a:xfrm>
              <a:off x="2689" y="711"/>
              <a:ext cx="58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822" tIns="45413" rIns="90822" bIns="45413">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ja-JP" altLang="en-US">
                  <a:solidFill>
                    <a:srgbClr val="FF0000"/>
                  </a:solidFill>
                  <a:latin typeface="Times New Roman" charset="0"/>
                </a:rPr>
                <a:t>“</a:t>
              </a:r>
              <a:r>
                <a:rPr lang="en-US">
                  <a:solidFill>
                    <a:srgbClr val="FF0000"/>
                  </a:solidFill>
                  <a:latin typeface="Times New Roman" charset="0"/>
                </a:rPr>
                <a:t>tufa</a:t>
              </a:r>
              <a:r>
                <a:rPr lang="ja-JP" altLang="en-US">
                  <a:solidFill>
                    <a:srgbClr val="FF0000"/>
                  </a:solidFill>
                  <a:latin typeface="Times New Roman" charset="0"/>
                </a:rPr>
                <a:t>”</a:t>
              </a:r>
              <a:endParaRPr lang="en-US">
                <a:latin typeface="Times New Roman" charset="0"/>
              </a:endParaRPr>
            </a:p>
          </p:txBody>
        </p:sp>
        <p:sp>
          <p:nvSpPr>
            <p:cNvPr id="36873" name="Text Box 9"/>
            <p:cNvSpPr txBox="1">
              <a:spLocks noChangeArrowheads="1"/>
            </p:cNvSpPr>
            <p:nvPr/>
          </p:nvSpPr>
          <p:spPr bwMode="auto">
            <a:xfrm>
              <a:off x="5089" y="1095"/>
              <a:ext cx="58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822" tIns="45413" rIns="90822" bIns="45413">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ja-JP" altLang="en-US">
                  <a:solidFill>
                    <a:srgbClr val="FF0000"/>
                  </a:solidFill>
                  <a:latin typeface="Times New Roman" charset="0"/>
                </a:rPr>
                <a:t>“</a:t>
              </a:r>
              <a:r>
                <a:rPr lang="en-US">
                  <a:solidFill>
                    <a:srgbClr val="FF0000"/>
                  </a:solidFill>
                  <a:latin typeface="Times New Roman" charset="0"/>
                </a:rPr>
                <a:t>tufa</a:t>
              </a:r>
              <a:r>
                <a:rPr lang="ja-JP" altLang="en-US">
                  <a:solidFill>
                    <a:srgbClr val="FF0000"/>
                  </a:solidFill>
                  <a:latin typeface="Times New Roman" charset="0"/>
                </a:rPr>
                <a:t>”</a:t>
              </a:r>
              <a:endParaRPr lang="en-US">
                <a:latin typeface="Times New Roman" charset="0"/>
              </a:endParaRPr>
            </a:p>
          </p:txBody>
        </p:sp>
        <p:sp>
          <p:nvSpPr>
            <p:cNvPr id="36874" name="Text Box 10"/>
            <p:cNvSpPr txBox="1">
              <a:spLocks noChangeArrowheads="1"/>
            </p:cNvSpPr>
            <p:nvPr/>
          </p:nvSpPr>
          <p:spPr bwMode="auto">
            <a:xfrm>
              <a:off x="5089" y="1531"/>
              <a:ext cx="58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0822" tIns="45413" rIns="90822" bIns="45413">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ja-JP" altLang="en-US">
                  <a:solidFill>
                    <a:srgbClr val="FF0000"/>
                  </a:solidFill>
                  <a:latin typeface="Times New Roman" charset="0"/>
                </a:rPr>
                <a:t>“</a:t>
              </a:r>
              <a:r>
                <a:rPr lang="en-US">
                  <a:solidFill>
                    <a:srgbClr val="FF0000"/>
                  </a:solidFill>
                  <a:latin typeface="Times New Roman" charset="0"/>
                </a:rPr>
                <a:t>tufa</a:t>
              </a:r>
              <a:r>
                <a:rPr lang="ja-JP" altLang="en-US">
                  <a:solidFill>
                    <a:srgbClr val="FF0000"/>
                  </a:solidFill>
                  <a:latin typeface="Times New Roman" charset="0"/>
                </a:rPr>
                <a:t>”</a:t>
              </a:r>
              <a:endParaRPr lang="en-US">
                <a:latin typeface="Times New Roman" charset="0"/>
              </a:endParaRPr>
            </a:p>
          </p:txBody>
        </p:sp>
      </p:grpSp>
    </p:spTree>
    <p:extLst>
      <p:ext uri="{BB962C8B-B14F-4D97-AF65-F5344CB8AC3E}">
        <p14:creationId xmlns:p14="http://schemas.microsoft.com/office/powerpoint/2010/main" val="1231795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t>Learning new concepts</a:t>
            </a:r>
          </a:p>
        </p:txBody>
      </p:sp>
      <p:sp>
        <p:nvSpPr>
          <p:cNvPr id="34819" name="Text Box 3"/>
          <p:cNvSpPr txBox="1">
            <a:spLocks noChangeArrowheads="1"/>
          </p:cNvSpPr>
          <p:nvPr/>
        </p:nvSpPr>
        <p:spPr bwMode="auto">
          <a:xfrm>
            <a:off x="2022475" y="2209800"/>
            <a:ext cx="2595563" cy="51911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a:t>data: examples</a:t>
            </a:r>
          </a:p>
        </p:txBody>
      </p:sp>
      <p:sp>
        <p:nvSpPr>
          <p:cNvPr id="34820" name="Text Box 4"/>
          <p:cNvSpPr txBox="1">
            <a:spLocks noChangeArrowheads="1"/>
          </p:cNvSpPr>
          <p:nvPr/>
        </p:nvSpPr>
        <p:spPr bwMode="auto">
          <a:xfrm>
            <a:off x="990600" y="3352800"/>
            <a:ext cx="6659470" cy="138499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dirty="0"/>
              <a:t>hypotheses: possible sets of objects, </a:t>
            </a:r>
          </a:p>
          <a:p>
            <a:r>
              <a:rPr lang="en-US" sz="2800" dirty="0"/>
              <a:t>				or ways of describing those sets</a:t>
            </a:r>
          </a:p>
          <a:p>
            <a:r>
              <a:rPr lang="en-US" sz="2800" dirty="0"/>
              <a:t>		</a:t>
            </a:r>
          </a:p>
        </p:txBody>
      </p:sp>
      <p:sp>
        <p:nvSpPr>
          <p:cNvPr id="34821" name="Text Box 5"/>
          <p:cNvSpPr txBox="1">
            <a:spLocks noChangeArrowheads="1"/>
          </p:cNvSpPr>
          <p:nvPr/>
        </p:nvSpPr>
        <p:spPr bwMode="auto">
          <a:xfrm>
            <a:off x="201576" y="4800600"/>
            <a:ext cx="8637624" cy="16004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en-US" sz="2800" dirty="0"/>
              <a:t>Are there rules that describe how we expect examples to relate to concepts? </a:t>
            </a:r>
          </a:p>
          <a:p>
            <a:pPr>
              <a:spcBef>
                <a:spcPct val="50000"/>
              </a:spcBef>
            </a:pPr>
            <a:r>
              <a:rPr lang="en-US" sz="2800" dirty="0"/>
              <a:t>What are the expectations we have about good concepts?</a:t>
            </a:r>
          </a:p>
        </p:txBody>
      </p:sp>
    </p:spTree>
    <p:extLst>
      <p:ext uri="{BB962C8B-B14F-4D97-AF65-F5344CB8AC3E}">
        <p14:creationId xmlns:p14="http://schemas.microsoft.com/office/powerpoint/2010/main" val="310207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546100" y="145037"/>
            <a:ext cx="8318500" cy="776725"/>
          </a:xfrm>
        </p:spPr>
        <p:txBody>
          <a:bodyPr/>
          <a:lstStyle/>
          <a:p>
            <a:r>
              <a:rPr lang="en-US" dirty="0"/>
              <a:t>Learning words</a:t>
            </a:r>
          </a:p>
        </p:txBody>
      </p:sp>
      <p:sp>
        <p:nvSpPr>
          <p:cNvPr id="37892" name="Text Box 4"/>
          <p:cNvSpPr txBox="1">
            <a:spLocks noChangeArrowheads="1"/>
          </p:cNvSpPr>
          <p:nvPr/>
        </p:nvSpPr>
        <p:spPr bwMode="auto">
          <a:xfrm>
            <a:off x="3733800" y="6053138"/>
            <a:ext cx="2012950" cy="5794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ja-JP" altLang="en-US" sz="3200"/>
              <a:t>“</a:t>
            </a:r>
            <a:r>
              <a:rPr lang="en-US" sz="3200"/>
              <a:t>jumbuck</a:t>
            </a:r>
            <a:r>
              <a:rPr lang="ja-JP" altLang="en-US" sz="3200"/>
              <a:t>”</a:t>
            </a:r>
            <a:endParaRPr lang="en-US" sz="320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6981" y="2051017"/>
            <a:ext cx="4959446" cy="371958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1234413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1684338" y="5167313"/>
            <a:ext cx="7248525" cy="1552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r"/>
            <a:r>
              <a:rPr lang="en-US"/>
              <a:t>Currie (1798)</a:t>
            </a:r>
          </a:p>
          <a:p>
            <a:pPr algn="r"/>
            <a:r>
              <a:rPr lang="en-US"/>
              <a:t> </a:t>
            </a:r>
            <a:r>
              <a:rPr lang="en-US" i="1"/>
              <a:t>Medical Reports on, the Effects of Water, Cold and </a:t>
            </a:r>
          </a:p>
          <a:p>
            <a:pPr algn="r"/>
            <a:r>
              <a:rPr lang="en-US" i="1"/>
              <a:t>Warm, as a Remedy in Fevers and Febrile Diseases</a:t>
            </a:r>
            <a:endParaRPr lang="en-US">
              <a:latin typeface="Times New Roman" charset="0"/>
            </a:endParaRPr>
          </a:p>
          <a:p>
            <a:pPr algn="r"/>
            <a:endParaRPr lang="en-US">
              <a:latin typeface="Times New Roman" charset="0"/>
            </a:endParaRPr>
          </a:p>
        </p:txBody>
      </p:sp>
      <p:sp>
        <p:nvSpPr>
          <p:cNvPr id="46083" name="Text Box 3"/>
          <p:cNvSpPr txBox="1">
            <a:spLocks noChangeArrowheads="1"/>
          </p:cNvSpPr>
          <p:nvPr/>
        </p:nvSpPr>
        <p:spPr bwMode="auto">
          <a:xfrm>
            <a:off x="262049" y="1228725"/>
            <a:ext cx="8670814" cy="3416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just"/>
            <a:r>
              <a:rPr lang="ja-JP" altLang="en-US" sz="2400" dirty="0">
                <a:latin typeface="Arial"/>
              </a:rPr>
              <a:t>“</a:t>
            </a:r>
            <a:r>
              <a:rPr lang="en-US" sz="2400" dirty="0">
                <a:latin typeface="Times New Roman" charset="0"/>
              </a:rPr>
              <a:t>The contagion spread rapidly and before its progress could be arrested, sixteen persons were affected of which two died. Of these sixteen, eight were under my care. On this occasion I used for the first time the </a:t>
            </a:r>
            <a:r>
              <a:rPr lang="en-US" sz="2400" dirty="0" err="1">
                <a:latin typeface="Times New Roman" charset="0"/>
              </a:rPr>
              <a:t>affusion</a:t>
            </a:r>
            <a:r>
              <a:rPr lang="en-US" sz="2400" dirty="0">
                <a:latin typeface="Times New Roman" charset="0"/>
              </a:rPr>
              <a:t> of cold water in the manner described by Dr. Wright. It was first tried in two cases ... The effects corresponded exactly with those mentioned by him to have occurred in his own case and thus encouraged the remedy was employed in five other cases. It was repeated daily, and of these seven patients, the whole recovered.</a:t>
            </a:r>
            <a:r>
              <a:rPr lang="ja-JP" altLang="en-US" sz="2400" dirty="0">
                <a:latin typeface="Arial"/>
              </a:rPr>
              <a:t>”</a:t>
            </a:r>
            <a:endParaRPr lang="en-US" sz="2400" dirty="0">
              <a:latin typeface="Times New Roman" charset="0"/>
            </a:endParaRPr>
          </a:p>
        </p:txBody>
      </p:sp>
      <p:pic>
        <p:nvPicPr>
          <p:cNvPr id="2" name="Picture 2">
            <a:extLst>
              <a:ext uri="{FF2B5EF4-FFF2-40B4-BE49-F238E27FC236}">
                <a16:creationId xmlns:a16="http://schemas.microsoft.com/office/drawing/2014/main" id="{11913B1C-97B6-0203-F4FB-3D5A1C2DB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513" y="4791066"/>
            <a:ext cx="1620424" cy="192882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3" name="Rectangle 2">
            <a:extLst>
              <a:ext uri="{FF2B5EF4-FFF2-40B4-BE49-F238E27FC236}">
                <a16:creationId xmlns:a16="http://schemas.microsoft.com/office/drawing/2014/main" id="{7A868C4F-50B0-D8ED-716A-406BFC5599EC}"/>
              </a:ext>
            </a:extLst>
          </p:cNvPr>
          <p:cNvSpPr txBox="1">
            <a:spLocks noChangeArrowheads="1"/>
          </p:cNvSpPr>
          <p:nvPr/>
        </p:nvSpPr>
        <p:spPr>
          <a:xfrm>
            <a:off x="0" y="145037"/>
            <a:ext cx="9230264" cy="776725"/>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000" b="1" dirty="0"/>
              <a:t>Scientific Discovery and Causal Learning</a:t>
            </a:r>
          </a:p>
        </p:txBody>
      </p:sp>
    </p:spTree>
    <p:extLst>
      <p:ext uri="{BB962C8B-B14F-4D97-AF65-F5344CB8AC3E}">
        <p14:creationId xmlns:p14="http://schemas.microsoft.com/office/powerpoint/2010/main" val="130850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2"/>
          <p:cNvGrpSpPr>
            <a:grpSpLocks/>
          </p:cNvGrpSpPr>
          <p:nvPr/>
        </p:nvGrpSpPr>
        <p:grpSpPr bwMode="auto">
          <a:xfrm>
            <a:off x="1371600" y="1803400"/>
            <a:ext cx="6534150" cy="3422650"/>
            <a:chOff x="864" y="1784"/>
            <a:chExt cx="4116" cy="2156"/>
          </a:xfrm>
        </p:grpSpPr>
        <p:sp>
          <p:nvSpPr>
            <p:cNvPr id="48131" name="Text Box 3"/>
            <p:cNvSpPr txBox="1">
              <a:spLocks noChangeArrowheads="1"/>
            </p:cNvSpPr>
            <p:nvPr/>
          </p:nvSpPr>
          <p:spPr bwMode="auto">
            <a:xfrm>
              <a:off x="1104" y="3613"/>
              <a:ext cx="3876" cy="32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ja-JP" altLang="en-US" sz="2800"/>
                <a:t>“</a:t>
              </a:r>
              <a:r>
                <a:rPr lang="en-US" sz="2800"/>
                <a:t>Does the treatment cause recovery?</a:t>
              </a:r>
              <a:r>
                <a:rPr lang="ja-JP" altLang="en-US" sz="2800"/>
                <a:t>”</a:t>
              </a:r>
              <a:endParaRPr lang="en-US" sz="3200"/>
            </a:p>
          </p:txBody>
        </p:sp>
        <p:grpSp>
          <p:nvGrpSpPr>
            <p:cNvPr id="48132" name="Group 4"/>
            <p:cNvGrpSpPr>
              <a:grpSpLocks/>
            </p:cNvGrpSpPr>
            <p:nvPr/>
          </p:nvGrpSpPr>
          <p:grpSpPr bwMode="auto">
            <a:xfrm>
              <a:off x="2056" y="2329"/>
              <a:ext cx="1831" cy="1127"/>
              <a:chOff x="1964" y="2704"/>
              <a:chExt cx="2369" cy="1458"/>
            </a:xfrm>
          </p:grpSpPr>
          <p:sp>
            <p:nvSpPr>
              <p:cNvPr id="48133" name="Rectangle 5"/>
              <p:cNvSpPr>
                <a:spLocks noChangeArrowheads="1"/>
              </p:cNvSpPr>
              <p:nvPr/>
            </p:nvSpPr>
            <p:spPr bwMode="auto">
              <a:xfrm>
                <a:off x="1964" y="2704"/>
                <a:ext cx="2369" cy="1456"/>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8134" name="Line 6"/>
              <p:cNvSpPr>
                <a:spLocks noChangeShapeType="1"/>
              </p:cNvSpPr>
              <p:nvPr/>
            </p:nvSpPr>
            <p:spPr bwMode="auto">
              <a:xfrm>
                <a:off x="3148" y="2704"/>
                <a:ext cx="0" cy="145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8135" name="Line 7"/>
              <p:cNvSpPr>
                <a:spLocks noChangeShapeType="1"/>
              </p:cNvSpPr>
              <p:nvPr/>
            </p:nvSpPr>
            <p:spPr bwMode="auto">
              <a:xfrm>
                <a:off x="1964" y="3422"/>
                <a:ext cx="2369"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8136" name="Text Box 8"/>
            <p:cNvSpPr txBox="1">
              <a:spLocks noChangeArrowheads="1"/>
            </p:cNvSpPr>
            <p:nvPr/>
          </p:nvSpPr>
          <p:spPr bwMode="auto">
            <a:xfrm>
              <a:off x="1037" y="2479"/>
              <a:ext cx="831" cy="28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i="1"/>
                <a:t>Recover</a:t>
              </a:r>
              <a:endParaRPr lang="en-US"/>
            </a:p>
          </p:txBody>
        </p:sp>
        <p:sp>
          <p:nvSpPr>
            <p:cNvPr id="48137" name="Text Box 9"/>
            <p:cNvSpPr txBox="1">
              <a:spLocks noChangeArrowheads="1"/>
            </p:cNvSpPr>
            <p:nvPr/>
          </p:nvSpPr>
          <p:spPr bwMode="auto">
            <a:xfrm>
              <a:off x="1191" y="3029"/>
              <a:ext cx="404" cy="28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i="1"/>
                <a:t>Die</a:t>
              </a:r>
              <a:endParaRPr lang="en-US"/>
            </a:p>
          </p:txBody>
        </p:sp>
        <p:sp>
          <p:nvSpPr>
            <p:cNvPr id="48138" name="Text Box 10"/>
            <p:cNvSpPr txBox="1">
              <a:spLocks noChangeArrowheads="1"/>
            </p:cNvSpPr>
            <p:nvPr/>
          </p:nvSpPr>
          <p:spPr bwMode="auto">
            <a:xfrm>
              <a:off x="2100" y="1877"/>
              <a:ext cx="778" cy="288"/>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i="1"/>
                <a:t>Treated</a:t>
              </a:r>
              <a:endParaRPr lang="en-US"/>
            </a:p>
          </p:txBody>
        </p:sp>
        <p:sp>
          <p:nvSpPr>
            <p:cNvPr id="48139" name="Text Box 11"/>
            <p:cNvSpPr txBox="1">
              <a:spLocks noChangeArrowheads="1"/>
            </p:cNvSpPr>
            <p:nvPr/>
          </p:nvSpPr>
          <p:spPr bwMode="auto">
            <a:xfrm>
              <a:off x="3037" y="1877"/>
              <a:ext cx="959" cy="518"/>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i="1"/>
                <a:t>Untreated</a:t>
              </a:r>
              <a:endParaRPr lang="en-US"/>
            </a:p>
            <a:p>
              <a:pPr algn="ctr"/>
              <a:endParaRPr lang="en-US"/>
            </a:p>
          </p:txBody>
        </p:sp>
        <p:sp>
          <p:nvSpPr>
            <p:cNvPr id="48140" name="Line 12"/>
            <p:cNvSpPr>
              <a:spLocks noChangeShapeType="1"/>
            </p:cNvSpPr>
            <p:nvPr/>
          </p:nvSpPr>
          <p:spPr bwMode="auto">
            <a:xfrm>
              <a:off x="864" y="2884"/>
              <a:ext cx="1192" cy="0"/>
            </a:xfrm>
            <a:prstGeom prst="line">
              <a:avLst/>
            </a:prstGeom>
            <a:noFill/>
            <a:ln w="9525">
              <a:solidFill>
                <a:schemeClr val="tx1"/>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8141" name="Line 13"/>
            <p:cNvSpPr>
              <a:spLocks noChangeShapeType="1"/>
            </p:cNvSpPr>
            <p:nvPr/>
          </p:nvSpPr>
          <p:spPr bwMode="auto">
            <a:xfrm rot="-5400000">
              <a:off x="2707" y="2053"/>
              <a:ext cx="538" cy="0"/>
            </a:xfrm>
            <a:prstGeom prst="line">
              <a:avLst/>
            </a:prstGeom>
            <a:noFill/>
            <a:ln w="9525">
              <a:solidFill>
                <a:schemeClr val="tx1"/>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8142" name="Text Box 14"/>
            <p:cNvSpPr txBox="1">
              <a:spLocks noChangeArrowheads="1"/>
            </p:cNvSpPr>
            <p:nvPr/>
          </p:nvSpPr>
          <p:spPr bwMode="auto">
            <a:xfrm>
              <a:off x="2428" y="2499"/>
              <a:ext cx="223" cy="28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7</a:t>
              </a:r>
            </a:p>
          </p:txBody>
        </p:sp>
        <p:sp>
          <p:nvSpPr>
            <p:cNvPr id="48143" name="Text Box 15"/>
            <p:cNvSpPr txBox="1">
              <a:spLocks noChangeArrowheads="1"/>
            </p:cNvSpPr>
            <p:nvPr/>
          </p:nvSpPr>
          <p:spPr bwMode="auto">
            <a:xfrm>
              <a:off x="2439" y="3047"/>
              <a:ext cx="223" cy="28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0</a:t>
              </a:r>
            </a:p>
          </p:txBody>
        </p:sp>
        <p:sp>
          <p:nvSpPr>
            <p:cNvPr id="48144" name="Text Box 16"/>
            <p:cNvSpPr txBox="1">
              <a:spLocks noChangeArrowheads="1"/>
            </p:cNvSpPr>
            <p:nvPr/>
          </p:nvSpPr>
          <p:spPr bwMode="auto">
            <a:xfrm>
              <a:off x="3340" y="2493"/>
              <a:ext cx="223" cy="28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7</a:t>
              </a:r>
            </a:p>
          </p:txBody>
        </p:sp>
        <p:sp>
          <p:nvSpPr>
            <p:cNvPr id="48145" name="Text Box 17"/>
            <p:cNvSpPr txBox="1">
              <a:spLocks noChangeArrowheads="1"/>
            </p:cNvSpPr>
            <p:nvPr/>
          </p:nvSpPr>
          <p:spPr bwMode="auto">
            <a:xfrm>
              <a:off x="3340" y="3040"/>
              <a:ext cx="223" cy="28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2</a:t>
              </a:r>
            </a:p>
          </p:txBody>
        </p:sp>
      </p:grpSp>
      <p:sp>
        <p:nvSpPr>
          <p:cNvPr id="2" name="Rectangle 2">
            <a:extLst>
              <a:ext uri="{FF2B5EF4-FFF2-40B4-BE49-F238E27FC236}">
                <a16:creationId xmlns:a16="http://schemas.microsoft.com/office/drawing/2014/main" id="{7D6EDEE2-FCD8-BEB4-E356-DD0091C3AD6C}"/>
              </a:ext>
            </a:extLst>
          </p:cNvPr>
          <p:cNvSpPr txBox="1">
            <a:spLocks noChangeArrowheads="1"/>
          </p:cNvSpPr>
          <p:nvPr/>
        </p:nvSpPr>
        <p:spPr>
          <a:xfrm>
            <a:off x="0" y="145037"/>
            <a:ext cx="9230264" cy="776725"/>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000" b="1" dirty="0"/>
              <a:t>Scientific Discovery and Causal Learning</a:t>
            </a:r>
          </a:p>
        </p:txBody>
      </p:sp>
    </p:spTree>
    <p:extLst>
      <p:ext uri="{BB962C8B-B14F-4D97-AF65-F5344CB8AC3E}">
        <p14:creationId xmlns:p14="http://schemas.microsoft.com/office/powerpoint/2010/main" val="3009370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183357"/>
            <a:ext cx="8229600" cy="1143000"/>
          </a:xfrm>
        </p:spPr>
        <p:txBody>
          <a:bodyPr/>
          <a:lstStyle/>
          <a:p>
            <a:r>
              <a:rPr lang="en-US" dirty="0"/>
              <a:t>Inferring causal relations</a:t>
            </a:r>
          </a:p>
        </p:txBody>
      </p:sp>
      <p:sp>
        <p:nvSpPr>
          <p:cNvPr id="50179" name="Text Box 3"/>
          <p:cNvSpPr txBox="1">
            <a:spLocks noChangeArrowheads="1"/>
          </p:cNvSpPr>
          <p:nvPr/>
        </p:nvSpPr>
        <p:spPr bwMode="auto">
          <a:xfrm>
            <a:off x="1946275" y="1605951"/>
            <a:ext cx="5383213" cy="51911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dirty="0"/>
              <a:t>data: interaction between objects</a:t>
            </a:r>
          </a:p>
        </p:txBody>
      </p:sp>
      <p:sp>
        <p:nvSpPr>
          <p:cNvPr id="50180" name="Text Box 4"/>
          <p:cNvSpPr txBox="1">
            <a:spLocks noChangeArrowheads="1"/>
          </p:cNvSpPr>
          <p:nvPr/>
        </p:nvSpPr>
        <p:spPr bwMode="auto">
          <a:xfrm>
            <a:off x="914400" y="2748951"/>
            <a:ext cx="6489700" cy="9461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2800"/>
              <a:t>hypotheses: existence of causal relation</a:t>
            </a:r>
          </a:p>
          <a:p>
            <a:r>
              <a:rPr lang="en-US" sz="2800"/>
              <a:t>		</a:t>
            </a:r>
          </a:p>
        </p:txBody>
      </p:sp>
      <p:sp>
        <p:nvSpPr>
          <p:cNvPr id="50181" name="Text Box 5"/>
          <p:cNvSpPr txBox="1">
            <a:spLocks noChangeArrowheads="1"/>
          </p:cNvSpPr>
          <p:nvPr/>
        </p:nvSpPr>
        <p:spPr bwMode="auto">
          <a:xfrm>
            <a:off x="381000" y="4196751"/>
            <a:ext cx="8382000" cy="20313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a:spcBef>
                <a:spcPct val="50000"/>
              </a:spcBef>
            </a:pPr>
            <a:r>
              <a:rPr lang="en-US" sz="2800" dirty="0"/>
              <a:t>Are there rules that describe how we expect causes to relate to effects? </a:t>
            </a:r>
          </a:p>
          <a:p>
            <a:pPr>
              <a:spcBef>
                <a:spcPct val="50000"/>
              </a:spcBef>
            </a:pPr>
            <a:r>
              <a:rPr lang="en-US" sz="2800" dirty="0"/>
              <a:t>When do we think causal relations likely, and what properties do we expect?</a:t>
            </a:r>
          </a:p>
        </p:txBody>
      </p:sp>
    </p:spTree>
    <p:extLst>
      <p:ext uri="{BB962C8B-B14F-4D97-AF65-F5344CB8AC3E}">
        <p14:creationId xmlns:p14="http://schemas.microsoft.com/office/powerpoint/2010/main" val="3421989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685800" y="163710"/>
            <a:ext cx="7772400" cy="823923"/>
          </a:xfrm>
        </p:spPr>
        <p:txBody>
          <a:bodyPr lIns="91420" tIns="45711" rIns="91420" bIns="45711">
            <a:normAutofit/>
          </a:bodyPr>
          <a:lstStyle/>
          <a:p>
            <a:r>
              <a:rPr lang="en-US"/>
              <a:t>The big questions</a:t>
            </a:r>
          </a:p>
        </p:txBody>
      </p:sp>
      <p:sp>
        <p:nvSpPr>
          <p:cNvPr id="54275" name="Rectangle 3"/>
          <p:cNvSpPr>
            <a:spLocks noGrp="1" noChangeArrowheads="1"/>
          </p:cNvSpPr>
          <p:nvPr>
            <p:ph type="body" idx="4294967295"/>
          </p:nvPr>
        </p:nvSpPr>
        <p:spPr>
          <a:xfrm>
            <a:off x="304800" y="1370592"/>
            <a:ext cx="8686800" cy="5487407"/>
          </a:xfrm>
        </p:spPr>
        <p:txBody>
          <a:bodyPr lIns="91420" tIns="45711" rIns="91420" bIns="45711">
            <a:normAutofit/>
          </a:bodyPr>
          <a:lstStyle/>
          <a:p>
            <a:pPr>
              <a:buFontTx/>
              <a:buNone/>
            </a:pPr>
            <a:r>
              <a:rPr lang="en-US" sz="2800" dirty="0"/>
              <a:t>1. How does knowledge guide learning, inference, and decision-making from sparse, noisy or ambiguous data? </a:t>
            </a:r>
          </a:p>
          <a:p>
            <a:pPr>
              <a:buFontTx/>
              <a:buNone/>
            </a:pPr>
            <a:endParaRPr lang="en-US" sz="1500" dirty="0"/>
          </a:p>
          <a:p>
            <a:pPr>
              <a:buFontTx/>
              <a:buNone/>
            </a:pPr>
            <a:r>
              <a:rPr lang="en-US" sz="2800" dirty="0"/>
              <a:t>2. What are the form and contents of this knowledge?</a:t>
            </a:r>
          </a:p>
          <a:p>
            <a:pPr>
              <a:buFontTx/>
              <a:buNone/>
            </a:pPr>
            <a:endParaRPr lang="en-US" sz="1400" dirty="0"/>
          </a:p>
          <a:p>
            <a:pPr>
              <a:buFontTx/>
              <a:buNone/>
            </a:pPr>
            <a:r>
              <a:rPr lang="en-US" sz="2800" dirty="0"/>
              <a:t>3. How is this knowledge itself learned?</a:t>
            </a:r>
          </a:p>
          <a:p>
            <a:pPr>
              <a:buFontTx/>
              <a:buNone/>
            </a:pPr>
            <a:endParaRPr lang="en-US" sz="1400" dirty="0"/>
          </a:p>
          <a:p>
            <a:pPr>
              <a:buFontTx/>
              <a:buNone/>
            </a:pPr>
            <a:r>
              <a:rPr lang="en-US" sz="2800" dirty="0"/>
              <a:t>4. How do we balance constraint and flexibility, assimilating new data to our current model versus accommodating our model to the new data?  </a:t>
            </a:r>
          </a:p>
          <a:p>
            <a:pPr>
              <a:buFontTx/>
              <a:buNone/>
            </a:pPr>
            <a:endParaRPr lang="en-US" sz="1400" dirty="0"/>
          </a:p>
          <a:p>
            <a:pPr>
              <a:buFontTx/>
              <a:buNone/>
            </a:pPr>
            <a:r>
              <a:rPr lang="en-US" sz="2800" dirty="0"/>
              <a:t>5. How can accurate inductive inferences be made efficiently, even with complex hypothesis spaces?</a:t>
            </a:r>
            <a:endParaRPr lang="en-US" sz="2400" dirty="0"/>
          </a:p>
        </p:txBody>
      </p:sp>
    </p:spTree>
    <p:extLst>
      <p:ext uri="{BB962C8B-B14F-4D97-AF65-F5344CB8AC3E}">
        <p14:creationId xmlns:p14="http://schemas.microsoft.com/office/powerpoint/2010/main" val="16555379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2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381000" y="118247"/>
            <a:ext cx="8382000" cy="982706"/>
          </a:xfrm>
        </p:spPr>
        <p:txBody>
          <a:bodyPr/>
          <a:lstStyle/>
          <a:p>
            <a:r>
              <a:rPr lang="en-US" dirty="0"/>
              <a:t>A strategy: Reverse engineering</a:t>
            </a:r>
          </a:p>
        </p:txBody>
      </p:sp>
      <p:sp>
        <p:nvSpPr>
          <p:cNvPr id="55299" name="Text Box 3"/>
          <p:cNvSpPr txBox="1">
            <a:spLocks noChangeArrowheads="1"/>
          </p:cNvSpPr>
          <p:nvPr/>
        </p:nvSpPr>
        <p:spPr bwMode="auto">
          <a:xfrm>
            <a:off x="457200" y="1293121"/>
            <a:ext cx="5555928" cy="58477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3200" dirty="0"/>
              <a:t>Specify computational problems</a:t>
            </a:r>
          </a:p>
        </p:txBody>
      </p:sp>
      <p:sp>
        <p:nvSpPr>
          <p:cNvPr id="55300" name="Text Box 4"/>
          <p:cNvSpPr txBox="1">
            <a:spLocks noChangeArrowheads="1"/>
          </p:cNvSpPr>
          <p:nvPr/>
        </p:nvSpPr>
        <p:spPr bwMode="auto">
          <a:xfrm>
            <a:off x="457200" y="2523741"/>
            <a:ext cx="7083991" cy="10772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none">
            <a:spAutoFit/>
          </a:bodyPr>
          <a:lstStyle/>
          <a:p>
            <a:r>
              <a:rPr lang="en-US" sz="3200" dirty="0"/>
              <a:t>Identify ideal solutions to these problems</a:t>
            </a:r>
          </a:p>
          <a:p>
            <a:r>
              <a:rPr lang="en-US" sz="3200" dirty="0"/>
              <a:t>		</a:t>
            </a:r>
          </a:p>
        </p:txBody>
      </p:sp>
      <p:sp>
        <p:nvSpPr>
          <p:cNvPr id="55301" name="Text Box 5"/>
          <p:cNvSpPr txBox="1">
            <a:spLocks noChangeArrowheads="1"/>
          </p:cNvSpPr>
          <p:nvPr/>
        </p:nvSpPr>
        <p:spPr bwMode="auto">
          <a:xfrm>
            <a:off x="457200" y="4246803"/>
            <a:ext cx="8382000" cy="10772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a:spcBef>
                <a:spcPct val="50000"/>
              </a:spcBef>
            </a:pPr>
            <a:r>
              <a:rPr lang="en-US" sz="3200" dirty="0"/>
              <a:t>Examine how well these solutions account for human behavior.</a:t>
            </a:r>
          </a:p>
        </p:txBody>
      </p:sp>
      <p:sp>
        <p:nvSpPr>
          <p:cNvPr id="6" name="Text Box 5"/>
          <p:cNvSpPr txBox="1">
            <a:spLocks noChangeArrowheads="1"/>
          </p:cNvSpPr>
          <p:nvPr/>
        </p:nvSpPr>
        <p:spPr bwMode="auto">
          <a:xfrm>
            <a:off x="457200" y="5969866"/>
            <a:ext cx="8382000" cy="58477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spAutoFit/>
          </a:bodyPr>
          <a:lstStyle/>
          <a:p>
            <a:pPr>
              <a:spcBef>
                <a:spcPct val="50000"/>
              </a:spcBef>
            </a:pPr>
            <a:r>
              <a:rPr lang="en-US" sz="3200" dirty="0"/>
              <a:t>See how well they work for machine learning.</a:t>
            </a:r>
          </a:p>
        </p:txBody>
      </p:sp>
    </p:spTree>
    <p:extLst>
      <p:ext uri="{BB962C8B-B14F-4D97-AF65-F5344CB8AC3E}">
        <p14:creationId xmlns:p14="http://schemas.microsoft.com/office/powerpoint/2010/main" val="3558013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0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5980" y="1206704"/>
            <a:ext cx="5923096" cy="5262979"/>
          </a:xfrm>
          <a:prstGeom prst="rect">
            <a:avLst/>
          </a:prstGeom>
          <a:noFill/>
        </p:spPr>
        <p:txBody>
          <a:bodyPr wrap="none" rtlCol="0">
            <a:spAutoFit/>
          </a:bodyPr>
          <a:lstStyle/>
          <a:p>
            <a:pPr algn="ctr"/>
            <a:r>
              <a:rPr lang="en-US" sz="4800" dirty="0"/>
              <a:t>Administrative Matters</a:t>
            </a:r>
          </a:p>
          <a:p>
            <a:pPr algn="ctr"/>
            <a:endParaRPr lang="en-US" sz="4800" dirty="0"/>
          </a:p>
          <a:p>
            <a:pPr algn="ctr"/>
            <a:endParaRPr lang="en-US" sz="4800" dirty="0"/>
          </a:p>
          <a:p>
            <a:pPr algn="ctr"/>
            <a:r>
              <a:rPr lang="en-US" sz="4800" dirty="0"/>
              <a:t>Short Interlude</a:t>
            </a:r>
          </a:p>
          <a:p>
            <a:pPr algn="ctr"/>
            <a:endParaRPr lang="en-US" sz="4800" dirty="0"/>
          </a:p>
          <a:p>
            <a:pPr algn="ctr"/>
            <a:endParaRPr lang="en-US" sz="4800" dirty="0"/>
          </a:p>
          <a:p>
            <a:pPr algn="ctr"/>
            <a:r>
              <a:rPr lang="en-US" sz="4800" dirty="0"/>
              <a:t>Basic Bayes</a:t>
            </a:r>
          </a:p>
        </p:txBody>
      </p:sp>
      <p:sp>
        <p:nvSpPr>
          <p:cNvPr id="3" name="Rectangle 2">
            <a:extLst>
              <a:ext uri="{FF2B5EF4-FFF2-40B4-BE49-F238E27FC236}">
                <a16:creationId xmlns:a16="http://schemas.microsoft.com/office/drawing/2014/main" id="{78C2901B-DB1F-D3A2-6BC1-15C8E6BC3DD9}"/>
              </a:ext>
            </a:extLst>
          </p:cNvPr>
          <p:cNvSpPr txBox="1">
            <a:spLocks noChangeArrowheads="1"/>
          </p:cNvSpPr>
          <p:nvPr/>
        </p:nvSpPr>
        <p:spPr>
          <a:xfrm>
            <a:off x="381000" y="118247"/>
            <a:ext cx="8382000" cy="98270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Outline for rest of class</a:t>
            </a:r>
          </a:p>
        </p:txBody>
      </p:sp>
    </p:spTree>
    <p:extLst>
      <p:ext uri="{BB962C8B-B14F-4D97-AF65-F5344CB8AC3E}">
        <p14:creationId xmlns:p14="http://schemas.microsoft.com/office/powerpoint/2010/main" val="3728104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8927" y="2692119"/>
            <a:ext cx="8213897" cy="830997"/>
          </a:xfrm>
          <a:prstGeom prst="rect">
            <a:avLst/>
          </a:prstGeom>
          <a:noFill/>
        </p:spPr>
        <p:txBody>
          <a:bodyPr wrap="square" rtlCol="0">
            <a:spAutoFit/>
          </a:bodyPr>
          <a:lstStyle/>
          <a:p>
            <a:pPr algn="ctr"/>
            <a:r>
              <a:rPr lang="en-US" sz="4800" dirty="0"/>
              <a:t>Now administrative matters...</a:t>
            </a:r>
          </a:p>
        </p:txBody>
      </p:sp>
    </p:spTree>
    <p:extLst>
      <p:ext uri="{BB962C8B-B14F-4D97-AF65-F5344CB8AC3E}">
        <p14:creationId xmlns:p14="http://schemas.microsoft.com/office/powerpoint/2010/main" val="3953559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10968" y="227392"/>
            <a:ext cx="2968756" cy="769441"/>
          </a:xfrm>
          <a:prstGeom prst="rect">
            <a:avLst/>
          </a:prstGeom>
          <a:noFill/>
        </p:spPr>
        <p:txBody>
          <a:bodyPr wrap="none" rtlCol="0">
            <a:spAutoFit/>
          </a:bodyPr>
          <a:lstStyle/>
          <a:p>
            <a:pPr algn="ctr"/>
            <a:r>
              <a:rPr lang="en-US" sz="4400" dirty="0"/>
              <a:t>Office hours</a:t>
            </a:r>
          </a:p>
        </p:txBody>
      </p:sp>
      <p:sp>
        <p:nvSpPr>
          <p:cNvPr id="3" name="TextBox 2"/>
          <p:cNvSpPr txBox="1"/>
          <p:nvPr/>
        </p:nvSpPr>
        <p:spPr>
          <a:xfrm>
            <a:off x="186267" y="1316696"/>
            <a:ext cx="8956426" cy="1200329"/>
          </a:xfrm>
          <a:prstGeom prst="rect">
            <a:avLst/>
          </a:prstGeom>
          <a:noFill/>
        </p:spPr>
        <p:txBody>
          <a:bodyPr wrap="none" rtlCol="0">
            <a:spAutoFit/>
          </a:bodyPr>
          <a:lstStyle/>
          <a:p>
            <a:r>
              <a:rPr lang="en-US" sz="3600" dirty="0"/>
              <a:t>Joe: Tu 2-3pm			     		zoom via Canvas</a:t>
            </a:r>
          </a:p>
          <a:p>
            <a:r>
              <a:rPr lang="en-US" sz="3600" dirty="0"/>
              <a:t>	Also by appointment 		(in-person possible)</a:t>
            </a:r>
          </a:p>
        </p:txBody>
      </p:sp>
      <p:sp>
        <p:nvSpPr>
          <p:cNvPr id="5" name="TextBox 4"/>
          <p:cNvSpPr txBox="1"/>
          <p:nvPr/>
        </p:nvSpPr>
        <p:spPr>
          <a:xfrm>
            <a:off x="3210968" y="4521246"/>
            <a:ext cx="2916183" cy="769441"/>
          </a:xfrm>
          <a:prstGeom prst="rect">
            <a:avLst/>
          </a:prstGeom>
          <a:noFill/>
        </p:spPr>
        <p:txBody>
          <a:bodyPr wrap="none" rtlCol="0">
            <a:spAutoFit/>
          </a:bodyPr>
          <a:lstStyle/>
          <a:p>
            <a:pPr algn="ctr"/>
            <a:r>
              <a:rPr lang="en-US" sz="4400" dirty="0"/>
              <a:t>Email policy</a:t>
            </a:r>
          </a:p>
        </p:txBody>
      </p:sp>
      <p:sp>
        <p:nvSpPr>
          <p:cNvPr id="6" name="TextBox 5"/>
          <p:cNvSpPr txBox="1"/>
          <p:nvPr/>
        </p:nvSpPr>
        <p:spPr>
          <a:xfrm>
            <a:off x="216608" y="5356986"/>
            <a:ext cx="8710783" cy="1384995"/>
          </a:xfrm>
          <a:prstGeom prst="rect">
            <a:avLst/>
          </a:prstGeom>
          <a:noFill/>
        </p:spPr>
        <p:txBody>
          <a:bodyPr wrap="square" rtlCol="0">
            <a:spAutoFit/>
          </a:bodyPr>
          <a:lstStyle/>
          <a:p>
            <a:r>
              <a:rPr lang="en-US" sz="2800" dirty="0"/>
              <a:t>I will do my best to respond to emails within 36 hours (48 hours if you send it late Friday or over the weekend). </a:t>
            </a:r>
          </a:p>
          <a:p>
            <a:r>
              <a:rPr lang="en-US" sz="2800" dirty="0"/>
              <a:t>Please do your best to keep them clear and concise.</a:t>
            </a:r>
          </a:p>
        </p:txBody>
      </p:sp>
      <p:sp>
        <p:nvSpPr>
          <p:cNvPr id="4" name="TextBox 3">
            <a:extLst>
              <a:ext uri="{FF2B5EF4-FFF2-40B4-BE49-F238E27FC236}">
                <a16:creationId xmlns:a16="http://schemas.microsoft.com/office/drawing/2014/main" id="{77C24CBB-5A2C-9D81-F19F-928C1949094F}"/>
              </a:ext>
            </a:extLst>
          </p:cNvPr>
          <p:cNvSpPr txBox="1"/>
          <p:nvPr/>
        </p:nvSpPr>
        <p:spPr>
          <a:xfrm>
            <a:off x="3203549" y="3069273"/>
            <a:ext cx="2736903" cy="769441"/>
          </a:xfrm>
          <a:prstGeom prst="rect">
            <a:avLst/>
          </a:prstGeom>
          <a:noFill/>
        </p:spPr>
        <p:txBody>
          <a:bodyPr wrap="none" rtlCol="0">
            <a:spAutoFit/>
          </a:bodyPr>
          <a:lstStyle/>
          <a:p>
            <a:pPr algn="ctr"/>
            <a:r>
              <a:rPr lang="en-US" sz="4400"/>
              <a:t>Life update</a:t>
            </a:r>
            <a:endParaRPr lang="en-US" sz="4400" dirty="0"/>
          </a:p>
        </p:txBody>
      </p:sp>
    </p:spTree>
    <p:extLst>
      <p:ext uri="{BB962C8B-B14F-4D97-AF65-F5344CB8AC3E}">
        <p14:creationId xmlns:p14="http://schemas.microsoft.com/office/powerpoint/2010/main" val="29747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059" y="0"/>
            <a:ext cx="8247529" cy="769441"/>
          </a:xfrm>
          <a:prstGeom prst="rect">
            <a:avLst/>
          </a:prstGeom>
          <a:noFill/>
        </p:spPr>
        <p:txBody>
          <a:bodyPr wrap="square" rtlCol="0">
            <a:spAutoFit/>
          </a:bodyPr>
          <a:lstStyle/>
          <a:p>
            <a:pPr algn="ctr"/>
            <a:r>
              <a:rPr lang="en-US" sz="4400" dirty="0"/>
              <a:t>Course topics</a:t>
            </a:r>
          </a:p>
        </p:txBody>
      </p:sp>
      <p:sp>
        <p:nvSpPr>
          <p:cNvPr id="3" name="TextBox 2"/>
          <p:cNvSpPr txBox="1"/>
          <p:nvPr/>
        </p:nvSpPr>
        <p:spPr>
          <a:xfrm>
            <a:off x="0" y="733246"/>
            <a:ext cx="9144000" cy="6124754"/>
          </a:xfrm>
          <a:prstGeom prst="rect">
            <a:avLst/>
          </a:prstGeom>
          <a:noFill/>
        </p:spPr>
        <p:txBody>
          <a:bodyPr wrap="square" rtlCol="0">
            <a:spAutoFit/>
          </a:bodyPr>
          <a:lstStyle/>
          <a:p>
            <a:r>
              <a:rPr lang="en-US" sz="2800" dirty="0"/>
              <a:t>Cover parallel developments in human and machine learning</a:t>
            </a:r>
          </a:p>
          <a:p>
            <a:endParaRPr lang="en-US" sz="1400" dirty="0"/>
          </a:p>
          <a:p>
            <a:r>
              <a:rPr lang="en-US" sz="2800" dirty="0"/>
              <a:t>We will primarily focus on probabilistic models, but we will 	spend a few weeks on deep learning too.</a:t>
            </a:r>
          </a:p>
          <a:p>
            <a:r>
              <a:rPr lang="en-US" sz="2800" dirty="0"/>
              <a:t>	(your project does not have to – more on that later).</a:t>
            </a:r>
          </a:p>
          <a:p>
            <a:endParaRPr lang="en-US" sz="1400" dirty="0"/>
          </a:p>
          <a:p>
            <a:r>
              <a:rPr lang="en-US" sz="2800" dirty="0"/>
              <a:t>Topics:</a:t>
            </a:r>
          </a:p>
          <a:p>
            <a:r>
              <a:rPr lang="en-US" sz="2800" dirty="0"/>
              <a:t>	- Graphical models/Bayesian networks</a:t>
            </a:r>
          </a:p>
          <a:p>
            <a:r>
              <a:rPr lang="en-US" sz="2800" dirty="0"/>
              <a:t>	- Hierarchical Bayesian models</a:t>
            </a:r>
          </a:p>
          <a:p>
            <a:r>
              <a:rPr lang="en-US" sz="2800" dirty="0"/>
              <a:t>	- Markov chains/Foraging</a:t>
            </a:r>
          </a:p>
          <a:p>
            <a:r>
              <a:rPr lang="en-US" sz="2800" dirty="0"/>
              <a:t>	- Reinforcement learning/Social reasoning/Communication</a:t>
            </a:r>
          </a:p>
          <a:p>
            <a:r>
              <a:rPr lang="en-US" sz="2800" dirty="0"/>
              <a:t>	- Approximation: [Markov chain] Monte Carlo</a:t>
            </a:r>
          </a:p>
          <a:p>
            <a:r>
              <a:rPr lang="en-US" sz="2800" dirty="0"/>
              <a:t>	- Bayesian </a:t>
            </a:r>
            <a:r>
              <a:rPr lang="en-US" sz="2800" dirty="0" err="1"/>
              <a:t>nonparametrics</a:t>
            </a:r>
            <a:endParaRPr lang="en-US" sz="2800" dirty="0"/>
          </a:p>
          <a:p>
            <a:r>
              <a:rPr lang="en-US" sz="2800" dirty="0"/>
              <a:t>	- Ethics/Prejudice in ML</a:t>
            </a:r>
          </a:p>
          <a:p>
            <a:r>
              <a:rPr lang="en-US" sz="2800" dirty="0"/>
              <a:t>	- Deep learning and hybrid models</a:t>
            </a:r>
          </a:p>
        </p:txBody>
      </p:sp>
    </p:spTree>
    <p:extLst>
      <p:ext uri="{BB962C8B-B14F-4D97-AF65-F5344CB8AC3E}">
        <p14:creationId xmlns:p14="http://schemas.microsoft.com/office/powerpoint/2010/main" val="324639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059" y="0"/>
            <a:ext cx="8247529" cy="769441"/>
          </a:xfrm>
          <a:prstGeom prst="rect">
            <a:avLst/>
          </a:prstGeom>
          <a:noFill/>
        </p:spPr>
        <p:txBody>
          <a:bodyPr wrap="square" rtlCol="0">
            <a:spAutoFit/>
          </a:bodyPr>
          <a:lstStyle/>
          <a:p>
            <a:pPr algn="ctr"/>
            <a:r>
              <a:rPr lang="en-US" sz="4400" dirty="0"/>
              <a:t>Course learning goals</a:t>
            </a:r>
          </a:p>
        </p:txBody>
      </p:sp>
      <p:sp>
        <p:nvSpPr>
          <p:cNvPr id="3" name="TextBox 2"/>
          <p:cNvSpPr txBox="1"/>
          <p:nvPr/>
        </p:nvSpPr>
        <p:spPr>
          <a:xfrm>
            <a:off x="0" y="966314"/>
            <a:ext cx="9144000" cy="5693866"/>
          </a:xfrm>
          <a:prstGeom prst="rect">
            <a:avLst/>
          </a:prstGeom>
          <a:noFill/>
        </p:spPr>
        <p:txBody>
          <a:bodyPr wrap="square" rtlCol="0">
            <a:spAutoFit/>
          </a:bodyPr>
          <a:lstStyle/>
          <a:p>
            <a:r>
              <a:rPr lang="en-US" sz="2800" dirty="0"/>
              <a:t>Students who successfully complete the class will be able to</a:t>
            </a:r>
          </a:p>
          <a:p>
            <a:pPr marL="971550" lvl="1" indent="-514350">
              <a:buFont typeface="+mj-lt"/>
              <a:buAutoNum type="arabicPeriod"/>
            </a:pPr>
            <a:r>
              <a:rPr lang="en-US" sz="2800" b="1" dirty="0"/>
              <a:t>understand </a:t>
            </a:r>
            <a:r>
              <a:rPr lang="en-US" sz="2800" dirty="0"/>
              <a:t>state-of-the-art machine learning techniques.</a:t>
            </a:r>
          </a:p>
          <a:p>
            <a:pPr marL="971550" lvl="1" indent="-514350">
              <a:buFont typeface="+mj-lt"/>
              <a:buAutoNum type="arabicPeriod"/>
            </a:pPr>
            <a:endParaRPr lang="en-US" sz="2800" b="1" dirty="0"/>
          </a:p>
          <a:p>
            <a:pPr marL="971550" lvl="1" indent="-514350">
              <a:buFont typeface="+mj-lt"/>
              <a:buAutoNum type="arabicPeriod"/>
            </a:pPr>
            <a:r>
              <a:rPr lang="en-US" sz="2800" b="1" dirty="0"/>
              <a:t>create </a:t>
            </a:r>
            <a:r>
              <a:rPr lang="en-US" sz="2800" dirty="0"/>
              <a:t>a probabilistic model of a problem solved by the human mind</a:t>
            </a:r>
            <a:r>
              <a:rPr lang="en-US" sz="2800" b="1" dirty="0"/>
              <a:t> </a:t>
            </a:r>
            <a:r>
              <a:rPr lang="en-US" sz="2800" dirty="0"/>
              <a:t>(hopefully one relevant to your research interests).</a:t>
            </a:r>
          </a:p>
          <a:p>
            <a:pPr marL="971550" lvl="1" indent="-514350">
              <a:buFont typeface="+mj-lt"/>
              <a:buAutoNum type="arabicPeriod"/>
            </a:pPr>
            <a:endParaRPr lang="en-US" sz="2800" b="1" dirty="0"/>
          </a:p>
          <a:p>
            <a:pPr marL="971550" lvl="1" indent="-514350">
              <a:buFont typeface="+mj-lt"/>
              <a:buAutoNum type="arabicPeriod"/>
            </a:pPr>
            <a:r>
              <a:rPr lang="en-US" sz="2800" b="1" dirty="0"/>
              <a:t>analyze </a:t>
            </a:r>
            <a:r>
              <a:rPr lang="en-US" sz="2800" dirty="0"/>
              <a:t>how model assumptions (explicit or implicit) enable learning.</a:t>
            </a:r>
          </a:p>
          <a:p>
            <a:pPr marL="971550" lvl="1" indent="-514350">
              <a:buFont typeface="+mj-lt"/>
              <a:buAutoNum type="arabicPeriod"/>
            </a:pPr>
            <a:endParaRPr lang="en-US" sz="2800" b="1" dirty="0"/>
          </a:p>
          <a:p>
            <a:pPr marL="971550" lvl="1" indent="-514350">
              <a:buFont typeface="+mj-lt"/>
              <a:buAutoNum type="arabicPeriod"/>
            </a:pPr>
            <a:r>
              <a:rPr lang="en-US" sz="2800" b="1" dirty="0"/>
              <a:t>think critically </a:t>
            </a:r>
            <a:r>
              <a:rPr lang="en-US" sz="2800" dirty="0"/>
              <a:t>about the role of computational modeling in explaining human behavior.</a:t>
            </a:r>
          </a:p>
        </p:txBody>
      </p:sp>
    </p:spTree>
    <p:extLst>
      <p:ext uri="{BB962C8B-B14F-4D97-AF65-F5344CB8AC3E}">
        <p14:creationId xmlns:p14="http://schemas.microsoft.com/office/powerpoint/2010/main" val="211788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059" y="0"/>
            <a:ext cx="8247529" cy="769441"/>
          </a:xfrm>
          <a:prstGeom prst="rect">
            <a:avLst/>
          </a:prstGeom>
          <a:noFill/>
        </p:spPr>
        <p:txBody>
          <a:bodyPr wrap="square" rtlCol="0">
            <a:spAutoFit/>
          </a:bodyPr>
          <a:lstStyle/>
          <a:p>
            <a:pPr algn="ctr"/>
            <a:r>
              <a:rPr lang="en-US" sz="4400" dirty="0"/>
              <a:t>Prerequisites</a:t>
            </a:r>
          </a:p>
        </p:txBody>
      </p:sp>
      <p:sp>
        <p:nvSpPr>
          <p:cNvPr id="3" name="TextBox 2"/>
          <p:cNvSpPr txBox="1"/>
          <p:nvPr/>
        </p:nvSpPr>
        <p:spPr>
          <a:xfrm>
            <a:off x="0" y="1012954"/>
            <a:ext cx="9144000" cy="5262979"/>
          </a:xfrm>
          <a:prstGeom prst="rect">
            <a:avLst/>
          </a:prstGeom>
          <a:noFill/>
        </p:spPr>
        <p:txBody>
          <a:bodyPr wrap="square" rtlCol="0">
            <a:spAutoFit/>
          </a:bodyPr>
          <a:lstStyle/>
          <a:p>
            <a:r>
              <a:rPr lang="en-US" sz="2800" dirty="0"/>
              <a:t>Prior experience with computational modeling and computer programming is required. </a:t>
            </a:r>
          </a:p>
          <a:p>
            <a:r>
              <a:rPr lang="en-US" sz="2800" dirty="0"/>
              <a:t>	Most supported: Python</a:t>
            </a:r>
          </a:p>
          <a:p>
            <a:r>
              <a:rPr lang="en-US" sz="2800" dirty="0"/>
              <a:t>	Supported: R</a:t>
            </a:r>
          </a:p>
          <a:p>
            <a:r>
              <a:rPr lang="en-US" sz="2800" dirty="0"/>
              <a:t>	Legacy very supported: </a:t>
            </a:r>
            <a:r>
              <a:rPr lang="en-US" sz="2800" dirty="0" err="1"/>
              <a:t>Matlab</a:t>
            </a:r>
            <a:endParaRPr lang="en-US" sz="2800" dirty="0"/>
          </a:p>
          <a:p>
            <a:r>
              <a:rPr lang="en-US" sz="2800" dirty="0"/>
              <a:t>	Next support (in-progress): Julia</a:t>
            </a:r>
          </a:p>
          <a:p>
            <a:r>
              <a:rPr lang="en-US" sz="2800" dirty="0"/>
              <a:t>	Other languages: I have coded many languages and likely 		will be able to help, but I can’t guarantee it.</a:t>
            </a:r>
          </a:p>
          <a:p>
            <a:endParaRPr lang="en-US" sz="2800" dirty="0"/>
          </a:p>
          <a:p>
            <a:endParaRPr lang="en-US" sz="2800" dirty="0"/>
          </a:p>
          <a:p>
            <a:r>
              <a:rPr lang="en-US" sz="2800" dirty="0"/>
              <a:t>Prior familiarity with linear algebra and probability theory is highly recommended. </a:t>
            </a:r>
          </a:p>
        </p:txBody>
      </p:sp>
    </p:spTree>
    <p:extLst>
      <p:ext uri="{BB962C8B-B14F-4D97-AF65-F5344CB8AC3E}">
        <p14:creationId xmlns:p14="http://schemas.microsoft.com/office/powerpoint/2010/main" val="296010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3DD63-4051-C617-76DC-AA8EEA4B8D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840E46-4D91-C0FC-20E1-86B0E1E9CCEE}"/>
              </a:ext>
            </a:extLst>
          </p:cNvPr>
          <p:cNvSpPr txBox="1"/>
          <p:nvPr/>
        </p:nvSpPr>
        <p:spPr>
          <a:xfrm>
            <a:off x="239059" y="0"/>
            <a:ext cx="8247529" cy="769441"/>
          </a:xfrm>
          <a:prstGeom prst="rect">
            <a:avLst/>
          </a:prstGeom>
          <a:noFill/>
        </p:spPr>
        <p:txBody>
          <a:bodyPr wrap="square" rtlCol="0">
            <a:spAutoFit/>
          </a:bodyPr>
          <a:lstStyle/>
          <a:p>
            <a:pPr algn="ctr"/>
            <a:r>
              <a:rPr lang="en-US" sz="4400" dirty="0"/>
              <a:t>Typical Class Flow</a:t>
            </a:r>
          </a:p>
        </p:txBody>
      </p:sp>
      <p:sp>
        <p:nvSpPr>
          <p:cNvPr id="3" name="TextBox 2">
            <a:extLst>
              <a:ext uri="{FF2B5EF4-FFF2-40B4-BE49-F238E27FC236}">
                <a16:creationId xmlns:a16="http://schemas.microsoft.com/office/drawing/2014/main" id="{B7AE5B2A-8580-DED5-2077-4D52C0059F6E}"/>
              </a:ext>
            </a:extLst>
          </p:cNvPr>
          <p:cNvSpPr txBox="1"/>
          <p:nvPr/>
        </p:nvSpPr>
        <p:spPr>
          <a:xfrm>
            <a:off x="0" y="1012954"/>
            <a:ext cx="9144000" cy="5478423"/>
          </a:xfrm>
          <a:prstGeom prst="rect">
            <a:avLst/>
          </a:prstGeom>
          <a:noFill/>
        </p:spPr>
        <p:txBody>
          <a:bodyPr wrap="square" rtlCol="0">
            <a:spAutoFit/>
          </a:bodyPr>
          <a:lstStyle/>
          <a:p>
            <a:r>
              <a:rPr lang="en-US" sz="2800" dirty="0"/>
              <a:t>This and the next two weeks will be atypical. </a:t>
            </a:r>
          </a:p>
          <a:p>
            <a:r>
              <a:rPr lang="en-US" sz="2800" dirty="0"/>
              <a:t>	Today’s class is mostly Joe lecturing. </a:t>
            </a:r>
          </a:p>
          <a:p>
            <a:r>
              <a:rPr lang="en-US" sz="2800" dirty="0"/>
              <a:t>	If time, we will do class introductions.</a:t>
            </a:r>
          </a:p>
          <a:p>
            <a:endParaRPr lang="en-US" sz="1400" dirty="0"/>
          </a:p>
          <a:p>
            <a:r>
              <a:rPr lang="en-US" sz="2800" dirty="0"/>
              <a:t>Weeks after that will be typical:</a:t>
            </a:r>
          </a:p>
          <a:p>
            <a:pPr marL="514350" indent="-514350">
              <a:buFont typeface="+mj-lt"/>
              <a:buAutoNum type="arabicPeriod"/>
            </a:pPr>
            <a:r>
              <a:rPr lang="en-US" sz="2800" dirty="0"/>
              <a:t>First half of class will be Joe lecturing.</a:t>
            </a:r>
          </a:p>
          <a:p>
            <a:pPr marL="514350" indent="-514350">
              <a:buFont typeface="+mj-lt"/>
              <a:buAutoNum type="arabicPeriod"/>
            </a:pPr>
            <a:r>
              <a:rPr lang="en-US" sz="2800" dirty="0"/>
              <a:t>Second half will be two student presentations and discussion.</a:t>
            </a:r>
          </a:p>
          <a:p>
            <a:endParaRPr lang="en-US" sz="1400" dirty="0"/>
          </a:p>
          <a:p>
            <a:r>
              <a:rPr lang="en-US" sz="2800" dirty="0"/>
              <a:t>Next week will be closer to typical. Joe will lecture for most of class, but will have more discussion.</a:t>
            </a:r>
          </a:p>
          <a:p>
            <a:endParaRPr lang="en-US" sz="1400" dirty="0"/>
          </a:p>
          <a:p>
            <a:r>
              <a:rPr lang="en-US" sz="2800" dirty="0"/>
              <a:t>Third week will be very atypical because Joe will be in Japan.</a:t>
            </a:r>
          </a:p>
          <a:p>
            <a:r>
              <a:rPr lang="en-US" sz="2800" dirty="0"/>
              <a:t>	It will be completely async.</a:t>
            </a:r>
          </a:p>
        </p:txBody>
      </p:sp>
    </p:spTree>
    <p:extLst>
      <p:ext uri="{BB962C8B-B14F-4D97-AF65-F5344CB8AC3E}">
        <p14:creationId xmlns:p14="http://schemas.microsoft.com/office/powerpoint/2010/main" val="3105760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173" y="0"/>
            <a:ext cx="8614300" cy="769441"/>
          </a:xfrm>
          <a:prstGeom prst="rect">
            <a:avLst/>
          </a:prstGeom>
          <a:noFill/>
        </p:spPr>
        <p:txBody>
          <a:bodyPr wrap="square" rtlCol="0">
            <a:spAutoFit/>
          </a:bodyPr>
          <a:lstStyle/>
          <a:p>
            <a:pPr algn="ctr"/>
            <a:r>
              <a:rPr lang="en-US" sz="4400" dirty="0"/>
              <a:t>Optional Sections?</a:t>
            </a:r>
          </a:p>
        </p:txBody>
      </p:sp>
      <p:sp>
        <p:nvSpPr>
          <p:cNvPr id="3" name="TextBox 2"/>
          <p:cNvSpPr txBox="1"/>
          <p:nvPr/>
        </p:nvSpPr>
        <p:spPr>
          <a:xfrm>
            <a:off x="0" y="860965"/>
            <a:ext cx="9144000" cy="5909310"/>
          </a:xfrm>
          <a:prstGeom prst="rect">
            <a:avLst/>
          </a:prstGeom>
          <a:noFill/>
        </p:spPr>
        <p:txBody>
          <a:bodyPr wrap="square" rtlCol="0">
            <a:spAutoFit/>
          </a:bodyPr>
          <a:lstStyle/>
          <a:p>
            <a:r>
              <a:rPr lang="en-US" sz="2800" dirty="0"/>
              <a:t>To be discussed with class for interest</a:t>
            </a:r>
          </a:p>
          <a:p>
            <a:endParaRPr lang="en-US" sz="2800" dirty="0"/>
          </a:p>
          <a:p>
            <a:r>
              <a:rPr lang="en-US" sz="2800" dirty="0"/>
              <a:t>People have very different backgrounds in the class. To avoid as many bored stares, the purpose of this optional section is</a:t>
            </a:r>
          </a:p>
          <a:p>
            <a:r>
              <a:rPr lang="en-US" sz="2800" dirty="0"/>
              <a:t>	reviewing math that went fast during class. </a:t>
            </a:r>
          </a:p>
          <a:p>
            <a:r>
              <a:rPr lang="en-US" sz="2800" dirty="0"/>
              <a:t>	going through programming tutorials together.</a:t>
            </a:r>
          </a:p>
          <a:p>
            <a:r>
              <a:rPr lang="en-US" sz="2800" dirty="0"/>
              <a:t>	</a:t>
            </a:r>
            <a:r>
              <a:rPr lang="en-US" sz="2800" dirty="0" err="1"/>
              <a:t>etc</a:t>
            </a:r>
            <a:endParaRPr lang="en-US" sz="2800" dirty="0"/>
          </a:p>
          <a:p>
            <a:endParaRPr lang="en-US" sz="1400" dirty="0"/>
          </a:p>
          <a:p>
            <a:r>
              <a:rPr lang="en-US" sz="2800" dirty="0"/>
              <a:t>I answer questions that you have about math and programming.</a:t>
            </a:r>
          </a:p>
          <a:p>
            <a:endParaRPr lang="en-US" sz="1400" dirty="0"/>
          </a:p>
          <a:p>
            <a:r>
              <a:rPr lang="en-US" sz="2800" dirty="0"/>
              <a:t>They evolve into extra office hours often.</a:t>
            </a:r>
          </a:p>
          <a:p>
            <a:endParaRPr lang="en-US" sz="1400" dirty="0"/>
          </a:p>
          <a:p>
            <a:r>
              <a:rPr lang="en-US" sz="2800" dirty="0"/>
              <a:t>Some were recorded already and accessible to watch.</a:t>
            </a:r>
          </a:p>
          <a:p>
            <a:r>
              <a:rPr lang="en-US" sz="2800" dirty="0"/>
              <a:t>	Rest of lecture today will have some of this.</a:t>
            </a:r>
          </a:p>
        </p:txBody>
      </p:sp>
    </p:spTree>
    <p:extLst>
      <p:ext uri="{BB962C8B-B14F-4D97-AF65-F5344CB8AC3E}">
        <p14:creationId xmlns:p14="http://schemas.microsoft.com/office/powerpoint/2010/main" val="30636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B8E9AC-E88E-BF4F-1741-83E834CEE3B9}"/>
              </a:ext>
            </a:extLst>
          </p:cNvPr>
          <p:cNvSpPr txBox="1"/>
          <p:nvPr/>
        </p:nvSpPr>
        <p:spPr>
          <a:xfrm>
            <a:off x="1" y="0"/>
            <a:ext cx="9144000" cy="769441"/>
          </a:xfrm>
          <a:prstGeom prst="rect">
            <a:avLst/>
          </a:prstGeom>
          <a:noFill/>
        </p:spPr>
        <p:txBody>
          <a:bodyPr wrap="square" rtlCol="0">
            <a:spAutoFit/>
          </a:bodyPr>
          <a:lstStyle/>
          <a:p>
            <a:pPr algn="ctr"/>
            <a:r>
              <a:rPr lang="en-US" sz="4400" dirty="0"/>
              <a:t>Typical Weekly Rhythm</a:t>
            </a:r>
          </a:p>
        </p:txBody>
      </p:sp>
      <p:pic>
        <p:nvPicPr>
          <p:cNvPr id="6" name="Picture 5" descr="A screenshot of a calendar&#10;&#10;Description automatically generated">
            <a:extLst>
              <a:ext uri="{FF2B5EF4-FFF2-40B4-BE49-F238E27FC236}">
                <a16:creationId xmlns:a16="http://schemas.microsoft.com/office/drawing/2014/main" id="{6935E20E-38F2-0622-F856-89B31A4D284B}"/>
              </a:ext>
            </a:extLst>
          </p:cNvPr>
          <p:cNvPicPr>
            <a:picLocks noChangeAspect="1"/>
          </p:cNvPicPr>
          <p:nvPr/>
        </p:nvPicPr>
        <p:blipFill>
          <a:blip r:embed="rId2"/>
          <a:stretch>
            <a:fillRect/>
          </a:stretch>
        </p:blipFill>
        <p:spPr>
          <a:xfrm>
            <a:off x="252248" y="1747485"/>
            <a:ext cx="8639504" cy="3125103"/>
          </a:xfrm>
          <a:prstGeom prst="rect">
            <a:avLst/>
          </a:prstGeom>
        </p:spPr>
      </p:pic>
    </p:spTree>
    <p:extLst>
      <p:ext uri="{BB962C8B-B14F-4D97-AF65-F5344CB8AC3E}">
        <p14:creationId xmlns:p14="http://schemas.microsoft.com/office/powerpoint/2010/main" val="3940790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059" y="0"/>
            <a:ext cx="8247529" cy="646331"/>
          </a:xfrm>
          <a:prstGeom prst="rect">
            <a:avLst/>
          </a:prstGeom>
          <a:noFill/>
        </p:spPr>
        <p:txBody>
          <a:bodyPr wrap="square" rtlCol="0">
            <a:spAutoFit/>
          </a:bodyPr>
          <a:lstStyle/>
          <a:p>
            <a:pPr algn="ctr"/>
            <a:r>
              <a:rPr lang="en-US" sz="3600" dirty="0"/>
              <a:t>Grading/Requirements</a:t>
            </a:r>
          </a:p>
        </p:txBody>
      </p:sp>
      <p:sp>
        <p:nvSpPr>
          <p:cNvPr id="3" name="TextBox 2"/>
          <p:cNvSpPr txBox="1"/>
          <p:nvPr/>
        </p:nvSpPr>
        <p:spPr>
          <a:xfrm>
            <a:off x="239059" y="515149"/>
            <a:ext cx="8904941" cy="2862322"/>
          </a:xfrm>
          <a:prstGeom prst="rect">
            <a:avLst/>
          </a:prstGeom>
          <a:noFill/>
        </p:spPr>
        <p:txBody>
          <a:bodyPr wrap="square" rtlCol="0">
            <a:spAutoFit/>
          </a:bodyPr>
          <a:lstStyle/>
          <a:p>
            <a:r>
              <a:rPr lang="en-US" sz="2400" dirty="0"/>
              <a:t>No required. Recs:</a:t>
            </a:r>
          </a:p>
          <a:p>
            <a:r>
              <a:rPr lang="en-US" sz="2400" dirty="0"/>
              <a:t>If you are concerned about catching up on probabilistic modeling, this book is a good one to look at:</a:t>
            </a:r>
          </a:p>
          <a:p>
            <a:r>
              <a:rPr lang="en-US" sz="2400" dirty="0"/>
              <a:t>	</a:t>
            </a:r>
            <a:r>
              <a:rPr lang="en-US" sz="2400" dirty="0" err="1"/>
              <a:t>Kruschke</a:t>
            </a:r>
            <a:r>
              <a:rPr lang="en-US" sz="2400" dirty="0"/>
              <a:t> (2016). Doing Bayesian data analysis</a:t>
            </a:r>
          </a:p>
          <a:p>
            <a:endParaRPr lang="en-US" sz="1200" dirty="0"/>
          </a:p>
          <a:p>
            <a:r>
              <a:rPr lang="en-US" sz="2400" dirty="0"/>
              <a:t>If you want a book as reference, two good ones are:</a:t>
            </a:r>
          </a:p>
          <a:p>
            <a:r>
              <a:rPr lang="en-US" sz="2400" dirty="0"/>
              <a:t>	Murphy (2012) Machine Learning: A Probabilistic Perspective</a:t>
            </a:r>
          </a:p>
          <a:p>
            <a:r>
              <a:rPr lang="en-US" sz="2400" dirty="0"/>
              <a:t>	</a:t>
            </a:r>
            <a:r>
              <a:rPr lang="en-US" sz="2400" dirty="0" err="1"/>
              <a:t>Goodfellow</a:t>
            </a:r>
            <a:r>
              <a:rPr lang="en-US" sz="2400" dirty="0"/>
              <a:t> et al. (2016): Deep Learning</a:t>
            </a:r>
          </a:p>
        </p:txBody>
      </p:sp>
      <p:graphicFrame>
        <p:nvGraphicFramePr>
          <p:cNvPr id="4" name="Table 3"/>
          <p:cNvGraphicFramePr>
            <a:graphicFrameLocks noGrp="1"/>
          </p:cNvGraphicFramePr>
          <p:nvPr>
            <p:extLst>
              <p:ext uri="{D42A27DB-BD31-4B8C-83A1-F6EECF244321}">
                <p14:modId xmlns:p14="http://schemas.microsoft.com/office/powerpoint/2010/main" val="309417583"/>
              </p:ext>
            </p:extLst>
          </p:nvPr>
        </p:nvGraphicFramePr>
        <p:xfrm>
          <a:off x="994725" y="3355759"/>
          <a:ext cx="7154550" cy="3457777"/>
        </p:xfrm>
        <a:graphic>
          <a:graphicData uri="http://schemas.openxmlformats.org/drawingml/2006/table">
            <a:tbl>
              <a:tblPr firstRow="1" bandRow="1">
                <a:tableStyleId>{073A0DAA-6AF3-43AB-8588-CEC1D06C72B9}</a:tableStyleId>
              </a:tblPr>
              <a:tblGrid>
                <a:gridCol w="3577275">
                  <a:extLst>
                    <a:ext uri="{9D8B030D-6E8A-4147-A177-3AD203B41FA5}">
                      <a16:colId xmlns:a16="http://schemas.microsoft.com/office/drawing/2014/main" val="20000"/>
                    </a:ext>
                  </a:extLst>
                </a:gridCol>
                <a:gridCol w="3577275">
                  <a:extLst>
                    <a:ext uri="{9D8B030D-6E8A-4147-A177-3AD203B41FA5}">
                      <a16:colId xmlns:a16="http://schemas.microsoft.com/office/drawing/2014/main" val="20001"/>
                    </a:ext>
                  </a:extLst>
                </a:gridCol>
              </a:tblGrid>
              <a:tr h="496137">
                <a:tc>
                  <a:txBody>
                    <a:bodyPr/>
                    <a:lstStyle/>
                    <a:p>
                      <a:pPr algn="ctr"/>
                      <a:r>
                        <a:rPr lang="en-US" dirty="0"/>
                        <a:t>Requirement</a:t>
                      </a:r>
                    </a:p>
                  </a:txBody>
                  <a:tcPr/>
                </a:tc>
                <a:tc>
                  <a:txBody>
                    <a:bodyPr/>
                    <a:lstStyle/>
                    <a:p>
                      <a:pPr algn="ctr"/>
                      <a:r>
                        <a:rPr lang="en-US" dirty="0"/>
                        <a:t>Percentage of final grade</a:t>
                      </a:r>
                    </a:p>
                  </a:txBody>
                  <a:tcPr/>
                </a:tc>
                <a:extLst>
                  <a:ext uri="{0D108BD9-81ED-4DB2-BD59-A6C34878D82A}">
                    <a16:rowId xmlns:a16="http://schemas.microsoft.com/office/drawing/2014/main" val="10000"/>
                  </a:ext>
                </a:extLst>
              </a:tr>
              <a:tr h="370840">
                <a:tc>
                  <a:txBody>
                    <a:bodyPr/>
                    <a:lstStyle/>
                    <a:p>
                      <a:r>
                        <a:rPr lang="en-US" dirty="0"/>
                        <a:t>Discussion posts</a:t>
                      </a:r>
                    </a:p>
                  </a:txBody>
                  <a:tcPr/>
                </a:tc>
                <a:tc>
                  <a:txBody>
                    <a:bodyPr/>
                    <a:lstStyle/>
                    <a:p>
                      <a:r>
                        <a:rPr lang="en-US" dirty="0"/>
                        <a:t>5%</a:t>
                      </a:r>
                      <a:r>
                        <a:rPr lang="en-US" baseline="0" dirty="0"/>
                        <a:t> (5x1% each)</a:t>
                      </a:r>
                      <a:endParaRPr lang="en-US" dirty="0"/>
                    </a:p>
                  </a:txBody>
                  <a:tcPr/>
                </a:tc>
                <a:extLst>
                  <a:ext uri="{0D108BD9-81ED-4DB2-BD59-A6C34878D82A}">
                    <a16:rowId xmlns:a16="http://schemas.microsoft.com/office/drawing/2014/main" val="10001"/>
                  </a:ext>
                </a:extLst>
              </a:tr>
              <a:tr h="370840">
                <a:tc>
                  <a:txBody>
                    <a:bodyPr/>
                    <a:lstStyle/>
                    <a:p>
                      <a:r>
                        <a:rPr lang="en-US" dirty="0"/>
                        <a:t>Assignments</a:t>
                      </a:r>
                    </a:p>
                  </a:txBody>
                  <a:tcPr/>
                </a:tc>
                <a:tc>
                  <a:txBody>
                    <a:bodyPr/>
                    <a:lstStyle/>
                    <a:p>
                      <a:r>
                        <a:rPr lang="en-US" dirty="0"/>
                        <a:t>16% (1&amp;2=4%</a:t>
                      </a:r>
                      <a:r>
                        <a:rPr lang="en-US" baseline="0" dirty="0"/>
                        <a:t>, 3=6%, &amp; </a:t>
                      </a:r>
                      <a:r>
                        <a:rPr lang="en-US" dirty="0"/>
                        <a:t>4</a:t>
                      </a:r>
                      <a:r>
                        <a:rPr lang="en-US" baseline="0" dirty="0"/>
                        <a:t> = 2%)</a:t>
                      </a:r>
                    </a:p>
                  </a:txBody>
                  <a:tcPr/>
                </a:tc>
                <a:extLst>
                  <a:ext uri="{0D108BD9-81ED-4DB2-BD59-A6C34878D82A}">
                    <a16:rowId xmlns:a16="http://schemas.microsoft.com/office/drawing/2014/main" val="10002"/>
                  </a:ext>
                </a:extLst>
              </a:tr>
              <a:tr h="370840">
                <a:tc>
                  <a:txBody>
                    <a:bodyPr/>
                    <a:lstStyle/>
                    <a:p>
                      <a:r>
                        <a:rPr lang="en-US" dirty="0"/>
                        <a:t>In-class discussion</a:t>
                      </a:r>
                    </a:p>
                  </a:txBody>
                  <a:tcPr/>
                </a:tc>
                <a:tc>
                  <a:txBody>
                    <a:bodyPr/>
                    <a:lstStyle/>
                    <a:p>
                      <a:r>
                        <a:rPr lang="en-US" dirty="0"/>
                        <a:t>5%</a:t>
                      </a:r>
                    </a:p>
                  </a:txBody>
                  <a:tcPr/>
                </a:tc>
                <a:extLst>
                  <a:ext uri="{0D108BD9-81ED-4DB2-BD59-A6C34878D82A}">
                    <a16:rowId xmlns:a16="http://schemas.microsoft.com/office/drawing/2014/main" val="10003"/>
                  </a:ext>
                </a:extLst>
              </a:tr>
              <a:tr h="370840">
                <a:tc>
                  <a:txBody>
                    <a:bodyPr/>
                    <a:lstStyle/>
                    <a:p>
                      <a:r>
                        <a:rPr lang="en-US" dirty="0"/>
                        <a:t>In-class presentations</a:t>
                      </a:r>
                    </a:p>
                  </a:txBody>
                  <a:tcPr/>
                </a:tc>
                <a:tc>
                  <a:txBody>
                    <a:bodyPr/>
                    <a:lstStyle/>
                    <a:p>
                      <a:r>
                        <a:rPr lang="en-US" dirty="0"/>
                        <a:t>10%</a:t>
                      </a:r>
                    </a:p>
                  </a:txBody>
                  <a:tcPr/>
                </a:tc>
                <a:extLst>
                  <a:ext uri="{0D108BD9-81ED-4DB2-BD59-A6C34878D82A}">
                    <a16:rowId xmlns:a16="http://schemas.microsoft.com/office/drawing/2014/main" val="10004"/>
                  </a:ext>
                </a:extLst>
              </a:tr>
              <a:tr h="370840">
                <a:tc>
                  <a:txBody>
                    <a:bodyPr/>
                    <a:lstStyle/>
                    <a:p>
                      <a:r>
                        <a:rPr lang="en-US" dirty="0"/>
                        <a:t>Project proposal</a:t>
                      </a:r>
                    </a:p>
                  </a:txBody>
                  <a:tcPr/>
                </a:tc>
                <a:tc>
                  <a:txBody>
                    <a:bodyPr/>
                    <a:lstStyle/>
                    <a:p>
                      <a:r>
                        <a:rPr lang="en-US" dirty="0"/>
                        <a:t>10%</a:t>
                      </a:r>
                    </a:p>
                  </a:txBody>
                  <a:tcPr/>
                </a:tc>
                <a:extLst>
                  <a:ext uri="{0D108BD9-81ED-4DB2-BD59-A6C34878D82A}">
                    <a16:rowId xmlns:a16="http://schemas.microsoft.com/office/drawing/2014/main" val="10005"/>
                  </a:ext>
                </a:extLst>
              </a:tr>
              <a:tr h="0">
                <a:tc>
                  <a:txBody>
                    <a:bodyPr/>
                    <a:lstStyle/>
                    <a:p>
                      <a:r>
                        <a:rPr lang="en-US" dirty="0"/>
                        <a:t>Final project presentation</a:t>
                      </a:r>
                    </a:p>
                  </a:txBody>
                  <a:tcPr/>
                </a:tc>
                <a:tc>
                  <a:txBody>
                    <a:bodyPr/>
                    <a:lstStyle/>
                    <a:p>
                      <a:r>
                        <a:rPr lang="en-US" dirty="0"/>
                        <a:t>7.5%</a:t>
                      </a:r>
                    </a:p>
                  </a:txBody>
                  <a:tcPr/>
                </a:tc>
                <a:extLst>
                  <a:ext uri="{0D108BD9-81ED-4DB2-BD59-A6C34878D82A}">
                    <a16:rowId xmlns:a16="http://schemas.microsoft.com/office/drawing/2014/main" val="10006"/>
                  </a:ext>
                </a:extLst>
              </a:tr>
              <a:tr h="370840">
                <a:tc>
                  <a:txBody>
                    <a:bodyPr/>
                    <a:lstStyle/>
                    <a:p>
                      <a:r>
                        <a:rPr lang="en-US" dirty="0"/>
                        <a:t>Final project proposal</a:t>
                      </a:r>
                    </a:p>
                  </a:txBody>
                  <a:tcPr/>
                </a:tc>
                <a:tc>
                  <a:txBody>
                    <a:bodyPr/>
                    <a:lstStyle/>
                    <a:p>
                      <a:r>
                        <a:rPr lang="en-US" dirty="0"/>
                        <a:t>30%</a:t>
                      </a:r>
                    </a:p>
                  </a:txBody>
                  <a:tcPr/>
                </a:tc>
                <a:extLst>
                  <a:ext uri="{0D108BD9-81ED-4DB2-BD59-A6C34878D82A}">
                    <a16:rowId xmlns:a16="http://schemas.microsoft.com/office/drawing/2014/main" val="10007"/>
                  </a:ext>
                </a:extLst>
              </a:tr>
              <a:tr h="370840">
                <a:tc>
                  <a:txBody>
                    <a:bodyPr/>
                    <a:lstStyle/>
                    <a:p>
                      <a:r>
                        <a:rPr lang="en-US" dirty="0"/>
                        <a:t>“Weekly quizzes”</a:t>
                      </a:r>
                    </a:p>
                  </a:txBody>
                  <a:tcPr/>
                </a:tc>
                <a:tc>
                  <a:txBody>
                    <a:bodyPr/>
                    <a:lstStyle/>
                    <a:p>
                      <a:r>
                        <a:rPr lang="en-US" dirty="0"/>
                        <a:t>16.5%</a:t>
                      </a:r>
                    </a:p>
                  </a:txBody>
                  <a:tcPr/>
                </a:tc>
                <a:extLst>
                  <a:ext uri="{0D108BD9-81ED-4DB2-BD59-A6C34878D82A}">
                    <a16:rowId xmlns:a16="http://schemas.microsoft.com/office/drawing/2014/main" val="2404829326"/>
                  </a:ext>
                </a:extLst>
              </a:tr>
            </a:tbl>
          </a:graphicData>
        </a:graphic>
      </p:graphicFrame>
    </p:spTree>
    <p:extLst>
      <p:ext uri="{BB962C8B-B14F-4D97-AF65-F5344CB8AC3E}">
        <p14:creationId xmlns:p14="http://schemas.microsoft.com/office/powerpoint/2010/main" val="2095566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 y="0"/>
            <a:ext cx="9144000" cy="769441"/>
          </a:xfrm>
          <a:prstGeom prst="rect">
            <a:avLst/>
          </a:prstGeom>
          <a:noFill/>
        </p:spPr>
        <p:txBody>
          <a:bodyPr wrap="square" rtlCol="0">
            <a:spAutoFit/>
          </a:bodyPr>
          <a:lstStyle/>
          <a:p>
            <a:pPr algn="ctr"/>
            <a:r>
              <a:rPr lang="en-US" sz="4400" dirty="0"/>
              <a:t>Discussion Posts (5% total = 1% each)</a:t>
            </a:r>
          </a:p>
        </p:txBody>
      </p:sp>
      <p:sp>
        <p:nvSpPr>
          <p:cNvPr id="3" name="TextBox 2"/>
          <p:cNvSpPr txBox="1"/>
          <p:nvPr/>
        </p:nvSpPr>
        <p:spPr>
          <a:xfrm>
            <a:off x="185980" y="1064806"/>
            <a:ext cx="8958020" cy="5262979"/>
          </a:xfrm>
          <a:prstGeom prst="rect">
            <a:avLst/>
          </a:prstGeom>
          <a:noFill/>
        </p:spPr>
        <p:txBody>
          <a:bodyPr wrap="square" rtlCol="0">
            <a:spAutoFit/>
          </a:bodyPr>
          <a:lstStyle/>
          <a:p>
            <a:r>
              <a:rPr lang="en-US" sz="2800" dirty="0"/>
              <a:t>You are expected to submit a (50-200 word) </a:t>
            </a:r>
            <a:r>
              <a:rPr lang="en-US" sz="2800" b="1" dirty="0"/>
              <a:t>reaction</a:t>
            </a:r>
            <a:r>
              <a:rPr lang="en-US" sz="2800" dirty="0"/>
              <a:t> to the reading for the week on the discussion board.</a:t>
            </a:r>
          </a:p>
          <a:p>
            <a:r>
              <a:rPr lang="en-US" sz="2800" dirty="0"/>
              <a:t>	NOT A SUMMARY. </a:t>
            </a:r>
          </a:p>
          <a:p>
            <a:r>
              <a:rPr lang="en-US" sz="2800" dirty="0"/>
              <a:t>	Should focus on one paper.</a:t>
            </a:r>
          </a:p>
          <a:p>
            <a:endParaRPr lang="en-US" sz="2800" dirty="0"/>
          </a:p>
          <a:p>
            <a:r>
              <a:rPr lang="en-US" sz="2800" dirty="0"/>
              <a:t>These are due by 8:59pm on Tuesday of each week.</a:t>
            </a:r>
          </a:p>
          <a:p>
            <a:endParaRPr lang="en-US" sz="2800" dirty="0"/>
          </a:p>
          <a:p>
            <a:r>
              <a:rPr lang="en-US" sz="2800" dirty="0"/>
              <a:t>The first one is due on 02/03 and last one is due on 04/21.</a:t>
            </a:r>
          </a:p>
          <a:p>
            <a:endParaRPr lang="en-US" sz="2800" dirty="0"/>
          </a:p>
          <a:p>
            <a:r>
              <a:rPr lang="en-US" sz="2800" dirty="0"/>
              <a:t>You are only required to do 5 of the 11 posts.</a:t>
            </a:r>
          </a:p>
          <a:p>
            <a:endParaRPr lang="en-US" sz="2800" dirty="0"/>
          </a:p>
          <a:p>
            <a:r>
              <a:rPr lang="en-US" sz="2800" dirty="0"/>
              <a:t>They are pass/fail and submitted through Canvas.</a:t>
            </a:r>
          </a:p>
        </p:txBody>
      </p:sp>
    </p:spTree>
    <p:extLst>
      <p:ext uri="{BB962C8B-B14F-4D97-AF65-F5344CB8AC3E}">
        <p14:creationId xmlns:p14="http://schemas.microsoft.com/office/powerpoint/2010/main" val="1748462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059" y="0"/>
            <a:ext cx="8247529" cy="769441"/>
          </a:xfrm>
          <a:prstGeom prst="rect">
            <a:avLst/>
          </a:prstGeom>
          <a:noFill/>
        </p:spPr>
        <p:txBody>
          <a:bodyPr wrap="square" rtlCol="0">
            <a:spAutoFit/>
          </a:bodyPr>
          <a:lstStyle/>
          <a:p>
            <a:pPr algn="ctr"/>
            <a:r>
              <a:rPr lang="en-US" sz="4400" dirty="0"/>
              <a:t>Assignments (16% total)</a:t>
            </a:r>
          </a:p>
        </p:txBody>
      </p:sp>
      <p:sp>
        <p:nvSpPr>
          <p:cNvPr id="3" name="TextBox 2"/>
          <p:cNvSpPr txBox="1"/>
          <p:nvPr/>
        </p:nvSpPr>
        <p:spPr>
          <a:xfrm>
            <a:off x="0" y="1064806"/>
            <a:ext cx="9144000" cy="5693866"/>
          </a:xfrm>
          <a:prstGeom prst="rect">
            <a:avLst/>
          </a:prstGeom>
          <a:noFill/>
        </p:spPr>
        <p:txBody>
          <a:bodyPr wrap="square" rtlCol="0">
            <a:spAutoFit/>
          </a:bodyPr>
          <a:lstStyle/>
          <a:p>
            <a:r>
              <a:rPr lang="en-US" sz="2800" dirty="0"/>
              <a:t>4 </a:t>
            </a:r>
            <a:r>
              <a:rPr lang="en-US" sz="2800" dirty="0" err="1"/>
              <a:t>shortish</a:t>
            </a:r>
            <a:r>
              <a:rPr lang="en-US" sz="2800" dirty="0"/>
              <a:t> mathematics/coding assignments</a:t>
            </a:r>
          </a:p>
          <a:p>
            <a:r>
              <a:rPr lang="en-US" sz="2800" dirty="0"/>
              <a:t>  Submit through Canvas</a:t>
            </a:r>
          </a:p>
          <a:p>
            <a:endParaRPr lang="en-US" sz="1400" dirty="0"/>
          </a:p>
          <a:p>
            <a:r>
              <a:rPr lang="en-US" sz="2800" dirty="0"/>
              <a:t>Goal to solidify knowledge of computational topics from class.</a:t>
            </a:r>
          </a:p>
          <a:p>
            <a:endParaRPr lang="en-US" sz="1400" dirty="0"/>
          </a:p>
          <a:p>
            <a:r>
              <a:rPr lang="en-US" sz="2800" dirty="0"/>
              <a:t>As a course, I will mainly support Python and R:</a:t>
            </a:r>
          </a:p>
          <a:p>
            <a:r>
              <a:rPr lang="en-US" sz="2800" dirty="0"/>
              <a:t>	Legacy </a:t>
            </a:r>
            <a:r>
              <a:rPr lang="en-US" sz="2800" dirty="0" err="1"/>
              <a:t>Matlab</a:t>
            </a:r>
            <a:r>
              <a:rPr lang="en-US" sz="2800" dirty="0"/>
              <a:t> support is available</a:t>
            </a:r>
          </a:p>
          <a:p>
            <a:r>
              <a:rPr lang="en-US" sz="2800" dirty="0"/>
              <a:t>	I’m hoping to add Julia to the list.</a:t>
            </a:r>
          </a:p>
          <a:p>
            <a:endParaRPr lang="en-US" sz="1400" dirty="0"/>
          </a:p>
          <a:p>
            <a:r>
              <a:rPr lang="en-US" sz="2800" dirty="0"/>
              <a:t>	Resources for them have been posted on Canvas.</a:t>
            </a:r>
          </a:p>
          <a:p>
            <a:r>
              <a:rPr lang="en-US" sz="2800" dirty="0"/>
              <a:t>  	You can use other programming languages, and I will still 	try to help. But, I might not be able to.</a:t>
            </a:r>
          </a:p>
          <a:p>
            <a:endParaRPr lang="en-US" sz="1400" dirty="0"/>
          </a:p>
          <a:p>
            <a:r>
              <a:rPr lang="en-US" sz="2800" dirty="0"/>
              <a:t>#3 is harder and longer than rest, so it</a:t>
            </a:r>
            <a:r>
              <a:rPr lang="fr-FR" sz="2800" dirty="0"/>
              <a:t>’</a:t>
            </a:r>
            <a:r>
              <a:rPr lang="en-US" sz="2800" dirty="0"/>
              <a:t>s worth 1.5x.</a:t>
            </a:r>
          </a:p>
          <a:p>
            <a:r>
              <a:rPr lang="en-US" sz="2800" dirty="0"/>
              <a:t>#4 is on RL, which has more helping code than the others.</a:t>
            </a:r>
          </a:p>
        </p:txBody>
      </p:sp>
    </p:spTree>
    <p:extLst>
      <p:ext uri="{BB962C8B-B14F-4D97-AF65-F5344CB8AC3E}">
        <p14:creationId xmlns:p14="http://schemas.microsoft.com/office/powerpoint/2010/main" val="207768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059" y="0"/>
            <a:ext cx="8247529" cy="769441"/>
          </a:xfrm>
          <a:prstGeom prst="rect">
            <a:avLst/>
          </a:prstGeom>
          <a:noFill/>
        </p:spPr>
        <p:txBody>
          <a:bodyPr wrap="square" rtlCol="0">
            <a:spAutoFit/>
          </a:bodyPr>
          <a:lstStyle/>
          <a:p>
            <a:pPr algn="ctr"/>
            <a:r>
              <a:rPr lang="en-US" sz="4400" dirty="0"/>
              <a:t>Class presentations (2x 5% each)</a:t>
            </a:r>
          </a:p>
        </p:txBody>
      </p:sp>
      <p:sp>
        <p:nvSpPr>
          <p:cNvPr id="3" name="TextBox 2"/>
          <p:cNvSpPr txBox="1"/>
          <p:nvPr/>
        </p:nvSpPr>
        <p:spPr>
          <a:xfrm>
            <a:off x="0" y="769441"/>
            <a:ext cx="9144000" cy="6063198"/>
          </a:xfrm>
          <a:prstGeom prst="rect">
            <a:avLst/>
          </a:prstGeom>
          <a:noFill/>
        </p:spPr>
        <p:txBody>
          <a:bodyPr wrap="square" rtlCol="0">
            <a:spAutoFit/>
          </a:bodyPr>
          <a:lstStyle/>
          <a:p>
            <a:r>
              <a:rPr lang="en-US" sz="2800" dirty="0"/>
              <a:t>Present the major results of one of the course readings.</a:t>
            </a:r>
          </a:p>
          <a:p>
            <a:r>
              <a:rPr lang="en-US" sz="2400" dirty="0"/>
              <a:t>	Must be a non-optional reading.</a:t>
            </a:r>
          </a:p>
          <a:p>
            <a:endParaRPr lang="en-US" sz="1400" dirty="0"/>
          </a:p>
          <a:p>
            <a:r>
              <a:rPr lang="en-US" sz="2800" dirty="0"/>
              <a:t>Also, have 4-6 discussion questions at the end.</a:t>
            </a:r>
          </a:p>
          <a:p>
            <a:r>
              <a:rPr lang="en-US" sz="2800" dirty="0"/>
              <a:t>	These should guide discussion.</a:t>
            </a:r>
          </a:p>
          <a:p>
            <a:r>
              <a:rPr lang="en-US" sz="2800" dirty="0"/>
              <a:t>	Being controversial/provocative is encouraged!</a:t>
            </a:r>
          </a:p>
          <a:p>
            <a:endParaRPr lang="en-US" sz="1400" dirty="0"/>
          </a:p>
          <a:p>
            <a:r>
              <a:rPr lang="en-US" sz="2800" dirty="0"/>
              <a:t>Have to give two if you are taking the course for credit.</a:t>
            </a:r>
          </a:p>
          <a:p>
            <a:r>
              <a:rPr lang="en-US" sz="2800" dirty="0"/>
              <a:t>	One if formally auditing.</a:t>
            </a:r>
          </a:p>
          <a:p>
            <a:endParaRPr lang="en-US" sz="1400" dirty="0"/>
          </a:p>
          <a:p>
            <a:r>
              <a:rPr lang="en-US" sz="2800" dirty="0"/>
              <a:t>Each presentation (including discussion) should be no longer than 25 minutes.</a:t>
            </a:r>
          </a:p>
          <a:p>
            <a:endParaRPr lang="en-US" sz="1400" dirty="0"/>
          </a:p>
          <a:p>
            <a:r>
              <a:rPr lang="en-US" sz="2800" dirty="0"/>
              <a:t>You are encouraged to meet with me beforehand.</a:t>
            </a:r>
          </a:p>
          <a:p>
            <a:r>
              <a:rPr lang="en-US" sz="2800" dirty="0"/>
              <a:t>Must submit to me on Canvas right before or after (8:59pm  day of presentation deadline)!</a:t>
            </a:r>
          </a:p>
        </p:txBody>
      </p:sp>
    </p:spTree>
    <p:extLst>
      <p:ext uri="{BB962C8B-B14F-4D97-AF65-F5344CB8AC3E}">
        <p14:creationId xmlns:p14="http://schemas.microsoft.com/office/powerpoint/2010/main" val="2747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059" y="0"/>
            <a:ext cx="8247529" cy="769441"/>
          </a:xfrm>
          <a:prstGeom prst="rect">
            <a:avLst/>
          </a:prstGeom>
          <a:noFill/>
        </p:spPr>
        <p:txBody>
          <a:bodyPr wrap="square" rtlCol="0">
            <a:spAutoFit/>
          </a:bodyPr>
          <a:lstStyle/>
          <a:p>
            <a:pPr algn="ctr"/>
            <a:r>
              <a:rPr lang="en-US" sz="4400" dirty="0"/>
              <a:t>Class presentations (2x 5% each)</a:t>
            </a:r>
          </a:p>
        </p:txBody>
      </p:sp>
      <p:sp>
        <p:nvSpPr>
          <p:cNvPr id="3" name="TextBox 2"/>
          <p:cNvSpPr txBox="1"/>
          <p:nvPr/>
        </p:nvSpPr>
        <p:spPr>
          <a:xfrm>
            <a:off x="0" y="1064806"/>
            <a:ext cx="9144000" cy="4401205"/>
          </a:xfrm>
          <a:prstGeom prst="rect">
            <a:avLst/>
          </a:prstGeom>
          <a:noFill/>
        </p:spPr>
        <p:txBody>
          <a:bodyPr wrap="square" rtlCol="0">
            <a:spAutoFit/>
          </a:bodyPr>
          <a:lstStyle/>
          <a:p>
            <a:r>
              <a:rPr lang="en-US" sz="2800" dirty="0"/>
              <a:t>Grade is determined by the following factors:</a:t>
            </a:r>
          </a:p>
          <a:p>
            <a:endParaRPr lang="en-US" sz="2800" dirty="0"/>
          </a:p>
          <a:p>
            <a:r>
              <a:rPr lang="en-US" sz="2800" dirty="0"/>
              <a:t>	Understanding of the paper 							(2 </a:t>
            </a:r>
            <a:r>
              <a:rPr lang="en-US" sz="2800" dirty="0" err="1"/>
              <a:t>pts</a:t>
            </a:r>
            <a:r>
              <a:rPr lang="en-US" sz="2800" dirty="0"/>
              <a:t>)</a:t>
            </a:r>
          </a:p>
          <a:p>
            <a:r>
              <a:rPr lang="en-US" sz="2800" dirty="0"/>
              <a:t>	Covering the key aspects of the paper				(1 </a:t>
            </a:r>
            <a:r>
              <a:rPr lang="en-US" sz="2800" dirty="0" err="1"/>
              <a:t>pt</a:t>
            </a:r>
            <a:r>
              <a:rPr lang="en-US" sz="2800" dirty="0"/>
              <a:t>)</a:t>
            </a:r>
          </a:p>
          <a:p>
            <a:r>
              <a:rPr lang="en-US" sz="2800" dirty="0"/>
              <a:t>	Presentation clarity									(1 </a:t>
            </a:r>
            <a:r>
              <a:rPr lang="en-US" sz="2800" dirty="0" err="1"/>
              <a:t>pt</a:t>
            </a:r>
            <a:r>
              <a:rPr lang="en-US" sz="2800" dirty="0"/>
              <a:t>)</a:t>
            </a:r>
          </a:p>
          <a:p>
            <a:r>
              <a:rPr lang="en-US" sz="2800" dirty="0"/>
              <a:t>	Appropriate discussion questions					(0.5 pts)</a:t>
            </a:r>
          </a:p>
          <a:p>
            <a:r>
              <a:rPr lang="en-US" sz="2800" dirty="0"/>
              <a:t>	Appropriate use of time								(0.5 </a:t>
            </a:r>
            <a:r>
              <a:rPr lang="en-US" sz="2800" dirty="0" err="1"/>
              <a:t>pts</a:t>
            </a:r>
            <a:r>
              <a:rPr lang="en-US" sz="2800" dirty="0"/>
              <a:t>)</a:t>
            </a:r>
          </a:p>
          <a:p>
            <a:r>
              <a:rPr lang="en-US" sz="2800" dirty="0"/>
              <a:t>	Not using </a:t>
            </a:r>
            <a:r>
              <a:rPr lang="en-US" sz="2800" dirty="0" err="1"/>
              <a:t>Prezi</a:t>
            </a:r>
            <a:r>
              <a:rPr lang="en-US" sz="2800" dirty="0"/>
              <a:t>		(10</a:t>
            </a:r>
            <a:r>
              <a:rPr lang="en-US" sz="2800" baseline="30000" dirty="0"/>
              <a:t>999</a:t>
            </a:r>
            <a:r>
              <a:rPr lang="en-US" sz="2800" dirty="0"/>
              <a:t> deduction and have to clean up)</a:t>
            </a:r>
          </a:p>
          <a:p>
            <a:endParaRPr lang="en-US" sz="2800" dirty="0"/>
          </a:p>
          <a:p>
            <a:r>
              <a:rPr lang="en-US" sz="2800" dirty="0"/>
              <a:t>See guidelines and tips document posted online.</a:t>
            </a:r>
          </a:p>
        </p:txBody>
      </p:sp>
    </p:spTree>
    <p:extLst>
      <p:ext uri="{BB962C8B-B14F-4D97-AF65-F5344CB8AC3E}">
        <p14:creationId xmlns:p14="http://schemas.microsoft.com/office/powerpoint/2010/main" val="14054907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059" y="0"/>
            <a:ext cx="8247529" cy="769441"/>
          </a:xfrm>
          <a:prstGeom prst="rect">
            <a:avLst/>
          </a:prstGeom>
          <a:noFill/>
        </p:spPr>
        <p:txBody>
          <a:bodyPr wrap="square" rtlCol="0">
            <a:spAutoFit/>
          </a:bodyPr>
          <a:lstStyle/>
          <a:p>
            <a:pPr algn="ctr"/>
            <a:r>
              <a:rPr lang="en-US" sz="4400" dirty="0"/>
              <a:t>Class presentations (2x 5% each)</a:t>
            </a:r>
          </a:p>
        </p:txBody>
      </p:sp>
      <p:sp>
        <p:nvSpPr>
          <p:cNvPr id="3" name="TextBox 2"/>
          <p:cNvSpPr txBox="1"/>
          <p:nvPr/>
        </p:nvSpPr>
        <p:spPr>
          <a:xfrm>
            <a:off x="0" y="1064806"/>
            <a:ext cx="9144000" cy="5693867"/>
          </a:xfrm>
          <a:prstGeom prst="rect">
            <a:avLst/>
          </a:prstGeom>
          <a:noFill/>
        </p:spPr>
        <p:txBody>
          <a:bodyPr wrap="square" rtlCol="0">
            <a:spAutoFit/>
          </a:bodyPr>
          <a:lstStyle/>
          <a:p>
            <a:r>
              <a:rPr lang="en-US" sz="2800" dirty="0"/>
              <a:t>Focus on the following questions:</a:t>
            </a:r>
          </a:p>
          <a:p>
            <a:endParaRPr lang="en-US" sz="1400" dirty="0"/>
          </a:p>
          <a:p>
            <a:r>
              <a:rPr lang="en-US" sz="2800" dirty="0"/>
              <a:t>1. What is the question that this paper explores? If applicable, what aspect of human behavior are we trying to understand?</a:t>
            </a:r>
          </a:p>
          <a:p>
            <a:r>
              <a:rPr lang="en-US" sz="2800" dirty="0"/>
              <a:t>2. Any background/context for the paper? Previous work?</a:t>
            </a:r>
          </a:p>
          <a:p>
            <a:r>
              <a:rPr lang="en-US" sz="2800" dirty="0"/>
              <a:t>3. What is the underlying computational problem being 	solved? How does the paper formulate it?</a:t>
            </a:r>
          </a:p>
          <a:p>
            <a:r>
              <a:rPr lang="en-US" sz="2800" dirty="0"/>
              <a:t>4. What is the solution to the computational problem? 		(Go for intuitions more than rigor.)</a:t>
            </a:r>
          </a:p>
          <a:p>
            <a:r>
              <a:rPr lang="en-US" sz="2800" dirty="0"/>
              <a:t>5. How is the solution used to answer the question? How 	does it compare to other approaches/human behavior?</a:t>
            </a:r>
          </a:p>
          <a:p>
            <a:r>
              <a:rPr lang="en-US" sz="2800" dirty="0"/>
              <a:t>6. What conclusions can we draw from the results? 		What is your interpretation?</a:t>
            </a:r>
          </a:p>
        </p:txBody>
      </p:sp>
    </p:spTree>
    <p:extLst>
      <p:ext uri="{BB962C8B-B14F-4D97-AF65-F5344CB8AC3E}">
        <p14:creationId xmlns:p14="http://schemas.microsoft.com/office/powerpoint/2010/main" val="3987668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9059" y="0"/>
            <a:ext cx="8247529" cy="769441"/>
          </a:xfrm>
          <a:prstGeom prst="rect">
            <a:avLst/>
          </a:prstGeom>
          <a:noFill/>
        </p:spPr>
        <p:txBody>
          <a:bodyPr wrap="square" rtlCol="0">
            <a:spAutoFit/>
          </a:bodyPr>
          <a:lstStyle/>
          <a:p>
            <a:pPr algn="ctr"/>
            <a:r>
              <a:rPr lang="en-US" sz="4400" dirty="0"/>
              <a:t>Class project (47.5% total)</a:t>
            </a:r>
          </a:p>
        </p:txBody>
      </p:sp>
      <p:sp>
        <p:nvSpPr>
          <p:cNvPr id="3" name="TextBox 2"/>
          <p:cNvSpPr txBox="1"/>
          <p:nvPr/>
        </p:nvSpPr>
        <p:spPr>
          <a:xfrm>
            <a:off x="0" y="814603"/>
            <a:ext cx="9144000" cy="5693867"/>
          </a:xfrm>
          <a:prstGeom prst="rect">
            <a:avLst/>
          </a:prstGeom>
          <a:noFill/>
        </p:spPr>
        <p:txBody>
          <a:bodyPr wrap="square" rtlCol="0">
            <a:spAutoFit/>
          </a:bodyPr>
          <a:lstStyle/>
          <a:p>
            <a:r>
              <a:rPr lang="en-US" sz="2800" dirty="0"/>
              <a:t>Opportunity for you to explore a question related to human and machine learning that YOU are interested in.</a:t>
            </a:r>
          </a:p>
          <a:p>
            <a:endParaRPr lang="en-US" sz="1400" dirty="0"/>
          </a:p>
          <a:p>
            <a:r>
              <a:rPr lang="en-US" sz="2800" dirty="0"/>
              <a:t>Different people have different backgrounds, and you should draw on your strengths and interests.</a:t>
            </a:r>
          </a:p>
          <a:p>
            <a:endParaRPr lang="en-US" sz="1400" dirty="0"/>
          </a:p>
          <a:p>
            <a:r>
              <a:rPr lang="en-US" sz="2800" dirty="0"/>
              <a:t>You do not not have to use a topic or technique from class.</a:t>
            </a:r>
          </a:p>
          <a:p>
            <a:r>
              <a:rPr lang="en-US" sz="2800" dirty="0"/>
              <a:t>(non-exclusive) Categories of topics:</a:t>
            </a:r>
          </a:p>
          <a:p>
            <a:r>
              <a:rPr lang="en-US" sz="2800" dirty="0"/>
              <a:t>	</a:t>
            </a:r>
            <a:r>
              <a:rPr lang="en-US" sz="2800" b="1" dirty="0"/>
              <a:t>Experiment:</a:t>
            </a:r>
            <a:r>
              <a:rPr lang="en-US" sz="2800" dirty="0"/>
              <a:t> Conduct an experiment that tests a 	prediction of a model from class (or simple extension).</a:t>
            </a:r>
          </a:p>
          <a:p>
            <a:r>
              <a:rPr lang="en-US" sz="2800" dirty="0"/>
              <a:t>	</a:t>
            </a:r>
            <a:r>
              <a:rPr lang="en-US" sz="2800" b="1" dirty="0"/>
              <a:t>Modeling/ML:</a:t>
            </a:r>
            <a:r>
              <a:rPr lang="en-US" sz="2800" dirty="0"/>
              <a:t> Take some human behavior (results from 	class or scraped data from the Internet) and model it using 	your own or an advanced ML method.</a:t>
            </a:r>
          </a:p>
          <a:p>
            <a:r>
              <a:rPr lang="en-US" sz="2800" dirty="0"/>
              <a:t>	</a:t>
            </a:r>
            <a:r>
              <a:rPr lang="en-US" sz="2800" b="1" dirty="0"/>
              <a:t>Math</a:t>
            </a:r>
            <a:r>
              <a:rPr lang="en-US" sz="2800" dirty="0"/>
              <a:t>: Math analysis of learning problems/models.</a:t>
            </a:r>
          </a:p>
        </p:txBody>
      </p:sp>
    </p:spTree>
    <p:extLst>
      <p:ext uri="{BB962C8B-B14F-4D97-AF65-F5344CB8AC3E}">
        <p14:creationId xmlns:p14="http://schemas.microsoft.com/office/powerpoint/2010/main" val="1481235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83813" cy="769441"/>
          </a:xfrm>
          <a:prstGeom prst="rect">
            <a:avLst/>
          </a:prstGeom>
          <a:noFill/>
        </p:spPr>
        <p:txBody>
          <a:bodyPr wrap="square" rtlCol="0">
            <a:spAutoFit/>
          </a:bodyPr>
          <a:lstStyle/>
          <a:p>
            <a:pPr algn="ctr"/>
            <a:r>
              <a:rPr lang="en-US" sz="4400" dirty="0"/>
              <a:t>Project proposal (due 03/12 at 8:59pm)</a:t>
            </a:r>
          </a:p>
        </p:txBody>
      </p:sp>
      <p:sp>
        <p:nvSpPr>
          <p:cNvPr id="3" name="TextBox 2"/>
          <p:cNvSpPr txBox="1"/>
          <p:nvPr/>
        </p:nvSpPr>
        <p:spPr>
          <a:xfrm>
            <a:off x="0" y="892928"/>
            <a:ext cx="9144000" cy="5909310"/>
          </a:xfrm>
          <a:prstGeom prst="rect">
            <a:avLst/>
          </a:prstGeom>
          <a:noFill/>
        </p:spPr>
        <p:txBody>
          <a:bodyPr wrap="square" rtlCol="0">
            <a:spAutoFit/>
          </a:bodyPr>
          <a:lstStyle/>
          <a:p>
            <a:r>
              <a:rPr lang="en-US" sz="2800" dirty="0"/>
              <a:t>1 page (single-spaced) with four sections:</a:t>
            </a:r>
          </a:p>
          <a:p>
            <a:r>
              <a:rPr lang="en-US" sz="2800" dirty="0"/>
              <a:t>	</a:t>
            </a:r>
            <a:r>
              <a:rPr lang="en-US" sz="2800" b="1" dirty="0"/>
              <a:t>Background.</a:t>
            </a:r>
            <a:r>
              <a:rPr lang="en-US" sz="2800" dirty="0"/>
              <a:t> Identify the topic of your project and briefly 	provide some context to the project. Summarize any 	previous research on the topic.</a:t>
            </a:r>
          </a:p>
          <a:p>
            <a:endParaRPr lang="en-US" sz="1400" dirty="0"/>
          </a:p>
          <a:p>
            <a:r>
              <a:rPr lang="en-US" sz="2800" dirty="0"/>
              <a:t>	</a:t>
            </a:r>
            <a:r>
              <a:rPr lang="en-US" sz="2800" b="1" dirty="0"/>
              <a:t>Question. </a:t>
            </a:r>
            <a:r>
              <a:rPr lang="en-US" sz="2800" dirty="0"/>
              <a:t>State the question examined by your project.</a:t>
            </a:r>
          </a:p>
          <a:p>
            <a:r>
              <a:rPr lang="en-US" sz="2800" dirty="0"/>
              <a:t>	This should be 1-2 sentences (possible points off for more)</a:t>
            </a:r>
          </a:p>
          <a:p>
            <a:endParaRPr lang="en-US" sz="1400" dirty="0"/>
          </a:p>
          <a:p>
            <a:r>
              <a:rPr lang="en-US" sz="2800" dirty="0"/>
              <a:t>	</a:t>
            </a:r>
            <a:r>
              <a:rPr lang="en-US" sz="2800" b="1" dirty="0"/>
              <a:t>Method. </a:t>
            </a:r>
            <a:r>
              <a:rPr lang="en-US" sz="2800" dirty="0"/>
              <a:t>Briefly describe the method you are going to use. 	Give some of the concrete details behind your experiment 	procedure, modeling approach, data analysis, or math.</a:t>
            </a:r>
            <a:endParaRPr lang="en-US" sz="1400" dirty="0"/>
          </a:p>
          <a:p>
            <a:r>
              <a:rPr lang="en-US" sz="1400" dirty="0"/>
              <a:t>	</a:t>
            </a:r>
            <a:endParaRPr lang="en-US" sz="1400" b="1" dirty="0"/>
          </a:p>
          <a:p>
            <a:r>
              <a:rPr lang="en-US" sz="1400" b="1" dirty="0"/>
              <a:t>	</a:t>
            </a:r>
            <a:r>
              <a:rPr lang="en-US" sz="2800" b="1" dirty="0"/>
              <a:t>References</a:t>
            </a:r>
            <a:r>
              <a:rPr lang="en-US" sz="2800" dirty="0"/>
              <a:t>. Have at least three references cited. </a:t>
            </a:r>
          </a:p>
          <a:p>
            <a:r>
              <a:rPr lang="en-US" sz="2800" dirty="0"/>
              <a:t>	Only one reference can be a paper from class.</a:t>
            </a:r>
          </a:p>
          <a:p>
            <a:r>
              <a:rPr lang="en-US" sz="2800" b="1" dirty="0"/>
              <a:t>Worth 10 points; Pass/Fail</a:t>
            </a:r>
          </a:p>
        </p:txBody>
      </p:sp>
    </p:spTree>
    <p:extLst>
      <p:ext uri="{BB962C8B-B14F-4D97-AF65-F5344CB8AC3E}">
        <p14:creationId xmlns:p14="http://schemas.microsoft.com/office/powerpoint/2010/main" val="22286608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9146" y="0"/>
            <a:ext cx="8835473" cy="769441"/>
          </a:xfrm>
          <a:prstGeom prst="rect">
            <a:avLst/>
          </a:prstGeom>
          <a:noFill/>
        </p:spPr>
        <p:txBody>
          <a:bodyPr wrap="square" rtlCol="0">
            <a:spAutoFit/>
          </a:bodyPr>
          <a:lstStyle/>
          <a:p>
            <a:pPr algn="ctr"/>
            <a:r>
              <a:rPr lang="en-US" sz="4400" dirty="0"/>
              <a:t>Project presentations (in-class 05/01)</a:t>
            </a:r>
          </a:p>
        </p:txBody>
      </p:sp>
      <p:sp>
        <p:nvSpPr>
          <p:cNvPr id="3" name="TextBox 2"/>
          <p:cNvSpPr txBox="1"/>
          <p:nvPr/>
        </p:nvSpPr>
        <p:spPr>
          <a:xfrm>
            <a:off x="0" y="807831"/>
            <a:ext cx="9144000" cy="6124754"/>
          </a:xfrm>
          <a:prstGeom prst="rect">
            <a:avLst/>
          </a:prstGeom>
          <a:noFill/>
        </p:spPr>
        <p:txBody>
          <a:bodyPr wrap="square" rtlCol="0">
            <a:spAutoFit/>
          </a:bodyPr>
          <a:lstStyle/>
          <a:p>
            <a:r>
              <a:rPr lang="en-US" sz="2800" dirty="0"/>
              <a:t>Goal is to give everyone an opportunity to see the awesome 	things everyone has done for their projects! </a:t>
            </a:r>
          </a:p>
          <a:p>
            <a:r>
              <a:rPr lang="en-US" sz="2800" dirty="0"/>
              <a:t>Not expected to have finished your project, but have some 	preliminary results (beyond the proposal).</a:t>
            </a:r>
          </a:p>
          <a:p>
            <a:endParaRPr lang="en-US" sz="2800" dirty="0"/>
          </a:p>
          <a:p>
            <a:r>
              <a:rPr lang="en-US" sz="2800" dirty="0"/>
              <a:t>At most 10 minutes long.*</a:t>
            </a:r>
          </a:p>
          <a:p>
            <a:r>
              <a:rPr lang="en-US" sz="2800" dirty="0"/>
              <a:t>Aim to communicate four things:</a:t>
            </a:r>
          </a:p>
          <a:p>
            <a:r>
              <a:rPr lang="en-US" sz="2800" dirty="0"/>
              <a:t>	</a:t>
            </a:r>
            <a:r>
              <a:rPr lang="en-US" sz="2800" b="1" dirty="0"/>
              <a:t>Background. </a:t>
            </a:r>
            <a:r>
              <a:rPr lang="en-US" sz="2800" dirty="0"/>
              <a:t>Previous work to understand your Q.</a:t>
            </a:r>
          </a:p>
          <a:p>
            <a:r>
              <a:rPr lang="en-US" sz="2800" dirty="0"/>
              <a:t>	</a:t>
            </a:r>
            <a:r>
              <a:rPr lang="en-US" sz="2800" b="1" dirty="0"/>
              <a:t>Question</a:t>
            </a:r>
            <a:r>
              <a:rPr lang="en-US" sz="2800" dirty="0"/>
              <a:t>. The question you examine.</a:t>
            </a:r>
          </a:p>
          <a:p>
            <a:r>
              <a:rPr lang="en-US" sz="2800" dirty="0"/>
              <a:t>	</a:t>
            </a:r>
            <a:r>
              <a:rPr lang="en-US" sz="2800" b="1" dirty="0"/>
              <a:t>Method</a:t>
            </a:r>
            <a:r>
              <a:rPr lang="en-US" sz="2800" dirty="0"/>
              <a:t>. The method you used (or are going to use)</a:t>
            </a:r>
          </a:p>
          <a:p>
            <a:r>
              <a:rPr lang="en-US" sz="2800" dirty="0"/>
              <a:t>	</a:t>
            </a:r>
            <a:r>
              <a:rPr lang="en-US" sz="2800" b="1" dirty="0"/>
              <a:t>Results. </a:t>
            </a:r>
            <a:r>
              <a:rPr lang="en-US" sz="2800" dirty="0"/>
              <a:t>Preliminary results you have obtained.</a:t>
            </a:r>
          </a:p>
          <a:p>
            <a:endParaRPr lang="en-US" sz="2800" b="1" dirty="0"/>
          </a:p>
          <a:p>
            <a:r>
              <a:rPr lang="en-US" sz="2800" b="1" dirty="0"/>
              <a:t>Worth 7.5 points</a:t>
            </a:r>
          </a:p>
          <a:p>
            <a:r>
              <a:rPr lang="en-US" sz="2800" b="1" dirty="0"/>
              <a:t>Submit on Canvas by 8:59pm 05/01.</a:t>
            </a:r>
          </a:p>
        </p:txBody>
      </p:sp>
    </p:spTree>
    <p:extLst>
      <p:ext uri="{BB962C8B-B14F-4D97-AF65-F5344CB8AC3E}">
        <p14:creationId xmlns:p14="http://schemas.microsoft.com/office/powerpoint/2010/main" val="902552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173" y="0"/>
            <a:ext cx="8614300" cy="769441"/>
          </a:xfrm>
          <a:prstGeom prst="rect">
            <a:avLst/>
          </a:prstGeom>
          <a:noFill/>
        </p:spPr>
        <p:txBody>
          <a:bodyPr wrap="square" rtlCol="0">
            <a:spAutoFit/>
          </a:bodyPr>
          <a:lstStyle/>
          <a:p>
            <a:pPr algn="ctr"/>
            <a:r>
              <a:rPr lang="en-US" sz="4400" dirty="0"/>
              <a:t>Final paper (</a:t>
            </a:r>
            <a:r>
              <a:rPr lang="en-US" sz="4400"/>
              <a:t>due 05/06 at 8:59pm</a:t>
            </a:r>
            <a:r>
              <a:rPr lang="en-US" sz="4400" dirty="0"/>
              <a:t>)</a:t>
            </a:r>
          </a:p>
        </p:txBody>
      </p:sp>
      <p:sp>
        <p:nvSpPr>
          <p:cNvPr id="3" name="TextBox 2"/>
          <p:cNvSpPr txBox="1"/>
          <p:nvPr/>
        </p:nvSpPr>
        <p:spPr>
          <a:xfrm>
            <a:off x="0" y="1149993"/>
            <a:ext cx="9144000" cy="5262980"/>
          </a:xfrm>
          <a:prstGeom prst="rect">
            <a:avLst/>
          </a:prstGeom>
          <a:noFill/>
        </p:spPr>
        <p:txBody>
          <a:bodyPr wrap="square" rtlCol="0">
            <a:spAutoFit/>
          </a:bodyPr>
          <a:lstStyle/>
          <a:p>
            <a:r>
              <a:rPr lang="en-US" sz="2800" b="1" dirty="0"/>
              <a:t>~6 pages single-spaced. </a:t>
            </a:r>
          </a:p>
          <a:p>
            <a:endParaRPr lang="en-US" sz="2800" b="1" dirty="0"/>
          </a:p>
          <a:p>
            <a:r>
              <a:rPr lang="en-US" sz="2800" dirty="0"/>
              <a:t>No strict guidelines, but recommendations on Canvas.</a:t>
            </a:r>
          </a:p>
          <a:p>
            <a:endParaRPr lang="en-US" sz="2800" dirty="0"/>
          </a:p>
          <a:p>
            <a:r>
              <a:rPr lang="en-US" sz="2800" dirty="0"/>
              <a:t>Most important factor is to motivate and present your results in a clear and succinct manner.</a:t>
            </a:r>
          </a:p>
          <a:p>
            <a:endParaRPr lang="en-US" sz="2800" dirty="0"/>
          </a:p>
          <a:p>
            <a:r>
              <a:rPr lang="en-US" sz="2800" dirty="0"/>
              <a:t>More details later on in class.</a:t>
            </a:r>
          </a:p>
          <a:p>
            <a:endParaRPr lang="en-US" sz="2800" dirty="0"/>
          </a:p>
          <a:p>
            <a:r>
              <a:rPr lang="en-US" sz="2800" dirty="0"/>
              <a:t>Submit through Canvas.</a:t>
            </a:r>
          </a:p>
          <a:p>
            <a:endParaRPr lang="en-US" sz="2800" dirty="0"/>
          </a:p>
          <a:p>
            <a:r>
              <a:rPr lang="en-US" sz="2800" b="1" dirty="0"/>
              <a:t>Worth 30 points.</a:t>
            </a:r>
          </a:p>
        </p:txBody>
      </p:sp>
    </p:spTree>
    <p:extLst>
      <p:ext uri="{BB962C8B-B14F-4D97-AF65-F5344CB8AC3E}">
        <p14:creationId xmlns:p14="http://schemas.microsoft.com/office/powerpoint/2010/main" val="17217980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173" y="0"/>
            <a:ext cx="8614300" cy="769441"/>
          </a:xfrm>
          <a:prstGeom prst="rect">
            <a:avLst/>
          </a:prstGeom>
          <a:noFill/>
        </p:spPr>
        <p:txBody>
          <a:bodyPr wrap="square" rtlCol="0">
            <a:spAutoFit/>
          </a:bodyPr>
          <a:lstStyle/>
          <a:p>
            <a:pPr algn="ctr"/>
            <a:r>
              <a:rPr lang="en-US" sz="4400" dirty="0"/>
              <a:t>Lateness policies:</a:t>
            </a:r>
          </a:p>
        </p:txBody>
      </p:sp>
      <p:sp>
        <p:nvSpPr>
          <p:cNvPr id="3" name="TextBox 2"/>
          <p:cNvSpPr txBox="1"/>
          <p:nvPr/>
        </p:nvSpPr>
        <p:spPr>
          <a:xfrm>
            <a:off x="0" y="1149993"/>
            <a:ext cx="9144000" cy="4832092"/>
          </a:xfrm>
          <a:prstGeom prst="rect">
            <a:avLst/>
          </a:prstGeom>
          <a:noFill/>
        </p:spPr>
        <p:txBody>
          <a:bodyPr wrap="square" rtlCol="0">
            <a:spAutoFit/>
          </a:bodyPr>
          <a:lstStyle/>
          <a:p>
            <a:r>
              <a:rPr lang="en-US" sz="2800" b="1" dirty="0"/>
              <a:t>Discussion posts:</a:t>
            </a:r>
            <a:r>
              <a:rPr lang="en-US" sz="2800" dirty="0"/>
              <a:t> No late posts. Post a different week.</a:t>
            </a:r>
          </a:p>
          <a:p>
            <a:endParaRPr lang="en-US" sz="2800" b="1" dirty="0"/>
          </a:p>
          <a:p>
            <a:r>
              <a:rPr lang="en-US" sz="2800" b="1" dirty="0"/>
              <a:t>Assignments: </a:t>
            </a:r>
            <a:r>
              <a:rPr lang="en-US" sz="2800" dirty="0"/>
              <a:t>Three “free” days which you get to use throughout the semester. Can be distributed in any manner. Not prorated (12 hours late -&gt; 1 day late; 25 hours -&gt; 2 days).</a:t>
            </a:r>
          </a:p>
          <a:p>
            <a:r>
              <a:rPr lang="en-US" sz="2800" dirty="0"/>
              <a:t>Afterwards, 20% off assignment per day late (not prorated). </a:t>
            </a:r>
          </a:p>
          <a:p>
            <a:endParaRPr lang="en-US" sz="2800" b="1" dirty="0"/>
          </a:p>
          <a:p>
            <a:r>
              <a:rPr lang="en-US" sz="2800" b="1" dirty="0"/>
              <a:t>Proposal and paper: </a:t>
            </a:r>
            <a:r>
              <a:rPr lang="en-US" sz="2800" dirty="0"/>
              <a:t>No lateness allowed (for proposal). </a:t>
            </a:r>
          </a:p>
          <a:p>
            <a:r>
              <a:rPr lang="en-US" sz="2800" dirty="0"/>
              <a:t>Again, 20% off assignment per day late (not prorated).</a:t>
            </a:r>
          </a:p>
          <a:p>
            <a:endParaRPr lang="en-US" sz="2800" dirty="0"/>
          </a:p>
          <a:p>
            <a:r>
              <a:rPr lang="en-US" sz="2800" b="1" dirty="0"/>
              <a:t>	</a:t>
            </a:r>
            <a:endParaRPr lang="en-US" sz="2800" dirty="0"/>
          </a:p>
        </p:txBody>
      </p:sp>
    </p:spTree>
    <p:extLst>
      <p:ext uri="{BB962C8B-B14F-4D97-AF65-F5344CB8AC3E}">
        <p14:creationId xmlns:p14="http://schemas.microsoft.com/office/powerpoint/2010/main" val="5515001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75DA6-68FA-8CA7-F069-2B6AC70938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677495-248A-982C-714A-ED578A58DF67}"/>
              </a:ext>
            </a:extLst>
          </p:cNvPr>
          <p:cNvSpPr txBox="1"/>
          <p:nvPr/>
        </p:nvSpPr>
        <p:spPr>
          <a:xfrm>
            <a:off x="221173" y="0"/>
            <a:ext cx="8614300" cy="769441"/>
          </a:xfrm>
          <a:prstGeom prst="rect">
            <a:avLst/>
          </a:prstGeom>
          <a:noFill/>
        </p:spPr>
        <p:txBody>
          <a:bodyPr wrap="square" rtlCol="0">
            <a:spAutoFit/>
          </a:bodyPr>
          <a:lstStyle/>
          <a:p>
            <a:pPr algn="ctr"/>
            <a:r>
              <a:rPr lang="en-US" sz="4400" dirty="0"/>
              <a:t>Class recording policies:</a:t>
            </a:r>
          </a:p>
        </p:txBody>
      </p:sp>
      <p:sp>
        <p:nvSpPr>
          <p:cNvPr id="3" name="TextBox 2">
            <a:extLst>
              <a:ext uri="{FF2B5EF4-FFF2-40B4-BE49-F238E27FC236}">
                <a16:creationId xmlns:a16="http://schemas.microsoft.com/office/drawing/2014/main" id="{DDB546D6-4E96-592C-D038-DFDC2D9F0379}"/>
              </a:ext>
            </a:extLst>
          </p:cNvPr>
          <p:cNvSpPr txBox="1"/>
          <p:nvPr/>
        </p:nvSpPr>
        <p:spPr>
          <a:xfrm>
            <a:off x="0" y="1149993"/>
            <a:ext cx="9144000" cy="2677656"/>
          </a:xfrm>
          <a:prstGeom prst="rect">
            <a:avLst/>
          </a:prstGeom>
          <a:noFill/>
        </p:spPr>
        <p:txBody>
          <a:bodyPr wrap="square" rtlCol="0">
            <a:spAutoFit/>
          </a:bodyPr>
          <a:lstStyle/>
          <a:p>
            <a:r>
              <a:rPr lang="en-US" sz="2800" b="1" dirty="0"/>
              <a:t>Lectures by professor will be recorded.</a:t>
            </a:r>
          </a:p>
          <a:p>
            <a:r>
              <a:rPr lang="en-US" sz="2800" b="1" dirty="0"/>
              <a:t>	</a:t>
            </a:r>
            <a:r>
              <a:rPr lang="en-US" sz="2800" dirty="0"/>
              <a:t>I will upload them to Canvas shortly after class.</a:t>
            </a:r>
          </a:p>
          <a:p>
            <a:endParaRPr lang="en-US" sz="2800" b="1" dirty="0"/>
          </a:p>
          <a:p>
            <a:r>
              <a:rPr lang="en-US" sz="2800" b="1" dirty="0"/>
              <a:t>Paper presentations and discussions will not be recorded.</a:t>
            </a:r>
          </a:p>
          <a:p>
            <a:endParaRPr lang="en-US" sz="2800" b="1" dirty="0"/>
          </a:p>
          <a:p>
            <a:endParaRPr lang="en-US" sz="2800" b="1" dirty="0"/>
          </a:p>
        </p:txBody>
      </p:sp>
    </p:spTree>
    <p:extLst>
      <p:ext uri="{BB962C8B-B14F-4D97-AF65-F5344CB8AC3E}">
        <p14:creationId xmlns:p14="http://schemas.microsoft.com/office/powerpoint/2010/main" val="3845375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173" y="0"/>
            <a:ext cx="8614300" cy="769441"/>
          </a:xfrm>
          <a:prstGeom prst="rect">
            <a:avLst/>
          </a:prstGeom>
          <a:noFill/>
        </p:spPr>
        <p:txBody>
          <a:bodyPr wrap="square" rtlCol="0">
            <a:spAutoFit/>
          </a:bodyPr>
          <a:lstStyle/>
          <a:p>
            <a:pPr algn="ctr"/>
            <a:r>
              <a:rPr lang="en-US" sz="4400" dirty="0"/>
              <a:t>Plagiarism policies:</a:t>
            </a:r>
          </a:p>
        </p:txBody>
      </p:sp>
      <p:sp>
        <p:nvSpPr>
          <p:cNvPr id="3" name="TextBox 2"/>
          <p:cNvSpPr txBox="1"/>
          <p:nvPr/>
        </p:nvSpPr>
        <p:spPr>
          <a:xfrm>
            <a:off x="0" y="860965"/>
            <a:ext cx="9144000" cy="5693867"/>
          </a:xfrm>
          <a:prstGeom prst="rect">
            <a:avLst/>
          </a:prstGeom>
          <a:noFill/>
        </p:spPr>
        <p:txBody>
          <a:bodyPr wrap="square" rtlCol="0">
            <a:spAutoFit/>
          </a:bodyPr>
          <a:lstStyle/>
          <a:p>
            <a:r>
              <a:rPr lang="en-US" sz="2800" dirty="0"/>
              <a:t>All submitted work will be analyzed for plagiarism.</a:t>
            </a:r>
          </a:p>
          <a:p>
            <a:endParaRPr lang="en-US" sz="2800" dirty="0"/>
          </a:p>
          <a:p>
            <a:endParaRPr lang="en-US" sz="2800" dirty="0"/>
          </a:p>
          <a:p>
            <a:r>
              <a:rPr lang="en-US" sz="2800" dirty="0"/>
              <a:t>Don’t do it. </a:t>
            </a:r>
          </a:p>
          <a:p>
            <a:endParaRPr lang="en-US" sz="2800" dirty="0"/>
          </a:p>
          <a:p>
            <a:endParaRPr lang="en-US" sz="2800" dirty="0"/>
          </a:p>
          <a:p>
            <a:r>
              <a:rPr lang="en-US" sz="2800" dirty="0"/>
              <a:t>Note that self-plagiarism (using your own writing from previous classes or trying to get “double” credit) is still plagiarism unless I give you explicit permission.</a:t>
            </a:r>
          </a:p>
          <a:p>
            <a:endParaRPr lang="en-US" sz="2800" dirty="0"/>
          </a:p>
          <a:p>
            <a:endParaRPr lang="en-US" sz="2800" dirty="0"/>
          </a:p>
          <a:p>
            <a:r>
              <a:rPr lang="en-US" sz="2800" dirty="0"/>
              <a:t>Plagiarism will not be tolerated and each case will be dealt with on an individual basis.</a:t>
            </a:r>
          </a:p>
        </p:txBody>
      </p:sp>
    </p:spTree>
    <p:extLst>
      <p:ext uri="{BB962C8B-B14F-4D97-AF65-F5344CB8AC3E}">
        <p14:creationId xmlns:p14="http://schemas.microsoft.com/office/powerpoint/2010/main" val="14801429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64BB1-3663-4A7B-5C80-ADA9BF504271}"/>
              </a:ext>
            </a:extLst>
          </p:cNvPr>
          <p:cNvSpPr txBox="1"/>
          <p:nvPr/>
        </p:nvSpPr>
        <p:spPr>
          <a:xfrm>
            <a:off x="221173" y="0"/>
            <a:ext cx="8614300" cy="769441"/>
          </a:xfrm>
          <a:prstGeom prst="rect">
            <a:avLst/>
          </a:prstGeom>
          <a:noFill/>
        </p:spPr>
        <p:txBody>
          <a:bodyPr wrap="square" rtlCol="0">
            <a:spAutoFit/>
          </a:bodyPr>
          <a:lstStyle/>
          <a:p>
            <a:pPr algn="ctr"/>
            <a:r>
              <a:rPr lang="en-US" sz="4400" dirty="0"/>
              <a:t>Generative AI Policy</a:t>
            </a:r>
          </a:p>
        </p:txBody>
      </p:sp>
      <p:sp>
        <p:nvSpPr>
          <p:cNvPr id="3" name="TextBox 2">
            <a:extLst>
              <a:ext uri="{FF2B5EF4-FFF2-40B4-BE49-F238E27FC236}">
                <a16:creationId xmlns:a16="http://schemas.microsoft.com/office/drawing/2014/main" id="{4943DB59-F142-7A7D-F83C-FF571062351E}"/>
              </a:ext>
            </a:extLst>
          </p:cNvPr>
          <p:cNvSpPr txBox="1"/>
          <p:nvPr/>
        </p:nvSpPr>
        <p:spPr>
          <a:xfrm>
            <a:off x="0" y="769441"/>
            <a:ext cx="9144000" cy="6001643"/>
          </a:xfrm>
          <a:prstGeom prst="rect">
            <a:avLst/>
          </a:prstGeom>
          <a:noFill/>
        </p:spPr>
        <p:txBody>
          <a:bodyPr wrap="square" rtlCol="0">
            <a:spAutoFit/>
          </a:bodyPr>
          <a:lstStyle/>
          <a:p>
            <a:pPr marL="342900" indent="-342900">
              <a:buFont typeface="Arial" panose="020B0604020202020204" pitchFamily="34" charset="0"/>
              <a:buChar char="•"/>
            </a:pPr>
            <a:r>
              <a:rPr lang="en-US" sz="2400" dirty="0"/>
              <a:t>Overall, welcome to use tools as a resource for facilitating the course learning objectives.</a:t>
            </a:r>
          </a:p>
          <a:p>
            <a:pPr marL="342900" indent="-342900">
              <a:buFont typeface="Arial" panose="020B0604020202020204" pitchFamily="34" charset="0"/>
              <a:buChar char="•"/>
            </a:pPr>
            <a:r>
              <a:rPr lang="en-US" sz="2400" dirty="0"/>
              <a:t>	For technical issues, they have become an indispensable tool and 	banning their use would be counterproductive from both 	pedagogical and research standpoints.</a:t>
            </a:r>
          </a:p>
          <a:p>
            <a:pPr marL="342900" indent="-342900">
              <a:buFont typeface="Arial" panose="020B0604020202020204" pitchFamily="34" charset="0"/>
              <a:buChar char="•"/>
            </a:pPr>
            <a:r>
              <a:rPr lang="en-US" sz="2400" dirty="0"/>
              <a:t>However, </a:t>
            </a:r>
            <a:r>
              <a:rPr lang="en-US" sz="2400" b="1" dirty="0"/>
              <a:t>you are prohibited from asking quiz or assignment questions directly to them.</a:t>
            </a:r>
          </a:p>
          <a:p>
            <a:pPr marL="342900" indent="-342900">
              <a:buFont typeface="Arial" panose="020B0604020202020204" pitchFamily="34" charset="0"/>
              <a:buChar char="•"/>
            </a:pPr>
            <a:r>
              <a:rPr lang="en-US" sz="2400" b="1" dirty="0"/>
              <a:t>	Your answers to quizzes and assignments can be informed by AI 	tools, but the majority of an answer should be written in your own 	words.</a:t>
            </a:r>
          </a:p>
          <a:p>
            <a:pPr marL="342900" indent="-342900">
              <a:buFont typeface="Arial" panose="020B0604020202020204" pitchFamily="34" charset="0"/>
              <a:buChar char="•"/>
            </a:pPr>
            <a:r>
              <a:rPr lang="en-US" sz="2400" b="1" dirty="0"/>
              <a:t>	Use must be cited.</a:t>
            </a:r>
          </a:p>
          <a:p>
            <a:pPr marL="342900" indent="-342900">
              <a:buFont typeface="Arial" panose="020B0604020202020204" pitchFamily="34" charset="0"/>
              <a:buChar char="•"/>
            </a:pPr>
            <a:r>
              <a:rPr lang="en-US" sz="2400" b="1" dirty="0"/>
              <a:t>Rest of class, you are expected to use the following policy:</a:t>
            </a:r>
          </a:p>
          <a:p>
            <a:pPr marL="800100" lvl="1" indent="-342900">
              <a:buFont typeface="Arial" panose="020B0604020202020204" pitchFamily="34" charset="0"/>
              <a:buChar char="•"/>
            </a:pPr>
            <a:r>
              <a:rPr lang="en-US" sz="2400" dirty="0"/>
              <a:t>Your use of AI tools must be documented and cited to conform to this course’s expectations. </a:t>
            </a:r>
          </a:p>
          <a:p>
            <a:pPr marL="800100" lvl="1" indent="-342900">
              <a:buFont typeface="Arial" panose="020B0604020202020204" pitchFamily="34" charset="0"/>
              <a:buChar char="•"/>
            </a:pPr>
            <a:r>
              <a:rPr lang="en-US" sz="2400" b="1" dirty="0">
                <a:solidFill>
                  <a:srgbClr val="000000"/>
                </a:solidFill>
                <a:effectLst/>
                <a:latin typeface="+mj-lt"/>
                <a:ea typeface="SimSun" panose="02010600030101010101" pitchFamily="2" charset="-122"/>
              </a:rPr>
              <a:t>Please be aware you are responsible for how the information is used when you submit information based on an AI query </a:t>
            </a:r>
            <a:endParaRPr lang="en-US" sz="3200" dirty="0">
              <a:latin typeface="+mj-lt"/>
            </a:endParaRPr>
          </a:p>
        </p:txBody>
      </p:sp>
    </p:spTree>
    <p:extLst>
      <p:ext uri="{BB962C8B-B14F-4D97-AF65-F5344CB8AC3E}">
        <p14:creationId xmlns:p14="http://schemas.microsoft.com/office/powerpoint/2010/main" val="3078595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88D2BE-EC0A-4843-328C-03758CC3ABCE}"/>
              </a:ext>
            </a:extLst>
          </p:cNvPr>
          <p:cNvSpPr txBox="1"/>
          <p:nvPr/>
        </p:nvSpPr>
        <p:spPr>
          <a:xfrm>
            <a:off x="1212011" y="2724517"/>
            <a:ext cx="6719977" cy="830997"/>
          </a:xfrm>
          <a:prstGeom prst="rect">
            <a:avLst/>
          </a:prstGeom>
          <a:noFill/>
        </p:spPr>
        <p:txBody>
          <a:bodyPr wrap="square" rtlCol="0">
            <a:spAutoFit/>
          </a:bodyPr>
          <a:lstStyle/>
          <a:p>
            <a:pPr algn="ctr"/>
            <a:r>
              <a:rPr lang="en-US" sz="4800" dirty="0"/>
              <a:t>A short interlude…</a:t>
            </a:r>
          </a:p>
        </p:txBody>
      </p:sp>
    </p:spTree>
    <p:extLst>
      <p:ext uri="{BB962C8B-B14F-4D97-AF65-F5344CB8AC3E}">
        <p14:creationId xmlns:p14="http://schemas.microsoft.com/office/powerpoint/2010/main" val="33206309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at lying on a bed&#10;&#10;Description automatically generated with low confidence">
            <a:extLst>
              <a:ext uri="{FF2B5EF4-FFF2-40B4-BE49-F238E27FC236}">
                <a16:creationId xmlns:a16="http://schemas.microsoft.com/office/drawing/2014/main" id="{43E6D180-4036-48C0-8570-8B07C448CCEE}"/>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742043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3344</TotalTime>
  <Words>3062</Words>
  <Application>Microsoft Office PowerPoint</Application>
  <PresentationFormat>On-screen Show (4:3)</PresentationFormat>
  <Paragraphs>427</Paragraphs>
  <Slides>44</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Times New Roman</vt:lpstr>
      <vt:lpstr>Office Theme</vt:lpstr>
      <vt:lpstr>Introduction</vt:lpstr>
      <vt:lpstr>Deductive and inductive</vt:lpstr>
      <vt:lpstr>Visual illusions</vt:lpstr>
      <vt:lpstr>Perception and induction</vt:lpstr>
      <vt:lpstr>Learning language</vt:lpstr>
      <vt:lpstr>The poverty of the stimulus</vt:lpstr>
      <vt:lpstr>Speech recognition</vt:lpstr>
      <vt:lpstr>Interpreting sentences</vt:lpstr>
      <vt:lpstr>Interpreting sentences</vt:lpstr>
      <vt:lpstr>Inferring mental states</vt:lpstr>
      <vt:lpstr>Inferring mental states</vt:lpstr>
      <vt:lpstr>Learning new concepts</vt:lpstr>
      <vt:lpstr>Learning new concepts</vt:lpstr>
      <vt:lpstr>Learning words</vt:lpstr>
      <vt:lpstr>PowerPoint Presentation</vt:lpstr>
      <vt:lpstr>PowerPoint Presentation</vt:lpstr>
      <vt:lpstr>Inferring causal relations</vt:lpstr>
      <vt:lpstr>The big questions</vt:lpstr>
      <vt:lpstr>A strategy: Reverse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Joseph Austerweil</dc:creator>
  <cp:lastModifiedBy>Joe Austerweil</cp:lastModifiedBy>
  <cp:revision>137</cp:revision>
  <cp:lastPrinted>2019-09-04T20:40:55Z</cp:lastPrinted>
  <dcterms:created xsi:type="dcterms:W3CDTF">2015-09-05T16:34:09Z</dcterms:created>
  <dcterms:modified xsi:type="dcterms:W3CDTF">2025-01-23T03:31:11Z</dcterms:modified>
</cp:coreProperties>
</file>