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98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778" r:id="rId26"/>
    <p:sldId id="666" r:id="rId27"/>
    <p:sldId id="687" r:id="rId28"/>
    <p:sldId id="779" r:id="rId29"/>
    <p:sldId id="780" r:id="rId30"/>
    <p:sldId id="781" r:id="rId31"/>
    <p:sldId id="782" r:id="rId32"/>
    <p:sldId id="783" r:id="rId33"/>
    <p:sldId id="784" r:id="rId34"/>
    <p:sldId id="785" r:id="rId35"/>
    <p:sldId id="300" r:id="rId36"/>
    <p:sldId id="283" r:id="rId37"/>
    <p:sldId id="551" r:id="rId38"/>
    <p:sldId id="552" r:id="rId39"/>
    <p:sldId id="1237" r:id="rId40"/>
    <p:sldId id="1142" r:id="rId41"/>
    <p:sldId id="790" r:id="rId42"/>
    <p:sldId id="791" r:id="rId43"/>
    <p:sldId id="555" r:id="rId44"/>
    <p:sldId id="792" r:id="rId45"/>
    <p:sldId id="793" r:id="rId46"/>
    <p:sldId id="794" r:id="rId47"/>
    <p:sldId id="289" r:id="rId48"/>
    <p:sldId id="290" r:id="rId49"/>
    <p:sldId id="291" r:id="rId50"/>
    <p:sldId id="292" r:id="rId51"/>
    <p:sldId id="293" r:id="rId52"/>
    <p:sldId id="294" r:id="rId53"/>
    <p:sldId id="1238" r:id="rId54"/>
    <p:sldId id="1239" r:id="rId55"/>
    <p:sldId id="1240" r:id="rId56"/>
    <p:sldId id="1241" r:id="rId57"/>
    <p:sldId id="297" r:id="rId5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73" autoAdjust="0"/>
    <p:restoredTop sz="94660"/>
  </p:normalViewPr>
  <p:slideViewPr>
    <p:cSldViewPr snapToGrid="0" snapToObjects="1">
      <p:cViewPr>
        <p:scale>
          <a:sx n="128" d="100"/>
          <a:sy n="128" d="100"/>
        </p:scale>
        <p:origin x="348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BCF82F-D335-471C-A558-446948130C8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387A8F-1817-4738-A7C5-C1FAD18F7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14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Enter probability theory to save the day!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49CFC-72C6-1043-86B8-55262802C37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107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 probability theory to save the day!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49CFC-72C6-1043-86B8-55262802C37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671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32685-8BAD-4C42-A7AC-6DEFBEE7F43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1534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people to fill in these pieces.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9CADE-469F-1B4A-8D92-FC5661BF312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53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</a:t>
            </a:r>
            <a:r>
              <a:rPr lang="en-US" baseline="0" dirty="0"/>
              <a:t> understand the psych literature, this is essential to understand...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0A284C-79A3-AE45-A29D-322D8EC7B22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8299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</a:t>
            </a:r>
            <a:r>
              <a:rPr lang="en-US" baseline="0" dirty="0"/>
              <a:t> is witness; hypothesis is cab being blue…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A5D8FC-E596-E34E-83F5-25FF5AC30F6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987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Arrow is correct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A5D8FC-E596-E34E-83F5-25FF5AC30F6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052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F81B92-C351-0D43-B92F-970F3716AD88}" type="slidenum">
              <a:rPr lang="en-US"/>
              <a:pPr/>
              <a:t>39</a:t>
            </a:fld>
            <a:endParaRPr lang="en-US"/>
          </a:p>
        </p:txBody>
      </p:sp>
      <p:sp>
        <p:nvSpPr>
          <p:cNvPr id="982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82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Danny won </a:t>
            </a:r>
            <a:r>
              <a:rPr lang="en-US" dirty="0" err="1"/>
              <a:t>nobel</a:t>
            </a:r>
            <a:r>
              <a:rPr lang="en-US" dirty="0"/>
              <a:t> prize based on their work together on prospect theory</a:t>
            </a:r>
            <a:r>
              <a:rPr lang="en-US" baseline="0" dirty="0"/>
              <a:t>. One of my late advisors spoke of Tversky as the most intelligent man he had ever met in his life.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2669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2CFDC1-6139-4C7D-A273-5938D927896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3859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32685-8BAD-4C42-A7AC-6DEFBEE7F43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239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</a:t>
            </a:r>
            <a:r>
              <a:rPr lang="en-US" baseline="0" dirty="0"/>
              <a:t> is witness; hypothesis is cab being blue…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A5D8FC-E596-E34E-83F5-25FF5AC30F61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076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12.emf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12.emf"/><Relationship Id="rId7" Type="http://schemas.openxmlformats.org/officeDocument/2006/relationships/image" Target="../media/image10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12.emf"/><Relationship Id="rId7" Type="http://schemas.openxmlformats.org/officeDocument/2006/relationships/image" Target="../media/image10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12.emf"/><Relationship Id="rId7" Type="http://schemas.openxmlformats.org/officeDocument/2006/relationships/image" Target="../media/image10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12.emf"/><Relationship Id="rId7" Type="http://schemas.openxmlformats.org/officeDocument/2006/relationships/image" Target="../media/image10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emf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rame_yel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233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417320"/>
            <a:ext cx="7315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Helvetica Neue"/>
              </a:rPr>
              <a:t>Human and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999999"/>
                </a:solidFill>
                <a:latin typeface="Helvetica Neue"/>
              </a:rPr>
              <a:t>Week 1  —  Introduction and Basic Bayes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7315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dirty="0">
                <a:solidFill>
                  <a:srgbClr val="999999"/>
                </a:solidFill>
                <a:latin typeface="Helvetica Neue"/>
              </a:rPr>
              <a:t>Spring 2026  ·  Apr 17  ·  Prof. </a:t>
            </a:r>
            <a:r>
              <a:rPr lang="en-US" sz="1400" b="0" dirty="0">
                <a:solidFill>
                  <a:srgbClr val="999999"/>
                </a:solidFill>
                <a:latin typeface="Helvetica Neue"/>
              </a:rPr>
              <a:t>Joe</a:t>
            </a:r>
            <a:r>
              <a:rPr sz="1400" b="0" dirty="0">
                <a:solidFill>
                  <a:srgbClr val="999999"/>
                </a:solidFill>
                <a:latin typeface="Helvetica Neue"/>
              </a:rPr>
              <a:t> Austerweil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Helvetica Neue"/>
              </a:rP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520189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1520189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Helvetica Neue"/>
              </a:rPr>
              <a:t>Block 1  ·  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904238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Why this course exists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904238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Helvetica Neue"/>
              </a:rPr>
              <a:t>Block 2  ·  25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288286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Basic Bayes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288286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Helvetica Neue"/>
              </a:rPr>
              <a:t>Block 3  ·  25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672334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Bayes in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672334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Helvetica Neue"/>
              </a:rPr>
              <a:t>Block 4  ·  35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056382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GenJAX, admin, homework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056382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Helvetica Neue"/>
              </a:rPr>
              <a:t>Block 5  ·  20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rame_m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233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502920"/>
            <a:ext cx="5843016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7315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Helvetica Neue"/>
              </a:rPr>
              <a:t>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•  Who you are, what you're hoping to get out of the course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•  Why this course exists  —  inductive inference under uncertainty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•  Basic probability and Bayes' rule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•  Two worked examples: sick friend, Kahneman–Tversky cab problem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•  What is GenJAX, and how will we use it?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•  Logistics and homework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rame_m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233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502920"/>
            <a:ext cx="5843016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7315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Helvetica Neue"/>
              </a:rPr>
              <a:t>Why This Course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Deduction vs. induction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Deduction</a:t>
            </a:r>
          </a:p>
          <a:p>
            <a:pPr>
              <a:spcAft>
                <a:spcPts val="600"/>
              </a:spcAft>
            </a:pPr>
            <a:r>
              <a:rPr sz="2200" b="0" i="0">
                <a:solidFill>
                  <a:srgbClr val="64B5F6"/>
                </a:solidFill>
                <a:latin typeface="Cambria Math"/>
              </a:rPr>
              <a:t>1 + 4 = ?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999999"/>
                </a:solidFill>
                <a:latin typeface="Calibri"/>
              </a:rPr>
              <a:t>Preserves truth. One answer.</a:t>
            </a:r>
          </a:p>
          <a:p>
            <a:pPr>
              <a:spcAft>
                <a:spcPts val="0"/>
              </a:spcAft>
            </a:pPr>
            <a:endParaRPr sz="1400" b="0" i="0">
              <a:solidFill>
                <a:srgbClr val="999999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Induction</a:t>
            </a:r>
          </a:p>
          <a:p>
            <a:pPr>
              <a:spcAft>
                <a:spcPts val="600"/>
              </a:spcAft>
            </a:pPr>
            <a:r>
              <a:rPr sz="2200" b="0" i="0">
                <a:solidFill>
                  <a:srgbClr val="EF5350"/>
                </a:solidFill>
                <a:latin typeface="Cambria Math"/>
              </a:rPr>
              <a:t>? + ? = 5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999999"/>
                </a:solidFill>
                <a:latin typeface="Calibri"/>
              </a:rPr>
              <a:t>Underdetermined. Many plausible answers.</a:t>
            </a:r>
          </a:p>
          <a:p>
            <a:pPr>
              <a:spcAft>
                <a:spcPts val="0"/>
              </a:spcAft>
            </a:pPr>
            <a:endParaRPr sz="1400" b="0" i="0">
              <a:solidFill>
                <a:srgbClr val="999999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The problems people excel at — where we outperform machines — are inductive.</a:t>
            </a:r>
          </a:p>
          <a:p>
            <a:pPr>
              <a:spcAft>
                <a:spcPts val="600"/>
              </a:spcAft>
            </a:pPr>
            <a:r>
              <a:rPr sz="1400" b="0" i="1">
                <a:solidFill>
                  <a:srgbClr val="999999"/>
                </a:solidFill>
                <a:latin typeface="Calibri"/>
              </a:rPr>
              <a:t>They feel easy. They are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8028431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00" b="1">
                <a:solidFill>
                  <a:srgbClr val="64B5F6"/>
                </a:solidFill>
                <a:latin typeface="Helvetica Neue"/>
              </a:rPr>
              <a:t>Three inductive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8028431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999999"/>
                </a:solidFill>
                <a:latin typeface="Helvetica Neue"/>
              </a:rPr>
              <a:t>(... that the mind solves constantly)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1.  Perception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Which square is darker — A or B?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The visual system solves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4B5F6"/>
                </a:solidFill>
                <a:latin typeface="Consolas"/>
              </a:rPr>
              <a:t>square color + shadow = intensity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for square color, using priors about how retinal images are generated.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You are literally looking at an inductive inference right now.</a:t>
            </a:r>
          </a:p>
        </p:txBody>
      </p:sp>
      <p:pic>
        <p:nvPicPr>
          <p:cNvPr id="6" name="Picture 5" descr="checkershad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960120"/>
            <a:ext cx="402336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2.  Mental states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 dirty="0">
                <a:solidFill>
                  <a:srgbClr val="CCCCCC"/>
                </a:solidFill>
                <a:latin typeface="Calibri"/>
              </a:rPr>
              <a:t>Data:  other people's behavior (motion, speech, gaze).</a:t>
            </a:r>
          </a:p>
          <a:p>
            <a:pPr>
              <a:spcAft>
                <a:spcPts val="1400"/>
              </a:spcAft>
            </a:pPr>
            <a:r>
              <a:rPr sz="1600" b="0" i="0" dirty="0">
                <a:solidFill>
                  <a:srgbClr val="CCCCCC"/>
                </a:solidFill>
                <a:latin typeface="Calibri"/>
              </a:rPr>
              <a:t>Hypotheses:  their goals and beliefs.</a:t>
            </a:r>
          </a:p>
          <a:p>
            <a:pPr>
              <a:spcAft>
                <a:spcPts val="1800"/>
              </a:spcAft>
            </a:pPr>
            <a:r>
              <a:rPr sz="1400" b="0" i="1" dirty="0">
                <a:solidFill>
                  <a:srgbClr val="999999"/>
                </a:solidFill>
                <a:latin typeface="Calibri"/>
              </a:rPr>
              <a:t>Heider &amp; Simmel (1944) — animated geometric shapes.</a:t>
            </a:r>
          </a:p>
          <a:p>
            <a:pPr>
              <a:spcAft>
                <a:spcPts val="600"/>
              </a:spcAft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Watch ~90 seconds, then describe what happened:</a:t>
            </a:r>
          </a:p>
          <a:p>
            <a:pPr>
              <a:spcAft>
                <a:spcPts val="600"/>
              </a:spcAft>
            </a:pPr>
            <a:r>
              <a:rPr sz="1400" b="0" i="0" dirty="0">
                <a:solidFill>
                  <a:srgbClr val="64B5F6"/>
                </a:solidFill>
                <a:latin typeface="Calibri"/>
              </a:rPr>
              <a:t>https://www.youtube.com/watch?v=VTNmLt7QX8E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2.  Mental states  — 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Everyone spontaneously narrates the shapes as agents with intentions, grudges, fears.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Those intentions were never in the video.  Shapes moved on a plane.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Data:  2D motion trajectories.</a:t>
            </a:r>
          </a:p>
          <a:p>
            <a:pPr>
              <a:spcAft>
                <a:spcPts val="14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Hidden:  goals, beliefs, relationships.</a:t>
            </a:r>
          </a:p>
          <a:p>
            <a:pPr>
              <a:spcAft>
                <a:spcPts val="600"/>
              </a:spcAft>
            </a:pPr>
            <a:r>
              <a:rPr sz="1400" b="0" i="1">
                <a:solidFill>
                  <a:srgbClr val="999999"/>
                </a:solidFill>
                <a:latin typeface="Calibri"/>
              </a:rPr>
              <a:t>Your mind solved the inverse problem — behavior → mental states — without you noticing.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3.  Word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5796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 dirty="0">
                <a:solidFill>
                  <a:srgbClr val="CCCCCC"/>
                </a:solidFill>
                <a:latin typeface="Calibri"/>
              </a:rPr>
              <a:t>You're in the Australian outback. Someone points at a hopping animal and says "jumbuck."</a:t>
            </a:r>
          </a:p>
          <a:p>
            <a:pPr>
              <a:spcAft>
                <a:spcPts val="800"/>
              </a:spcAft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What does jumbuck mean?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11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4589BD-D429-9058-03FA-5BA5A3A88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4778" y="1663347"/>
            <a:ext cx="4274444" cy="3205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1BF0E-E566-3209-710B-90034F642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5D0C86-2BC0-44FF-7B20-A99E763D1B5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ECFE39-1285-C2EA-6C8E-E40455537B0A}"/>
              </a:ext>
            </a:extLst>
          </p:cNvPr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3.  Word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2ED6DD-BA65-DA18-A827-DC30B06438D9}"/>
              </a:ext>
            </a:extLst>
          </p:cNvPr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DC5110-89BE-6ED5-B9A6-6FEA76A66317}"/>
              </a:ext>
            </a:extLst>
          </p:cNvPr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You're in the Australian outback. Someone points at a hopping animal and says "jumbuck."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What does jumbuck mean?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CCCCCC"/>
                </a:solidFill>
                <a:latin typeface="Calibri"/>
              </a:rPr>
              <a:t>•  the animal itself?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CCCCCC"/>
                </a:solidFill>
                <a:latin typeface="Calibri"/>
              </a:rPr>
              <a:t>•  undetached kangaroo-parts?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CCCCCC"/>
                </a:solidFill>
                <a:latin typeface="Calibri"/>
              </a:rPr>
              <a:t>•  kangaroo temporal-stages?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CCCCCC"/>
                </a:solidFill>
                <a:latin typeface="Calibri"/>
              </a:rPr>
              <a:t>•  any mammal?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CCCCCC"/>
                </a:solidFill>
                <a:latin typeface="Calibri"/>
              </a:rPr>
              <a:t>•  dinner?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CCCCCC"/>
                </a:solidFill>
                <a:latin typeface="Calibri"/>
              </a:rPr>
              <a:t>All consistent with the data. Children pick one — fast.</a:t>
            </a:r>
          </a:p>
          <a:p>
            <a:pPr>
              <a:spcAft>
                <a:spcPts val="600"/>
              </a:spcAft>
            </a:pPr>
            <a:r>
              <a:rPr sz="1400" b="0" i="1">
                <a:solidFill>
                  <a:srgbClr val="999999"/>
                </a:solidFill>
                <a:latin typeface="Calibri"/>
              </a:rPr>
              <a:t>They bring strong prior expectations about what words mean.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3845C9-94B6-8312-A929-0B7D82912CB9}"/>
              </a:ext>
            </a:extLst>
          </p:cNvPr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380142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Check-in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What's the common structure across these three problems?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Hidden variable we care about:  h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Noisy / sparse data we observe:  d</a:t>
            </a:r>
          </a:p>
          <a:p>
            <a:pPr>
              <a:spcAft>
                <a:spcPts val="1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Prior knowledge we bring to bear</a:t>
            </a:r>
          </a:p>
          <a:p>
            <a:pPr>
              <a:spcAft>
                <a:spcPts val="600"/>
              </a:spcAft>
            </a:pPr>
            <a:r>
              <a:rPr sz="2200" b="1" i="0">
                <a:solidFill>
                  <a:srgbClr val="64B5F6"/>
                </a:solidFill>
                <a:latin typeface="Cambria Math"/>
              </a:rPr>
              <a:t>P(h | d)  ∝  P(d | h)  ·  P(h)</a:t>
            </a:r>
          </a:p>
          <a:p>
            <a:pPr>
              <a:spcAft>
                <a:spcPts val="600"/>
              </a:spcAft>
            </a:pPr>
            <a:r>
              <a:rPr sz="1300" b="0" i="1">
                <a:solidFill>
                  <a:srgbClr val="999999"/>
                </a:solidFill>
                <a:latin typeface="Calibri"/>
              </a:rPr>
              <a:t>(We'll unpack every symbol in the next hour.)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rame_m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233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502920"/>
            <a:ext cx="5843016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7315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Helvetica Neue"/>
              </a:rPr>
              <a:t>Basic Bayes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Outcomes, events, event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Flip two coins.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Outcome set:  S = {HH, HT, TH, TT}     |S| = 4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Event:  any subset of S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999999"/>
                </a:solidFill>
                <a:latin typeface="Calibri"/>
              </a:rPr>
              <a:t>       e.g., "at least one head" = {HH, HT, TH}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Event space:  the set of events (powerset, when S is finite).</a:t>
            </a:r>
          </a:p>
          <a:p>
            <a:pPr>
              <a:spcAft>
                <a:spcPts val="600"/>
              </a:spcAft>
            </a:pPr>
            <a:r>
              <a:rPr sz="1300" b="0" i="1">
                <a:solidFill>
                  <a:srgbClr val="999999"/>
                </a:solidFill>
                <a:latin typeface="Calibri"/>
              </a:rPr>
              <a:t>For continuous S, the math gets trickier — we'll come back to it next week.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Random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A random variable is a function from the outcome space to some value space.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Cambria Math"/>
              </a:rPr>
              <a:t>Y : S → {T, F},   Y(s) = "does s have at least one H?"</a:t>
            </a:r>
          </a:p>
          <a:p>
            <a:pPr>
              <a:spcAft>
                <a:spcPts val="1600"/>
              </a:spcAft>
            </a:pPr>
            <a:r>
              <a:rPr sz="1600" b="0" i="0">
                <a:solidFill>
                  <a:srgbClr val="CCCCCC"/>
                </a:solidFill>
                <a:latin typeface="Cambria Math"/>
              </a:rPr>
              <a:t>Y(HH) = T,    Y(HT) = T,    Y(TH) = T,    Y(TT) = F.</a:t>
            </a:r>
          </a:p>
          <a:p>
            <a:pPr>
              <a:spcAft>
                <a:spcPts val="600"/>
              </a:spcAft>
            </a:pPr>
            <a:r>
              <a:rPr sz="1300" b="0" i="1">
                <a:solidFill>
                  <a:srgbClr val="999999"/>
                </a:solidFill>
                <a:latin typeface="Calibri"/>
              </a:rPr>
              <a:t>The word random is about the input, not the mapping. The function itself is deterministic.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Probability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000" b="1" i="0">
                <a:solidFill>
                  <a:srgbClr val="FFFFFF"/>
                </a:solidFill>
                <a:latin typeface="Cambria Math"/>
              </a:rPr>
              <a:t>P(Y = T)  =  |{ s ∈ S : Y(s) = T }|  /  |S|  =  3/4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Count the outcomes where Y takes the value you care about. Divide by total outcomes.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Joint probability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000" b="1" i="0">
                <a:solidFill>
                  <a:srgbClr val="FFFFFF"/>
                </a:solidFill>
                <a:latin typeface="Cambria Math"/>
              </a:rPr>
              <a:t>P(first = H,  second = T)  =  P({HT})  =  1/4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Joint = "both of these at once."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Conditional probability  —  set restriction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Question:   What is  P(first = H  |  ≥1 H)?</a:t>
            </a:r>
          </a:p>
          <a:p>
            <a:pPr>
              <a:spcAft>
                <a:spcPts val="1400"/>
              </a:spcAft>
            </a:pPr>
            <a:r>
              <a:rPr sz="1400" b="0" i="1">
                <a:solidFill>
                  <a:srgbClr val="EF5350"/>
                </a:solidFill>
                <a:latin typeface="Calibri"/>
              </a:rPr>
              <a:t>Many people's first answer:  3/4.   That's wrong.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Conditioning = restricting the universe to outcomes where the condition holds.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New universe:  {HH, HT, TH}  (3 outcomes).  Of those, 2 have first = H.</a:t>
            </a:r>
          </a:p>
          <a:p>
            <a:pPr>
              <a:spcAft>
                <a:spcPts val="600"/>
              </a:spcAft>
            </a:pPr>
            <a:r>
              <a:rPr sz="2200" b="1" i="0">
                <a:solidFill>
                  <a:srgbClr val="64B5F6"/>
                </a:solidFill>
                <a:latin typeface="Cambria Math"/>
              </a:rPr>
              <a:t>P(first = H  |  ≥1 H)  =  2/3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The ratio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200" b="1" i="0">
                <a:solidFill>
                  <a:srgbClr val="FFFFFF"/>
                </a:solidFill>
                <a:latin typeface="Cambria Math"/>
              </a:rPr>
              <a:t>P(A | B)  =  P(A ∩ B)  /  P(B)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Same answer: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64B5F6"/>
                </a:solidFill>
                <a:latin typeface="Cambria Math"/>
              </a:rPr>
              <a:t>P(first=H | ≥1 H)  =  P({HH}) / P({HH, HT, TH})  =  (2/4) / (3/4)  =  2/3   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Marginalization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200" b="1" i="0">
                <a:solidFill>
                  <a:srgbClr val="FFFFFF"/>
                </a:solidFill>
                <a:latin typeface="Cambria Math"/>
              </a:rPr>
              <a:t>P(X)  =  Σ_c  P(X, C = c)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Sum the joint over the values of whatever you want to get rid of.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Bayes' rule  —  one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From the product rule, both directions: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FFFFFF"/>
                </a:solidFill>
                <a:latin typeface="Cambria Math"/>
              </a:rPr>
              <a:t>P(A | B) · P(B)  =  P(A, B)  =  P(B | A) · P(A)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Divide:</a:t>
            </a:r>
          </a:p>
          <a:p>
            <a:pPr>
              <a:spcAft>
                <a:spcPts val="1800"/>
              </a:spcAft>
            </a:pPr>
            <a:r>
              <a:rPr sz="2400" b="1" i="0">
                <a:solidFill>
                  <a:srgbClr val="64B5F6"/>
                </a:solidFill>
                <a:latin typeface="Cambria Math"/>
              </a:rPr>
              <a:t>P(A | B)  =  P(B | A) · P(A)  /  P(B)</a:t>
            </a:r>
          </a:p>
          <a:p>
            <a:pPr>
              <a:spcAft>
                <a:spcPts val="600"/>
              </a:spcAft>
            </a:pPr>
            <a:r>
              <a:rPr sz="1400" b="0" i="1">
                <a:solidFill>
                  <a:srgbClr val="999999"/>
                </a:solidFill>
                <a:latin typeface="Calibri"/>
              </a:rPr>
              <a:t>That's it. The rest of the course is understanding what this means.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Check-in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For the problem I'm about to give you — the cab problem —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•  What's d (the data, the observation)?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•  What's h (the hidden variable)?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rame_m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233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502920"/>
            <a:ext cx="5843016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7315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Helvetica Neue"/>
              </a:rPr>
              <a:t>Bayes in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3DFBD-765B-C048-BA18-8E297A051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984" y="263018"/>
            <a:ext cx="6602033" cy="823696"/>
          </a:xfrm>
        </p:spPr>
        <p:txBody>
          <a:bodyPr>
            <a:normAutofit fontScale="90000"/>
          </a:bodyPr>
          <a:lstStyle/>
          <a:p>
            <a:r>
              <a:rPr lang="en-US" dirty="0"/>
              <a:t>In a dark and depressing world...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1B3C6-A560-A346-A4A8-F5C13B2A2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1732" y="1187915"/>
            <a:ext cx="5915025" cy="353174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You have a 50 year-old friend who has been a chain smoker since they were 18. </a:t>
            </a:r>
          </a:p>
          <a:p>
            <a:pPr marL="0" indent="0">
              <a:buNone/>
            </a:pPr>
            <a:r>
              <a:rPr lang="en-US" dirty="0"/>
              <a:t>There’s a nasty cold going around. </a:t>
            </a:r>
          </a:p>
          <a:p>
            <a:pPr marL="0" indent="0">
              <a:buNone/>
            </a:pPr>
            <a:r>
              <a:rPr lang="en-US" dirty="0"/>
              <a:t>You go over to their house to bring them soup.</a:t>
            </a:r>
          </a:p>
          <a:p>
            <a:pPr marL="0" indent="0">
              <a:buNone/>
            </a:pPr>
            <a:r>
              <a:rPr lang="en-US" dirty="0"/>
              <a:t>You hear them cough.</a:t>
            </a:r>
          </a:p>
          <a:p>
            <a:pPr marL="0" indent="0">
              <a:buNone/>
            </a:pPr>
            <a:r>
              <a:rPr lang="en-US" dirty="0"/>
              <a:t>You know that they’re sick, but you don’t know what it is.</a:t>
            </a:r>
          </a:p>
          <a:p>
            <a:pPr marL="0" indent="0">
              <a:buNone/>
            </a:pPr>
            <a:r>
              <a:rPr lang="en-US" dirty="0"/>
              <a:t>You’ve limited it to three possibilities: </a:t>
            </a:r>
          </a:p>
          <a:p>
            <a:pPr marL="342900" lvl="1" indent="0">
              <a:buNone/>
            </a:pPr>
            <a:r>
              <a:rPr lang="en-US" dirty="0"/>
              <a:t>A cold, a stomach virus, or lung cancer</a:t>
            </a:r>
          </a:p>
          <a:p>
            <a:pPr marL="0" indent="0">
              <a:buNone/>
            </a:pPr>
            <a:r>
              <a:rPr lang="en-US" dirty="0"/>
              <a:t>How likely is each?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970EA15-711B-61C8-04ED-E9F91D0602DC}"/>
              </a:ext>
            </a:extLst>
          </p:cNvPr>
          <p:cNvGrpSpPr/>
          <p:nvPr/>
        </p:nvGrpSpPr>
        <p:grpSpPr>
          <a:xfrm>
            <a:off x="1732068" y="679404"/>
            <a:ext cx="2171700" cy="2836694"/>
            <a:chOff x="822960" y="1914525"/>
            <a:chExt cx="2895600" cy="3782258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C25D278C-D879-0E8C-497D-32AF65732A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2960" y="1914525"/>
              <a:ext cx="2895600" cy="3105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6276F95-F213-329E-F9FE-523A65FAFA6D}"/>
                </a:ext>
              </a:extLst>
            </p:cNvPr>
            <p:cNvSpPr txBox="1"/>
            <p:nvPr/>
          </p:nvSpPr>
          <p:spPr>
            <a:xfrm>
              <a:off x="822960" y="5019675"/>
              <a:ext cx="2895600" cy="67710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50" dirty="0"/>
                <a:t>Reverand Thomas Bayes</a:t>
              </a:r>
            </a:p>
            <a:p>
              <a:pPr algn="ctr"/>
              <a:r>
                <a:rPr lang="en-US" sz="1350" dirty="0"/>
                <a:t>(1701-1761)</a:t>
              </a:r>
            </a:p>
          </p:txBody>
        </p:sp>
      </p:grp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2BC96AB4-269D-FF8F-0830-9012E440FAB6}"/>
              </a:ext>
            </a:extLst>
          </p:cNvPr>
          <p:cNvSpPr/>
          <p:nvPr/>
        </p:nvSpPr>
        <p:spPr>
          <a:xfrm>
            <a:off x="4535000" y="311652"/>
            <a:ext cx="2951152" cy="2642135"/>
          </a:xfrm>
          <a:prstGeom prst="wedgeRectCallout">
            <a:avLst>
              <a:gd name="adj1" fmla="val -107139"/>
              <a:gd name="adj2" fmla="val -505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dirty="0"/>
              <a:t>I’ve got a rule to help!</a:t>
            </a:r>
          </a:p>
          <a:p>
            <a:pPr algn="ctr"/>
            <a:endParaRPr lang="en-US" sz="1350" dirty="0"/>
          </a:p>
          <a:p>
            <a:pPr algn="ctr"/>
            <a:r>
              <a:rPr lang="en-US" sz="1350" dirty="0"/>
              <a:t>I used it to try to prove G-d exists. It made me feel better. </a:t>
            </a:r>
          </a:p>
          <a:p>
            <a:pPr algn="ctr"/>
            <a:endParaRPr lang="en-US" sz="1350" dirty="0"/>
          </a:p>
          <a:p>
            <a:pPr algn="ctr"/>
            <a:r>
              <a:rPr lang="en-US" sz="1350" dirty="0"/>
              <a:t>Turns out that it’s really useful for other stuff too, but I didn’t figure that out! </a:t>
            </a:r>
          </a:p>
          <a:p>
            <a:pPr algn="ctr"/>
            <a:endParaRPr lang="en-US" sz="1350" dirty="0"/>
          </a:p>
          <a:p>
            <a:pPr algn="ctr"/>
            <a:r>
              <a:rPr lang="en-US" sz="1350" dirty="0"/>
              <a:t>For you to use it, you’ll need to learn to write probabilities carefully.</a:t>
            </a:r>
          </a:p>
          <a:p>
            <a:pPr algn="ctr"/>
            <a:endParaRPr lang="en-US" sz="1350" dirty="0"/>
          </a:p>
          <a:p>
            <a:pPr algn="ctr"/>
            <a:r>
              <a:rPr lang="en-US" sz="1350" dirty="0"/>
              <a:t>Math is so cool! Try this at parties.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C3C80BC-E2F3-1304-F603-DFF97E5EB6A9}"/>
              </a:ext>
            </a:extLst>
          </p:cNvPr>
          <p:cNvGrpSpPr/>
          <p:nvPr/>
        </p:nvGrpSpPr>
        <p:grpSpPr>
          <a:xfrm>
            <a:off x="2299489" y="3493014"/>
            <a:ext cx="5186663" cy="1362751"/>
            <a:chOff x="1532326" y="4899090"/>
            <a:chExt cx="6915550" cy="1817001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A6BBD6D9-657F-4562-D8B8-8AB3EB05D0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251" r="18769" b="13720"/>
            <a:stretch/>
          </p:blipFill>
          <p:spPr bwMode="auto">
            <a:xfrm>
              <a:off x="1532326" y="4899090"/>
              <a:ext cx="1382478" cy="1817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Speech Bubble: Rectangle 6">
              <a:extLst>
                <a:ext uri="{FF2B5EF4-FFF2-40B4-BE49-F238E27FC236}">
                  <a16:creationId xmlns:a16="http://schemas.microsoft.com/office/drawing/2014/main" id="{F92D5A5F-0344-C22F-8975-89B8F639CCC5}"/>
                </a:ext>
              </a:extLst>
            </p:cNvPr>
            <p:cNvSpPr/>
            <p:nvPr/>
          </p:nvSpPr>
          <p:spPr>
            <a:xfrm>
              <a:off x="4206240" y="4899090"/>
              <a:ext cx="4241636" cy="1684272"/>
            </a:xfrm>
            <a:prstGeom prst="wedgeRectCallout">
              <a:avLst>
                <a:gd name="adj1" fmla="val -83837"/>
                <a:gd name="adj2" fmla="val -1736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350" dirty="0"/>
                <a:t>I’m unimpressed. </a:t>
              </a:r>
            </a:p>
            <a:p>
              <a:pPr algn="ctr"/>
              <a:endParaRPr lang="en-US" sz="1350" dirty="0"/>
            </a:p>
            <a:p>
              <a:pPr algn="ctr"/>
              <a:endParaRPr lang="en-US" sz="1350" dirty="0"/>
            </a:p>
            <a:p>
              <a:pPr algn="ctr"/>
              <a:r>
                <a:rPr lang="en-US" sz="1350" dirty="0"/>
                <a:t>Please feed me treats.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8683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D53D8-8660-3541-B398-132C835CD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488" y="175632"/>
            <a:ext cx="5915025" cy="587587"/>
          </a:xfrm>
        </p:spPr>
        <p:txBody>
          <a:bodyPr>
            <a:normAutofit/>
          </a:bodyPr>
          <a:lstStyle/>
          <a:p>
            <a:r>
              <a:rPr lang="en-US" sz="3000" dirty="0"/>
              <a:t>Writing probabilities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44C56-BDCF-1645-9F3B-605E43846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4487" y="763219"/>
            <a:ext cx="6169064" cy="42046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d </a:t>
            </a:r>
            <a:r>
              <a:rPr lang="en-US" dirty="0"/>
              <a:t>is a hidden property you don’t get to observe.</a:t>
            </a:r>
          </a:p>
          <a:p>
            <a:pPr marL="0" indent="0">
              <a:buNone/>
            </a:pPr>
            <a:r>
              <a:rPr lang="en-US" dirty="0"/>
              <a:t>	E.g., disease, emotions, goals...</a:t>
            </a:r>
          </a:p>
        </p:txBody>
      </p:sp>
    </p:spTree>
    <p:extLst>
      <p:ext uri="{BB962C8B-B14F-4D97-AF65-F5344CB8AC3E}">
        <p14:creationId xmlns:p14="http://schemas.microsoft.com/office/powerpoint/2010/main" val="527615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44C56-BDCF-1645-9F3B-605E43846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4487" y="763219"/>
            <a:ext cx="6169064" cy="420464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i="1" dirty="0"/>
              <a:t>d </a:t>
            </a:r>
            <a:r>
              <a:rPr lang="en-US" dirty="0"/>
              <a:t>is a hidden property you don’t get to observe.</a:t>
            </a:r>
          </a:p>
          <a:p>
            <a:pPr marL="0" indent="0">
              <a:buNone/>
            </a:pPr>
            <a:r>
              <a:rPr lang="en-US" dirty="0"/>
              <a:t>	E.g., disease, emotions, goals...</a:t>
            </a:r>
          </a:p>
          <a:p>
            <a:pPr marL="0" indent="0">
              <a:buNone/>
            </a:pPr>
            <a:r>
              <a:rPr lang="en-US" i="1" dirty="0"/>
              <a:t>o</a:t>
            </a:r>
            <a:r>
              <a:rPr lang="en-US" dirty="0"/>
              <a:t> is what you observe in the world</a:t>
            </a:r>
          </a:p>
          <a:p>
            <a:pPr marL="0" indent="0">
              <a:buNone/>
            </a:pPr>
            <a:r>
              <a:rPr lang="en-US" dirty="0"/>
              <a:t>	E.g., coughing, punching, grabbing milk, ...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d</a:t>
            </a:r>
            <a:r>
              <a:rPr lang="en-US" dirty="0"/>
              <a:t> = lung cancer) means the probability of lung cancer</a:t>
            </a:r>
          </a:p>
          <a:p>
            <a:pPr marL="0" indent="0">
              <a:buNone/>
            </a:pPr>
            <a:r>
              <a:rPr lang="en-US" i="1" dirty="0"/>
              <a:t>	“prior probability”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d</a:t>
            </a:r>
            <a:r>
              <a:rPr lang="en-US" dirty="0"/>
              <a:t> = lung cancer | </a:t>
            </a:r>
            <a:r>
              <a:rPr lang="en-US" i="1" dirty="0"/>
              <a:t>o </a:t>
            </a:r>
            <a:r>
              <a:rPr lang="en-US" dirty="0"/>
              <a:t>= cough) means the probability of lung cancer given you know (things to right of “|”) that the person coughed.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 “posterior probability”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45DB851-3A19-C787-6411-1C4F94AF571A}"/>
              </a:ext>
            </a:extLst>
          </p:cNvPr>
          <p:cNvSpPr txBox="1">
            <a:spLocks/>
          </p:cNvSpPr>
          <p:nvPr/>
        </p:nvSpPr>
        <p:spPr>
          <a:xfrm>
            <a:off x="1614488" y="175632"/>
            <a:ext cx="5915025" cy="587587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/>
              <a:t>Writing probabilities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26009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44C56-BDCF-1645-9F3B-605E43846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4487" y="763219"/>
            <a:ext cx="6169064" cy="420464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i="1" dirty="0"/>
              <a:t>d </a:t>
            </a:r>
            <a:r>
              <a:rPr lang="en-US" dirty="0"/>
              <a:t>is a hidden property you don’t get to observe.</a:t>
            </a:r>
          </a:p>
          <a:p>
            <a:pPr marL="0" indent="0">
              <a:buNone/>
            </a:pPr>
            <a:r>
              <a:rPr lang="en-US" dirty="0"/>
              <a:t>	E.g., disease, emotions, goals...</a:t>
            </a:r>
          </a:p>
          <a:p>
            <a:pPr marL="0" indent="0">
              <a:buNone/>
            </a:pPr>
            <a:r>
              <a:rPr lang="en-US" i="1" dirty="0"/>
              <a:t>o</a:t>
            </a:r>
            <a:r>
              <a:rPr lang="en-US" dirty="0"/>
              <a:t> is what you observe in the world</a:t>
            </a:r>
          </a:p>
          <a:p>
            <a:pPr marL="0" indent="0">
              <a:buNone/>
            </a:pPr>
            <a:r>
              <a:rPr lang="en-US" dirty="0"/>
              <a:t>	E.g., coughing, punching, grabbing milk, ...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d</a:t>
            </a:r>
            <a:r>
              <a:rPr lang="en-US" dirty="0"/>
              <a:t> = lung cancer | </a:t>
            </a:r>
            <a:r>
              <a:rPr lang="en-US" i="1" dirty="0"/>
              <a:t>o </a:t>
            </a:r>
            <a:r>
              <a:rPr lang="en-US" dirty="0"/>
              <a:t>= cough) means the probability of lung cancer given you know (things to right of “|”) that the person coughed.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 “posterior probability”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o </a:t>
            </a:r>
            <a:r>
              <a:rPr lang="en-US" dirty="0"/>
              <a:t>= cough | </a:t>
            </a:r>
            <a:r>
              <a:rPr lang="en-US" i="1" dirty="0"/>
              <a:t>d</a:t>
            </a:r>
            <a:r>
              <a:rPr lang="en-US" dirty="0"/>
              <a:t> = lung cancer) means the probability of coughing given you know (things to right of “|”) that the person has lung cancer.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 “likelihood”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C4B833-8B69-5AAF-36B9-0A4AA73AC894}"/>
              </a:ext>
            </a:extLst>
          </p:cNvPr>
          <p:cNvSpPr txBox="1">
            <a:spLocks/>
          </p:cNvSpPr>
          <p:nvPr/>
        </p:nvSpPr>
        <p:spPr>
          <a:xfrm>
            <a:off x="1614488" y="175632"/>
            <a:ext cx="5915025" cy="587587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/>
              <a:t>Writing probabilities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524536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5176" y="-22433"/>
            <a:ext cx="5915025" cy="746640"/>
          </a:xfrm>
        </p:spPr>
        <p:txBody>
          <a:bodyPr>
            <a:normAutofit fontScale="90000"/>
          </a:bodyPr>
          <a:lstStyle/>
          <a:p>
            <a:r>
              <a:rPr lang="en-US" dirty="0"/>
              <a:t>Bayes’ rule</a:t>
            </a:r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1476007" y="832338"/>
            <a:ext cx="1478757" cy="646510"/>
            <a:chOff x="201" y="1823"/>
            <a:chExt cx="1242" cy="543"/>
          </a:xfrm>
        </p:grpSpPr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201" y="1823"/>
              <a:ext cx="1006" cy="5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Times New Roman" charset="0"/>
                </a:rPr>
                <a:t>Posterior</a:t>
              </a:r>
            </a:p>
            <a:p>
              <a:r>
                <a:rPr lang="en-US" dirty="0">
                  <a:solidFill>
                    <a:srgbClr val="FF0000"/>
                  </a:solidFill>
                  <a:latin typeface="Times New Roman" charset="0"/>
                </a:rPr>
                <a:t>probability</a:t>
              </a:r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1073" y="2101"/>
              <a:ext cx="370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 dirty="0"/>
            </a:p>
          </p:txBody>
        </p:sp>
      </p:grpSp>
      <p:grpSp>
        <p:nvGrpSpPr>
          <p:cNvPr id="9" name="Group 7"/>
          <p:cNvGrpSpPr>
            <a:grpSpLocks/>
          </p:cNvGrpSpPr>
          <p:nvPr/>
        </p:nvGrpSpPr>
        <p:grpSpPr bwMode="auto">
          <a:xfrm>
            <a:off x="4529358" y="571589"/>
            <a:ext cx="1197768" cy="642938"/>
            <a:chOff x="2595" y="1392"/>
            <a:chExt cx="1006" cy="540"/>
          </a:xfrm>
        </p:grpSpPr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2595" y="1392"/>
              <a:ext cx="1006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dirty="0">
                  <a:solidFill>
                    <a:srgbClr val="FF0000"/>
                  </a:solidFill>
                  <a:latin typeface="Times New Roman" charset="0"/>
                </a:rPr>
                <a:t>Likelihood</a:t>
              </a:r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2995" y="1644"/>
              <a:ext cx="0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</p:grpSp>
      <p:grpSp>
        <p:nvGrpSpPr>
          <p:cNvPr id="12" name="Group 10"/>
          <p:cNvGrpSpPr>
            <a:grpSpLocks/>
          </p:cNvGrpSpPr>
          <p:nvPr/>
        </p:nvGrpSpPr>
        <p:grpSpPr bwMode="auto">
          <a:xfrm>
            <a:off x="5824308" y="376327"/>
            <a:ext cx="1483520" cy="800100"/>
            <a:chOff x="3840" y="1392"/>
            <a:chExt cx="1246" cy="672"/>
          </a:xfrm>
        </p:grpSpPr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4080" y="1392"/>
              <a:ext cx="1006" cy="5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Times New Roman" charset="0"/>
                </a:rPr>
                <a:t>Prior</a:t>
              </a:r>
            </a:p>
            <a:p>
              <a:r>
                <a:rPr lang="en-US" dirty="0">
                  <a:solidFill>
                    <a:srgbClr val="FF0000"/>
                  </a:solidFill>
                  <a:latin typeface="Times New Roman" charset="0"/>
                </a:rPr>
                <a:t>probability</a:t>
              </a:r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 flipH="1">
              <a:off x="3840" y="1824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1143000" y="2209655"/>
            <a:ext cx="6787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Given you hear your friend cough, what is the probability that she has…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4425" y="2795926"/>
            <a:ext cx="589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8DD48B-EFED-F242-9D73-47BAC6532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233" y="1278413"/>
            <a:ext cx="3305175" cy="74295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0D27CD05-0563-44C6-0466-D1663888FFA9}"/>
              </a:ext>
            </a:extLst>
          </p:cNvPr>
          <p:cNvGrpSpPr/>
          <p:nvPr/>
        </p:nvGrpSpPr>
        <p:grpSpPr>
          <a:xfrm>
            <a:off x="4136674" y="1170817"/>
            <a:ext cx="3771201" cy="952533"/>
            <a:chOff x="3991565" y="1561089"/>
            <a:chExt cx="5028268" cy="127004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98189C3-FDD1-D54E-8FD2-22DC533A8FB1}"/>
                </a:ext>
              </a:extLst>
            </p:cNvPr>
            <p:cNvSpPr/>
            <p:nvPr/>
          </p:nvSpPr>
          <p:spPr>
            <a:xfrm>
              <a:off x="3991565" y="2207941"/>
              <a:ext cx="2796249" cy="62319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" name="Text Box 11">
              <a:extLst>
                <a:ext uri="{FF2B5EF4-FFF2-40B4-BE49-F238E27FC236}">
                  <a16:creationId xmlns:a16="http://schemas.microsoft.com/office/drawing/2014/main" id="{B01BC31C-1ADE-8744-B748-DB471A129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22814" y="1561089"/>
              <a:ext cx="1597019" cy="861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Times New Roman" charset="0"/>
                </a:rPr>
                <a:t>Total </a:t>
              </a:r>
            </a:p>
            <a:p>
              <a:r>
                <a:rPr lang="en-US" dirty="0">
                  <a:solidFill>
                    <a:srgbClr val="FF0000"/>
                  </a:solidFill>
                  <a:latin typeface="Times New Roman" charset="0"/>
                </a:rPr>
                <a:t>probability</a:t>
              </a:r>
            </a:p>
          </p:txBody>
        </p:sp>
        <p:sp>
          <p:nvSpPr>
            <p:cNvPr id="25" name="Line 12">
              <a:extLst>
                <a:ext uri="{FF2B5EF4-FFF2-40B4-BE49-F238E27FC236}">
                  <a16:creationId xmlns:a16="http://schemas.microsoft.com/office/drawing/2014/main" id="{679DEB63-7330-9141-B451-1B5BA928F0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10116" y="2057330"/>
              <a:ext cx="590396" cy="28086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4C160BC7-C895-8F4F-B1B6-F1164A06D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9353" y="2870276"/>
            <a:ext cx="2095500" cy="3143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F599768-5EDA-4847-9807-0F30365C55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2429" y="3457433"/>
            <a:ext cx="1314450" cy="2667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BA305DE-7800-E742-BF56-FFB0B8D691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7666" y="3861786"/>
            <a:ext cx="2638425" cy="2667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D02C318-1724-0A42-B32E-D0D80A1528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2429" y="4299587"/>
            <a:ext cx="2400300" cy="28575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227D32C8-3E51-12EF-E32C-EB1E0E3FA294}"/>
              </a:ext>
            </a:extLst>
          </p:cNvPr>
          <p:cNvGrpSpPr/>
          <p:nvPr/>
        </p:nvGrpSpPr>
        <p:grpSpPr>
          <a:xfrm>
            <a:off x="1645920" y="1655958"/>
            <a:ext cx="3063241" cy="499442"/>
            <a:chOff x="670559" y="2207941"/>
            <a:chExt cx="4084321" cy="66592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FC1F6F2-F7CB-5A8C-41F8-2CECD6C4FE9C}"/>
                </a:ext>
              </a:extLst>
            </p:cNvPr>
            <p:cNvSpPr/>
            <p:nvPr/>
          </p:nvSpPr>
          <p:spPr>
            <a:xfrm>
              <a:off x="3991565" y="2207941"/>
              <a:ext cx="763315" cy="57239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2CD3A0E-2D0E-361D-1656-E88A254061A1}"/>
                </a:ext>
              </a:extLst>
            </p:cNvPr>
            <p:cNvCxnSpPr/>
            <p:nvPr/>
          </p:nvCxnSpPr>
          <p:spPr>
            <a:xfrm flipV="1">
              <a:off x="3099197" y="2499001"/>
              <a:ext cx="870066" cy="99133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  <a:effec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31E3FFE-AAD5-D2CF-289C-8D68C8ED7729}"/>
                </a:ext>
              </a:extLst>
            </p:cNvPr>
            <p:cNvSpPr txBox="1"/>
            <p:nvPr/>
          </p:nvSpPr>
          <p:spPr>
            <a:xfrm>
              <a:off x="670559" y="2381420"/>
              <a:ext cx="2531478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Sum over diseases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9354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Bayes’ rule via word math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6085211" y="1063228"/>
            <a:ext cx="0" cy="232543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891275" y="1110122"/>
            <a:ext cx="116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likelihood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9208" y="1106033"/>
            <a:ext cx="670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prior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5600" y="1110122"/>
            <a:ext cx="113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posterior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0424" y="2085432"/>
            <a:ext cx="5153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208" y="2085432"/>
            <a:ext cx="84600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/>
              <a:t>medium</a:t>
            </a:r>
            <a:endParaRPr lang="en-US" sz="1350" dirty="0"/>
          </a:p>
        </p:txBody>
      </p:sp>
      <p:sp>
        <p:nvSpPr>
          <p:cNvPr id="34" name="TextBox 33"/>
          <p:cNvSpPr txBox="1"/>
          <p:nvPr/>
        </p:nvSpPr>
        <p:spPr>
          <a:xfrm>
            <a:off x="6868182" y="2085432"/>
            <a:ext cx="5153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9208" y="2554845"/>
            <a:ext cx="84600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/>
              <a:t>medium</a:t>
            </a:r>
            <a:endParaRPr lang="en-US" sz="1350" dirty="0"/>
          </a:p>
        </p:txBody>
      </p:sp>
      <p:sp>
        <p:nvSpPr>
          <p:cNvPr id="31" name="TextBox 30"/>
          <p:cNvSpPr txBox="1"/>
          <p:nvPr/>
        </p:nvSpPr>
        <p:spPr>
          <a:xfrm>
            <a:off x="4234973" y="2567510"/>
            <a:ext cx="44252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/>
              <a:t>low</a:t>
            </a:r>
            <a:endParaRPr lang="en-US" sz="1350" dirty="0"/>
          </a:p>
        </p:txBody>
      </p:sp>
      <p:sp>
        <p:nvSpPr>
          <p:cNvPr id="35" name="TextBox 34"/>
          <p:cNvSpPr txBox="1"/>
          <p:nvPr/>
        </p:nvSpPr>
        <p:spPr>
          <a:xfrm>
            <a:off x="6868182" y="2554845"/>
            <a:ext cx="5153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0424" y="3024258"/>
            <a:ext cx="5153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9209" y="3024258"/>
            <a:ext cx="8460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very 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37241" y="3024258"/>
            <a:ext cx="113250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low/medium</a:t>
            </a:r>
          </a:p>
        </p:txBody>
      </p:sp>
      <p:cxnSp>
        <p:nvCxnSpPr>
          <p:cNvPr id="48" name="Straight Connector 47"/>
          <p:cNvCxnSpPr/>
          <p:nvPr/>
        </p:nvCxnSpPr>
        <p:spPr>
          <a:xfrm>
            <a:off x="1336504" y="3388659"/>
            <a:ext cx="6321596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450804" y="1871093"/>
            <a:ext cx="6321596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330262" y="1063229"/>
            <a:ext cx="1589735" cy="2241256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3" name="TextBox 52"/>
          <p:cNvSpPr txBox="1"/>
          <p:nvPr/>
        </p:nvSpPr>
        <p:spPr>
          <a:xfrm>
            <a:off x="1396932" y="3663982"/>
            <a:ext cx="6398924" cy="30008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350" dirty="0"/>
              <a:t>To get actual probability, you divide each of these by their sum (</a:t>
            </a:r>
            <a:r>
              <a:rPr lang="en-US" sz="1350" i="1" dirty="0"/>
              <a:t>normalization</a:t>
            </a:r>
            <a:r>
              <a:rPr lang="en-US" sz="1350" dirty="0"/>
              <a:t>)</a:t>
            </a:r>
            <a:r>
              <a:rPr lang="en-US" sz="1350" i="1" dirty="0"/>
              <a:t>.</a:t>
            </a:r>
            <a:endParaRPr lang="en-US" sz="1350" dirty="0"/>
          </a:p>
        </p:txBody>
      </p:sp>
      <p:cxnSp>
        <p:nvCxnSpPr>
          <p:cNvPr id="55" name="Straight Arrow Connector 54"/>
          <p:cNvCxnSpPr>
            <a:stCxn id="52" idx="2"/>
          </p:cNvCxnSpPr>
          <p:nvPr/>
        </p:nvCxnSpPr>
        <p:spPr>
          <a:xfrm>
            <a:off x="7125130" y="3304484"/>
            <a:ext cx="21914" cy="359498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9751397-84C3-9E4B-9D40-FD56B30AA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743" y="1517057"/>
            <a:ext cx="619125" cy="2381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82BBA0-584E-E545-892B-0C8730908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0773" y="1516394"/>
            <a:ext cx="447675" cy="238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3B4786-EE6D-AC40-951E-C92B2766AA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8372" y="1516394"/>
            <a:ext cx="1571625" cy="23812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6F9CF7-A6AA-7B43-84D6-BBB80FA62C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1291" y="2145660"/>
            <a:ext cx="1068371" cy="21677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2B58157-D7EE-CE44-A3F1-E0AFC80DCF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6932" y="2615090"/>
            <a:ext cx="2144483" cy="21677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5BBADAA-2484-0546-8B8C-4350E33A72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6931" y="3046630"/>
            <a:ext cx="1950938" cy="23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478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4" grpId="0"/>
      <p:bldP spid="30" grpId="0"/>
      <p:bldP spid="31" grpId="0"/>
      <p:bldP spid="35" grpId="0"/>
      <p:bldP spid="32" grpId="0"/>
      <p:bldP spid="33" grpId="0"/>
      <p:bldP spid="36" grpId="0"/>
      <p:bldP spid="52" grpId="0" animBg="1"/>
      <p:bldP spid="5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Bayes’ rule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6085211" y="1063228"/>
            <a:ext cx="0" cy="232543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891275" y="1110122"/>
            <a:ext cx="116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likelihood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2482" y="1106033"/>
            <a:ext cx="694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prior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5600" y="1110122"/>
            <a:ext cx="113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posterior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0424" y="2085432"/>
            <a:ext cx="5153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0.9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209" y="2085432"/>
            <a:ext cx="5153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0.45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9209" y="2554845"/>
            <a:ext cx="5153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0.45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78655" y="2556458"/>
            <a:ext cx="80381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     0.1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0424" y="3024258"/>
            <a:ext cx="5153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0.9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9209" y="3024258"/>
            <a:ext cx="5153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0.1</a:t>
            </a:r>
          </a:p>
        </p:txBody>
      </p:sp>
      <p:cxnSp>
        <p:nvCxnSpPr>
          <p:cNvPr id="48" name="Straight Connector 47"/>
          <p:cNvCxnSpPr/>
          <p:nvPr/>
        </p:nvCxnSpPr>
        <p:spPr>
          <a:xfrm>
            <a:off x="1336504" y="3388659"/>
            <a:ext cx="6321596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450804" y="1871093"/>
            <a:ext cx="6321596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330262" y="1063229"/>
            <a:ext cx="1589735" cy="2241256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3" name="TextBox 52"/>
          <p:cNvSpPr txBox="1"/>
          <p:nvPr/>
        </p:nvSpPr>
        <p:spPr>
          <a:xfrm>
            <a:off x="1396932" y="3663982"/>
            <a:ext cx="6398924" cy="507831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350" dirty="0"/>
              <a:t>To get actual probability, you divide each of these by their sum (</a:t>
            </a:r>
            <a:r>
              <a:rPr lang="en-US" sz="1350" i="1" dirty="0"/>
              <a:t>normalization</a:t>
            </a:r>
            <a:r>
              <a:rPr lang="en-US" sz="1350" dirty="0"/>
              <a:t>)</a:t>
            </a:r>
            <a:r>
              <a:rPr lang="en-US" sz="1350" i="1" dirty="0"/>
              <a:t>.</a:t>
            </a:r>
          </a:p>
          <a:p>
            <a:endParaRPr lang="en-US" sz="1350" i="1" dirty="0"/>
          </a:p>
        </p:txBody>
      </p:sp>
      <p:cxnSp>
        <p:nvCxnSpPr>
          <p:cNvPr id="55" name="Straight Arrow Connector 54"/>
          <p:cNvCxnSpPr>
            <a:stCxn id="52" idx="2"/>
          </p:cNvCxnSpPr>
          <p:nvPr/>
        </p:nvCxnSpPr>
        <p:spPr>
          <a:xfrm>
            <a:off x="7125130" y="3304484"/>
            <a:ext cx="21914" cy="359498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330" y="1553443"/>
            <a:ext cx="123825" cy="12382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E6FA5A7-E9B8-3748-B0F3-A7D738E72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743" y="1517057"/>
            <a:ext cx="619125" cy="23812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84918CE-45C5-424E-A6BE-9642259CA2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0773" y="1516394"/>
            <a:ext cx="447675" cy="23812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3120316F-D67B-4A4C-A171-E0D5F1F434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8372" y="1516394"/>
            <a:ext cx="1571625" cy="23812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A064797-897F-4846-AEE7-C60817B71C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1291" y="2145660"/>
            <a:ext cx="1068371" cy="21677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A1C74D1-DE11-E642-81A4-241B3B3708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6932" y="2615090"/>
            <a:ext cx="2144483" cy="21677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3484766-1CF6-7E48-AB8B-E45971799E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6931" y="3046630"/>
            <a:ext cx="1950938" cy="23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7107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Bayes’ rule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6085211" y="1063228"/>
            <a:ext cx="0" cy="232543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891275" y="1110122"/>
            <a:ext cx="116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likelihood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9208" y="1106033"/>
            <a:ext cx="712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prior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5600" y="1110122"/>
            <a:ext cx="113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posterior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0424" y="2085432"/>
            <a:ext cx="5153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0.9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209" y="2085432"/>
            <a:ext cx="5153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0.45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0262" y="2085432"/>
            <a:ext cx="158973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0.405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9209" y="2554845"/>
            <a:ext cx="5153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0.45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78655" y="2556458"/>
            <a:ext cx="80381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     0.1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0262" y="2554845"/>
            <a:ext cx="158973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0.045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0424" y="3024258"/>
            <a:ext cx="5153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0.9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9209" y="3024258"/>
            <a:ext cx="5153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0.1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2880" y="3024258"/>
            <a:ext cx="161777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0.090</a:t>
            </a:r>
          </a:p>
        </p:txBody>
      </p:sp>
      <p:cxnSp>
        <p:nvCxnSpPr>
          <p:cNvPr id="48" name="Straight Connector 47"/>
          <p:cNvCxnSpPr/>
          <p:nvPr/>
        </p:nvCxnSpPr>
        <p:spPr>
          <a:xfrm>
            <a:off x="1336504" y="3388659"/>
            <a:ext cx="6321596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450804" y="1871093"/>
            <a:ext cx="6321596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330262" y="1063229"/>
            <a:ext cx="1589735" cy="2241256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3" name="TextBox 52"/>
          <p:cNvSpPr txBox="1"/>
          <p:nvPr/>
        </p:nvSpPr>
        <p:spPr>
          <a:xfrm>
            <a:off x="1396932" y="3663982"/>
            <a:ext cx="6398924" cy="715581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350" dirty="0"/>
              <a:t>To get actual posterior, you divide each of these by their sum (</a:t>
            </a:r>
            <a:r>
              <a:rPr lang="en-US" sz="1350" i="1" dirty="0"/>
              <a:t>normalization</a:t>
            </a:r>
            <a:r>
              <a:rPr lang="en-US" sz="1350" dirty="0"/>
              <a:t>)</a:t>
            </a:r>
            <a:r>
              <a:rPr lang="en-US" sz="1350" i="1" dirty="0"/>
              <a:t>.</a:t>
            </a:r>
          </a:p>
          <a:p>
            <a:endParaRPr lang="en-US" sz="1350" i="1" dirty="0"/>
          </a:p>
          <a:p>
            <a:r>
              <a:rPr lang="en-US" sz="1350" dirty="0"/>
              <a:t>0.405 + 0.045 + 0.090 = 0.54</a:t>
            </a:r>
          </a:p>
        </p:txBody>
      </p:sp>
      <p:cxnSp>
        <p:nvCxnSpPr>
          <p:cNvPr id="55" name="Straight Arrow Connector 54"/>
          <p:cNvCxnSpPr>
            <a:stCxn id="52" idx="2"/>
          </p:cNvCxnSpPr>
          <p:nvPr/>
        </p:nvCxnSpPr>
        <p:spPr>
          <a:xfrm>
            <a:off x="7125130" y="3304484"/>
            <a:ext cx="21914" cy="359498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330" y="1553443"/>
            <a:ext cx="123825" cy="12382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9459C6B-7E1B-B647-9481-16D4E48DD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743" y="1517057"/>
            <a:ext cx="619125" cy="23812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9BECD81-C6BF-B34B-B7E6-4B879AC9D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0773" y="1516394"/>
            <a:ext cx="447675" cy="23812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DC1660C-8058-6B4D-947D-1E5197C3B5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8372" y="1516394"/>
            <a:ext cx="1571625" cy="23812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62AFB72-DDCC-5444-8F1B-58B821BE7D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1291" y="2145660"/>
            <a:ext cx="1068371" cy="216771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D711924-5328-9B43-AA13-0DFECC8E31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6932" y="2615090"/>
            <a:ext cx="2144483" cy="21677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8EA67F30-59EB-544D-B40A-99E0F7F58E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6931" y="3046630"/>
            <a:ext cx="1950938" cy="23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892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5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Bayes’ rule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6085211" y="1063228"/>
            <a:ext cx="0" cy="232543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891275" y="1110122"/>
            <a:ext cx="116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likelihood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9208" y="1106033"/>
            <a:ext cx="749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prior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5600" y="1110122"/>
            <a:ext cx="113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posterior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0424" y="2085432"/>
            <a:ext cx="5153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0.9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209" y="2085432"/>
            <a:ext cx="5153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0.45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0262" y="2085432"/>
            <a:ext cx="158973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0.405/0.54 = 0.75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9209" y="2554845"/>
            <a:ext cx="5153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0.45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78655" y="2556458"/>
            <a:ext cx="80381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     0.1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0262" y="2554845"/>
            <a:ext cx="158973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0.045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0424" y="3024258"/>
            <a:ext cx="5153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0.9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9209" y="3024258"/>
            <a:ext cx="5153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0.1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2880" y="3024258"/>
            <a:ext cx="161777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0.090</a:t>
            </a:r>
          </a:p>
        </p:txBody>
      </p:sp>
      <p:cxnSp>
        <p:nvCxnSpPr>
          <p:cNvPr id="48" name="Straight Connector 47"/>
          <p:cNvCxnSpPr/>
          <p:nvPr/>
        </p:nvCxnSpPr>
        <p:spPr>
          <a:xfrm>
            <a:off x="1336504" y="3388659"/>
            <a:ext cx="6321596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450804" y="1871093"/>
            <a:ext cx="6321596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330262" y="1063229"/>
            <a:ext cx="1589735" cy="2241256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3" name="TextBox 52"/>
          <p:cNvSpPr txBox="1"/>
          <p:nvPr/>
        </p:nvSpPr>
        <p:spPr>
          <a:xfrm>
            <a:off x="1396932" y="3663982"/>
            <a:ext cx="6398924" cy="715581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350" dirty="0"/>
              <a:t>To get actual posterior, you divide each of these by their sum (</a:t>
            </a:r>
            <a:r>
              <a:rPr lang="en-US" sz="1350" i="1" dirty="0"/>
              <a:t>normalization</a:t>
            </a:r>
            <a:r>
              <a:rPr lang="en-US" sz="1350" dirty="0"/>
              <a:t>)</a:t>
            </a:r>
            <a:r>
              <a:rPr lang="en-US" sz="1350" i="1" dirty="0"/>
              <a:t>.</a:t>
            </a:r>
          </a:p>
          <a:p>
            <a:endParaRPr lang="en-US" sz="1350" i="1" dirty="0"/>
          </a:p>
          <a:p>
            <a:r>
              <a:rPr lang="en-US" sz="1350" dirty="0"/>
              <a:t>0.405 + 0.045 + 0.090 = 0.54</a:t>
            </a:r>
          </a:p>
        </p:txBody>
      </p:sp>
      <p:cxnSp>
        <p:nvCxnSpPr>
          <p:cNvPr id="55" name="Straight Arrow Connector 54"/>
          <p:cNvCxnSpPr>
            <a:stCxn id="52" idx="2"/>
          </p:cNvCxnSpPr>
          <p:nvPr/>
        </p:nvCxnSpPr>
        <p:spPr>
          <a:xfrm>
            <a:off x="7125130" y="3304484"/>
            <a:ext cx="21914" cy="359498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330" y="1553443"/>
            <a:ext cx="123825" cy="12382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CD883F6-CCD7-C04C-A4DE-AB0AD33C3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743" y="1517057"/>
            <a:ext cx="619125" cy="23812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A435060-B0D9-B04D-AD87-04846913A6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0773" y="1516394"/>
            <a:ext cx="447675" cy="23812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DB32156-EF5A-A24F-84FA-A8BAE69B11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8372" y="1516394"/>
            <a:ext cx="1571625" cy="23812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7FACF0F-4CD3-894F-810E-CECB8FCED0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1291" y="2145660"/>
            <a:ext cx="1068371" cy="216771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DA90DBA-0EAD-E844-A654-98DC3A7D50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6932" y="2615090"/>
            <a:ext cx="2144483" cy="21677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000197A8-B79D-2745-8720-1D4F9AA6ED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6931" y="3046630"/>
            <a:ext cx="1950938" cy="23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3970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Bayes’ rule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6085211" y="1063228"/>
            <a:ext cx="0" cy="232543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891275" y="1110122"/>
            <a:ext cx="116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likelihood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9208" y="1106033"/>
            <a:ext cx="669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prior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5600" y="1110122"/>
            <a:ext cx="113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posterior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0424" y="2085432"/>
            <a:ext cx="5153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0.9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209" y="2085432"/>
            <a:ext cx="5153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0.45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0262" y="2085432"/>
            <a:ext cx="158973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0.405/0.54 = 0.75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9209" y="2554845"/>
            <a:ext cx="5153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0.45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78655" y="2556458"/>
            <a:ext cx="80381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     0.1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0262" y="2554845"/>
            <a:ext cx="158973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0.045/0.54 = 0.083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0424" y="3024258"/>
            <a:ext cx="5153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0.9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9209" y="3024258"/>
            <a:ext cx="5153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0.1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2880" y="3024258"/>
            <a:ext cx="161777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0.090/0.54 = 0.167 </a:t>
            </a:r>
          </a:p>
        </p:txBody>
      </p:sp>
      <p:cxnSp>
        <p:nvCxnSpPr>
          <p:cNvPr id="48" name="Straight Connector 47"/>
          <p:cNvCxnSpPr/>
          <p:nvPr/>
        </p:nvCxnSpPr>
        <p:spPr>
          <a:xfrm>
            <a:off x="1336504" y="3388659"/>
            <a:ext cx="6321596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450804" y="1871093"/>
            <a:ext cx="6321596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330262" y="1063229"/>
            <a:ext cx="1589735" cy="2241256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3" name="TextBox 52"/>
          <p:cNvSpPr txBox="1"/>
          <p:nvPr/>
        </p:nvSpPr>
        <p:spPr>
          <a:xfrm>
            <a:off x="1396932" y="3663982"/>
            <a:ext cx="6398924" cy="715581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350" dirty="0"/>
              <a:t>To get actual posterior, you divide each of these by their sum (</a:t>
            </a:r>
            <a:r>
              <a:rPr lang="en-US" sz="1350" i="1" dirty="0"/>
              <a:t>normalization</a:t>
            </a:r>
            <a:r>
              <a:rPr lang="en-US" sz="1350" dirty="0"/>
              <a:t>)</a:t>
            </a:r>
            <a:r>
              <a:rPr lang="en-US" sz="1350" i="1" dirty="0"/>
              <a:t>.</a:t>
            </a:r>
          </a:p>
          <a:p>
            <a:endParaRPr lang="en-US" sz="1350" i="1" dirty="0"/>
          </a:p>
          <a:p>
            <a:r>
              <a:rPr lang="en-US" sz="1350" dirty="0"/>
              <a:t>0.405 + 0.045 + 0.090 = 0.54</a:t>
            </a:r>
          </a:p>
        </p:txBody>
      </p:sp>
      <p:cxnSp>
        <p:nvCxnSpPr>
          <p:cNvPr id="55" name="Straight Arrow Connector 54"/>
          <p:cNvCxnSpPr>
            <a:stCxn id="52" idx="2"/>
          </p:cNvCxnSpPr>
          <p:nvPr/>
        </p:nvCxnSpPr>
        <p:spPr>
          <a:xfrm>
            <a:off x="7125130" y="3304484"/>
            <a:ext cx="21914" cy="359498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330" y="1553443"/>
            <a:ext cx="123825" cy="12382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0B52F79-D58F-224B-9AA8-600A35FF3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743" y="1517057"/>
            <a:ext cx="619125" cy="23812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D265108-E9F9-4E40-B128-2377F4468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0773" y="1516394"/>
            <a:ext cx="447675" cy="23812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3791B0B-1EEA-9549-A18C-2F4063BD86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8372" y="1516394"/>
            <a:ext cx="1571625" cy="23812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1FAD57B1-D6F0-4943-9344-1F76FE97E1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1291" y="2145660"/>
            <a:ext cx="1068371" cy="216771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E5F486E7-AFB6-D541-B210-8C67305D38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6932" y="2615090"/>
            <a:ext cx="2144483" cy="21677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B490CDC-1934-2D44-8C16-434999321F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6931" y="3046630"/>
            <a:ext cx="1950938" cy="23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3106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72628"/>
            <a:ext cx="6172200" cy="613172"/>
          </a:xfrm>
        </p:spPr>
        <p:txBody>
          <a:bodyPr>
            <a:normAutofit fontScale="90000"/>
          </a:bodyPr>
          <a:lstStyle/>
          <a:p>
            <a:r>
              <a:rPr lang="en-US" dirty="0"/>
              <a:t>Bayes’ rule</a:t>
            </a:r>
          </a:p>
        </p:txBody>
      </p:sp>
      <p:pic>
        <p:nvPicPr>
          <p:cNvPr id="4" name="Picture 3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525" y="1147762"/>
            <a:ext cx="4285384" cy="4810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00325" y="802928"/>
            <a:ext cx="1032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Posterior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10075" y="801514"/>
            <a:ext cx="1095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likelihood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4420" y="801514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prior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4155" y="1790701"/>
            <a:ext cx="6553020" cy="31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i="1" dirty="0">
                <a:latin typeface="Times New Roman"/>
                <a:cs typeface="Times New Roman"/>
              </a:rPr>
              <a:t>h</a:t>
            </a:r>
            <a:r>
              <a:rPr lang="en-US" sz="2100" i="1" dirty="0"/>
              <a:t> </a:t>
            </a:r>
            <a:r>
              <a:rPr lang="en-US" sz="2100" dirty="0"/>
              <a:t>can be... the</a:t>
            </a:r>
          </a:p>
          <a:p>
            <a:r>
              <a:rPr lang="en-US" sz="2100" dirty="0"/>
              <a:t>	Height of an object</a:t>
            </a:r>
          </a:p>
          <a:p>
            <a:r>
              <a:rPr lang="en-US" sz="2100" dirty="0"/>
              <a:t>	Sound produced by a speaker</a:t>
            </a:r>
          </a:p>
          <a:p>
            <a:r>
              <a:rPr lang="en-US" sz="2100" dirty="0"/>
              <a:t>	Time for an event to complete</a:t>
            </a:r>
          </a:p>
          <a:p>
            <a:r>
              <a:rPr lang="en-US" sz="2100" dirty="0"/>
              <a:t>	Graduate student specialization</a:t>
            </a:r>
          </a:p>
          <a:p>
            <a:r>
              <a:rPr lang="en-US" sz="2100" dirty="0"/>
              <a:t>	Engineer/Lawyer</a:t>
            </a:r>
          </a:p>
          <a:p>
            <a:r>
              <a:rPr lang="en-US" sz="2100" dirty="0"/>
              <a:t>	GPA of student</a:t>
            </a:r>
          </a:p>
          <a:p>
            <a:endParaRPr lang="en-US" sz="1050" dirty="0"/>
          </a:p>
          <a:p>
            <a:r>
              <a:rPr lang="en-US" sz="2100" dirty="0"/>
              <a:t>Why is this controversial as a framework for studying the mind?</a:t>
            </a:r>
          </a:p>
        </p:txBody>
      </p:sp>
    </p:spTree>
    <p:extLst>
      <p:ext uri="{BB962C8B-B14F-4D97-AF65-F5344CB8AC3E}">
        <p14:creationId xmlns:p14="http://schemas.microsoft.com/office/powerpoint/2010/main" val="17001210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rame_m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233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502920"/>
            <a:ext cx="5843016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7315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Helvetica Neue"/>
              </a:rPr>
              <a:t>The Kahneman–Tversky cab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28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37167" y="323193"/>
            <a:ext cx="6597422" cy="4209393"/>
          </a:xfrm>
        </p:spPr>
        <p:txBody>
          <a:bodyPr>
            <a:normAutofit fontScale="92500" lnSpcReduction="10000"/>
          </a:bodyPr>
          <a:lstStyle/>
          <a:p>
            <a:pPr marL="553641" lvl="1" indent="-10716">
              <a:buNone/>
            </a:pPr>
            <a:r>
              <a:rPr lang="en-US" sz="2025" dirty="0">
                <a:latin typeface="Calibri"/>
                <a:ea typeface="ＭＳ Ｐゴシック" charset="0"/>
                <a:cs typeface="Calibri"/>
              </a:rPr>
              <a:t>Two cab companies operate in a given city, the Blue and the Green (according to the color of cab they run). </a:t>
            </a:r>
          </a:p>
          <a:p>
            <a:pPr marL="553641" lvl="1" indent="-10716">
              <a:buNone/>
            </a:pPr>
            <a:endParaRPr lang="en-US" sz="2025" dirty="0">
              <a:latin typeface="Calibri"/>
              <a:ea typeface="ＭＳ Ｐゴシック" charset="0"/>
              <a:cs typeface="Calibri"/>
            </a:endParaRPr>
          </a:p>
          <a:p>
            <a:pPr marL="553641" lvl="1" indent="-10716">
              <a:buNone/>
            </a:pPr>
            <a:r>
              <a:rPr lang="en-US" sz="2025" dirty="0">
                <a:latin typeface="Calibri"/>
                <a:ea typeface="ＭＳ Ｐゴシック" charset="0"/>
                <a:cs typeface="Calibri"/>
              </a:rPr>
              <a:t>85% of the cabs in the city are Green, </a:t>
            </a:r>
          </a:p>
          <a:p>
            <a:pPr marL="553641" lvl="1" indent="-10716">
              <a:buNone/>
            </a:pPr>
            <a:r>
              <a:rPr lang="en-US" sz="2025" dirty="0">
                <a:latin typeface="Calibri"/>
                <a:ea typeface="ＭＳ Ｐゴシック" charset="0"/>
                <a:cs typeface="Calibri"/>
              </a:rPr>
              <a:t>and the remaining 15% are Blue.</a:t>
            </a:r>
          </a:p>
          <a:p>
            <a:pPr marL="553641" lvl="1" indent="-10716">
              <a:buNone/>
            </a:pPr>
            <a:endParaRPr lang="en-US" sz="2025" dirty="0">
              <a:latin typeface="Calibri"/>
              <a:ea typeface="ＭＳ Ｐゴシック" charset="0"/>
              <a:cs typeface="Calibri"/>
            </a:endParaRPr>
          </a:p>
          <a:p>
            <a:pPr marL="553641" lvl="1" indent="-10716">
              <a:buNone/>
            </a:pPr>
            <a:r>
              <a:rPr lang="en-US" sz="2025" dirty="0">
                <a:latin typeface="Calibri"/>
                <a:ea typeface="ＭＳ Ｐゴシック" charset="0"/>
                <a:cs typeface="Calibri"/>
              </a:rPr>
              <a:t>A cab was involved in a hit-and-run at night.</a:t>
            </a:r>
          </a:p>
          <a:p>
            <a:pPr marL="553641" lvl="1" indent="-10716">
              <a:buNone/>
            </a:pPr>
            <a:r>
              <a:rPr lang="en-US" sz="2025" dirty="0">
                <a:latin typeface="Calibri"/>
                <a:ea typeface="ＭＳ Ｐゴシック" charset="0"/>
                <a:cs typeface="Calibri"/>
              </a:rPr>
              <a:t>There was a witness.</a:t>
            </a:r>
          </a:p>
          <a:p>
            <a:pPr marL="553641" lvl="1" indent="-10716">
              <a:buNone/>
            </a:pPr>
            <a:r>
              <a:rPr lang="en-US" sz="2025" dirty="0">
                <a:ea typeface="ＭＳ Ｐゴシック" charset="0"/>
                <a:cs typeface="Calibri"/>
              </a:rPr>
              <a:t>The witness is able to correctly identify the color of a cab at night 80% of the time.</a:t>
            </a:r>
            <a:endParaRPr lang="en-US" sz="2025" dirty="0">
              <a:latin typeface="Calibri"/>
              <a:ea typeface="ＭＳ Ｐゴシック" charset="0"/>
              <a:cs typeface="Calibri"/>
            </a:endParaRPr>
          </a:p>
          <a:p>
            <a:pPr marL="553641" lvl="1" indent="-10716">
              <a:buNone/>
            </a:pPr>
            <a:r>
              <a:rPr lang="en-US" sz="2025" dirty="0">
                <a:latin typeface="Calibri"/>
                <a:ea typeface="ＭＳ Ｐゴシック" charset="0"/>
                <a:cs typeface="Calibri"/>
              </a:rPr>
              <a:t>A witness identifies the cab as a Blue cab.</a:t>
            </a:r>
          </a:p>
          <a:p>
            <a:pPr marL="553641" lvl="1" indent="-10716">
              <a:buNone/>
            </a:pPr>
            <a:r>
              <a:rPr lang="en-US" sz="2325" dirty="0">
                <a:latin typeface="Calibri"/>
                <a:ea typeface="ＭＳ Ｐゴシック" charset="0"/>
                <a:cs typeface="Calibri"/>
              </a:rPr>
              <a:t>   </a:t>
            </a:r>
          </a:p>
          <a:p>
            <a:pPr marL="553641" lvl="1" indent="-10716">
              <a:buNone/>
            </a:pPr>
            <a:r>
              <a:rPr lang="en-US" sz="2025" dirty="0">
                <a:latin typeface="Calibri"/>
                <a:ea typeface="ＭＳ Ｐゴシック" charset="0"/>
                <a:cs typeface="Calibri"/>
              </a:rPr>
              <a:t>What is the probability that the cab is Blue?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69038" y="4857750"/>
            <a:ext cx="346657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dirty="0"/>
              <a:t>(</a:t>
            </a:r>
            <a:r>
              <a:rPr lang="en-US" sz="1350" dirty="0" err="1"/>
              <a:t>Kahneman</a:t>
            </a:r>
            <a:r>
              <a:rPr lang="en-US" sz="1350" dirty="0"/>
              <a:t> &amp; </a:t>
            </a:r>
            <a:r>
              <a:rPr lang="en-US" sz="1350" dirty="0" err="1"/>
              <a:t>Tversky</a:t>
            </a:r>
            <a:r>
              <a:rPr lang="en-US" sz="1350" dirty="0"/>
              <a:t>, 1972; Bar-Hillel, 1980)</a:t>
            </a:r>
          </a:p>
        </p:txBody>
      </p:sp>
    </p:spTree>
    <p:extLst>
      <p:ext uri="{BB962C8B-B14F-4D97-AF65-F5344CB8AC3E}">
        <p14:creationId xmlns:p14="http://schemas.microsoft.com/office/powerpoint/2010/main" val="274016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382937" y="146218"/>
            <a:ext cx="6172200" cy="574819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chemeClr val="tx1"/>
                </a:solidFill>
                <a:latin typeface="Calibri"/>
                <a:ea typeface="ＭＳ Ｐゴシック" charset="0"/>
                <a:cs typeface="Calibri"/>
              </a:rPr>
              <a:t>Base-rate neglect</a:t>
            </a:r>
            <a:endParaRPr lang="en-US" b="1" u="sng" dirty="0">
              <a:solidFill>
                <a:schemeClr val="tx1"/>
              </a:solidFill>
              <a:latin typeface="Calibri"/>
              <a:ea typeface="ＭＳ Ｐゴシック" charset="0"/>
              <a:cs typeface="Calibri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4468" y="1503352"/>
            <a:ext cx="4086091" cy="26112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9038" y="4857750"/>
            <a:ext cx="346657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dirty="0"/>
              <a:t>(</a:t>
            </a:r>
            <a:r>
              <a:rPr lang="en-US" sz="1350" dirty="0" err="1"/>
              <a:t>Kahneman</a:t>
            </a:r>
            <a:r>
              <a:rPr lang="en-US" sz="1350" dirty="0"/>
              <a:t> &amp; </a:t>
            </a:r>
            <a:r>
              <a:rPr lang="en-US" sz="1350" dirty="0" err="1"/>
              <a:t>Tversky</a:t>
            </a:r>
            <a:r>
              <a:rPr lang="en-US" sz="1350" dirty="0"/>
              <a:t>, 1972; Bar-Hillel, 1980)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5900" y="4114620"/>
            <a:ext cx="617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Medical doctors/residents also fail at this, even in the context of medical diagnosis (</a:t>
            </a:r>
            <a:r>
              <a:rPr lang="en-US" dirty="0" err="1"/>
              <a:t>Casscells</a:t>
            </a:r>
            <a:r>
              <a:rPr lang="en-US" dirty="0"/>
              <a:t>, </a:t>
            </a:r>
            <a:r>
              <a:rPr lang="en-US" dirty="0" err="1"/>
              <a:t>Schoenberger</a:t>
            </a:r>
            <a:r>
              <a:rPr lang="en-US" dirty="0"/>
              <a:t>, &amp; </a:t>
            </a:r>
            <a:r>
              <a:rPr lang="en-US" dirty="0" err="1"/>
              <a:t>Grayboys</a:t>
            </a:r>
            <a:r>
              <a:rPr lang="en-US" dirty="0"/>
              <a:t>, 1978).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022336" y="2708941"/>
            <a:ext cx="241891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dirty="0"/>
              <a:t>Correct Answer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F7CFBB-5BB7-851F-2106-551A48F413A8}"/>
              </a:ext>
            </a:extLst>
          </p:cNvPr>
          <p:cNvSpPr txBox="1"/>
          <p:nvPr/>
        </p:nvSpPr>
        <p:spPr>
          <a:xfrm>
            <a:off x="1279974" y="927700"/>
            <a:ext cx="63781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Participants report the </a:t>
            </a:r>
            <a:r>
              <a:rPr lang="en-US" sz="1500" b="1" dirty="0"/>
              <a:t>likelihood </a:t>
            </a:r>
            <a:r>
              <a:rPr lang="en-US" sz="1500" dirty="0"/>
              <a:t>and neglect integrating the </a:t>
            </a:r>
            <a:r>
              <a:rPr lang="en-US" sz="1500" b="1" dirty="0"/>
              <a:t>prior.</a:t>
            </a:r>
          </a:p>
          <a:p>
            <a:r>
              <a:rPr lang="en-US" sz="1500" b="1" dirty="0"/>
              <a:t>Remember that they should be multiplied together… (0.8 x 0.15 is numerator)</a:t>
            </a:r>
          </a:p>
        </p:txBody>
      </p:sp>
    </p:spTree>
    <p:extLst>
      <p:ext uri="{BB962C8B-B14F-4D97-AF65-F5344CB8AC3E}">
        <p14:creationId xmlns:p14="http://schemas.microsoft.com/office/powerpoint/2010/main" val="737038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850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272877"/>
            <a:ext cx="6172200" cy="525943"/>
          </a:xfrm>
        </p:spPr>
        <p:txBody>
          <a:bodyPr>
            <a:normAutofit fontScale="90000"/>
          </a:bodyPr>
          <a:lstStyle/>
          <a:p>
            <a:r>
              <a:rPr lang="en-US" dirty="0"/>
              <a:t>Heuristics and biases</a:t>
            </a:r>
          </a:p>
        </p:txBody>
      </p:sp>
      <p:pic>
        <p:nvPicPr>
          <p:cNvPr id="9748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7070" y="1189299"/>
            <a:ext cx="1643259" cy="2186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97485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8605" y="1195086"/>
            <a:ext cx="1772504" cy="2163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974855" name="Text Box 7"/>
          <p:cNvSpPr txBox="1">
            <a:spLocks noChangeArrowheads="1"/>
          </p:cNvSpPr>
          <p:nvPr/>
        </p:nvSpPr>
        <p:spPr bwMode="auto">
          <a:xfrm>
            <a:off x="1758619" y="3396942"/>
            <a:ext cx="2318263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100" dirty="0">
                <a:latin typeface="Arial" charset="0"/>
              </a:rPr>
              <a:t>Daniel </a:t>
            </a:r>
            <a:r>
              <a:rPr lang="en-US" sz="2100" dirty="0" err="1">
                <a:latin typeface="Arial" charset="0"/>
              </a:rPr>
              <a:t>Kahneman</a:t>
            </a:r>
            <a:endParaRPr lang="en-US" sz="2100" dirty="0">
              <a:latin typeface="Arial" charset="0"/>
            </a:endParaRPr>
          </a:p>
        </p:txBody>
      </p:sp>
      <p:sp>
        <p:nvSpPr>
          <p:cNvPr id="974856" name="Text Box 8"/>
          <p:cNvSpPr txBox="1">
            <a:spLocks noChangeArrowheads="1"/>
          </p:cNvSpPr>
          <p:nvPr/>
        </p:nvSpPr>
        <p:spPr bwMode="auto">
          <a:xfrm>
            <a:off x="5143500" y="3396942"/>
            <a:ext cx="1885388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100">
                <a:latin typeface="Arial" charset="0"/>
              </a:rPr>
              <a:t>Amos Tversky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485901" y="3796303"/>
            <a:ext cx="299586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Won Nobel prize in economics despite never taking a single course!</a:t>
            </a:r>
          </a:p>
          <a:p>
            <a:r>
              <a:rPr lang="en-US" sz="1500" dirty="0"/>
              <a:t>101</a:t>
            </a:r>
            <a:r>
              <a:rPr lang="en-US" sz="1500" baseline="30000" dirty="0"/>
              <a:t>st</a:t>
            </a:r>
            <a:r>
              <a:rPr lang="en-US" sz="1500" dirty="0"/>
              <a:t> greatest Israeli ever!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7109" y="3796303"/>
            <a:ext cx="29958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MacArthur Genius Fellowship and many other awards.</a:t>
            </a:r>
          </a:p>
          <a:p>
            <a:r>
              <a:rPr lang="en-US" sz="1500" dirty="0"/>
              <a:t>Would’ve won Nobel prize too if he hadn’t passed away in 1990s.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2272" y="734516"/>
            <a:ext cx="2478980" cy="37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075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C2F1F-3596-3705-5177-838BD05BE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443" y="0"/>
            <a:ext cx="8229600" cy="1143000"/>
          </a:xfrm>
        </p:spPr>
        <p:txBody>
          <a:bodyPr/>
          <a:lstStyle/>
          <a:p>
            <a:r>
              <a:rPr lang="en-US" dirty="0"/>
              <a:t>Heuristics and Biases for Cognition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B13F4-0763-5978-675F-134184400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443" y="1325562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Our cognition (incl. maps) tend to be accurate</a:t>
            </a:r>
          </a:p>
          <a:p>
            <a:r>
              <a:rPr lang="en-US" sz="2400" dirty="0"/>
              <a:t>Errors usually reflect using reasonable strategies that are inappropriate in situations that are not ecologically valid.</a:t>
            </a:r>
          </a:p>
          <a:p>
            <a:pPr lvl="1"/>
            <a:r>
              <a:rPr lang="en-US" sz="2000" b="1" dirty="0"/>
              <a:t>Bias </a:t>
            </a:r>
            <a:r>
              <a:rPr lang="en-US" sz="2000" dirty="0"/>
              <a:t>is knowledge that produces </a:t>
            </a:r>
            <a:r>
              <a:rPr lang="en-US" sz="2000" b="1" dirty="0"/>
              <a:t>errors </a:t>
            </a:r>
            <a:r>
              <a:rPr lang="en-US" sz="2000" dirty="0"/>
              <a:t>because it is used by the mind when it may or may not be appropriate or applicable.</a:t>
            </a:r>
          </a:p>
          <a:p>
            <a:r>
              <a:rPr lang="en-US" sz="2400" dirty="0"/>
              <a:t>A </a:t>
            </a:r>
            <a:r>
              <a:rPr lang="en-US" sz="2400" b="1" dirty="0"/>
              <a:t>heuristic </a:t>
            </a:r>
            <a:r>
              <a:rPr lang="en-US" sz="2400" dirty="0"/>
              <a:t>a rule of thumb or general problem-solving strategy that typically provides good solutions, but may contain biases.</a:t>
            </a:r>
            <a:endParaRPr lang="en-US" sz="2400" b="1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372799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143000" y="202552"/>
            <a:ext cx="6858000" cy="829721"/>
          </a:xfrm>
        </p:spPr>
        <p:txBody>
          <a:bodyPr>
            <a:noAutofit/>
          </a:bodyPr>
          <a:lstStyle/>
          <a:p>
            <a:pPr eaLnBrk="1" hangingPunct="1"/>
            <a:r>
              <a:rPr lang="en-US" sz="2550" dirty="0">
                <a:latin typeface="Calibri"/>
                <a:ea typeface="ＭＳ Ｐゴシック" charset="0"/>
                <a:cs typeface="Calibri"/>
              </a:rPr>
              <a:t>Getting the correct answer: </a:t>
            </a:r>
            <a:br>
              <a:rPr lang="en-US" sz="2550" dirty="0">
                <a:latin typeface="Calibri"/>
                <a:ea typeface="ＭＳ Ｐゴシック" charset="0"/>
                <a:cs typeface="Calibri"/>
              </a:rPr>
            </a:br>
            <a:r>
              <a:rPr lang="en-US" sz="2550" dirty="0">
                <a:latin typeface="Calibri"/>
                <a:ea typeface="ＭＳ Ｐゴシック" charset="0"/>
                <a:cs typeface="Calibri"/>
              </a:rPr>
              <a:t>Depicting the situation (Witness said blue)</a:t>
            </a:r>
          </a:p>
        </p:txBody>
      </p:sp>
      <p:sp>
        <p:nvSpPr>
          <p:cNvPr id="18435" name="Rectangle 4"/>
          <p:cNvSpPr>
            <a:spLocks noChangeArrowheads="1"/>
          </p:cNvSpPr>
          <p:nvPr/>
        </p:nvSpPr>
        <p:spPr bwMode="auto">
          <a:xfrm>
            <a:off x="1590347" y="1403409"/>
            <a:ext cx="4343400" cy="3257550"/>
          </a:xfrm>
          <a:prstGeom prst="rect">
            <a:avLst/>
          </a:prstGeom>
          <a:solidFill>
            <a:srgbClr val="008000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950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5933747" y="1403409"/>
            <a:ext cx="1428750" cy="32575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950"/>
          </a:p>
        </p:txBody>
      </p:sp>
      <p:sp>
        <p:nvSpPr>
          <p:cNvPr id="18437" name="TextBox 6"/>
          <p:cNvSpPr txBox="1">
            <a:spLocks noChangeArrowheads="1"/>
          </p:cNvSpPr>
          <p:nvPr/>
        </p:nvSpPr>
        <p:spPr bwMode="auto">
          <a:xfrm>
            <a:off x="2447597" y="2432110"/>
            <a:ext cx="2026517" cy="39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950"/>
              <a:t>Green cabs = 85%</a:t>
            </a:r>
          </a:p>
        </p:txBody>
      </p:sp>
      <p:sp>
        <p:nvSpPr>
          <p:cNvPr id="18438" name="TextBox 7"/>
          <p:cNvSpPr txBox="1">
            <a:spLocks noChangeArrowheads="1"/>
          </p:cNvSpPr>
          <p:nvPr/>
        </p:nvSpPr>
        <p:spPr bwMode="auto">
          <a:xfrm>
            <a:off x="6105196" y="2374959"/>
            <a:ext cx="1139429" cy="992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950"/>
              <a:t>Blue cabs = 15%</a:t>
            </a:r>
          </a:p>
        </p:txBody>
      </p:sp>
      <p:cxnSp>
        <p:nvCxnSpPr>
          <p:cNvPr id="18439" name="Straight Connector 10"/>
          <p:cNvCxnSpPr>
            <a:cxnSpLocks noChangeShapeType="1"/>
          </p:cNvCxnSpPr>
          <p:nvPr/>
        </p:nvCxnSpPr>
        <p:spPr bwMode="auto">
          <a:xfrm>
            <a:off x="1590347" y="3918009"/>
            <a:ext cx="5772150" cy="5715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8440" name="Straight Connector 12"/>
          <p:cNvCxnSpPr>
            <a:cxnSpLocks noChangeShapeType="1"/>
          </p:cNvCxnSpPr>
          <p:nvPr/>
        </p:nvCxnSpPr>
        <p:spPr bwMode="auto">
          <a:xfrm rot="16200000" flipH="1">
            <a:off x="1590347" y="3918009"/>
            <a:ext cx="742950" cy="742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8441" name="Straight Connector 16"/>
          <p:cNvCxnSpPr>
            <a:cxnSpLocks noChangeShapeType="1"/>
          </p:cNvCxnSpPr>
          <p:nvPr/>
        </p:nvCxnSpPr>
        <p:spPr bwMode="auto">
          <a:xfrm rot="16200000" flipH="1">
            <a:off x="2619047" y="3918009"/>
            <a:ext cx="742950" cy="742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8442" name="Straight Connector 17"/>
          <p:cNvCxnSpPr>
            <a:cxnSpLocks noChangeShapeType="1"/>
          </p:cNvCxnSpPr>
          <p:nvPr/>
        </p:nvCxnSpPr>
        <p:spPr bwMode="auto">
          <a:xfrm rot="16200000" flipH="1">
            <a:off x="3533447" y="3918009"/>
            <a:ext cx="742950" cy="742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8443" name="Straight Connector 18"/>
          <p:cNvCxnSpPr>
            <a:cxnSpLocks noChangeShapeType="1"/>
          </p:cNvCxnSpPr>
          <p:nvPr/>
        </p:nvCxnSpPr>
        <p:spPr bwMode="auto">
          <a:xfrm rot="16200000" flipH="1">
            <a:off x="4504997" y="3918009"/>
            <a:ext cx="742950" cy="742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8444" name="Straight Connector 19"/>
          <p:cNvCxnSpPr>
            <a:cxnSpLocks noChangeShapeType="1"/>
          </p:cNvCxnSpPr>
          <p:nvPr/>
        </p:nvCxnSpPr>
        <p:spPr bwMode="auto">
          <a:xfrm rot="16200000" flipH="1">
            <a:off x="5647997" y="3975159"/>
            <a:ext cx="685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8445" name="Straight Connector 20"/>
          <p:cNvCxnSpPr>
            <a:cxnSpLocks noChangeShapeType="1"/>
          </p:cNvCxnSpPr>
          <p:nvPr/>
        </p:nvCxnSpPr>
        <p:spPr bwMode="auto">
          <a:xfrm rot="16200000" flipH="1">
            <a:off x="6619547" y="3975159"/>
            <a:ext cx="685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8446" name="TextBox 22"/>
          <p:cNvSpPr txBox="1">
            <a:spLocks noChangeArrowheads="1"/>
          </p:cNvSpPr>
          <p:nvPr/>
        </p:nvSpPr>
        <p:spPr bwMode="auto">
          <a:xfrm>
            <a:off x="1590347" y="3517960"/>
            <a:ext cx="2458943" cy="39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950"/>
              <a:t>Witness correct = 80%</a:t>
            </a:r>
          </a:p>
        </p:txBody>
      </p:sp>
      <p:sp>
        <p:nvSpPr>
          <p:cNvPr id="18447" name="TextBox 23"/>
          <p:cNvSpPr txBox="1">
            <a:spLocks noChangeArrowheads="1"/>
          </p:cNvSpPr>
          <p:nvPr/>
        </p:nvSpPr>
        <p:spPr bwMode="auto">
          <a:xfrm>
            <a:off x="1704646" y="4032310"/>
            <a:ext cx="2652906" cy="39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950"/>
              <a:t>Witness incorrect = 20%</a:t>
            </a:r>
          </a:p>
        </p:txBody>
      </p:sp>
      <p:sp>
        <p:nvSpPr>
          <p:cNvPr id="2" name="Rectangle 1"/>
          <p:cNvSpPr/>
          <p:nvPr/>
        </p:nvSpPr>
        <p:spPr>
          <a:xfrm>
            <a:off x="5858154" y="1286506"/>
            <a:ext cx="1543050" cy="2776037"/>
          </a:xfrm>
          <a:prstGeom prst="rect">
            <a:avLst/>
          </a:prstGeom>
          <a:solidFill>
            <a:srgbClr val="FFFF00">
              <a:alpha val="52000"/>
            </a:srgbClr>
          </a:solidFill>
          <a:ln w="19050" cmpd="sng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Witness is right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14165" y="919309"/>
            <a:ext cx="533088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/>
              <a:t>Answer is area of yellow relative to area of red.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553578" y="3846457"/>
            <a:ext cx="4395287" cy="916919"/>
            <a:chOff x="789176" y="5475451"/>
            <a:chExt cx="5860382" cy="1222558"/>
          </a:xfrm>
        </p:grpSpPr>
        <p:sp>
          <p:nvSpPr>
            <p:cNvPr id="17" name="Rectangle 16"/>
            <p:cNvSpPr/>
            <p:nvPr/>
          </p:nvSpPr>
          <p:spPr>
            <a:xfrm rot="16200000">
              <a:off x="3108088" y="3156539"/>
              <a:ext cx="1222558" cy="5860382"/>
            </a:xfrm>
            <a:prstGeom prst="rect">
              <a:avLst/>
            </a:prstGeom>
            <a:solidFill>
              <a:srgbClr val="FF0000">
                <a:alpha val="34000"/>
              </a:srgbClr>
            </a:solidFill>
            <a:ln w="19050" cmpd="sng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4704242" y="5642630"/>
              <a:ext cx="1804210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Witness is wrong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3399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143000" y="121380"/>
            <a:ext cx="6858000" cy="610253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700" dirty="0">
                <a:latin typeface="Calibri"/>
                <a:ea typeface="ＭＳ Ｐゴシック" charset="0"/>
                <a:cs typeface="Calibri"/>
              </a:rPr>
              <a:t>Getting the correct answer: Another depiction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826" y="1064205"/>
            <a:ext cx="173758" cy="363443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337" y="1064205"/>
            <a:ext cx="173758" cy="363443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847" y="1064205"/>
            <a:ext cx="173758" cy="363443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358" y="1064205"/>
            <a:ext cx="173758" cy="363443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868" y="1064205"/>
            <a:ext cx="173758" cy="3634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21670" y="679273"/>
            <a:ext cx="3709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85 </a:t>
            </a:r>
            <a:r>
              <a:rPr lang="en-US"/>
              <a:t>of 100 Green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4478732" y="3826976"/>
            <a:ext cx="1535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15 </a:t>
            </a:r>
            <a:r>
              <a:rPr lang="en-US"/>
              <a:t>of 100 Blue</a:t>
            </a:r>
            <a:endParaRPr lang="en-US" dirty="0"/>
          </a:p>
        </p:txBody>
      </p:sp>
      <p:pic>
        <p:nvPicPr>
          <p:cNvPr id="74" name="Picture 7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829" y="1053712"/>
            <a:ext cx="173758" cy="363443"/>
          </a:xfrm>
          <a:prstGeom prst="rect">
            <a:avLst/>
          </a:prstGeom>
        </p:spPr>
      </p:pic>
      <p:pic>
        <p:nvPicPr>
          <p:cNvPr id="75" name="Picture 7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850" y="1053712"/>
            <a:ext cx="173758" cy="363443"/>
          </a:xfrm>
          <a:prstGeom prst="rect">
            <a:avLst/>
          </a:prstGeom>
        </p:spPr>
      </p:pic>
      <p:pic>
        <p:nvPicPr>
          <p:cNvPr id="76" name="Picture 7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871" y="1053712"/>
            <a:ext cx="173758" cy="363443"/>
          </a:xfrm>
          <a:prstGeom prst="rect">
            <a:avLst/>
          </a:prstGeom>
        </p:spPr>
      </p:pic>
      <p:pic>
        <p:nvPicPr>
          <p:cNvPr id="99" name="Picture 9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340" y="1064205"/>
            <a:ext cx="173758" cy="363443"/>
          </a:xfrm>
          <a:prstGeom prst="rect">
            <a:avLst/>
          </a:prstGeom>
        </p:spPr>
      </p:pic>
      <p:pic>
        <p:nvPicPr>
          <p:cNvPr id="100" name="Picture 9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361" y="1064205"/>
            <a:ext cx="173758" cy="363443"/>
          </a:xfrm>
          <a:prstGeom prst="rect">
            <a:avLst/>
          </a:prstGeom>
        </p:spPr>
      </p:pic>
      <p:pic>
        <p:nvPicPr>
          <p:cNvPr id="77" name="Picture 7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9343" y="1053712"/>
            <a:ext cx="173758" cy="363443"/>
          </a:xfrm>
          <a:prstGeom prst="rect">
            <a:avLst/>
          </a:prstGeom>
        </p:spPr>
      </p:pic>
      <p:pic>
        <p:nvPicPr>
          <p:cNvPr id="78" name="Picture 7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364" y="1053712"/>
            <a:ext cx="173758" cy="363443"/>
          </a:xfrm>
          <a:prstGeom prst="rect">
            <a:avLst/>
          </a:prstGeom>
        </p:spPr>
      </p:pic>
      <p:pic>
        <p:nvPicPr>
          <p:cNvPr id="101" name="Picture 10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832" y="1064205"/>
            <a:ext cx="173758" cy="363443"/>
          </a:xfrm>
          <a:prstGeom prst="rect">
            <a:avLst/>
          </a:prstGeom>
        </p:spPr>
      </p:pic>
      <p:pic>
        <p:nvPicPr>
          <p:cNvPr id="102" name="Picture 10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853" y="1064205"/>
            <a:ext cx="173758" cy="363443"/>
          </a:xfrm>
          <a:prstGeom prst="rect">
            <a:avLst/>
          </a:prstGeom>
        </p:spPr>
      </p:pic>
      <p:pic>
        <p:nvPicPr>
          <p:cNvPr id="103" name="Picture 10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0874" y="1064205"/>
            <a:ext cx="173758" cy="363443"/>
          </a:xfrm>
          <a:prstGeom prst="rect">
            <a:avLst/>
          </a:prstGeom>
        </p:spPr>
      </p:pic>
      <p:pic>
        <p:nvPicPr>
          <p:cNvPr id="124" name="Picture 1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346" y="1053712"/>
            <a:ext cx="173758" cy="363443"/>
          </a:xfrm>
          <a:prstGeom prst="rect">
            <a:avLst/>
          </a:prstGeom>
        </p:spPr>
      </p:pic>
      <p:pic>
        <p:nvPicPr>
          <p:cNvPr id="125" name="Picture 1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367" y="1053712"/>
            <a:ext cx="173758" cy="363443"/>
          </a:xfrm>
          <a:prstGeom prst="rect">
            <a:avLst/>
          </a:prstGeom>
        </p:spPr>
      </p:pic>
      <p:pic>
        <p:nvPicPr>
          <p:cNvPr id="126" name="Picture 1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835" y="1064205"/>
            <a:ext cx="173758" cy="363443"/>
          </a:xfrm>
          <a:prstGeom prst="rect">
            <a:avLst/>
          </a:prstGeom>
        </p:spPr>
      </p:pic>
      <p:pic>
        <p:nvPicPr>
          <p:cNvPr id="127" name="Picture 1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856" y="1064205"/>
            <a:ext cx="173758" cy="363443"/>
          </a:xfrm>
          <a:prstGeom prst="rect">
            <a:avLst/>
          </a:prstGeom>
        </p:spPr>
      </p:pic>
      <p:pic>
        <p:nvPicPr>
          <p:cNvPr id="128" name="Picture 12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877" y="1064205"/>
            <a:ext cx="173758" cy="363443"/>
          </a:xfrm>
          <a:prstGeom prst="rect">
            <a:avLst/>
          </a:prstGeom>
        </p:spPr>
      </p:pic>
      <p:pic>
        <p:nvPicPr>
          <p:cNvPr id="183" name="Picture 18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826" y="1649607"/>
            <a:ext cx="173758" cy="363443"/>
          </a:xfrm>
          <a:prstGeom prst="rect">
            <a:avLst/>
          </a:prstGeom>
        </p:spPr>
      </p:pic>
      <p:pic>
        <p:nvPicPr>
          <p:cNvPr id="184" name="Picture 18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337" y="1649607"/>
            <a:ext cx="173758" cy="363443"/>
          </a:xfrm>
          <a:prstGeom prst="rect">
            <a:avLst/>
          </a:prstGeom>
        </p:spPr>
      </p:pic>
      <p:pic>
        <p:nvPicPr>
          <p:cNvPr id="185" name="Picture 18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847" y="1649607"/>
            <a:ext cx="173758" cy="363443"/>
          </a:xfrm>
          <a:prstGeom prst="rect">
            <a:avLst/>
          </a:prstGeom>
        </p:spPr>
      </p:pic>
      <p:pic>
        <p:nvPicPr>
          <p:cNvPr id="186" name="Picture 18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358" y="1649607"/>
            <a:ext cx="173758" cy="363443"/>
          </a:xfrm>
          <a:prstGeom prst="rect">
            <a:avLst/>
          </a:prstGeom>
        </p:spPr>
      </p:pic>
      <p:pic>
        <p:nvPicPr>
          <p:cNvPr id="187" name="Picture 18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868" y="1649607"/>
            <a:ext cx="173758" cy="363443"/>
          </a:xfrm>
          <a:prstGeom prst="rect">
            <a:avLst/>
          </a:prstGeom>
        </p:spPr>
      </p:pic>
      <p:pic>
        <p:nvPicPr>
          <p:cNvPr id="189" name="Picture 18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829" y="1639114"/>
            <a:ext cx="173758" cy="363443"/>
          </a:xfrm>
          <a:prstGeom prst="rect">
            <a:avLst/>
          </a:prstGeom>
        </p:spPr>
      </p:pic>
      <p:pic>
        <p:nvPicPr>
          <p:cNvPr id="190" name="Picture 18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850" y="1639114"/>
            <a:ext cx="173758" cy="363443"/>
          </a:xfrm>
          <a:prstGeom prst="rect">
            <a:avLst/>
          </a:prstGeom>
        </p:spPr>
      </p:pic>
      <p:pic>
        <p:nvPicPr>
          <p:cNvPr id="191" name="Picture 19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871" y="1639114"/>
            <a:ext cx="173758" cy="363443"/>
          </a:xfrm>
          <a:prstGeom prst="rect">
            <a:avLst/>
          </a:prstGeom>
        </p:spPr>
      </p:pic>
      <p:pic>
        <p:nvPicPr>
          <p:cNvPr id="192" name="Picture 19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340" y="1649607"/>
            <a:ext cx="173758" cy="363443"/>
          </a:xfrm>
          <a:prstGeom prst="rect">
            <a:avLst/>
          </a:prstGeom>
        </p:spPr>
      </p:pic>
      <p:pic>
        <p:nvPicPr>
          <p:cNvPr id="193" name="Picture 19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361" y="1649607"/>
            <a:ext cx="173758" cy="363443"/>
          </a:xfrm>
          <a:prstGeom prst="rect">
            <a:avLst/>
          </a:prstGeom>
        </p:spPr>
      </p:pic>
      <p:pic>
        <p:nvPicPr>
          <p:cNvPr id="195" name="Picture 19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9343" y="1639114"/>
            <a:ext cx="173758" cy="363443"/>
          </a:xfrm>
          <a:prstGeom prst="rect">
            <a:avLst/>
          </a:prstGeom>
        </p:spPr>
      </p:pic>
      <p:pic>
        <p:nvPicPr>
          <p:cNvPr id="196" name="Picture 19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364" y="1639114"/>
            <a:ext cx="173758" cy="363443"/>
          </a:xfrm>
          <a:prstGeom prst="rect">
            <a:avLst/>
          </a:prstGeom>
        </p:spPr>
      </p:pic>
      <p:pic>
        <p:nvPicPr>
          <p:cNvPr id="197" name="Picture 19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832" y="1649607"/>
            <a:ext cx="173758" cy="363443"/>
          </a:xfrm>
          <a:prstGeom prst="rect">
            <a:avLst/>
          </a:prstGeom>
        </p:spPr>
      </p:pic>
      <p:pic>
        <p:nvPicPr>
          <p:cNvPr id="198" name="Picture 19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853" y="1649607"/>
            <a:ext cx="173758" cy="363443"/>
          </a:xfrm>
          <a:prstGeom prst="rect">
            <a:avLst/>
          </a:prstGeom>
        </p:spPr>
      </p:pic>
      <p:pic>
        <p:nvPicPr>
          <p:cNvPr id="199" name="Picture 19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0874" y="1649607"/>
            <a:ext cx="173758" cy="363443"/>
          </a:xfrm>
          <a:prstGeom prst="rect">
            <a:avLst/>
          </a:prstGeom>
        </p:spPr>
      </p:pic>
      <p:pic>
        <p:nvPicPr>
          <p:cNvPr id="201" name="Picture 20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346" y="1639114"/>
            <a:ext cx="173758" cy="363443"/>
          </a:xfrm>
          <a:prstGeom prst="rect">
            <a:avLst/>
          </a:prstGeom>
        </p:spPr>
      </p:pic>
      <p:pic>
        <p:nvPicPr>
          <p:cNvPr id="202" name="Picture 20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367" y="1639114"/>
            <a:ext cx="173758" cy="363443"/>
          </a:xfrm>
          <a:prstGeom prst="rect">
            <a:avLst/>
          </a:prstGeom>
        </p:spPr>
      </p:pic>
      <p:pic>
        <p:nvPicPr>
          <p:cNvPr id="203" name="Picture 20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835" y="1649607"/>
            <a:ext cx="173758" cy="363443"/>
          </a:xfrm>
          <a:prstGeom prst="rect">
            <a:avLst/>
          </a:prstGeom>
        </p:spPr>
      </p:pic>
      <p:pic>
        <p:nvPicPr>
          <p:cNvPr id="204" name="Picture 20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856" y="1649607"/>
            <a:ext cx="173758" cy="363443"/>
          </a:xfrm>
          <a:prstGeom prst="rect">
            <a:avLst/>
          </a:prstGeom>
        </p:spPr>
      </p:pic>
      <p:pic>
        <p:nvPicPr>
          <p:cNvPr id="205" name="Picture 20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877" y="1649607"/>
            <a:ext cx="173758" cy="363443"/>
          </a:xfrm>
          <a:prstGeom prst="rect">
            <a:avLst/>
          </a:prstGeom>
        </p:spPr>
      </p:pic>
      <p:pic>
        <p:nvPicPr>
          <p:cNvPr id="207" name="Picture 20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896" y="2235009"/>
            <a:ext cx="173758" cy="363443"/>
          </a:xfrm>
          <a:prstGeom prst="rect">
            <a:avLst/>
          </a:prstGeom>
        </p:spPr>
      </p:pic>
      <p:pic>
        <p:nvPicPr>
          <p:cNvPr id="208" name="Picture 20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406" y="2235009"/>
            <a:ext cx="173758" cy="363443"/>
          </a:xfrm>
          <a:prstGeom prst="rect">
            <a:avLst/>
          </a:prstGeom>
        </p:spPr>
      </p:pic>
      <p:pic>
        <p:nvPicPr>
          <p:cNvPr id="209" name="Picture 20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917" y="2235009"/>
            <a:ext cx="173758" cy="363443"/>
          </a:xfrm>
          <a:prstGeom prst="rect">
            <a:avLst/>
          </a:prstGeom>
        </p:spPr>
      </p:pic>
      <p:pic>
        <p:nvPicPr>
          <p:cNvPr id="210" name="Picture 20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427" y="2235009"/>
            <a:ext cx="173758" cy="363443"/>
          </a:xfrm>
          <a:prstGeom prst="rect">
            <a:avLst/>
          </a:prstGeom>
        </p:spPr>
      </p:pic>
      <p:pic>
        <p:nvPicPr>
          <p:cNvPr id="211" name="Picture 2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938" y="2235009"/>
            <a:ext cx="173758" cy="363443"/>
          </a:xfrm>
          <a:prstGeom prst="rect">
            <a:avLst/>
          </a:prstGeom>
        </p:spPr>
      </p:pic>
      <p:pic>
        <p:nvPicPr>
          <p:cNvPr id="213" name="Picture 2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899" y="2224516"/>
            <a:ext cx="173758" cy="363443"/>
          </a:xfrm>
          <a:prstGeom prst="rect">
            <a:avLst/>
          </a:prstGeom>
        </p:spPr>
      </p:pic>
      <p:pic>
        <p:nvPicPr>
          <p:cNvPr id="214" name="Picture 2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920" y="2224516"/>
            <a:ext cx="173758" cy="363443"/>
          </a:xfrm>
          <a:prstGeom prst="rect">
            <a:avLst/>
          </a:prstGeom>
        </p:spPr>
      </p:pic>
      <p:pic>
        <p:nvPicPr>
          <p:cNvPr id="215" name="Picture 2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941" y="2224516"/>
            <a:ext cx="173758" cy="363443"/>
          </a:xfrm>
          <a:prstGeom prst="rect">
            <a:avLst/>
          </a:prstGeom>
        </p:spPr>
      </p:pic>
      <p:pic>
        <p:nvPicPr>
          <p:cNvPr id="216" name="Picture 2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409" y="2235009"/>
            <a:ext cx="173758" cy="363443"/>
          </a:xfrm>
          <a:prstGeom prst="rect">
            <a:avLst/>
          </a:prstGeom>
        </p:spPr>
      </p:pic>
      <p:pic>
        <p:nvPicPr>
          <p:cNvPr id="217" name="Picture 2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430" y="2235009"/>
            <a:ext cx="173758" cy="363443"/>
          </a:xfrm>
          <a:prstGeom prst="rect">
            <a:avLst/>
          </a:prstGeom>
        </p:spPr>
      </p:pic>
      <p:pic>
        <p:nvPicPr>
          <p:cNvPr id="219" name="Picture 2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412" y="2224516"/>
            <a:ext cx="173758" cy="363443"/>
          </a:xfrm>
          <a:prstGeom prst="rect">
            <a:avLst/>
          </a:prstGeom>
        </p:spPr>
      </p:pic>
      <p:pic>
        <p:nvPicPr>
          <p:cNvPr id="220" name="Picture 2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433" y="2224516"/>
            <a:ext cx="173758" cy="363443"/>
          </a:xfrm>
          <a:prstGeom prst="rect">
            <a:avLst/>
          </a:prstGeom>
        </p:spPr>
      </p:pic>
      <p:pic>
        <p:nvPicPr>
          <p:cNvPr id="221" name="Picture 2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902" y="2235009"/>
            <a:ext cx="173758" cy="363443"/>
          </a:xfrm>
          <a:prstGeom prst="rect">
            <a:avLst/>
          </a:prstGeom>
        </p:spPr>
      </p:pic>
      <p:pic>
        <p:nvPicPr>
          <p:cNvPr id="222" name="Picture 2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1923" y="2235009"/>
            <a:ext cx="173758" cy="363443"/>
          </a:xfrm>
          <a:prstGeom prst="rect">
            <a:avLst/>
          </a:prstGeom>
        </p:spPr>
      </p:pic>
      <p:pic>
        <p:nvPicPr>
          <p:cNvPr id="223" name="Picture 2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943" y="2235009"/>
            <a:ext cx="173758" cy="363443"/>
          </a:xfrm>
          <a:prstGeom prst="rect">
            <a:avLst/>
          </a:prstGeom>
        </p:spPr>
      </p:pic>
      <p:pic>
        <p:nvPicPr>
          <p:cNvPr id="225" name="Picture 2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415" y="2224516"/>
            <a:ext cx="173758" cy="363443"/>
          </a:xfrm>
          <a:prstGeom prst="rect">
            <a:avLst/>
          </a:prstGeom>
        </p:spPr>
      </p:pic>
      <p:pic>
        <p:nvPicPr>
          <p:cNvPr id="226" name="Picture 2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436" y="2224516"/>
            <a:ext cx="173758" cy="363443"/>
          </a:xfrm>
          <a:prstGeom prst="rect">
            <a:avLst/>
          </a:prstGeom>
        </p:spPr>
      </p:pic>
      <p:pic>
        <p:nvPicPr>
          <p:cNvPr id="227" name="Picture 2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905" y="2235009"/>
            <a:ext cx="173758" cy="363443"/>
          </a:xfrm>
          <a:prstGeom prst="rect">
            <a:avLst/>
          </a:prstGeom>
        </p:spPr>
      </p:pic>
      <p:pic>
        <p:nvPicPr>
          <p:cNvPr id="228" name="Picture 22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926" y="2235009"/>
            <a:ext cx="173758" cy="363443"/>
          </a:xfrm>
          <a:prstGeom prst="rect">
            <a:avLst/>
          </a:prstGeom>
        </p:spPr>
      </p:pic>
      <p:pic>
        <p:nvPicPr>
          <p:cNvPr id="229" name="Picture 2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946" y="2235009"/>
            <a:ext cx="173758" cy="363443"/>
          </a:xfrm>
          <a:prstGeom prst="rect">
            <a:avLst/>
          </a:prstGeom>
        </p:spPr>
      </p:pic>
      <p:pic>
        <p:nvPicPr>
          <p:cNvPr id="231" name="Picture 2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826" y="2821729"/>
            <a:ext cx="173758" cy="363443"/>
          </a:xfrm>
          <a:prstGeom prst="rect">
            <a:avLst/>
          </a:prstGeom>
        </p:spPr>
      </p:pic>
      <p:pic>
        <p:nvPicPr>
          <p:cNvPr id="232" name="Picture 2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337" y="2821729"/>
            <a:ext cx="173758" cy="363443"/>
          </a:xfrm>
          <a:prstGeom prst="rect">
            <a:avLst/>
          </a:prstGeom>
        </p:spPr>
      </p:pic>
      <p:pic>
        <p:nvPicPr>
          <p:cNvPr id="233" name="Picture 2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847" y="2821729"/>
            <a:ext cx="173758" cy="363443"/>
          </a:xfrm>
          <a:prstGeom prst="rect">
            <a:avLst/>
          </a:prstGeom>
        </p:spPr>
      </p:pic>
      <p:pic>
        <p:nvPicPr>
          <p:cNvPr id="234" name="Picture 23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358" y="2821729"/>
            <a:ext cx="173758" cy="363443"/>
          </a:xfrm>
          <a:prstGeom prst="rect">
            <a:avLst/>
          </a:prstGeom>
        </p:spPr>
      </p:pic>
      <p:pic>
        <p:nvPicPr>
          <p:cNvPr id="235" name="Picture 23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868" y="2821729"/>
            <a:ext cx="173758" cy="363443"/>
          </a:xfrm>
          <a:prstGeom prst="rect">
            <a:avLst/>
          </a:prstGeom>
        </p:spPr>
      </p:pic>
      <p:pic>
        <p:nvPicPr>
          <p:cNvPr id="237" name="Picture 23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829" y="2811235"/>
            <a:ext cx="173758" cy="363443"/>
          </a:xfrm>
          <a:prstGeom prst="rect">
            <a:avLst/>
          </a:prstGeom>
        </p:spPr>
      </p:pic>
      <p:pic>
        <p:nvPicPr>
          <p:cNvPr id="238" name="Picture 23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850" y="2811235"/>
            <a:ext cx="173758" cy="363443"/>
          </a:xfrm>
          <a:prstGeom prst="rect">
            <a:avLst/>
          </a:prstGeom>
        </p:spPr>
      </p:pic>
      <p:pic>
        <p:nvPicPr>
          <p:cNvPr id="239" name="Picture 23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871" y="2811235"/>
            <a:ext cx="173758" cy="363443"/>
          </a:xfrm>
          <a:prstGeom prst="rect">
            <a:avLst/>
          </a:prstGeom>
        </p:spPr>
      </p:pic>
      <p:pic>
        <p:nvPicPr>
          <p:cNvPr id="240" name="Picture 23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340" y="2821729"/>
            <a:ext cx="173758" cy="363443"/>
          </a:xfrm>
          <a:prstGeom prst="rect">
            <a:avLst/>
          </a:prstGeom>
        </p:spPr>
      </p:pic>
      <p:pic>
        <p:nvPicPr>
          <p:cNvPr id="241" name="Picture 24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361" y="2821729"/>
            <a:ext cx="173758" cy="363443"/>
          </a:xfrm>
          <a:prstGeom prst="rect">
            <a:avLst/>
          </a:prstGeom>
        </p:spPr>
      </p:pic>
      <p:pic>
        <p:nvPicPr>
          <p:cNvPr id="243" name="Picture 24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9343" y="2811235"/>
            <a:ext cx="173758" cy="363443"/>
          </a:xfrm>
          <a:prstGeom prst="rect">
            <a:avLst/>
          </a:prstGeom>
        </p:spPr>
      </p:pic>
      <p:pic>
        <p:nvPicPr>
          <p:cNvPr id="244" name="Picture 24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364" y="2811235"/>
            <a:ext cx="173758" cy="363443"/>
          </a:xfrm>
          <a:prstGeom prst="rect">
            <a:avLst/>
          </a:prstGeom>
        </p:spPr>
      </p:pic>
      <p:pic>
        <p:nvPicPr>
          <p:cNvPr id="245" name="Picture 24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832" y="2821729"/>
            <a:ext cx="173758" cy="363443"/>
          </a:xfrm>
          <a:prstGeom prst="rect">
            <a:avLst/>
          </a:prstGeom>
        </p:spPr>
      </p:pic>
      <p:pic>
        <p:nvPicPr>
          <p:cNvPr id="246" name="Picture 24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853" y="2821729"/>
            <a:ext cx="173758" cy="363443"/>
          </a:xfrm>
          <a:prstGeom prst="rect">
            <a:avLst/>
          </a:prstGeom>
        </p:spPr>
      </p:pic>
      <p:pic>
        <p:nvPicPr>
          <p:cNvPr id="247" name="Picture 24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0874" y="2821729"/>
            <a:ext cx="173758" cy="363443"/>
          </a:xfrm>
          <a:prstGeom prst="rect">
            <a:avLst/>
          </a:prstGeom>
        </p:spPr>
      </p:pic>
      <p:pic>
        <p:nvPicPr>
          <p:cNvPr id="249" name="Picture 24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346" y="2811235"/>
            <a:ext cx="173758" cy="363443"/>
          </a:xfrm>
          <a:prstGeom prst="rect">
            <a:avLst/>
          </a:prstGeom>
        </p:spPr>
      </p:pic>
      <p:pic>
        <p:nvPicPr>
          <p:cNvPr id="250" name="Picture 24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367" y="2811235"/>
            <a:ext cx="173758" cy="363443"/>
          </a:xfrm>
          <a:prstGeom prst="rect">
            <a:avLst/>
          </a:prstGeom>
        </p:spPr>
      </p:pic>
      <p:pic>
        <p:nvPicPr>
          <p:cNvPr id="251" name="Picture 25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835" y="2821729"/>
            <a:ext cx="173758" cy="363443"/>
          </a:xfrm>
          <a:prstGeom prst="rect">
            <a:avLst/>
          </a:prstGeom>
        </p:spPr>
      </p:pic>
      <p:pic>
        <p:nvPicPr>
          <p:cNvPr id="252" name="Picture 2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856" y="2821729"/>
            <a:ext cx="173758" cy="363443"/>
          </a:xfrm>
          <a:prstGeom prst="rect">
            <a:avLst/>
          </a:prstGeom>
        </p:spPr>
      </p:pic>
      <p:pic>
        <p:nvPicPr>
          <p:cNvPr id="253" name="Picture 25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877" y="2821729"/>
            <a:ext cx="173758" cy="363443"/>
          </a:xfrm>
          <a:prstGeom prst="rect">
            <a:avLst/>
          </a:prstGeom>
        </p:spPr>
      </p:pic>
      <p:pic>
        <p:nvPicPr>
          <p:cNvPr id="255" name="Picture 25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943" y="3405813"/>
            <a:ext cx="173758" cy="363443"/>
          </a:xfrm>
          <a:prstGeom prst="rect">
            <a:avLst/>
          </a:prstGeom>
        </p:spPr>
      </p:pic>
      <p:pic>
        <p:nvPicPr>
          <p:cNvPr id="256" name="Picture 25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453" y="3405813"/>
            <a:ext cx="173758" cy="363443"/>
          </a:xfrm>
          <a:prstGeom prst="rect">
            <a:avLst/>
          </a:prstGeom>
        </p:spPr>
      </p:pic>
      <p:pic>
        <p:nvPicPr>
          <p:cNvPr id="257" name="Picture 25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8964" y="3405813"/>
            <a:ext cx="173758" cy="363443"/>
          </a:xfrm>
          <a:prstGeom prst="rect">
            <a:avLst/>
          </a:prstGeom>
        </p:spPr>
      </p:pic>
      <p:pic>
        <p:nvPicPr>
          <p:cNvPr id="258" name="Picture 25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474" y="3405813"/>
            <a:ext cx="173758" cy="363443"/>
          </a:xfrm>
          <a:prstGeom prst="rect">
            <a:avLst/>
          </a:prstGeom>
        </p:spPr>
      </p:pic>
      <p:pic>
        <p:nvPicPr>
          <p:cNvPr id="259" name="Picture 25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985" y="3405813"/>
            <a:ext cx="173758" cy="36344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829" y="3405813"/>
            <a:ext cx="173758" cy="363733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340" y="3405523"/>
            <a:ext cx="173758" cy="363733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850" y="3405523"/>
            <a:ext cx="173758" cy="363733"/>
          </a:xfrm>
          <a:prstGeom prst="rect">
            <a:avLst/>
          </a:prstGeom>
        </p:spPr>
      </p:pic>
      <p:pic>
        <p:nvPicPr>
          <p:cNvPr id="260" name="Picture 25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361" y="3405523"/>
            <a:ext cx="173758" cy="363733"/>
          </a:xfrm>
          <a:prstGeom prst="rect">
            <a:avLst/>
          </a:prstGeom>
        </p:spPr>
      </p:pic>
      <p:pic>
        <p:nvPicPr>
          <p:cNvPr id="261" name="Picture 26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871" y="3405523"/>
            <a:ext cx="173758" cy="363733"/>
          </a:xfrm>
          <a:prstGeom prst="rect">
            <a:avLst/>
          </a:prstGeom>
        </p:spPr>
      </p:pic>
      <p:pic>
        <p:nvPicPr>
          <p:cNvPr id="264" name="Picture 26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832" y="3405813"/>
            <a:ext cx="173758" cy="363733"/>
          </a:xfrm>
          <a:prstGeom prst="rect">
            <a:avLst/>
          </a:prstGeom>
        </p:spPr>
      </p:pic>
      <p:pic>
        <p:nvPicPr>
          <p:cNvPr id="265" name="Picture 26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9343" y="3405523"/>
            <a:ext cx="173758" cy="363733"/>
          </a:xfrm>
          <a:prstGeom prst="rect">
            <a:avLst/>
          </a:prstGeom>
        </p:spPr>
      </p:pic>
      <p:pic>
        <p:nvPicPr>
          <p:cNvPr id="266" name="Picture 26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853" y="3405523"/>
            <a:ext cx="173758" cy="363733"/>
          </a:xfrm>
          <a:prstGeom prst="rect">
            <a:avLst/>
          </a:prstGeom>
        </p:spPr>
      </p:pic>
      <p:pic>
        <p:nvPicPr>
          <p:cNvPr id="267" name="Picture 26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364" y="3405523"/>
            <a:ext cx="173758" cy="363733"/>
          </a:xfrm>
          <a:prstGeom prst="rect">
            <a:avLst/>
          </a:prstGeom>
        </p:spPr>
      </p:pic>
      <p:pic>
        <p:nvPicPr>
          <p:cNvPr id="268" name="Picture 26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0874" y="3405523"/>
            <a:ext cx="173758" cy="363733"/>
          </a:xfrm>
          <a:prstGeom prst="rect">
            <a:avLst/>
          </a:prstGeom>
        </p:spPr>
      </p:pic>
      <p:pic>
        <p:nvPicPr>
          <p:cNvPr id="270" name="Picture 26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835" y="3409427"/>
            <a:ext cx="173758" cy="363733"/>
          </a:xfrm>
          <a:prstGeom prst="rect">
            <a:avLst/>
          </a:prstGeom>
        </p:spPr>
      </p:pic>
      <p:pic>
        <p:nvPicPr>
          <p:cNvPr id="271" name="Picture 27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345" y="3409137"/>
            <a:ext cx="173758" cy="363733"/>
          </a:xfrm>
          <a:prstGeom prst="rect">
            <a:avLst/>
          </a:prstGeom>
        </p:spPr>
      </p:pic>
      <p:pic>
        <p:nvPicPr>
          <p:cNvPr id="272" name="Picture 27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856" y="3409137"/>
            <a:ext cx="173758" cy="363733"/>
          </a:xfrm>
          <a:prstGeom prst="rect">
            <a:avLst/>
          </a:prstGeom>
        </p:spPr>
      </p:pic>
      <p:pic>
        <p:nvPicPr>
          <p:cNvPr id="273" name="Picture 27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366" y="3409137"/>
            <a:ext cx="173758" cy="363733"/>
          </a:xfrm>
          <a:prstGeom prst="rect">
            <a:avLst/>
          </a:prstGeom>
        </p:spPr>
      </p:pic>
      <p:pic>
        <p:nvPicPr>
          <p:cNvPr id="274" name="Picture 27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877" y="3409137"/>
            <a:ext cx="173758" cy="363733"/>
          </a:xfrm>
          <a:prstGeom prst="rect">
            <a:avLst/>
          </a:prstGeom>
        </p:spPr>
      </p:pic>
      <p:sp>
        <p:nvSpPr>
          <p:cNvPr id="275" name="TextBox 274"/>
          <p:cNvSpPr txBox="1"/>
          <p:nvPr/>
        </p:nvSpPr>
        <p:spPr>
          <a:xfrm>
            <a:off x="3174713" y="4262699"/>
            <a:ext cx="257756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100"/>
              <a:t>All the cabs in the city</a:t>
            </a:r>
            <a:endParaRPr lang="en-US" sz="2100" dirty="0"/>
          </a:p>
        </p:txBody>
      </p:sp>
      <p:sp>
        <p:nvSpPr>
          <p:cNvPr id="277" name="TextBox 276"/>
          <p:cNvSpPr txBox="1"/>
          <p:nvPr/>
        </p:nvSpPr>
        <p:spPr>
          <a:xfrm>
            <a:off x="6145046" y="4005032"/>
            <a:ext cx="1611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80% of 15 is 12</a:t>
            </a:r>
          </a:p>
        </p:txBody>
      </p:sp>
    </p:spTree>
    <p:extLst>
      <p:ext uri="{BB962C8B-B14F-4D97-AF65-F5344CB8AC3E}">
        <p14:creationId xmlns:p14="http://schemas.microsoft.com/office/powerpoint/2010/main" val="32021489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826" y="1158802"/>
            <a:ext cx="173758" cy="363443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337" y="1158802"/>
            <a:ext cx="173758" cy="363443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847" y="1158802"/>
            <a:ext cx="173758" cy="363443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358" y="1158802"/>
            <a:ext cx="173758" cy="363443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868" y="1158802"/>
            <a:ext cx="173758" cy="3634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21670" y="773870"/>
            <a:ext cx="3709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85 </a:t>
            </a:r>
            <a:r>
              <a:rPr lang="en-US"/>
              <a:t>of 100 Green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4478732" y="3921572"/>
            <a:ext cx="1535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15 </a:t>
            </a:r>
            <a:r>
              <a:rPr lang="en-US"/>
              <a:t>of 100 Blue</a:t>
            </a:r>
            <a:endParaRPr lang="en-US" dirty="0"/>
          </a:p>
        </p:txBody>
      </p:sp>
      <p:pic>
        <p:nvPicPr>
          <p:cNvPr id="74" name="Picture 7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829" y="1148308"/>
            <a:ext cx="173758" cy="363443"/>
          </a:xfrm>
          <a:prstGeom prst="rect">
            <a:avLst/>
          </a:prstGeom>
        </p:spPr>
      </p:pic>
      <p:pic>
        <p:nvPicPr>
          <p:cNvPr id="75" name="Picture 7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850" y="1148308"/>
            <a:ext cx="173758" cy="363443"/>
          </a:xfrm>
          <a:prstGeom prst="rect">
            <a:avLst/>
          </a:prstGeom>
        </p:spPr>
      </p:pic>
      <p:pic>
        <p:nvPicPr>
          <p:cNvPr id="76" name="Picture 7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871" y="1148308"/>
            <a:ext cx="173758" cy="363443"/>
          </a:xfrm>
          <a:prstGeom prst="rect">
            <a:avLst/>
          </a:prstGeom>
        </p:spPr>
      </p:pic>
      <p:pic>
        <p:nvPicPr>
          <p:cNvPr id="99" name="Picture 9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340" y="1158802"/>
            <a:ext cx="173758" cy="363443"/>
          </a:xfrm>
          <a:prstGeom prst="rect">
            <a:avLst/>
          </a:prstGeom>
        </p:spPr>
      </p:pic>
      <p:pic>
        <p:nvPicPr>
          <p:cNvPr id="100" name="Picture 9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361" y="1158802"/>
            <a:ext cx="173758" cy="363443"/>
          </a:xfrm>
          <a:prstGeom prst="rect">
            <a:avLst/>
          </a:prstGeom>
        </p:spPr>
      </p:pic>
      <p:pic>
        <p:nvPicPr>
          <p:cNvPr id="77" name="Picture 7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9343" y="1148308"/>
            <a:ext cx="173758" cy="363443"/>
          </a:xfrm>
          <a:prstGeom prst="rect">
            <a:avLst/>
          </a:prstGeom>
        </p:spPr>
      </p:pic>
      <p:pic>
        <p:nvPicPr>
          <p:cNvPr id="78" name="Picture 7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364" y="1148308"/>
            <a:ext cx="173758" cy="363443"/>
          </a:xfrm>
          <a:prstGeom prst="rect">
            <a:avLst/>
          </a:prstGeom>
        </p:spPr>
      </p:pic>
      <p:pic>
        <p:nvPicPr>
          <p:cNvPr id="101" name="Picture 10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832" y="1158802"/>
            <a:ext cx="173758" cy="363443"/>
          </a:xfrm>
          <a:prstGeom prst="rect">
            <a:avLst/>
          </a:prstGeom>
        </p:spPr>
      </p:pic>
      <p:pic>
        <p:nvPicPr>
          <p:cNvPr id="102" name="Picture 10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853" y="1158802"/>
            <a:ext cx="173758" cy="363443"/>
          </a:xfrm>
          <a:prstGeom prst="rect">
            <a:avLst/>
          </a:prstGeom>
        </p:spPr>
      </p:pic>
      <p:pic>
        <p:nvPicPr>
          <p:cNvPr id="103" name="Picture 10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0874" y="1158802"/>
            <a:ext cx="173758" cy="363443"/>
          </a:xfrm>
          <a:prstGeom prst="rect">
            <a:avLst/>
          </a:prstGeom>
        </p:spPr>
      </p:pic>
      <p:pic>
        <p:nvPicPr>
          <p:cNvPr id="124" name="Picture 1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346" y="1148308"/>
            <a:ext cx="173758" cy="363443"/>
          </a:xfrm>
          <a:prstGeom prst="rect">
            <a:avLst/>
          </a:prstGeom>
        </p:spPr>
      </p:pic>
      <p:pic>
        <p:nvPicPr>
          <p:cNvPr id="125" name="Picture 1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367" y="1148308"/>
            <a:ext cx="173758" cy="363443"/>
          </a:xfrm>
          <a:prstGeom prst="rect">
            <a:avLst/>
          </a:prstGeom>
        </p:spPr>
      </p:pic>
      <p:pic>
        <p:nvPicPr>
          <p:cNvPr id="126" name="Picture 1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835" y="1158802"/>
            <a:ext cx="173758" cy="363443"/>
          </a:xfrm>
          <a:prstGeom prst="rect">
            <a:avLst/>
          </a:prstGeom>
        </p:spPr>
      </p:pic>
      <p:pic>
        <p:nvPicPr>
          <p:cNvPr id="127" name="Picture 1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856" y="1158802"/>
            <a:ext cx="173758" cy="363443"/>
          </a:xfrm>
          <a:prstGeom prst="rect">
            <a:avLst/>
          </a:prstGeom>
        </p:spPr>
      </p:pic>
      <p:pic>
        <p:nvPicPr>
          <p:cNvPr id="128" name="Picture 12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877" y="1158802"/>
            <a:ext cx="173758" cy="363443"/>
          </a:xfrm>
          <a:prstGeom prst="rect">
            <a:avLst/>
          </a:prstGeom>
        </p:spPr>
      </p:pic>
      <p:pic>
        <p:nvPicPr>
          <p:cNvPr id="183" name="Picture 18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826" y="1744204"/>
            <a:ext cx="173758" cy="363443"/>
          </a:xfrm>
          <a:prstGeom prst="rect">
            <a:avLst/>
          </a:prstGeom>
        </p:spPr>
      </p:pic>
      <p:pic>
        <p:nvPicPr>
          <p:cNvPr id="184" name="Picture 18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337" y="1744204"/>
            <a:ext cx="173758" cy="363443"/>
          </a:xfrm>
          <a:prstGeom prst="rect">
            <a:avLst/>
          </a:prstGeom>
        </p:spPr>
      </p:pic>
      <p:pic>
        <p:nvPicPr>
          <p:cNvPr id="185" name="Picture 18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847" y="1744204"/>
            <a:ext cx="173758" cy="363443"/>
          </a:xfrm>
          <a:prstGeom prst="rect">
            <a:avLst/>
          </a:prstGeom>
        </p:spPr>
      </p:pic>
      <p:pic>
        <p:nvPicPr>
          <p:cNvPr id="186" name="Picture 18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358" y="1744204"/>
            <a:ext cx="173758" cy="363443"/>
          </a:xfrm>
          <a:prstGeom prst="rect">
            <a:avLst/>
          </a:prstGeom>
        </p:spPr>
      </p:pic>
      <p:pic>
        <p:nvPicPr>
          <p:cNvPr id="187" name="Picture 18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868" y="1744204"/>
            <a:ext cx="173758" cy="363443"/>
          </a:xfrm>
          <a:prstGeom prst="rect">
            <a:avLst/>
          </a:prstGeom>
        </p:spPr>
      </p:pic>
      <p:pic>
        <p:nvPicPr>
          <p:cNvPr id="189" name="Picture 18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829" y="1733710"/>
            <a:ext cx="173758" cy="363443"/>
          </a:xfrm>
          <a:prstGeom prst="rect">
            <a:avLst/>
          </a:prstGeom>
        </p:spPr>
      </p:pic>
      <p:pic>
        <p:nvPicPr>
          <p:cNvPr id="190" name="Picture 18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850" y="1733710"/>
            <a:ext cx="173758" cy="363443"/>
          </a:xfrm>
          <a:prstGeom prst="rect">
            <a:avLst/>
          </a:prstGeom>
        </p:spPr>
      </p:pic>
      <p:pic>
        <p:nvPicPr>
          <p:cNvPr id="191" name="Picture 19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871" y="1733710"/>
            <a:ext cx="173758" cy="363443"/>
          </a:xfrm>
          <a:prstGeom prst="rect">
            <a:avLst/>
          </a:prstGeom>
        </p:spPr>
      </p:pic>
      <p:pic>
        <p:nvPicPr>
          <p:cNvPr id="192" name="Picture 19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340" y="1744204"/>
            <a:ext cx="173758" cy="363443"/>
          </a:xfrm>
          <a:prstGeom prst="rect">
            <a:avLst/>
          </a:prstGeom>
        </p:spPr>
      </p:pic>
      <p:pic>
        <p:nvPicPr>
          <p:cNvPr id="193" name="Picture 19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361" y="1744204"/>
            <a:ext cx="173758" cy="363443"/>
          </a:xfrm>
          <a:prstGeom prst="rect">
            <a:avLst/>
          </a:prstGeom>
        </p:spPr>
      </p:pic>
      <p:pic>
        <p:nvPicPr>
          <p:cNvPr id="195" name="Picture 19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9343" y="1733710"/>
            <a:ext cx="173758" cy="363443"/>
          </a:xfrm>
          <a:prstGeom prst="rect">
            <a:avLst/>
          </a:prstGeom>
        </p:spPr>
      </p:pic>
      <p:pic>
        <p:nvPicPr>
          <p:cNvPr id="196" name="Picture 19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364" y="1733710"/>
            <a:ext cx="173758" cy="363443"/>
          </a:xfrm>
          <a:prstGeom prst="rect">
            <a:avLst/>
          </a:prstGeom>
        </p:spPr>
      </p:pic>
      <p:pic>
        <p:nvPicPr>
          <p:cNvPr id="197" name="Picture 19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832" y="1744204"/>
            <a:ext cx="173758" cy="363443"/>
          </a:xfrm>
          <a:prstGeom prst="rect">
            <a:avLst/>
          </a:prstGeom>
        </p:spPr>
      </p:pic>
      <p:pic>
        <p:nvPicPr>
          <p:cNvPr id="198" name="Picture 19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853" y="1744204"/>
            <a:ext cx="173758" cy="363443"/>
          </a:xfrm>
          <a:prstGeom prst="rect">
            <a:avLst/>
          </a:prstGeom>
        </p:spPr>
      </p:pic>
      <p:pic>
        <p:nvPicPr>
          <p:cNvPr id="199" name="Picture 19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0874" y="1744204"/>
            <a:ext cx="173758" cy="363443"/>
          </a:xfrm>
          <a:prstGeom prst="rect">
            <a:avLst/>
          </a:prstGeom>
        </p:spPr>
      </p:pic>
      <p:pic>
        <p:nvPicPr>
          <p:cNvPr id="201" name="Picture 20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346" y="1733710"/>
            <a:ext cx="173758" cy="363443"/>
          </a:xfrm>
          <a:prstGeom prst="rect">
            <a:avLst/>
          </a:prstGeom>
        </p:spPr>
      </p:pic>
      <p:pic>
        <p:nvPicPr>
          <p:cNvPr id="202" name="Picture 20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367" y="1733710"/>
            <a:ext cx="173758" cy="363443"/>
          </a:xfrm>
          <a:prstGeom prst="rect">
            <a:avLst/>
          </a:prstGeom>
        </p:spPr>
      </p:pic>
      <p:pic>
        <p:nvPicPr>
          <p:cNvPr id="203" name="Picture 20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835" y="1744204"/>
            <a:ext cx="173758" cy="363443"/>
          </a:xfrm>
          <a:prstGeom prst="rect">
            <a:avLst/>
          </a:prstGeom>
        </p:spPr>
      </p:pic>
      <p:pic>
        <p:nvPicPr>
          <p:cNvPr id="204" name="Picture 20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856" y="1744204"/>
            <a:ext cx="173758" cy="363443"/>
          </a:xfrm>
          <a:prstGeom prst="rect">
            <a:avLst/>
          </a:prstGeom>
        </p:spPr>
      </p:pic>
      <p:pic>
        <p:nvPicPr>
          <p:cNvPr id="205" name="Picture 20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877" y="1744204"/>
            <a:ext cx="173758" cy="363443"/>
          </a:xfrm>
          <a:prstGeom prst="rect">
            <a:avLst/>
          </a:prstGeom>
        </p:spPr>
      </p:pic>
      <p:pic>
        <p:nvPicPr>
          <p:cNvPr id="207" name="Picture 20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896" y="2329606"/>
            <a:ext cx="173758" cy="363443"/>
          </a:xfrm>
          <a:prstGeom prst="rect">
            <a:avLst/>
          </a:prstGeom>
        </p:spPr>
      </p:pic>
      <p:pic>
        <p:nvPicPr>
          <p:cNvPr id="208" name="Picture 20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406" y="2329606"/>
            <a:ext cx="173758" cy="363443"/>
          </a:xfrm>
          <a:prstGeom prst="rect">
            <a:avLst/>
          </a:prstGeom>
        </p:spPr>
      </p:pic>
      <p:pic>
        <p:nvPicPr>
          <p:cNvPr id="209" name="Picture 20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917" y="2329606"/>
            <a:ext cx="173758" cy="363443"/>
          </a:xfrm>
          <a:prstGeom prst="rect">
            <a:avLst/>
          </a:prstGeom>
        </p:spPr>
      </p:pic>
      <p:pic>
        <p:nvPicPr>
          <p:cNvPr id="210" name="Picture 20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427" y="2329606"/>
            <a:ext cx="173758" cy="363443"/>
          </a:xfrm>
          <a:prstGeom prst="rect">
            <a:avLst/>
          </a:prstGeom>
        </p:spPr>
      </p:pic>
      <p:pic>
        <p:nvPicPr>
          <p:cNvPr id="211" name="Picture 2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938" y="2329606"/>
            <a:ext cx="173758" cy="363443"/>
          </a:xfrm>
          <a:prstGeom prst="rect">
            <a:avLst/>
          </a:prstGeom>
        </p:spPr>
      </p:pic>
      <p:pic>
        <p:nvPicPr>
          <p:cNvPr id="213" name="Picture 2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899" y="2319112"/>
            <a:ext cx="173758" cy="363443"/>
          </a:xfrm>
          <a:prstGeom prst="rect">
            <a:avLst/>
          </a:prstGeom>
        </p:spPr>
      </p:pic>
      <p:pic>
        <p:nvPicPr>
          <p:cNvPr id="214" name="Picture 2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920" y="2319112"/>
            <a:ext cx="173758" cy="363443"/>
          </a:xfrm>
          <a:prstGeom prst="rect">
            <a:avLst/>
          </a:prstGeom>
        </p:spPr>
      </p:pic>
      <p:pic>
        <p:nvPicPr>
          <p:cNvPr id="215" name="Picture 2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941" y="2319112"/>
            <a:ext cx="173758" cy="363443"/>
          </a:xfrm>
          <a:prstGeom prst="rect">
            <a:avLst/>
          </a:prstGeom>
        </p:spPr>
      </p:pic>
      <p:pic>
        <p:nvPicPr>
          <p:cNvPr id="216" name="Picture 2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409" y="2329606"/>
            <a:ext cx="173758" cy="363443"/>
          </a:xfrm>
          <a:prstGeom prst="rect">
            <a:avLst/>
          </a:prstGeom>
        </p:spPr>
      </p:pic>
      <p:pic>
        <p:nvPicPr>
          <p:cNvPr id="217" name="Picture 2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430" y="2329606"/>
            <a:ext cx="173758" cy="363443"/>
          </a:xfrm>
          <a:prstGeom prst="rect">
            <a:avLst/>
          </a:prstGeom>
        </p:spPr>
      </p:pic>
      <p:pic>
        <p:nvPicPr>
          <p:cNvPr id="219" name="Picture 2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412" y="2319112"/>
            <a:ext cx="173758" cy="363443"/>
          </a:xfrm>
          <a:prstGeom prst="rect">
            <a:avLst/>
          </a:prstGeom>
        </p:spPr>
      </p:pic>
      <p:pic>
        <p:nvPicPr>
          <p:cNvPr id="220" name="Picture 2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433" y="2319112"/>
            <a:ext cx="173758" cy="363443"/>
          </a:xfrm>
          <a:prstGeom prst="rect">
            <a:avLst/>
          </a:prstGeom>
        </p:spPr>
      </p:pic>
      <p:pic>
        <p:nvPicPr>
          <p:cNvPr id="221" name="Picture 2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902" y="2329606"/>
            <a:ext cx="173758" cy="363443"/>
          </a:xfrm>
          <a:prstGeom prst="rect">
            <a:avLst/>
          </a:prstGeom>
        </p:spPr>
      </p:pic>
      <p:pic>
        <p:nvPicPr>
          <p:cNvPr id="222" name="Picture 2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1923" y="2329606"/>
            <a:ext cx="173758" cy="363443"/>
          </a:xfrm>
          <a:prstGeom prst="rect">
            <a:avLst/>
          </a:prstGeom>
        </p:spPr>
      </p:pic>
      <p:pic>
        <p:nvPicPr>
          <p:cNvPr id="223" name="Picture 2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943" y="2329606"/>
            <a:ext cx="173758" cy="363443"/>
          </a:xfrm>
          <a:prstGeom prst="rect">
            <a:avLst/>
          </a:prstGeom>
        </p:spPr>
      </p:pic>
      <p:pic>
        <p:nvPicPr>
          <p:cNvPr id="225" name="Picture 2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415" y="2319112"/>
            <a:ext cx="173758" cy="363443"/>
          </a:xfrm>
          <a:prstGeom prst="rect">
            <a:avLst/>
          </a:prstGeom>
        </p:spPr>
      </p:pic>
      <p:pic>
        <p:nvPicPr>
          <p:cNvPr id="226" name="Picture 2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436" y="2319112"/>
            <a:ext cx="173758" cy="363443"/>
          </a:xfrm>
          <a:prstGeom prst="rect">
            <a:avLst/>
          </a:prstGeom>
        </p:spPr>
      </p:pic>
      <p:pic>
        <p:nvPicPr>
          <p:cNvPr id="227" name="Picture 2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905" y="2329606"/>
            <a:ext cx="173758" cy="363443"/>
          </a:xfrm>
          <a:prstGeom prst="rect">
            <a:avLst/>
          </a:prstGeom>
        </p:spPr>
      </p:pic>
      <p:pic>
        <p:nvPicPr>
          <p:cNvPr id="228" name="Picture 22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926" y="2329606"/>
            <a:ext cx="173758" cy="363443"/>
          </a:xfrm>
          <a:prstGeom prst="rect">
            <a:avLst/>
          </a:prstGeom>
        </p:spPr>
      </p:pic>
      <p:pic>
        <p:nvPicPr>
          <p:cNvPr id="229" name="Picture 2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946" y="2329606"/>
            <a:ext cx="173758" cy="363443"/>
          </a:xfrm>
          <a:prstGeom prst="rect">
            <a:avLst/>
          </a:prstGeom>
        </p:spPr>
      </p:pic>
      <p:pic>
        <p:nvPicPr>
          <p:cNvPr id="231" name="Picture 2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826" y="2916325"/>
            <a:ext cx="173758" cy="363443"/>
          </a:xfrm>
          <a:prstGeom prst="rect">
            <a:avLst/>
          </a:prstGeom>
        </p:spPr>
      </p:pic>
      <p:pic>
        <p:nvPicPr>
          <p:cNvPr id="232" name="Picture 2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337" y="2916325"/>
            <a:ext cx="173758" cy="363443"/>
          </a:xfrm>
          <a:prstGeom prst="rect">
            <a:avLst/>
          </a:prstGeom>
        </p:spPr>
      </p:pic>
      <p:pic>
        <p:nvPicPr>
          <p:cNvPr id="233" name="Picture 2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847" y="2916325"/>
            <a:ext cx="173758" cy="363443"/>
          </a:xfrm>
          <a:prstGeom prst="rect">
            <a:avLst/>
          </a:prstGeom>
        </p:spPr>
      </p:pic>
      <p:pic>
        <p:nvPicPr>
          <p:cNvPr id="234" name="Picture 23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358" y="2916325"/>
            <a:ext cx="173758" cy="363443"/>
          </a:xfrm>
          <a:prstGeom prst="rect">
            <a:avLst/>
          </a:prstGeom>
        </p:spPr>
      </p:pic>
      <p:pic>
        <p:nvPicPr>
          <p:cNvPr id="235" name="Picture 23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868" y="2916325"/>
            <a:ext cx="173758" cy="363443"/>
          </a:xfrm>
          <a:prstGeom prst="rect">
            <a:avLst/>
          </a:prstGeom>
        </p:spPr>
      </p:pic>
      <p:pic>
        <p:nvPicPr>
          <p:cNvPr id="237" name="Picture 23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829" y="2905832"/>
            <a:ext cx="173758" cy="363443"/>
          </a:xfrm>
          <a:prstGeom prst="rect">
            <a:avLst/>
          </a:prstGeom>
        </p:spPr>
      </p:pic>
      <p:pic>
        <p:nvPicPr>
          <p:cNvPr id="238" name="Picture 23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850" y="2905832"/>
            <a:ext cx="173758" cy="363443"/>
          </a:xfrm>
          <a:prstGeom prst="rect">
            <a:avLst/>
          </a:prstGeom>
        </p:spPr>
      </p:pic>
      <p:pic>
        <p:nvPicPr>
          <p:cNvPr id="239" name="Picture 23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871" y="2905832"/>
            <a:ext cx="173758" cy="363443"/>
          </a:xfrm>
          <a:prstGeom prst="rect">
            <a:avLst/>
          </a:prstGeom>
        </p:spPr>
      </p:pic>
      <p:pic>
        <p:nvPicPr>
          <p:cNvPr id="240" name="Picture 23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340" y="2916325"/>
            <a:ext cx="173758" cy="363443"/>
          </a:xfrm>
          <a:prstGeom prst="rect">
            <a:avLst/>
          </a:prstGeom>
        </p:spPr>
      </p:pic>
      <p:pic>
        <p:nvPicPr>
          <p:cNvPr id="241" name="Picture 24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361" y="2916325"/>
            <a:ext cx="173758" cy="363443"/>
          </a:xfrm>
          <a:prstGeom prst="rect">
            <a:avLst/>
          </a:prstGeom>
        </p:spPr>
      </p:pic>
      <p:pic>
        <p:nvPicPr>
          <p:cNvPr id="243" name="Picture 24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9343" y="2905832"/>
            <a:ext cx="173758" cy="363443"/>
          </a:xfrm>
          <a:prstGeom prst="rect">
            <a:avLst/>
          </a:prstGeom>
        </p:spPr>
      </p:pic>
      <p:pic>
        <p:nvPicPr>
          <p:cNvPr id="244" name="Picture 24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364" y="2905832"/>
            <a:ext cx="173758" cy="363443"/>
          </a:xfrm>
          <a:prstGeom prst="rect">
            <a:avLst/>
          </a:prstGeom>
        </p:spPr>
      </p:pic>
      <p:pic>
        <p:nvPicPr>
          <p:cNvPr id="245" name="Picture 24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832" y="2916325"/>
            <a:ext cx="173758" cy="363443"/>
          </a:xfrm>
          <a:prstGeom prst="rect">
            <a:avLst/>
          </a:prstGeom>
        </p:spPr>
      </p:pic>
      <p:pic>
        <p:nvPicPr>
          <p:cNvPr id="246" name="Picture 24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853" y="2916325"/>
            <a:ext cx="173758" cy="363443"/>
          </a:xfrm>
          <a:prstGeom prst="rect">
            <a:avLst/>
          </a:prstGeom>
        </p:spPr>
      </p:pic>
      <p:pic>
        <p:nvPicPr>
          <p:cNvPr id="247" name="Picture 24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0874" y="2916325"/>
            <a:ext cx="173758" cy="363443"/>
          </a:xfrm>
          <a:prstGeom prst="rect">
            <a:avLst/>
          </a:prstGeom>
        </p:spPr>
      </p:pic>
      <p:pic>
        <p:nvPicPr>
          <p:cNvPr id="249" name="Picture 24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346" y="2905832"/>
            <a:ext cx="173758" cy="363443"/>
          </a:xfrm>
          <a:prstGeom prst="rect">
            <a:avLst/>
          </a:prstGeom>
        </p:spPr>
      </p:pic>
      <p:pic>
        <p:nvPicPr>
          <p:cNvPr id="250" name="Picture 24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367" y="2905832"/>
            <a:ext cx="173758" cy="363443"/>
          </a:xfrm>
          <a:prstGeom prst="rect">
            <a:avLst/>
          </a:prstGeom>
        </p:spPr>
      </p:pic>
      <p:pic>
        <p:nvPicPr>
          <p:cNvPr id="251" name="Picture 25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835" y="2916325"/>
            <a:ext cx="173758" cy="363443"/>
          </a:xfrm>
          <a:prstGeom prst="rect">
            <a:avLst/>
          </a:prstGeom>
        </p:spPr>
      </p:pic>
      <p:pic>
        <p:nvPicPr>
          <p:cNvPr id="252" name="Picture 2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856" y="2916325"/>
            <a:ext cx="173758" cy="363443"/>
          </a:xfrm>
          <a:prstGeom prst="rect">
            <a:avLst/>
          </a:prstGeom>
        </p:spPr>
      </p:pic>
      <p:pic>
        <p:nvPicPr>
          <p:cNvPr id="253" name="Picture 25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877" y="2916325"/>
            <a:ext cx="173758" cy="363443"/>
          </a:xfrm>
          <a:prstGeom prst="rect">
            <a:avLst/>
          </a:prstGeom>
        </p:spPr>
      </p:pic>
      <p:pic>
        <p:nvPicPr>
          <p:cNvPr id="255" name="Picture 25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943" y="3500410"/>
            <a:ext cx="173758" cy="363443"/>
          </a:xfrm>
          <a:prstGeom prst="rect">
            <a:avLst/>
          </a:prstGeom>
        </p:spPr>
      </p:pic>
      <p:pic>
        <p:nvPicPr>
          <p:cNvPr id="256" name="Picture 25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453" y="3500410"/>
            <a:ext cx="173758" cy="363443"/>
          </a:xfrm>
          <a:prstGeom prst="rect">
            <a:avLst/>
          </a:prstGeom>
        </p:spPr>
      </p:pic>
      <p:pic>
        <p:nvPicPr>
          <p:cNvPr id="257" name="Picture 25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8964" y="3500410"/>
            <a:ext cx="173758" cy="363443"/>
          </a:xfrm>
          <a:prstGeom prst="rect">
            <a:avLst/>
          </a:prstGeom>
        </p:spPr>
      </p:pic>
      <p:pic>
        <p:nvPicPr>
          <p:cNvPr id="258" name="Picture 25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474" y="3500410"/>
            <a:ext cx="173758" cy="363443"/>
          </a:xfrm>
          <a:prstGeom prst="rect">
            <a:avLst/>
          </a:prstGeom>
        </p:spPr>
      </p:pic>
      <p:pic>
        <p:nvPicPr>
          <p:cNvPr id="259" name="Picture 25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985" y="3500410"/>
            <a:ext cx="173758" cy="36344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829" y="3500409"/>
            <a:ext cx="173758" cy="363733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340" y="3500120"/>
            <a:ext cx="173758" cy="363733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850" y="3500120"/>
            <a:ext cx="173758" cy="363733"/>
          </a:xfrm>
          <a:prstGeom prst="rect">
            <a:avLst/>
          </a:prstGeom>
        </p:spPr>
      </p:pic>
      <p:pic>
        <p:nvPicPr>
          <p:cNvPr id="260" name="Picture 25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361" y="3500120"/>
            <a:ext cx="173758" cy="363733"/>
          </a:xfrm>
          <a:prstGeom prst="rect">
            <a:avLst/>
          </a:prstGeom>
        </p:spPr>
      </p:pic>
      <p:pic>
        <p:nvPicPr>
          <p:cNvPr id="261" name="Picture 26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871" y="3500120"/>
            <a:ext cx="173758" cy="363733"/>
          </a:xfrm>
          <a:prstGeom prst="rect">
            <a:avLst/>
          </a:prstGeom>
        </p:spPr>
      </p:pic>
      <p:pic>
        <p:nvPicPr>
          <p:cNvPr id="264" name="Picture 26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832" y="3500409"/>
            <a:ext cx="173758" cy="363733"/>
          </a:xfrm>
          <a:prstGeom prst="rect">
            <a:avLst/>
          </a:prstGeom>
        </p:spPr>
      </p:pic>
      <p:pic>
        <p:nvPicPr>
          <p:cNvPr id="265" name="Picture 26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9343" y="3500120"/>
            <a:ext cx="173758" cy="363733"/>
          </a:xfrm>
          <a:prstGeom prst="rect">
            <a:avLst/>
          </a:prstGeom>
        </p:spPr>
      </p:pic>
      <p:pic>
        <p:nvPicPr>
          <p:cNvPr id="266" name="Picture 26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853" y="3500120"/>
            <a:ext cx="173758" cy="363733"/>
          </a:xfrm>
          <a:prstGeom prst="rect">
            <a:avLst/>
          </a:prstGeom>
        </p:spPr>
      </p:pic>
      <p:pic>
        <p:nvPicPr>
          <p:cNvPr id="267" name="Picture 26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364" y="3500120"/>
            <a:ext cx="173758" cy="363733"/>
          </a:xfrm>
          <a:prstGeom prst="rect">
            <a:avLst/>
          </a:prstGeom>
        </p:spPr>
      </p:pic>
      <p:pic>
        <p:nvPicPr>
          <p:cNvPr id="268" name="Picture 26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0874" y="3500120"/>
            <a:ext cx="173758" cy="363733"/>
          </a:xfrm>
          <a:prstGeom prst="rect">
            <a:avLst/>
          </a:prstGeom>
        </p:spPr>
      </p:pic>
      <p:pic>
        <p:nvPicPr>
          <p:cNvPr id="270" name="Picture 26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835" y="3504024"/>
            <a:ext cx="173758" cy="363733"/>
          </a:xfrm>
          <a:prstGeom prst="rect">
            <a:avLst/>
          </a:prstGeom>
        </p:spPr>
      </p:pic>
      <p:pic>
        <p:nvPicPr>
          <p:cNvPr id="271" name="Picture 27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345" y="3503734"/>
            <a:ext cx="173758" cy="363733"/>
          </a:xfrm>
          <a:prstGeom prst="rect">
            <a:avLst/>
          </a:prstGeom>
        </p:spPr>
      </p:pic>
      <p:pic>
        <p:nvPicPr>
          <p:cNvPr id="272" name="Picture 271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856" y="3503734"/>
            <a:ext cx="173758" cy="363733"/>
          </a:xfrm>
          <a:prstGeom prst="rect">
            <a:avLst/>
          </a:prstGeom>
        </p:spPr>
      </p:pic>
      <p:pic>
        <p:nvPicPr>
          <p:cNvPr id="273" name="Picture 272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366" y="3503734"/>
            <a:ext cx="173758" cy="363733"/>
          </a:xfrm>
          <a:prstGeom prst="rect">
            <a:avLst/>
          </a:prstGeom>
        </p:spPr>
      </p:pic>
      <p:pic>
        <p:nvPicPr>
          <p:cNvPr id="274" name="Picture 273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877" y="3503734"/>
            <a:ext cx="173758" cy="363733"/>
          </a:xfrm>
          <a:prstGeom prst="rect">
            <a:avLst/>
          </a:prstGeom>
        </p:spPr>
      </p:pic>
      <p:sp>
        <p:nvSpPr>
          <p:cNvPr id="275" name="TextBox 274"/>
          <p:cNvSpPr txBox="1"/>
          <p:nvPr/>
        </p:nvSpPr>
        <p:spPr>
          <a:xfrm>
            <a:off x="3174713" y="4357296"/>
            <a:ext cx="257756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100"/>
              <a:t>All the cabs in the city</a:t>
            </a:r>
            <a:endParaRPr lang="en-US" sz="2100" dirty="0"/>
          </a:p>
        </p:txBody>
      </p:sp>
      <p:sp>
        <p:nvSpPr>
          <p:cNvPr id="16" name="TextBox 15"/>
          <p:cNvSpPr txBox="1"/>
          <p:nvPr/>
        </p:nvSpPr>
        <p:spPr>
          <a:xfrm>
            <a:off x="6145046" y="4099629"/>
            <a:ext cx="1611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80% of 15 is 12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553189" y="573232"/>
            <a:ext cx="1611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20% of 85 is 17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5F00F7-FC83-7317-3F1F-C6982B2A4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21380"/>
            <a:ext cx="6858000" cy="610253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700" dirty="0">
                <a:latin typeface="Calibri"/>
                <a:ea typeface="ＭＳ Ｐゴシック" charset="0"/>
                <a:cs typeface="Calibri"/>
              </a:rPr>
              <a:t>Getting the correct answer: Another depiction</a:t>
            </a:r>
          </a:p>
        </p:txBody>
      </p:sp>
    </p:spTree>
    <p:extLst>
      <p:ext uri="{BB962C8B-B14F-4D97-AF65-F5344CB8AC3E}">
        <p14:creationId xmlns:p14="http://schemas.microsoft.com/office/powerpoint/2010/main" val="32218435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826" y="1158808"/>
            <a:ext cx="173758" cy="363443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337" y="1158808"/>
            <a:ext cx="173758" cy="363443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847" y="1158808"/>
            <a:ext cx="173758" cy="363443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358" y="1158808"/>
            <a:ext cx="173758" cy="363443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868" y="1158808"/>
            <a:ext cx="173758" cy="3634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21670" y="773876"/>
            <a:ext cx="3709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85 </a:t>
            </a:r>
            <a:r>
              <a:rPr lang="en-US"/>
              <a:t>of 100 Green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4478732" y="3921578"/>
            <a:ext cx="1535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15 </a:t>
            </a:r>
            <a:r>
              <a:rPr lang="en-US"/>
              <a:t>of 100 Blue</a:t>
            </a:r>
            <a:endParaRPr lang="en-US" dirty="0"/>
          </a:p>
        </p:txBody>
      </p:sp>
      <p:pic>
        <p:nvPicPr>
          <p:cNvPr id="74" name="Picture 73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829" y="1148314"/>
            <a:ext cx="173758" cy="363443"/>
          </a:xfrm>
          <a:prstGeom prst="rect">
            <a:avLst/>
          </a:prstGeom>
        </p:spPr>
      </p:pic>
      <p:pic>
        <p:nvPicPr>
          <p:cNvPr id="75" name="Picture 74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850" y="1148314"/>
            <a:ext cx="173758" cy="363443"/>
          </a:xfrm>
          <a:prstGeom prst="rect">
            <a:avLst/>
          </a:prstGeom>
        </p:spPr>
      </p:pic>
      <p:pic>
        <p:nvPicPr>
          <p:cNvPr id="76" name="Picture 75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871" y="1148314"/>
            <a:ext cx="173758" cy="363443"/>
          </a:xfrm>
          <a:prstGeom prst="rect">
            <a:avLst/>
          </a:prstGeom>
        </p:spPr>
      </p:pic>
      <p:pic>
        <p:nvPicPr>
          <p:cNvPr id="99" name="Picture 98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340" y="1158808"/>
            <a:ext cx="173758" cy="363443"/>
          </a:xfrm>
          <a:prstGeom prst="rect">
            <a:avLst/>
          </a:prstGeom>
        </p:spPr>
      </p:pic>
      <p:pic>
        <p:nvPicPr>
          <p:cNvPr id="100" name="Picture 99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361" y="1158808"/>
            <a:ext cx="173758" cy="363443"/>
          </a:xfrm>
          <a:prstGeom prst="rect">
            <a:avLst/>
          </a:prstGeom>
        </p:spPr>
      </p:pic>
      <p:pic>
        <p:nvPicPr>
          <p:cNvPr id="77" name="Picture 76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9343" y="1148314"/>
            <a:ext cx="173758" cy="363443"/>
          </a:xfrm>
          <a:prstGeom prst="rect">
            <a:avLst/>
          </a:prstGeom>
        </p:spPr>
      </p:pic>
      <p:pic>
        <p:nvPicPr>
          <p:cNvPr id="78" name="Picture 77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364" y="1148314"/>
            <a:ext cx="173758" cy="363443"/>
          </a:xfrm>
          <a:prstGeom prst="rect">
            <a:avLst/>
          </a:prstGeom>
        </p:spPr>
      </p:pic>
      <p:pic>
        <p:nvPicPr>
          <p:cNvPr id="101" name="Picture 10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832" y="1158808"/>
            <a:ext cx="173758" cy="363443"/>
          </a:xfrm>
          <a:prstGeom prst="rect">
            <a:avLst/>
          </a:prstGeom>
        </p:spPr>
      </p:pic>
      <p:pic>
        <p:nvPicPr>
          <p:cNvPr id="102" name="Picture 101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853" y="1158808"/>
            <a:ext cx="173758" cy="363443"/>
          </a:xfrm>
          <a:prstGeom prst="rect">
            <a:avLst/>
          </a:prstGeom>
        </p:spPr>
      </p:pic>
      <p:pic>
        <p:nvPicPr>
          <p:cNvPr id="103" name="Picture 102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0874" y="1158808"/>
            <a:ext cx="173758" cy="363443"/>
          </a:xfrm>
          <a:prstGeom prst="rect">
            <a:avLst/>
          </a:prstGeom>
        </p:spPr>
      </p:pic>
      <p:pic>
        <p:nvPicPr>
          <p:cNvPr id="124" name="Picture 123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346" y="1148314"/>
            <a:ext cx="173758" cy="363443"/>
          </a:xfrm>
          <a:prstGeom prst="rect">
            <a:avLst/>
          </a:prstGeom>
        </p:spPr>
      </p:pic>
      <p:pic>
        <p:nvPicPr>
          <p:cNvPr id="125" name="Picture 124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367" y="1148314"/>
            <a:ext cx="173758" cy="363443"/>
          </a:xfrm>
          <a:prstGeom prst="rect">
            <a:avLst/>
          </a:prstGeom>
        </p:spPr>
      </p:pic>
      <p:pic>
        <p:nvPicPr>
          <p:cNvPr id="126" name="Picture 125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835" y="1158808"/>
            <a:ext cx="173758" cy="363443"/>
          </a:xfrm>
          <a:prstGeom prst="rect">
            <a:avLst/>
          </a:prstGeom>
        </p:spPr>
      </p:pic>
      <p:pic>
        <p:nvPicPr>
          <p:cNvPr id="127" name="Picture 126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856" y="1158808"/>
            <a:ext cx="173758" cy="363443"/>
          </a:xfrm>
          <a:prstGeom prst="rect">
            <a:avLst/>
          </a:prstGeom>
        </p:spPr>
      </p:pic>
      <p:pic>
        <p:nvPicPr>
          <p:cNvPr id="128" name="Picture 127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877" y="1158808"/>
            <a:ext cx="173758" cy="363443"/>
          </a:xfrm>
          <a:prstGeom prst="rect">
            <a:avLst/>
          </a:prstGeom>
        </p:spPr>
      </p:pic>
      <p:pic>
        <p:nvPicPr>
          <p:cNvPr id="183" name="Picture 182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826" y="1744210"/>
            <a:ext cx="173758" cy="363443"/>
          </a:xfrm>
          <a:prstGeom prst="rect">
            <a:avLst/>
          </a:prstGeom>
        </p:spPr>
      </p:pic>
      <p:pic>
        <p:nvPicPr>
          <p:cNvPr id="184" name="Picture 183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337" y="1744210"/>
            <a:ext cx="173758" cy="363443"/>
          </a:xfrm>
          <a:prstGeom prst="rect">
            <a:avLst/>
          </a:prstGeom>
        </p:spPr>
      </p:pic>
      <p:pic>
        <p:nvPicPr>
          <p:cNvPr id="185" name="Picture 184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847" y="1744210"/>
            <a:ext cx="173758" cy="363443"/>
          </a:xfrm>
          <a:prstGeom prst="rect">
            <a:avLst/>
          </a:prstGeom>
        </p:spPr>
      </p:pic>
      <p:pic>
        <p:nvPicPr>
          <p:cNvPr id="186" name="Picture 185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358" y="1744210"/>
            <a:ext cx="173758" cy="363443"/>
          </a:xfrm>
          <a:prstGeom prst="rect">
            <a:avLst/>
          </a:prstGeom>
        </p:spPr>
      </p:pic>
      <p:pic>
        <p:nvPicPr>
          <p:cNvPr id="187" name="Picture 186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868" y="1744210"/>
            <a:ext cx="173758" cy="363443"/>
          </a:xfrm>
          <a:prstGeom prst="rect">
            <a:avLst/>
          </a:prstGeom>
        </p:spPr>
      </p:pic>
      <p:pic>
        <p:nvPicPr>
          <p:cNvPr id="189" name="Picture 188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829" y="1733716"/>
            <a:ext cx="173758" cy="363443"/>
          </a:xfrm>
          <a:prstGeom prst="rect">
            <a:avLst/>
          </a:prstGeom>
        </p:spPr>
      </p:pic>
      <p:pic>
        <p:nvPicPr>
          <p:cNvPr id="190" name="Picture 189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850" y="1733716"/>
            <a:ext cx="173758" cy="363443"/>
          </a:xfrm>
          <a:prstGeom prst="rect">
            <a:avLst/>
          </a:prstGeom>
        </p:spPr>
      </p:pic>
      <p:pic>
        <p:nvPicPr>
          <p:cNvPr id="191" name="Picture 19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871" y="1733716"/>
            <a:ext cx="173758" cy="363443"/>
          </a:xfrm>
          <a:prstGeom prst="rect">
            <a:avLst/>
          </a:prstGeom>
        </p:spPr>
      </p:pic>
      <p:pic>
        <p:nvPicPr>
          <p:cNvPr id="192" name="Picture 191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340" y="1744210"/>
            <a:ext cx="173758" cy="363443"/>
          </a:xfrm>
          <a:prstGeom prst="rect">
            <a:avLst/>
          </a:prstGeom>
        </p:spPr>
      </p:pic>
      <p:pic>
        <p:nvPicPr>
          <p:cNvPr id="193" name="Picture 192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361" y="1744210"/>
            <a:ext cx="173758" cy="363443"/>
          </a:xfrm>
          <a:prstGeom prst="rect">
            <a:avLst/>
          </a:prstGeom>
        </p:spPr>
      </p:pic>
      <p:pic>
        <p:nvPicPr>
          <p:cNvPr id="195" name="Picture 194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9343" y="1733716"/>
            <a:ext cx="173758" cy="363443"/>
          </a:xfrm>
          <a:prstGeom prst="rect">
            <a:avLst/>
          </a:prstGeom>
        </p:spPr>
      </p:pic>
      <p:pic>
        <p:nvPicPr>
          <p:cNvPr id="196" name="Picture 195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364" y="1733716"/>
            <a:ext cx="173758" cy="363443"/>
          </a:xfrm>
          <a:prstGeom prst="rect">
            <a:avLst/>
          </a:prstGeom>
        </p:spPr>
      </p:pic>
      <p:pic>
        <p:nvPicPr>
          <p:cNvPr id="197" name="Picture 196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832" y="1744210"/>
            <a:ext cx="173758" cy="363443"/>
          </a:xfrm>
          <a:prstGeom prst="rect">
            <a:avLst/>
          </a:prstGeom>
        </p:spPr>
      </p:pic>
      <p:pic>
        <p:nvPicPr>
          <p:cNvPr id="198" name="Picture 197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853" y="1744210"/>
            <a:ext cx="173758" cy="363443"/>
          </a:xfrm>
          <a:prstGeom prst="rect">
            <a:avLst/>
          </a:prstGeom>
        </p:spPr>
      </p:pic>
      <p:pic>
        <p:nvPicPr>
          <p:cNvPr id="199" name="Picture 198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0874" y="1744210"/>
            <a:ext cx="173758" cy="363443"/>
          </a:xfrm>
          <a:prstGeom prst="rect">
            <a:avLst/>
          </a:prstGeom>
        </p:spPr>
      </p:pic>
      <p:pic>
        <p:nvPicPr>
          <p:cNvPr id="201" name="Picture 20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346" y="1733716"/>
            <a:ext cx="173758" cy="363443"/>
          </a:xfrm>
          <a:prstGeom prst="rect">
            <a:avLst/>
          </a:prstGeom>
        </p:spPr>
      </p:pic>
      <p:pic>
        <p:nvPicPr>
          <p:cNvPr id="202" name="Picture 201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367" y="1733716"/>
            <a:ext cx="173758" cy="363443"/>
          </a:xfrm>
          <a:prstGeom prst="rect">
            <a:avLst/>
          </a:prstGeom>
        </p:spPr>
      </p:pic>
      <p:pic>
        <p:nvPicPr>
          <p:cNvPr id="203" name="Picture 202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835" y="1744210"/>
            <a:ext cx="173758" cy="363443"/>
          </a:xfrm>
          <a:prstGeom prst="rect">
            <a:avLst/>
          </a:prstGeom>
        </p:spPr>
      </p:pic>
      <p:pic>
        <p:nvPicPr>
          <p:cNvPr id="204" name="Picture 203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856" y="1744210"/>
            <a:ext cx="173758" cy="363443"/>
          </a:xfrm>
          <a:prstGeom prst="rect">
            <a:avLst/>
          </a:prstGeom>
        </p:spPr>
      </p:pic>
      <p:pic>
        <p:nvPicPr>
          <p:cNvPr id="205" name="Picture 204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877" y="1744210"/>
            <a:ext cx="173758" cy="363443"/>
          </a:xfrm>
          <a:prstGeom prst="rect">
            <a:avLst/>
          </a:prstGeom>
        </p:spPr>
      </p:pic>
      <p:pic>
        <p:nvPicPr>
          <p:cNvPr id="207" name="Picture 206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896" y="2329612"/>
            <a:ext cx="173758" cy="363443"/>
          </a:xfrm>
          <a:prstGeom prst="rect">
            <a:avLst/>
          </a:prstGeom>
        </p:spPr>
      </p:pic>
      <p:pic>
        <p:nvPicPr>
          <p:cNvPr id="208" name="Picture 207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406" y="2329612"/>
            <a:ext cx="173758" cy="363443"/>
          </a:xfrm>
          <a:prstGeom prst="rect">
            <a:avLst/>
          </a:prstGeom>
        </p:spPr>
      </p:pic>
      <p:pic>
        <p:nvPicPr>
          <p:cNvPr id="209" name="Picture 208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917" y="2329612"/>
            <a:ext cx="173758" cy="363443"/>
          </a:xfrm>
          <a:prstGeom prst="rect">
            <a:avLst/>
          </a:prstGeom>
        </p:spPr>
      </p:pic>
      <p:pic>
        <p:nvPicPr>
          <p:cNvPr id="210" name="Picture 209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427" y="2329612"/>
            <a:ext cx="173758" cy="363443"/>
          </a:xfrm>
          <a:prstGeom prst="rect">
            <a:avLst/>
          </a:prstGeom>
        </p:spPr>
      </p:pic>
      <p:pic>
        <p:nvPicPr>
          <p:cNvPr id="211" name="Picture 21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938" y="2329612"/>
            <a:ext cx="173758" cy="363443"/>
          </a:xfrm>
          <a:prstGeom prst="rect">
            <a:avLst/>
          </a:prstGeom>
        </p:spPr>
      </p:pic>
      <p:pic>
        <p:nvPicPr>
          <p:cNvPr id="213" name="Picture 212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899" y="2319118"/>
            <a:ext cx="173758" cy="363443"/>
          </a:xfrm>
          <a:prstGeom prst="rect">
            <a:avLst/>
          </a:prstGeom>
        </p:spPr>
      </p:pic>
      <p:pic>
        <p:nvPicPr>
          <p:cNvPr id="214" name="Picture 213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920" y="2319118"/>
            <a:ext cx="173758" cy="363443"/>
          </a:xfrm>
          <a:prstGeom prst="rect">
            <a:avLst/>
          </a:prstGeom>
        </p:spPr>
      </p:pic>
      <p:pic>
        <p:nvPicPr>
          <p:cNvPr id="215" name="Picture 214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941" y="2319118"/>
            <a:ext cx="173758" cy="363443"/>
          </a:xfrm>
          <a:prstGeom prst="rect">
            <a:avLst/>
          </a:prstGeom>
        </p:spPr>
      </p:pic>
      <p:pic>
        <p:nvPicPr>
          <p:cNvPr id="216" name="Picture 215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409" y="2329612"/>
            <a:ext cx="173758" cy="363443"/>
          </a:xfrm>
          <a:prstGeom prst="rect">
            <a:avLst/>
          </a:prstGeom>
        </p:spPr>
      </p:pic>
      <p:pic>
        <p:nvPicPr>
          <p:cNvPr id="217" name="Picture 216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430" y="2329612"/>
            <a:ext cx="173758" cy="363443"/>
          </a:xfrm>
          <a:prstGeom prst="rect">
            <a:avLst/>
          </a:prstGeom>
        </p:spPr>
      </p:pic>
      <p:pic>
        <p:nvPicPr>
          <p:cNvPr id="219" name="Picture 218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412" y="2319118"/>
            <a:ext cx="173758" cy="363443"/>
          </a:xfrm>
          <a:prstGeom prst="rect">
            <a:avLst/>
          </a:prstGeom>
        </p:spPr>
      </p:pic>
      <p:pic>
        <p:nvPicPr>
          <p:cNvPr id="220" name="Picture 219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433" y="2319118"/>
            <a:ext cx="173758" cy="363443"/>
          </a:xfrm>
          <a:prstGeom prst="rect">
            <a:avLst/>
          </a:prstGeom>
        </p:spPr>
      </p:pic>
      <p:pic>
        <p:nvPicPr>
          <p:cNvPr id="221" name="Picture 22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902" y="2329612"/>
            <a:ext cx="173758" cy="363443"/>
          </a:xfrm>
          <a:prstGeom prst="rect">
            <a:avLst/>
          </a:prstGeom>
        </p:spPr>
      </p:pic>
      <p:pic>
        <p:nvPicPr>
          <p:cNvPr id="222" name="Picture 221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1923" y="2329612"/>
            <a:ext cx="173758" cy="363443"/>
          </a:xfrm>
          <a:prstGeom prst="rect">
            <a:avLst/>
          </a:prstGeom>
        </p:spPr>
      </p:pic>
      <p:pic>
        <p:nvPicPr>
          <p:cNvPr id="223" name="Picture 222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943" y="2329612"/>
            <a:ext cx="173758" cy="363443"/>
          </a:xfrm>
          <a:prstGeom prst="rect">
            <a:avLst/>
          </a:prstGeom>
        </p:spPr>
      </p:pic>
      <p:pic>
        <p:nvPicPr>
          <p:cNvPr id="225" name="Picture 224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415" y="2319118"/>
            <a:ext cx="173758" cy="363443"/>
          </a:xfrm>
          <a:prstGeom prst="rect">
            <a:avLst/>
          </a:prstGeom>
        </p:spPr>
      </p:pic>
      <p:pic>
        <p:nvPicPr>
          <p:cNvPr id="226" name="Picture 225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436" y="2319118"/>
            <a:ext cx="173758" cy="363443"/>
          </a:xfrm>
          <a:prstGeom prst="rect">
            <a:avLst/>
          </a:prstGeom>
        </p:spPr>
      </p:pic>
      <p:pic>
        <p:nvPicPr>
          <p:cNvPr id="227" name="Picture 226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905" y="2329612"/>
            <a:ext cx="173758" cy="363443"/>
          </a:xfrm>
          <a:prstGeom prst="rect">
            <a:avLst/>
          </a:prstGeom>
        </p:spPr>
      </p:pic>
      <p:pic>
        <p:nvPicPr>
          <p:cNvPr id="228" name="Picture 227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926" y="2329612"/>
            <a:ext cx="173758" cy="363443"/>
          </a:xfrm>
          <a:prstGeom prst="rect">
            <a:avLst/>
          </a:prstGeom>
        </p:spPr>
      </p:pic>
      <p:pic>
        <p:nvPicPr>
          <p:cNvPr id="229" name="Picture 228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946" y="2329612"/>
            <a:ext cx="173758" cy="363443"/>
          </a:xfrm>
          <a:prstGeom prst="rect">
            <a:avLst/>
          </a:prstGeom>
        </p:spPr>
      </p:pic>
      <p:pic>
        <p:nvPicPr>
          <p:cNvPr id="231" name="Picture 2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826" y="2916331"/>
            <a:ext cx="173758" cy="363443"/>
          </a:xfrm>
          <a:prstGeom prst="rect">
            <a:avLst/>
          </a:prstGeom>
        </p:spPr>
      </p:pic>
      <p:pic>
        <p:nvPicPr>
          <p:cNvPr id="232" name="Picture 2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337" y="2916331"/>
            <a:ext cx="173758" cy="363443"/>
          </a:xfrm>
          <a:prstGeom prst="rect">
            <a:avLst/>
          </a:prstGeom>
        </p:spPr>
      </p:pic>
      <p:pic>
        <p:nvPicPr>
          <p:cNvPr id="233" name="Picture 2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847" y="2916331"/>
            <a:ext cx="173758" cy="363443"/>
          </a:xfrm>
          <a:prstGeom prst="rect">
            <a:avLst/>
          </a:prstGeom>
        </p:spPr>
      </p:pic>
      <p:pic>
        <p:nvPicPr>
          <p:cNvPr id="234" name="Picture 23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358" y="2916331"/>
            <a:ext cx="173758" cy="363443"/>
          </a:xfrm>
          <a:prstGeom prst="rect">
            <a:avLst/>
          </a:prstGeom>
        </p:spPr>
      </p:pic>
      <p:pic>
        <p:nvPicPr>
          <p:cNvPr id="235" name="Picture 2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868" y="2916331"/>
            <a:ext cx="173758" cy="363443"/>
          </a:xfrm>
          <a:prstGeom prst="rect">
            <a:avLst/>
          </a:prstGeom>
        </p:spPr>
      </p:pic>
      <p:pic>
        <p:nvPicPr>
          <p:cNvPr id="237" name="Picture 23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829" y="2905838"/>
            <a:ext cx="173758" cy="363443"/>
          </a:xfrm>
          <a:prstGeom prst="rect">
            <a:avLst/>
          </a:prstGeom>
        </p:spPr>
      </p:pic>
      <p:pic>
        <p:nvPicPr>
          <p:cNvPr id="238" name="Picture 23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850" y="2905838"/>
            <a:ext cx="173758" cy="363443"/>
          </a:xfrm>
          <a:prstGeom prst="rect">
            <a:avLst/>
          </a:prstGeom>
        </p:spPr>
      </p:pic>
      <p:pic>
        <p:nvPicPr>
          <p:cNvPr id="239" name="Picture 23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871" y="2905838"/>
            <a:ext cx="173758" cy="363443"/>
          </a:xfrm>
          <a:prstGeom prst="rect">
            <a:avLst/>
          </a:prstGeom>
        </p:spPr>
      </p:pic>
      <p:pic>
        <p:nvPicPr>
          <p:cNvPr id="240" name="Picture 23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340" y="2916331"/>
            <a:ext cx="173758" cy="363443"/>
          </a:xfrm>
          <a:prstGeom prst="rect">
            <a:avLst/>
          </a:prstGeom>
        </p:spPr>
      </p:pic>
      <p:pic>
        <p:nvPicPr>
          <p:cNvPr id="241" name="Picture 24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361" y="2916331"/>
            <a:ext cx="173758" cy="363443"/>
          </a:xfrm>
          <a:prstGeom prst="rect">
            <a:avLst/>
          </a:prstGeom>
        </p:spPr>
      </p:pic>
      <p:pic>
        <p:nvPicPr>
          <p:cNvPr id="243" name="Picture 24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9343" y="2905838"/>
            <a:ext cx="173758" cy="363443"/>
          </a:xfrm>
          <a:prstGeom prst="rect">
            <a:avLst/>
          </a:prstGeom>
        </p:spPr>
      </p:pic>
      <p:pic>
        <p:nvPicPr>
          <p:cNvPr id="244" name="Picture 24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364" y="2905838"/>
            <a:ext cx="173758" cy="363443"/>
          </a:xfrm>
          <a:prstGeom prst="rect">
            <a:avLst/>
          </a:prstGeom>
        </p:spPr>
      </p:pic>
      <p:pic>
        <p:nvPicPr>
          <p:cNvPr id="245" name="Picture 24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832" y="2916331"/>
            <a:ext cx="173758" cy="363443"/>
          </a:xfrm>
          <a:prstGeom prst="rect">
            <a:avLst/>
          </a:prstGeom>
        </p:spPr>
      </p:pic>
      <p:pic>
        <p:nvPicPr>
          <p:cNvPr id="246" name="Picture 24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853" y="2916331"/>
            <a:ext cx="173758" cy="363443"/>
          </a:xfrm>
          <a:prstGeom prst="rect">
            <a:avLst/>
          </a:prstGeom>
        </p:spPr>
      </p:pic>
      <p:pic>
        <p:nvPicPr>
          <p:cNvPr id="247" name="Picture 24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0874" y="2916331"/>
            <a:ext cx="173758" cy="363443"/>
          </a:xfrm>
          <a:prstGeom prst="rect">
            <a:avLst/>
          </a:prstGeom>
        </p:spPr>
      </p:pic>
      <p:pic>
        <p:nvPicPr>
          <p:cNvPr id="249" name="Picture 2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346" y="2905838"/>
            <a:ext cx="173758" cy="363443"/>
          </a:xfrm>
          <a:prstGeom prst="rect">
            <a:avLst/>
          </a:prstGeom>
        </p:spPr>
      </p:pic>
      <p:pic>
        <p:nvPicPr>
          <p:cNvPr id="250" name="Picture 249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367" y="2905838"/>
            <a:ext cx="173758" cy="363443"/>
          </a:xfrm>
          <a:prstGeom prst="rect">
            <a:avLst/>
          </a:prstGeom>
        </p:spPr>
      </p:pic>
      <p:pic>
        <p:nvPicPr>
          <p:cNvPr id="251" name="Picture 25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835" y="2916331"/>
            <a:ext cx="173758" cy="363443"/>
          </a:xfrm>
          <a:prstGeom prst="rect">
            <a:avLst/>
          </a:prstGeom>
        </p:spPr>
      </p:pic>
      <p:pic>
        <p:nvPicPr>
          <p:cNvPr id="252" name="Picture 251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856" y="2916331"/>
            <a:ext cx="173758" cy="363443"/>
          </a:xfrm>
          <a:prstGeom prst="rect">
            <a:avLst/>
          </a:prstGeom>
        </p:spPr>
      </p:pic>
      <p:pic>
        <p:nvPicPr>
          <p:cNvPr id="253" name="Picture 252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877" y="2916331"/>
            <a:ext cx="173758" cy="363443"/>
          </a:xfrm>
          <a:prstGeom prst="rect">
            <a:avLst/>
          </a:prstGeom>
        </p:spPr>
      </p:pic>
      <p:pic>
        <p:nvPicPr>
          <p:cNvPr id="255" name="Picture 254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943" y="3500416"/>
            <a:ext cx="173758" cy="363443"/>
          </a:xfrm>
          <a:prstGeom prst="rect">
            <a:avLst/>
          </a:prstGeom>
        </p:spPr>
      </p:pic>
      <p:pic>
        <p:nvPicPr>
          <p:cNvPr id="256" name="Picture 255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453" y="3500416"/>
            <a:ext cx="173758" cy="363443"/>
          </a:xfrm>
          <a:prstGeom prst="rect">
            <a:avLst/>
          </a:prstGeom>
        </p:spPr>
      </p:pic>
      <p:pic>
        <p:nvPicPr>
          <p:cNvPr id="257" name="Picture 256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8964" y="3500416"/>
            <a:ext cx="173758" cy="363443"/>
          </a:xfrm>
          <a:prstGeom prst="rect">
            <a:avLst/>
          </a:prstGeom>
        </p:spPr>
      </p:pic>
      <p:pic>
        <p:nvPicPr>
          <p:cNvPr id="258" name="Picture 257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474" y="3500416"/>
            <a:ext cx="173758" cy="363443"/>
          </a:xfrm>
          <a:prstGeom prst="rect">
            <a:avLst/>
          </a:prstGeom>
        </p:spPr>
      </p:pic>
      <p:pic>
        <p:nvPicPr>
          <p:cNvPr id="259" name="Picture 258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985" y="3500416"/>
            <a:ext cx="173758" cy="36344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829" y="3500415"/>
            <a:ext cx="173758" cy="363733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340" y="3500126"/>
            <a:ext cx="173758" cy="363733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850" y="3500126"/>
            <a:ext cx="173758" cy="363733"/>
          </a:xfrm>
          <a:prstGeom prst="rect">
            <a:avLst/>
          </a:prstGeom>
        </p:spPr>
      </p:pic>
      <p:pic>
        <p:nvPicPr>
          <p:cNvPr id="260" name="Picture 25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361" y="3500126"/>
            <a:ext cx="173758" cy="363733"/>
          </a:xfrm>
          <a:prstGeom prst="rect">
            <a:avLst/>
          </a:prstGeom>
        </p:spPr>
      </p:pic>
      <p:pic>
        <p:nvPicPr>
          <p:cNvPr id="261" name="Picture 26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871" y="3500126"/>
            <a:ext cx="173758" cy="363733"/>
          </a:xfrm>
          <a:prstGeom prst="rect">
            <a:avLst/>
          </a:prstGeom>
        </p:spPr>
      </p:pic>
      <p:pic>
        <p:nvPicPr>
          <p:cNvPr id="264" name="Picture 26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832" y="3500415"/>
            <a:ext cx="173758" cy="363733"/>
          </a:xfrm>
          <a:prstGeom prst="rect">
            <a:avLst/>
          </a:prstGeom>
        </p:spPr>
      </p:pic>
      <p:pic>
        <p:nvPicPr>
          <p:cNvPr id="265" name="Picture 26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9343" y="3500126"/>
            <a:ext cx="173758" cy="363733"/>
          </a:xfrm>
          <a:prstGeom prst="rect">
            <a:avLst/>
          </a:prstGeom>
        </p:spPr>
      </p:pic>
      <p:pic>
        <p:nvPicPr>
          <p:cNvPr id="266" name="Picture 26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853" y="3500126"/>
            <a:ext cx="173758" cy="363733"/>
          </a:xfrm>
          <a:prstGeom prst="rect">
            <a:avLst/>
          </a:prstGeom>
        </p:spPr>
      </p:pic>
      <p:pic>
        <p:nvPicPr>
          <p:cNvPr id="267" name="Picture 26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364" y="3500126"/>
            <a:ext cx="173758" cy="363733"/>
          </a:xfrm>
          <a:prstGeom prst="rect">
            <a:avLst/>
          </a:prstGeom>
        </p:spPr>
      </p:pic>
      <p:pic>
        <p:nvPicPr>
          <p:cNvPr id="268" name="Picture 26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0874" y="3500126"/>
            <a:ext cx="173758" cy="363733"/>
          </a:xfrm>
          <a:prstGeom prst="rect">
            <a:avLst/>
          </a:prstGeom>
        </p:spPr>
      </p:pic>
      <p:pic>
        <p:nvPicPr>
          <p:cNvPr id="270" name="Picture 26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835" y="3504030"/>
            <a:ext cx="173758" cy="363733"/>
          </a:xfrm>
          <a:prstGeom prst="rect">
            <a:avLst/>
          </a:prstGeom>
        </p:spPr>
      </p:pic>
      <p:pic>
        <p:nvPicPr>
          <p:cNvPr id="271" name="Picture 27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345" y="3503740"/>
            <a:ext cx="173758" cy="363733"/>
          </a:xfrm>
          <a:prstGeom prst="rect">
            <a:avLst/>
          </a:prstGeom>
        </p:spPr>
      </p:pic>
      <p:pic>
        <p:nvPicPr>
          <p:cNvPr id="272" name="Picture 271"/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856" y="3503740"/>
            <a:ext cx="173758" cy="363733"/>
          </a:xfrm>
          <a:prstGeom prst="rect">
            <a:avLst/>
          </a:prstGeom>
        </p:spPr>
      </p:pic>
      <p:pic>
        <p:nvPicPr>
          <p:cNvPr id="273" name="Picture 272"/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366" y="3503740"/>
            <a:ext cx="173758" cy="363733"/>
          </a:xfrm>
          <a:prstGeom prst="rect">
            <a:avLst/>
          </a:prstGeom>
        </p:spPr>
      </p:pic>
      <p:pic>
        <p:nvPicPr>
          <p:cNvPr id="274" name="Picture 273"/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877" y="3503740"/>
            <a:ext cx="173758" cy="363733"/>
          </a:xfrm>
          <a:prstGeom prst="rect">
            <a:avLst/>
          </a:prstGeom>
        </p:spPr>
      </p:pic>
      <p:sp>
        <p:nvSpPr>
          <p:cNvPr id="275" name="TextBox 274"/>
          <p:cNvSpPr txBox="1"/>
          <p:nvPr/>
        </p:nvSpPr>
        <p:spPr>
          <a:xfrm>
            <a:off x="3174713" y="4357302"/>
            <a:ext cx="257756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100"/>
              <a:t>All the cabs in the city</a:t>
            </a:r>
            <a:endParaRPr lang="en-US" sz="2100" dirty="0"/>
          </a:p>
        </p:txBody>
      </p:sp>
      <p:sp>
        <p:nvSpPr>
          <p:cNvPr id="16" name="TextBox 15"/>
          <p:cNvSpPr txBox="1"/>
          <p:nvPr/>
        </p:nvSpPr>
        <p:spPr>
          <a:xfrm>
            <a:off x="6145046" y="4099635"/>
            <a:ext cx="1611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80% of 15 is 12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553189" y="573238"/>
            <a:ext cx="1611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20% of 85 is 17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91847" y="1593019"/>
            <a:ext cx="5486787" cy="10895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Probability of the cab being blue given the witness said it is blue is </a:t>
            </a:r>
          </a:p>
          <a:p>
            <a:pPr algn="ctr"/>
            <a:r>
              <a:rPr lang="en-US" dirty="0"/>
              <a:t>12/(12+17) = 12/29 = 41%</a:t>
            </a:r>
          </a:p>
        </p:txBody>
      </p:sp>
      <p:sp>
        <p:nvSpPr>
          <p:cNvPr id="5" name="Freeform 4"/>
          <p:cNvSpPr/>
          <p:nvPr/>
        </p:nvSpPr>
        <p:spPr>
          <a:xfrm>
            <a:off x="1344706" y="2843596"/>
            <a:ext cx="5325035" cy="1099298"/>
          </a:xfrm>
          <a:custGeom>
            <a:avLst/>
            <a:gdLst>
              <a:gd name="connsiteX0" fmla="*/ 0 w 7046259"/>
              <a:gd name="connsiteY0" fmla="*/ 13448 h 1465730"/>
              <a:gd name="connsiteX1" fmla="*/ 7046259 w 7046259"/>
              <a:gd name="connsiteY1" fmla="*/ 13448 h 1465730"/>
              <a:gd name="connsiteX2" fmla="*/ 7046259 w 7046259"/>
              <a:gd name="connsiteY2" fmla="*/ 1465730 h 1465730"/>
              <a:gd name="connsiteX3" fmla="*/ 2138083 w 7046259"/>
              <a:gd name="connsiteY3" fmla="*/ 1452283 h 1465730"/>
              <a:gd name="connsiteX4" fmla="*/ 2138083 w 7046259"/>
              <a:gd name="connsiteY4" fmla="*/ 658906 h 1465730"/>
              <a:gd name="connsiteX5" fmla="*/ 40342 w 7046259"/>
              <a:gd name="connsiteY5" fmla="*/ 658906 h 1465730"/>
              <a:gd name="connsiteX6" fmla="*/ 53789 w 7046259"/>
              <a:gd name="connsiteY6" fmla="*/ 0 h 1465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46259" h="1465730">
                <a:moveTo>
                  <a:pt x="0" y="13448"/>
                </a:moveTo>
                <a:lnTo>
                  <a:pt x="7046259" y="13448"/>
                </a:lnTo>
                <a:lnTo>
                  <a:pt x="7046259" y="1465730"/>
                </a:lnTo>
                <a:lnTo>
                  <a:pt x="2138083" y="1452283"/>
                </a:lnTo>
                <a:lnTo>
                  <a:pt x="2138083" y="658906"/>
                </a:lnTo>
                <a:lnTo>
                  <a:pt x="40342" y="658906"/>
                </a:lnTo>
                <a:lnTo>
                  <a:pt x="53789" y="0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A8C88A6-E596-7C55-DB18-297C8FED4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21380"/>
            <a:ext cx="6858000" cy="610253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700" dirty="0">
                <a:latin typeface="Calibri"/>
                <a:ea typeface="ＭＳ Ｐゴシック" charset="0"/>
                <a:cs typeface="Calibri"/>
              </a:rPr>
              <a:t>Getting the correct answer: Another depiction</a:t>
            </a:r>
          </a:p>
        </p:txBody>
      </p:sp>
    </p:spTree>
    <p:extLst>
      <p:ext uri="{BB962C8B-B14F-4D97-AF65-F5344CB8AC3E}">
        <p14:creationId xmlns:p14="http://schemas.microsoft.com/office/powerpoint/2010/main" val="3409434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9580" y="155973"/>
            <a:ext cx="5915025" cy="746640"/>
          </a:xfrm>
        </p:spPr>
        <p:txBody>
          <a:bodyPr>
            <a:normAutofit fontScale="90000"/>
          </a:bodyPr>
          <a:lstStyle/>
          <a:p>
            <a:r>
              <a:rPr lang="en-US" dirty="0"/>
              <a:t>Bayes’ rule… again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8134" y="1885939"/>
            <a:ext cx="678773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Step-by-step: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/>
              <a:t>Identify the “</a:t>
            </a:r>
            <a:r>
              <a:rPr lang="en-US" i="1" dirty="0"/>
              <a:t>disease”</a:t>
            </a:r>
            <a:r>
              <a:rPr lang="en-US" dirty="0"/>
              <a:t> and “</a:t>
            </a:r>
            <a:r>
              <a:rPr lang="en-US" i="1" dirty="0"/>
              <a:t>observation” </a:t>
            </a:r>
            <a:r>
              <a:rPr lang="en-US" dirty="0"/>
              <a:t>for the problem.</a:t>
            </a:r>
          </a:p>
          <a:p>
            <a:pPr marL="685800" lvl="1" indent="-342900">
              <a:buFont typeface="+mj-lt"/>
              <a:buAutoNum type="arabicPeriod"/>
            </a:pPr>
            <a:endParaRPr lang="en-US" sz="900" dirty="0"/>
          </a:p>
          <a:p>
            <a:pPr marL="685800" lvl="1" indent="-342900">
              <a:buFont typeface="+mj-lt"/>
              <a:buAutoNum type="arabicPeriod"/>
            </a:pPr>
            <a:r>
              <a:rPr lang="en-US" dirty="0"/>
              <a:t>Use information given to define </a:t>
            </a:r>
            <a:r>
              <a:rPr lang="en-US" i="1" dirty="0"/>
              <a:t>likelihoods </a:t>
            </a:r>
            <a:r>
              <a:rPr lang="en-US" dirty="0"/>
              <a:t>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/>
              <a:t>for each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/>
              <a:t>) and </a:t>
            </a:r>
            <a:r>
              <a:rPr lang="en-US" i="1" dirty="0"/>
              <a:t>priors</a:t>
            </a:r>
            <a:r>
              <a:rPr lang="en-US" dirty="0"/>
              <a:t>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for each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/>
              <a:t>).</a:t>
            </a:r>
          </a:p>
          <a:p>
            <a:pPr marL="685800" lvl="1" indent="-342900">
              <a:buFont typeface="+mj-lt"/>
              <a:buAutoNum type="arabicPeriod"/>
            </a:pPr>
            <a:endParaRPr lang="en-US" sz="900" dirty="0"/>
          </a:p>
          <a:p>
            <a:pPr marL="685800" lvl="1" indent="-342900">
              <a:buFont typeface="+mj-lt"/>
              <a:buAutoNum type="arabicPeriod"/>
            </a:pPr>
            <a:r>
              <a:rPr lang="en-US" dirty="0"/>
              <a:t>Calculate numerators for each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/>
              <a:t>.</a:t>
            </a:r>
          </a:p>
          <a:p>
            <a:pPr marL="685800" lvl="1" indent="-342900">
              <a:buFont typeface="+mj-lt"/>
              <a:buAutoNum type="arabicPeriod"/>
            </a:pPr>
            <a:endParaRPr lang="en-US" sz="900" dirty="0"/>
          </a:p>
          <a:p>
            <a:pPr marL="685800" lvl="1" indent="-342900">
              <a:buFont typeface="+mj-lt"/>
              <a:buAutoNum type="arabicPeriod"/>
            </a:pPr>
            <a:r>
              <a:rPr lang="en-US" dirty="0"/>
              <a:t>Calculate the denominator for all diseases by summing the numerators (one disease must have produced the observation).</a:t>
            </a:r>
          </a:p>
          <a:p>
            <a:pPr marL="685800" lvl="1" indent="-342900">
              <a:buFont typeface="+mj-lt"/>
              <a:buAutoNum type="arabicPeriod"/>
            </a:pPr>
            <a:endParaRPr lang="en-US" sz="900" dirty="0"/>
          </a:p>
          <a:p>
            <a:pPr marL="685800" lvl="1" indent="-342900">
              <a:buFont typeface="+mj-lt"/>
              <a:buAutoNum type="arabicPeriod"/>
            </a:pPr>
            <a:r>
              <a:rPr lang="en-US" dirty="0"/>
              <a:t>Divide the numerators by the denominator to be probabilities.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8DD48B-EFED-F242-9D73-47BAC6532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4278" y="1022801"/>
            <a:ext cx="3305175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816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418897" y="343959"/>
            <a:ext cx="5791942" cy="438766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Calibri"/>
                <a:ea typeface="ＭＳ Ｐゴシック" charset="0"/>
                <a:cs typeface="Calibri"/>
              </a:rPr>
              <a:t>Bayes’ rule... again!</a:t>
            </a:r>
            <a:endParaRPr lang="en-US" u="sng" dirty="0">
              <a:solidFill>
                <a:schemeClr val="tx1"/>
              </a:solidFill>
              <a:latin typeface="Calibri"/>
              <a:ea typeface="ＭＳ Ｐゴシック" charset="0"/>
              <a:cs typeface="Calibri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1444" y="867031"/>
            <a:ext cx="6794168" cy="1778726"/>
          </a:xfrm>
        </p:spPr>
        <p:txBody>
          <a:bodyPr>
            <a:normAutofit/>
          </a:bodyPr>
          <a:lstStyle/>
          <a:p>
            <a:pPr marL="253604" indent="-10716">
              <a:buNone/>
            </a:pPr>
            <a:r>
              <a:rPr lang="en-US" sz="2100" dirty="0">
                <a:latin typeface="Calibri"/>
                <a:ea typeface="ＭＳ Ｐゴシック" charset="0"/>
                <a:cs typeface="Calibri"/>
              </a:rPr>
              <a:t>	</a:t>
            </a:r>
            <a:r>
              <a:rPr lang="en-US" sz="2100" dirty="0">
                <a:ea typeface="ＭＳ Ｐゴシック" charset="0"/>
                <a:cs typeface="Calibri"/>
              </a:rPr>
              <a:t>Observation: Witness reports blue (</a:t>
            </a:r>
            <a:r>
              <a:rPr lang="en-US" sz="2100" i="1" dirty="0">
                <a:latin typeface="Times New Roman"/>
                <a:ea typeface="ＭＳ Ｐゴシック" charset="0"/>
                <a:cs typeface="Times New Roman"/>
              </a:rPr>
              <a:t>W = b</a:t>
            </a:r>
            <a:r>
              <a:rPr lang="en-US" sz="2100" dirty="0">
                <a:ea typeface="ＭＳ Ｐゴシック" charset="0"/>
                <a:cs typeface="Calibri"/>
              </a:rPr>
              <a:t>) (correct 80%)</a:t>
            </a:r>
            <a:br>
              <a:rPr lang="en-US" sz="2100" dirty="0">
                <a:ea typeface="ＭＳ Ｐゴシック" charset="0"/>
                <a:cs typeface="Calibri"/>
              </a:rPr>
            </a:br>
            <a:r>
              <a:rPr lang="en-US" sz="2100" dirty="0">
                <a:ea typeface="ＭＳ Ｐゴシック" charset="0"/>
                <a:cs typeface="Calibri"/>
              </a:rPr>
              <a:t>“Diseases”:</a:t>
            </a:r>
          </a:p>
          <a:p>
            <a:pPr marL="253604" indent="-10716">
              <a:buNone/>
            </a:pPr>
            <a:r>
              <a:rPr lang="en-US" sz="2100" dirty="0">
                <a:latin typeface="Calibri"/>
                <a:ea typeface="ＭＳ Ｐゴシック" charset="0"/>
                <a:cs typeface="Calibri"/>
              </a:rPr>
              <a:t>			</a:t>
            </a:r>
            <a:r>
              <a:rPr lang="en-US" sz="2100" i="1" dirty="0">
                <a:latin typeface="Times New Roman"/>
                <a:ea typeface="ＭＳ Ｐゴシック" charset="0"/>
                <a:cs typeface="Times New Roman"/>
              </a:rPr>
              <a:t>B</a:t>
            </a:r>
            <a:r>
              <a:rPr lang="en-US" sz="2100" dirty="0">
                <a:latin typeface="Calibri"/>
                <a:ea typeface="ＭＳ Ｐゴシック" charset="0"/>
                <a:cs typeface="Calibri"/>
              </a:rPr>
              <a:t> (the cab in the accident was blue) 15% Prior</a:t>
            </a:r>
          </a:p>
          <a:p>
            <a:pPr marL="253604" indent="-10716">
              <a:buNone/>
            </a:pPr>
            <a:r>
              <a:rPr lang="en-US" sz="2100" dirty="0">
                <a:latin typeface="Calibri"/>
                <a:ea typeface="ＭＳ Ｐゴシック" charset="0"/>
                <a:cs typeface="Calibri"/>
              </a:rPr>
              <a:t>			</a:t>
            </a:r>
            <a:r>
              <a:rPr lang="en-US" sz="2100" i="1" dirty="0">
                <a:latin typeface="Times New Roman"/>
                <a:ea typeface="ＭＳ Ｐゴシック" charset="0"/>
                <a:cs typeface="Times New Roman"/>
              </a:rPr>
              <a:t>G </a:t>
            </a:r>
            <a:r>
              <a:rPr lang="en-US" sz="2100" dirty="0">
                <a:latin typeface="Calibri"/>
                <a:ea typeface="ＭＳ Ｐゴシック" charset="0"/>
                <a:cs typeface="Calibri"/>
              </a:rPr>
              <a:t>(the cab in the accident was green) 85% Prior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69038" y="4857750"/>
            <a:ext cx="346657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dirty="0"/>
              <a:t>(</a:t>
            </a:r>
            <a:r>
              <a:rPr lang="en-US" sz="1350" dirty="0" err="1"/>
              <a:t>Kahneman</a:t>
            </a:r>
            <a:r>
              <a:rPr lang="en-US" sz="1350" dirty="0"/>
              <a:t> &amp; </a:t>
            </a:r>
            <a:r>
              <a:rPr lang="en-US" sz="1350" dirty="0" err="1"/>
              <a:t>Tversky</a:t>
            </a:r>
            <a:r>
              <a:rPr lang="en-US" sz="1350" dirty="0"/>
              <a:t>, 1972; Bar-Hillel, 1980)</a:t>
            </a:r>
          </a:p>
        </p:txBody>
      </p:sp>
      <p:pic>
        <p:nvPicPr>
          <p:cNvPr id="5" name="Picture 4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356" y="2789659"/>
            <a:ext cx="6515100" cy="2893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54337" y="3140926"/>
            <a:ext cx="6825330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Symbol" charset="0"/>
              <a:buChar char=""/>
            </a:pPr>
            <a:r>
              <a:rPr lang="en-US" sz="2025" dirty="0"/>
              <a:t>Slightly more likely to be Green despite witness saying blue!</a:t>
            </a:r>
          </a:p>
          <a:p>
            <a:pPr marL="342900" indent="-342900">
              <a:buFont typeface="Symbol" charset="0"/>
              <a:buChar char=""/>
            </a:pPr>
            <a:r>
              <a:rPr lang="en-US" sz="2025" dirty="0"/>
              <a:t>Normalize: denominator = 0.12 + 0.17 = 0.29</a:t>
            </a:r>
          </a:p>
        </p:txBody>
      </p:sp>
      <p:pic>
        <p:nvPicPr>
          <p:cNvPr id="7" name="Picture 6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355" y="2397081"/>
            <a:ext cx="6608759" cy="293131"/>
          </a:xfrm>
          <a:prstGeom prst="rect">
            <a:avLst/>
          </a:prstGeom>
        </p:spPr>
      </p:pic>
      <p:pic>
        <p:nvPicPr>
          <p:cNvPr id="8" name="Picture 7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644" y="3971853"/>
            <a:ext cx="3747317" cy="278517"/>
          </a:xfrm>
          <a:prstGeom prst="rect">
            <a:avLst/>
          </a:prstGeom>
        </p:spPr>
      </p:pic>
      <p:pic>
        <p:nvPicPr>
          <p:cNvPr id="10" name="Picture 9" descr="latex-image-1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644" y="4291427"/>
            <a:ext cx="3747317" cy="27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12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  <p:bldP spid="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Synthesis  —  the 5-step recipe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This is the course's method.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1.  Formalize the problem people face.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2.  Formalize the knowledge they bring to it.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3.  Apply Bayes' rule  —  compute what an ideal learner would infer.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4.  Characterize the ideal learner's behavior.</a:t>
            </a:r>
          </a:p>
          <a:p>
            <a:pPr>
              <a:spcAft>
                <a:spcPts val="14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5.  Identify what knowledge and constraints must be assumed for model and human behavior to match.</a:t>
            </a:r>
          </a:p>
          <a:p>
            <a:pPr>
              <a:spcAft>
                <a:spcPts val="600"/>
              </a:spcAft>
            </a:pPr>
            <a:r>
              <a:rPr sz="1400" b="0" i="1">
                <a:solidFill>
                  <a:srgbClr val="999999"/>
                </a:solidFill>
                <a:latin typeface="Calibri"/>
              </a:rPr>
              <a:t>Every week we pick a different cognitive domain and run this loop.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34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rame_m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233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502920"/>
            <a:ext cx="5843016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7315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Helvetica Neue"/>
              </a:rPr>
              <a:t>GenJAX, Admin, Homework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35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What is GenJAX?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Bayes' rule is easy to write.  Enumerating hypothesis spaces by hand is not.</a:t>
            </a:r>
          </a:p>
          <a:p>
            <a:pPr>
              <a:spcAft>
                <a:spcPts val="18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For continuous distributions you can't enumerate at all.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GenJAX is a probabilistic programming language.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You write the generative process as code. The machine does the enumeration and counting.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36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GenJAX by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CCCCCC"/>
                </a:solidFill>
                <a:latin typeface="Consolas"/>
              </a:rPr>
              <a:t>import genjax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CCCCCC"/>
                </a:solidFill>
                <a:latin typeface="Consolas"/>
              </a:rPr>
              <a:t>from genjax import gen, flip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66BB6A"/>
                </a:solidFill>
                <a:latin typeface="Consolas"/>
              </a:rPr>
              <a:t>@gen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CCCCCC"/>
                </a:solidFill>
                <a:latin typeface="Consolas"/>
              </a:rPr>
              <a:t>def chibany_day():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CCCCCC"/>
                </a:solidFill>
                <a:latin typeface="Consolas"/>
              </a:rPr>
              <a:t>    lunch  = flip(0.5) @ "lunch"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CCCCCC"/>
                </a:solidFill>
                <a:latin typeface="Consolas"/>
              </a:rPr>
              <a:t>    dinner = flip(0.5) @ "dinner"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CCCCCC"/>
                </a:solidFill>
                <a:latin typeface="Consolas"/>
              </a:rPr>
              <a:t>    return (lunch, dinner)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CCCCCC"/>
                </a:solidFill>
                <a:latin typeface="Calibri"/>
              </a:rPr>
              <a:t>•  @gen  —  this is a generative model, not a regular function.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CCCCCC"/>
                </a:solidFill>
                <a:latin typeface="Calibri"/>
              </a:rPr>
              <a:t>•  flip(0.5)  —  a Bernoulli random variable.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CCCCCC"/>
                </a:solidFill>
                <a:latin typeface="Calibri"/>
              </a:rPr>
              <a:t>•  @ "lunch"  —  name the random choice so we can condition on it later.</a:t>
            </a:r>
          </a:p>
          <a:p>
            <a:pPr>
              <a:spcAft>
                <a:spcPts val="600"/>
              </a:spcAft>
            </a:pPr>
            <a:r>
              <a:rPr sz="1300" b="1" i="1">
                <a:solidFill>
                  <a:srgbClr val="FFFFFF"/>
                </a:solidFill>
                <a:latin typeface="Calibri"/>
              </a:rPr>
              <a:t>This function IS the outcome space Ω from Block 3. Every call samples a 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37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Preemptive callouts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Use  flip(p),  not  bernoulli(p).  bernoulli takes a logit, not a probability.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The  @  operator here is not matrix multiplication. GenJAX overloads it.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Output displays as  Array(0, dtype=int32).  Treat these as 0s and 1s.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Everything runs in Google Colab.  No local installation.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38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Admin  —  grading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00584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>
                <a:solidFill>
                  <a:srgbClr val="64B5F6"/>
                </a:solidFill>
                <a:latin typeface="Helvetica Neue"/>
              </a:rPr>
              <a:t>50%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Helvetica Neue"/>
              </a:rPr>
              <a:t>proposal 5%  ·  talk 7.5%  ·  paper 37.5%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6420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Programming assignments (4)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66420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>
                <a:solidFill>
                  <a:srgbClr val="64B5F6"/>
                </a:solidFill>
                <a:latin typeface="Helvetica Neue"/>
              </a:rPr>
              <a:t>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29968"/>
            <a:ext cx="7680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Helvetica Neue"/>
              </a:rPr>
              <a:t>Clusters 7.5%  ·  Gen 7.5%  ·  MC 10.5%  ·  RL 4.5%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22576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Weekly written reflections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322576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>
                <a:solidFill>
                  <a:srgbClr val="64B5F6"/>
                </a:solidFill>
                <a:latin typeface="Helvetica Neue"/>
              </a:rPr>
              <a:t>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88336"/>
            <a:ext cx="7680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Helvetica Neue"/>
              </a:rPr>
              <a:t>~200 words  ·  8 of 13  ·  pass / fail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80944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Participation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980944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>
                <a:solidFill>
                  <a:srgbClr val="64B5F6"/>
                </a:solidFill>
                <a:latin typeface="Helvetica Neue"/>
              </a:rPr>
              <a:t>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3931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Quizzes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639312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>
                <a:solidFill>
                  <a:srgbClr val="64B5F6"/>
                </a:solidFill>
                <a:latin typeface="Helvetica Neue"/>
              </a:rPr>
              <a:t>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05072"/>
            <a:ext cx="7680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Helvetica Neue"/>
              </a:rPr>
              <a:t>self-check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80284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Helvetica Neue"/>
              </a:rPr>
              <a:t>All four assignments are completed in GenJAX.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39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Admin  —  the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Textbook:  A Narrative Introduction to Probability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64B5F6"/>
                </a:solidFill>
                <a:latin typeface="Calibri"/>
              </a:rPr>
              <a:t>       https://josephausterweil.github.io/probintro/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Tooling:  Google Colab, GenJAX. No local setup.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Office hours:  TBD — I'll poll.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Email:  best-effort 36 h response (48 h on weekends).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AI tools:  welcome as a technical resource; must cite; not for quiz/assignment answers.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Full syllabus on the course website (coming up).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40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Semester readings  —  Weeks 3–7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1752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300" b="0" i="1" dirty="0">
                <a:solidFill>
                  <a:srgbClr val="999999"/>
                </a:solidFill>
                <a:latin typeface="Calibri"/>
              </a:rPr>
              <a:t>Each week</a:t>
            </a:r>
            <a:r>
              <a:rPr lang="en-US" sz="1300" b="0" i="1" dirty="0">
                <a:solidFill>
                  <a:srgbClr val="999999"/>
                </a:solidFill>
                <a:latin typeface="Calibri"/>
              </a:rPr>
              <a:t> (starting 3)</a:t>
            </a:r>
            <a:r>
              <a:rPr sz="1300" b="0" i="1" dirty="0">
                <a:solidFill>
                  <a:srgbClr val="999999"/>
                </a:solidFill>
                <a:latin typeface="Calibri"/>
              </a:rPr>
              <a:t> includes 1-2 papers alongside the textbook. These may change.</a:t>
            </a:r>
          </a:p>
          <a:p>
            <a:pPr>
              <a:spcAft>
                <a:spcPts val="600"/>
              </a:spcAft>
            </a:pPr>
            <a:r>
              <a:rPr sz="1400" b="1" i="0" dirty="0" err="1">
                <a:solidFill>
                  <a:srgbClr val="FFFFFF"/>
                </a:solidFill>
                <a:latin typeface="Calibri"/>
              </a:rPr>
              <a:t>Wk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3  Conjugate Bayes &amp; Topic Models</a:t>
            </a:r>
          </a:p>
          <a:p>
            <a:pPr>
              <a:spcAft>
                <a:spcPts val="800"/>
              </a:spcAft>
            </a:pPr>
            <a:r>
              <a:rPr sz="1200" b="0" i="0" dirty="0">
                <a:solidFill>
                  <a:srgbClr val="CCCCCC"/>
                </a:solidFill>
                <a:latin typeface="Calibri"/>
              </a:rPr>
              <a:t>  Griffiths &amp; Tenenbaum 2001 (Randomness)  ·  </a:t>
            </a:r>
            <a:r>
              <a:rPr sz="1200" b="0" i="0" dirty="0" err="1">
                <a:solidFill>
                  <a:srgbClr val="CCCCCC"/>
                </a:solidFill>
                <a:latin typeface="Calibri"/>
              </a:rPr>
              <a:t>Steyvers</a:t>
            </a:r>
            <a:r>
              <a:rPr sz="1200" b="0" i="0" dirty="0">
                <a:solidFill>
                  <a:srgbClr val="CCCCCC"/>
                </a:solidFill>
                <a:latin typeface="Calibri"/>
              </a:rPr>
              <a:t> &amp; Griffiths 2000 (Topic Models)</a:t>
            </a:r>
          </a:p>
          <a:p>
            <a:pPr>
              <a:spcAft>
                <a:spcPts val="600"/>
              </a:spcAft>
            </a:pPr>
            <a:r>
              <a:rPr sz="1400" b="1" i="0" dirty="0" err="1">
                <a:solidFill>
                  <a:srgbClr val="FFFFFF"/>
                </a:solidFill>
                <a:latin typeface="Calibri"/>
              </a:rPr>
              <a:t>Wk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4  Generalization &amp; Hierarchical Bayes</a:t>
            </a:r>
          </a:p>
          <a:p>
            <a:pPr>
              <a:spcAft>
                <a:spcPts val="800"/>
              </a:spcAft>
            </a:pPr>
            <a:r>
              <a:rPr sz="1200" b="0" i="0" dirty="0">
                <a:solidFill>
                  <a:srgbClr val="CCCCCC"/>
                </a:solidFill>
                <a:latin typeface="Calibri"/>
              </a:rPr>
              <a:t>  Tenenbaum 1999 (Concept Learning)  ·  Xu &amp; Tenenbaum 2000</a:t>
            </a:r>
          </a:p>
          <a:p>
            <a:pPr>
              <a:spcAft>
                <a:spcPts val="600"/>
              </a:spcAft>
            </a:pPr>
            <a:r>
              <a:rPr sz="1400" b="1" i="0" dirty="0" err="1">
                <a:solidFill>
                  <a:srgbClr val="FFFFFF"/>
                </a:solidFill>
                <a:latin typeface="Calibri"/>
              </a:rPr>
              <a:t>Wk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5  Hierarchical Bayes &amp; Bayes Nets</a:t>
            </a:r>
          </a:p>
          <a:p>
            <a:pPr>
              <a:spcAft>
                <a:spcPts val="800"/>
              </a:spcAft>
            </a:pPr>
            <a:r>
              <a:rPr sz="1200" b="0" i="0" dirty="0">
                <a:solidFill>
                  <a:srgbClr val="CCCCCC"/>
                </a:solidFill>
                <a:latin typeface="Calibri"/>
              </a:rPr>
              <a:t>  </a:t>
            </a:r>
            <a:r>
              <a:rPr sz="1200" b="0" i="0" dirty="0" err="1">
                <a:solidFill>
                  <a:srgbClr val="CCCCCC"/>
                </a:solidFill>
                <a:latin typeface="Calibri"/>
              </a:rPr>
              <a:t>DeZoete</a:t>
            </a:r>
            <a:r>
              <a:rPr sz="1200" b="0" i="0" dirty="0">
                <a:solidFill>
                  <a:srgbClr val="CCCCCC"/>
                </a:solidFill>
                <a:latin typeface="Calibri"/>
              </a:rPr>
              <a:t> 2019</a:t>
            </a:r>
          </a:p>
          <a:p>
            <a:pPr>
              <a:spcAft>
                <a:spcPts val="600"/>
              </a:spcAft>
            </a:pPr>
            <a:r>
              <a:rPr sz="1400" b="1" i="0" dirty="0" err="1">
                <a:solidFill>
                  <a:srgbClr val="FFFFFF"/>
                </a:solidFill>
                <a:latin typeface="Calibri"/>
              </a:rPr>
              <a:t>Wk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6  Causal Bayes Nets</a:t>
            </a:r>
          </a:p>
          <a:p>
            <a:pPr>
              <a:spcAft>
                <a:spcPts val="800"/>
              </a:spcAft>
            </a:pPr>
            <a:r>
              <a:rPr sz="1200" b="0" i="0" dirty="0">
                <a:solidFill>
                  <a:srgbClr val="CCCCCC"/>
                </a:solidFill>
                <a:latin typeface="Calibri"/>
              </a:rPr>
              <a:t>  </a:t>
            </a:r>
            <a:r>
              <a:rPr sz="1200" b="0" i="0" dirty="0" err="1">
                <a:solidFill>
                  <a:srgbClr val="CCCCCC"/>
                </a:solidFill>
                <a:latin typeface="Calibri"/>
              </a:rPr>
              <a:t>Lagnado</a:t>
            </a:r>
            <a:r>
              <a:rPr sz="1200" b="0" i="0" dirty="0">
                <a:solidFill>
                  <a:srgbClr val="CCCCCC"/>
                </a:solidFill>
                <a:latin typeface="Calibri"/>
              </a:rPr>
              <a:t> 2002  ·  Griffiths et al. 2004 (Hidden Causes)  ·  Gerstenberg 2015</a:t>
            </a:r>
          </a:p>
          <a:p>
            <a:pPr>
              <a:spcAft>
                <a:spcPts val="600"/>
              </a:spcAft>
            </a:pPr>
            <a:r>
              <a:rPr sz="1400" b="1" i="0" dirty="0" err="1">
                <a:solidFill>
                  <a:srgbClr val="FFFFFF"/>
                </a:solidFill>
                <a:latin typeface="Calibri"/>
              </a:rPr>
              <a:t>Wk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7  Markov Chains &amp; Networks</a:t>
            </a:r>
          </a:p>
          <a:p>
            <a:pPr>
              <a:spcAft>
                <a:spcPts val="600"/>
              </a:spcAft>
            </a:pPr>
            <a:r>
              <a:rPr sz="1200" b="0" i="0" dirty="0">
                <a:solidFill>
                  <a:srgbClr val="CCCCCC"/>
                </a:solidFill>
                <a:latin typeface="Calibri"/>
              </a:rPr>
              <a:t>  Abbott et al. 2012 (Random Walks)  ·  Mukherjee 2017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41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Semester readings  —  Weeks 8–13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Wk 8  Monte Carlo Methods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CCCCCC"/>
                </a:solidFill>
                <a:latin typeface="Calibri"/>
              </a:rPr>
              <a:t>  Vul et al. 2009 (One and Done)  ·  Griffiths &amp; Sanborn 2007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Wk 9  SDT, MDPs &amp; Reinforcement Learning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CCCCCC"/>
                </a:solidFill>
                <a:latin typeface="Calibri"/>
              </a:rPr>
              <a:t>  Schultz 1997 (Dopamine &amp; Reward)  ·  Daw et al. 2005  ·  Ho et al. 2015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Wk 10  Inverse Reinforcement Learning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CCCCCC"/>
                </a:solidFill>
                <a:latin typeface="Calibri"/>
              </a:rPr>
              <a:t>  Baker et al. 2007 (Theory of Mind)  ·  Ho et al. 2016, 2017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Wk 11  Bayesian Nonparametrics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CCCCCC"/>
                </a:solidFill>
                <a:latin typeface="Calibri"/>
              </a:rPr>
              <a:t>  Austerweil et al. 2015 (BNP Book Chapter)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Wk 12  Deep Neural Networks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CCCCCC"/>
                </a:solidFill>
                <a:latin typeface="Calibri"/>
              </a:rPr>
              <a:t>  LeCun et al. 2015 (Deep Learning)  ·  Lake et al. 2015  ·  Pereira et al. 2018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Wk 13  Ethics &amp; Adversarial ML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CCCCCC"/>
                </a:solidFill>
                <a:latin typeface="Calibri"/>
              </a:rPr>
              <a:t>  Caliskan et al. 2017 (Bias)  ·  Buolamwini 2018  ·  Zhou &amp; Firestone 2019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42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Homework for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CCCCCC"/>
                </a:solidFill>
                <a:latin typeface="Calibri"/>
              </a:rPr>
              <a:t>1.  Textbook T1 Ch 1-3  —  reinforces everything from Block 3.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999999"/>
                </a:solidFill>
                <a:latin typeface="Consolas"/>
              </a:rPr>
              <a:t>       intro/01_goals.md  ·  02_hungry.md  ·  03_prob_count.md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CCCCCC"/>
                </a:solidFill>
                <a:latin typeface="Calibri"/>
              </a:rPr>
              <a:t>2.  Textbook T2 Ch 0-1  —  gets GenJAX running in Colab.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999999"/>
                </a:solidFill>
                <a:latin typeface="Consolas"/>
              </a:rPr>
              <a:t>       genjax/00_getting_started.md  ·  01_python_basics.md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CCCCCC"/>
                </a:solidFill>
                <a:latin typeface="Calibri"/>
              </a:rPr>
              <a:t>3.  Start thinking about a final-project topic. We'll talk Week 2.</a:t>
            </a:r>
          </a:p>
          <a:p>
            <a:pPr>
              <a:spcAft>
                <a:spcPts val="600"/>
              </a:spcAft>
            </a:pPr>
            <a:r>
              <a:rPr sz="1300" b="0" i="1">
                <a:solidFill>
                  <a:srgbClr val="999999"/>
                </a:solidFill>
                <a:latin typeface="Calibri"/>
              </a:rPr>
              <a:t>Week 2 has a short optional self-check quiz (Intro Probability Theory 1).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43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8028431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00" b="1">
                <a:solidFill>
                  <a:srgbClr val="64B5F6"/>
                </a:solidFill>
                <a:latin typeface="Helvetica Neue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8028431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999999"/>
                </a:solidFill>
                <a:latin typeface="Helvetica Neue"/>
              </a:rPr>
              <a:t>Thanks — see you next Friday.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1834</TotalTime>
  <Words>3578</Words>
  <Application>Microsoft Office PowerPoint</Application>
  <PresentationFormat>On-screen Show (16:9)</PresentationFormat>
  <Paragraphs>520</Paragraphs>
  <Slides>57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6" baseType="lpstr">
      <vt:lpstr>Helvetica Neue</vt:lpstr>
      <vt:lpstr>ＭＳ Ｐゴシック</vt:lpstr>
      <vt:lpstr>Arial</vt:lpstr>
      <vt:lpstr>Calibri</vt:lpstr>
      <vt:lpstr>Cambria Math</vt:lpstr>
      <vt:lpstr>Consolas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 a dark and depressing world...</vt:lpstr>
      <vt:lpstr>Writing probabilities</vt:lpstr>
      <vt:lpstr>PowerPoint Presentation</vt:lpstr>
      <vt:lpstr>PowerPoint Presentation</vt:lpstr>
      <vt:lpstr>Bayes’ rule</vt:lpstr>
      <vt:lpstr>Bayes’ rule via word math</vt:lpstr>
      <vt:lpstr>Bayes’ rule</vt:lpstr>
      <vt:lpstr>Bayes’ rule</vt:lpstr>
      <vt:lpstr>Bayes’ rule</vt:lpstr>
      <vt:lpstr>Bayes’ rule</vt:lpstr>
      <vt:lpstr>Bayes’ rule</vt:lpstr>
      <vt:lpstr>PowerPoint Presentation</vt:lpstr>
      <vt:lpstr>PowerPoint Presentation</vt:lpstr>
      <vt:lpstr>Base-rate neglect</vt:lpstr>
      <vt:lpstr>Heuristics and biases</vt:lpstr>
      <vt:lpstr>Heuristics and Biases for Cognition</vt:lpstr>
      <vt:lpstr>Getting the correct answer:  Depicting the situation (Witness said blue)</vt:lpstr>
      <vt:lpstr>Getting the correct answer: Another depiction</vt:lpstr>
      <vt:lpstr>Getting the correct answer: Another depiction</vt:lpstr>
      <vt:lpstr>Getting the correct answer: Another depiction</vt:lpstr>
      <vt:lpstr>Bayes’ rule… again</vt:lpstr>
      <vt:lpstr>Bayes’ rule... again!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Joseph Austerweil</cp:lastModifiedBy>
  <cp:revision>2</cp:revision>
  <dcterms:created xsi:type="dcterms:W3CDTF">2013-01-27T09:14:16Z</dcterms:created>
  <dcterms:modified xsi:type="dcterms:W3CDTF">2026-04-18T10:10:08Z</dcterms:modified>
  <cp:category/>
</cp:coreProperties>
</file>