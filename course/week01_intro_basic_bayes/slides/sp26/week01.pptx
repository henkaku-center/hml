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rame_yel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233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417320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Helvetica Neue"/>
              </a:rPr>
              <a:t>Human and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999999"/>
                </a:solidFill>
                <a:latin typeface="Helvetica Neue"/>
              </a:rPr>
              <a:t>Week 1  —  Introduction and Basic Bayes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999999"/>
                </a:solidFill>
                <a:latin typeface="Helvetica Neue"/>
              </a:rPr>
              <a:t>Spring 2026  ·  Apr 17  ·  Prof. Joseph Austerweil</a:t>
            </a:r>
          </a:p>
        </p:txBody>
      </p:sp>
      <p:pic>
        <p:nvPicPr>
          <p:cNvPr id="7" name="Picture 6" descr="sds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931920"/>
            <a:ext cx="182880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Helvetica Neue"/>
              </a:rP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520189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1520189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Helvetica Neue"/>
              </a:rPr>
              <a:t>Block 1  ·  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904238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Why this course exists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90423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Helvetica Neue"/>
              </a:rPr>
              <a:t>Block 2  ·  25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288286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Basic Bayes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288286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Helvetica Neue"/>
              </a:rPr>
              <a:t>Block 3  ·  25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672334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Bayes in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67233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Helvetica Neue"/>
              </a:rPr>
              <a:t>Block 4  ·  35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056382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GenJAX, admin, homework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05638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Helvetica Neue"/>
              </a:rPr>
              <a:t>Block 5  ·  20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rame_m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233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502920"/>
            <a:ext cx="584301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Helvetica Neue"/>
              </a:rPr>
              <a:t>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•  Who you are, what you're hoping to get out of the course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•  Why this course exists  —  inductive inference under uncertainty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•  Basic probability and Bayes' rule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•  Two worked examples: sick friend, Kahneman–Tversky cab problem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•  What is GenJAX, and how will we use it?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•  Logistics and homework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rame_m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233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502920"/>
            <a:ext cx="584301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Helvetica Neue"/>
              </a:rPr>
              <a:t>Why This Course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Deduction vs. induction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Deduction</a:t>
            </a:r>
          </a:p>
          <a:p>
            <a:pPr>
              <a:spcAft>
                <a:spcPts val="600"/>
              </a:spcAft>
            </a:pPr>
            <a:r>
              <a:rPr sz="2200" b="0" i="0">
                <a:solidFill>
                  <a:srgbClr val="64B5F6"/>
                </a:solidFill>
                <a:latin typeface="Cambria Math"/>
              </a:rPr>
              <a:t>1 + 4 = ?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999999"/>
                </a:solidFill>
                <a:latin typeface="Calibri"/>
              </a:rPr>
              <a:t>Preserves truth. One answer.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Induction</a:t>
            </a:r>
          </a:p>
          <a:p>
            <a:pPr>
              <a:spcAft>
                <a:spcPts val="600"/>
              </a:spcAft>
            </a:pPr>
            <a:r>
              <a:rPr sz="2200" b="0" i="0">
                <a:solidFill>
                  <a:srgbClr val="EF5350"/>
                </a:solidFill>
                <a:latin typeface="Cambria Math"/>
              </a:rPr>
              <a:t>? + ? = 5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999999"/>
                </a:solidFill>
                <a:latin typeface="Calibri"/>
              </a:rPr>
              <a:t>Underdetermined. Many plausible answers.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The problems people excel at — where we outperform machines — are inductive.</a:t>
            </a:r>
          </a:p>
          <a:p>
            <a:pPr>
              <a:spcAft>
                <a:spcPts val="600"/>
              </a:spcAft>
            </a:pPr>
            <a:r>
              <a:rPr sz="1400" b="0" i="1">
                <a:solidFill>
                  <a:srgbClr val="999999"/>
                </a:solidFill>
                <a:latin typeface="Calibri"/>
              </a:rPr>
              <a:t>They feel easy. They are 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802843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>
                <a:solidFill>
                  <a:srgbClr val="64B5F6"/>
                </a:solidFill>
                <a:latin typeface="Helvetica Neue"/>
              </a:rPr>
              <a:t>Three inductive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802843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999999"/>
                </a:solidFill>
                <a:latin typeface="Helvetica Neue"/>
              </a:rPr>
              <a:t>(... that the mind solves constantly)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1.  Perception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Which square is darker — A or B?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The visual system solves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4B5F6"/>
                </a:solidFill>
                <a:latin typeface="Consolas"/>
              </a:rPr>
              <a:t>square color + shadow = intensity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for square color, using priors about how retinal images are generated.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You are literally looking at an inductive inference right now.</a:t>
            </a:r>
          </a:p>
        </p:txBody>
      </p:sp>
      <p:pic>
        <p:nvPicPr>
          <p:cNvPr id="6" name="Picture 5" descr="checkershad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960120"/>
            <a:ext cx="402336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2.  Mental states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Data:  other people's behavior (motion, speech, gaze).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Hypotheses:  their goals and beliefs.</a:t>
            </a:r>
          </a:p>
          <a:p>
            <a:pPr>
              <a:spcAft>
                <a:spcPts val="1800"/>
              </a:spcAft>
            </a:pPr>
            <a:r>
              <a:rPr sz="1400" b="0" i="1">
                <a:solidFill>
                  <a:srgbClr val="999999"/>
                </a:solidFill>
                <a:latin typeface="Calibri"/>
              </a:rPr>
              <a:t>Heider &amp; Simmel (1944) — animated geometric shapes.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Watch ~90 seconds, then describe what happened: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64B5F6"/>
                </a:solidFill>
                <a:latin typeface="Calibri"/>
              </a:rPr>
              <a:t>https://www.youtube.com/watch?v=VTNmLt7QX8E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2.  Mental states  — 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Everyone spontaneously narrates the shapes as agents with intentions, grudges, fears.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Those intentions were never in the video.  Shapes moved on a plane.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Data:  2D motion trajectories.</a:t>
            </a:r>
          </a:p>
          <a:p>
            <a:pPr>
              <a:spcAft>
                <a:spcPts val="14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Hidden:  goals, beliefs, relationships.</a:t>
            </a:r>
          </a:p>
          <a:p>
            <a:pPr>
              <a:spcAft>
                <a:spcPts val="600"/>
              </a:spcAft>
            </a:pPr>
            <a:r>
              <a:rPr sz="1400" b="0" i="1">
                <a:solidFill>
                  <a:srgbClr val="999999"/>
                </a:solidFill>
                <a:latin typeface="Calibri"/>
              </a:rPr>
              <a:t>Your mind solved the inverse problem — behavior → mental states — without you noticing.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3.  Word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You're in the Australian outback. Someone points at a hopping animal and says "jumbuck."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What does jumbuck mean?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CCCCCC"/>
                </a:solidFill>
                <a:latin typeface="Calibri"/>
              </a:rPr>
              <a:t>•  the animal itself?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CCCCCC"/>
                </a:solidFill>
                <a:latin typeface="Calibri"/>
              </a:rPr>
              <a:t>•  undetached kangaroo-parts?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CCCCCC"/>
                </a:solidFill>
                <a:latin typeface="Calibri"/>
              </a:rPr>
              <a:t>•  kangaroo temporal-stages?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CCCCCC"/>
                </a:solidFill>
                <a:latin typeface="Calibri"/>
              </a:rPr>
              <a:t>•  any mammal?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CCCCCC"/>
                </a:solidFill>
                <a:latin typeface="Calibri"/>
              </a:rPr>
              <a:t>•  dinner?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CCCCCC"/>
                </a:solidFill>
                <a:latin typeface="Calibri"/>
              </a:rPr>
              <a:t>All consistent with the data. Children pick one — fast.</a:t>
            </a:r>
          </a:p>
          <a:p>
            <a:pPr>
              <a:spcAft>
                <a:spcPts val="600"/>
              </a:spcAft>
            </a:pPr>
            <a:r>
              <a:rPr sz="1400" b="0" i="1">
                <a:solidFill>
                  <a:srgbClr val="999999"/>
                </a:solidFill>
                <a:latin typeface="Calibri"/>
              </a:rPr>
              <a:t>They bring strong prior expectations about what words mean.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Check-in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What's the common structure across these three problems?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Hidden variable we care about:  h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Noisy / sparse data we observe:  d</a:t>
            </a:r>
          </a:p>
          <a:p>
            <a:pPr>
              <a:spcAft>
                <a:spcPts val="1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Prior knowledge we bring to bear</a:t>
            </a:r>
          </a:p>
          <a:p>
            <a:pPr>
              <a:spcAft>
                <a:spcPts val="600"/>
              </a:spcAft>
            </a:pPr>
            <a:r>
              <a:rPr sz="2200" b="1" i="0">
                <a:solidFill>
                  <a:srgbClr val="64B5F6"/>
                </a:solidFill>
                <a:latin typeface="Cambria Math"/>
              </a:rPr>
              <a:t>P(h | d)  ∝  P(d | h)  ·  P(h)</a:t>
            </a:r>
          </a:p>
          <a:p>
            <a:pPr>
              <a:spcAft>
                <a:spcPts val="600"/>
              </a:spcAft>
            </a:pPr>
            <a:r>
              <a:rPr sz="1300" b="0" i="1">
                <a:solidFill>
                  <a:srgbClr val="999999"/>
                </a:solidFill>
                <a:latin typeface="Calibri"/>
              </a:rPr>
              <a:t>(We'll unpack every symbol in the next hour.)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rame_m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233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502920"/>
            <a:ext cx="584301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Helvetica Neue"/>
              </a:rPr>
              <a:t>Basic Bayes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Chibany is hungry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Chibany, mascot of Chiba Tech, gets two bento offerings per day: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one for lunch, one for dinner.  Each is either Hamburger (H) or Tonkatsu (T).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FFFFF"/>
                </a:solidFill>
                <a:latin typeface="Cambria Math"/>
              </a:rPr>
              <a:t>Outcome space:   Ω = {HH, HT, TH, TT}     |Ω| = 4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Event:  any subset of Ω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999999"/>
                </a:solidFill>
                <a:latin typeface="Calibri"/>
              </a:rPr>
              <a:t>       e.g., "at least one tonkatsu" = {HT, TH, TT}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Event space:  the set of all events (powerset of Ω).   2⁴ = 16 events.</a:t>
            </a:r>
          </a:p>
          <a:p>
            <a:pPr>
              <a:spcAft>
                <a:spcPts val="600"/>
              </a:spcAft>
            </a:pPr>
            <a:r>
              <a:rPr sz="1200" b="0" i="1">
                <a:solidFill>
                  <a:srgbClr val="999999"/>
                </a:solidFill>
                <a:latin typeface="Calibri"/>
              </a:rPr>
              <a:t>(This example is from the course textbook, Ch 2.)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Probability is 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Chibany wants tonkatsu.  What's the probability of at least one T?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FFFFFF"/>
                </a:solidFill>
                <a:latin typeface="Cambria Math"/>
              </a:rPr>
              <a:t>P(A)  =  |A|  /  |Ω|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CCCCCC"/>
                </a:solidFill>
                <a:latin typeface="Cambria Math"/>
              </a:rPr>
              <a:t>A = {HT, TH, TT},   |A| = 3,   |Ω| = 4</a:t>
            </a:r>
          </a:p>
          <a:p>
            <a:pPr>
              <a:spcAft>
                <a:spcPts val="1600"/>
              </a:spcAft>
            </a:pPr>
            <a:r>
              <a:rPr sz="2000" b="1" i="0">
                <a:solidFill>
                  <a:srgbClr val="64B5F6"/>
                </a:solidFill>
                <a:latin typeface="Cambria Math"/>
              </a:rPr>
              <a:t>P(at least one T)  =  3/4  =  0.75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Count the outcomes in the event.  Divide by total outcomes.  That's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Random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Chibany wants to know:  how much tonkatsu?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A random variable is a function from outcomes to numbers.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Cambria Math"/>
              </a:rPr>
              <a:t>f : Ω → {0, 1, 2}     "count the tonkatsus"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CCCCCC"/>
                </a:solidFill>
                <a:latin typeface="Cambria Math"/>
              </a:rPr>
              <a:t>f(HH) = 0,    f(HT) = 1,    f(TH) = 1,    f(TT) = 2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64B5F6"/>
                </a:solidFill>
                <a:latin typeface="Cambria Math"/>
              </a:rPr>
              <a:t>P(f = 1)  =  |{HT, TH}| / |Ω|  =  2/4  =  1/2</a:t>
            </a:r>
          </a:p>
          <a:p>
            <a:pPr>
              <a:spcAft>
                <a:spcPts val="600"/>
              </a:spcAft>
            </a:pPr>
            <a:r>
              <a:rPr sz="1300" b="0" i="1">
                <a:solidFill>
                  <a:srgbClr val="999999"/>
                </a:solidFill>
                <a:latin typeface="Calibri"/>
              </a:rPr>
              <a:t>The word random is about the input, not the mapping.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Joint probability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What's the chance of hamburger for lunch and tonkatsu for dinner?</a:t>
            </a:r>
          </a:p>
          <a:p>
            <a:pPr>
              <a:spcAft>
                <a:spcPts val="1600"/>
              </a:spcAft>
            </a:pPr>
            <a:r>
              <a:rPr sz="2000" b="1" i="0">
                <a:solidFill>
                  <a:srgbClr val="FFFFFF"/>
                </a:solidFill>
                <a:latin typeface="Cambria Math"/>
              </a:rPr>
              <a:t>P(lunch = H,  dinner = T)  =  P({HT})  =  1/4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Joint = "both of these at once."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Conditional probability  —  Tanaka-san visits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Tanaka-san tells Chibany: "Tomorrow you'll get at least one tonkatsu!"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Chibany asks:  what's the probability dinner is also tonkatsu?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Tanaka-san says 1/2.  Chibany disagrees.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Conditioning = restricting the outcome space.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Cross out HH.  New universe:  {HT, TH, TT}  (3 outcomes).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Of those, 2 have dinner = T.</a:t>
            </a:r>
          </a:p>
          <a:p>
            <a:pPr>
              <a:spcAft>
                <a:spcPts val="600"/>
              </a:spcAft>
            </a:pPr>
            <a:r>
              <a:rPr sz="2200" b="1" i="0">
                <a:solidFill>
                  <a:srgbClr val="64B5F6"/>
                </a:solidFill>
                <a:latin typeface="Cambria Math"/>
              </a:rPr>
              <a:t>P(dinner = T  |  ≥1 T)  =  2/3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Dependence vs. independence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Tanaka-san protests:  "But what if I just tell you the first meal is T?"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FFFFFF"/>
                </a:solidFill>
                <a:latin typeface="Cambria Math"/>
              </a:rPr>
              <a:t>P(dinner = T  |  lunch = T)  =  |{TT}| / |{TH, TT}|  =  1/2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That's the same as the unconditional P(dinner = T) = 1/2.  No change!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Dependent:   P(A | B) ≠ P(A)    —  learning B changes your belief about A.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Independent:  P(A | B) = P(A)    —  learning B tells you nothing new.</a:t>
            </a:r>
          </a:p>
          <a:p>
            <a:pPr>
              <a:spcAft>
                <a:spcPts val="600"/>
              </a:spcAft>
            </a:pPr>
            <a:r>
              <a:rPr sz="1400" b="0" i="1">
                <a:solidFill>
                  <a:srgbClr val="999999"/>
                </a:solidFill>
                <a:latin typeface="Calibri"/>
              </a:rPr>
              <a:t>"At least one T" and "lunch = T" give different information about dinner!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Marginalization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Chibany's dinner student is sick.  Only one meal today:  Ω₁ = {H, T}.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P(lunch = T) = 1/2.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Next day, both meals are back.  What's P(lunch = T) now?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FFFFFF"/>
                </a:solidFill>
                <a:latin typeface="Cambria Math"/>
              </a:rPr>
              <a:t>P(lunch = T)  =  P(TH) + P(TT)  =  1/4 + 1/4  =  1/2     Same!</a:t>
            </a:r>
          </a:p>
          <a:p>
            <a:pPr>
              <a:spcAft>
                <a:spcPts val="1000"/>
              </a:spcAft>
            </a:pPr>
            <a:r>
              <a:rPr sz="2200" b="1" i="0">
                <a:solidFill>
                  <a:srgbClr val="64B5F6"/>
                </a:solidFill>
                <a:latin typeface="Cambria Math"/>
              </a:rPr>
              <a:t>P(X)  =  Σ_c  P(X, C = c)</a:t>
            </a:r>
          </a:p>
          <a:p>
            <a:pPr>
              <a:spcAft>
                <a:spcPts val="600"/>
              </a:spcAft>
            </a:pPr>
            <a:r>
              <a:rPr sz="1400" b="0" i="1">
                <a:solidFill>
                  <a:srgbClr val="999999"/>
                </a:solidFill>
                <a:latin typeface="Calibri"/>
              </a:rPr>
              <a:t>Sum the joint over the values of whatever you want to get rid of.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The ratio definition  →  Bayes'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Cambria Math"/>
              </a:rPr>
              <a:t>P(A | B)  =  P(A ∩ B)  /  P(B)</a:t>
            </a:r>
          </a:p>
          <a:p>
            <a:pPr>
              <a:spcAft>
                <a:spcPts val="1600"/>
              </a:spcAft>
            </a:pPr>
            <a:r>
              <a:rPr sz="1400" b="0" i="0">
                <a:solidFill>
                  <a:srgbClr val="CCCCCC"/>
                </a:solidFill>
                <a:latin typeface="Cambria Math"/>
              </a:rPr>
              <a:t>Chibany checks:  P(dinner=T | ≥1T) = (2/4) / (3/4) = 2/3   ✓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From the product rule, both directions: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FFFFFF"/>
                </a:solidFill>
                <a:latin typeface="Cambria Math"/>
              </a:rPr>
              <a:t>P(A | B) · P(B)  =  P(A, B)  =  P(B | A) · P(A)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Divide:</a:t>
            </a:r>
          </a:p>
          <a:p>
            <a:pPr>
              <a:spcAft>
                <a:spcPts val="1400"/>
              </a:spcAft>
            </a:pPr>
            <a:r>
              <a:rPr sz="2400" b="1" i="0">
                <a:solidFill>
                  <a:srgbClr val="64B5F6"/>
                </a:solidFill>
                <a:latin typeface="Cambria Math"/>
              </a:rPr>
              <a:t>P(A | B)  =  P(B | A) · P(A)  /  P(B)</a:t>
            </a:r>
          </a:p>
          <a:p>
            <a:pPr>
              <a:spcAft>
                <a:spcPts val="600"/>
              </a:spcAft>
            </a:pPr>
            <a:r>
              <a:rPr sz="1400" b="0" i="1">
                <a:solidFill>
                  <a:srgbClr val="999999"/>
                </a:solidFill>
                <a:latin typeface="Calibri"/>
              </a:rPr>
              <a:t>That's it. The rest of the course is understanding what this means.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Check-in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For the problem I'm about to give you — the cab problem —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•  What's d (the data, the observation)?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•  What's h (the hidden variable)?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rame_m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233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502920"/>
            <a:ext cx="584301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Helvetica Neue"/>
              </a:rPr>
              <a:t>Bayes in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Sick friend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Your 50-year-old friend has been a chain smoker since 18.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There's a nasty cold going around.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You go over to their house. You hear them cough.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Three possibilities: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64B5F6"/>
                </a:solidFill>
                <a:latin typeface="Calibri"/>
              </a:rPr>
              <a:t>Cold      ·      Stomach virus      ·      Lung cancer</a:t>
            </a:r>
          </a:p>
          <a:p>
            <a:pPr>
              <a:spcAft>
                <a:spcPts val="600"/>
              </a:spcAft>
            </a:pPr>
            <a:r>
              <a:rPr sz="1600" b="0" i="1">
                <a:solidFill>
                  <a:srgbClr val="FFFFFF"/>
                </a:solidFill>
                <a:latin typeface="Calibri"/>
              </a:rPr>
              <a:t>How likely is each?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First pass  —  qualitatively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999999"/>
                </a:solidFill>
                <a:latin typeface="Consolas"/>
              </a:rPr>
              <a:t>                                Prior            P(cough | h)        Prior × Likelihood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66BB6A"/>
                </a:solidFill>
                <a:latin typeface="Consolas"/>
              </a:rPr>
              <a:t>Cold                          high              high                       high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onsolas"/>
              </a:rPr>
              <a:t>Stomach virus           medium         low                          low</a:t>
            </a:r>
          </a:p>
          <a:p>
            <a:pPr>
              <a:spcAft>
                <a:spcPts val="1600"/>
              </a:spcAft>
            </a:pPr>
            <a:r>
              <a:rPr sz="1500" b="0" i="0">
                <a:solidFill>
                  <a:srgbClr val="CCCCCC"/>
                </a:solidFill>
                <a:latin typeface="Consolas"/>
              </a:rPr>
              <a:t>Lung cancer              medium         high                         medium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Before any math:  cold is most likely.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With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999999"/>
                </a:solidFill>
                <a:latin typeface="Consolas"/>
              </a:rPr>
              <a:t>                                P(h)         P(cough | h)        Numerator        Posterior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66BB6A"/>
                </a:solidFill>
                <a:latin typeface="Consolas"/>
              </a:rPr>
              <a:t>Cold                          0.45         0.9                       0.405                0.750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onsolas"/>
              </a:rPr>
              <a:t>Stomach virus           0.10         0.45                     0.045                0.083</a:t>
            </a:r>
          </a:p>
          <a:p>
            <a:pPr>
              <a:spcAft>
                <a:spcPts val="1400"/>
              </a:spcAft>
            </a:pPr>
            <a:r>
              <a:rPr sz="1500" b="0" i="0">
                <a:solidFill>
                  <a:srgbClr val="CCCCCC"/>
                </a:solidFill>
                <a:latin typeface="Consolas"/>
              </a:rPr>
              <a:t>Lung cancer              0.10         0.9                       0.090                0.167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CCCCCC"/>
                </a:solidFill>
                <a:latin typeface="Calibri"/>
              </a:rPr>
              <a:t>Sum of numerators:  0.405 + 0.045 + 0.090  =  0.540.</a:t>
            </a:r>
          </a:p>
          <a:p>
            <a:pPr>
              <a:spcAft>
                <a:spcPts val="600"/>
              </a:spcAft>
            </a:pPr>
            <a:r>
              <a:rPr sz="1400" b="0" i="1">
                <a:solidFill>
                  <a:srgbClr val="999999"/>
                </a:solidFill>
                <a:latin typeface="Calibri"/>
              </a:rPr>
              <a:t>Divide each numerator by the sum to normalize.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The pedagogical punchline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mbria Math"/>
              </a:rPr>
              <a:t>P(cold | cough)  =  (0.9 · 0.45) / (0.9·0.45 + 0.45·0.10 + 0.9·0.10)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64B5F6"/>
                </a:solidFill>
                <a:latin typeface="Cambria Math"/>
              </a:rPr>
              <a:t>                  =  0.405 / 0.540  =  0.75</a:t>
            </a:r>
          </a:p>
          <a:p>
            <a:pPr>
              <a:spcAft>
                <a:spcPts val="1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Even with a chain-smoking friend, P(lung cancer | cough) ≈ 17%  —  not dominant.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cold wins because: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CCCCCC"/>
                </a:solidFill>
                <a:latin typeface="Calibri"/>
              </a:rPr>
              <a:t>1.  Priors matter.  Cold has a ~4.5× higher prior than cancer.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CCCCCC"/>
                </a:solidFill>
                <a:latin typeface="Calibri"/>
              </a:rPr>
              <a:t>2.  Likelihoods matter.  Cough is more likely from a cold (0.9) than a stomach virus (0.45).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CCCCCC"/>
                </a:solidFill>
                <a:latin typeface="Calibri"/>
              </a:rPr>
              <a:t>3.  Neither alone is enough.  You need the whole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rame_m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233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502920"/>
            <a:ext cx="584301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Helvetica Neue"/>
              </a:rPr>
              <a:t>The Kahneman–Tversky cab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•  A city has two cab companies:  Blue and Green.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•  85% of cabs are Green.  15% are Blue.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•  At night, a hit-and-run happens. A witness says the cab was Blue.</a:t>
            </a:r>
          </a:p>
          <a:p>
            <a:pPr>
              <a:spcAft>
                <a:spcPts val="18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•  The witness correctly identifies cab colors at night 80% of the time.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What is the probability the cab was actually Blue?</a:t>
            </a:r>
          </a:p>
          <a:p>
            <a:pPr>
              <a:spcAft>
                <a:spcPts val="600"/>
              </a:spcAft>
            </a:pPr>
            <a:r>
              <a:rPr sz="1300" b="0" i="1">
                <a:solidFill>
                  <a:srgbClr val="999999"/>
                </a:solidFill>
                <a:latin typeface="Calibri"/>
              </a:rPr>
              <a:t>(Commit to a number before we compute.)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Pass 2  —  the area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Imagine 100 cabs.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Blue cabs:  15.  Witness correctly says "blue" on 80% of them  →  12.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Green cabs:  85.  Witness incorrectly says "blue" on 20% of them  →  17.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Total "blue" reports:  12 + 17  =  29.</a:t>
            </a:r>
          </a:p>
          <a:p>
            <a:pPr>
              <a:spcAft>
                <a:spcPts val="1600"/>
              </a:spcAft>
            </a:pPr>
            <a:r>
              <a:rPr sz="2200" b="1" i="0">
                <a:solidFill>
                  <a:srgbClr val="64B5F6"/>
                </a:solidFill>
                <a:latin typeface="Cambria Math"/>
              </a:rPr>
              <a:t>P(Blue | witness says Blue)  =  12/29  ≈  0.41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Below 50%.  The witness is more likely wrong than right, despite being 80% accurate.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Pass 3  —  formal Bayes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Hypotheses  h ∈ {B, G}.    Observation  o = "witness says Blue."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Cambria Math"/>
              </a:rPr>
              <a:t>P(B | o)  =  P(o | B) · P(B)  /  [ P(o | B) · P(B)  +  P(o | G) · P(G) ]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mbria Math"/>
              </a:rPr>
              <a:t>           =  (0.80 · 0.15)  /  (0.80 · 0.15  +  0.20 · 0.85)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64B5F6"/>
                </a:solidFill>
                <a:latin typeface="Cambria Math"/>
              </a:rPr>
              <a:t>           =  0.12 / (0.12 + 0.17)  =  0.12 / 0.29  ≈  0.41</a:t>
            </a:r>
          </a:p>
          <a:p>
            <a:pPr>
              <a:spcAft>
                <a:spcPts val="600"/>
              </a:spcAft>
            </a:pPr>
            <a:r>
              <a:rPr sz="1400" b="0" i="1">
                <a:solidFill>
                  <a:srgbClr val="999999"/>
                </a:solidFill>
                <a:latin typeface="Calibri"/>
              </a:rPr>
              <a:t>Same number as the area diagram.  The equation and the counting are the same calculation.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Base-rate neglect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CCCCCC"/>
                </a:solidFill>
                <a:latin typeface="Calibri"/>
              </a:rPr>
              <a:t>Most people report something close to 80%.</a:t>
            </a:r>
          </a:p>
          <a:p>
            <a:pPr>
              <a:spcAft>
                <a:spcPts val="1400"/>
              </a:spcAft>
            </a:pPr>
            <a:r>
              <a:rPr sz="1500" b="0">
                <a:solidFill>
                  <a:srgbClr val="CCCCCC"/>
                </a:solidFill>
                <a:latin typeface="Calibri"/>
              </a:rPr>
              <a:t>They anchor on the likelihood and ignore the prior.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999999"/>
                </a:solidFill>
                <a:latin typeface="Calibri"/>
              </a:rPr>
              <a:t>Kahneman &amp; Tversky (1972); Bar-Hillel (1980).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999999"/>
                </a:solidFill>
                <a:latin typeface="Calibri"/>
              </a:rPr>
              <a:t>Medical doctors fail this too, even for diagnoses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999999"/>
                </a:solidFill>
                <a:latin typeface="Calibri"/>
              </a:rPr>
              <a:t>(Casscells, Schoenberger, Grayboys, 1978).</a:t>
            </a:r>
          </a:p>
        </p:txBody>
      </p:sp>
      <p:pic>
        <p:nvPicPr>
          <p:cNvPr id="6" name="Picture 5" descr="base_rate_plot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60120"/>
            <a:ext cx="429768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Heuristics and biases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Heuristic.   A rule-of-thumb.  Usually works.  Cheap to apply.</a:t>
            </a:r>
          </a:p>
          <a:p>
            <a:pPr>
              <a:spcAft>
                <a:spcPts val="16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Bias.   Systematic error introduced when a heuristic is misapplied.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CCCCCC"/>
                </a:solidFill>
                <a:latin typeface="Calibri"/>
              </a:rPr>
              <a:t>Kahneman &amp; Tversky argued that the mind is full of heuristics — good enough for most everyday inference but wrong in predictable ways when base rates are extreme, evidence is unfamiliar, or causal structure is unusual.</a:t>
            </a:r>
          </a:p>
          <a:p>
            <a:pPr>
              <a:spcAft>
                <a:spcPts val="600"/>
              </a:spcAft>
            </a:pPr>
            <a:r>
              <a:rPr sz="1400" b="1" i="1">
                <a:solidFill>
                  <a:srgbClr val="FFFFFF"/>
                </a:solidFill>
                <a:latin typeface="Calibri"/>
              </a:rPr>
              <a:t>This is a running theme for the semester.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Synthesis  —  the 5-step recipe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This is the course's method.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1.  Formalize the problem people face.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2.  Formalize the knowledge they bring to it.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3.  Apply Bayes' rule  —  compute what an ideal learner would infer.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4.  Characterize the ideal learner's behavior.</a:t>
            </a:r>
          </a:p>
          <a:p>
            <a:pPr>
              <a:spcAft>
                <a:spcPts val="14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5.  Identify what knowledge and constraints must be assumed for model and human behavior to match.</a:t>
            </a:r>
          </a:p>
          <a:p>
            <a:pPr>
              <a:spcAft>
                <a:spcPts val="600"/>
              </a:spcAft>
            </a:pPr>
            <a:r>
              <a:rPr sz="1400" b="0" i="1">
                <a:solidFill>
                  <a:srgbClr val="999999"/>
                </a:solidFill>
                <a:latin typeface="Calibri"/>
              </a:rPr>
              <a:t>Every week we pick a different cognitive domain and run this loop.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rame_m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233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502920"/>
            <a:ext cx="584301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Helvetica Neue"/>
              </a:rPr>
              <a:t>GenJAX, Admin, Homework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What is GenJAX?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Bayes' rule is easy to write.  Enumerating hypothesis spaces by hand is not.</a:t>
            </a:r>
          </a:p>
          <a:p>
            <a:pPr>
              <a:spcAft>
                <a:spcPts val="1800"/>
              </a:spcAft>
            </a:pPr>
            <a:r>
              <a:rPr sz="1600" b="0" i="0">
                <a:solidFill>
                  <a:srgbClr val="CCCCCC"/>
                </a:solidFill>
                <a:latin typeface="Calibri"/>
              </a:rPr>
              <a:t>For continuous distributions you can't enumerate at all.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GenJAX is a probabilistic programming language.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You write the generative process as code. The machine does the enumeration and counting.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GenJAX by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CCCCCC"/>
                </a:solidFill>
                <a:latin typeface="Consolas"/>
              </a:rPr>
              <a:t>import genjax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CCCCCC"/>
                </a:solidFill>
                <a:latin typeface="Consolas"/>
              </a:rPr>
              <a:t>from genjax import gen, flip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66BB6A"/>
                </a:solidFill>
                <a:latin typeface="Consolas"/>
              </a:rPr>
              <a:t>@gen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CCCCCC"/>
                </a:solidFill>
                <a:latin typeface="Consolas"/>
              </a:rPr>
              <a:t>def chibany_day():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CCCCCC"/>
                </a:solidFill>
                <a:latin typeface="Consolas"/>
              </a:rPr>
              <a:t>    lunch  = flip(0.5) @ "lunch"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CCCCCC"/>
                </a:solidFill>
                <a:latin typeface="Consolas"/>
              </a:rPr>
              <a:t>    dinner = flip(0.5) @ "dinner"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CCCCCC"/>
                </a:solidFill>
                <a:latin typeface="Consolas"/>
              </a:rPr>
              <a:t>    return (lunch, dinner)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CCCCCC"/>
                </a:solidFill>
                <a:latin typeface="Calibri"/>
              </a:rPr>
              <a:t>•  @gen  —  this is a generative model, not a regular function.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CCCCCC"/>
                </a:solidFill>
                <a:latin typeface="Calibri"/>
              </a:rPr>
              <a:t>•  flip(0.5)  —  a Bernoulli random variable.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CCCCCC"/>
                </a:solidFill>
                <a:latin typeface="Calibri"/>
              </a:rPr>
              <a:t>•  @ "lunch"  —  name the random choice so we can condition on it later.</a:t>
            </a:r>
          </a:p>
          <a:p>
            <a:pPr>
              <a:spcAft>
                <a:spcPts val="600"/>
              </a:spcAft>
            </a:pPr>
            <a:r>
              <a:rPr sz="1300" b="1" i="1">
                <a:solidFill>
                  <a:srgbClr val="FFFFFF"/>
                </a:solidFill>
                <a:latin typeface="Calibri"/>
              </a:rPr>
              <a:t>This function IS the outcome space Ω from Block 3. Every call samples a 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Preemptive callouts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Use  flip(p),  not  bernoulli(p).  bernoulli takes a logit, not a probability.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The  @  operator here is not matrix multiplication. GenJAX overloads it.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Output displays as  Array(0, dtype=int32).  Treat these as 0s and 1s.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Everything runs in Google Colab.  No local installation.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Admin  —  grading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00584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1">
                <a:solidFill>
                  <a:srgbClr val="64B5F6"/>
                </a:solidFill>
                <a:latin typeface="Helvetica Neue"/>
              </a:rPr>
              <a:t>50%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Helvetica Neue"/>
              </a:rPr>
              <a:t>proposal 5%  ·  talk 7.5%  ·  paper 37.5%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6420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Programming assignments (4)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66420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1">
                <a:solidFill>
                  <a:srgbClr val="64B5F6"/>
                </a:solidFill>
                <a:latin typeface="Helvetica Neue"/>
              </a:rPr>
              <a:t>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29968"/>
            <a:ext cx="7680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Helvetica Neue"/>
              </a:rPr>
              <a:t>Clusters 7.5%  ·  Gen 7.5%  ·  MC 10.5%  ·  RL 4.5%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2257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Weekly written reflections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322576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1">
                <a:solidFill>
                  <a:srgbClr val="64B5F6"/>
                </a:solidFill>
                <a:latin typeface="Helvetica Neue"/>
              </a:rPr>
              <a:t>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88336"/>
            <a:ext cx="7680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Helvetica Neue"/>
              </a:rPr>
              <a:t>~200 words  ·  8 of 13  ·  pass / fail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80944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Participation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980944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1">
                <a:solidFill>
                  <a:srgbClr val="64B5F6"/>
                </a:solidFill>
                <a:latin typeface="Helvetica Neue"/>
              </a:rPr>
              <a:t>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3931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Quizzes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63931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1">
                <a:solidFill>
                  <a:srgbClr val="64B5F6"/>
                </a:solidFill>
                <a:latin typeface="Helvetica Neue"/>
              </a:rPr>
              <a:t>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05072"/>
            <a:ext cx="7680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Helvetica Neue"/>
              </a:rPr>
              <a:t>self-check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8028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Helvetica Neue"/>
              </a:rPr>
              <a:t>All four assignments are completed in GenJAX.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Admin  —  the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Textbook:  A Narrative Introduction to Probability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64B5F6"/>
                </a:solidFill>
                <a:latin typeface="Calibri"/>
              </a:rPr>
              <a:t>       https://josephausterweil.github.io/probintro/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Tooling:  Google Colab, GenJAX. No local setup.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Office hours:  TBD — I'll poll.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Email:  best-effort 36 h response (48 h on weekends).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AI tools:  welcome as a technical resource; must cite; not for quiz/assignment answers.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•  Full syllabus on the course website (coming up).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Semester readings  —  Weeks 3–7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300" b="0" i="1">
                <a:solidFill>
                  <a:srgbClr val="999999"/>
                </a:solidFill>
                <a:latin typeface="Calibri"/>
              </a:rPr>
              <a:t>Each week includes 1-2 papers alongside the textbook. These may change.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Wk 3  Conjugate Bayes &amp; Topic Models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CCCCCC"/>
                </a:solidFill>
                <a:latin typeface="Calibri"/>
              </a:rPr>
              <a:t>  Griffiths &amp; Tenenbaum 2001 (Randomness)  ·  Steyvers &amp; Griffiths 2000 (Topic Models)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Wk 4  Generalization &amp; Hierarchical Bayes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CCCCCC"/>
                </a:solidFill>
                <a:latin typeface="Calibri"/>
              </a:rPr>
              <a:t>  Tenenbaum 1999 (Concept Learning)  ·  Xu &amp; Tenenbaum 2000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Wk 5  Hierarchical Bayes &amp; Bayes Nets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CCCCCC"/>
                </a:solidFill>
                <a:latin typeface="Calibri"/>
              </a:rPr>
              <a:t>  DeZoete 2019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Wk 6  Causal Bayes Nets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CCCCCC"/>
                </a:solidFill>
                <a:latin typeface="Calibri"/>
              </a:rPr>
              <a:t>  Lagnado 2002  ·  Griffiths et al. 2004 (Hidden Causes)  ·  Gerstenberg 2015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Wk 7  Markov Chains &amp; Networks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CCCCCC"/>
                </a:solidFill>
                <a:latin typeface="Calibri"/>
              </a:rPr>
              <a:t>  Abbott et al. 2012 (Random Walks)  ·  Mukherjee 2017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Semester readings  —  Weeks 8–13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Wk 8  Monte Carlo Methods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CCCCCC"/>
                </a:solidFill>
                <a:latin typeface="Calibri"/>
              </a:rPr>
              <a:t>  Vul et al. 2009 (One and Done)  ·  Griffiths &amp; Sanborn 2007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Wk 9  SDT, MDPs &amp; Reinforcement Learning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CCCCCC"/>
                </a:solidFill>
                <a:latin typeface="Calibri"/>
              </a:rPr>
              <a:t>  Schultz 1997 (Dopamine &amp; Reward)  ·  Daw et al. 2005  ·  Ho et al. 2015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Wk 10  Inverse Reinforcement Learning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CCCCCC"/>
                </a:solidFill>
                <a:latin typeface="Calibri"/>
              </a:rPr>
              <a:t>  Baker et al. 2007 (Theory of Mind)  ·  Ho et al. 2016, 2017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Wk 11  Bayesian Nonparametrics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CCCCCC"/>
                </a:solidFill>
                <a:latin typeface="Calibri"/>
              </a:rPr>
              <a:t>  Austerweil et al. 2015 (BNP Book Chapter)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Wk 12  Deep Neural Networks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CCCCCC"/>
                </a:solidFill>
                <a:latin typeface="Calibri"/>
              </a:rPr>
              <a:t>  LeCun et al. 2015 (Deep Learning)  ·  Lake et al. 2015  ·  Pereira et al. 2018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Wk 13  Ethics &amp; Adversarial ML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CCCCCC"/>
                </a:solidFill>
                <a:latin typeface="Calibri"/>
              </a:rPr>
              <a:t>  Caliskan et al. 2017 (Bias)  ·  Buolamwini 2018  ·  Zhou &amp; Firestone 2019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2843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Homework for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18288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99999"/>
                </a:solidFill>
                <a:latin typeface="Helvetica Neue"/>
              </a:rPr>
              <a:t>Human and Machine Learning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28431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CCCCCC"/>
                </a:solidFill>
                <a:latin typeface="Calibri"/>
              </a:rPr>
              <a:t>1.  Textbook T1 Ch 1-3  —  reinforces everything from Block 3.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999999"/>
                </a:solidFill>
                <a:latin typeface="Consolas"/>
              </a:rPr>
              <a:t>       intro/01_goals.md  ·  02_hungry.md  ·  03_prob_count.md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CCCCCC"/>
                </a:solidFill>
                <a:latin typeface="Calibri"/>
              </a:rPr>
              <a:t>2.  Textbook T2 Ch 0-1  —  gets GenJAX running in Colab.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999999"/>
                </a:solidFill>
                <a:latin typeface="Consolas"/>
              </a:rPr>
              <a:t>       genjax/00_getting_started.md  ·  01_python_basics.md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CCCCCC"/>
                </a:solidFill>
                <a:latin typeface="Calibri"/>
              </a:rPr>
              <a:t>3.  Start thinking about a final-project topic. We'll talk Week 2.</a:t>
            </a:r>
          </a:p>
          <a:p>
            <a:pPr>
              <a:spcAft>
                <a:spcPts val="600"/>
              </a:spcAft>
            </a:pPr>
            <a:r>
              <a:rPr sz="1300" b="0" i="1">
                <a:solidFill>
                  <a:srgbClr val="999999"/>
                </a:solidFill>
                <a:latin typeface="Calibri"/>
              </a:rPr>
              <a:t>Week 2 has a short optional self-check quiz (Intro Probability Theory 1).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802843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>
                <a:solidFill>
                  <a:srgbClr val="64B5F6"/>
                </a:solidFill>
                <a:latin typeface="Helvetica Neue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802843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999999"/>
                </a:solidFill>
                <a:latin typeface="Helvetica Neue"/>
              </a:rPr>
              <a:t>Thanks — see you next Friday.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Helvetica Neue"/>
              </a:rPr>
              <a:t>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