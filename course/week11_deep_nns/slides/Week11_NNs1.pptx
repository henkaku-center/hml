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7" r:id="rId2"/>
    <p:sldId id="814" r:id="rId3"/>
    <p:sldId id="259" r:id="rId4"/>
    <p:sldId id="816" r:id="rId5"/>
    <p:sldId id="316" r:id="rId6"/>
    <p:sldId id="317" r:id="rId7"/>
    <p:sldId id="456" r:id="rId8"/>
    <p:sldId id="260" r:id="rId9"/>
    <p:sldId id="262" r:id="rId10"/>
    <p:sldId id="263" r:id="rId11"/>
    <p:sldId id="264" r:id="rId12"/>
    <p:sldId id="261" r:id="rId13"/>
    <p:sldId id="818" r:id="rId14"/>
    <p:sldId id="265" r:id="rId15"/>
    <p:sldId id="266" r:id="rId16"/>
    <p:sldId id="267" r:id="rId17"/>
    <p:sldId id="268" r:id="rId18"/>
    <p:sldId id="269" r:id="rId19"/>
    <p:sldId id="270" r:id="rId20"/>
    <p:sldId id="272" r:id="rId21"/>
    <p:sldId id="271" r:id="rId22"/>
    <p:sldId id="294" r:id="rId23"/>
    <p:sldId id="273" r:id="rId24"/>
    <p:sldId id="295" r:id="rId25"/>
    <p:sldId id="274" r:id="rId26"/>
    <p:sldId id="276" r:id="rId27"/>
    <p:sldId id="275" r:id="rId28"/>
    <p:sldId id="277" r:id="rId29"/>
    <p:sldId id="278" r:id="rId30"/>
    <p:sldId id="279" r:id="rId31"/>
    <p:sldId id="280" r:id="rId32"/>
    <p:sldId id="281" r:id="rId33"/>
    <p:sldId id="819" r:id="rId34"/>
    <p:sldId id="296" r:id="rId35"/>
    <p:sldId id="303" r:id="rId36"/>
    <p:sldId id="299" r:id="rId37"/>
    <p:sldId id="300" r:id="rId38"/>
    <p:sldId id="287" r:id="rId39"/>
    <p:sldId id="292" r:id="rId40"/>
    <p:sldId id="308" r:id="rId41"/>
    <p:sldId id="309" r:id="rId42"/>
    <p:sldId id="310" r:id="rId43"/>
    <p:sldId id="311" r:id="rId44"/>
    <p:sldId id="313" r:id="rId45"/>
    <p:sldId id="286"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16" autoAdjust="0"/>
    <p:restoredTop sz="74402" autoAdjust="0"/>
  </p:normalViewPr>
  <p:slideViewPr>
    <p:cSldViewPr snapToGrid="0" snapToObjects="1">
      <p:cViewPr varScale="1">
        <p:scale>
          <a:sx n="76" d="100"/>
          <a:sy n="76" d="100"/>
        </p:scale>
        <p:origin x="948" y="52"/>
      </p:cViewPr>
      <p:guideLst>
        <p:guide orient="horz" pos="2160"/>
        <p:guide pos="2880"/>
      </p:guideLst>
    </p:cSldViewPr>
  </p:slideViewPr>
  <p:notesTextViewPr>
    <p:cViewPr>
      <p:scale>
        <a:sx n="125" d="100"/>
        <a:sy n="125" d="100"/>
      </p:scale>
      <p:origin x="0" y="-106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721CB42-D47B-CE44-8DEE-D3A42889BE6E}" type="datetimeFigureOut">
              <a:rPr lang="en-US" smtClean="0"/>
              <a:t>4/16/2025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18A63-2409-0241-8255-D95D06F653A2}" type="slidenum">
              <a:rPr lang="en-US" smtClean="0"/>
              <a:t>‹#›</a:t>
            </a:fld>
            <a:endParaRPr lang="en-US"/>
          </a:p>
        </p:txBody>
      </p:sp>
    </p:spTree>
    <p:extLst>
      <p:ext uri="{BB962C8B-B14F-4D97-AF65-F5344CB8AC3E}">
        <p14:creationId xmlns:p14="http://schemas.microsoft.com/office/powerpoint/2010/main" val="9414907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class,</a:t>
            </a:r>
          </a:p>
          <a:p>
            <a:endParaRPr lang="en-US" dirty="0"/>
          </a:p>
          <a:p>
            <a:r>
              <a:rPr lang="en-US" dirty="0"/>
              <a:t>Today’s our first of two classes discussing artificial neural network models.</a:t>
            </a:r>
          </a:p>
        </p:txBody>
      </p:sp>
      <p:sp>
        <p:nvSpPr>
          <p:cNvPr id="4" name="Slide Number Placeholder 3"/>
          <p:cNvSpPr>
            <a:spLocks noGrp="1"/>
          </p:cNvSpPr>
          <p:nvPr>
            <p:ph type="sldNum" sz="quarter" idx="10"/>
          </p:nvPr>
        </p:nvSpPr>
        <p:spPr/>
        <p:txBody>
          <a:bodyPr/>
          <a:lstStyle/>
          <a:p>
            <a:fld id="{A80A284C-79A3-AE45-A29D-322D8EC7B22F}" type="slidenum">
              <a:rPr lang="en-US" smtClean="0"/>
              <a:t>1</a:t>
            </a:fld>
            <a:endParaRPr lang="en-US"/>
          </a:p>
        </p:txBody>
      </p:sp>
    </p:spTree>
    <p:extLst>
      <p:ext uri="{BB962C8B-B14F-4D97-AF65-F5344CB8AC3E}">
        <p14:creationId xmlns:p14="http://schemas.microsoft.com/office/powerpoint/2010/main" val="2067281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today’s class, after admin matters, we’ll cover the basic philosophical principles around the connectionist approach to the mind and the basic definition of artificial neural network models. Then we’ll discuss the linear variant of neural networks – how they work, learning, and their limitations. Then we’ll take a non-linear turn to them and discuss how to train multilayer artificial neural network models with backpropagation. Then we’ll discuss two special case architectures for artificial neural networks that have played a large role in vision and language applications: convolutional and recurrent neural networks, respectively.</a:t>
            </a:r>
          </a:p>
          <a:p>
            <a:endParaRPr lang="en-US" dirty="0"/>
          </a:p>
          <a:p>
            <a:r>
              <a:rPr lang="en-US" dirty="0"/>
              <a:t>Remember </a:t>
            </a:r>
            <a:r>
              <a:rPr lang="en-US" dirty="0" err="1"/>
              <a:t>ruijia</a:t>
            </a:r>
            <a:r>
              <a:rPr lang="en-US" dirty="0"/>
              <a:t> needs to start their presentation at 130pm. Short rest 1 might come after that depending on timing.</a:t>
            </a:r>
          </a:p>
          <a:p>
            <a:endParaRPr lang="en-US" dirty="0"/>
          </a:p>
          <a:p>
            <a:r>
              <a:rPr lang="en-US" dirty="0"/>
              <a:t>Have 3 student presentations today.</a:t>
            </a:r>
          </a:p>
        </p:txBody>
      </p:sp>
      <p:sp>
        <p:nvSpPr>
          <p:cNvPr id="4" name="Slide Number Placeholder 3"/>
          <p:cNvSpPr>
            <a:spLocks noGrp="1"/>
          </p:cNvSpPr>
          <p:nvPr>
            <p:ph type="sldNum" sz="quarter" idx="5"/>
          </p:nvPr>
        </p:nvSpPr>
        <p:spPr/>
        <p:txBody>
          <a:bodyPr/>
          <a:lstStyle/>
          <a:p>
            <a:fld id="{D5C18A63-2409-0241-8255-D95D06F653A2}" type="slidenum">
              <a:rPr lang="en-US" smtClean="0"/>
              <a:t>2</a:t>
            </a:fld>
            <a:endParaRPr lang="en-US"/>
          </a:p>
        </p:txBody>
      </p:sp>
    </p:spTree>
    <p:extLst>
      <p:ext uri="{BB962C8B-B14F-4D97-AF65-F5344CB8AC3E}">
        <p14:creationId xmlns:p14="http://schemas.microsoft.com/office/powerpoint/2010/main" val="245761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health is continuing to improve, but it’s slow.</a:t>
            </a:r>
          </a:p>
          <a:p>
            <a:endParaRPr lang="en-US" dirty="0"/>
          </a:p>
          <a:p>
            <a:r>
              <a:rPr lang="en-US" dirty="0"/>
              <a:t>Grading assignment 3 has started. It will take a bit as it is a bit more intensive than the other assignments. I’ll post solutions as always. If you struggled to complete it correctly, it would be good for you to look it over.</a:t>
            </a:r>
          </a:p>
          <a:p>
            <a:endParaRPr lang="en-US" dirty="0"/>
          </a:p>
          <a:p>
            <a:r>
              <a:rPr lang="en-US" dirty="0"/>
              <a:t>Assignment 4 is due next week</a:t>
            </a:r>
          </a:p>
          <a:p>
            <a:endParaRPr lang="en-US" dirty="0"/>
          </a:p>
          <a:p>
            <a:r>
              <a:rPr lang="en-US" dirty="0"/>
              <a:t>There is only one more discussion posts left! </a:t>
            </a:r>
          </a:p>
          <a:p>
            <a:endParaRPr lang="en-US" dirty="0"/>
          </a:p>
          <a:p>
            <a:r>
              <a:rPr lang="en-US" dirty="0"/>
              <a:t>As mentioned earlier, any unused quiz points will end up being free points to your final grade.</a:t>
            </a:r>
          </a:p>
          <a:p>
            <a:endParaRPr lang="en-US" dirty="0"/>
          </a:p>
          <a:p>
            <a:r>
              <a:rPr lang="en-US" dirty="0"/>
              <a:t>After today’s class, we </a:t>
            </a:r>
            <a:r>
              <a:rPr lang="en-US"/>
              <a:t>have one </a:t>
            </a:r>
            <a:r>
              <a:rPr lang="en-US" dirty="0"/>
              <a:t>more lecture </a:t>
            </a:r>
            <a:r>
              <a:rPr lang="en-US"/>
              <a:t>and discussion. </a:t>
            </a:r>
            <a:r>
              <a:rPr lang="en-US" dirty="0"/>
              <a:t>Then the last class will be student final project presentations. Please note that your final project does not need to be complete by then. The goal is for everyone to share what they are working on and what they’ve found so far.</a:t>
            </a:r>
          </a:p>
          <a:p>
            <a:endParaRPr lang="en-US" dirty="0"/>
          </a:p>
          <a:p>
            <a:r>
              <a:rPr lang="en-US" dirty="0"/>
              <a:t>A reminder that your final project papers will be due on May 6 at 8:59pm</a:t>
            </a:r>
          </a:p>
        </p:txBody>
      </p:sp>
      <p:sp>
        <p:nvSpPr>
          <p:cNvPr id="4" name="Slide Number Placeholder 3"/>
          <p:cNvSpPr>
            <a:spLocks noGrp="1"/>
          </p:cNvSpPr>
          <p:nvPr>
            <p:ph type="sldNum" sz="quarter" idx="5"/>
          </p:nvPr>
        </p:nvSpPr>
        <p:spPr/>
        <p:txBody>
          <a:bodyPr/>
          <a:lstStyle/>
          <a:p>
            <a:fld id="{D5C18A63-2409-0241-8255-D95D06F653A2}" type="slidenum">
              <a:rPr lang="en-US" smtClean="0"/>
              <a:t>3</a:t>
            </a:fld>
            <a:endParaRPr lang="en-US"/>
          </a:p>
        </p:txBody>
      </p:sp>
    </p:spTree>
    <p:extLst>
      <p:ext uri="{BB962C8B-B14F-4D97-AF65-F5344CB8AC3E}">
        <p14:creationId xmlns:p14="http://schemas.microsoft.com/office/powerpoint/2010/main" val="45583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07EDC-B8CD-7F42-7C43-1DD2779DE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CBC64-448D-F043-69C2-D78F10D7C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93855E-F2C5-2F9F-7711-F95AD0079A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2C57D9-C60A-299C-B7AB-A69F1369E56E}"/>
              </a:ext>
            </a:extLst>
          </p:cNvPr>
          <p:cNvSpPr>
            <a:spLocks noGrp="1"/>
          </p:cNvSpPr>
          <p:nvPr>
            <p:ph type="sldNum" sz="quarter" idx="5"/>
          </p:nvPr>
        </p:nvSpPr>
        <p:spPr/>
        <p:txBody>
          <a:bodyPr/>
          <a:lstStyle/>
          <a:p>
            <a:fld id="{D5C18A63-2409-0241-8255-D95D06F653A2}" type="slidenum">
              <a:rPr lang="en-US" smtClean="0"/>
              <a:t>4</a:t>
            </a:fld>
            <a:endParaRPr lang="en-US"/>
          </a:p>
        </p:txBody>
      </p:sp>
    </p:spTree>
    <p:extLst>
      <p:ext uri="{BB962C8B-B14F-4D97-AF65-F5344CB8AC3E}">
        <p14:creationId xmlns:p14="http://schemas.microsoft.com/office/powerpoint/2010/main" val="146161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in class, we’ve taken the perspective of understanding complex systems, such as aspects of the human mind, by reverse engineering them as the optimal solution to different statistical learning problems. That requires us to look at the result and what sort of problem it could be considered solving. But, it does not feel like this is the correct viewpoint for understanding some systems. For example, take a honeycomb. One might try and explain the form of a honeycomb from the perspective of optimal packing or some other sort of geometric solution. However, it might be more fruitful to understand it instead as the consequence of many individual actors completing a simple task. In the case of the honeycomb, it turns out if you think of bees being arranged uniformly in 3d space expanding tiny bubbles that expand as far as they can until they hit another bubble. When those spheres intersect with one another you end up getting the hexagonal honeycomb structure. </a:t>
            </a:r>
          </a:p>
          <a:p>
            <a:endParaRPr lang="en-US" dirty="0"/>
          </a:p>
          <a:p>
            <a:r>
              <a:rPr lang="en-US" dirty="0"/>
              <a:t>Another example is a termite mound. If you haven’t read about termite mound communities before, I recommend taking a long dive into their Wikipedia page when you have some time to waste.  They have been found to be as large as </a:t>
            </a:r>
            <a:r>
              <a:rPr lang="en-US" baseline="0" dirty="0"/>
              <a:t>17 feet. 33 lbs. The nest is underneath. They develop ventilation which includes not just controlling air movement but also moisture control. They cultivate “fungal gardens” and end up with wood storage facilities. Just absolutely fascinating and incredible collective behavior. If you puncture one, soldiers spill out and workers fill the hole. All of this happens without any central executive organizing everything. It’s the collective behavior of lots of individual “dumb” agents.</a:t>
            </a:r>
            <a:endParaRPr lang="en-US" dirty="0"/>
          </a:p>
        </p:txBody>
      </p:sp>
      <p:sp>
        <p:nvSpPr>
          <p:cNvPr id="4" name="Slide Number Placeholder 3"/>
          <p:cNvSpPr>
            <a:spLocks noGrp="1"/>
          </p:cNvSpPr>
          <p:nvPr>
            <p:ph type="sldNum" sz="quarter" idx="10"/>
          </p:nvPr>
        </p:nvSpPr>
        <p:spPr/>
        <p:txBody>
          <a:bodyPr/>
          <a:lstStyle/>
          <a:p>
            <a:fld id="{0549CADE-469F-1B4A-8D92-FC5661BF312B}" type="slidenum">
              <a:rPr lang="en-US" smtClean="0"/>
              <a:t>5</a:t>
            </a:fld>
            <a:endParaRPr lang="en-US"/>
          </a:p>
        </p:txBody>
      </p:sp>
    </p:spTree>
    <p:extLst>
      <p:ext uri="{BB962C8B-B14F-4D97-AF65-F5344CB8AC3E}">
        <p14:creationId xmlns:p14="http://schemas.microsoft.com/office/powerpoint/2010/main" val="2977360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106CB3-4659-7643-B280-4AFAEF10A7E5}" type="slidenum">
              <a:rPr lang="en-US"/>
              <a:pPr/>
              <a:t>6</a:t>
            </a:fld>
            <a:endParaRPr lang="en-US"/>
          </a:p>
        </p:txBody>
      </p:sp>
      <p:sp>
        <p:nvSpPr>
          <p:cNvPr id="8273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8273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r>
              <a:rPr lang="en-US" dirty="0"/>
              <a:t>It’s examples like the structure of honeycombs and termite mounds that lead researchers in cognitive science to use complex systems of simple interacting units to try to understand the mind. Due to their explanations relying on the large amounts of simple interacting units, these approaches gained the names such as connectionism and parallel distributed processing. It’s inspired by how people imagine neurons might work. Brains seem to be filled with lots of neurons. Each neuron having a lot of neurons connecting into it and it connecting to many other neurons. Although there’s debate about precisely what is being computed by a neuron based on its input and how it transmits that computation, given how many of them the brain has, researchers tend to assume they must each be doing something relatively simple.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quote from McClelland Rumelhart and Hinton</a:t>
            </a:r>
          </a:p>
        </p:txBody>
      </p:sp>
      <p:sp>
        <p:nvSpPr>
          <p:cNvPr id="4" name="Slide Number Placeholder 3"/>
          <p:cNvSpPr>
            <a:spLocks noGrp="1"/>
          </p:cNvSpPr>
          <p:nvPr>
            <p:ph type="sldNum" sz="quarter" idx="5"/>
          </p:nvPr>
        </p:nvSpPr>
        <p:spPr/>
        <p:txBody>
          <a:bodyPr/>
          <a:lstStyle/>
          <a:p>
            <a:fld id="{D5C18A63-2409-0241-8255-D95D06F653A2}" type="slidenum">
              <a:rPr lang="en-US" smtClean="0"/>
              <a:t>7</a:t>
            </a:fld>
            <a:endParaRPr lang="en-US"/>
          </a:p>
        </p:txBody>
      </p:sp>
    </p:spTree>
    <p:extLst>
      <p:ext uri="{BB962C8B-B14F-4D97-AF65-F5344CB8AC3E}">
        <p14:creationId xmlns:p14="http://schemas.microsoft.com/office/powerpoint/2010/main" val="2057906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7753CD-B9F4-5949-8E75-EE312D647051}" type="slidenum">
              <a:rPr lang="en-US"/>
              <a:pPr/>
              <a:t>8</a:t>
            </a:fld>
            <a:endParaRPr lang="en-US"/>
          </a:p>
        </p:txBody>
      </p:sp>
      <p:sp>
        <p:nvSpPr>
          <p:cNvPr id="79462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7946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The fundamental definition of an artificial neural network having two or more layers of nodes of variables that are linked together through weights. For example, we might have a node j in one layer that feeds into node </a:t>
            </a:r>
            <a:r>
              <a:rPr lang="en-US" dirty="0" err="1"/>
              <a:t>i</a:t>
            </a:r>
            <a:r>
              <a:rPr lang="en-US" dirty="0"/>
              <a:t> in a later layer. There are typically a lot of other nodes in each layer. I’ll denote each of the nodes in the same layer as j with a line, but am not drawing the nodes for simplicity. They each have their own weight. </a:t>
            </a:r>
            <a:r>
              <a:rPr lang="en-US" dirty="0" err="1"/>
              <a:t>a_j</a:t>
            </a:r>
            <a:r>
              <a:rPr lang="en-US" dirty="0"/>
              <a:t> contributes to </a:t>
            </a:r>
            <a:r>
              <a:rPr lang="en-US" dirty="0" err="1"/>
              <a:t>a_i’s</a:t>
            </a:r>
            <a:r>
              <a:rPr lang="en-US" dirty="0"/>
              <a:t> value as the combination of two factors. There is the activation node j has, which might come directly from inputs or from other nodes in an earlier layer. One can think of that activation spreading to </a:t>
            </a:r>
            <a:r>
              <a:rPr lang="en-US" dirty="0" err="1"/>
              <a:t>a_i</a:t>
            </a:r>
            <a:r>
              <a:rPr lang="en-US" dirty="0"/>
              <a:t> modulated by the weight of the link between the two nodes. That is encoded by the value of the weight w_{</a:t>
            </a:r>
            <a:r>
              <a:rPr lang="en-US" dirty="0" err="1"/>
              <a:t>ij</a:t>
            </a:r>
            <a:r>
              <a:rPr lang="en-US" dirty="0"/>
              <a:t>}. Now there are a bunch of these nodes feeding into </a:t>
            </a:r>
            <a:r>
              <a:rPr lang="en-US" dirty="0" err="1"/>
              <a:t>a_i</a:t>
            </a:r>
            <a:r>
              <a:rPr lang="en-US" dirty="0"/>
              <a:t> all with their own activation values and weights. The sum of those activations each modulated by the weight of the edge is the input to node </a:t>
            </a:r>
            <a:r>
              <a:rPr lang="en-US" dirty="0" err="1"/>
              <a:t>i</a:t>
            </a:r>
            <a:r>
              <a:rPr lang="en-US" dirty="0"/>
              <a:t>. </a:t>
            </a:r>
          </a:p>
          <a:p>
            <a:endParaRPr lang="en-US" dirty="0"/>
          </a:p>
          <a:p>
            <a:r>
              <a:rPr lang="en-US" dirty="0"/>
              <a:t>Node i’s activation then is determined a function g of this input. This is called the activation function. g could be the identity function. We’ll explore this choice, but as we’ll see there are issues with using this if we want the artificial neural network to be able to encode a complex set of functions when the weights are varied. If we make g a non-linear function, the class of functions that can be captured by even a 2-layer neural network becomes quite rich. One class of functions that was used a lot in the 1980s were sigmoidal and hyperbolic tangent functions. These were used mostly due to their mathematical properties – when they are differentiated they have nice mathematical properties that allowed folks to derive some of the first learning rules for the weights and also prove about the computational complexity of functions they could emulate and statistical consistency. </a:t>
            </a:r>
          </a:p>
          <a:p>
            <a:endParaRPr lang="en-US" dirty="0"/>
          </a:p>
          <a:p>
            <a:r>
              <a:rPr lang="en-US" dirty="0"/>
              <a:t>Modern artificial neural networks started using the rectified linear function as it tended to be more efficient than using a sigmoidal function lookup, and yield better results such as resulting in more robust learning. There are many variants that are still being examined. For example, one function that’s gained in popularity over the last 5 years is the “swish” function. It’s simply x times the sigmoidal activation function. </a:t>
            </a:r>
          </a:p>
          <a:p>
            <a:endParaRPr lang="en-US" dirty="0"/>
          </a:p>
          <a:p>
            <a:r>
              <a:rPr lang="en-US" dirty="0"/>
              <a:t>Lots</a:t>
            </a:r>
            <a:r>
              <a:rPr lang="en-US" baseline="0" dirty="0"/>
              <a:t> of variants on everything. It’s an active area of research </a:t>
            </a:r>
            <a:r>
              <a:rPr lang="mr-IN" baseline="0" dirty="0"/>
              <a:t>–</a:t>
            </a:r>
            <a:r>
              <a:rPr lang="en-US" baseline="0" dirty="0"/>
              <a:t> probably the most successful right now is a generalization of rectified linear called </a:t>
            </a:r>
            <a:endParaRPr lang="en-US" dirty="0"/>
          </a:p>
        </p:txBody>
      </p:sp>
    </p:spTree>
    <p:extLst>
      <p:ext uri="{BB962C8B-B14F-4D97-AF65-F5344CB8AC3E}">
        <p14:creationId xmlns:p14="http://schemas.microsoft.com/office/powerpoint/2010/main" val="928113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090940-869F-1946-85C1-2AC9B18CE340}" type="slidenum">
              <a:rPr lang="en-US"/>
              <a:pPr/>
              <a:t>9</a:t>
            </a:fld>
            <a:endParaRPr lang="en-US"/>
          </a:p>
        </p:txBody>
      </p:sp>
      <p:sp>
        <p:nvSpPr>
          <p:cNvPr id="83353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83353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If we have 2 nodes for an input and 2 nodes for the output, we can represent them graphically in a straightforward way. The x_1 and x_2 of the input layer are essentially the x and y coordinates. The neural network then uses its weights and activation function to transform the first layer into two new values, y_1 and y_2. it does so by having y_1 be the sum of x_1 * weight of x_1 to y_1 and x_2 * weight of x_2 to y_1 and then similarly for y_2 except with different weights. Each could go through an activation function before arriving at its final value, but it doesn’t have to do that – we’ll for now just think of the activation function as being the identity function. So that way we get a y_1 and y_2 value for that x_1 and x_2 that we had inputted. So we can our original data point mapped to a new point with its own values for y_1 and y_2 which is determined by the weights of the neural network. </a:t>
            </a:r>
          </a:p>
        </p:txBody>
      </p:sp>
    </p:spTree>
    <p:extLst>
      <p:ext uri="{BB962C8B-B14F-4D97-AF65-F5344CB8AC3E}">
        <p14:creationId xmlns:p14="http://schemas.microsoft.com/office/powerpoint/2010/main" val="1247306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05D271-AFE9-4143-B6CE-17E5166435DD}" type="slidenum">
              <a:rPr lang="en-US"/>
              <a:pPr/>
              <a:t>10</a:t>
            </a:fld>
            <a:endParaRPr lang="en-US"/>
          </a:p>
        </p:txBody>
      </p:sp>
      <p:sp>
        <p:nvSpPr>
          <p:cNvPr id="8355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83558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Now lets try an example. Let’s say we have a neural network for storing the behavioral properties of animals. Here we assume our inputs are perceptual properties. So maybe the body-size and snout-size of an animal. We can map cats and dogs onto this space. Cats are a bit smaller than dogs, but overall have much smaller snouts. But dogs and cats make different sounds. We might have a representation of sounds different animals make that differ in pitch and timbre. Although the timbre of barks and meows differ some, the biggest difference between them is the pitch. With appropriately selected weights, we could map the snout and body-sizes near cat to meow and the snout- and body-sizes near dog to bark. In many ways, this is the sense of representation that occurs in artificial neural networks. The pattern of how node and weight activations interact resulting in a linking between some informative property in the input of the neural network, such as a cat, and an informative property to be encoded or represented, such as the properties of the sound it makes.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Perceptual:</a:t>
            </a:r>
            <a:r>
              <a:rPr lang="en-US" baseline="0" dirty="0"/>
              <a:t> x = size, y = snout length</a:t>
            </a: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Behavioral axes: x = pitch,</a:t>
            </a:r>
            <a:r>
              <a:rPr lang="en-US" baseline="0" dirty="0"/>
              <a:t> y = animal-like</a:t>
            </a:r>
            <a:endParaRPr lang="en-US" dirty="0"/>
          </a:p>
          <a:p>
            <a:endParaRPr lang="en-US" dirty="0"/>
          </a:p>
        </p:txBody>
      </p:sp>
    </p:spTree>
    <p:extLst>
      <p:ext uri="{BB962C8B-B14F-4D97-AF65-F5344CB8AC3E}">
        <p14:creationId xmlns:p14="http://schemas.microsoft.com/office/powerpoint/2010/main" val="3946476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D3EC7A-7532-B849-B937-959B0B02849C}" type="slidenum">
              <a:rPr lang="en-US"/>
              <a:pPr/>
              <a:t>11</a:t>
            </a:fld>
            <a:endParaRPr lang="en-US"/>
          </a:p>
        </p:txBody>
      </p:sp>
      <p:sp>
        <p:nvSpPr>
          <p:cNvPr id="80281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8028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Some benefits to encoding properties this way is you get a certain amount of noise tolerance for free. Things that are cat-like will get associated with points near cat and still get mapped to points near meow. Things that are dog-like will get associated with points near dog and still get mapped to points near bark. This contrasts with a pure symbolic perspective where you may have some fragility that something is either a cat or a dog and the ability to handle noise may not come so easily.</a:t>
            </a:r>
          </a:p>
          <a:p>
            <a:endParaRPr lang="en-US" dirty="0"/>
          </a:p>
          <a:p>
            <a:r>
              <a:rPr lang="en-US" dirty="0"/>
              <a:t>You also can explore interpolations between cats and dogs and explore the expected sounds they might make. As the weights can apply to any point, you typically get some sensible interpolation between cat and dog sounds, assuming such a thing makes sense. </a:t>
            </a:r>
          </a:p>
        </p:txBody>
      </p:sp>
    </p:spTree>
    <p:extLst>
      <p:ext uri="{BB962C8B-B14F-4D97-AF65-F5344CB8AC3E}">
        <p14:creationId xmlns:p14="http://schemas.microsoft.com/office/powerpoint/2010/main" val="2223650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2A0AC0-86C9-7A40-9280-260218CCB38C}" type="slidenum">
              <a:rPr lang="en-US"/>
              <a:pPr/>
              <a:t>12</a:t>
            </a:fld>
            <a:endParaRPr lang="en-US"/>
          </a:p>
        </p:txBody>
      </p:sp>
      <p:sp>
        <p:nvSpPr>
          <p:cNvPr id="80077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8007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One important distinction within connectionist models is the type of representation for a layer. So far we’ve been discussing distributed representations. The activation of a node in a layer by itself isn’t really interpretable. It’s the pattern of activation that’s interpretable. In connectionist circles this is the most pure form of connectionist representation. </a:t>
            </a:r>
          </a:p>
          <a:p>
            <a:endParaRPr lang="en-US" dirty="0"/>
          </a:p>
          <a:p>
            <a:r>
              <a:rPr lang="en-US" dirty="0"/>
              <a:t>But folks also sometimes use a localist representation in that case we might have the first node being active stand for dog and the second node stand for cat. This is essentially the same as typical feature representations. </a:t>
            </a:r>
          </a:p>
        </p:txBody>
      </p:sp>
    </p:spTree>
    <p:extLst>
      <p:ext uri="{BB962C8B-B14F-4D97-AF65-F5344CB8AC3E}">
        <p14:creationId xmlns:p14="http://schemas.microsoft.com/office/powerpoint/2010/main" val="2330337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D0F12-B0B7-FF59-CDA3-95C8E9A38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91675-2F5F-513B-55CA-DDE8CFDA7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30CD2-AF3E-29F8-3755-4B79ACF33F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54A1FC-9A6A-87B1-88EA-68DAFE115ECC}"/>
              </a:ext>
            </a:extLst>
          </p:cNvPr>
          <p:cNvSpPr>
            <a:spLocks noGrp="1"/>
          </p:cNvSpPr>
          <p:nvPr>
            <p:ph type="sldNum" sz="quarter" idx="5"/>
          </p:nvPr>
        </p:nvSpPr>
        <p:spPr/>
        <p:txBody>
          <a:bodyPr/>
          <a:lstStyle/>
          <a:p>
            <a:fld id="{D5C18A63-2409-0241-8255-D95D06F653A2}" type="slidenum">
              <a:rPr lang="en-US" smtClean="0"/>
              <a:t>13</a:t>
            </a:fld>
            <a:endParaRPr lang="en-US"/>
          </a:p>
        </p:txBody>
      </p:sp>
    </p:spTree>
    <p:extLst>
      <p:ext uri="{BB962C8B-B14F-4D97-AF65-F5344CB8AC3E}">
        <p14:creationId xmlns:p14="http://schemas.microsoft.com/office/powerpoint/2010/main" val="318487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80A96A-913B-2E4E-91A5-E29DA8606D97}" type="slidenum">
              <a:rPr lang="en-US" altLang="x-none"/>
              <a:pPr/>
              <a:t>14</a:t>
            </a:fld>
            <a:endParaRPr lang="en-US" altLang="x-none"/>
          </a:p>
        </p:txBody>
      </p:sp>
      <p:sp>
        <p:nvSpPr>
          <p:cNvPr id="4096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96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We’re going to dig more into the details of neural networks by starting with one of the first ones ever invented: The perceptron. In this neural network, we assume we get a set of labelled data. A bunch of images and which category they belong to. We assume it’s just a binary distinction, so lets say a bunch of images of cats and dogs with labels for each image as to whether it is a cat or dog in the image. It was first invented by Rosenblatt at Cornell who made it as a physical device. I believe he originally did it for pixelated images of digits. With the weights set and with an image, it would spit out a prediction as to whether it was cat or a dog. Further, he created a learning rule for figuring out the weights given a data set of labelled data.</a:t>
            </a:r>
          </a:p>
        </p:txBody>
      </p:sp>
    </p:spTree>
    <p:extLst>
      <p:ext uri="{BB962C8B-B14F-4D97-AF65-F5344CB8AC3E}">
        <p14:creationId xmlns:p14="http://schemas.microsoft.com/office/powerpoint/2010/main" val="3609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76F093-B631-564C-B8A6-9B69E74BBB75}" type="slidenum">
              <a:rPr lang="en-US" altLang="x-none"/>
              <a:pPr/>
              <a:t>15</a:t>
            </a:fld>
            <a:endParaRPr lang="en-US" altLang="x-none"/>
          </a:p>
        </p:txBody>
      </p:sp>
      <p:sp>
        <p:nvSpPr>
          <p:cNvPr id="4116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16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This type of model is called a linear classifier because you have in general, weight matrix (in this case just a vector for the weight of x1 to y and x2 to y) is multiplying the x. Our activation function will just be the identity matrix. So it’s matrix multiplication. g in this case converts the output of the matrix algebra, which is a scalar number to either negative one or positive one to denote dog or cat. That’s often just done by taking the sign of the output. </a:t>
            </a:r>
          </a:p>
          <a:p>
            <a:endParaRPr lang="en-US" altLang="x-none" dirty="0"/>
          </a:p>
          <a:p>
            <a:r>
              <a:rPr lang="en-US" altLang="x-none" dirty="0"/>
              <a:t>Essentially, each image becomes a point in the 2-d space. We can end up interpreting the weight matrix as a line in this space. Since it’s 2 values, it literally is a line here, but this interpretation still works with more dimensions. Those of you with some linear algebra background should follow that. If you aren’t familiar and are interested, happy to help you with learning that offline. Then taking the sign means one side of the line gets classified as a cat and the other side as a dog.  </a:t>
            </a:r>
          </a:p>
          <a:p>
            <a:endParaRPr lang="en-US" altLang="x-none" dirty="0"/>
          </a:p>
          <a:p>
            <a:r>
              <a:rPr lang="en-US" altLang="x-none" dirty="0"/>
              <a:t>A related perspective on the problem is that multiplying our input by our weight matrix is giving us the scalar y output. We can map the points onto that and depending on which side of the origin the point gets mapped to, we end up having the image be classified as a cat or a dog.</a:t>
            </a:r>
            <a:endParaRPr lang="x-none" altLang="x-none" dirty="0"/>
          </a:p>
        </p:txBody>
      </p:sp>
    </p:spTree>
    <p:extLst>
      <p:ext uri="{BB962C8B-B14F-4D97-AF65-F5344CB8AC3E}">
        <p14:creationId xmlns:p14="http://schemas.microsoft.com/office/powerpoint/2010/main" val="2154865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096A01-C879-0B40-AF6A-094746F83672}" type="slidenum">
              <a:rPr lang="en-US" altLang="x-none"/>
              <a:pPr/>
              <a:t>16</a:t>
            </a:fld>
            <a:endParaRPr lang="en-US" altLang="x-none"/>
          </a:p>
        </p:txBody>
      </p:sp>
      <p:sp>
        <p:nvSpPr>
          <p:cNvPr id="34816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481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So far, we assumed we have the correct weights, but what if wanted to learn or estimate them? </a:t>
            </a:r>
          </a:p>
          <a:p>
            <a:endParaRPr lang="en-US" altLang="x-none" dirty="0"/>
          </a:p>
          <a:p>
            <a:r>
              <a:rPr lang="en-US" altLang="x-none" dirty="0"/>
              <a:t>If we have a data set and an error function defined – let’s say squared error, we could look at how to change our weights to minimize the error from the classifier on the given data set.</a:t>
            </a:r>
          </a:p>
        </p:txBody>
      </p:sp>
    </p:spTree>
    <p:extLst>
      <p:ext uri="{BB962C8B-B14F-4D97-AF65-F5344CB8AC3E}">
        <p14:creationId xmlns:p14="http://schemas.microsoft.com/office/powerpoint/2010/main" val="2034332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81064A-8FA3-8247-98B5-9D13524A7A94}" type="slidenum">
              <a:rPr lang="en-US" altLang="x-none"/>
              <a:pPr/>
              <a:t>17</a:t>
            </a:fld>
            <a:endParaRPr lang="en-US" altLang="x-none"/>
          </a:p>
        </p:txBody>
      </p:sp>
      <p:sp>
        <p:nvSpPr>
          <p:cNvPr id="3502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502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A straightforward way to try and set weights is to change them in a way that ends up decreasing your error. This is what gradient descent techniques do – they follow the gradient or slope of the error function and keep moving in directions that decrease it until you can’t decrease the error any further. The derivative of the error function with respect to the weight we’re interested in learning will be less than zero if moving the weight in that direction will lower the error, greater than zero if it will increase the error. The derivative hits zero when we can’t decrease the error any further no matter what direction we move. We can stop running our algorithm at that point. This is how gradient descent learning works. It selects weights by descending on the gradient or slope of the error function.</a:t>
            </a:r>
          </a:p>
          <a:p>
            <a:endParaRPr lang="en-US" altLang="x-none" dirty="0"/>
          </a:p>
          <a:p>
            <a:r>
              <a:rPr lang="en-US" altLang="x-none" dirty="0"/>
              <a:t>In practice, we end up changing our weights to decrease the error function. Just like with Q-learning, we have a learning rate so that changes to the weights don’t happen too quickly. </a:t>
            </a:r>
          </a:p>
        </p:txBody>
      </p:sp>
    </p:spTree>
    <p:extLst>
      <p:ext uri="{BB962C8B-B14F-4D97-AF65-F5344CB8AC3E}">
        <p14:creationId xmlns:p14="http://schemas.microsoft.com/office/powerpoint/2010/main" val="3615598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B7FF58-695D-114A-BA54-ED2F4052456A}" type="slidenum">
              <a:rPr lang="en-US" altLang="x-none"/>
              <a:pPr/>
              <a:t>18</a:t>
            </a:fld>
            <a:endParaRPr lang="en-US" altLang="x-none"/>
          </a:p>
        </p:txBody>
      </p:sp>
      <p:sp>
        <p:nvSpPr>
          <p:cNvPr id="3522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522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Using a linear output, we can derive the weight change rule in a straightforward manner. So, we start with the error function. As we’re linear and taking the sign, we’ll replace g with the identity, which means we can just drop it. Then we can expand our matrix multiplication for our case here so that it’s simpler to see. </a:t>
            </a:r>
          </a:p>
          <a:p>
            <a:endParaRPr lang="en-US" altLang="x-none" dirty="0"/>
          </a:p>
          <a:p>
            <a:r>
              <a:rPr lang="en-US" altLang="x-none" dirty="0"/>
              <a:t>To take the derivative of that error with respect to w_{</a:t>
            </a:r>
            <a:r>
              <a:rPr lang="en-US" altLang="x-none" dirty="0" err="1"/>
              <a:t>ij</a:t>
            </a:r>
            <a:r>
              <a:rPr lang="en-US" altLang="x-none" dirty="0"/>
              <a:t>}, we use the chain rule. Since it is with respect to w_{</a:t>
            </a:r>
            <a:r>
              <a:rPr lang="en-US" altLang="x-none" dirty="0" err="1"/>
              <a:t>ij</a:t>
            </a:r>
            <a:r>
              <a:rPr lang="en-US" altLang="x-none" dirty="0"/>
              <a:t>}, we first get -2 times the function and then derivative of that function with respect </a:t>
            </a:r>
            <a:r>
              <a:rPr lang="en-US" altLang="x-none" dirty="0" err="1"/>
              <a:t>tto</a:t>
            </a:r>
            <a:r>
              <a:rPr lang="en-US" altLang="x-none" dirty="0"/>
              <a:t> w_{</a:t>
            </a:r>
            <a:r>
              <a:rPr lang="en-US" altLang="x-none" dirty="0" err="1"/>
              <a:t>ij</a:t>
            </a:r>
            <a:r>
              <a:rPr lang="en-US" altLang="x-none" dirty="0"/>
              <a:t>}. </a:t>
            </a:r>
            <a:r>
              <a:rPr lang="en-US" altLang="x-none" dirty="0" err="1"/>
              <a:t>i</a:t>
            </a:r>
            <a:r>
              <a:rPr lang="en-US" altLang="x-none" dirty="0"/>
              <a:t> in this case is just 1, and then everything unrelated to w_{1j} is going to have derivative zero. The only thing related to it will be the x_{j} corresponding to w_{</a:t>
            </a:r>
            <a:r>
              <a:rPr lang="en-US" altLang="x-none" dirty="0" err="1"/>
              <a:t>ij</a:t>
            </a:r>
            <a:r>
              <a:rPr lang="en-US" altLang="x-none" dirty="0"/>
              <a:t>}. </a:t>
            </a:r>
          </a:p>
          <a:p>
            <a:endParaRPr lang="en-US" altLang="x-none" dirty="0"/>
          </a:p>
          <a:p>
            <a:r>
              <a:rPr lang="en-US" altLang="x-none" dirty="0"/>
              <a:t>Putting it together, we get that we should change our weight j then to minimize the output error, the difference between the y we observed in our data set and the predicted y modulated by how much influence the j-</a:t>
            </a:r>
            <a:r>
              <a:rPr lang="en-US" altLang="x-none" dirty="0" err="1"/>
              <a:t>th</a:t>
            </a:r>
            <a:r>
              <a:rPr lang="en-US" altLang="x-none" dirty="0"/>
              <a:t> dimension of the data point had for the prediction or </a:t>
            </a:r>
            <a:r>
              <a:rPr lang="en-US" altLang="x-none" dirty="0" err="1"/>
              <a:t>x_j</a:t>
            </a:r>
            <a:r>
              <a:rPr lang="en-US" altLang="x-none" dirty="0"/>
              <a:t>. </a:t>
            </a:r>
            <a:endParaRPr lang="x-none" altLang="x-none" dirty="0"/>
          </a:p>
        </p:txBody>
      </p:sp>
    </p:spTree>
    <p:extLst>
      <p:ext uri="{BB962C8B-B14F-4D97-AF65-F5344CB8AC3E}">
        <p14:creationId xmlns:p14="http://schemas.microsoft.com/office/powerpoint/2010/main" val="534438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6606AF-15CA-9D4A-8DF8-899E949F1022}" type="slidenum">
              <a:rPr lang="en-US" altLang="x-none"/>
              <a:pPr/>
              <a:t>19</a:t>
            </a:fld>
            <a:endParaRPr lang="en-US" altLang="x-none"/>
          </a:p>
        </p:txBody>
      </p:sp>
      <p:sp>
        <p:nvSpPr>
          <p:cNvPr id="35430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543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Now if we wanted to do this for any arbitrary g, we use the chain rule and leave things explicit. That way we can plug in the derivative for whatever nonlinear function we decided to use as our activation function. That gives us a similar answer, but now we have the activation function and its derivative as part of the weight update rule. We still update according to the output error and modulate it based on the influence of the j-</a:t>
            </a:r>
            <a:r>
              <a:rPr lang="en-US" altLang="x-none" dirty="0" err="1"/>
              <a:t>th</a:t>
            </a:r>
            <a:r>
              <a:rPr lang="en-US" altLang="x-none" dirty="0"/>
              <a:t> dimension of our input. But now we also need to include a term to correct for how quickly things change in our activation function.  So our input influence is now weighted also by the derivative of the space in that region. </a:t>
            </a:r>
            <a:endParaRPr lang="x-none" altLang="x-none" dirty="0"/>
          </a:p>
        </p:txBody>
      </p:sp>
    </p:spTree>
    <p:extLst>
      <p:ext uri="{BB962C8B-B14F-4D97-AF65-F5344CB8AC3E}">
        <p14:creationId xmlns:p14="http://schemas.microsoft.com/office/powerpoint/2010/main" val="2974656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FEC603-8BEF-5A43-8177-2B556AAB3C88}" type="slidenum">
              <a:rPr lang="en-US" altLang="x-none"/>
              <a:pPr/>
              <a:t>20</a:t>
            </a:fld>
            <a:endParaRPr lang="en-US" altLang="x-none"/>
          </a:p>
        </p:txBody>
      </p:sp>
      <p:sp>
        <p:nvSpPr>
          <p:cNvPr id="41369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36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Although there was a good deal of interest with learning in these simple neural networks, researchers typically used linear ones only at the time. Two very influential AI researchers, Marvin Minsky – one of the founders of AI and Seymour </a:t>
            </a:r>
            <a:r>
              <a:rPr lang="en-US" altLang="x-none" dirty="0" err="1"/>
              <a:t>Papert</a:t>
            </a:r>
            <a:r>
              <a:rPr lang="en-US" altLang="x-none" dirty="0"/>
              <a:t>, analyzed the properties of these linear neural networks and argued quite convincingly that the linear ones couldn’t do some very basic things we would want them to do. </a:t>
            </a:r>
            <a:endParaRPr lang="x-none" altLang="x-none" dirty="0"/>
          </a:p>
        </p:txBody>
      </p:sp>
    </p:spTree>
    <p:extLst>
      <p:ext uri="{BB962C8B-B14F-4D97-AF65-F5344CB8AC3E}">
        <p14:creationId xmlns:p14="http://schemas.microsoft.com/office/powerpoint/2010/main" val="2905613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5A9A34-CC3B-EB40-AF6F-DA75B201BC2C}" type="slidenum">
              <a:rPr lang="en-US" altLang="x-none"/>
              <a:pPr/>
              <a:t>21</a:t>
            </a:fld>
            <a:endParaRPr lang="en-US" altLang="x-none"/>
          </a:p>
        </p:txBody>
      </p:sp>
      <p:sp>
        <p:nvSpPr>
          <p:cNvPr id="356354" name="Rectangle 2"/>
          <p:cNvSpPr>
            <a:spLocks noGrp="1" noRot="1" noChangeAspect="1" noChangeArrowheads="1" noTextEdit="1"/>
          </p:cNvSpPr>
          <p:nvPr>
            <p:ph type="sldImg"/>
          </p:nvPr>
        </p:nvSpPr>
        <p:spPr>
          <a:ln/>
        </p:spPr>
      </p:sp>
      <p:sp>
        <p:nvSpPr>
          <p:cNvPr id="356355" name="Rectangle 3"/>
          <p:cNvSpPr>
            <a:spLocks noGrp="1" noChangeArrowheads="1"/>
          </p:cNvSpPr>
          <p:nvPr>
            <p:ph type="body" idx="1"/>
          </p:nvPr>
        </p:nvSpPr>
        <p:spPr/>
        <p:txBody>
          <a:bodyPr/>
          <a:lstStyle/>
          <a:p>
            <a:r>
              <a:rPr lang="en-US" altLang="x-none" dirty="0"/>
              <a:t>Linear neural networks have a limitation – they are linear. That means that they can’t capture functions that are nonlinear. That means they can capture some logic functions. For example, if we want to capture AND, we can set a line as follows so everything below the line is negative or false and everything above the line is positive or true. OR can be captured by shifting down and to the left. Then we can get positive for having just x_1 on or x_2 without needing both of them to be on. But let’s say we want to do something like exclusive OR </a:t>
            </a:r>
            <a:r>
              <a:rPr lang="en-US" altLang="x-none" dirty="0" err="1"/>
              <a:t>or</a:t>
            </a:r>
            <a:r>
              <a:rPr lang="en-US" altLang="x-none" dirty="0"/>
              <a:t> XOR. Then we want to have a function such that it is only true when one, but not both, of the inputs are on. In that case there’s no line you can form and thus, you can’t compute functions like XOR with a linear neural network. Minsky and </a:t>
            </a:r>
            <a:r>
              <a:rPr lang="en-US" altLang="x-none" dirty="0" err="1"/>
              <a:t>Papert</a:t>
            </a:r>
            <a:r>
              <a:rPr lang="en-US" altLang="x-none" dirty="0"/>
              <a:t> argued that important cognitive abilities, such as telling if a shape is connected or not, rely on using functions like XOR. </a:t>
            </a:r>
            <a:endParaRPr lang="x-none" altLang="x-none" dirty="0"/>
          </a:p>
        </p:txBody>
      </p:sp>
    </p:spTree>
    <p:extLst>
      <p:ext uri="{BB962C8B-B14F-4D97-AF65-F5344CB8AC3E}">
        <p14:creationId xmlns:p14="http://schemas.microsoft.com/office/powerpoint/2010/main" val="40602614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5A9A34-CC3B-EB40-AF6F-DA75B201BC2C}" type="slidenum">
              <a:rPr lang="en-US" altLang="x-none"/>
              <a:pPr/>
              <a:t>22</a:t>
            </a:fld>
            <a:endParaRPr lang="en-US" altLang="x-none"/>
          </a:p>
        </p:txBody>
      </p:sp>
      <p:sp>
        <p:nvSpPr>
          <p:cNvPr id="356354" name="Rectangle 2"/>
          <p:cNvSpPr>
            <a:spLocks noGrp="1" noRot="1" noChangeAspect="1" noChangeArrowheads="1" noTextEdit="1"/>
          </p:cNvSpPr>
          <p:nvPr>
            <p:ph type="sldImg"/>
          </p:nvPr>
        </p:nvSpPr>
        <p:spPr>
          <a:ln/>
        </p:spPr>
      </p:sp>
      <p:sp>
        <p:nvSpPr>
          <p:cNvPr id="356355" name="Rectangle 3"/>
          <p:cNvSpPr>
            <a:spLocks noGrp="1" noChangeArrowheads="1"/>
          </p:cNvSpPr>
          <p:nvPr>
            <p:ph type="body" idx="1"/>
          </p:nvPr>
        </p:nvSpPr>
        <p:spPr/>
        <p:txBody>
          <a:bodyPr/>
          <a:lstStyle/>
          <a:p>
            <a:r>
              <a:rPr lang="en-US" altLang="x-none" dirty="0"/>
              <a:t>Another thing one might think about doing is say, ok let’s add another layer. So instead of having our output y be directly from the input applied to a single weight matrix w, let’s have it go through a hidden layer h that then feeds into our output. What does that end up looking like in total? Well our function is this second function applied to the first function’s output when applied to x. If we work through it, h is the output from the first layer of processing. The result of this is formed by multiplying the matrix W to x. Then we multiply h to a second weight vector w ( I’m just using w as a vector rather than a matrix because we’ve been using a single dimensional output – it’d be a matrix otherwise and a different one from the large W)</a:t>
            </a:r>
          </a:p>
          <a:p>
            <a:endParaRPr lang="en-US" altLang="x-none" dirty="0"/>
          </a:p>
          <a:p>
            <a:r>
              <a:rPr lang="en-US" altLang="x-none" dirty="0"/>
              <a:t>At any rate, that means our function is the multiplication of x with the weight matrix and that multiplied with the second layer’s weight vector. But we can re-represent that as a simple vector multiplication of x with a w’ vector, where w’ is the result of applying W matrix with w. </a:t>
            </a:r>
          </a:p>
          <a:p>
            <a:endParaRPr lang="en-US" altLang="x-none" dirty="0"/>
          </a:p>
          <a:p>
            <a:r>
              <a:rPr lang="en-US" altLang="x-none" dirty="0"/>
              <a:t>What does this all mean? Well, adding another layer didn’t do anything useful. We could have just used a vector of weights to capture its effect and so in the case of linear neural networks, adding more layers does not make our network any more expressible than what we can express with a single linear layer.</a:t>
            </a:r>
            <a:endParaRPr lang="x-none" altLang="x-none" dirty="0"/>
          </a:p>
        </p:txBody>
      </p:sp>
    </p:spTree>
    <p:extLst>
      <p:ext uri="{BB962C8B-B14F-4D97-AF65-F5344CB8AC3E}">
        <p14:creationId xmlns:p14="http://schemas.microsoft.com/office/powerpoint/2010/main" val="1030164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078C1-C6A3-D54D-A06C-4AD0F7AE8AE5}" type="slidenum">
              <a:rPr lang="en-US" altLang="x-none"/>
              <a:pPr/>
              <a:t>23</a:t>
            </a:fld>
            <a:endParaRPr lang="en-US" altLang="x-none"/>
          </a:p>
        </p:txBody>
      </p:sp>
      <p:sp>
        <p:nvSpPr>
          <p:cNvPr id="4014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14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But, if we add a layer AND a non-linearity for the activation at the hidden layer, then we can deal with XOR. Here’s what the basic process looks like. We map the original space into a new space with a nonlinearity that allows us to put the points that need to be classified together closer together. Once that has been done, we can now draw a line that discriminates between the positive and negative values. And bam, we can put the positive on one side of the boundary and the negative on the other. </a:t>
            </a:r>
            <a:endParaRPr lang="x-none" altLang="x-none" dirty="0"/>
          </a:p>
        </p:txBody>
      </p:sp>
    </p:spTree>
    <p:extLst>
      <p:ext uri="{BB962C8B-B14F-4D97-AF65-F5344CB8AC3E}">
        <p14:creationId xmlns:p14="http://schemas.microsoft.com/office/powerpoint/2010/main" val="1800440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078C1-C6A3-D54D-A06C-4AD0F7AE8AE5}" type="slidenum">
              <a:rPr lang="en-US" altLang="x-none"/>
              <a:pPr/>
              <a:t>24</a:t>
            </a:fld>
            <a:endParaRPr lang="en-US" altLang="x-none"/>
          </a:p>
        </p:txBody>
      </p:sp>
      <p:sp>
        <p:nvSpPr>
          <p:cNvPr id="4014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14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What does this look like in practice? Well to do that, we need to select a non-linearity for the hidden layer. Let’s use the rectified linear one. You can see the output of the hidden layer after the activation function has been applied then being run through a linear layer before we get the output. </a:t>
            </a:r>
          </a:p>
          <a:p>
            <a:endParaRPr lang="en-US" altLang="x-none" dirty="0"/>
          </a:p>
          <a:p>
            <a:r>
              <a:rPr lang="en-US" altLang="x-none" dirty="0"/>
              <a:t>One solution for this is to have a weight matrix W that basically adds the x values together and have that for both dimensions. The first dimension you leave as it is. The second one you subtract by one. That second dimension being non zero when either both inputs are false or true allows one to ultimately compute XOR once things pass through the nonlinearity. Here’s how that works. </a:t>
            </a:r>
          </a:p>
          <a:p>
            <a:endParaRPr lang="en-US" altLang="x-none" dirty="0"/>
          </a:p>
          <a:p>
            <a:r>
              <a:rPr lang="en-US" altLang="x-none" dirty="0"/>
              <a:t>So we can write out all the </a:t>
            </a:r>
            <a:r>
              <a:rPr lang="en-US" altLang="x-none" dirty="0" err="1"/>
              <a:t>Xs</a:t>
            </a:r>
            <a:r>
              <a:rPr lang="en-US" altLang="x-none" dirty="0"/>
              <a:t> we could have. I apologize I shifted to zero being false rather than -1 in this example. We have false </a:t>
            </a:r>
            <a:r>
              <a:rPr lang="en-US" altLang="x-none" dirty="0" err="1"/>
              <a:t>false</a:t>
            </a:r>
            <a:r>
              <a:rPr lang="en-US" altLang="x-none" dirty="0"/>
              <a:t>, false true, true false, and true </a:t>
            </a:r>
            <a:r>
              <a:rPr lang="en-US" altLang="x-none" dirty="0" err="1"/>
              <a:t>true</a:t>
            </a:r>
            <a:r>
              <a:rPr lang="en-US" altLang="x-none" dirty="0"/>
              <a:t>. When we multiply that with our weight matrix, we get the sum of the </a:t>
            </a:r>
            <a:r>
              <a:rPr lang="en-US" altLang="x-none" dirty="0" err="1"/>
              <a:t>Xs</a:t>
            </a:r>
            <a:r>
              <a:rPr lang="en-US" altLang="x-none" dirty="0"/>
              <a:t> twice, so that gives us 0,0; 1, 1; 1, 1; and 2, 2. Then we add our bias term to each of the </a:t>
            </a:r>
            <a:r>
              <a:rPr lang="en-US" altLang="x-none" dirty="0" err="1"/>
              <a:t>Xs</a:t>
            </a:r>
            <a:r>
              <a:rPr lang="en-US" altLang="x-none" dirty="0"/>
              <a:t>. That gives us an output of 0 -1; 1 0; 1 0; and 2 1;. Now we need to put that through the rectified linear function nonlinearity and then we can multiply that with our second layer’s weights. The second layer’s weights are 1 and -2. The output from the nonlinearity just changes the one -1 that’s there to a zero. Now when we do the matrix multiplication for the final layer in a linear way, we get zero for the first. The second and third give is 1 and then the last one gives us 0 again (1 times 2 is 2 and -2 times 1 is -2 and together they make zero again). </a:t>
            </a:r>
          </a:p>
          <a:p>
            <a:endParaRPr lang="en-US" altLang="x-none" dirty="0"/>
          </a:p>
          <a:p>
            <a:r>
              <a:rPr lang="en-US" altLang="x-none" dirty="0"/>
              <a:t>And voila! We can easily capture XOR using artificial neural networks once we have a nonlinearity  -- even something as simple as a max with zero.</a:t>
            </a:r>
            <a:endParaRPr lang="x-none" altLang="x-none" dirty="0"/>
          </a:p>
        </p:txBody>
      </p:sp>
    </p:spTree>
    <p:extLst>
      <p:ext uri="{BB962C8B-B14F-4D97-AF65-F5344CB8AC3E}">
        <p14:creationId xmlns:p14="http://schemas.microsoft.com/office/powerpoint/2010/main" val="4255680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50F80-4AD9-3241-9DB1-C9E26C2157F1}" type="slidenum">
              <a:rPr lang="en-US" altLang="x-none"/>
              <a:pPr/>
              <a:t>25</a:t>
            </a:fld>
            <a:endParaRPr lang="en-US" altLang="x-none"/>
          </a:p>
        </p:txBody>
      </p:sp>
      <p:sp>
        <p:nvSpPr>
          <p:cNvPr id="4546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46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Although we </a:t>
            </a:r>
            <a:r>
              <a:rPr lang="en-US" altLang="x-none" dirty="0" err="1"/>
              <a:t>discusse</a:t>
            </a:r>
            <a:r>
              <a:rPr lang="en-US" altLang="x-none" dirty="0"/>
              <a:t> dhow to learn weights even for non-linear neural networks, we didn’t discuss how to do that for neural networks with more than one layer. </a:t>
            </a:r>
            <a:endParaRPr lang="x-none" altLang="x-none" dirty="0"/>
          </a:p>
        </p:txBody>
      </p:sp>
    </p:spTree>
    <p:extLst>
      <p:ext uri="{BB962C8B-B14F-4D97-AF65-F5344CB8AC3E}">
        <p14:creationId xmlns:p14="http://schemas.microsoft.com/office/powerpoint/2010/main" val="90002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5AA639-E45C-0440-A2C5-F6377F20E5D9}" type="slidenum">
              <a:rPr lang="en-US" altLang="x-none"/>
              <a:pPr/>
              <a:t>26</a:t>
            </a:fld>
            <a:endParaRPr lang="en-US" altLang="x-none"/>
          </a:p>
        </p:txBody>
      </p:sp>
      <p:sp>
        <p:nvSpPr>
          <p:cNvPr id="4177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77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David Rumelhart was one of the most influential computational modelers in cognition. He primarily focused on connectionist models during his career, though some of his earlier work did involve some symbolic style computational models. </a:t>
            </a:r>
          </a:p>
          <a:p>
            <a:endParaRPr lang="en-US" altLang="x-none" dirty="0"/>
          </a:p>
          <a:p>
            <a:r>
              <a:rPr lang="en-US" altLang="x-none" dirty="0"/>
              <a:t>He was a really fascinating professor. Speaking to some of his advisees, they described him as the sort of advisor who would be quietly working on a blackboard in your office because he liked your blackboard better than the one in his office. After working for a few weeks on something he’d suddenly get ecstatic with an idea and explain it to you and then you’d work on it with him as your dissertation work. </a:t>
            </a:r>
          </a:p>
          <a:p>
            <a:endParaRPr lang="en-US" altLang="x-none" dirty="0"/>
          </a:p>
          <a:p>
            <a:r>
              <a:rPr lang="en-US" altLang="x-none" dirty="0"/>
              <a:t>One such project was discovering the backpropagation method for training multilayer nonlinear neural networks. With Jay McClelland and Geoff Hinton, they ushered in the second wave of excitement in artificial neural networks in the late 1980s. One of my favorite papers of all time in cognitive science is one he did in the PDP bible where they examined how unsupervised feature learning works with backpropagation. His impact on the field was immense. Sadly, he had developed a rare neurodegenerative disease called Pick’s disease that he actually studied at one point and passed away too young. Many prizes got named after him to honor his legacy.</a:t>
            </a:r>
          </a:p>
          <a:p>
            <a:endParaRPr lang="en-US" altLang="x-none" dirty="0"/>
          </a:p>
          <a:p>
            <a:r>
              <a:rPr lang="en-US" altLang="x-none" dirty="0"/>
              <a:t>Although backpropagation is no longer used to train multilayer neural networks, he inspired many to start working with multilayer neural networks and train them. I remember in 2013 while doing a short stint at Stanford as a postdoc chatting with Jay McClelland about deep neural networks and whether he was considering working with them. He said of course, he had been already been working with them throughout his career. Just the computational power to work with these techniques grew dramatically.</a:t>
            </a:r>
            <a:endParaRPr lang="x-none" altLang="x-none" dirty="0"/>
          </a:p>
        </p:txBody>
      </p:sp>
    </p:spTree>
    <p:extLst>
      <p:ext uri="{BB962C8B-B14F-4D97-AF65-F5344CB8AC3E}">
        <p14:creationId xmlns:p14="http://schemas.microsoft.com/office/powerpoint/2010/main" val="3430610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5971DD-B4F5-7140-82AC-AF6F26A00075}" type="slidenum">
              <a:rPr lang="en-US" altLang="x-none"/>
              <a:pPr/>
              <a:t>27</a:t>
            </a:fld>
            <a:endParaRPr lang="en-US" altLang="x-none"/>
          </a:p>
        </p:txBody>
      </p:sp>
      <p:sp>
        <p:nvSpPr>
          <p:cNvPr id="41574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57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The overall logic for training multi-layer networks is to feed labeled data through the multi-layer networks. Examine the error with the current weights for the inputs. Use the delta rule that we discussed earlier to adjust the weights for each hidden layer’s variables and then propagate the error each input’s influence on each hidden unit backwards to the next layer using a generalized form of the delta rule. In essence we want to update the input weights according to their role in having caused the hidden layer to have errors. The idea of feeding data forward and then propagating errors backwards to update all the weights based on that is where the name backpropagation came from.</a:t>
            </a:r>
            <a:endParaRPr lang="x-none" altLang="x-none" dirty="0"/>
          </a:p>
        </p:txBody>
      </p:sp>
    </p:spTree>
    <p:extLst>
      <p:ext uri="{BB962C8B-B14F-4D97-AF65-F5344CB8AC3E}">
        <p14:creationId xmlns:p14="http://schemas.microsoft.com/office/powerpoint/2010/main" val="3635848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696489-739A-F64F-8BC7-5A1931DD1FDB}" type="slidenum">
              <a:rPr lang="en-US" altLang="x-none"/>
              <a:pPr/>
              <a:t>28</a:t>
            </a:fld>
            <a:endParaRPr lang="en-US" altLang="x-none"/>
          </a:p>
        </p:txBody>
      </p:sp>
      <p:sp>
        <p:nvSpPr>
          <p:cNvPr id="4864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864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Ok, lets define the weights that connect our hidden layer to the output layer as w_{</a:t>
            </a:r>
            <a:r>
              <a:rPr lang="en-US" altLang="x-none" dirty="0" err="1"/>
              <a:t>ij</a:t>
            </a:r>
            <a:r>
              <a:rPr lang="en-US" altLang="x-none" dirty="0"/>
              <a:t>} and then our input layer to the hidden layer as w_{</a:t>
            </a:r>
            <a:r>
              <a:rPr lang="en-US" altLang="x-none" dirty="0" err="1"/>
              <a:t>jk</a:t>
            </a:r>
            <a:r>
              <a:rPr lang="en-US" altLang="x-none" dirty="0"/>
              <a:t>}</a:t>
            </a:r>
            <a:endParaRPr lang="x-none" altLang="x-none" dirty="0"/>
          </a:p>
        </p:txBody>
      </p:sp>
    </p:spTree>
    <p:extLst>
      <p:ext uri="{BB962C8B-B14F-4D97-AF65-F5344CB8AC3E}">
        <p14:creationId xmlns:p14="http://schemas.microsoft.com/office/powerpoint/2010/main" val="16336236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01C37F-E7AA-464C-8426-6F07987B67A9}" type="slidenum">
              <a:rPr lang="en-US" altLang="x-none"/>
              <a:pPr/>
              <a:t>29</a:t>
            </a:fld>
            <a:endParaRPr lang="en-US" altLang="x-none"/>
          </a:p>
        </p:txBody>
      </p:sp>
      <p:sp>
        <p:nvSpPr>
          <p:cNvPr id="45261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26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To calculate the update for w_{</a:t>
            </a:r>
            <a:r>
              <a:rPr lang="en-US" altLang="x-none" dirty="0" err="1"/>
              <a:t>ij</a:t>
            </a:r>
            <a:r>
              <a:rPr lang="en-US" altLang="x-none" dirty="0"/>
              <a:t>}, we can follow the same logic as before, except instead of </a:t>
            </a:r>
            <a:r>
              <a:rPr lang="en-US" altLang="x-none" dirty="0" err="1"/>
              <a:t>x_j</a:t>
            </a:r>
            <a:r>
              <a:rPr lang="en-US" altLang="x-none" dirty="0"/>
              <a:t> we have </a:t>
            </a:r>
            <a:r>
              <a:rPr lang="en-US" altLang="x-none" dirty="0" err="1"/>
              <a:t>z_j</a:t>
            </a:r>
            <a:r>
              <a:rPr lang="en-US" altLang="x-none" dirty="0"/>
              <a:t>. </a:t>
            </a:r>
            <a:r>
              <a:rPr lang="en-US" altLang="x-none" dirty="0" err="1"/>
              <a:t>Everythign</a:t>
            </a:r>
            <a:r>
              <a:rPr lang="en-US" altLang="x-none" dirty="0"/>
              <a:t> else could be </a:t>
            </a:r>
            <a:r>
              <a:rPr lang="en-US" altLang="x-none" dirty="0" err="1"/>
              <a:t>deifned</a:t>
            </a:r>
            <a:r>
              <a:rPr lang="en-US" altLang="x-none" dirty="0"/>
              <a:t> as before and we can summarize it with the modified error term and </a:t>
            </a:r>
            <a:r>
              <a:rPr lang="en-US" altLang="x-none" dirty="0" err="1"/>
              <a:t>z_j</a:t>
            </a:r>
            <a:r>
              <a:rPr lang="en-US" altLang="x-none" dirty="0"/>
              <a:t>. But what is the correct value for </a:t>
            </a:r>
            <a:r>
              <a:rPr lang="en-US" altLang="x-none" dirty="0" err="1"/>
              <a:t>z_j</a:t>
            </a:r>
            <a:r>
              <a:rPr lang="en-US" altLang="x-none" dirty="0"/>
              <a:t>? When we had </a:t>
            </a:r>
            <a:r>
              <a:rPr lang="en-US" altLang="x-none" dirty="0" err="1"/>
              <a:t>x_j</a:t>
            </a:r>
            <a:r>
              <a:rPr lang="en-US" altLang="x-none" dirty="0"/>
              <a:t>, we knew what that value was because it was given in the input, but what is the error that </a:t>
            </a:r>
            <a:r>
              <a:rPr lang="en-US" altLang="x-none" dirty="0" err="1"/>
              <a:t>z_j</a:t>
            </a:r>
            <a:r>
              <a:rPr lang="en-US" altLang="x-none" dirty="0"/>
              <a:t> is responsible for?</a:t>
            </a:r>
            <a:endParaRPr lang="x-none" altLang="x-none" dirty="0"/>
          </a:p>
        </p:txBody>
      </p:sp>
    </p:spTree>
    <p:extLst>
      <p:ext uri="{BB962C8B-B14F-4D97-AF65-F5344CB8AC3E}">
        <p14:creationId xmlns:p14="http://schemas.microsoft.com/office/powerpoint/2010/main" val="7737330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F9CACD-6B72-C741-9AA3-277B012A0BF9}" type="slidenum">
              <a:rPr lang="en-US" altLang="x-none"/>
              <a:pPr/>
              <a:t>30</a:t>
            </a:fld>
            <a:endParaRPr lang="en-US" altLang="x-none"/>
          </a:p>
        </p:txBody>
      </p:sp>
      <p:sp>
        <p:nvSpPr>
          <p:cNvPr id="48435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843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Well, with a little math, we can write the full function from input to predicted output . Then we can derive the update for the w_{</a:t>
            </a:r>
            <a:r>
              <a:rPr lang="en-US" altLang="x-none" dirty="0" err="1"/>
              <a:t>jk</a:t>
            </a:r>
            <a:r>
              <a:rPr lang="en-US" altLang="x-none" dirty="0"/>
              <a:t>} by working through the chain rule with this function. We won’t go through it all as it’s a lot of the same, but at least then we can do the update for the w_{</a:t>
            </a:r>
            <a:r>
              <a:rPr lang="en-US" altLang="x-none" dirty="0" err="1"/>
              <a:t>jk</a:t>
            </a:r>
            <a:r>
              <a:rPr lang="en-US" altLang="x-none" dirty="0"/>
              <a:t>} using the </a:t>
            </a:r>
            <a:r>
              <a:rPr lang="en-US" altLang="x-none" dirty="0" err="1"/>
              <a:t>x_j</a:t>
            </a:r>
            <a:r>
              <a:rPr lang="en-US" altLang="x-none" dirty="0"/>
              <a:t>. So we can still make the updates for the first layer’s weights.</a:t>
            </a:r>
          </a:p>
          <a:p>
            <a:endParaRPr lang="en-US" altLang="x-none" dirty="0"/>
          </a:p>
          <a:p>
            <a:r>
              <a:rPr lang="en-US" altLang="x-none" dirty="0"/>
              <a:t>But we already could do that before in some ways… so how does this help us with learning the weights in the second layer and the issue we had with </a:t>
            </a:r>
            <a:r>
              <a:rPr lang="en-US" altLang="x-none" dirty="0" err="1"/>
              <a:t>z_j</a:t>
            </a:r>
            <a:r>
              <a:rPr lang="en-US" altLang="x-none" dirty="0"/>
              <a:t>?</a:t>
            </a:r>
          </a:p>
        </p:txBody>
      </p:sp>
    </p:spTree>
    <p:extLst>
      <p:ext uri="{BB962C8B-B14F-4D97-AF65-F5344CB8AC3E}">
        <p14:creationId xmlns:p14="http://schemas.microsoft.com/office/powerpoint/2010/main" val="29442734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DCFCBF-7115-4749-9DB9-EB029B31A368}" type="slidenum">
              <a:rPr lang="en-US" altLang="x-none"/>
              <a:pPr/>
              <a:t>31</a:t>
            </a:fld>
            <a:endParaRPr lang="en-US" altLang="x-none"/>
          </a:p>
        </p:txBody>
      </p:sp>
      <p:sp>
        <p:nvSpPr>
          <p:cNvPr id="4608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608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I’m going to end up handwaving this a bit. But overall, the way that we end up propagating the updates is by using the w_{</a:t>
            </a:r>
            <a:r>
              <a:rPr lang="en-US" altLang="x-none" dirty="0" err="1"/>
              <a:t>ij</a:t>
            </a:r>
            <a:r>
              <a:rPr lang="en-US" altLang="x-none" dirty="0"/>
              <a:t>} and the portion of the error w_{</a:t>
            </a:r>
            <a:r>
              <a:rPr lang="en-US" altLang="x-none" dirty="0" err="1"/>
              <a:t>ij</a:t>
            </a:r>
            <a:r>
              <a:rPr lang="en-US" altLang="x-none" dirty="0"/>
              <a:t>} had. So for each of the w_{</a:t>
            </a:r>
            <a:r>
              <a:rPr lang="en-US" altLang="x-none" dirty="0" err="1"/>
              <a:t>ij</a:t>
            </a:r>
            <a:r>
              <a:rPr lang="en-US" altLang="x-none" dirty="0"/>
              <a:t>} that our w_{</a:t>
            </a:r>
            <a:r>
              <a:rPr lang="en-US" altLang="x-none" dirty="0" err="1"/>
              <a:t>jk</a:t>
            </a:r>
            <a:r>
              <a:rPr lang="en-US" altLang="x-none" dirty="0"/>
              <a:t>} is connected to, we end up getting a bit of that blame and adjust our term accordingly. We add those together to get our \</a:t>
            </a:r>
            <a:r>
              <a:rPr lang="en-US" altLang="x-none" dirty="0" err="1"/>
              <a:t>delta_j</a:t>
            </a:r>
            <a:r>
              <a:rPr lang="en-US" altLang="x-none" dirty="0"/>
              <a:t> term (all weighted by the appropriate derivative for the curvature of that region). Then we can bring </a:t>
            </a:r>
            <a:r>
              <a:rPr lang="en-US" altLang="x-none" dirty="0" err="1"/>
              <a:t>x_k</a:t>
            </a:r>
            <a:r>
              <a:rPr lang="en-US" altLang="x-none" dirty="0"/>
              <a:t> back with us and use that to make our update. And voila! We now can propagate the error back from the first layer to the second layer to train the weights of the second layer.</a:t>
            </a:r>
          </a:p>
          <a:p>
            <a:endParaRPr lang="en-US" altLang="x-none" dirty="0"/>
          </a:p>
          <a:p>
            <a:r>
              <a:rPr lang="en-US" altLang="x-none" dirty="0"/>
              <a:t>In principle, this could be done an arbitrary number of times, which would get us to neural networks of arbitrary size. But there are computational difficulties that arise. For example, needing to spread the blame over and over can lead to computational issues of vanishing gradients. There are a lot of ways of getting around these issues that folks have explored in the NN community.</a:t>
            </a:r>
            <a:endParaRPr lang="x-none" altLang="x-none" dirty="0"/>
          </a:p>
        </p:txBody>
      </p:sp>
    </p:spTree>
    <p:extLst>
      <p:ext uri="{BB962C8B-B14F-4D97-AF65-F5344CB8AC3E}">
        <p14:creationId xmlns:p14="http://schemas.microsoft.com/office/powerpoint/2010/main" val="29664118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8F2E04-7816-7546-B162-4B754E2EE035}" type="slidenum">
              <a:rPr lang="en-US" altLang="x-none"/>
              <a:pPr/>
              <a:t>32</a:t>
            </a:fld>
            <a:endParaRPr lang="en-US" altLang="x-none"/>
          </a:p>
        </p:txBody>
      </p:sp>
      <p:sp>
        <p:nvSpPr>
          <p:cNvPr id="45670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670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In summary, can train multilayer neural networks for as many layers as we want using the backpropagation algorithm. We do so by computing the error at the output, using the delta rule and generalized delta rule to update the weights in the first layer, propagate the error that each hidden node in the next layer was responsible for and then update the weights in the next layer by proportioning partial blame to each of the units as we discussed in the last slide.</a:t>
            </a:r>
          </a:p>
          <a:p>
            <a:endParaRPr lang="en-US" altLang="x-none" dirty="0"/>
          </a:p>
        </p:txBody>
      </p:sp>
    </p:spTree>
    <p:extLst>
      <p:ext uri="{BB962C8B-B14F-4D97-AF65-F5344CB8AC3E}">
        <p14:creationId xmlns:p14="http://schemas.microsoft.com/office/powerpoint/2010/main" val="22929289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12427-1DBD-7482-2523-DCAF8EFB0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6B663-E3A2-8A95-9E96-078673AEBC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5C965D-4996-A805-246B-2EFE4840961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x-none" dirty="0"/>
              <a:t>Modern NNs moved from using these feedforward fully connected layer to layer networks to ones with special architectures. Two ones that have played a large role are convolutional and recurrent neural networks. We’ll explore both of these which are used for visual perception and language applications, respectively.</a:t>
            </a:r>
            <a:endParaRPr lang="x-none" altLang="x-none" dirty="0"/>
          </a:p>
        </p:txBody>
      </p:sp>
      <p:sp>
        <p:nvSpPr>
          <p:cNvPr id="4" name="Slide Number Placeholder 3">
            <a:extLst>
              <a:ext uri="{FF2B5EF4-FFF2-40B4-BE49-F238E27FC236}">
                <a16:creationId xmlns:a16="http://schemas.microsoft.com/office/drawing/2014/main" id="{48E9373B-2D59-AF49-FB84-B4101C2546C6}"/>
              </a:ext>
            </a:extLst>
          </p:cNvPr>
          <p:cNvSpPr>
            <a:spLocks noGrp="1"/>
          </p:cNvSpPr>
          <p:nvPr>
            <p:ph type="sldNum" sz="quarter" idx="5"/>
          </p:nvPr>
        </p:nvSpPr>
        <p:spPr/>
        <p:txBody>
          <a:bodyPr/>
          <a:lstStyle/>
          <a:p>
            <a:fld id="{D5C18A63-2409-0241-8255-D95D06F653A2}" type="slidenum">
              <a:rPr lang="en-US" smtClean="0"/>
              <a:t>33</a:t>
            </a:fld>
            <a:endParaRPr lang="en-US"/>
          </a:p>
        </p:txBody>
      </p:sp>
    </p:spTree>
    <p:extLst>
      <p:ext uri="{BB962C8B-B14F-4D97-AF65-F5344CB8AC3E}">
        <p14:creationId xmlns:p14="http://schemas.microsoft.com/office/powerpoint/2010/main" val="4135108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years, researchers have integrated operations other than matrix multiplication, typically designed for special purposes. One particular special purpose is sensing, especially visual perception. In that case, we might have a feature or other shape we’re trying to detect. We may want our agent to act similarly to some shape regardless of what part of their retina it falls on. One way to do that is to implement what’s called a convolution operator that connects the same feature detecting portion of an artificial neural network to many different parts of the image at different offsets for the x and y position within the image. </a:t>
            </a:r>
          </a:p>
          <a:p>
            <a:endParaRPr lang="en-US" dirty="0"/>
          </a:p>
          <a:p>
            <a:r>
              <a:rPr lang="en-US" dirty="0"/>
              <a:t>Convolution had been a mathematical operator for a long time. One place it had been used was in RADAR or SONAR. In this sort of application, we typically are trying to track the location of an object far from us, say a spaceship. We can get a noisy estimate of its location at different times. We could then combine those together to try and estimate its location.  For simplicity, lets say that we are sitting still, but you could imagine correcting for our motion if we wanted to make it more complicated. </a:t>
            </a:r>
          </a:p>
          <a:p>
            <a:endParaRPr lang="en-US" dirty="0"/>
          </a:p>
          <a:p>
            <a:r>
              <a:rPr lang="en-US" dirty="0"/>
              <a:t>So lets say we have a noisy sensory that can approximate the distance between us and the spaceship. We want to get the best estimate of the location at the current time t. We have some estimates of its location in prior times. Since our estimate is noisy, we should take into account the prior estimates to some extent. But the further we go back in time, the less up to date the estimate is, so should weight those less. Convolution is a mathematical operator for doing this operation. It moves through a dimension, say time or space, and computes the estimate at each time point to be the weighted average of the time points near it based on the inputs over time. Intuitively we want those weights to be large when we’re close to the current time point, and less when we are further back in time. If we represent the input as x, we’ll encode the weights for how much to prioritize the current time over previous estimates as w. This is called the kernel of the convolution. For visual applications it is sometimes called the feature map or image.</a:t>
            </a:r>
          </a:p>
          <a:p>
            <a:endParaRPr lang="en-US" dirty="0"/>
          </a:p>
          <a:p>
            <a:r>
              <a:rPr lang="en-US" dirty="0"/>
              <a:t>The equation below formalizes the process we just talked through. S(t) is the answer from the convolution for time t ( for example, the estimate of the spaceship’s location at time t). That is the weighted average (or integral as we’re in continuous time) of the current estimate for the location times the weight for the current time averaged over all the other time offsets into the past we could have with the estimate from our sensor during those time points. I use a here as the variable to denote the time offset that is being integrated over. Often the kernel w goes to zero after a bit, so the integral isn’t usually going over a huge amount of space. If you read papers using convolutions, you might see the final notation for it. But don’t worry about it otherwise – I just put it there in case you come across it one day so you aren’t too confused. </a:t>
            </a:r>
          </a:p>
        </p:txBody>
      </p:sp>
      <p:sp>
        <p:nvSpPr>
          <p:cNvPr id="4" name="Slide Number Placeholder 3"/>
          <p:cNvSpPr>
            <a:spLocks noGrp="1"/>
          </p:cNvSpPr>
          <p:nvPr>
            <p:ph type="sldNum" sz="quarter" idx="5"/>
          </p:nvPr>
        </p:nvSpPr>
        <p:spPr/>
        <p:txBody>
          <a:bodyPr/>
          <a:lstStyle/>
          <a:p>
            <a:fld id="{D5C18A63-2409-0241-8255-D95D06F653A2}" type="slidenum">
              <a:rPr lang="en-US" smtClean="0"/>
              <a:t>34</a:t>
            </a:fld>
            <a:endParaRPr lang="en-US"/>
          </a:p>
        </p:txBody>
      </p:sp>
    </p:spTree>
    <p:extLst>
      <p:ext uri="{BB962C8B-B14F-4D97-AF65-F5344CB8AC3E}">
        <p14:creationId xmlns:p14="http://schemas.microsoft.com/office/powerpoint/2010/main" val="27240327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what a convolution operation looks like over time. We assume </a:t>
            </a:r>
            <a:r>
              <a:rPr lang="en-US" dirty="0" err="1"/>
              <a:t>ther’es</a:t>
            </a:r>
            <a:r>
              <a:rPr lang="en-US" dirty="0"/>
              <a:t> an input that’s on from -0.5 to 0.5. That’s plotted in blue and is denoted as f(\tau) in the animated gif that is illustrating the convolution on the slide. The sliding kernel or weight which is moving with the integrand. In this case it’s an on-off one with a moving window. The result for some t is the area of overlap between blue and red. As it slides by that result is plotted in black. As you can see, it results in a largest value at the center of the input and moves down to zero as we move away from it in both directions.</a:t>
            </a:r>
          </a:p>
        </p:txBody>
      </p:sp>
      <p:sp>
        <p:nvSpPr>
          <p:cNvPr id="4" name="Slide Number Placeholder 3"/>
          <p:cNvSpPr>
            <a:spLocks noGrp="1"/>
          </p:cNvSpPr>
          <p:nvPr>
            <p:ph type="sldNum" sz="quarter" idx="5"/>
          </p:nvPr>
        </p:nvSpPr>
        <p:spPr/>
        <p:txBody>
          <a:bodyPr/>
          <a:lstStyle/>
          <a:p>
            <a:fld id="{D5C18A63-2409-0241-8255-D95D06F653A2}" type="slidenum">
              <a:rPr lang="en-US" smtClean="0"/>
              <a:t>35</a:t>
            </a:fld>
            <a:endParaRPr lang="en-US"/>
          </a:p>
        </p:txBody>
      </p:sp>
    </p:spTree>
    <p:extLst>
      <p:ext uri="{BB962C8B-B14F-4D97-AF65-F5344CB8AC3E}">
        <p14:creationId xmlns:p14="http://schemas.microsoft.com/office/powerpoint/2010/main" val="6346679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context of images, the kernel gets applied with the same weights to multiple parts of an input image. So in the example here, you can see the 2x2 image kernel gets applied to each 2x2 region of the 3x4 input. So we get the first output node of a * w + b*x + e * y + f*z. Then we get it applied to the right with b * w + c * x + f * y + g * z. And so on. If this were a feature detector, it would then detect whether that feature is present in each of the 2x2 regions of the input image.</a:t>
            </a:r>
          </a:p>
          <a:p>
            <a:endParaRPr lang="en-US" dirty="0"/>
          </a:p>
        </p:txBody>
      </p:sp>
      <p:sp>
        <p:nvSpPr>
          <p:cNvPr id="4" name="Slide Number Placeholder 3"/>
          <p:cNvSpPr>
            <a:spLocks noGrp="1"/>
          </p:cNvSpPr>
          <p:nvPr>
            <p:ph type="sldNum" sz="quarter" idx="5"/>
          </p:nvPr>
        </p:nvSpPr>
        <p:spPr/>
        <p:txBody>
          <a:bodyPr/>
          <a:lstStyle/>
          <a:p>
            <a:fld id="{D5C18A63-2409-0241-8255-D95D06F653A2}" type="slidenum">
              <a:rPr lang="en-US" smtClean="0"/>
              <a:t>36</a:t>
            </a:fld>
            <a:endParaRPr lang="en-US"/>
          </a:p>
        </p:txBody>
      </p:sp>
    </p:spTree>
    <p:extLst>
      <p:ext uri="{BB962C8B-B14F-4D97-AF65-F5344CB8AC3E}">
        <p14:creationId xmlns:p14="http://schemas.microsoft.com/office/powerpoint/2010/main" val="36478526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translational invariance can be encoded in artificial neural networks. It is invariant in the sense that the output does not vary despite the input changing. By forcing the feature weights to be the same across multiple regions of an image, you can learn the weights that then detect for some sort of feature in any part of the image. </a:t>
            </a:r>
          </a:p>
        </p:txBody>
      </p:sp>
      <p:sp>
        <p:nvSpPr>
          <p:cNvPr id="4" name="Slide Number Placeholder 3"/>
          <p:cNvSpPr>
            <a:spLocks noGrp="1"/>
          </p:cNvSpPr>
          <p:nvPr>
            <p:ph type="sldNum" sz="quarter" idx="5"/>
          </p:nvPr>
        </p:nvSpPr>
        <p:spPr/>
        <p:txBody>
          <a:bodyPr/>
          <a:lstStyle/>
          <a:p>
            <a:fld id="{D5C18A63-2409-0241-8255-D95D06F653A2}" type="slidenum">
              <a:rPr lang="en-US" smtClean="0"/>
              <a:t>37</a:t>
            </a:fld>
            <a:endParaRPr lang="en-US"/>
          </a:p>
        </p:txBody>
      </p:sp>
    </p:spTree>
    <p:extLst>
      <p:ext uri="{BB962C8B-B14F-4D97-AF65-F5344CB8AC3E}">
        <p14:creationId xmlns:p14="http://schemas.microsoft.com/office/powerpoint/2010/main" val="38720054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273216-DFA0-B340-B18C-74B0ED25AAC9}" type="slidenum">
              <a:rPr lang="en-US" altLang="x-none"/>
              <a:pPr/>
              <a:t>38</a:t>
            </a:fld>
            <a:endParaRPr lang="en-US" altLang="x-none"/>
          </a:p>
        </p:txBody>
      </p:sp>
      <p:sp>
        <p:nvSpPr>
          <p:cNvPr id="41369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36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As opposed to classifying or categorizing images, language poses a different kind of problem for artificial neural networks. Until now, the artificial neural networks we’ve been working with have had no notion of time. An input goes in, it feeds its activation forward. It doesn’t matter what other inputs were put in immediately before it – the same answer is given. But language poses a different sort of problem. Predicting the next word depends on the previous words before it. Language obeys a grammar which is set of complex relations between the previous and upcoming words of an utterance. For artificial neural networks, words ultimately get encoded as the pattern of activation over each layer of a neural network. That amounts to a sequence of points in spaces. Grammar can be thought of then as being implicit in the weights of the neural network. Certain patterns of next words are possible based on the previous words depending on the weights.</a:t>
            </a:r>
          </a:p>
          <a:p>
            <a:endParaRPr lang="en-US" altLang="x-none" dirty="0"/>
          </a:p>
          <a:p>
            <a:r>
              <a:rPr lang="en-US" altLang="x-none" dirty="0"/>
              <a:t>But to get to having the immediately prior input having an influence of how the next input activates the neural network, we need to introduce a new tool: recurrence into our neural network.</a:t>
            </a:r>
            <a:endParaRPr lang="x-none" altLang="x-none" dirty="0"/>
          </a:p>
        </p:txBody>
      </p:sp>
    </p:spTree>
    <p:extLst>
      <p:ext uri="{BB962C8B-B14F-4D97-AF65-F5344CB8AC3E}">
        <p14:creationId xmlns:p14="http://schemas.microsoft.com/office/powerpoint/2010/main" val="29198593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B87FD8-4DF3-B741-A3DA-1CBCD61B658F}" type="slidenum">
              <a:rPr lang="en-US" altLang="x-none"/>
              <a:pPr/>
              <a:t>39</a:t>
            </a:fld>
            <a:endParaRPr lang="en-US" altLang="x-none"/>
          </a:p>
        </p:txBody>
      </p:sp>
      <p:sp>
        <p:nvSpPr>
          <p:cNvPr id="4218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218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x-none" dirty="0"/>
              <a:t>The setup for a simple recurrent network is similar to those that we’ve explored so far. We have an input, which might be a word. It goes through the hidden layer and often the goal is to predict then what the next word should be in the output layer. What a simple recurrent neural network does special is it introduces a second type of layer: the context units. After a word is processed, the context units copy the values of the hidden layer and that is used at the next time step. So, now, rather than the hidden layer only having the input of the current word, it has the hidden layer’s representation of the previous word as additional input. Those get processed together to then predict the next word. Again the hidden layer then gets copied into the context units and the process repeats to keep on predicting more and more words. The idea is that the hidden layer and context units end up encoding the gist of the sentence so far and the overall context for interpreting the current word in how it should be used to predict the next word. </a:t>
            </a:r>
            <a:endParaRPr lang="x-none" altLang="x-none" dirty="0"/>
          </a:p>
        </p:txBody>
      </p:sp>
    </p:spTree>
    <p:extLst>
      <p:ext uri="{BB962C8B-B14F-4D97-AF65-F5344CB8AC3E}">
        <p14:creationId xmlns:p14="http://schemas.microsoft.com/office/powerpoint/2010/main" val="165522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train recurrent neural networks, one often unfolds them into an equivalent feedforward neural network and adapt the training rules from there. So if we have a recurrent neural network with weights projecting in both directions, we can imagine them as a feedforward network that is unfolding more and more over time. The weights between nodes are selected and copied from its equivalent recurrent neural network to make the operations identical. Then backpropagation can be run to learn. Once learning has occurred, can use the weights as normal as a RNN.</a:t>
            </a:r>
          </a:p>
        </p:txBody>
      </p:sp>
      <p:sp>
        <p:nvSpPr>
          <p:cNvPr id="4" name="Slide Number Placeholder 3"/>
          <p:cNvSpPr>
            <a:spLocks noGrp="1"/>
          </p:cNvSpPr>
          <p:nvPr>
            <p:ph type="sldNum" sz="quarter" idx="5"/>
          </p:nvPr>
        </p:nvSpPr>
        <p:spPr/>
        <p:txBody>
          <a:bodyPr/>
          <a:lstStyle/>
          <a:p>
            <a:fld id="{D5C18A63-2409-0241-8255-D95D06F653A2}" type="slidenum">
              <a:rPr lang="en-US" smtClean="0"/>
              <a:t>40</a:t>
            </a:fld>
            <a:endParaRPr lang="en-US"/>
          </a:p>
        </p:txBody>
      </p:sp>
    </p:spTree>
    <p:extLst>
      <p:ext uri="{BB962C8B-B14F-4D97-AF65-F5344CB8AC3E}">
        <p14:creationId xmlns:p14="http://schemas.microsoft.com/office/powerpoint/2010/main" val="3537686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interesting old example for using simple recurrent neural networks for sequential information was midi music composition. In it, the input was the current note and it combined with a hidden and a context layer. Afterwards it went through a hidden layer that encoded the next note in a distributed fashion. To get the next note in the composition from the distributed layer, it went through one more layer to a one hot localist representation layer of the next note. So, a little different from the simple recurrent neural net we were discussing earlier, but pretty similar. </a:t>
            </a:r>
          </a:p>
        </p:txBody>
      </p:sp>
      <p:sp>
        <p:nvSpPr>
          <p:cNvPr id="4" name="Slide Number Placeholder 3"/>
          <p:cNvSpPr>
            <a:spLocks noGrp="1"/>
          </p:cNvSpPr>
          <p:nvPr>
            <p:ph type="sldNum" sz="quarter" idx="5"/>
          </p:nvPr>
        </p:nvSpPr>
        <p:spPr/>
        <p:txBody>
          <a:bodyPr/>
          <a:lstStyle/>
          <a:p>
            <a:fld id="{D5C18A63-2409-0241-8255-D95D06F653A2}" type="slidenum">
              <a:rPr lang="en-US" smtClean="0"/>
              <a:t>41</a:t>
            </a:fld>
            <a:endParaRPr lang="en-US"/>
          </a:p>
        </p:txBody>
      </p:sp>
    </p:spTree>
    <p:extLst>
      <p:ext uri="{BB962C8B-B14F-4D97-AF65-F5344CB8AC3E}">
        <p14:creationId xmlns:p14="http://schemas.microsoft.com/office/powerpoint/2010/main" val="77870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it, he used a 5-node representation for each pitch to match psychologically-validated representation of pitch based on work from roger </a:t>
            </a:r>
            <a:r>
              <a:rPr lang="en-US" dirty="0" err="1"/>
              <a:t>shepard</a:t>
            </a:r>
            <a:r>
              <a:rPr lang="en-US" dirty="0"/>
              <a:t> and </a:t>
            </a:r>
            <a:r>
              <a:rPr lang="en-US" dirty="0" err="1"/>
              <a:t>krumhansl</a:t>
            </a:r>
            <a:r>
              <a:rPr lang="en-US" dirty="0"/>
              <a:t> in the late 70s and 80s</a:t>
            </a:r>
          </a:p>
        </p:txBody>
      </p:sp>
      <p:sp>
        <p:nvSpPr>
          <p:cNvPr id="4" name="Slide Number Placeholder 3"/>
          <p:cNvSpPr>
            <a:spLocks noGrp="1"/>
          </p:cNvSpPr>
          <p:nvPr>
            <p:ph type="sldNum" sz="quarter" idx="5"/>
          </p:nvPr>
        </p:nvSpPr>
        <p:spPr/>
        <p:txBody>
          <a:bodyPr/>
          <a:lstStyle/>
          <a:p>
            <a:fld id="{D5C18A63-2409-0241-8255-D95D06F653A2}" type="slidenum">
              <a:rPr lang="en-US" smtClean="0"/>
              <a:t>42</a:t>
            </a:fld>
            <a:endParaRPr lang="en-US"/>
          </a:p>
        </p:txBody>
      </p:sp>
    </p:spTree>
    <p:extLst>
      <p:ext uri="{BB962C8B-B14F-4D97-AF65-F5344CB8AC3E}">
        <p14:creationId xmlns:p14="http://schemas.microsoft.com/office/powerpoint/2010/main" val="3156410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used a similar basis to represent the note duration in the layer as well.</a:t>
            </a:r>
          </a:p>
        </p:txBody>
      </p:sp>
      <p:sp>
        <p:nvSpPr>
          <p:cNvPr id="4" name="Slide Number Placeholder 3"/>
          <p:cNvSpPr>
            <a:spLocks noGrp="1"/>
          </p:cNvSpPr>
          <p:nvPr>
            <p:ph type="sldNum" sz="quarter" idx="5"/>
          </p:nvPr>
        </p:nvSpPr>
        <p:spPr/>
        <p:txBody>
          <a:bodyPr/>
          <a:lstStyle/>
          <a:p>
            <a:fld id="{D5C18A63-2409-0241-8255-D95D06F653A2}" type="slidenum">
              <a:rPr lang="en-US" smtClean="0"/>
              <a:t>43</a:t>
            </a:fld>
            <a:endParaRPr lang="en-US"/>
          </a:p>
        </p:txBody>
      </p:sp>
    </p:spTree>
    <p:extLst>
      <p:ext uri="{BB962C8B-B14F-4D97-AF65-F5344CB8AC3E}">
        <p14:creationId xmlns:p14="http://schemas.microsoft.com/office/powerpoint/2010/main" val="8707403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recent work for music generation based on large scale training corpora and deep NNs with many more parameters has produced rich music that can emulate a lot of the global structure of classical music organization.</a:t>
            </a:r>
          </a:p>
        </p:txBody>
      </p:sp>
      <p:sp>
        <p:nvSpPr>
          <p:cNvPr id="4" name="Slide Number Placeholder 3"/>
          <p:cNvSpPr>
            <a:spLocks noGrp="1"/>
          </p:cNvSpPr>
          <p:nvPr>
            <p:ph type="sldNum" sz="quarter" idx="5"/>
          </p:nvPr>
        </p:nvSpPr>
        <p:spPr/>
        <p:txBody>
          <a:bodyPr/>
          <a:lstStyle/>
          <a:p>
            <a:fld id="{D5C18A63-2409-0241-8255-D95D06F653A2}" type="slidenum">
              <a:rPr lang="en-US" smtClean="0"/>
              <a:t>44</a:t>
            </a:fld>
            <a:endParaRPr lang="en-US"/>
          </a:p>
        </p:txBody>
      </p:sp>
    </p:spTree>
    <p:extLst>
      <p:ext uri="{BB962C8B-B14F-4D97-AF65-F5344CB8AC3E}">
        <p14:creationId xmlns:p14="http://schemas.microsoft.com/office/powerpoint/2010/main" val="35452520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Cross-entropy is</a:t>
            </a:r>
            <a:r>
              <a:rPr lang="en-US" baseline="0" dirty="0"/>
              <a:t> joint entropy and basically equivalent to what’s called KL-divergence </a:t>
            </a:r>
            <a:r>
              <a:rPr lang="mr-IN" baseline="0" dirty="0"/>
              <a:t>–</a:t>
            </a:r>
            <a:r>
              <a:rPr lang="en-US" baseline="0" dirty="0"/>
              <a:t> a measure of how different two distributions. Expectation is over empirical distribution and q is the learned distribution</a:t>
            </a:r>
            <a:endParaRPr lang="en-US" dirty="0"/>
          </a:p>
        </p:txBody>
      </p:sp>
      <p:sp>
        <p:nvSpPr>
          <p:cNvPr id="4" name="Slide Number Placeholder 3"/>
          <p:cNvSpPr>
            <a:spLocks noGrp="1"/>
          </p:cNvSpPr>
          <p:nvPr>
            <p:ph type="sldNum" sz="quarter" idx="10"/>
          </p:nvPr>
        </p:nvSpPr>
        <p:spPr/>
        <p:txBody>
          <a:bodyPr/>
          <a:lstStyle/>
          <a:p>
            <a:fld id="{D5C18A63-2409-0241-8255-D95D06F653A2}" type="slidenum">
              <a:rPr lang="en-US" smtClean="0"/>
              <a:t>45</a:t>
            </a:fld>
            <a:endParaRPr lang="en-US"/>
          </a:p>
        </p:txBody>
      </p:sp>
    </p:spTree>
    <p:extLst>
      <p:ext uri="{BB962C8B-B14F-4D97-AF65-F5344CB8AC3E}">
        <p14:creationId xmlns:p14="http://schemas.microsoft.com/office/powerpoint/2010/main" val="573489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A15393-3CCC-4343-B59B-737CD1DF1100}"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759536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11126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A15393-3CCC-4343-B59B-737CD1DF1100}"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295117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A15393-3CCC-4343-B59B-737CD1DF1100}"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33449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A15393-3CCC-4343-B59B-737CD1DF1100}"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8228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A15393-3CCC-4343-B59B-737CD1DF1100}"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530638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15393-3CCC-4343-B59B-737CD1DF1100}"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7684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33053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15393-3CCC-4343-B59B-737CD1DF1100}"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85576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61150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A15393-3CCC-4343-B59B-737CD1DF1100}"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9155EF-18F2-0A4E-9AF3-3F3A983262B4}" type="slidenum">
              <a:rPr lang="en-US" smtClean="0"/>
              <a:t>‹#›</a:t>
            </a:fld>
            <a:endParaRPr lang="en-US"/>
          </a:p>
        </p:txBody>
      </p:sp>
    </p:spTree>
    <p:extLst>
      <p:ext uri="{BB962C8B-B14F-4D97-AF65-F5344CB8AC3E}">
        <p14:creationId xmlns:p14="http://schemas.microsoft.com/office/powerpoint/2010/main" val="367527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A15393-3CCC-4343-B59B-737CD1DF1100}" type="datetimeFigureOut">
              <a:rPr lang="en-US" smtClean="0"/>
              <a:t>4/16/2025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155EF-18F2-0A4E-9AF3-3F3A983262B4}" type="slidenum">
              <a:rPr lang="en-US" smtClean="0"/>
              <a:t>‹#›</a:t>
            </a:fld>
            <a:endParaRPr lang="en-US"/>
          </a:p>
        </p:txBody>
      </p:sp>
    </p:spTree>
    <p:extLst>
      <p:ext uri="{BB962C8B-B14F-4D97-AF65-F5344CB8AC3E}">
        <p14:creationId xmlns:p14="http://schemas.microsoft.com/office/powerpoint/2010/main" val="214451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emf"/><Relationship Id="rId7"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7.emf"/><Relationship Id="rId4" Type="http://schemas.openxmlformats.org/officeDocument/2006/relationships/oleObject" Target="../embeddings/oleObject1.bin"/><Relationship Id="rId9" Type="http://schemas.openxmlformats.org/officeDocument/2006/relationships/image" Target="../media/image10.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oleObject" Target="../embeddings/oleObject7.bin"/><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oleObject" Target="../embeddings/oleObject13.bin"/><Relationship Id="rId3" Type="http://schemas.openxmlformats.org/officeDocument/2006/relationships/oleObject" Target="../embeddings/oleObject5.bin"/><Relationship Id="rId7" Type="http://schemas.openxmlformats.org/officeDocument/2006/relationships/oleObject" Target="../embeddings/oleObject11.bin"/><Relationship Id="rId12"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oleObject" Target="../embeddings/oleObject12.bin"/><Relationship Id="rId5" Type="http://schemas.openxmlformats.org/officeDocument/2006/relationships/oleObject" Target="../embeddings/oleObject10.bin"/><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oleObject" Target="../embeddings/oleObject9.bin"/><Relationship Id="rId14" Type="http://schemas.openxmlformats.org/officeDocument/2006/relationships/image" Target="../media/image23.pn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oleObject" Target="../embeddings/oleObject14.bin"/><Relationship Id="rId7" Type="http://schemas.openxmlformats.org/officeDocument/2006/relationships/oleObject" Target="../embeddings/oleObject15.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oleObject" Target="../embeddings/oleObject9.bin"/><Relationship Id="rId10" Type="http://schemas.openxmlformats.org/officeDocument/2006/relationships/image" Target="../media/image25.png"/><Relationship Id="rId4" Type="http://schemas.openxmlformats.org/officeDocument/2006/relationships/image" Target="../media/image15.png"/><Relationship Id="rId9"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29.emf"/><Relationship Id="rId7" Type="http://schemas.openxmlformats.org/officeDocument/2006/relationships/image" Target="../media/image33.emf"/><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35.emf"/><Relationship Id="rId7" Type="http://schemas.openxmlformats.org/officeDocument/2006/relationships/image" Target="../media/image39.emf"/><Relationship Id="rId12"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8.emf"/><Relationship Id="rId11" Type="http://schemas.openxmlformats.org/officeDocument/2006/relationships/image" Target="../media/image43.emf"/><Relationship Id="rId5" Type="http://schemas.openxmlformats.org/officeDocument/2006/relationships/image" Target="../media/image37.emf"/><Relationship Id="rId10" Type="http://schemas.openxmlformats.org/officeDocument/2006/relationships/image" Target="../media/image42.emf"/><Relationship Id="rId4" Type="http://schemas.openxmlformats.org/officeDocument/2006/relationships/image" Target="../media/image36.emf"/><Relationship Id="rId9" Type="http://schemas.openxmlformats.org/officeDocument/2006/relationships/image" Target="../media/image41.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bcp.psych.ualberta.ca/~mike/Pearl_Street/Gallery/Images/GIFS/People/rumelhart.gif"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oleObject" Target="../embeddings/oleObject18.bin"/><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oleObject" Target="../embeddings/oleObject21.bin"/><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oleObject" Target="../embeddings/oleObject24.bin"/><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oleObject" Target="../embeddings/oleObject26.bin"/><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44.xml"/><Relationship Id="rId3" Type="http://schemas.microsoft.com/office/2007/relationships/media" Target="../media/media2.mp3"/><Relationship Id="rId7"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audio" Target="../media/media3.mp3"/><Relationship Id="rId5" Type="http://schemas.microsoft.com/office/2007/relationships/media" Target="../media/media3.mp3"/><Relationship Id="rId4" Type="http://schemas.openxmlformats.org/officeDocument/2006/relationships/audio" Target="../media/media2.mp3"/><Relationship Id="rId9" Type="http://schemas.openxmlformats.org/officeDocument/2006/relationships/image" Target="../media/image64.png"/></Relationships>
</file>

<file path=ppt/slides/_rels/slide45.xml.rels><?xml version="1.0" encoding="UTF-8" standalone="yes"?>
<Relationships xmlns="http://schemas.openxmlformats.org/package/2006/relationships"><Relationship Id="rId8" Type="http://schemas.openxmlformats.org/officeDocument/2006/relationships/image" Target="../media/image70.emf"/><Relationship Id="rId3" Type="http://schemas.openxmlformats.org/officeDocument/2006/relationships/image" Target="../media/image65.emf"/><Relationship Id="rId7" Type="http://schemas.openxmlformats.org/officeDocument/2006/relationships/image" Target="../media/image69.emf"/><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793" y="1721194"/>
            <a:ext cx="9146399" cy="1470025"/>
          </a:xfrm>
        </p:spPr>
        <p:txBody>
          <a:bodyPr>
            <a:normAutofit/>
          </a:bodyPr>
          <a:lstStyle/>
          <a:p>
            <a:r>
              <a:rPr lang="en-US" dirty="0"/>
              <a:t>Introduction to Neural Networks</a:t>
            </a:r>
          </a:p>
        </p:txBody>
      </p:sp>
      <p:sp>
        <p:nvSpPr>
          <p:cNvPr id="4" name="Subtitle 2"/>
          <p:cNvSpPr>
            <a:spLocks noGrp="1"/>
          </p:cNvSpPr>
          <p:nvPr>
            <p:ph type="subTitle" idx="1"/>
          </p:nvPr>
        </p:nvSpPr>
        <p:spPr>
          <a:xfrm>
            <a:off x="3229125" y="4086470"/>
            <a:ext cx="5914875" cy="2647546"/>
          </a:xfrm>
        </p:spPr>
        <p:txBody>
          <a:bodyPr>
            <a:normAutofit/>
          </a:bodyPr>
          <a:lstStyle/>
          <a:p>
            <a:r>
              <a:rPr lang="en-US" b="1" dirty="0">
                <a:solidFill>
                  <a:schemeClr val="tx1"/>
                </a:solidFill>
              </a:rPr>
              <a:t>PSYCH/COMP SCI/BMI 841: Computational Cognitive Science</a:t>
            </a:r>
            <a:endParaRPr lang="en-US" dirty="0">
              <a:solidFill>
                <a:schemeClr val="tx1"/>
              </a:solidFill>
            </a:endParaRPr>
          </a:p>
          <a:p>
            <a:r>
              <a:rPr lang="en-US" dirty="0">
                <a:solidFill>
                  <a:schemeClr val="tx1"/>
                </a:solidFill>
              </a:rPr>
              <a:t>Joseph Austerweil</a:t>
            </a:r>
          </a:p>
          <a:p>
            <a:r>
              <a:rPr lang="en-US" dirty="0">
                <a:solidFill>
                  <a:schemeClr val="tx1"/>
                </a:solidFill>
              </a:rPr>
              <a:t>April 17, 2025</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10" y="3946986"/>
            <a:ext cx="3344993" cy="2647546"/>
          </a:xfrm>
          <a:prstGeom prst="rect">
            <a:avLst/>
          </a:prstGeom>
        </p:spPr>
      </p:pic>
    </p:spTree>
    <p:extLst>
      <p:ext uri="{BB962C8B-B14F-4D97-AF65-F5344CB8AC3E}">
        <p14:creationId xmlns:p14="http://schemas.microsoft.com/office/powerpoint/2010/main" val="790325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7879-2F59-F57D-C952-CCC9C5E93E9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1DFBB-0B27-555B-6B8F-57B705D3B739}"/>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Connectionism and neural network basics</a:t>
            </a:r>
          </a:p>
          <a:p>
            <a:r>
              <a:rPr lang="en-US" dirty="0"/>
              <a:t>Linear neural networks</a:t>
            </a:r>
          </a:p>
          <a:p>
            <a:r>
              <a:rPr lang="en-US" dirty="0"/>
              <a:t>Nonlinearity and Backpropagation</a:t>
            </a:r>
          </a:p>
          <a:p>
            <a:r>
              <a:rPr lang="en-US" dirty="0"/>
              <a:t>Convolutional and Recurrent neural networks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Lake et al 2015 by </a:t>
            </a:r>
            <a:r>
              <a:rPr lang="en-US" dirty="0" err="1"/>
              <a:t>Ruijia</a:t>
            </a:r>
            <a:endParaRPr lang="en-US" dirty="0"/>
          </a:p>
          <a:p>
            <a:pPr marL="914400" lvl="1" indent="-514350" defTabSz="914400">
              <a:spcBef>
                <a:spcPts val="0"/>
              </a:spcBef>
              <a:buFont typeface="+mj-lt"/>
              <a:buAutoNum type="arabicPeriod"/>
              <a:defRPr/>
            </a:pPr>
            <a:r>
              <a:rPr lang="en-US" dirty="0" err="1"/>
              <a:t>Linzen</a:t>
            </a:r>
            <a:r>
              <a:rPr lang="en-US" dirty="0"/>
              <a:t> et al by Elijah</a:t>
            </a:r>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Schulz </a:t>
            </a:r>
            <a:r>
              <a:rPr lang="en-US" dirty="0" err="1"/>
              <a:t>Buschoff</a:t>
            </a:r>
            <a:r>
              <a:rPr lang="en-US" dirty="0"/>
              <a:t> et al by </a:t>
            </a:r>
            <a:r>
              <a:rPr lang="en-US" dirty="0" err="1"/>
              <a:t>Khailanii</a:t>
            </a:r>
            <a:endParaRPr lang="en-US" dirty="0"/>
          </a:p>
        </p:txBody>
      </p:sp>
    </p:spTree>
    <p:extLst>
      <p:ext uri="{BB962C8B-B14F-4D97-AF65-F5344CB8AC3E}">
        <p14:creationId xmlns:p14="http://schemas.microsoft.com/office/powerpoint/2010/main" val="352007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B844-C8D6-871E-2E6D-933FA980683A}"/>
              </a:ext>
            </a:extLst>
          </p:cNvPr>
          <p:cNvSpPr>
            <a:spLocks noGrp="1"/>
          </p:cNvSpPr>
          <p:nvPr>
            <p:ph type="title"/>
          </p:nvPr>
        </p:nvSpPr>
        <p:spPr>
          <a:xfrm>
            <a:off x="457200" y="42379"/>
            <a:ext cx="8229600" cy="689458"/>
          </a:xfrm>
        </p:spPr>
        <p:txBody>
          <a:bodyPr>
            <a:normAutofit fontScale="90000"/>
          </a:bodyPr>
          <a:lstStyle/>
          <a:p>
            <a:r>
              <a:rPr lang="en-US" dirty="0"/>
              <a:t>Administrative Matters</a:t>
            </a:r>
          </a:p>
        </p:txBody>
      </p:sp>
      <p:sp>
        <p:nvSpPr>
          <p:cNvPr id="3" name="Content Placeholder 2">
            <a:extLst>
              <a:ext uri="{FF2B5EF4-FFF2-40B4-BE49-F238E27FC236}">
                <a16:creationId xmlns:a16="http://schemas.microsoft.com/office/drawing/2014/main" id="{6BA19CC3-800A-DE11-B68C-C05431A3EBA3}"/>
              </a:ext>
            </a:extLst>
          </p:cNvPr>
          <p:cNvSpPr>
            <a:spLocks noGrp="1"/>
          </p:cNvSpPr>
          <p:nvPr>
            <p:ph idx="1"/>
          </p:nvPr>
        </p:nvSpPr>
        <p:spPr>
          <a:xfrm>
            <a:off x="0" y="814647"/>
            <a:ext cx="9144000" cy="6000974"/>
          </a:xfrm>
        </p:spPr>
        <p:txBody>
          <a:bodyPr>
            <a:normAutofit fontScale="85000" lnSpcReduction="10000"/>
          </a:bodyPr>
          <a:lstStyle/>
          <a:p>
            <a:r>
              <a:rPr lang="en-US" dirty="0"/>
              <a:t>Assignment 3 was due April 9 at 8:59pm</a:t>
            </a:r>
          </a:p>
          <a:p>
            <a:r>
              <a:rPr lang="en-US" dirty="0"/>
              <a:t>Assignment 4 is due April 23 at 8:59pm</a:t>
            </a:r>
          </a:p>
          <a:p>
            <a:endParaRPr lang="en-US" dirty="0"/>
          </a:p>
          <a:p>
            <a:r>
              <a:rPr lang="en-US" dirty="0"/>
              <a:t>One more discussion post left</a:t>
            </a:r>
          </a:p>
          <a:p>
            <a:pPr lvl="1"/>
            <a:r>
              <a:rPr lang="en-US" dirty="0"/>
              <a:t>Only need to pass 5 through class for full credit</a:t>
            </a:r>
          </a:p>
          <a:p>
            <a:endParaRPr lang="en-US" dirty="0"/>
          </a:p>
          <a:p>
            <a:r>
              <a:rPr lang="en-US" dirty="0"/>
              <a:t>Any unused quiz points will be free points to your final grade.</a:t>
            </a:r>
          </a:p>
          <a:p>
            <a:endParaRPr lang="en-US" dirty="0"/>
          </a:p>
          <a:p>
            <a:r>
              <a:rPr lang="en-US" dirty="0"/>
              <a:t>Final project presentations May 1</a:t>
            </a:r>
          </a:p>
          <a:p>
            <a:pPr lvl="1"/>
            <a:r>
              <a:rPr lang="en-US" dirty="0"/>
              <a:t>Your project does NOT need to be complete by then</a:t>
            </a:r>
          </a:p>
          <a:p>
            <a:r>
              <a:rPr lang="en-US" dirty="0"/>
              <a:t>Final project papers due May 6 at 8:59pm</a:t>
            </a:r>
          </a:p>
          <a:p>
            <a:endParaRPr lang="en-US" dirty="0"/>
          </a:p>
          <a:p>
            <a:r>
              <a:rPr lang="en-US" dirty="0"/>
              <a:t>Questions?</a:t>
            </a:r>
          </a:p>
        </p:txBody>
      </p:sp>
    </p:spTree>
    <p:extLst>
      <p:ext uri="{BB962C8B-B14F-4D97-AF65-F5344CB8AC3E}">
        <p14:creationId xmlns:p14="http://schemas.microsoft.com/office/powerpoint/2010/main" val="219140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E3623-68C5-D052-16F1-F4264E4C9C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58021A-E125-E442-F49D-73AC9B6250CF}"/>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Connectionism and neural network basics</a:t>
            </a:r>
          </a:p>
          <a:p>
            <a:r>
              <a:rPr lang="en-US" dirty="0"/>
              <a:t>Linear neural networks</a:t>
            </a:r>
          </a:p>
          <a:p>
            <a:r>
              <a:rPr lang="en-US" dirty="0"/>
              <a:t>Nonlinearity and Backpropagation</a:t>
            </a:r>
          </a:p>
          <a:p>
            <a:r>
              <a:rPr lang="en-US" dirty="0"/>
              <a:t>Convolutional and Recurrent neural networks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Lake et al 2015 by </a:t>
            </a:r>
            <a:r>
              <a:rPr lang="en-US" dirty="0" err="1"/>
              <a:t>Ruijia</a:t>
            </a:r>
            <a:endParaRPr lang="en-US" dirty="0"/>
          </a:p>
          <a:p>
            <a:pPr marL="914400" lvl="1" indent="-514350" defTabSz="914400">
              <a:spcBef>
                <a:spcPts val="0"/>
              </a:spcBef>
              <a:buFont typeface="+mj-lt"/>
              <a:buAutoNum type="arabicPeriod"/>
              <a:defRPr/>
            </a:pPr>
            <a:r>
              <a:rPr lang="en-US" dirty="0" err="1"/>
              <a:t>Linzen</a:t>
            </a:r>
            <a:r>
              <a:rPr lang="en-US" dirty="0"/>
              <a:t> et al by Elijah</a:t>
            </a:r>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Schulz </a:t>
            </a:r>
            <a:r>
              <a:rPr lang="en-US" dirty="0" err="1"/>
              <a:t>Buschoff</a:t>
            </a:r>
            <a:r>
              <a:rPr lang="en-US" dirty="0"/>
              <a:t> et al by </a:t>
            </a:r>
            <a:r>
              <a:rPr lang="en-US" dirty="0" err="1"/>
              <a:t>Khailanii</a:t>
            </a:r>
            <a:endParaRPr lang="en-US" dirty="0"/>
          </a:p>
        </p:txBody>
      </p:sp>
    </p:spTree>
    <p:extLst>
      <p:ext uri="{BB962C8B-B14F-4D97-AF65-F5344CB8AC3E}">
        <p14:creationId xmlns:p14="http://schemas.microsoft.com/office/powerpoint/2010/main" val="326624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oneycomb-21286-1440x900.jpg"/>
          <p:cNvPicPr>
            <a:picLocks noChangeAspect="1"/>
          </p:cNvPicPr>
          <p:nvPr/>
        </p:nvPicPr>
        <p:blipFill rotWithShape="1">
          <a:blip r:embed="rId3">
            <a:extLst>
              <a:ext uri="{28A0092B-C50C-407E-A947-70E740481C1C}">
                <a14:useLocalDpi xmlns:a14="http://schemas.microsoft.com/office/drawing/2010/main" val="0"/>
              </a:ext>
            </a:extLst>
          </a:blip>
          <a:srcRect l="12032" r="10962"/>
          <a:stretch/>
        </p:blipFill>
        <p:spPr>
          <a:xfrm>
            <a:off x="190399" y="1656013"/>
            <a:ext cx="3850106" cy="3124868"/>
          </a:xfrm>
          <a:prstGeom prst="rect">
            <a:avLst/>
          </a:prstGeom>
        </p:spPr>
      </p:pic>
      <p:sp>
        <p:nvSpPr>
          <p:cNvPr id="6" name="TextBox 5"/>
          <p:cNvSpPr txBox="1"/>
          <p:nvPr/>
        </p:nvSpPr>
        <p:spPr>
          <a:xfrm>
            <a:off x="975894" y="5002429"/>
            <a:ext cx="2155558" cy="584776"/>
          </a:xfrm>
          <a:prstGeom prst="rect">
            <a:avLst/>
          </a:prstGeom>
          <a:noFill/>
        </p:spPr>
        <p:txBody>
          <a:bodyPr wrap="none" rtlCol="0">
            <a:spAutoFit/>
          </a:bodyPr>
          <a:lstStyle/>
          <a:p>
            <a:r>
              <a:rPr lang="en-US" sz="3200" dirty="0"/>
              <a:t>honeycomb</a:t>
            </a:r>
          </a:p>
        </p:txBody>
      </p:sp>
      <p:pic>
        <p:nvPicPr>
          <p:cNvPr id="7" name="Picture 6" descr="termite_mound.jpg"/>
          <p:cNvPicPr>
            <a:picLocks noChangeAspect="1"/>
          </p:cNvPicPr>
          <p:nvPr/>
        </p:nvPicPr>
        <p:blipFill rotWithShape="1">
          <a:blip r:embed="rId4">
            <a:extLst>
              <a:ext uri="{28A0092B-C50C-407E-A947-70E740481C1C}">
                <a14:useLocalDpi xmlns:a14="http://schemas.microsoft.com/office/drawing/2010/main" val="0"/>
              </a:ext>
            </a:extLst>
          </a:blip>
          <a:srcRect r="35526"/>
          <a:stretch/>
        </p:blipFill>
        <p:spPr>
          <a:xfrm>
            <a:off x="4785894" y="704481"/>
            <a:ext cx="3924470" cy="4076400"/>
          </a:xfrm>
          <a:prstGeom prst="rect">
            <a:avLst/>
          </a:prstGeom>
        </p:spPr>
      </p:pic>
      <p:sp>
        <p:nvSpPr>
          <p:cNvPr id="8" name="TextBox 7"/>
          <p:cNvSpPr txBox="1"/>
          <p:nvPr/>
        </p:nvSpPr>
        <p:spPr>
          <a:xfrm>
            <a:off x="5406190" y="5002429"/>
            <a:ext cx="2716810" cy="584776"/>
          </a:xfrm>
          <a:prstGeom prst="rect">
            <a:avLst/>
          </a:prstGeom>
          <a:noFill/>
        </p:spPr>
        <p:txBody>
          <a:bodyPr wrap="none" rtlCol="0">
            <a:spAutoFit/>
          </a:bodyPr>
          <a:lstStyle/>
          <a:p>
            <a:r>
              <a:rPr lang="en-US" sz="3200" dirty="0"/>
              <a:t>termite mound</a:t>
            </a:r>
          </a:p>
        </p:txBody>
      </p:sp>
    </p:spTree>
    <p:extLst>
      <p:ext uri="{BB962C8B-B14F-4D97-AF65-F5344CB8AC3E}">
        <p14:creationId xmlns:p14="http://schemas.microsoft.com/office/powerpoint/2010/main" val="1678318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a:xfrm>
            <a:off x="152400" y="381000"/>
            <a:ext cx="8839200" cy="1143000"/>
          </a:xfrm>
        </p:spPr>
        <p:txBody>
          <a:bodyPr>
            <a:normAutofit fontScale="90000"/>
          </a:bodyPr>
          <a:lstStyle/>
          <a:p>
            <a:r>
              <a:rPr lang="en-US" dirty="0"/>
              <a:t>Connectionism</a:t>
            </a:r>
            <a:br>
              <a:rPr lang="en-US" dirty="0"/>
            </a:br>
            <a:r>
              <a:rPr lang="en-US" dirty="0"/>
              <a:t>(Parallel Distributed Processing)</a:t>
            </a:r>
          </a:p>
        </p:txBody>
      </p:sp>
      <p:sp>
        <p:nvSpPr>
          <p:cNvPr id="826371" name="Rectangle 3"/>
          <p:cNvSpPr>
            <a:spLocks noGrp="1" noChangeArrowheads="1"/>
          </p:cNvSpPr>
          <p:nvPr>
            <p:ph type="body" idx="1"/>
          </p:nvPr>
        </p:nvSpPr>
        <p:spPr>
          <a:xfrm>
            <a:off x="152400" y="1371600"/>
            <a:ext cx="8915400" cy="4114800"/>
          </a:xfrm>
        </p:spPr>
        <p:txBody>
          <a:bodyPr/>
          <a:lstStyle/>
          <a:p>
            <a:endParaRPr lang="en-US" dirty="0"/>
          </a:p>
          <a:p>
            <a:endParaRPr lang="en-US" dirty="0"/>
          </a:p>
        </p:txBody>
      </p:sp>
      <p:sp>
        <p:nvSpPr>
          <p:cNvPr id="826372" name="Rectangle 4"/>
          <p:cNvSpPr>
            <a:spLocks noChangeArrowheads="1"/>
          </p:cNvSpPr>
          <p:nvPr/>
        </p:nvSpPr>
        <p:spPr bwMode="auto">
          <a:xfrm>
            <a:off x="152400" y="1957356"/>
            <a:ext cx="8839200" cy="4572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l" eaLnBrk="1" hangingPunct="1">
              <a:spcBef>
                <a:spcPct val="20000"/>
              </a:spcBef>
            </a:pPr>
            <a:r>
              <a:rPr lang="en-US" sz="3200" b="0" dirty="0">
                <a:latin typeface="Arial" charset="0"/>
              </a:rPr>
              <a:t>Think about cognitive processes as the result of computations performed by a large number of interconnected simple units.</a:t>
            </a:r>
          </a:p>
          <a:p>
            <a:pPr algn="l" eaLnBrk="1" hangingPunct="1">
              <a:spcBef>
                <a:spcPct val="20000"/>
              </a:spcBef>
            </a:pPr>
            <a:endParaRPr lang="en-US" sz="1800" b="0" dirty="0">
              <a:latin typeface="Arial" charset="0"/>
            </a:endParaRPr>
          </a:p>
          <a:p>
            <a:pPr algn="l" eaLnBrk="1" hangingPunct="1">
              <a:spcBef>
                <a:spcPct val="20000"/>
              </a:spcBef>
            </a:pPr>
            <a:r>
              <a:rPr lang="en-US" sz="3200" b="0" dirty="0">
                <a:latin typeface="Arial" charset="0"/>
              </a:rPr>
              <a:t>Activation of each unit depends on the activation of units with links to that unit.</a:t>
            </a:r>
          </a:p>
          <a:p>
            <a:pPr algn="l" eaLnBrk="1" hangingPunct="1">
              <a:spcBef>
                <a:spcPct val="20000"/>
              </a:spcBef>
            </a:pPr>
            <a:endParaRPr lang="en-US" sz="1800" b="0" dirty="0">
              <a:latin typeface="Arial" charset="0"/>
            </a:endParaRPr>
          </a:p>
          <a:p>
            <a:pPr algn="l" eaLnBrk="1" hangingPunct="1">
              <a:spcBef>
                <a:spcPct val="20000"/>
              </a:spcBef>
            </a:pPr>
            <a:r>
              <a:rPr lang="en-US" sz="3200" b="0" dirty="0">
                <a:latin typeface="Arial" charset="0"/>
              </a:rPr>
              <a:t>Inspired by the way that neurons work.</a:t>
            </a:r>
          </a:p>
          <a:p>
            <a:pPr lvl="1" algn="l" eaLnBrk="1" hangingPunct="1">
              <a:spcBef>
                <a:spcPct val="20000"/>
              </a:spcBef>
            </a:pPr>
            <a:r>
              <a:rPr lang="en-US" sz="2800" dirty="0">
                <a:latin typeface="Arial" charset="0"/>
              </a:rPr>
              <a:t>- </a:t>
            </a:r>
            <a:r>
              <a:rPr lang="en-US" sz="2800" b="0" dirty="0">
                <a:latin typeface="Arial" charset="0"/>
              </a:rPr>
              <a:t>leads to models called </a:t>
            </a:r>
            <a:r>
              <a:rPr lang="ja-JP" altLang="en-US" sz="2800" b="0" dirty="0">
                <a:latin typeface="Arial" charset="0"/>
              </a:rPr>
              <a:t>“</a:t>
            </a:r>
            <a:r>
              <a:rPr lang="en-US" sz="2800" b="0" dirty="0">
                <a:latin typeface="Arial" charset="0"/>
              </a:rPr>
              <a:t>artificial neural networks.</a:t>
            </a:r>
            <a:r>
              <a:rPr lang="ja-JP" altLang="en-US" sz="2800" b="0" dirty="0">
                <a:latin typeface="Arial" charset="0"/>
              </a:rPr>
              <a:t>”</a:t>
            </a:r>
            <a:endParaRPr lang="en-US" sz="2800" b="0" dirty="0">
              <a:latin typeface="Arial" charset="0"/>
            </a:endParaRPr>
          </a:p>
        </p:txBody>
      </p:sp>
    </p:spTree>
    <p:extLst>
      <p:ext uri="{BB962C8B-B14F-4D97-AF65-F5344CB8AC3E}">
        <p14:creationId xmlns:p14="http://schemas.microsoft.com/office/powerpoint/2010/main" val="2356867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189DD-3DCD-A730-1E91-9AB4CD2438B5}"/>
              </a:ext>
            </a:extLst>
          </p:cNvPr>
          <p:cNvSpPr>
            <a:spLocks noGrp="1"/>
          </p:cNvSpPr>
          <p:nvPr>
            <p:ph type="title"/>
          </p:nvPr>
        </p:nvSpPr>
        <p:spPr>
          <a:xfrm>
            <a:off x="457200" y="61696"/>
            <a:ext cx="8229600" cy="777548"/>
          </a:xfrm>
        </p:spPr>
        <p:txBody>
          <a:bodyPr/>
          <a:lstStyle/>
          <a:p>
            <a:r>
              <a:rPr lang="en-US" dirty="0"/>
              <a:t>A caution on biological connections</a:t>
            </a:r>
          </a:p>
        </p:txBody>
      </p:sp>
      <p:pic>
        <p:nvPicPr>
          <p:cNvPr id="5" name="Picture 4">
            <a:extLst>
              <a:ext uri="{FF2B5EF4-FFF2-40B4-BE49-F238E27FC236}">
                <a16:creationId xmlns:a16="http://schemas.microsoft.com/office/drawing/2014/main" id="{1ADB288D-085D-4798-3A59-31FF4E2D82B0}"/>
              </a:ext>
            </a:extLst>
          </p:cNvPr>
          <p:cNvPicPr>
            <a:picLocks noChangeAspect="1"/>
          </p:cNvPicPr>
          <p:nvPr/>
        </p:nvPicPr>
        <p:blipFill>
          <a:blip r:embed="rId3"/>
          <a:stretch>
            <a:fillRect/>
          </a:stretch>
        </p:blipFill>
        <p:spPr>
          <a:xfrm>
            <a:off x="835847" y="782877"/>
            <a:ext cx="7201270" cy="2749691"/>
          </a:xfrm>
          <a:prstGeom prst="rect">
            <a:avLst/>
          </a:prstGeom>
        </p:spPr>
      </p:pic>
      <p:pic>
        <p:nvPicPr>
          <p:cNvPr id="7" name="Picture 6">
            <a:extLst>
              <a:ext uri="{FF2B5EF4-FFF2-40B4-BE49-F238E27FC236}">
                <a16:creationId xmlns:a16="http://schemas.microsoft.com/office/drawing/2014/main" id="{E164D724-13FC-86F7-9242-5BCD47C01253}"/>
              </a:ext>
            </a:extLst>
          </p:cNvPr>
          <p:cNvPicPr>
            <a:picLocks noChangeAspect="1"/>
          </p:cNvPicPr>
          <p:nvPr/>
        </p:nvPicPr>
        <p:blipFill>
          <a:blip r:embed="rId4"/>
          <a:stretch>
            <a:fillRect/>
          </a:stretch>
        </p:blipFill>
        <p:spPr>
          <a:xfrm>
            <a:off x="670739" y="3575488"/>
            <a:ext cx="7531487" cy="2863997"/>
          </a:xfrm>
          <a:prstGeom prst="rect">
            <a:avLst/>
          </a:prstGeom>
        </p:spPr>
      </p:pic>
      <p:sp>
        <p:nvSpPr>
          <p:cNvPr id="8" name="TextBox 7">
            <a:extLst>
              <a:ext uri="{FF2B5EF4-FFF2-40B4-BE49-F238E27FC236}">
                <a16:creationId xmlns:a16="http://schemas.microsoft.com/office/drawing/2014/main" id="{92F2A218-E941-FFFE-0E26-A02E266B71D1}"/>
              </a:ext>
            </a:extLst>
          </p:cNvPr>
          <p:cNvSpPr txBox="1"/>
          <p:nvPr/>
        </p:nvSpPr>
        <p:spPr>
          <a:xfrm>
            <a:off x="5054252" y="6482405"/>
            <a:ext cx="4089748" cy="369332"/>
          </a:xfrm>
          <a:prstGeom prst="rect">
            <a:avLst/>
          </a:prstGeom>
          <a:noFill/>
        </p:spPr>
        <p:txBody>
          <a:bodyPr wrap="square" rtlCol="0">
            <a:spAutoFit/>
          </a:bodyPr>
          <a:lstStyle/>
          <a:p>
            <a:pPr algn="r"/>
            <a:r>
              <a:rPr lang="en-US" dirty="0"/>
              <a:t>(McClelland, </a:t>
            </a:r>
            <a:r>
              <a:rPr lang="en-US" dirty="0" err="1"/>
              <a:t>Rumelhart</a:t>
            </a:r>
            <a:r>
              <a:rPr lang="en-US" dirty="0"/>
              <a:t>, &amp; Hinton, 1986)</a:t>
            </a:r>
          </a:p>
        </p:txBody>
      </p:sp>
    </p:spTree>
    <p:extLst>
      <p:ext uri="{BB962C8B-B14F-4D97-AF65-F5344CB8AC3E}">
        <p14:creationId xmlns:p14="http://schemas.microsoft.com/office/powerpoint/2010/main" val="3081087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3629" name="Picture 29"/>
          <p:cNvPicPr>
            <a:picLocks noChangeAspect="1" noChangeArrowheads="1"/>
          </p:cNvPicPr>
          <p:nvPr/>
        </p:nvPicPr>
        <p:blipFill>
          <a:blip r:embed="rId3">
            <a:extLst>
              <a:ext uri="{28A0092B-C50C-407E-A947-70E740481C1C}">
                <a14:useLocalDpi xmlns:a14="http://schemas.microsoft.com/office/drawing/2010/main" val="0"/>
              </a:ext>
            </a:extLst>
          </a:blip>
          <a:srcRect b="41835"/>
          <a:stretch>
            <a:fillRect/>
          </a:stretch>
        </p:blipFill>
        <p:spPr bwMode="auto">
          <a:xfrm>
            <a:off x="5715000" y="4419600"/>
            <a:ext cx="3784600" cy="24145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793602" name="Rectangle 2"/>
          <p:cNvSpPr>
            <a:spLocks noGrp="1" noChangeArrowheads="1"/>
          </p:cNvSpPr>
          <p:nvPr>
            <p:ph type="title"/>
          </p:nvPr>
        </p:nvSpPr>
        <p:spPr>
          <a:xfrm>
            <a:off x="152400" y="152400"/>
            <a:ext cx="8763000" cy="1143000"/>
          </a:xfrm>
        </p:spPr>
        <p:txBody>
          <a:bodyPr/>
          <a:lstStyle/>
          <a:p>
            <a:r>
              <a:rPr lang="en-US"/>
              <a:t>Artificial neural networks</a:t>
            </a:r>
          </a:p>
        </p:txBody>
      </p:sp>
      <p:sp>
        <p:nvSpPr>
          <p:cNvPr id="793604" name="Line 4"/>
          <p:cNvSpPr>
            <a:spLocks noChangeShapeType="1"/>
          </p:cNvSpPr>
          <p:nvPr/>
        </p:nvSpPr>
        <p:spPr bwMode="auto">
          <a:xfrm flipV="1">
            <a:off x="838200" y="3048000"/>
            <a:ext cx="762000" cy="1219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3605" name="Line 5"/>
          <p:cNvSpPr>
            <a:spLocks noChangeShapeType="1"/>
          </p:cNvSpPr>
          <p:nvPr/>
        </p:nvSpPr>
        <p:spPr bwMode="auto">
          <a:xfrm flipH="1" flipV="1">
            <a:off x="2286000" y="3048000"/>
            <a:ext cx="762000" cy="12192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3606" name="Line 6"/>
          <p:cNvSpPr>
            <a:spLocks noChangeShapeType="1"/>
          </p:cNvSpPr>
          <p:nvPr/>
        </p:nvSpPr>
        <p:spPr bwMode="auto">
          <a:xfrm flipH="1" flipV="1">
            <a:off x="2133600" y="3124200"/>
            <a:ext cx="228600" cy="1143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3607" name="Line 7"/>
          <p:cNvSpPr>
            <a:spLocks noChangeShapeType="1"/>
          </p:cNvSpPr>
          <p:nvPr/>
        </p:nvSpPr>
        <p:spPr bwMode="auto">
          <a:xfrm flipV="1">
            <a:off x="1600200" y="3124200"/>
            <a:ext cx="152400" cy="1143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3608" name="Oval 8"/>
          <p:cNvSpPr>
            <a:spLocks noChangeArrowheads="1"/>
          </p:cNvSpPr>
          <p:nvPr/>
        </p:nvSpPr>
        <p:spPr bwMode="auto">
          <a:xfrm>
            <a:off x="1524000" y="2362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3611" name="Oval 11"/>
          <p:cNvSpPr>
            <a:spLocks noChangeArrowheads="1"/>
          </p:cNvSpPr>
          <p:nvPr/>
        </p:nvSpPr>
        <p:spPr bwMode="auto">
          <a:xfrm>
            <a:off x="2743200" y="41148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3612" name="Text Box 12"/>
          <p:cNvSpPr txBox="1">
            <a:spLocks noChangeArrowheads="1"/>
          </p:cNvSpPr>
          <p:nvPr/>
        </p:nvSpPr>
        <p:spPr bwMode="auto">
          <a:xfrm>
            <a:off x="2474913" y="4114800"/>
            <a:ext cx="954087"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3600" b="0" i="1"/>
              <a:t>    a</a:t>
            </a:r>
            <a:r>
              <a:rPr lang="en-US" sz="3600" b="0" i="1" baseline="-25000"/>
              <a:t>j</a:t>
            </a:r>
            <a:endParaRPr lang="en-US" sz="3600" b="0">
              <a:latin typeface="Arial" charset="0"/>
            </a:endParaRPr>
          </a:p>
        </p:txBody>
      </p:sp>
      <p:sp>
        <p:nvSpPr>
          <p:cNvPr id="793613" name="Text Box 13"/>
          <p:cNvSpPr txBox="1">
            <a:spLocks noChangeArrowheads="1"/>
          </p:cNvSpPr>
          <p:nvPr/>
        </p:nvSpPr>
        <p:spPr bwMode="auto">
          <a:xfrm>
            <a:off x="1255713" y="2406650"/>
            <a:ext cx="954087"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3600" b="0" i="1"/>
              <a:t>    a</a:t>
            </a:r>
            <a:r>
              <a:rPr lang="en-US" sz="3600" b="0" i="1" baseline="-25000"/>
              <a:t>i</a:t>
            </a:r>
            <a:endParaRPr lang="en-US" sz="3600" b="0">
              <a:latin typeface="Arial" charset="0"/>
            </a:endParaRPr>
          </a:p>
        </p:txBody>
      </p:sp>
      <p:sp>
        <p:nvSpPr>
          <p:cNvPr id="793619" name="Text Box 19"/>
          <p:cNvSpPr txBox="1">
            <a:spLocks noChangeArrowheads="1"/>
          </p:cNvSpPr>
          <p:nvPr/>
        </p:nvSpPr>
        <p:spPr bwMode="auto">
          <a:xfrm>
            <a:off x="1393825" y="1931460"/>
            <a:ext cx="1349375"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p>
            <a:pPr>
              <a:spcBef>
                <a:spcPct val="50000"/>
              </a:spcBef>
            </a:pPr>
            <a:r>
              <a:rPr lang="en-US" b="0" dirty="0">
                <a:latin typeface="Arial" charset="0"/>
              </a:rPr>
              <a:t>node </a:t>
            </a:r>
            <a:r>
              <a:rPr lang="en-US" b="0" i="1" dirty="0" err="1"/>
              <a:t>i</a:t>
            </a:r>
            <a:endParaRPr lang="en-US" b="0" dirty="0"/>
          </a:p>
        </p:txBody>
      </p:sp>
      <p:sp>
        <p:nvSpPr>
          <p:cNvPr id="793620" name="Text Box 20"/>
          <p:cNvSpPr txBox="1">
            <a:spLocks noChangeArrowheads="1"/>
          </p:cNvSpPr>
          <p:nvPr/>
        </p:nvSpPr>
        <p:spPr bwMode="auto">
          <a:xfrm>
            <a:off x="2841625" y="5131198"/>
            <a:ext cx="1349375"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p>
            <a:pPr>
              <a:spcBef>
                <a:spcPct val="50000"/>
              </a:spcBef>
            </a:pPr>
            <a:r>
              <a:rPr lang="en-US" b="0">
                <a:latin typeface="Arial" charset="0"/>
              </a:rPr>
              <a:t>node </a:t>
            </a:r>
            <a:r>
              <a:rPr lang="en-US" b="0" i="1"/>
              <a:t>j</a:t>
            </a:r>
            <a:endParaRPr lang="en-US" b="0"/>
          </a:p>
        </p:txBody>
      </p:sp>
      <p:grpSp>
        <p:nvGrpSpPr>
          <p:cNvPr id="5" name="Group 4"/>
          <p:cNvGrpSpPr/>
          <p:nvPr/>
        </p:nvGrpSpPr>
        <p:grpSpPr>
          <a:xfrm>
            <a:off x="2133600" y="1295400"/>
            <a:ext cx="3171825" cy="1295400"/>
            <a:chOff x="2133600" y="1295400"/>
            <a:chExt cx="3171825" cy="1295400"/>
          </a:xfrm>
        </p:grpSpPr>
        <p:sp>
          <p:nvSpPr>
            <p:cNvPr id="793617" name="Text Box 17"/>
            <p:cNvSpPr txBox="1">
              <a:spLocks noChangeArrowheads="1"/>
            </p:cNvSpPr>
            <p:nvPr/>
          </p:nvSpPr>
          <p:spPr bwMode="auto">
            <a:xfrm>
              <a:off x="2579688" y="1295400"/>
              <a:ext cx="2725737"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p>
              <a:r>
                <a:rPr lang="en-US" b="0" dirty="0">
                  <a:solidFill>
                    <a:srgbClr val="E32F4F"/>
                  </a:solidFill>
                  <a:latin typeface="Arial" charset="0"/>
                </a:rPr>
                <a:t>activation of node </a:t>
              </a:r>
              <a:r>
                <a:rPr lang="en-US" b="0" dirty="0" err="1">
                  <a:solidFill>
                    <a:srgbClr val="E32F4F"/>
                  </a:solidFill>
                  <a:latin typeface="Arial" charset="0"/>
                </a:rPr>
                <a:t>i</a:t>
              </a:r>
              <a:endParaRPr lang="en-US" b="0" dirty="0">
                <a:solidFill>
                  <a:srgbClr val="E32F4F"/>
                </a:solidFill>
                <a:latin typeface="Arial" charset="0"/>
              </a:endParaRPr>
            </a:p>
          </p:txBody>
        </p:sp>
        <p:sp>
          <p:nvSpPr>
            <p:cNvPr id="793618" name="Line 18"/>
            <p:cNvSpPr>
              <a:spLocks noChangeShapeType="1"/>
            </p:cNvSpPr>
            <p:nvPr/>
          </p:nvSpPr>
          <p:spPr bwMode="auto">
            <a:xfrm>
              <a:off x="4343400" y="1752600"/>
              <a:ext cx="762000" cy="685800"/>
            </a:xfrm>
            <a:prstGeom prst="line">
              <a:avLst/>
            </a:prstGeom>
            <a:noFill/>
            <a:ln w="9525">
              <a:solidFill>
                <a:srgbClr val="E32F4F"/>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93622" name="Line 22"/>
            <p:cNvSpPr>
              <a:spLocks noChangeShapeType="1"/>
            </p:cNvSpPr>
            <p:nvPr/>
          </p:nvSpPr>
          <p:spPr bwMode="auto">
            <a:xfrm flipH="1">
              <a:off x="2133600" y="1752600"/>
              <a:ext cx="990600" cy="838200"/>
            </a:xfrm>
            <a:prstGeom prst="line">
              <a:avLst/>
            </a:prstGeom>
            <a:noFill/>
            <a:ln w="9525">
              <a:solidFill>
                <a:srgbClr val="E32F4F"/>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4" name="Group 3"/>
          <p:cNvGrpSpPr/>
          <p:nvPr/>
        </p:nvGrpSpPr>
        <p:grpSpPr>
          <a:xfrm>
            <a:off x="5033963" y="1295400"/>
            <a:ext cx="3457575" cy="1630363"/>
            <a:chOff x="5033963" y="1295400"/>
            <a:chExt cx="3457575" cy="1630363"/>
          </a:xfrm>
        </p:grpSpPr>
        <p:graphicFrame>
          <p:nvGraphicFramePr>
            <p:cNvPr id="793609" name="Object 9"/>
            <p:cNvGraphicFramePr>
              <a:graphicFrameLocks noChangeAspect="1"/>
            </p:cNvGraphicFramePr>
            <p:nvPr/>
          </p:nvGraphicFramePr>
          <p:xfrm>
            <a:off x="5033963" y="2362200"/>
            <a:ext cx="2662237" cy="563563"/>
          </p:xfrm>
          <a:graphic>
            <a:graphicData uri="http://schemas.openxmlformats.org/presentationml/2006/ole">
              <mc:AlternateContent xmlns:mc="http://schemas.openxmlformats.org/markup-compatibility/2006">
                <mc:Choice xmlns:v="urn:schemas-microsoft-com:vml" Requires="v">
                  <p:oleObj name="Equation" r:id="rId4" imgW="838200" imgH="177800" progId="Equation.3">
                    <p:embed/>
                  </p:oleObj>
                </mc:Choice>
                <mc:Fallback>
                  <p:oleObj name="Equation" r:id="rId4" imgW="838200" imgH="177800" progId="Equation.3">
                    <p:embed/>
                    <p:pic>
                      <p:nvPicPr>
                        <p:cNvPr id="79360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3963" y="2362200"/>
                          <a:ext cx="2662237" cy="563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93625" name="Text Box 25"/>
            <p:cNvSpPr txBox="1">
              <a:spLocks noChangeArrowheads="1"/>
            </p:cNvSpPr>
            <p:nvPr/>
          </p:nvSpPr>
          <p:spPr bwMode="auto">
            <a:xfrm>
              <a:off x="5867400" y="1295400"/>
              <a:ext cx="2624138"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p>
              <a:r>
                <a:rPr lang="en-US" b="0">
                  <a:solidFill>
                    <a:srgbClr val="E32F4F"/>
                  </a:solidFill>
                  <a:latin typeface="Arial" charset="0"/>
                </a:rPr>
                <a:t>activation function</a:t>
              </a:r>
            </a:p>
          </p:txBody>
        </p:sp>
        <p:sp>
          <p:nvSpPr>
            <p:cNvPr id="793626" name="Line 26"/>
            <p:cNvSpPr>
              <a:spLocks noChangeShapeType="1"/>
            </p:cNvSpPr>
            <p:nvPr/>
          </p:nvSpPr>
          <p:spPr bwMode="auto">
            <a:xfrm flipH="1">
              <a:off x="6096000" y="1752600"/>
              <a:ext cx="304800" cy="685800"/>
            </a:xfrm>
            <a:prstGeom prst="line">
              <a:avLst/>
            </a:prstGeom>
            <a:noFill/>
            <a:ln w="9525">
              <a:solidFill>
                <a:srgbClr val="E32F4F"/>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3" name="Group 2"/>
          <p:cNvGrpSpPr/>
          <p:nvPr/>
        </p:nvGrpSpPr>
        <p:grpSpPr>
          <a:xfrm>
            <a:off x="2187575" y="3048000"/>
            <a:ext cx="6734175" cy="2017931"/>
            <a:chOff x="2187575" y="3048000"/>
            <a:chExt cx="6734175" cy="2017931"/>
          </a:xfrm>
        </p:grpSpPr>
        <p:sp>
          <p:nvSpPr>
            <p:cNvPr id="793610" name="Text Box 10"/>
            <p:cNvSpPr txBox="1">
              <a:spLocks noChangeArrowheads="1"/>
            </p:cNvSpPr>
            <p:nvPr/>
          </p:nvSpPr>
          <p:spPr bwMode="auto">
            <a:xfrm>
              <a:off x="2187575" y="3152775"/>
              <a:ext cx="1009650"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3200" b="0" i="1" dirty="0"/>
                <a:t>    </a:t>
              </a:r>
              <a:r>
                <a:rPr lang="en-US" sz="3200" b="0" i="1" dirty="0" err="1"/>
                <a:t>w</a:t>
              </a:r>
              <a:r>
                <a:rPr lang="en-US" sz="3200" b="0" i="1" baseline="-25000" dirty="0" err="1"/>
                <a:t>ij</a:t>
              </a:r>
              <a:endParaRPr lang="en-US" sz="3200" b="0" dirty="0">
                <a:latin typeface="Arial" charset="0"/>
              </a:endParaRPr>
            </a:p>
          </p:txBody>
        </p:sp>
        <p:grpSp>
          <p:nvGrpSpPr>
            <p:cNvPr id="2" name="Group 1"/>
            <p:cNvGrpSpPr/>
            <p:nvPr/>
          </p:nvGrpSpPr>
          <p:grpSpPr>
            <a:xfrm>
              <a:off x="3200400" y="3048000"/>
              <a:ext cx="5721350" cy="2017931"/>
              <a:chOff x="3200400" y="3048000"/>
              <a:chExt cx="5721350" cy="2017931"/>
            </a:xfrm>
          </p:grpSpPr>
          <p:graphicFrame>
            <p:nvGraphicFramePr>
              <p:cNvPr id="793614" name="Object 14"/>
              <p:cNvGraphicFramePr>
                <a:graphicFrameLocks noChangeAspect="1"/>
              </p:cNvGraphicFramePr>
              <p:nvPr/>
            </p:nvGraphicFramePr>
            <p:xfrm>
              <a:off x="4333875" y="3252788"/>
              <a:ext cx="3265488" cy="1166812"/>
            </p:xfrm>
            <a:graphic>
              <a:graphicData uri="http://schemas.openxmlformats.org/presentationml/2006/ole">
                <mc:AlternateContent xmlns:mc="http://schemas.openxmlformats.org/markup-compatibility/2006">
                  <mc:Choice xmlns:v="urn:schemas-microsoft-com:vml" Requires="v">
                    <p:oleObj name="Equation" r:id="rId6" imgW="1028700" imgH="368300" progId="Equation.3">
                      <p:embed/>
                    </p:oleObj>
                  </mc:Choice>
                  <mc:Fallback>
                    <p:oleObj name="Equation" r:id="rId6" imgW="1028700" imgH="368300" progId="Equation.3">
                      <p:embed/>
                      <p:pic>
                        <p:nvPicPr>
                          <p:cNvPr id="793614"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3875" y="3252788"/>
                            <a:ext cx="3265488" cy="11668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93621" name="Text Box 21"/>
              <p:cNvSpPr txBox="1">
                <a:spLocks noChangeArrowheads="1"/>
              </p:cNvSpPr>
              <p:nvPr/>
            </p:nvSpPr>
            <p:spPr bwMode="auto">
              <a:xfrm>
                <a:off x="4191000" y="4419600"/>
                <a:ext cx="1524000" cy="64633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square">
                <a:spAutoFit/>
              </a:bodyPr>
              <a:lstStyle/>
              <a:p>
                <a:pPr>
                  <a:spcBef>
                    <a:spcPct val="50000"/>
                  </a:spcBef>
                </a:pPr>
                <a:r>
                  <a:rPr lang="en-US" b="0" dirty="0">
                    <a:solidFill>
                      <a:srgbClr val="E32F4F"/>
                    </a:solidFill>
                    <a:latin typeface="Arial" charset="0"/>
                  </a:rPr>
                  <a:t>weight of link from </a:t>
                </a:r>
                <a:r>
                  <a:rPr lang="en-US" b="0" i="1" dirty="0" err="1">
                    <a:solidFill>
                      <a:srgbClr val="E32F4F"/>
                    </a:solidFill>
                  </a:rPr>
                  <a:t>i</a:t>
                </a:r>
                <a:r>
                  <a:rPr lang="en-US" b="0" dirty="0">
                    <a:solidFill>
                      <a:srgbClr val="E32F4F"/>
                    </a:solidFill>
                    <a:latin typeface="Arial" charset="0"/>
                  </a:rPr>
                  <a:t> to  </a:t>
                </a:r>
                <a:r>
                  <a:rPr lang="en-US" b="0" i="1" dirty="0">
                    <a:solidFill>
                      <a:srgbClr val="E32F4F"/>
                    </a:solidFill>
                  </a:rPr>
                  <a:t>j</a:t>
                </a:r>
                <a:endParaRPr lang="en-US" b="0" dirty="0">
                  <a:solidFill>
                    <a:srgbClr val="E32F4F"/>
                  </a:solidFill>
                </a:endParaRPr>
              </a:p>
            </p:txBody>
          </p:sp>
          <p:sp>
            <p:nvSpPr>
              <p:cNvPr id="793623" name="Line 23"/>
              <p:cNvSpPr>
                <a:spLocks noChangeShapeType="1"/>
              </p:cNvSpPr>
              <p:nvPr/>
            </p:nvSpPr>
            <p:spPr bwMode="auto">
              <a:xfrm flipH="1" flipV="1">
                <a:off x="3200400" y="3657600"/>
                <a:ext cx="1295400" cy="838200"/>
              </a:xfrm>
              <a:prstGeom prst="line">
                <a:avLst/>
              </a:prstGeom>
              <a:noFill/>
              <a:ln w="9525">
                <a:solidFill>
                  <a:srgbClr val="E32F4F"/>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93624" name="Line 24"/>
              <p:cNvSpPr>
                <a:spLocks noChangeShapeType="1"/>
              </p:cNvSpPr>
              <p:nvPr/>
            </p:nvSpPr>
            <p:spPr bwMode="auto">
              <a:xfrm flipV="1">
                <a:off x="5257800" y="3657600"/>
                <a:ext cx="1295400" cy="838200"/>
              </a:xfrm>
              <a:prstGeom prst="line">
                <a:avLst/>
              </a:prstGeom>
              <a:noFill/>
              <a:ln w="9525">
                <a:solidFill>
                  <a:srgbClr val="E32F4F"/>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793627" name="Text Box 27"/>
              <p:cNvSpPr txBox="1">
                <a:spLocks noChangeArrowheads="1"/>
              </p:cNvSpPr>
              <p:nvPr/>
            </p:nvSpPr>
            <p:spPr bwMode="auto">
              <a:xfrm>
                <a:off x="7315200" y="3048000"/>
                <a:ext cx="160655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p>
                <a:r>
                  <a:rPr lang="en-US" b="0">
                    <a:solidFill>
                      <a:srgbClr val="E32F4F"/>
                    </a:solidFill>
                    <a:latin typeface="Arial" charset="0"/>
                  </a:rPr>
                  <a:t>sum over </a:t>
                </a:r>
                <a:r>
                  <a:rPr lang="en-US" b="0" i="1">
                    <a:solidFill>
                      <a:srgbClr val="E32F4F"/>
                    </a:solidFill>
                  </a:rPr>
                  <a:t>j</a:t>
                </a:r>
                <a:endParaRPr lang="en-US" b="0">
                  <a:solidFill>
                    <a:srgbClr val="E32F4F"/>
                  </a:solidFill>
                  <a:latin typeface="Arial" charset="0"/>
                </a:endParaRPr>
              </a:p>
            </p:txBody>
          </p:sp>
          <p:sp>
            <p:nvSpPr>
              <p:cNvPr id="793628" name="Line 28"/>
              <p:cNvSpPr>
                <a:spLocks noChangeShapeType="1"/>
              </p:cNvSpPr>
              <p:nvPr/>
            </p:nvSpPr>
            <p:spPr bwMode="auto">
              <a:xfrm flipH="1">
                <a:off x="6477000" y="3276600"/>
                <a:ext cx="838200" cy="76200"/>
              </a:xfrm>
              <a:prstGeom prst="line">
                <a:avLst/>
              </a:prstGeom>
              <a:noFill/>
              <a:ln w="9525">
                <a:solidFill>
                  <a:srgbClr val="E32F4F"/>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grpSp>
      </p:grpSp>
      <p:sp>
        <p:nvSpPr>
          <p:cNvPr id="6" name="Up Arrow 5"/>
          <p:cNvSpPr/>
          <p:nvPr/>
        </p:nvSpPr>
        <p:spPr>
          <a:xfrm>
            <a:off x="158236" y="2212198"/>
            <a:ext cx="731233" cy="2773009"/>
          </a:xfrm>
          <a:prstGeom prst="upArrow">
            <a:avLst>
              <a:gd name="adj1" fmla="val 25507"/>
              <a:gd name="adj2" fmla="val 48521"/>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61493" y="5065931"/>
            <a:ext cx="2868613" cy="1625547"/>
          </a:xfrm>
          <a:prstGeom prst="rect">
            <a:avLst/>
          </a:prstGeom>
        </p:spPr>
      </p:pic>
      <p:sp>
        <p:nvSpPr>
          <p:cNvPr id="8" name="TextBox 7"/>
          <p:cNvSpPr txBox="1"/>
          <p:nvPr/>
        </p:nvSpPr>
        <p:spPr>
          <a:xfrm>
            <a:off x="1491335" y="5556110"/>
            <a:ext cx="2362200" cy="830997"/>
          </a:xfrm>
          <a:prstGeom prst="rect">
            <a:avLst/>
          </a:prstGeom>
          <a:noFill/>
        </p:spPr>
        <p:txBody>
          <a:bodyPr wrap="square" rtlCol="0">
            <a:spAutoFit/>
          </a:bodyPr>
          <a:lstStyle/>
          <a:p>
            <a:r>
              <a:rPr lang="en-US" sz="2400"/>
              <a:t>Rectified linear: g(x) = max(0,x)</a:t>
            </a:r>
          </a:p>
        </p:txBody>
      </p:sp>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43400" y="152400"/>
            <a:ext cx="4419648" cy="2252133"/>
          </a:xfrm>
          <a:prstGeom prst="rect">
            <a:avLst/>
          </a:prstGeom>
        </p:spPr>
      </p:pic>
      <p:sp>
        <p:nvSpPr>
          <p:cNvPr id="10" name="TextBox 9"/>
          <p:cNvSpPr txBox="1"/>
          <p:nvPr/>
        </p:nvSpPr>
        <p:spPr>
          <a:xfrm>
            <a:off x="4953000" y="392668"/>
            <a:ext cx="1105239" cy="461665"/>
          </a:xfrm>
          <a:prstGeom prst="rect">
            <a:avLst/>
          </a:prstGeom>
          <a:noFill/>
        </p:spPr>
        <p:txBody>
          <a:bodyPr wrap="none" rtlCol="0">
            <a:spAutoFit/>
          </a:bodyPr>
          <a:lstStyle/>
          <a:p>
            <a:r>
              <a:rPr lang="en-US" sz="2400" b="1" dirty="0" err="1"/>
              <a:t>tanh</a:t>
            </a:r>
            <a:r>
              <a:rPr lang="en-US" sz="2400" b="1" dirty="0"/>
              <a:t>(x)</a:t>
            </a:r>
          </a:p>
        </p:txBody>
      </p:sp>
    </p:spTree>
    <p:extLst>
      <p:ext uri="{BB962C8B-B14F-4D97-AF65-F5344CB8AC3E}">
        <p14:creationId xmlns:p14="http://schemas.microsoft.com/office/powerpoint/2010/main" val="9278031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9362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a:xfrm>
            <a:off x="152400" y="457200"/>
            <a:ext cx="8763000" cy="1143000"/>
          </a:xfrm>
        </p:spPr>
        <p:txBody>
          <a:bodyPr/>
          <a:lstStyle/>
          <a:p>
            <a:r>
              <a:rPr lang="en-US"/>
              <a:t>A very simple neural network</a:t>
            </a:r>
          </a:p>
        </p:txBody>
      </p:sp>
      <p:sp>
        <p:nvSpPr>
          <p:cNvPr id="832515" name="Oval 3"/>
          <p:cNvSpPr>
            <a:spLocks noChangeArrowheads="1"/>
          </p:cNvSpPr>
          <p:nvPr/>
        </p:nvSpPr>
        <p:spPr bwMode="auto">
          <a:xfrm>
            <a:off x="990600" y="25146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16" name="Oval 4"/>
          <p:cNvSpPr>
            <a:spLocks noChangeArrowheads="1"/>
          </p:cNvSpPr>
          <p:nvPr/>
        </p:nvSpPr>
        <p:spPr bwMode="auto">
          <a:xfrm>
            <a:off x="2209800" y="25146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17" name="Oval 5"/>
          <p:cNvSpPr>
            <a:spLocks noChangeArrowheads="1"/>
          </p:cNvSpPr>
          <p:nvPr/>
        </p:nvSpPr>
        <p:spPr bwMode="auto">
          <a:xfrm>
            <a:off x="990600" y="44958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18" name="Oval 6"/>
          <p:cNvSpPr>
            <a:spLocks noChangeArrowheads="1"/>
          </p:cNvSpPr>
          <p:nvPr/>
        </p:nvSpPr>
        <p:spPr bwMode="auto">
          <a:xfrm>
            <a:off x="2209800" y="44958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19" name="Line 7"/>
          <p:cNvSpPr>
            <a:spLocks noChangeShapeType="1"/>
          </p:cNvSpPr>
          <p:nvPr/>
        </p:nvSpPr>
        <p:spPr bwMode="auto">
          <a:xfrm>
            <a:off x="1371600" y="33528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20" name="Line 8"/>
          <p:cNvSpPr>
            <a:spLocks noChangeShapeType="1"/>
          </p:cNvSpPr>
          <p:nvPr/>
        </p:nvSpPr>
        <p:spPr bwMode="auto">
          <a:xfrm>
            <a:off x="2667000" y="33528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21" name="Line 9"/>
          <p:cNvSpPr>
            <a:spLocks noChangeShapeType="1"/>
          </p:cNvSpPr>
          <p:nvPr/>
        </p:nvSpPr>
        <p:spPr bwMode="auto">
          <a:xfrm flipH="1">
            <a:off x="1524000" y="33528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22" name="Line 10"/>
          <p:cNvSpPr>
            <a:spLocks noChangeShapeType="1"/>
          </p:cNvSpPr>
          <p:nvPr/>
        </p:nvSpPr>
        <p:spPr bwMode="auto">
          <a:xfrm flipH="1" flipV="1">
            <a:off x="1524000" y="33528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26" name="Text Box 14"/>
          <p:cNvSpPr txBox="1">
            <a:spLocks noChangeArrowheads="1"/>
          </p:cNvSpPr>
          <p:nvPr/>
        </p:nvSpPr>
        <p:spPr bwMode="auto">
          <a:xfrm>
            <a:off x="755650" y="4556125"/>
            <a:ext cx="99695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3600" b="0" i="1"/>
              <a:t>    x</a:t>
            </a:r>
            <a:r>
              <a:rPr lang="en-US" sz="3600" b="0" baseline="-25000"/>
              <a:t>1</a:t>
            </a:r>
            <a:endParaRPr lang="en-US" sz="3600" b="0">
              <a:latin typeface="Arial" charset="0"/>
            </a:endParaRPr>
          </a:p>
        </p:txBody>
      </p:sp>
      <p:sp>
        <p:nvSpPr>
          <p:cNvPr id="832527" name="Text Box 15"/>
          <p:cNvSpPr txBox="1">
            <a:spLocks noChangeArrowheads="1"/>
          </p:cNvSpPr>
          <p:nvPr/>
        </p:nvSpPr>
        <p:spPr bwMode="auto">
          <a:xfrm>
            <a:off x="1974850" y="4556125"/>
            <a:ext cx="99695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3600" b="0" i="1"/>
              <a:t>    x</a:t>
            </a:r>
            <a:r>
              <a:rPr lang="en-US" sz="3600" b="0" baseline="-25000"/>
              <a:t>2</a:t>
            </a:r>
            <a:endParaRPr lang="en-US" sz="3600" b="0">
              <a:latin typeface="Arial" charset="0"/>
            </a:endParaRPr>
          </a:p>
        </p:txBody>
      </p:sp>
      <p:sp>
        <p:nvSpPr>
          <p:cNvPr id="832528" name="Text Box 16"/>
          <p:cNvSpPr txBox="1">
            <a:spLocks noChangeArrowheads="1"/>
          </p:cNvSpPr>
          <p:nvPr/>
        </p:nvSpPr>
        <p:spPr bwMode="auto">
          <a:xfrm>
            <a:off x="755650" y="2514600"/>
            <a:ext cx="99695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3600" b="0" i="1"/>
              <a:t>    y</a:t>
            </a:r>
            <a:r>
              <a:rPr lang="en-US" sz="3600" b="0" baseline="-25000"/>
              <a:t>1</a:t>
            </a:r>
            <a:endParaRPr lang="en-US" sz="3600" b="0">
              <a:latin typeface="Arial" charset="0"/>
            </a:endParaRPr>
          </a:p>
        </p:txBody>
      </p:sp>
      <p:sp>
        <p:nvSpPr>
          <p:cNvPr id="832529" name="Text Box 17"/>
          <p:cNvSpPr txBox="1">
            <a:spLocks noChangeArrowheads="1"/>
          </p:cNvSpPr>
          <p:nvPr/>
        </p:nvSpPr>
        <p:spPr bwMode="auto">
          <a:xfrm>
            <a:off x="1974850" y="2514600"/>
            <a:ext cx="996950" cy="641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3600" b="0" i="1"/>
              <a:t>    y</a:t>
            </a:r>
            <a:r>
              <a:rPr lang="en-US" sz="3600" b="0" baseline="-25000"/>
              <a:t>2</a:t>
            </a:r>
            <a:endParaRPr lang="en-US" sz="3600" b="0">
              <a:latin typeface="Arial" charset="0"/>
            </a:endParaRPr>
          </a:p>
        </p:txBody>
      </p:sp>
      <p:sp>
        <p:nvSpPr>
          <p:cNvPr id="832531" name="AutoShape 19"/>
          <p:cNvSpPr>
            <a:spLocks noChangeArrowheads="1"/>
          </p:cNvSpPr>
          <p:nvPr/>
        </p:nvSpPr>
        <p:spPr bwMode="auto">
          <a:xfrm rot="10800000" flipH="1">
            <a:off x="6248400" y="2073275"/>
            <a:ext cx="990600" cy="3352800"/>
          </a:xfrm>
          <a:prstGeom prst="curvedLeftArrow">
            <a:avLst>
              <a:gd name="adj1" fmla="val 67692"/>
              <a:gd name="adj2" fmla="val 135385"/>
              <a:gd name="adj3" fmla="val 33333"/>
            </a:avLst>
          </a:prstGeom>
          <a:solidFill>
            <a:srgbClr val="C4C4C4"/>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32" name="Text Box 20"/>
          <p:cNvSpPr txBox="1">
            <a:spLocks noChangeArrowheads="1"/>
          </p:cNvSpPr>
          <p:nvPr/>
        </p:nvSpPr>
        <p:spPr bwMode="auto">
          <a:xfrm>
            <a:off x="7010400" y="3624263"/>
            <a:ext cx="15557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b="0">
                <a:latin typeface="Arial" charset="0"/>
              </a:rPr>
              <a:t>    weights</a:t>
            </a:r>
          </a:p>
        </p:txBody>
      </p:sp>
      <p:sp>
        <p:nvSpPr>
          <p:cNvPr id="832533" name="Line 21"/>
          <p:cNvSpPr>
            <a:spLocks noChangeShapeType="1"/>
          </p:cNvSpPr>
          <p:nvPr/>
        </p:nvSpPr>
        <p:spPr bwMode="auto">
          <a:xfrm>
            <a:off x="4800600" y="1920875"/>
            <a:ext cx="0" cy="175260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34" name="Line 22"/>
          <p:cNvSpPr>
            <a:spLocks noChangeShapeType="1"/>
          </p:cNvSpPr>
          <p:nvPr/>
        </p:nvSpPr>
        <p:spPr bwMode="auto">
          <a:xfrm>
            <a:off x="4800600" y="4130675"/>
            <a:ext cx="0" cy="175260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35" name="Line 23"/>
          <p:cNvSpPr>
            <a:spLocks noChangeShapeType="1"/>
          </p:cNvSpPr>
          <p:nvPr/>
        </p:nvSpPr>
        <p:spPr bwMode="auto">
          <a:xfrm flipH="1">
            <a:off x="3810000" y="2759075"/>
            <a:ext cx="19050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36" name="Line 24"/>
          <p:cNvSpPr>
            <a:spLocks noChangeShapeType="1"/>
          </p:cNvSpPr>
          <p:nvPr/>
        </p:nvSpPr>
        <p:spPr bwMode="auto">
          <a:xfrm flipH="1">
            <a:off x="3810000" y="4968875"/>
            <a:ext cx="19050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2537" name="Text Box 25"/>
          <p:cNvSpPr txBox="1">
            <a:spLocks noChangeArrowheads="1"/>
          </p:cNvSpPr>
          <p:nvPr/>
        </p:nvSpPr>
        <p:spPr bwMode="auto">
          <a:xfrm>
            <a:off x="5411788" y="4953000"/>
            <a:ext cx="37941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000" b="0" i="1"/>
              <a:t>x</a:t>
            </a:r>
            <a:r>
              <a:rPr lang="en-US" sz="2000" b="0" baseline="-25000"/>
              <a:t>1</a:t>
            </a:r>
            <a:endParaRPr lang="en-US" sz="2000" b="0">
              <a:latin typeface="Arial" charset="0"/>
            </a:endParaRPr>
          </a:p>
        </p:txBody>
      </p:sp>
      <p:sp>
        <p:nvSpPr>
          <p:cNvPr id="832538" name="Text Box 26"/>
          <p:cNvSpPr txBox="1">
            <a:spLocks noChangeArrowheads="1"/>
          </p:cNvSpPr>
          <p:nvPr/>
        </p:nvSpPr>
        <p:spPr bwMode="auto">
          <a:xfrm>
            <a:off x="4343400" y="3978275"/>
            <a:ext cx="37941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000" b="0" i="1"/>
              <a:t>x</a:t>
            </a:r>
            <a:r>
              <a:rPr lang="en-US" sz="2000" b="0" baseline="-25000"/>
              <a:t>2</a:t>
            </a:r>
            <a:endParaRPr lang="en-US" sz="2000" b="0">
              <a:latin typeface="Arial" charset="0"/>
            </a:endParaRPr>
          </a:p>
        </p:txBody>
      </p:sp>
      <p:sp>
        <p:nvSpPr>
          <p:cNvPr id="832539" name="Text Box 27"/>
          <p:cNvSpPr txBox="1">
            <a:spLocks noChangeArrowheads="1"/>
          </p:cNvSpPr>
          <p:nvPr/>
        </p:nvSpPr>
        <p:spPr bwMode="auto">
          <a:xfrm>
            <a:off x="5337175" y="2743200"/>
            <a:ext cx="37941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000" b="0" i="1"/>
              <a:t>y</a:t>
            </a:r>
            <a:r>
              <a:rPr lang="en-US" sz="2000" b="0" baseline="-25000"/>
              <a:t>1</a:t>
            </a:r>
            <a:endParaRPr lang="en-US" sz="2000" b="0">
              <a:latin typeface="Arial" charset="0"/>
            </a:endParaRPr>
          </a:p>
        </p:txBody>
      </p:sp>
      <p:sp>
        <p:nvSpPr>
          <p:cNvPr id="832540" name="Text Box 28"/>
          <p:cNvSpPr txBox="1">
            <a:spLocks noChangeArrowheads="1"/>
          </p:cNvSpPr>
          <p:nvPr/>
        </p:nvSpPr>
        <p:spPr bwMode="auto">
          <a:xfrm>
            <a:off x="4343400" y="1752600"/>
            <a:ext cx="37941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000" b="0" i="1"/>
              <a:t>y</a:t>
            </a:r>
            <a:r>
              <a:rPr lang="en-US" sz="2000" b="0" baseline="-25000"/>
              <a:t>2</a:t>
            </a:r>
            <a:endParaRPr lang="en-US" sz="2000" b="0">
              <a:latin typeface="Arial" charset="0"/>
            </a:endParaRPr>
          </a:p>
        </p:txBody>
      </p:sp>
    </p:spTree>
    <p:extLst>
      <p:ext uri="{BB962C8B-B14F-4D97-AF65-F5344CB8AC3E}">
        <p14:creationId xmlns:p14="http://schemas.microsoft.com/office/powerpoint/2010/main" val="158333568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4562" name="Picture 2" descr="catd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42988"/>
            <a:ext cx="9144000" cy="5815012"/>
          </a:xfrm>
          <a:prstGeom prst="rect">
            <a:avLst/>
          </a:prstGeom>
          <a:noFill/>
          <a:extLst>
            <a:ext uri="{909E8E84-426E-40dd-AFC4-6F175D3DCCD1}">
              <a14:hiddenFill xmlns:a14="http://schemas.microsoft.com/office/drawing/2010/main" xmlns="">
                <a:solidFill>
                  <a:srgbClr val="FFFFFF"/>
                </a:solidFill>
              </a14:hiddenFill>
            </a:ext>
          </a:extLst>
        </p:spPr>
      </p:pic>
      <p:sp>
        <p:nvSpPr>
          <p:cNvPr id="834563" name="Rectangle 3"/>
          <p:cNvSpPr>
            <a:spLocks noChangeArrowheads="1"/>
          </p:cNvSpPr>
          <p:nvPr/>
        </p:nvSpPr>
        <p:spPr bwMode="auto">
          <a:xfrm>
            <a:off x="3352800" y="533400"/>
            <a:ext cx="5410200" cy="5943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34564" name="Rectangle 4"/>
          <p:cNvSpPr>
            <a:spLocks noGrp="1" noChangeArrowheads="1"/>
          </p:cNvSpPr>
          <p:nvPr>
            <p:ph type="title"/>
          </p:nvPr>
        </p:nvSpPr>
        <p:spPr>
          <a:xfrm>
            <a:off x="152400" y="152400"/>
            <a:ext cx="8763000" cy="1143000"/>
          </a:xfrm>
          <a:noFill/>
          <a:ln/>
        </p:spPr>
        <p:txBody>
          <a:bodyPr/>
          <a:lstStyle/>
          <a:p>
            <a:r>
              <a:rPr lang="en-US"/>
              <a:t>Distributed representations</a:t>
            </a:r>
          </a:p>
        </p:txBody>
      </p:sp>
      <p:sp>
        <p:nvSpPr>
          <p:cNvPr id="834565" name="Text Box 5"/>
          <p:cNvSpPr txBox="1">
            <a:spLocks noChangeArrowheads="1"/>
          </p:cNvSpPr>
          <p:nvPr/>
        </p:nvSpPr>
        <p:spPr bwMode="auto">
          <a:xfrm>
            <a:off x="6096000" y="3581400"/>
            <a:ext cx="21209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800" b="0">
                <a:latin typeface="Arial" charset="0"/>
              </a:rPr>
              <a:t>interpolation</a:t>
            </a:r>
          </a:p>
        </p:txBody>
      </p:sp>
      <p:sp>
        <p:nvSpPr>
          <p:cNvPr id="834566" name="Text Box 6"/>
          <p:cNvSpPr txBox="1">
            <a:spLocks noChangeArrowheads="1"/>
          </p:cNvSpPr>
          <p:nvPr/>
        </p:nvSpPr>
        <p:spPr bwMode="auto">
          <a:xfrm>
            <a:off x="3962400" y="3429000"/>
            <a:ext cx="1228725"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eaLnBrk="1" hangingPunct="1">
              <a:spcBef>
                <a:spcPct val="20000"/>
              </a:spcBef>
            </a:pPr>
            <a:r>
              <a:rPr lang="en-US" sz="2000" b="0">
                <a:latin typeface="Arial" charset="0"/>
              </a:rPr>
              <a:t>noise</a:t>
            </a:r>
          </a:p>
          <a:p>
            <a:pPr eaLnBrk="1" hangingPunct="1">
              <a:spcBef>
                <a:spcPct val="20000"/>
              </a:spcBef>
            </a:pPr>
            <a:r>
              <a:rPr lang="en-US" sz="2000" b="0">
                <a:latin typeface="Arial" charset="0"/>
              </a:rPr>
              <a:t>tolerance</a:t>
            </a:r>
          </a:p>
        </p:txBody>
      </p:sp>
      <p:sp>
        <p:nvSpPr>
          <p:cNvPr id="834568" name="Rectangle 8"/>
          <p:cNvSpPr>
            <a:spLocks noChangeArrowheads="1"/>
          </p:cNvSpPr>
          <p:nvPr/>
        </p:nvSpPr>
        <p:spPr bwMode="auto">
          <a:xfrm>
            <a:off x="3505200" y="1219200"/>
            <a:ext cx="5181600" cy="541020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2" name="TextBox 1"/>
          <p:cNvSpPr txBox="1"/>
          <p:nvPr/>
        </p:nvSpPr>
        <p:spPr>
          <a:xfrm>
            <a:off x="-83655" y="2259104"/>
            <a:ext cx="1642741" cy="369332"/>
          </a:xfrm>
          <a:prstGeom prst="rect">
            <a:avLst/>
          </a:prstGeom>
          <a:noFill/>
        </p:spPr>
        <p:txBody>
          <a:bodyPr wrap="square" rtlCol="0">
            <a:spAutoFit/>
          </a:bodyPr>
          <a:lstStyle/>
          <a:p>
            <a:r>
              <a:rPr lang="en-US" dirty="0"/>
              <a:t>Behavioral</a:t>
            </a:r>
          </a:p>
        </p:txBody>
      </p:sp>
      <p:sp>
        <p:nvSpPr>
          <p:cNvPr id="10" name="TextBox 9"/>
          <p:cNvSpPr txBox="1"/>
          <p:nvPr/>
        </p:nvSpPr>
        <p:spPr>
          <a:xfrm>
            <a:off x="-52425" y="5014161"/>
            <a:ext cx="1642741" cy="369332"/>
          </a:xfrm>
          <a:prstGeom prst="rect">
            <a:avLst/>
          </a:prstGeom>
          <a:noFill/>
        </p:spPr>
        <p:txBody>
          <a:bodyPr wrap="square" rtlCol="0">
            <a:spAutoFit/>
          </a:bodyPr>
          <a:lstStyle/>
          <a:p>
            <a:r>
              <a:rPr lang="en-US" dirty="0"/>
              <a:t>Perceptual</a:t>
            </a:r>
          </a:p>
        </p:txBody>
      </p:sp>
      <p:cxnSp>
        <p:nvCxnSpPr>
          <p:cNvPr id="4" name="Straight Arrow Connector 3"/>
          <p:cNvCxnSpPr/>
          <p:nvPr/>
        </p:nvCxnSpPr>
        <p:spPr>
          <a:xfrm flipV="1">
            <a:off x="1559086" y="2628436"/>
            <a:ext cx="0" cy="1937619"/>
          </a:xfrm>
          <a:prstGeom prst="straightConnector1">
            <a:avLst/>
          </a:prstGeom>
          <a:ln w="57150" cmpd="sng">
            <a:tailEnd type="arrow"/>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2041350" y="5249813"/>
            <a:ext cx="1235250" cy="369332"/>
          </a:xfrm>
          <a:prstGeom prst="rect">
            <a:avLst/>
          </a:prstGeom>
          <a:noFill/>
        </p:spPr>
        <p:txBody>
          <a:bodyPr wrap="square" rtlCol="0">
            <a:spAutoFit/>
          </a:bodyPr>
          <a:lstStyle/>
          <a:p>
            <a:pPr algn="ctr"/>
            <a:r>
              <a:rPr lang="en-US" dirty="0"/>
              <a:t>Body size</a:t>
            </a:r>
          </a:p>
        </p:txBody>
      </p:sp>
      <p:sp>
        <p:nvSpPr>
          <p:cNvPr id="13" name="TextBox 12"/>
          <p:cNvSpPr txBox="1"/>
          <p:nvPr/>
        </p:nvSpPr>
        <p:spPr>
          <a:xfrm>
            <a:off x="1265977" y="4434522"/>
            <a:ext cx="1002632" cy="646331"/>
          </a:xfrm>
          <a:prstGeom prst="rect">
            <a:avLst/>
          </a:prstGeom>
          <a:noFill/>
        </p:spPr>
        <p:txBody>
          <a:bodyPr wrap="square" rtlCol="0">
            <a:spAutoFit/>
          </a:bodyPr>
          <a:lstStyle/>
          <a:p>
            <a:r>
              <a:rPr lang="en-US" dirty="0"/>
              <a:t>Snout-size</a:t>
            </a:r>
          </a:p>
        </p:txBody>
      </p:sp>
      <p:sp>
        <p:nvSpPr>
          <p:cNvPr id="14" name="TextBox 13"/>
          <p:cNvSpPr txBox="1"/>
          <p:nvPr/>
        </p:nvSpPr>
        <p:spPr>
          <a:xfrm>
            <a:off x="1966491" y="2428064"/>
            <a:ext cx="1002632" cy="369332"/>
          </a:xfrm>
          <a:prstGeom prst="rect">
            <a:avLst/>
          </a:prstGeom>
          <a:noFill/>
        </p:spPr>
        <p:txBody>
          <a:bodyPr wrap="square" rtlCol="0">
            <a:spAutoFit/>
          </a:bodyPr>
          <a:lstStyle/>
          <a:p>
            <a:pPr algn="ctr"/>
            <a:r>
              <a:rPr lang="en-US" dirty="0"/>
              <a:t>pitch</a:t>
            </a:r>
          </a:p>
        </p:txBody>
      </p:sp>
      <p:sp>
        <p:nvSpPr>
          <p:cNvPr id="15" name="TextBox 14"/>
          <p:cNvSpPr txBox="1"/>
          <p:nvPr/>
        </p:nvSpPr>
        <p:spPr>
          <a:xfrm>
            <a:off x="1191118" y="1612773"/>
            <a:ext cx="1002632" cy="369332"/>
          </a:xfrm>
          <a:prstGeom prst="rect">
            <a:avLst/>
          </a:prstGeom>
          <a:noFill/>
        </p:spPr>
        <p:txBody>
          <a:bodyPr wrap="square" rtlCol="0">
            <a:spAutoFit/>
          </a:bodyPr>
          <a:lstStyle/>
          <a:p>
            <a:r>
              <a:rPr lang="en-US" dirty="0"/>
              <a:t>timbre</a:t>
            </a:r>
          </a:p>
        </p:txBody>
      </p:sp>
      <p:sp>
        <p:nvSpPr>
          <p:cNvPr id="834567" name="Text Box 7"/>
          <p:cNvSpPr txBox="1">
            <a:spLocks noChangeArrowheads="1"/>
          </p:cNvSpPr>
          <p:nvPr/>
        </p:nvSpPr>
        <p:spPr bwMode="auto">
          <a:xfrm>
            <a:off x="762000" y="3581400"/>
            <a:ext cx="2457450" cy="51911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800" b="0" dirty="0">
                <a:latin typeface="Arial" charset="0"/>
              </a:rPr>
              <a:t>representation</a:t>
            </a:r>
          </a:p>
        </p:txBody>
      </p:sp>
    </p:spTree>
    <p:extLst>
      <p:ext uri="{BB962C8B-B14F-4D97-AF65-F5344CB8AC3E}">
        <p14:creationId xmlns:p14="http://schemas.microsoft.com/office/powerpoint/2010/main" val="13677669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45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1794" name="Picture 2" descr="catdo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42988"/>
            <a:ext cx="9144000" cy="5815012"/>
          </a:xfrm>
          <a:prstGeom prst="rect">
            <a:avLst/>
          </a:prstGeom>
          <a:noFill/>
          <a:extLst>
            <a:ext uri="{909E8E84-426E-40dd-AFC4-6F175D3DCCD1}">
              <a14:hiddenFill xmlns:a14="http://schemas.microsoft.com/office/drawing/2010/main" xmlns="">
                <a:solidFill>
                  <a:srgbClr val="FFFFFF"/>
                </a:solidFill>
              </a14:hiddenFill>
            </a:ext>
          </a:extLst>
        </p:spPr>
      </p:pic>
      <p:sp>
        <p:nvSpPr>
          <p:cNvPr id="801795" name="Rectangle 3"/>
          <p:cNvSpPr>
            <a:spLocks noChangeArrowheads="1"/>
          </p:cNvSpPr>
          <p:nvPr/>
        </p:nvSpPr>
        <p:spPr bwMode="auto">
          <a:xfrm>
            <a:off x="3352800" y="533400"/>
            <a:ext cx="5410200" cy="5943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01796" name="Rectangle 4"/>
          <p:cNvSpPr>
            <a:spLocks noGrp="1" noChangeArrowheads="1"/>
          </p:cNvSpPr>
          <p:nvPr>
            <p:ph type="title"/>
          </p:nvPr>
        </p:nvSpPr>
        <p:spPr>
          <a:xfrm>
            <a:off x="152400" y="152400"/>
            <a:ext cx="8763000" cy="1143000"/>
          </a:xfrm>
          <a:noFill/>
          <a:ln/>
        </p:spPr>
        <p:txBody>
          <a:bodyPr/>
          <a:lstStyle/>
          <a:p>
            <a:r>
              <a:rPr lang="en-US"/>
              <a:t>Distributed representations</a:t>
            </a:r>
          </a:p>
        </p:txBody>
      </p:sp>
      <p:sp>
        <p:nvSpPr>
          <p:cNvPr id="801797" name="Text Box 5"/>
          <p:cNvSpPr txBox="1">
            <a:spLocks noChangeArrowheads="1"/>
          </p:cNvSpPr>
          <p:nvPr/>
        </p:nvSpPr>
        <p:spPr bwMode="auto">
          <a:xfrm>
            <a:off x="6096000" y="3581400"/>
            <a:ext cx="21209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800" b="0">
                <a:latin typeface="Arial" charset="0"/>
              </a:rPr>
              <a:t>interpolation</a:t>
            </a:r>
          </a:p>
        </p:txBody>
      </p:sp>
      <p:sp>
        <p:nvSpPr>
          <p:cNvPr id="801798" name="Text Box 6"/>
          <p:cNvSpPr txBox="1">
            <a:spLocks noChangeArrowheads="1"/>
          </p:cNvSpPr>
          <p:nvPr/>
        </p:nvSpPr>
        <p:spPr bwMode="auto">
          <a:xfrm>
            <a:off x="3962400" y="3429000"/>
            <a:ext cx="1228725"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eaLnBrk="1" hangingPunct="1">
              <a:spcBef>
                <a:spcPct val="20000"/>
              </a:spcBef>
            </a:pPr>
            <a:r>
              <a:rPr lang="en-US" sz="2000" b="0" dirty="0">
                <a:latin typeface="Arial" charset="0"/>
              </a:rPr>
              <a:t>noise</a:t>
            </a:r>
          </a:p>
          <a:p>
            <a:pPr eaLnBrk="1" hangingPunct="1">
              <a:spcBef>
                <a:spcPct val="20000"/>
              </a:spcBef>
            </a:pPr>
            <a:r>
              <a:rPr lang="en-US" sz="2000" b="0" dirty="0">
                <a:latin typeface="Arial" charset="0"/>
              </a:rPr>
              <a:t>tolerance</a:t>
            </a:r>
          </a:p>
        </p:txBody>
      </p:sp>
      <p:sp>
        <p:nvSpPr>
          <p:cNvPr id="2" name="Rectangle 1"/>
          <p:cNvSpPr/>
          <p:nvPr/>
        </p:nvSpPr>
        <p:spPr>
          <a:xfrm>
            <a:off x="5788034" y="1368274"/>
            <a:ext cx="3127366" cy="518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83655" y="2259104"/>
            <a:ext cx="1642741" cy="369332"/>
          </a:xfrm>
          <a:prstGeom prst="rect">
            <a:avLst/>
          </a:prstGeom>
          <a:noFill/>
        </p:spPr>
        <p:txBody>
          <a:bodyPr wrap="square" rtlCol="0">
            <a:spAutoFit/>
          </a:bodyPr>
          <a:lstStyle/>
          <a:p>
            <a:r>
              <a:rPr lang="en-US" dirty="0"/>
              <a:t>Behavioral</a:t>
            </a:r>
          </a:p>
        </p:txBody>
      </p:sp>
      <p:sp>
        <p:nvSpPr>
          <p:cNvPr id="12" name="TextBox 11"/>
          <p:cNvSpPr txBox="1"/>
          <p:nvPr/>
        </p:nvSpPr>
        <p:spPr>
          <a:xfrm>
            <a:off x="-52425" y="5014161"/>
            <a:ext cx="1642741" cy="369332"/>
          </a:xfrm>
          <a:prstGeom prst="rect">
            <a:avLst/>
          </a:prstGeom>
          <a:noFill/>
        </p:spPr>
        <p:txBody>
          <a:bodyPr wrap="square" rtlCol="0">
            <a:spAutoFit/>
          </a:bodyPr>
          <a:lstStyle/>
          <a:p>
            <a:r>
              <a:rPr lang="en-US" dirty="0"/>
              <a:t>Perceptual</a:t>
            </a:r>
          </a:p>
        </p:txBody>
      </p:sp>
      <p:cxnSp>
        <p:nvCxnSpPr>
          <p:cNvPr id="13" name="Straight Arrow Connector 12"/>
          <p:cNvCxnSpPr/>
          <p:nvPr/>
        </p:nvCxnSpPr>
        <p:spPr>
          <a:xfrm flipV="1">
            <a:off x="1559086" y="2614167"/>
            <a:ext cx="0" cy="1937619"/>
          </a:xfrm>
          <a:prstGeom prst="straightConnector1">
            <a:avLst/>
          </a:prstGeom>
          <a:ln w="57150" cmpd="sng">
            <a:tailEnd type="arrow"/>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1265977" y="4434522"/>
            <a:ext cx="1002632" cy="646331"/>
          </a:xfrm>
          <a:prstGeom prst="rect">
            <a:avLst/>
          </a:prstGeom>
          <a:noFill/>
        </p:spPr>
        <p:txBody>
          <a:bodyPr wrap="square" rtlCol="0">
            <a:spAutoFit/>
          </a:bodyPr>
          <a:lstStyle/>
          <a:p>
            <a:r>
              <a:rPr lang="en-US" dirty="0"/>
              <a:t>Snout-size</a:t>
            </a:r>
          </a:p>
        </p:txBody>
      </p:sp>
      <p:sp>
        <p:nvSpPr>
          <p:cNvPr id="19" name="TextBox 18"/>
          <p:cNvSpPr txBox="1"/>
          <p:nvPr/>
        </p:nvSpPr>
        <p:spPr>
          <a:xfrm>
            <a:off x="1966491" y="2428064"/>
            <a:ext cx="1002632" cy="369332"/>
          </a:xfrm>
          <a:prstGeom prst="rect">
            <a:avLst/>
          </a:prstGeom>
          <a:noFill/>
        </p:spPr>
        <p:txBody>
          <a:bodyPr wrap="square" rtlCol="0">
            <a:spAutoFit/>
          </a:bodyPr>
          <a:lstStyle/>
          <a:p>
            <a:pPr algn="ctr"/>
            <a:r>
              <a:rPr lang="en-US" dirty="0"/>
              <a:t>pitch</a:t>
            </a:r>
          </a:p>
        </p:txBody>
      </p:sp>
      <p:sp>
        <p:nvSpPr>
          <p:cNvPr id="20" name="TextBox 19"/>
          <p:cNvSpPr txBox="1"/>
          <p:nvPr/>
        </p:nvSpPr>
        <p:spPr>
          <a:xfrm>
            <a:off x="1191118" y="1612773"/>
            <a:ext cx="1002632" cy="369332"/>
          </a:xfrm>
          <a:prstGeom prst="rect">
            <a:avLst/>
          </a:prstGeom>
          <a:noFill/>
        </p:spPr>
        <p:txBody>
          <a:bodyPr wrap="square" rtlCol="0">
            <a:spAutoFit/>
          </a:bodyPr>
          <a:lstStyle/>
          <a:p>
            <a:r>
              <a:rPr lang="en-US" dirty="0"/>
              <a:t>timbre</a:t>
            </a:r>
          </a:p>
        </p:txBody>
      </p:sp>
      <p:sp>
        <p:nvSpPr>
          <p:cNvPr id="3" name="TextBox 2">
            <a:extLst>
              <a:ext uri="{FF2B5EF4-FFF2-40B4-BE49-F238E27FC236}">
                <a16:creationId xmlns:a16="http://schemas.microsoft.com/office/drawing/2014/main" id="{673BF283-E0F0-1C34-C8E7-DAAD928BBC90}"/>
              </a:ext>
            </a:extLst>
          </p:cNvPr>
          <p:cNvSpPr txBox="1"/>
          <p:nvPr/>
        </p:nvSpPr>
        <p:spPr>
          <a:xfrm>
            <a:off x="2041350" y="5249813"/>
            <a:ext cx="1235250" cy="369332"/>
          </a:xfrm>
          <a:prstGeom prst="rect">
            <a:avLst/>
          </a:prstGeom>
          <a:noFill/>
        </p:spPr>
        <p:txBody>
          <a:bodyPr wrap="square" rtlCol="0">
            <a:spAutoFit/>
          </a:bodyPr>
          <a:lstStyle/>
          <a:p>
            <a:pPr algn="ctr"/>
            <a:r>
              <a:rPr lang="en-US" dirty="0"/>
              <a:t>Body size</a:t>
            </a:r>
          </a:p>
        </p:txBody>
      </p:sp>
      <p:sp>
        <p:nvSpPr>
          <p:cNvPr id="801799" name="Text Box 7"/>
          <p:cNvSpPr txBox="1">
            <a:spLocks noChangeArrowheads="1"/>
          </p:cNvSpPr>
          <p:nvPr/>
        </p:nvSpPr>
        <p:spPr bwMode="auto">
          <a:xfrm>
            <a:off x="762000" y="3581400"/>
            <a:ext cx="2457450" cy="51911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pPr algn="l" eaLnBrk="1" hangingPunct="1">
              <a:spcBef>
                <a:spcPct val="20000"/>
              </a:spcBef>
            </a:pPr>
            <a:r>
              <a:rPr lang="en-US" sz="2800" b="0" dirty="0">
                <a:latin typeface="Arial" charset="0"/>
              </a:rPr>
              <a:t>representation</a:t>
            </a:r>
          </a:p>
        </p:txBody>
      </p:sp>
    </p:spTree>
    <p:extLst>
      <p:ext uri="{BB962C8B-B14F-4D97-AF65-F5344CB8AC3E}">
        <p14:creationId xmlns:p14="http://schemas.microsoft.com/office/powerpoint/2010/main" val="11377436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556539" y="2133600"/>
            <a:ext cx="3279775" cy="3313331"/>
            <a:chOff x="5330825" y="2133600"/>
            <a:chExt cx="3279775" cy="3313331"/>
          </a:xfrm>
        </p:grpSpPr>
        <p:pic>
          <p:nvPicPr>
            <p:cNvPr id="799749" name="Picture 5" descr="catdog"/>
            <p:cNvPicPr>
              <a:picLocks noChangeAspect="1" noChangeArrowheads="1"/>
            </p:cNvPicPr>
            <p:nvPr/>
          </p:nvPicPr>
          <p:blipFill>
            <a:blip r:embed="rId3">
              <a:extLst>
                <a:ext uri="{28A0092B-C50C-407E-A947-70E740481C1C}">
                  <a14:useLocalDpi xmlns:a14="http://schemas.microsoft.com/office/drawing/2010/main" val="0"/>
                </a:ext>
              </a:extLst>
            </a:blip>
            <a:srcRect t="52618" r="64136"/>
            <a:stretch>
              <a:fillRect/>
            </a:stretch>
          </p:blipFill>
          <p:spPr bwMode="auto">
            <a:xfrm>
              <a:off x="5330825" y="2133600"/>
              <a:ext cx="3279775" cy="2755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99774" name="Text Box 30"/>
            <p:cNvSpPr txBox="1">
              <a:spLocks noChangeArrowheads="1"/>
            </p:cNvSpPr>
            <p:nvPr/>
          </p:nvSpPr>
          <p:spPr bwMode="auto">
            <a:xfrm>
              <a:off x="6477000" y="4800600"/>
              <a:ext cx="2133600" cy="64633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p>
              <a:pPr>
                <a:spcBef>
                  <a:spcPct val="50000"/>
                </a:spcBef>
              </a:pPr>
              <a:r>
                <a:rPr lang="en-US" b="0" dirty="0">
                  <a:latin typeface="Arial" charset="0"/>
                </a:rPr>
                <a:t>Interpretable as points in space</a:t>
              </a:r>
              <a:endParaRPr lang="en-US" dirty="0">
                <a:latin typeface="Arial" charset="0"/>
              </a:endParaRPr>
            </a:p>
          </p:txBody>
        </p:sp>
      </p:grpSp>
      <p:sp>
        <p:nvSpPr>
          <p:cNvPr id="799746" name="Rectangle 2"/>
          <p:cNvSpPr>
            <a:spLocks noGrp="1" noChangeArrowheads="1"/>
          </p:cNvSpPr>
          <p:nvPr>
            <p:ph type="title"/>
          </p:nvPr>
        </p:nvSpPr>
        <p:spPr>
          <a:xfrm>
            <a:off x="685800" y="152400"/>
            <a:ext cx="7772400" cy="1143000"/>
          </a:xfrm>
        </p:spPr>
        <p:txBody>
          <a:bodyPr/>
          <a:lstStyle/>
          <a:p>
            <a:r>
              <a:rPr lang="en-US"/>
              <a:t>Different representations</a:t>
            </a:r>
          </a:p>
        </p:txBody>
      </p:sp>
      <p:sp>
        <p:nvSpPr>
          <p:cNvPr id="799747" name="Rectangle 3"/>
          <p:cNvSpPr>
            <a:spLocks noGrp="1" noChangeArrowheads="1"/>
          </p:cNvSpPr>
          <p:nvPr>
            <p:ph type="body" idx="1"/>
          </p:nvPr>
        </p:nvSpPr>
        <p:spPr>
          <a:xfrm>
            <a:off x="152400" y="1143000"/>
            <a:ext cx="8915400" cy="4114800"/>
          </a:xfrm>
        </p:spPr>
        <p:txBody>
          <a:bodyPr/>
          <a:lstStyle/>
          <a:p>
            <a:endParaRPr lang="en-US" dirty="0"/>
          </a:p>
          <a:p>
            <a:endParaRPr lang="en-US" dirty="0"/>
          </a:p>
        </p:txBody>
      </p:sp>
      <p:grpSp>
        <p:nvGrpSpPr>
          <p:cNvPr id="5" name="Group 4">
            <a:extLst>
              <a:ext uri="{FF2B5EF4-FFF2-40B4-BE49-F238E27FC236}">
                <a16:creationId xmlns:a16="http://schemas.microsoft.com/office/drawing/2014/main" id="{3BD221C2-A43E-FB12-D8B9-DDD42CC5C7B8}"/>
              </a:ext>
            </a:extLst>
          </p:cNvPr>
          <p:cNvGrpSpPr/>
          <p:nvPr/>
        </p:nvGrpSpPr>
        <p:grpSpPr>
          <a:xfrm>
            <a:off x="6353992" y="1330672"/>
            <a:ext cx="2063750" cy="4805362"/>
            <a:chOff x="755650" y="1366838"/>
            <a:chExt cx="2063750" cy="4805362"/>
          </a:xfrm>
        </p:grpSpPr>
        <p:sp>
          <p:nvSpPr>
            <p:cNvPr id="799758" name="Oval 14"/>
            <p:cNvSpPr>
              <a:spLocks noChangeArrowheads="1"/>
            </p:cNvSpPr>
            <p:nvPr/>
          </p:nvSpPr>
          <p:spPr bwMode="auto">
            <a:xfrm>
              <a:off x="762000" y="1905000"/>
              <a:ext cx="838200" cy="838200"/>
            </a:xfrm>
            <a:prstGeom prst="ellipse">
              <a:avLst/>
            </a:prstGeom>
            <a:solidFill>
              <a:srgbClr val="E32F4F"/>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59" name="Oval 15"/>
            <p:cNvSpPr>
              <a:spLocks noChangeArrowheads="1"/>
            </p:cNvSpPr>
            <p:nvPr/>
          </p:nvSpPr>
          <p:spPr bwMode="auto">
            <a:xfrm>
              <a:off x="1981200" y="1905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62" name="Oval 18"/>
            <p:cNvSpPr>
              <a:spLocks noChangeArrowheads="1"/>
            </p:cNvSpPr>
            <p:nvPr/>
          </p:nvSpPr>
          <p:spPr bwMode="auto">
            <a:xfrm>
              <a:off x="755650" y="3794125"/>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63" name="Oval 19"/>
            <p:cNvSpPr>
              <a:spLocks noChangeArrowheads="1"/>
            </p:cNvSpPr>
            <p:nvPr/>
          </p:nvSpPr>
          <p:spPr bwMode="auto">
            <a:xfrm>
              <a:off x="1974850" y="3794125"/>
              <a:ext cx="838200" cy="838200"/>
            </a:xfrm>
            <a:prstGeom prst="ellipse">
              <a:avLst/>
            </a:prstGeom>
            <a:solidFill>
              <a:srgbClr val="E32F4F"/>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66" name="Text Box 22"/>
            <p:cNvSpPr txBox="1">
              <a:spLocks noChangeArrowheads="1"/>
            </p:cNvSpPr>
            <p:nvPr/>
          </p:nvSpPr>
          <p:spPr bwMode="auto">
            <a:xfrm>
              <a:off x="1431925" y="1366838"/>
              <a:ext cx="69215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p>
              <a:r>
                <a:rPr lang="en-US" b="0">
                  <a:latin typeface="Arial" charset="0"/>
                </a:rPr>
                <a:t>dog</a:t>
              </a:r>
            </a:p>
          </p:txBody>
        </p:sp>
        <p:sp>
          <p:nvSpPr>
            <p:cNvPr id="799767" name="Text Box 23"/>
            <p:cNvSpPr txBox="1">
              <a:spLocks noChangeArrowheads="1"/>
            </p:cNvSpPr>
            <p:nvPr/>
          </p:nvSpPr>
          <p:spPr bwMode="auto">
            <a:xfrm>
              <a:off x="1371600" y="3276600"/>
              <a:ext cx="762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p>
              <a:r>
                <a:rPr lang="en-US" b="0">
                  <a:latin typeface="Arial" charset="0"/>
                </a:rPr>
                <a:t>cat</a:t>
              </a:r>
            </a:p>
          </p:txBody>
        </p:sp>
        <p:sp>
          <p:nvSpPr>
            <p:cNvPr id="799772" name="Text Box 28"/>
            <p:cNvSpPr txBox="1">
              <a:spLocks noChangeArrowheads="1"/>
            </p:cNvSpPr>
            <p:nvPr/>
          </p:nvSpPr>
          <p:spPr bwMode="auto">
            <a:xfrm>
              <a:off x="838200" y="4802188"/>
              <a:ext cx="1806575" cy="137001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p>
              <a:pPr>
                <a:spcBef>
                  <a:spcPct val="50000"/>
                </a:spcBef>
              </a:pPr>
              <a:r>
                <a:rPr lang="en-US">
                  <a:latin typeface="Arial" charset="0"/>
                </a:rPr>
                <a:t>Localist</a:t>
              </a:r>
            </a:p>
            <a:p>
              <a:pPr>
                <a:spcBef>
                  <a:spcPct val="50000"/>
                </a:spcBef>
              </a:pPr>
              <a:r>
                <a:rPr lang="en-US" b="0">
                  <a:latin typeface="Arial" charset="0"/>
                </a:rPr>
                <a:t>One node per concept</a:t>
              </a:r>
              <a:endParaRPr lang="en-US">
                <a:latin typeface="Arial" charset="0"/>
              </a:endParaRPr>
            </a:p>
          </p:txBody>
        </p:sp>
      </p:grpSp>
      <p:grpSp>
        <p:nvGrpSpPr>
          <p:cNvPr id="2" name="Group 1"/>
          <p:cNvGrpSpPr/>
          <p:nvPr/>
        </p:nvGrpSpPr>
        <p:grpSpPr>
          <a:xfrm>
            <a:off x="601663" y="1330672"/>
            <a:ext cx="2139950" cy="5186362"/>
            <a:chOff x="3727450" y="1366838"/>
            <a:chExt cx="2139950" cy="5186362"/>
          </a:xfrm>
        </p:grpSpPr>
        <p:sp>
          <p:nvSpPr>
            <p:cNvPr id="799750" name="Oval 6"/>
            <p:cNvSpPr>
              <a:spLocks noChangeArrowheads="1"/>
            </p:cNvSpPr>
            <p:nvPr/>
          </p:nvSpPr>
          <p:spPr bwMode="auto">
            <a:xfrm>
              <a:off x="3733800" y="1920875"/>
              <a:ext cx="838200" cy="838200"/>
            </a:xfrm>
            <a:prstGeom prst="ellipse">
              <a:avLst/>
            </a:prstGeom>
            <a:solidFill>
              <a:srgbClr val="E32F4F"/>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51" name="Oval 7"/>
            <p:cNvSpPr>
              <a:spLocks noChangeArrowheads="1"/>
            </p:cNvSpPr>
            <p:nvPr/>
          </p:nvSpPr>
          <p:spPr bwMode="auto">
            <a:xfrm>
              <a:off x="4953000" y="1920875"/>
              <a:ext cx="838200" cy="838200"/>
            </a:xfrm>
            <a:prstGeom prst="ellipse">
              <a:avLst/>
            </a:prstGeom>
            <a:solidFill>
              <a:srgbClr val="E32F4F"/>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54" name="Oval 10"/>
            <p:cNvSpPr>
              <a:spLocks noChangeArrowheads="1"/>
            </p:cNvSpPr>
            <p:nvPr/>
          </p:nvSpPr>
          <p:spPr bwMode="auto">
            <a:xfrm>
              <a:off x="3727450" y="3810000"/>
              <a:ext cx="838200" cy="838200"/>
            </a:xfrm>
            <a:prstGeom prst="ellipse">
              <a:avLst/>
            </a:prstGeom>
            <a:solidFill>
              <a:srgbClr val="E32F4F"/>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55" name="Oval 11"/>
            <p:cNvSpPr>
              <a:spLocks noChangeArrowheads="1"/>
            </p:cNvSpPr>
            <p:nvPr/>
          </p:nvSpPr>
          <p:spPr bwMode="auto">
            <a:xfrm>
              <a:off x="4946650" y="3810000"/>
              <a:ext cx="838200" cy="838200"/>
            </a:xfrm>
            <a:prstGeom prst="ellipse">
              <a:avLst/>
            </a:prstGeom>
            <a:solidFill>
              <a:srgbClr val="FF69A1"/>
            </a:solidFill>
            <a:ln w="2857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9770" name="Text Box 26"/>
            <p:cNvSpPr txBox="1">
              <a:spLocks noChangeArrowheads="1"/>
            </p:cNvSpPr>
            <p:nvPr/>
          </p:nvSpPr>
          <p:spPr bwMode="auto">
            <a:xfrm>
              <a:off x="4403725" y="1366838"/>
              <a:ext cx="69215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none">
              <a:spAutoFit/>
            </a:bodyPr>
            <a:lstStyle/>
            <a:p>
              <a:r>
                <a:rPr lang="en-US" b="0">
                  <a:latin typeface="Arial" charset="0"/>
                </a:rPr>
                <a:t>dog</a:t>
              </a:r>
            </a:p>
          </p:txBody>
        </p:sp>
        <p:sp>
          <p:nvSpPr>
            <p:cNvPr id="799771" name="Text Box 27"/>
            <p:cNvSpPr txBox="1">
              <a:spLocks noChangeArrowheads="1"/>
            </p:cNvSpPr>
            <p:nvPr/>
          </p:nvSpPr>
          <p:spPr bwMode="auto">
            <a:xfrm>
              <a:off x="4343400" y="3276600"/>
              <a:ext cx="8382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p>
              <a:r>
                <a:rPr lang="en-US" b="0">
                  <a:latin typeface="Arial" charset="0"/>
                </a:rPr>
                <a:t>cat</a:t>
              </a:r>
            </a:p>
          </p:txBody>
        </p:sp>
        <p:sp>
          <p:nvSpPr>
            <p:cNvPr id="799773" name="Text Box 29"/>
            <p:cNvSpPr txBox="1">
              <a:spLocks noChangeArrowheads="1"/>
            </p:cNvSpPr>
            <p:nvPr/>
          </p:nvSpPr>
          <p:spPr bwMode="auto">
            <a:xfrm>
              <a:off x="3733800" y="4818063"/>
              <a:ext cx="2133600" cy="17351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spAutoFit/>
            </a:bodyPr>
            <a:lstStyle/>
            <a:p>
              <a:pPr>
                <a:spcBef>
                  <a:spcPct val="50000"/>
                </a:spcBef>
              </a:pPr>
              <a:r>
                <a:rPr lang="en-US">
                  <a:latin typeface="Arial" charset="0"/>
                </a:rPr>
                <a:t>Distributed</a:t>
              </a:r>
            </a:p>
            <a:p>
              <a:pPr>
                <a:spcBef>
                  <a:spcPct val="50000"/>
                </a:spcBef>
              </a:pPr>
              <a:r>
                <a:rPr lang="en-US" b="0">
                  <a:latin typeface="Arial" charset="0"/>
                </a:rPr>
                <a:t>One pattern of activation per concept</a:t>
              </a:r>
              <a:endParaRPr lang="en-US">
                <a:latin typeface="Arial" charset="0"/>
              </a:endParaRPr>
            </a:p>
          </p:txBody>
        </p:sp>
      </p:grpSp>
      <p:sp>
        <p:nvSpPr>
          <p:cNvPr id="4" name="TextBox 3"/>
          <p:cNvSpPr txBox="1"/>
          <p:nvPr/>
        </p:nvSpPr>
        <p:spPr>
          <a:xfrm>
            <a:off x="4734754" y="3251200"/>
            <a:ext cx="1002632" cy="646331"/>
          </a:xfrm>
          <a:prstGeom prst="rect">
            <a:avLst/>
          </a:prstGeom>
          <a:noFill/>
        </p:spPr>
        <p:txBody>
          <a:bodyPr wrap="square" rtlCol="0">
            <a:spAutoFit/>
          </a:bodyPr>
          <a:lstStyle/>
          <a:p>
            <a:r>
              <a:rPr lang="en-US" dirty="0"/>
              <a:t>body</a:t>
            </a:r>
          </a:p>
          <a:p>
            <a:r>
              <a:rPr lang="en-US" dirty="0"/>
              <a:t>length</a:t>
            </a:r>
          </a:p>
        </p:txBody>
      </p:sp>
      <p:sp>
        <p:nvSpPr>
          <p:cNvPr id="23" name="TextBox 22"/>
          <p:cNvSpPr txBox="1"/>
          <p:nvPr/>
        </p:nvSpPr>
        <p:spPr>
          <a:xfrm>
            <a:off x="3959381" y="2435909"/>
            <a:ext cx="1002632" cy="646331"/>
          </a:xfrm>
          <a:prstGeom prst="rect">
            <a:avLst/>
          </a:prstGeom>
          <a:noFill/>
        </p:spPr>
        <p:txBody>
          <a:bodyPr wrap="square" rtlCol="0">
            <a:spAutoFit/>
          </a:bodyPr>
          <a:lstStyle/>
          <a:p>
            <a:r>
              <a:rPr lang="en-US" dirty="0"/>
              <a:t>Snout-size</a:t>
            </a:r>
          </a:p>
        </p:txBody>
      </p:sp>
    </p:spTree>
    <p:extLst>
      <p:ext uri="{BB962C8B-B14F-4D97-AF65-F5344CB8AC3E}">
        <p14:creationId xmlns:p14="http://schemas.microsoft.com/office/powerpoint/2010/main" val="110537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8FF4F-1D1B-EDD4-8BDA-6C0AF356DD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3949F5-C2E4-ECD6-E9B3-1BBAA6EDE9FB}"/>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Connectionism and neural network basics</a:t>
            </a:r>
          </a:p>
          <a:p>
            <a:r>
              <a:rPr lang="en-US" dirty="0"/>
              <a:t>Linear neural networks</a:t>
            </a:r>
          </a:p>
          <a:p>
            <a:r>
              <a:rPr lang="en-US" dirty="0"/>
              <a:t>Nonlinearity and Backpropagation</a:t>
            </a:r>
          </a:p>
          <a:p>
            <a:r>
              <a:rPr lang="en-US" dirty="0"/>
              <a:t>Convolutional and Recurrent neural networks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Lake et al 2015 by </a:t>
            </a:r>
            <a:r>
              <a:rPr lang="en-US" dirty="0" err="1"/>
              <a:t>Ruijia</a:t>
            </a:r>
            <a:endParaRPr lang="en-US" dirty="0"/>
          </a:p>
          <a:p>
            <a:pPr marL="914400" lvl="1" indent="-514350" defTabSz="914400">
              <a:spcBef>
                <a:spcPts val="0"/>
              </a:spcBef>
              <a:buFont typeface="+mj-lt"/>
              <a:buAutoNum type="arabicPeriod"/>
              <a:defRPr/>
            </a:pPr>
            <a:r>
              <a:rPr lang="en-US" dirty="0" err="1"/>
              <a:t>Linzen</a:t>
            </a:r>
            <a:r>
              <a:rPr lang="en-US" dirty="0"/>
              <a:t> et al by Elijah</a:t>
            </a:r>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Schulz </a:t>
            </a:r>
            <a:r>
              <a:rPr lang="en-US" dirty="0" err="1"/>
              <a:t>Buschoff</a:t>
            </a:r>
            <a:r>
              <a:rPr lang="en-US" dirty="0"/>
              <a:t> et al by </a:t>
            </a:r>
            <a:r>
              <a:rPr lang="en-US" dirty="0" err="1"/>
              <a:t>Khailanii</a:t>
            </a:r>
            <a:endParaRPr lang="en-US" dirty="0"/>
          </a:p>
        </p:txBody>
      </p:sp>
    </p:spTree>
    <p:extLst>
      <p:ext uri="{BB962C8B-B14F-4D97-AF65-F5344CB8AC3E}">
        <p14:creationId xmlns:p14="http://schemas.microsoft.com/office/powerpoint/2010/main" val="2278691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685800" y="381000"/>
            <a:ext cx="7772400" cy="1143000"/>
          </a:xfrm>
        </p:spPr>
        <p:txBody>
          <a:bodyPr/>
          <a:lstStyle/>
          <a:p>
            <a:r>
              <a:rPr lang="en-US" altLang="x-none"/>
              <a:t>Perceptrons</a:t>
            </a:r>
          </a:p>
        </p:txBody>
      </p:sp>
      <p:sp>
        <p:nvSpPr>
          <p:cNvPr id="408579" name="Rectangle 3"/>
          <p:cNvSpPr>
            <a:spLocks noGrp="1" noChangeArrowheads="1"/>
          </p:cNvSpPr>
          <p:nvPr>
            <p:ph type="body" idx="1"/>
          </p:nvPr>
        </p:nvSpPr>
        <p:spPr>
          <a:xfrm>
            <a:off x="152400" y="1371600"/>
            <a:ext cx="8915400" cy="4114800"/>
          </a:xfrm>
        </p:spPr>
        <p:txBody>
          <a:bodyPr/>
          <a:lstStyle/>
          <a:p>
            <a:endParaRPr lang="en-US" altLang="x-none" dirty="0"/>
          </a:p>
          <a:p>
            <a:endParaRPr lang="en-US" altLang="x-none" dirty="0"/>
          </a:p>
        </p:txBody>
      </p:sp>
      <p:grpSp>
        <p:nvGrpSpPr>
          <p:cNvPr id="408581" name="Group 5"/>
          <p:cNvGrpSpPr>
            <a:grpSpLocks/>
          </p:cNvGrpSpPr>
          <p:nvPr/>
        </p:nvGrpSpPr>
        <p:grpSpPr bwMode="auto">
          <a:xfrm>
            <a:off x="476251" y="2086302"/>
            <a:ext cx="3028951" cy="4003676"/>
            <a:chOff x="317" y="1734"/>
            <a:chExt cx="1908" cy="2522"/>
          </a:xfrm>
        </p:grpSpPr>
        <p:sp>
          <p:nvSpPr>
            <p:cNvPr id="408582" name="Oval 6"/>
            <p:cNvSpPr>
              <a:spLocks noChangeArrowheads="1"/>
            </p:cNvSpPr>
            <p:nvPr/>
          </p:nvSpPr>
          <p:spPr bwMode="auto">
            <a:xfrm>
              <a:off x="964" y="21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8583" name="Oval 7"/>
            <p:cNvSpPr>
              <a:spLocks noChangeArrowheads="1"/>
            </p:cNvSpPr>
            <p:nvPr/>
          </p:nvSpPr>
          <p:spPr bwMode="auto">
            <a:xfrm>
              <a:off x="632" y="33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8584" name="Oval 8"/>
            <p:cNvSpPr>
              <a:spLocks noChangeArrowheads="1"/>
            </p:cNvSpPr>
            <p:nvPr/>
          </p:nvSpPr>
          <p:spPr bwMode="auto">
            <a:xfrm>
              <a:off x="1400" y="33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8585" name="Line 9"/>
            <p:cNvSpPr>
              <a:spLocks noChangeShapeType="1"/>
            </p:cNvSpPr>
            <p:nvPr/>
          </p:nvSpPr>
          <p:spPr bwMode="auto">
            <a:xfrm flipH="1">
              <a:off x="964" y="2650"/>
              <a:ext cx="192" cy="67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8586" name="Line 10"/>
            <p:cNvSpPr>
              <a:spLocks noChangeShapeType="1"/>
            </p:cNvSpPr>
            <p:nvPr/>
          </p:nvSpPr>
          <p:spPr bwMode="auto">
            <a:xfrm flipH="1" flipV="1">
              <a:off x="1348" y="2650"/>
              <a:ext cx="24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8587" name="Text Box 11"/>
            <p:cNvSpPr txBox="1">
              <a:spLocks noChangeArrowheads="1"/>
            </p:cNvSpPr>
            <p:nvPr/>
          </p:nvSpPr>
          <p:spPr bwMode="auto">
            <a:xfrm>
              <a:off x="484" y="3360"/>
              <a:ext cx="6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08588" name="Text Box 12"/>
            <p:cNvSpPr txBox="1">
              <a:spLocks noChangeArrowheads="1"/>
            </p:cNvSpPr>
            <p:nvPr/>
          </p:nvSpPr>
          <p:spPr bwMode="auto">
            <a:xfrm>
              <a:off x="1252" y="3360"/>
              <a:ext cx="6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08589" name="Text Box 13"/>
            <p:cNvSpPr txBox="1">
              <a:spLocks noChangeArrowheads="1"/>
            </p:cNvSpPr>
            <p:nvPr/>
          </p:nvSpPr>
          <p:spPr bwMode="auto">
            <a:xfrm>
              <a:off x="816" y="2122"/>
              <a:ext cx="53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408590" name="Text Box 14"/>
            <p:cNvSpPr txBox="1">
              <a:spLocks noChangeArrowheads="1"/>
            </p:cNvSpPr>
            <p:nvPr/>
          </p:nvSpPr>
          <p:spPr bwMode="auto">
            <a:xfrm>
              <a:off x="317" y="3926"/>
              <a:ext cx="190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perceptual features</a:t>
              </a:r>
            </a:p>
          </p:txBody>
        </p:sp>
        <p:sp>
          <p:nvSpPr>
            <p:cNvPr id="408591" name="Text Box 15"/>
            <p:cNvSpPr txBox="1">
              <a:spLocks noChangeArrowheads="1"/>
            </p:cNvSpPr>
            <p:nvPr/>
          </p:nvSpPr>
          <p:spPr bwMode="auto">
            <a:xfrm>
              <a:off x="388" y="1734"/>
              <a:ext cx="169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+1 = cat, -1 = dog</a:t>
              </a:r>
            </a:p>
          </p:txBody>
        </p:sp>
      </p:grpSp>
      <p:sp>
        <p:nvSpPr>
          <p:cNvPr id="408615" name="Rectangle 39"/>
          <p:cNvSpPr>
            <a:spLocks noChangeArrowheads="1"/>
          </p:cNvSpPr>
          <p:nvPr/>
        </p:nvSpPr>
        <p:spPr bwMode="auto">
          <a:xfrm>
            <a:off x="3810000" y="1676400"/>
            <a:ext cx="5105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buChar char="•"/>
              <a:defRPr sz="3200">
                <a:solidFill>
                  <a:schemeClr val="tx1"/>
                </a:solidFill>
                <a:latin typeface="Arial" charset="0"/>
                <a:ea typeface="ＭＳ Ｐゴシック" charset="-128"/>
              </a:defRPr>
            </a:lvl1pPr>
            <a:lvl2pPr marL="742950" indent="-285750">
              <a:defRPr sz="2800">
                <a:solidFill>
                  <a:schemeClr val="tx1"/>
                </a:solidFill>
                <a:latin typeface="Arial" charset="0"/>
                <a:ea typeface="ＭＳ Ｐゴシック" charset="-128"/>
              </a:defRPr>
            </a:lvl2pPr>
            <a:lvl3pPr marL="1143000" indent="-228600">
              <a:buChar char="•"/>
              <a:defRPr sz="2400">
                <a:solidFill>
                  <a:schemeClr val="tx1"/>
                </a:solidFill>
                <a:latin typeface="Arial" charset="0"/>
                <a:ea typeface="ＭＳ Ｐゴシック" charset="-128"/>
              </a:defRPr>
            </a:lvl3pPr>
            <a:lvl4pPr marL="1600200" indent="-228600">
              <a:defRPr sz="2000">
                <a:solidFill>
                  <a:schemeClr val="tx1"/>
                </a:solidFill>
                <a:latin typeface="Arial" charset="0"/>
                <a:ea typeface="ＭＳ Ｐゴシック" charset="-128"/>
              </a:defRPr>
            </a:lvl4pPr>
            <a:lvl5pPr marL="2057400" indent="-228600">
              <a:buChar char="»"/>
              <a:defRPr sz="2000">
                <a:solidFill>
                  <a:schemeClr val="tx1"/>
                </a:solidFill>
                <a:latin typeface="Arial" charset="0"/>
                <a:ea typeface="ＭＳ Ｐゴシック" charset="-128"/>
              </a:defRPr>
            </a:lvl5pPr>
            <a:lvl6pPr marL="2514600" indent="-228600" fontAlgn="base">
              <a:spcBef>
                <a:spcPct val="20000"/>
              </a:spcBef>
              <a:spcAft>
                <a:spcPct val="0"/>
              </a:spcAft>
              <a:buChar char="»"/>
              <a:defRPr sz="2000">
                <a:solidFill>
                  <a:schemeClr val="tx1"/>
                </a:solidFill>
                <a:latin typeface="Arial" charset="0"/>
                <a:ea typeface="ＭＳ Ｐゴシック" charset="-128"/>
              </a:defRPr>
            </a:lvl6pPr>
            <a:lvl7pPr marL="2971800" indent="-228600" fontAlgn="base">
              <a:spcBef>
                <a:spcPct val="20000"/>
              </a:spcBef>
              <a:spcAft>
                <a:spcPct val="0"/>
              </a:spcAft>
              <a:buChar char="»"/>
              <a:defRPr sz="2000">
                <a:solidFill>
                  <a:schemeClr val="tx1"/>
                </a:solidFill>
                <a:latin typeface="Arial" charset="0"/>
                <a:ea typeface="ＭＳ Ｐゴシック" charset="-128"/>
              </a:defRPr>
            </a:lvl7pPr>
            <a:lvl8pPr marL="3429000" indent="-228600" fontAlgn="base">
              <a:spcBef>
                <a:spcPct val="20000"/>
              </a:spcBef>
              <a:spcAft>
                <a:spcPct val="0"/>
              </a:spcAft>
              <a:buChar char="»"/>
              <a:defRPr sz="2000">
                <a:solidFill>
                  <a:schemeClr val="tx1"/>
                </a:solidFill>
                <a:latin typeface="Arial" charset="0"/>
                <a:ea typeface="ＭＳ Ｐゴシック" charset="-128"/>
              </a:defRPr>
            </a:lvl8pPr>
            <a:lvl9pPr marL="3886200" indent="-228600" fontAlgn="base">
              <a:spcBef>
                <a:spcPct val="20000"/>
              </a:spcBef>
              <a:spcAft>
                <a:spcPct val="0"/>
              </a:spcAft>
              <a:buChar char="»"/>
              <a:defRPr sz="2000">
                <a:solidFill>
                  <a:schemeClr val="tx1"/>
                </a:solidFill>
                <a:latin typeface="Arial" charset="0"/>
                <a:ea typeface="ＭＳ Ｐゴシック" charset="-128"/>
              </a:defRPr>
            </a:lvl9pPr>
          </a:lstStyle>
          <a:p>
            <a:pPr marL="0" indent="0" algn="ctr">
              <a:buNone/>
            </a:pPr>
            <a:endParaRPr lang="en-US" altLang="x-none" dirty="0"/>
          </a:p>
          <a:p>
            <a:pPr marL="0" indent="0">
              <a:buNone/>
            </a:pPr>
            <a:r>
              <a:rPr lang="en-US" altLang="x-none" dirty="0"/>
              <a:t>The simplest kind of “feed forward” neural network</a:t>
            </a:r>
          </a:p>
          <a:p>
            <a:pPr marL="0" indent="0">
              <a:buNone/>
            </a:pPr>
            <a:endParaRPr lang="en-US" altLang="x-none" dirty="0"/>
          </a:p>
          <a:p>
            <a:pPr marL="0" indent="0">
              <a:buNone/>
            </a:pPr>
            <a:endParaRPr lang="en-US" altLang="x-none" dirty="0"/>
          </a:p>
          <a:p>
            <a:pPr marL="0" indent="0">
              <a:buNone/>
            </a:pPr>
            <a:r>
              <a:rPr lang="en-US" altLang="x-none" dirty="0"/>
              <a:t>Originally introduced by Frank Rosenblatt (1958)</a:t>
            </a:r>
          </a:p>
          <a:p>
            <a:pPr marL="0" indent="0">
              <a:buNone/>
            </a:pPr>
            <a:endParaRPr lang="en-US" altLang="x-none" dirty="0"/>
          </a:p>
        </p:txBody>
      </p:sp>
    </p:spTree>
    <p:extLst>
      <p:ext uri="{BB962C8B-B14F-4D97-AF65-F5344CB8AC3E}">
        <p14:creationId xmlns:p14="http://schemas.microsoft.com/office/powerpoint/2010/main" val="858149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p:cNvSpPr>
            <a:spLocks noGrp="1" noChangeArrowheads="1"/>
          </p:cNvSpPr>
          <p:nvPr>
            <p:ph type="body" idx="1"/>
          </p:nvPr>
        </p:nvSpPr>
        <p:spPr>
          <a:xfrm>
            <a:off x="152400" y="1371600"/>
            <a:ext cx="8915400" cy="4114800"/>
          </a:xfrm>
        </p:spPr>
        <p:txBody>
          <a:bodyPr/>
          <a:lstStyle/>
          <a:p>
            <a:endParaRPr lang="en-US" altLang="x-none" dirty="0"/>
          </a:p>
          <a:p>
            <a:endParaRPr lang="en-US" altLang="x-none" dirty="0"/>
          </a:p>
        </p:txBody>
      </p:sp>
      <p:sp>
        <p:nvSpPr>
          <p:cNvPr id="410626" name="Rectangle 2"/>
          <p:cNvSpPr>
            <a:spLocks noGrp="1" noChangeArrowheads="1"/>
          </p:cNvSpPr>
          <p:nvPr>
            <p:ph type="title"/>
          </p:nvPr>
        </p:nvSpPr>
        <p:spPr>
          <a:xfrm>
            <a:off x="685800" y="319008"/>
            <a:ext cx="7772400" cy="742951"/>
          </a:xfrm>
        </p:spPr>
        <p:txBody>
          <a:bodyPr>
            <a:normAutofit fontScale="90000"/>
          </a:bodyPr>
          <a:lstStyle/>
          <a:p>
            <a:r>
              <a:rPr lang="en-US" altLang="x-none" dirty="0"/>
              <a:t>A linear classifier</a:t>
            </a:r>
          </a:p>
        </p:txBody>
      </p:sp>
      <p:grpSp>
        <p:nvGrpSpPr>
          <p:cNvPr id="410629" name="Group 5"/>
          <p:cNvGrpSpPr>
            <a:grpSpLocks/>
          </p:cNvGrpSpPr>
          <p:nvPr/>
        </p:nvGrpSpPr>
        <p:grpSpPr bwMode="auto">
          <a:xfrm>
            <a:off x="428626" y="2863850"/>
            <a:ext cx="3028951" cy="3892551"/>
            <a:chOff x="287" y="1804"/>
            <a:chExt cx="1908" cy="2452"/>
          </a:xfrm>
        </p:grpSpPr>
        <p:sp>
          <p:nvSpPr>
            <p:cNvPr id="410630" name="Oval 6"/>
            <p:cNvSpPr>
              <a:spLocks noChangeArrowheads="1"/>
            </p:cNvSpPr>
            <p:nvPr/>
          </p:nvSpPr>
          <p:spPr bwMode="auto">
            <a:xfrm>
              <a:off x="964" y="21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31" name="Oval 7"/>
            <p:cNvSpPr>
              <a:spLocks noChangeArrowheads="1"/>
            </p:cNvSpPr>
            <p:nvPr/>
          </p:nvSpPr>
          <p:spPr bwMode="auto">
            <a:xfrm>
              <a:off x="632" y="33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32" name="Oval 8"/>
            <p:cNvSpPr>
              <a:spLocks noChangeArrowheads="1"/>
            </p:cNvSpPr>
            <p:nvPr/>
          </p:nvSpPr>
          <p:spPr bwMode="auto">
            <a:xfrm>
              <a:off x="1400" y="33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33" name="Line 9"/>
            <p:cNvSpPr>
              <a:spLocks noChangeShapeType="1"/>
            </p:cNvSpPr>
            <p:nvPr/>
          </p:nvSpPr>
          <p:spPr bwMode="auto">
            <a:xfrm flipH="1">
              <a:off x="964" y="2650"/>
              <a:ext cx="192" cy="67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34" name="Line 10"/>
            <p:cNvSpPr>
              <a:spLocks noChangeShapeType="1"/>
            </p:cNvSpPr>
            <p:nvPr/>
          </p:nvSpPr>
          <p:spPr bwMode="auto">
            <a:xfrm flipH="1" flipV="1">
              <a:off x="1348" y="2650"/>
              <a:ext cx="24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35" name="Text Box 11"/>
            <p:cNvSpPr txBox="1">
              <a:spLocks noChangeArrowheads="1"/>
            </p:cNvSpPr>
            <p:nvPr/>
          </p:nvSpPr>
          <p:spPr bwMode="auto">
            <a:xfrm>
              <a:off x="484" y="3360"/>
              <a:ext cx="6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10636" name="Text Box 12"/>
            <p:cNvSpPr txBox="1">
              <a:spLocks noChangeArrowheads="1"/>
            </p:cNvSpPr>
            <p:nvPr/>
          </p:nvSpPr>
          <p:spPr bwMode="auto">
            <a:xfrm>
              <a:off x="1252" y="3360"/>
              <a:ext cx="6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10637" name="Text Box 13"/>
            <p:cNvSpPr txBox="1">
              <a:spLocks noChangeArrowheads="1"/>
            </p:cNvSpPr>
            <p:nvPr/>
          </p:nvSpPr>
          <p:spPr bwMode="auto">
            <a:xfrm>
              <a:off x="816" y="2122"/>
              <a:ext cx="53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410638" name="Text Box 14"/>
            <p:cNvSpPr txBox="1">
              <a:spLocks noChangeArrowheads="1"/>
            </p:cNvSpPr>
            <p:nvPr/>
          </p:nvSpPr>
          <p:spPr bwMode="auto">
            <a:xfrm>
              <a:off x="287" y="3926"/>
              <a:ext cx="190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perceptual features</a:t>
              </a:r>
            </a:p>
          </p:txBody>
        </p:sp>
        <p:sp>
          <p:nvSpPr>
            <p:cNvPr id="410639" name="Text Box 15"/>
            <p:cNvSpPr txBox="1">
              <a:spLocks noChangeArrowheads="1"/>
            </p:cNvSpPr>
            <p:nvPr/>
          </p:nvSpPr>
          <p:spPr bwMode="auto">
            <a:xfrm>
              <a:off x="388" y="1804"/>
              <a:ext cx="169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+1 = cat, -1 = dog</a:t>
              </a:r>
            </a:p>
          </p:txBody>
        </p:sp>
      </p:grpSp>
      <p:grpSp>
        <p:nvGrpSpPr>
          <p:cNvPr id="410640" name="Group 16"/>
          <p:cNvGrpSpPr>
            <a:grpSpLocks/>
          </p:cNvGrpSpPr>
          <p:nvPr/>
        </p:nvGrpSpPr>
        <p:grpSpPr bwMode="auto">
          <a:xfrm>
            <a:off x="3733800" y="3549652"/>
            <a:ext cx="5029200" cy="2851152"/>
            <a:chOff x="2352" y="2236"/>
            <a:chExt cx="3168" cy="1796"/>
          </a:xfrm>
        </p:grpSpPr>
        <p:sp>
          <p:nvSpPr>
            <p:cNvPr id="410641" name="Line 17"/>
            <p:cNvSpPr>
              <a:spLocks noChangeShapeType="1"/>
            </p:cNvSpPr>
            <p:nvPr/>
          </p:nvSpPr>
          <p:spPr bwMode="auto">
            <a:xfrm>
              <a:off x="3024" y="2928"/>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42" name="Line 18"/>
            <p:cNvSpPr>
              <a:spLocks noChangeShapeType="1"/>
            </p:cNvSpPr>
            <p:nvPr/>
          </p:nvSpPr>
          <p:spPr bwMode="auto">
            <a:xfrm flipH="1" flipV="1">
              <a:off x="2352" y="2544"/>
              <a:ext cx="24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43" name="Line 19"/>
            <p:cNvSpPr>
              <a:spLocks noChangeShapeType="1"/>
            </p:cNvSpPr>
            <p:nvPr/>
          </p:nvSpPr>
          <p:spPr bwMode="auto">
            <a:xfrm flipH="1">
              <a:off x="2400" y="3456"/>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44" name="Text Box 20"/>
            <p:cNvSpPr txBox="1">
              <a:spLocks noChangeArrowheads="1"/>
            </p:cNvSpPr>
            <p:nvPr/>
          </p:nvSpPr>
          <p:spPr bwMode="auto">
            <a:xfrm>
              <a:off x="3409" y="3446"/>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sp>
          <p:nvSpPr>
            <p:cNvPr id="410645" name="Text Box 21"/>
            <p:cNvSpPr txBox="1">
              <a:spLocks noChangeArrowheads="1"/>
            </p:cNvSpPr>
            <p:nvPr/>
          </p:nvSpPr>
          <p:spPr bwMode="auto">
            <a:xfrm>
              <a:off x="2736" y="2832"/>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sp>
          <p:nvSpPr>
            <p:cNvPr id="410646" name="Text Box 22"/>
            <p:cNvSpPr txBox="1">
              <a:spLocks noChangeArrowheads="1"/>
            </p:cNvSpPr>
            <p:nvPr/>
          </p:nvSpPr>
          <p:spPr bwMode="auto">
            <a:xfrm>
              <a:off x="4608" y="2534"/>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y</a:t>
              </a:r>
              <a:endParaRPr lang="en-US" altLang="x-none" sz="2000"/>
            </a:p>
          </p:txBody>
        </p:sp>
        <p:sp>
          <p:nvSpPr>
            <p:cNvPr id="410647" name="Line 23"/>
            <p:cNvSpPr>
              <a:spLocks noChangeShapeType="1"/>
            </p:cNvSpPr>
            <p:nvPr/>
          </p:nvSpPr>
          <p:spPr bwMode="auto">
            <a:xfrm>
              <a:off x="3504" y="249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48" name="AutoShape 24"/>
            <p:cNvSpPr>
              <a:spLocks noChangeArrowheads="1"/>
            </p:cNvSpPr>
            <p:nvPr/>
          </p:nvSpPr>
          <p:spPr bwMode="auto">
            <a:xfrm rot="5400000" flipH="1">
              <a:off x="3768" y="2760"/>
              <a:ext cx="768" cy="816"/>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49" name="Line 25"/>
            <p:cNvSpPr>
              <a:spLocks noChangeShapeType="1"/>
            </p:cNvSpPr>
            <p:nvPr/>
          </p:nvSpPr>
          <p:spPr bwMode="auto">
            <a:xfrm>
              <a:off x="2976" y="249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50" name="Line 26"/>
            <p:cNvSpPr>
              <a:spLocks noChangeShapeType="1"/>
            </p:cNvSpPr>
            <p:nvPr/>
          </p:nvSpPr>
          <p:spPr bwMode="auto">
            <a:xfrm>
              <a:off x="4128" y="249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51" name="Text Box 27"/>
            <p:cNvSpPr txBox="1">
              <a:spLocks noChangeArrowheads="1"/>
            </p:cNvSpPr>
            <p:nvPr/>
          </p:nvSpPr>
          <p:spPr bwMode="auto">
            <a:xfrm>
              <a:off x="2756" y="2245"/>
              <a:ext cx="4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t>dog</a:t>
              </a:r>
            </a:p>
          </p:txBody>
        </p:sp>
        <p:sp>
          <p:nvSpPr>
            <p:cNvPr id="410652" name="Text Box 28"/>
            <p:cNvSpPr txBox="1">
              <a:spLocks noChangeArrowheads="1"/>
            </p:cNvSpPr>
            <p:nvPr/>
          </p:nvSpPr>
          <p:spPr bwMode="auto">
            <a:xfrm>
              <a:off x="3942" y="2236"/>
              <a:ext cx="3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a:t>cat</a:t>
              </a:r>
            </a:p>
          </p:txBody>
        </p:sp>
        <p:graphicFrame>
          <p:nvGraphicFramePr>
            <p:cNvPr id="410653" name="Object 29"/>
            <p:cNvGraphicFramePr>
              <a:graphicFrameLocks noChangeAspect="1"/>
            </p:cNvGraphicFramePr>
            <p:nvPr/>
          </p:nvGraphicFramePr>
          <p:xfrm>
            <a:off x="4244" y="3504"/>
            <a:ext cx="1276" cy="306"/>
          </p:xfrm>
          <a:graphic>
            <a:graphicData uri="http://schemas.openxmlformats.org/presentationml/2006/ole">
              <mc:AlternateContent xmlns:mc="http://schemas.openxmlformats.org/markup-compatibility/2006">
                <mc:Choice xmlns:v="urn:schemas-microsoft-com:vml" Requires="v">
                  <p:oleObj name="Equation" r:id="rId3" imgW="685800" imgH="165100" progId="Equation.3">
                    <p:embed/>
                  </p:oleObj>
                </mc:Choice>
                <mc:Fallback>
                  <p:oleObj name="Equation" r:id="rId3" imgW="685800" imgH="165100" progId="Equation.3">
                    <p:embed/>
                    <p:pic>
                      <p:nvPicPr>
                        <p:cNvPr id="410653"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 y="3504"/>
                          <a:ext cx="1276"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410654" name="Oval 30"/>
          <p:cNvSpPr>
            <a:spLocks noChangeArrowheads="1"/>
          </p:cNvSpPr>
          <p:nvPr/>
        </p:nvSpPr>
        <p:spPr bwMode="auto">
          <a:xfrm>
            <a:off x="6477000" y="3962400"/>
            <a:ext cx="152400" cy="152400"/>
          </a:xfrm>
          <a:prstGeom prst="ellipse">
            <a:avLst/>
          </a:prstGeom>
          <a:solidFill>
            <a:srgbClr val="FF0300"/>
          </a:solidFill>
          <a:ln w="9525">
            <a:solidFill>
              <a:srgbClr val="FF0300"/>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55" name="Oval 31"/>
          <p:cNvSpPr>
            <a:spLocks noChangeArrowheads="1"/>
          </p:cNvSpPr>
          <p:nvPr/>
        </p:nvSpPr>
        <p:spPr bwMode="auto">
          <a:xfrm>
            <a:off x="5257800" y="39624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pic>
        <p:nvPicPr>
          <p:cNvPr id="410656"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5562600"/>
            <a:ext cx="647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410657" name="Group 33"/>
          <p:cNvGrpSpPr>
            <a:grpSpLocks/>
          </p:cNvGrpSpPr>
          <p:nvPr/>
        </p:nvGrpSpPr>
        <p:grpSpPr bwMode="auto">
          <a:xfrm>
            <a:off x="3886200" y="4876800"/>
            <a:ext cx="1371600" cy="1524000"/>
            <a:chOff x="2400" y="3120"/>
            <a:chExt cx="864" cy="960"/>
          </a:xfrm>
        </p:grpSpPr>
        <p:sp>
          <p:nvSpPr>
            <p:cNvPr id="410658" name="Line 34"/>
            <p:cNvSpPr>
              <a:spLocks noChangeShapeType="1"/>
            </p:cNvSpPr>
            <p:nvPr/>
          </p:nvSpPr>
          <p:spPr bwMode="auto">
            <a:xfrm>
              <a:off x="2400" y="3120"/>
              <a:ext cx="86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0659" name="Line 35"/>
            <p:cNvSpPr>
              <a:spLocks noChangeShapeType="1"/>
            </p:cNvSpPr>
            <p:nvPr/>
          </p:nvSpPr>
          <p:spPr bwMode="auto">
            <a:xfrm flipV="1">
              <a:off x="3168" y="3888"/>
              <a:ext cx="9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410668" name="Group 44"/>
          <p:cNvGrpSpPr>
            <a:grpSpLocks/>
          </p:cNvGrpSpPr>
          <p:nvPr/>
        </p:nvGrpSpPr>
        <p:grpSpPr bwMode="auto">
          <a:xfrm>
            <a:off x="228601" y="1524000"/>
            <a:ext cx="8686800" cy="4168775"/>
            <a:chOff x="144" y="960"/>
            <a:chExt cx="5472" cy="2626"/>
          </a:xfrm>
        </p:grpSpPr>
        <p:graphicFrame>
          <p:nvGraphicFramePr>
            <p:cNvPr id="410664" name="Object 40"/>
            <p:cNvGraphicFramePr>
              <a:graphicFrameLocks noChangeAspect="1"/>
            </p:cNvGraphicFramePr>
            <p:nvPr/>
          </p:nvGraphicFramePr>
          <p:xfrm>
            <a:off x="2784" y="960"/>
            <a:ext cx="1344" cy="389"/>
          </p:xfrm>
          <a:graphic>
            <a:graphicData uri="http://schemas.openxmlformats.org/presentationml/2006/ole">
              <mc:AlternateContent xmlns:mc="http://schemas.openxmlformats.org/markup-compatibility/2006">
                <mc:Choice xmlns:v="urn:schemas-microsoft-com:vml" Requires="v">
                  <p:oleObj name="Equation" r:id="rId6" imgW="876300" imgH="254000" progId="Equation.3">
                    <p:embed/>
                  </p:oleObj>
                </mc:Choice>
                <mc:Fallback>
                  <p:oleObj name="Equation" r:id="rId6" imgW="876300" imgH="254000" progId="Equation.3">
                    <p:embed/>
                    <p:pic>
                      <p:nvPicPr>
                        <p:cNvPr id="410664" name="Object 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4" y="960"/>
                          <a:ext cx="1344" cy="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10667" name="Rectangle 43"/>
            <p:cNvSpPr>
              <a:spLocks noChangeArrowheads="1"/>
            </p:cNvSpPr>
            <p:nvPr/>
          </p:nvSpPr>
          <p:spPr bwMode="auto">
            <a:xfrm>
              <a:off x="144" y="994"/>
              <a:ext cx="5472" cy="2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buChar char="•"/>
                <a:defRPr sz="3200">
                  <a:solidFill>
                    <a:schemeClr val="tx1"/>
                  </a:solidFill>
                  <a:latin typeface="Arial" charset="0"/>
                  <a:ea typeface="ＭＳ Ｐゴシック" charset="-128"/>
                </a:defRPr>
              </a:lvl1pPr>
              <a:lvl2pPr marL="742950" indent="-285750">
                <a:defRPr sz="2800">
                  <a:solidFill>
                    <a:schemeClr val="tx1"/>
                  </a:solidFill>
                  <a:latin typeface="Arial" charset="0"/>
                  <a:ea typeface="ＭＳ Ｐゴシック" charset="-128"/>
                </a:defRPr>
              </a:lvl2pPr>
              <a:lvl3pPr marL="1143000" indent="-228600">
                <a:buChar char="•"/>
                <a:defRPr sz="2400">
                  <a:solidFill>
                    <a:schemeClr val="tx1"/>
                  </a:solidFill>
                  <a:latin typeface="Arial" charset="0"/>
                  <a:ea typeface="ＭＳ Ｐゴシック" charset="-128"/>
                </a:defRPr>
              </a:lvl3pPr>
              <a:lvl4pPr marL="1600200" indent="-228600">
                <a:defRPr sz="2000">
                  <a:solidFill>
                    <a:schemeClr val="tx1"/>
                  </a:solidFill>
                  <a:latin typeface="Arial" charset="0"/>
                  <a:ea typeface="ＭＳ Ｐゴシック" charset="-128"/>
                </a:defRPr>
              </a:lvl4pPr>
              <a:lvl5pPr marL="2057400" indent="-228600">
                <a:buChar char="»"/>
                <a:defRPr sz="2000">
                  <a:solidFill>
                    <a:schemeClr val="tx1"/>
                  </a:solidFill>
                  <a:latin typeface="Arial" charset="0"/>
                  <a:ea typeface="ＭＳ Ｐゴシック" charset="-128"/>
                </a:defRPr>
              </a:lvl5pPr>
              <a:lvl6pPr marL="2514600" indent="-228600" fontAlgn="base">
                <a:spcBef>
                  <a:spcPct val="20000"/>
                </a:spcBef>
                <a:spcAft>
                  <a:spcPct val="0"/>
                </a:spcAft>
                <a:buChar char="»"/>
                <a:defRPr sz="2000">
                  <a:solidFill>
                    <a:schemeClr val="tx1"/>
                  </a:solidFill>
                  <a:latin typeface="Arial" charset="0"/>
                  <a:ea typeface="ＭＳ Ｐゴシック" charset="-128"/>
                </a:defRPr>
              </a:lvl6pPr>
              <a:lvl7pPr marL="2971800" indent="-228600" fontAlgn="base">
                <a:spcBef>
                  <a:spcPct val="20000"/>
                </a:spcBef>
                <a:spcAft>
                  <a:spcPct val="0"/>
                </a:spcAft>
                <a:buChar char="»"/>
                <a:defRPr sz="2000">
                  <a:solidFill>
                    <a:schemeClr val="tx1"/>
                  </a:solidFill>
                  <a:latin typeface="Arial" charset="0"/>
                  <a:ea typeface="ＭＳ Ｐゴシック" charset="-128"/>
                </a:defRPr>
              </a:lvl7pPr>
              <a:lvl8pPr marL="3429000" indent="-228600" fontAlgn="base">
                <a:spcBef>
                  <a:spcPct val="20000"/>
                </a:spcBef>
                <a:spcAft>
                  <a:spcPct val="0"/>
                </a:spcAft>
                <a:buChar char="»"/>
                <a:defRPr sz="2000">
                  <a:solidFill>
                    <a:schemeClr val="tx1"/>
                  </a:solidFill>
                  <a:latin typeface="Arial" charset="0"/>
                  <a:ea typeface="ＭＳ Ｐゴシック" charset="-128"/>
                </a:defRPr>
              </a:lvl8pPr>
              <a:lvl9pPr marL="3886200" indent="-228600" fontAlgn="base">
                <a:spcBef>
                  <a:spcPct val="20000"/>
                </a:spcBef>
                <a:spcAft>
                  <a:spcPct val="0"/>
                </a:spcAft>
                <a:buChar char="»"/>
                <a:defRPr sz="2000">
                  <a:solidFill>
                    <a:schemeClr val="tx1"/>
                  </a:solidFill>
                  <a:latin typeface="Arial" charset="0"/>
                  <a:ea typeface="ＭＳ Ｐゴシック" charset="-128"/>
                </a:defRPr>
              </a:lvl9pPr>
            </a:lstStyle>
            <a:p>
              <a:pPr marL="0" indent="0">
                <a:buNone/>
              </a:pPr>
              <a:r>
                <a:rPr lang="en-US" altLang="x-none" dirty="0"/>
                <a:t>With just one output		</a:t>
              </a:r>
            </a:p>
            <a:p>
              <a:pPr marL="0" indent="0">
                <a:buNone/>
              </a:pPr>
              <a:r>
                <a:rPr lang="en-US" altLang="x-none" i="1" dirty="0">
                  <a:latin typeface="Times New Roman" charset="0"/>
                </a:rPr>
                <a:t>g</a:t>
              </a:r>
              <a:r>
                <a:rPr lang="en-US" altLang="x-none" dirty="0">
                  <a:latin typeface="Times New Roman" charset="0"/>
                </a:rPr>
                <a:t>(</a:t>
              </a:r>
              <a:r>
                <a:rPr lang="en-US" altLang="x-none" b="1" dirty="0" err="1">
                  <a:latin typeface="Times New Roman" charset="0"/>
                </a:rPr>
                <a:t>Wx</a:t>
              </a:r>
              <a:r>
                <a:rPr lang="en-US" altLang="x-none" dirty="0">
                  <a:latin typeface="Times New Roman" charset="0"/>
                </a:rPr>
                <a:t>)</a:t>
              </a:r>
              <a:r>
                <a:rPr lang="en-US" altLang="x-none" b="1" dirty="0">
                  <a:latin typeface="Times New Roman" charset="0"/>
                </a:rPr>
                <a:t> </a:t>
              </a:r>
              <a:r>
                <a:rPr lang="en-US" altLang="x-none" dirty="0"/>
                <a:t>will be constant for </a:t>
              </a:r>
              <a:r>
                <a:rPr lang="en-US" altLang="x-none" b="1" dirty="0">
                  <a:latin typeface="Times New Roman" charset="0"/>
                </a:rPr>
                <a:t>x</a:t>
              </a:r>
              <a:r>
                <a:rPr lang="en-US" altLang="x-none" dirty="0"/>
                <a:t> orthogonal to </a:t>
              </a:r>
              <a:r>
                <a:rPr lang="en-US" altLang="x-none" b="1" dirty="0">
                  <a:latin typeface="Times New Roman" charset="0"/>
                </a:rPr>
                <a:t>w</a:t>
              </a:r>
              <a:endParaRPr lang="en-US" altLang="x-none" dirty="0"/>
            </a:p>
          </p:txBody>
        </p:sp>
      </p:grpSp>
      <p:sp>
        <p:nvSpPr>
          <p:cNvPr id="6" name="TextBox 5"/>
          <p:cNvSpPr txBox="1"/>
          <p:nvPr/>
        </p:nvSpPr>
        <p:spPr>
          <a:xfrm>
            <a:off x="4661957" y="4220043"/>
            <a:ext cx="2171701" cy="646331"/>
          </a:xfrm>
          <a:prstGeom prst="rect">
            <a:avLst/>
          </a:prstGeom>
          <a:noFill/>
        </p:spPr>
        <p:txBody>
          <a:bodyPr wrap="square" rtlCol="0">
            <a:spAutoFit/>
          </a:bodyPr>
          <a:lstStyle/>
          <a:p>
            <a:pPr algn="ctr"/>
            <a:r>
              <a:rPr lang="en-US" b="1" dirty="0"/>
              <a:t>Min Distance to classifying line</a:t>
            </a:r>
          </a:p>
        </p:txBody>
      </p:sp>
    </p:spTree>
    <p:extLst>
      <p:ext uri="{BB962C8B-B14F-4D97-AF65-F5344CB8AC3E}">
        <p14:creationId xmlns:p14="http://schemas.microsoft.com/office/powerpoint/2010/main" val="27375578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06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6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06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06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065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106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54" grpId="0" animBg="1"/>
      <p:bldP spid="410655"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a:xfrm>
            <a:off x="685800" y="102393"/>
            <a:ext cx="7772400" cy="862013"/>
          </a:xfrm>
        </p:spPr>
        <p:txBody>
          <a:bodyPr/>
          <a:lstStyle/>
          <a:p>
            <a:r>
              <a:rPr lang="en-US" altLang="x-none"/>
              <a:t>Error-driven learning</a:t>
            </a:r>
          </a:p>
        </p:txBody>
      </p:sp>
      <p:sp>
        <p:nvSpPr>
          <p:cNvPr id="347139" name="Rectangle 3"/>
          <p:cNvSpPr>
            <a:spLocks noGrp="1" noChangeArrowheads="1"/>
          </p:cNvSpPr>
          <p:nvPr>
            <p:ph type="body" idx="1"/>
          </p:nvPr>
        </p:nvSpPr>
        <p:spPr>
          <a:xfrm>
            <a:off x="152400" y="1371600"/>
            <a:ext cx="8915400" cy="4114800"/>
          </a:xfrm>
        </p:spPr>
        <p:txBody>
          <a:bodyPr/>
          <a:lstStyle/>
          <a:p>
            <a:endParaRPr lang="en-US" altLang="x-none"/>
          </a:p>
          <a:p>
            <a:endParaRPr lang="en-US" altLang="x-none"/>
          </a:p>
        </p:txBody>
      </p:sp>
      <p:sp>
        <p:nvSpPr>
          <p:cNvPr id="347140" name="Rectangle 4"/>
          <p:cNvSpPr>
            <a:spLocks noChangeArrowheads="1"/>
          </p:cNvSpPr>
          <p:nvPr/>
        </p:nvSpPr>
        <p:spPr bwMode="auto">
          <a:xfrm>
            <a:off x="304800" y="1447800"/>
            <a:ext cx="8153400" cy="434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buChar char="•"/>
              <a:defRPr sz="3200">
                <a:solidFill>
                  <a:schemeClr val="tx1"/>
                </a:solidFill>
                <a:latin typeface="Arial" charset="0"/>
                <a:ea typeface="ＭＳ Ｐゴシック" charset="-128"/>
              </a:defRPr>
            </a:lvl1pPr>
            <a:lvl2pPr marL="742950" indent="-285750">
              <a:defRPr sz="2800">
                <a:solidFill>
                  <a:schemeClr val="tx1"/>
                </a:solidFill>
                <a:latin typeface="Arial" charset="0"/>
                <a:ea typeface="ＭＳ Ｐゴシック" charset="-128"/>
              </a:defRPr>
            </a:lvl2pPr>
            <a:lvl3pPr marL="1143000" indent="-228600">
              <a:buChar char="•"/>
              <a:defRPr sz="2400">
                <a:solidFill>
                  <a:schemeClr val="tx1"/>
                </a:solidFill>
                <a:latin typeface="Arial" charset="0"/>
                <a:ea typeface="ＭＳ Ｐゴシック" charset="-128"/>
              </a:defRPr>
            </a:lvl3pPr>
            <a:lvl4pPr marL="1600200" indent="-228600">
              <a:defRPr sz="2000">
                <a:solidFill>
                  <a:schemeClr val="tx1"/>
                </a:solidFill>
                <a:latin typeface="Arial" charset="0"/>
                <a:ea typeface="ＭＳ Ｐゴシック" charset="-128"/>
              </a:defRPr>
            </a:lvl4pPr>
            <a:lvl5pPr marL="2057400" indent="-228600">
              <a:buChar char="»"/>
              <a:defRPr sz="2000">
                <a:solidFill>
                  <a:schemeClr val="tx1"/>
                </a:solidFill>
                <a:latin typeface="Arial" charset="0"/>
                <a:ea typeface="ＭＳ Ｐゴシック" charset="-128"/>
              </a:defRPr>
            </a:lvl5pPr>
            <a:lvl6pPr marL="2514600" indent="-228600" fontAlgn="base">
              <a:spcBef>
                <a:spcPct val="20000"/>
              </a:spcBef>
              <a:spcAft>
                <a:spcPct val="0"/>
              </a:spcAft>
              <a:buChar char="»"/>
              <a:defRPr sz="2000">
                <a:solidFill>
                  <a:schemeClr val="tx1"/>
                </a:solidFill>
                <a:latin typeface="Arial" charset="0"/>
                <a:ea typeface="ＭＳ Ｐゴシック" charset="-128"/>
              </a:defRPr>
            </a:lvl6pPr>
            <a:lvl7pPr marL="2971800" indent="-228600" fontAlgn="base">
              <a:spcBef>
                <a:spcPct val="20000"/>
              </a:spcBef>
              <a:spcAft>
                <a:spcPct val="0"/>
              </a:spcAft>
              <a:buChar char="»"/>
              <a:defRPr sz="2000">
                <a:solidFill>
                  <a:schemeClr val="tx1"/>
                </a:solidFill>
                <a:latin typeface="Arial" charset="0"/>
                <a:ea typeface="ＭＳ Ｐゴシック" charset="-128"/>
              </a:defRPr>
            </a:lvl7pPr>
            <a:lvl8pPr marL="3429000" indent="-228600" fontAlgn="base">
              <a:spcBef>
                <a:spcPct val="20000"/>
              </a:spcBef>
              <a:spcAft>
                <a:spcPct val="0"/>
              </a:spcAft>
              <a:buChar char="»"/>
              <a:defRPr sz="2000">
                <a:solidFill>
                  <a:schemeClr val="tx1"/>
                </a:solidFill>
                <a:latin typeface="Arial" charset="0"/>
                <a:ea typeface="ＭＳ Ｐゴシック" charset="-128"/>
              </a:defRPr>
            </a:lvl8pPr>
            <a:lvl9pPr marL="3886200" indent="-228600" fontAlgn="base">
              <a:spcBef>
                <a:spcPct val="20000"/>
              </a:spcBef>
              <a:spcAft>
                <a:spcPct val="0"/>
              </a:spcAft>
              <a:buChar char="»"/>
              <a:defRPr sz="2000">
                <a:solidFill>
                  <a:schemeClr val="tx1"/>
                </a:solidFill>
                <a:latin typeface="Arial" charset="0"/>
                <a:ea typeface="ＭＳ Ｐゴシック" charset="-128"/>
              </a:defRPr>
            </a:lvl9pPr>
          </a:lstStyle>
          <a:p>
            <a:pPr algn="ctr">
              <a:buFontTx/>
              <a:buNone/>
            </a:pPr>
            <a:r>
              <a:rPr lang="en-US" altLang="x-none" dirty="0"/>
              <a:t>   Define a measure of error in output, and find weights that minimize error</a:t>
            </a:r>
          </a:p>
          <a:p>
            <a:endParaRPr lang="en-US" altLang="x-none" dirty="0"/>
          </a:p>
        </p:txBody>
      </p:sp>
      <p:grpSp>
        <p:nvGrpSpPr>
          <p:cNvPr id="347179" name="Group 43"/>
          <p:cNvGrpSpPr>
            <a:grpSpLocks/>
          </p:cNvGrpSpPr>
          <p:nvPr/>
        </p:nvGrpSpPr>
        <p:grpSpPr bwMode="auto">
          <a:xfrm>
            <a:off x="476251" y="2863850"/>
            <a:ext cx="3028951" cy="3892551"/>
            <a:chOff x="317" y="1804"/>
            <a:chExt cx="1908" cy="2452"/>
          </a:xfrm>
        </p:grpSpPr>
        <p:sp>
          <p:nvSpPr>
            <p:cNvPr id="347141" name="Oval 5"/>
            <p:cNvSpPr>
              <a:spLocks noChangeArrowheads="1"/>
            </p:cNvSpPr>
            <p:nvPr/>
          </p:nvSpPr>
          <p:spPr bwMode="auto">
            <a:xfrm>
              <a:off x="964" y="21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43" name="Oval 7"/>
            <p:cNvSpPr>
              <a:spLocks noChangeArrowheads="1"/>
            </p:cNvSpPr>
            <p:nvPr/>
          </p:nvSpPr>
          <p:spPr bwMode="auto">
            <a:xfrm>
              <a:off x="632" y="33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44" name="Oval 8"/>
            <p:cNvSpPr>
              <a:spLocks noChangeArrowheads="1"/>
            </p:cNvSpPr>
            <p:nvPr/>
          </p:nvSpPr>
          <p:spPr bwMode="auto">
            <a:xfrm>
              <a:off x="1400" y="3322"/>
              <a:ext cx="528" cy="52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47" name="Line 11"/>
            <p:cNvSpPr>
              <a:spLocks noChangeShapeType="1"/>
            </p:cNvSpPr>
            <p:nvPr/>
          </p:nvSpPr>
          <p:spPr bwMode="auto">
            <a:xfrm flipH="1">
              <a:off x="964" y="2650"/>
              <a:ext cx="192" cy="67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48" name="Line 12"/>
            <p:cNvSpPr>
              <a:spLocks noChangeShapeType="1"/>
            </p:cNvSpPr>
            <p:nvPr/>
          </p:nvSpPr>
          <p:spPr bwMode="auto">
            <a:xfrm flipH="1" flipV="1">
              <a:off x="1348" y="2650"/>
              <a:ext cx="244"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49" name="Text Box 13"/>
            <p:cNvSpPr txBox="1">
              <a:spLocks noChangeArrowheads="1"/>
            </p:cNvSpPr>
            <p:nvPr/>
          </p:nvSpPr>
          <p:spPr bwMode="auto">
            <a:xfrm>
              <a:off x="484" y="3360"/>
              <a:ext cx="6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347150" name="Text Box 14"/>
            <p:cNvSpPr txBox="1">
              <a:spLocks noChangeArrowheads="1"/>
            </p:cNvSpPr>
            <p:nvPr/>
          </p:nvSpPr>
          <p:spPr bwMode="auto">
            <a:xfrm>
              <a:off x="1252" y="3360"/>
              <a:ext cx="6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347151" name="Text Box 15"/>
            <p:cNvSpPr txBox="1">
              <a:spLocks noChangeArrowheads="1"/>
            </p:cNvSpPr>
            <p:nvPr/>
          </p:nvSpPr>
          <p:spPr bwMode="auto">
            <a:xfrm>
              <a:off x="816" y="2122"/>
              <a:ext cx="53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347153" name="Text Box 17"/>
            <p:cNvSpPr txBox="1">
              <a:spLocks noChangeArrowheads="1"/>
            </p:cNvSpPr>
            <p:nvPr/>
          </p:nvSpPr>
          <p:spPr bwMode="auto">
            <a:xfrm>
              <a:off x="317" y="3926"/>
              <a:ext cx="190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perceptual features</a:t>
              </a:r>
            </a:p>
          </p:txBody>
        </p:sp>
        <p:sp>
          <p:nvSpPr>
            <p:cNvPr id="347154" name="Text Box 18"/>
            <p:cNvSpPr txBox="1">
              <a:spLocks noChangeArrowheads="1"/>
            </p:cNvSpPr>
            <p:nvPr/>
          </p:nvSpPr>
          <p:spPr bwMode="auto">
            <a:xfrm>
              <a:off x="388" y="1804"/>
              <a:ext cx="169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+1 = cat, -1 = dog</a:t>
              </a:r>
            </a:p>
          </p:txBody>
        </p:sp>
      </p:grpSp>
      <p:grpSp>
        <p:nvGrpSpPr>
          <p:cNvPr id="347182" name="Group 46"/>
          <p:cNvGrpSpPr>
            <a:grpSpLocks/>
          </p:cNvGrpSpPr>
          <p:nvPr/>
        </p:nvGrpSpPr>
        <p:grpSpPr bwMode="auto">
          <a:xfrm>
            <a:off x="3733800" y="3533778"/>
            <a:ext cx="5029200" cy="2867028"/>
            <a:chOff x="2352" y="2226"/>
            <a:chExt cx="3168" cy="1806"/>
          </a:xfrm>
        </p:grpSpPr>
        <p:sp>
          <p:nvSpPr>
            <p:cNvPr id="347156" name="Line 20"/>
            <p:cNvSpPr>
              <a:spLocks noChangeShapeType="1"/>
            </p:cNvSpPr>
            <p:nvPr/>
          </p:nvSpPr>
          <p:spPr bwMode="auto">
            <a:xfrm>
              <a:off x="3024" y="2928"/>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57" name="Line 21"/>
            <p:cNvSpPr>
              <a:spLocks noChangeShapeType="1"/>
            </p:cNvSpPr>
            <p:nvPr/>
          </p:nvSpPr>
          <p:spPr bwMode="auto">
            <a:xfrm flipH="1" flipV="1">
              <a:off x="2352" y="2544"/>
              <a:ext cx="24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58" name="Line 22"/>
            <p:cNvSpPr>
              <a:spLocks noChangeShapeType="1"/>
            </p:cNvSpPr>
            <p:nvPr/>
          </p:nvSpPr>
          <p:spPr bwMode="auto">
            <a:xfrm flipH="1">
              <a:off x="2400" y="3456"/>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59" name="Text Box 23"/>
            <p:cNvSpPr txBox="1">
              <a:spLocks noChangeArrowheads="1"/>
            </p:cNvSpPr>
            <p:nvPr/>
          </p:nvSpPr>
          <p:spPr bwMode="auto">
            <a:xfrm>
              <a:off x="3409" y="3446"/>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sp>
          <p:nvSpPr>
            <p:cNvPr id="347160" name="Text Box 24"/>
            <p:cNvSpPr txBox="1">
              <a:spLocks noChangeArrowheads="1"/>
            </p:cNvSpPr>
            <p:nvPr/>
          </p:nvSpPr>
          <p:spPr bwMode="auto">
            <a:xfrm>
              <a:off x="2736" y="2832"/>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sp>
          <p:nvSpPr>
            <p:cNvPr id="347161" name="Text Box 25"/>
            <p:cNvSpPr txBox="1">
              <a:spLocks noChangeArrowheads="1"/>
            </p:cNvSpPr>
            <p:nvPr/>
          </p:nvSpPr>
          <p:spPr bwMode="auto">
            <a:xfrm>
              <a:off x="4608" y="2534"/>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y</a:t>
              </a:r>
              <a:endParaRPr lang="en-US" altLang="x-none" sz="2000"/>
            </a:p>
          </p:txBody>
        </p:sp>
        <p:sp>
          <p:nvSpPr>
            <p:cNvPr id="347162" name="Line 26"/>
            <p:cNvSpPr>
              <a:spLocks noChangeShapeType="1"/>
            </p:cNvSpPr>
            <p:nvPr/>
          </p:nvSpPr>
          <p:spPr bwMode="auto">
            <a:xfrm>
              <a:off x="3504" y="249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65" name="AutoShape 29"/>
            <p:cNvSpPr>
              <a:spLocks noChangeArrowheads="1"/>
            </p:cNvSpPr>
            <p:nvPr/>
          </p:nvSpPr>
          <p:spPr bwMode="auto">
            <a:xfrm rot="5400000" flipH="1">
              <a:off x="3768" y="2760"/>
              <a:ext cx="768" cy="816"/>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66" name="Line 30"/>
            <p:cNvSpPr>
              <a:spLocks noChangeShapeType="1"/>
            </p:cNvSpPr>
            <p:nvPr/>
          </p:nvSpPr>
          <p:spPr bwMode="auto">
            <a:xfrm>
              <a:off x="2976" y="249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67" name="Line 31"/>
            <p:cNvSpPr>
              <a:spLocks noChangeShapeType="1"/>
            </p:cNvSpPr>
            <p:nvPr/>
          </p:nvSpPr>
          <p:spPr bwMode="auto">
            <a:xfrm>
              <a:off x="4128" y="2496"/>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68" name="Text Box 32"/>
            <p:cNvSpPr txBox="1">
              <a:spLocks noChangeArrowheads="1"/>
            </p:cNvSpPr>
            <p:nvPr/>
          </p:nvSpPr>
          <p:spPr bwMode="auto">
            <a:xfrm>
              <a:off x="2756" y="2235"/>
              <a:ext cx="4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t>dog</a:t>
              </a:r>
            </a:p>
          </p:txBody>
        </p:sp>
        <p:sp>
          <p:nvSpPr>
            <p:cNvPr id="347169" name="Text Box 33"/>
            <p:cNvSpPr txBox="1">
              <a:spLocks noChangeArrowheads="1"/>
            </p:cNvSpPr>
            <p:nvPr/>
          </p:nvSpPr>
          <p:spPr bwMode="auto">
            <a:xfrm>
              <a:off x="3942" y="2226"/>
              <a:ext cx="35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a:t>cat</a:t>
              </a:r>
            </a:p>
          </p:txBody>
        </p:sp>
        <p:graphicFrame>
          <p:nvGraphicFramePr>
            <p:cNvPr id="347170" name="Object 34"/>
            <p:cNvGraphicFramePr>
              <a:graphicFrameLocks noChangeAspect="1"/>
            </p:cNvGraphicFramePr>
            <p:nvPr/>
          </p:nvGraphicFramePr>
          <p:xfrm>
            <a:off x="4244" y="3504"/>
            <a:ext cx="1276" cy="306"/>
          </p:xfrm>
          <a:graphic>
            <a:graphicData uri="http://schemas.openxmlformats.org/presentationml/2006/ole">
              <mc:AlternateContent xmlns:mc="http://schemas.openxmlformats.org/markup-compatibility/2006">
                <mc:Choice xmlns:v="urn:schemas-microsoft-com:vml" Requires="v">
                  <p:oleObj name="Equation" r:id="rId3" imgW="685800" imgH="165100" progId="Equation.3">
                    <p:embed/>
                  </p:oleObj>
                </mc:Choice>
                <mc:Fallback>
                  <p:oleObj name="Equation" r:id="rId3" imgW="685800" imgH="165100" progId="Equation.3">
                    <p:embed/>
                    <p:pic>
                      <p:nvPicPr>
                        <p:cNvPr id="34717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4" y="3504"/>
                          <a:ext cx="1276"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347172" name="Oval 36"/>
          <p:cNvSpPr>
            <a:spLocks noChangeArrowheads="1"/>
          </p:cNvSpPr>
          <p:nvPr/>
        </p:nvSpPr>
        <p:spPr bwMode="auto">
          <a:xfrm>
            <a:off x="6477000" y="3962400"/>
            <a:ext cx="152400" cy="152400"/>
          </a:xfrm>
          <a:prstGeom prst="ellipse">
            <a:avLst/>
          </a:prstGeom>
          <a:solidFill>
            <a:srgbClr val="FF0300"/>
          </a:solidFill>
          <a:ln w="9525">
            <a:solidFill>
              <a:srgbClr val="FF0300"/>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73" name="Oval 37"/>
          <p:cNvSpPr>
            <a:spLocks noChangeArrowheads="1"/>
          </p:cNvSpPr>
          <p:nvPr/>
        </p:nvSpPr>
        <p:spPr bwMode="auto">
          <a:xfrm>
            <a:off x="5257800" y="39624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pic>
        <p:nvPicPr>
          <p:cNvPr id="347175"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5562600"/>
            <a:ext cx="647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grpSp>
        <p:nvGrpSpPr>
          <p:cNvPr id="347178" name="Group 42"/>
          <p:cNvGrpSpPr>
            <a:grpSpLocks/>
          </p:cNvGrpSpPr>
          <p:nvPr/>
        </p:nvGrpSpPr>
        <p:grpSpPr bwMode="auto">
          <a:xfrm>
            <a:off x="3886200" y="4876800"/>
            <a:ext cx="1371600" cy="1524000"/>
            <a:chOff x="2400" y="3120"/>
            <a:chExt cx="864" cy="960"/>
          </a:xfrm>
        </p:grpSpPr>
        <p:sp>
          <p:nvSpPr>
            <p:cNvPr id="347176" name="Line 40"/>
            <p:cNvSpPr>
              <a:spLocks noChangeShapeType="1"/>
            </p:cNvSpPr>
            <p:nvPr/>
          </p:nvSpPr>
          <p:spPr bwMode="auto">
            <a:xfrm>
              <a:off x="2400" y="3120"/>
              <a:ext cx="86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7177" name="Line 41"/>
            <p:cNvSpPr>
              <a:spLocks noChangeShapeType="1"/>
            </p:cNvSpPr>
            <p:nvPr/>
          </p:nvSpPr>
          <p:spPr bwMode="auto">
            <a:xfrm flipV="1">
              <a:off x="3168" y="3888"/>
              <a:ext cx="9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347181" name="Group 45"/>
          <p:cNvGrpSpPr>
            <a:grpSpLocks/>
          </p:cNvGrpSpPr>
          <p:nvPr/>
        </p:nvGrpSpPr>
        <p:grpSpPr bwMode="auto">
          <a:xfrm>
            <a:off x="3665538" y="2667000"/>
            <a:ext cx="4264026" cy="709613"/>
            <a:chOff x="2354" y="1680"/>
            <a:chExt cx="2686" cy="447"/>
          </a:xfrm>
        </p:grpSpPr>
        <p:graphicFrame>
          <p:nvGraphicFramePr>
            <p:cNvPr id="347171" name="Object 35"/>
            <p:cNvGraphicFramePr>
              <a:graphicFrameLocks noChangeAspect="1"/>
            </p:cNvGraphicFramePr>
            <p:nvPr/>
          </p:nvGraphicFramePr>
          <p:xfrm>
            <a:off x="3008" y="1680"/>
            <a:ext cx="2032" cy="447"/>
          </p:xfrm>
          <a:graphic>
            <a:graphicData uri="http://schemas.openxmlformats.org/presentationml/2006/ole">
              <mc:AlternateContent xmlns:mc="http://schemas.openxmlformats.org/markup-compatibility/2006">
                <mc:Choice xmlns:v="urn:schemas-microsoft-com:vml" Requires="v">
                  <p:oleObj name="Equation" r:id="rId6" imgW="1092200" imgH="241300" progId="Equation.3">
                    <p:embed/>
                  </p:oleObj>
                </mc:Choice>
                <mc:Fallback>
                  <p:oleObj name="Equation" r:id="rId6" imgW="1092200" imgH="241300" progId="Equation.3">
                    <p:embed/>
                    <p:pic>
                      <p:nvPicPr>
                        <p:cNvPr id="347171"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8" y="1680"/>
                          <a:ext cx="2032" cy="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47180" name="Text Box 44"/>
            <p:cNvSpPr txBox="1">
              <a:spLocks noChangeArrowheads="1"/>
            </p:cNvSpPr>
            <p:nvPr/>
          </p:nvSpPr>
          <p:spPr bwMode="auto">
            <a:xfrm>
              <a:off x="2354" y="1758"/>
              <a:ext cx="64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error:</a:t>
              </a:r>
            </a:p>
          </p:txBody>
        </p:sp>
      </p:grpSp>
      <p:sp>
        <p:nvSpPr>
          <p:cNvPr id="39" name="TextBox 38"/>
          <p:cNvSpPr txBox="1"/>
          <p:nvPr/>
        </p:nvSpPr>
        <p:spPr>
          <a:xfrm>
            <a:off x="4661957" y="4220043"/>
            <a:ext cx="2171701" cy="646331"/>
          </a:xfrm>
          <a:prstGeom prst="rect">
            <a:avLst/>
          </a:prstGeom>
          <a:noFill/>
        </p:spPr>
        <p:txBody>
          <a:bodyPr wrap="square" rtlCol="0">
            <a:spAutoFit/>
          </a:bodyPr>
          <a:lstStyle/>
          <a:p>
            <a:pPr algn="ctr"/>
            <a:r>
              <a:rPr lang="en-US" b="1" dirty="0"/>
              <a:t>Min Distance to classifying line</a:t>
            </a:r>
          </a:p>
        </p:txBody>
      </p:sp>
    </p:spTree>
    <p:extLst>
      <p:ext uri="{BB962C8B-B14F-4D97-AF65-F5344CB8AC3E}">
        <p14:creationId xmlns:p14="http://schemas.microsoft.com/office/powerpoint/2010/main" val="1324969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a:xfrm>
            <a:off x="685800" y="0"/>
            <a:ext cx="7772400" cy="1143000"/>
          </a:xfrm>
        </p:spPr>
        <p:txBody>
          <a:bodyPr/>
          <a:lstStyle/>
          <a:p>
            <a:r>
              <a:rPr lang="en-US" altLang="x-none"/>
              <a:t>Gradient descent</a:t>
            </a:r>
          </a:p>
        </p:txBody>
      </p:sp>
      <p:sp>
        <p:nvSpPr>
          <p:cNvPr id="349187" name="Freeform 3"/>
          <p:cNvSpPr>
            <a:spLocks/>
          </p:cNvSpPr>
          <p:nvPr/>
        </p:nvSpPr>
        <p:spPr bwMode="auto">
          <a:xfrm>
            <a:off x="685800" y="1066800"/>
            <a:ext cx="7696200" cy="3060700"/>
          </a:xfrm>
          <a:custGeom>
            <a:avLst/>
            <a:gdLst>
              <a:gd name="T0" fmla="*/ 0 w 4848"/>
              <a:gd name="T1" fmla="*/ 1008 h 1928"/>
              <a:gd name="T2" fmla="*/ 432 w 4848"/>
              <a:gd name="T3" fmla="*/ 288 h 1928"/>
              <a:gd name="T4" fmla="*/ 816 w 4848"/>
              <a:gd name="T5" fmla="*/ 528 h 1928"/>
              <a:gd name="T6" fmla="*/ 1056 w 4848"/>
              <a:gd name="T7" fmla="*/ 960 h 1928"/>
              <a:gd name="T8" fmla="*/ 1440 w 4848"/>
              <a:gd name="T9" fmla="*/ 1776 h 1928"/>
              <a:gd name="T10" fmla="*/ 1872 w 4848"/>
              <a:gd name="T11" fmla="*/ 1824 h 1928"/>
              <a:gd name="T12" fmla="*/ 2112 w 4848"/>
              <a:gd name="T13" fmla="*/ 1152 h 1928"/>
              <a:gd name="T14" fmla="*/ 2544 w 4848"/>
              <a:gd name="T15" fmla="*/ 576 h 1928"/>
              <a:gd name="T16" fmla="*/ 3072 w 4848"/>
              <a:gd name="T17" fmla="*/ 528 h 1928"/>
              <a:gd name="T18" fmla="*/ 3312 w 4848"/>
              <a:gd name="T19" fmla="*/ 816 h 1928"/>
              <a:gd name="T20" fmla="*/ 3792 w 4848"/>
              <a:gd name="T21" fmla="*/ 720 h 1928"/>
              <a:gd name="T22" fmla="*/ 3984 w 4848"/>
              <a:gd name="T23" fmla="*/ 336 h 1928"/>
              <a:gd name="T24" fmla="*/ 4320 w 4848"/>
              <a:gd name="T25" fmla="*/ 96 h 1928"/>
              <a:gd name="T26" fmla="*/ 4848 w 4848"/>
              <a:gd name="T27" fmla="*/ 0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48" h="1928">
                <a:moveTo>
                  <a:pt x="0" y="1008"/>
                </a:moveTo>
                <a:cubicBezTo>
                  <a:pt x="148" y="688"/>
                  <a:pt x="296" y="368"/>
                  <a:pt x="432" y="288"/>
                </a:cubicBezTo>
                <a:cubicBezTo>
                  <a:pt x="568" y="208"/>
                  <a:pt x="712" y="416"/>
                  <a:pt x="816" y="528"/>
                </a:cubicBezTo>
                <a:cubicBezTo>
                  <a:pt x="920" y="640"/>
                  <a:pt x="952" y="752"/>
                  <a:pt x="1056" y="960"/>
                </a:cubicBezTo>
                <a:cubicBezTo>
                  <a:pt x="1160" y="1168"/>
                  <a:pt x="1304" y="1632"/>
                  <a:pt x="1440" y="1776"/>
                </a:cubicBezTo>
                <a:cubicBezTo>
                  <a:pt x="1576" y="1920"/>
                  <a:pt x="1760" y="1928"/>
                  <a:pt x="1872" y="1824"/>
                </a:cubicBezTo>
                <a:cubicBezTo>
                  <a:pt x="1984" y="1720"/>
                  <a:pt x="2000" y="1360"/>
                  <a:pt x="2112" y="1152"/>
                </a:cubicBezTo>
                <a:cubicBezTo>
                  <a:pt x="2224" y="944"/>
                  <a:pt x="2384" y="680"/>
                  <a:pt x="2544" y="576"/>
                </a:cubicBezTo>
                <a:cubicBezTo>
                  <a:pt x="2704" y="472"/>
                  <a:pt x="2944" y="488"/>
                  <a:pt x="3072" y="528"/>
                </a:cubicBezTo>
                <a:cubicBezTo>
                  <a:pt x="3200" y="568"/>
                  <a:pt x="3192" y="784"/>
                  <a:pt x="3312" y="816"/>
                </a:cubicBezTo>
                <a:cubicBezTo>
                  <a:pt x="3432" y="848"/>
                  <a:pt x="3680" y="800"/>
                  <a:pt x="3792" y="720"/>
                </a:cubicBezTo>
                <a:cubicBezTo>
                  <a:pt x="3904" y="640"/>
                  <a:pt x="3896" y="440"/>
                  <a:pt x="3984" y="336"/>
                </a:cubicBezTo>
                <a:cubicBezTo>
                  <a:pt x="4072" y="232"/>
                  <a:pt x="4176" y="152"/>
                  <a:pt x="4320" y="96"/>
                </a:cubicBezTo>
                <a:cubicBezTo>
                  <a:pt x="4464" y="40"/>
                  <a:pt x="4760" y="16"/>
                  <a:pt x="4848" y="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9188" name="Line 4"/>
          <p:cNvSpPr>
            <a:spLocks noChangeShapeType="1"/>
          </p:cNvSpPr>
          <p:nvPr/>
        </p:nvSpPr>
        <p:spPr bwMode="auto">
          <a:xfrm>
            <a:off x="685800" y="1066800"/>
            <a:ext cx="0" cy="3352800"/>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9189" name="Line 5"/>
          <p:cNvSpPr>
            <a:spLocks noChangeShapeType="1"/>
          </p:cNvSpPr>
          <p:nvPr/>
        </p:nvSpPr>
        <p:spPr bwMode="auto">
          <a:xfrm flipH="1">
            <a:off x="685800" y="4419600"/>
            <a:ext cx="7848600" cy="0"/>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9190" name="Text Box 6"/>
          <p:cNvSpPr txBox="1">
            <a:spLocks noChangeArrowheads="1"/>
          </p:cNvSpPr>
          <p:nvPr/>
        </p:nvSpPr>
        <p:spPr bwMode="auto">
          <a:xfrm>
            <a:off x="7321550" y="1173163"/>
            <a:ext cx="15938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200" i="1">
                <a:latin typeface="Times New Roman" charset="0"/>
              </a:rPr>
              <a:t>E </a:t>
            </a:r>
            <a:r>
              <a:rPr lang="en-US" altLang="x-none" sz="3200">
                <a:latin typeface="Times New Roman" charset="0"/>
              </a:rPr>
              <a:t>(error)</a:t>
            </a:r>
            <a:endParaRPr lang="en-US" altLang="x-none"/>
          </a:p>
        </p:txBody>
      </p:sp>
      <p:sp>
        <p:nvSpPr>
          <p:cNvPr id="349192" name="Text Box 8"/>
          <p:cNvSpPr txBox="1">
            <a:spLocks noChangeArrowheads="1"/>
          </p:cNvSpPr>
          <p:nvPr/>
        </p:nvSpPr>
        <p:spPr bwMode="auto">
          <a:xfrm>
            <a:off x="7712075" y="4343400"/>
            <a:ext cx="603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200" i="1">
                <a:latin typeface="Times New Roman" charset="0"/>
              </a:rPr>
              <a:t>w</a:t>
            </a:r>
            <a:r>
              <a:rPr lang="en-US" altLang="x-none" sz="3200" i="1" baseline="-25000">
                <a:latin typeface="Times New Roman" charset="0"/>
              </a:rPr>
              <a:t>ij</a:t>
            </a:r>
            <a:endParaRPr lang="en-US" altLang="x-none"/>
          </a:p>
        </p:txBody>
      </p:sp>
      <p:sp>
        <p:nvSpPr>
          <p:cNvPr id="349193" name="Text Box 9"/>
          <p:cNvSpPr txBox="1">
            <a:spLocks noChangeArrowheads="1"/>
          </p:cNvSpPr>
          <p:nvPr/>
        </p:nvSpPr>
        <p:spPr bwMode="auto">
          <a:xfrm>
            <a:off x="600075" y="4860925"/>
            <a:ext cx="784528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b="1" dirty="0"/>
              <a:t>A straightforward algorithm for finding a minimum:</a:t>
            </a:r>
          </a:p>
          <a:p>
            <a:pPr>
              <a:buFontTx/>
              <a:buNone/>
            </a:pPr>
            <a:r>
              <a:rPr lang="en-US" altLang="x-none" sz="2800" dirty="0"/>
              <a:t>	move in a direction where </a:t>
            </a:r>
            <a:r>
              <a:rPr lang="en-US" altLang="x-none" sz="4400" i="1" dirty="0">
                <a:latin typeface="Times New Roman" charset="0"/>
              </a:rPr>
              <a:t>E</a:t>
            </a:r>
            <a:r>
              <a:rPr lang="en-US" altLang="x-none" sz="2800" dirty="0"/>
              <a:t> decreases	</a:t>
            </a:r>
          </a:p>
          <a:p>
            <a:pPr>
              <a:buFontTx/>
              <a:buNone/>
            </a:pPr>
            <a:r>
              <a:rPr lang="en-US" altLang="x-none" sz="2800" dirty="0"/>
              <a:t>	stop if no such direction exists</a:t>
            </a:r>
          </a:p>
        </p:txBody>
      </p:sp>
      <p:sp>
        <p:nvSpPr>
          <p:cNvPr id="349194" name="Oval 10"/>
          <p:cNvSpPr>
            <a:spLocks noChangeArrowheads="1"/>
          </p:cNvSpPr>
          <p:nvPr/>
        </p:nvSpPr>
        <p:spPr bwMode="auto">
          <a:xfrm>
            <a:off x="2057400" y="20574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9196" name="Line 12"/>
          <p:cNvSpPr>
            <a:spLocks noChangeShapeType="1"/>
          </p:cNvSpPr>
          <p:nvPr/>
        </p:nvSpPr>
        <p:spPr bwMode="auto">
          <a:xfrm>
            <a:off x="1600200" y="1295400"/>
            <a:ext cx="1143000" cy="17526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aphicFrame>
        <p:nvGraphicFramePr>
          <p:cNvPr id="349197" name="Object 13"/>
          <p:cNvGraphicFramePr>
            <a:graphicFrameLocks noChangeAspect="1"/>
          </p:cNvGraphicFramePr>
          <p:nvPr/>
        </p:nvGraphicFramePr>
        <p:xfrm>
          <a:off x="2322513" y="1701800"/>
          <a:ext cx="1057275" cy="852488"/>
        </p:xfrm>
        <a:graphic>
          <a:graphicData uri="http://schemas.openxmlformats.org/presentationml/2006/ole">
            <mc:AlternateContent xmlns:mc="http://schemas.openxmlformats.org/markup-compatibility/2006">
              <mc:Choice xmlns:v="urn:schemas-microsoft-com:vml" Requires="v">
                <p:oleObj name="Equation" r:id="rId3" imgW="520700" imgH="419100" progId="Equation.3">
                  <p:embed/>
                </p:oleObj>
              </mc:Choice>
              <mc:Fallback>
                <p:oleObj name="Equation" r:id="rId3" imgW="520700" imgH="419100" progId="Equation.3">
                  <p:embed/>
                  <p:pic>
                    <p:nvPicPr>
                      <p:cNvPr id="349197"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2513" y="1701800"/>
                        <a:ext cx="1057275" cy="85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49198" name="Oval 14"/>
          <p:cNvSpPr>
            <a:spLocks noChangeArrowheads="1"/>
          </p:cNvSpPr>
          <p:nvPr/>
        </p:nvSpPr>
        <p:spPr bwMode="auto">
          <a:xfrm>
            <a:off x="3276600" y="40386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aphicFrame>
        <p:nvGraphicFramePr>
          <p:cNvPr id="349200" name="Object 16"/>
          <p:cNvGraphicFramePr>
            <a:graphicFrameLocks noChangeAspect="1"/>
          </p:cNvGraphicFramePr>
          <p:nvPr/>
        </p:nvGraphicFramePr>
        <p:xfrm>
          <a:off x="3922713" y="3149600"/>
          <a:ext cx="1057275" cy="852488"/>
        </p:xfrm>
        <a:graphic>
          <a:graphicData uri="http://schemas.openxmlformats.org/presentationml/2006/ole">
            <mc:AlternateContent xmlns:mc="http://schemas.openxmlformats.org/markup-compatibility/2006">
              <mc:Choice xmlns:v="urn:schemas-microsoft-com:vml" Requires="v">
                <p:oleObj name="Equation" r:id="rId5" imgW="520700" imgH="419100" progId="Equation.3">
                  <p:embed/>
                </p:oleObj>
              </mc:Choice>
              <mc:Fallback>
                <p:oleObj name="Equation" r:id="rId5" imgW="520700" imgH="419100" progId="Equation.3">
                  <p:embed/>
                  <p:pic>
                    <p:nvPicPr>
                      <p:cNvPr id="34920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2713" y="3149600"/>
                        <a:ext cx="1057275" cy="85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49201" name="Line 17"/>
          <p:cNvSpPr>
            <a:spLocks noChangeShapeType="1"/>
          </p:cNvSpPr>
          <p:nvPr/>
        </p:nvSpPr>
        <p:spPr bwMode="auto">
          <a:xfrm>
            <a:off x="2209800" y="4114800"/>
            <a:ext cx="2133600"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49202" name="Oval 18"/>
          <p:cNvSpPr>
            <a:spLocks noChangeArrowheads="1"/>
          </p:cNvSpPr>
          <p:nvPr/>
        </p:nvSpPr>
        <p:spPr bwMode="auto">
          <a:xfrm>
            <a:off x="4267200" y="22860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aphicFrame>
        <p:nvGraphicFramePr>
          <p:cNvPr id="349204" name="Object 20"/>
          <p:cNvGraphicFramePr>
            <a:graphicFrameLocks noChangeAspect="1"/>
          </p:cNvGraphicFramePr>
          <p:nvPr/>
        </p:nvGraphicFramePr>
        <p:xfrm>
          <a:off x="3630613" y="1320800"/>
          <a:ext cx="1057275" cy="852488"/>
        </p:xfrm>
        <a:graphic>
          <a:graphicData uri="http://schemas.openxmlformats.org/presentationml/2006/ole">
            <mc:AlternateContent xmlns:mc="http://schemas.openxmlformats.org/markup-compatibility/2006">
              <mc:Choice xmlns:v="urn:schemas-microsoft-com:vml" Requires="v">
                <p:oleObj name="Equation" r:id="rId7" imgW="520700" imgH="419100" progId="Equation.3">
                  <p:embed/>
                </p:oleObj>
              </mc:Choice>
              <mc:Fallback>
                <p:oleObj name="Equation" r:id="rId7" imgW="520700" imgH="419100" progId="Equation.3">
                  <p:embed/>
                  <p:pic>
                    <p:nvPicPr>
                      <p:cNvPr id="349204"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0613" y="1320800"/>
                        <a:ext cx="1057275" cy="85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49205" name="Line 21"/>
          <p:cNvSpPr>
            <a:spLocks noChangeShapeType="1"/>
          </p:cNvSpPr>
          <p:nvPr/>
        </p:nvSpPr>
        <p:spPr bwMode="auto">
          <a:xfrm flipV="1">
            <a:off x="3810000" y="1600200"/>
            <a:ext cx="1066800" cy="15240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aphicFrame>
        <p:nvGraphicFramePr>
          <p:cNvPr id="349207" name="Object 23"/>
          <p:cNvGraphicFramePr>
            <a:graphicFrameLocks noChangeAspect="1"/>
          </p:cNvGraphicFramePr>
          <p:nvPr/>
        </p:nvGraphicFramePr>
        <p:xfrm>
          <a:off x="6051550" y="2527300"/>
          <a:ext cx="2254250" cy="1050925"/>
        </p:xfrm>
        <a:graphic>
          <a:graphicData uri="http://schemas.openxmlformats.org/presentationml/2006/ole">
            <mc:AlternateContent xmlns:mc="http://schemas.openxmlformats.org/markup-compatibility/2006">
              <mc:Choice xmlns:v="urn:schemas-microsoft-com:vml" Requires="v">
                <p:oleObj name="Equation" r:id="rId9" imgW="901700" imgH="419100" progId="Equation.3">
                  <p:embed/>
                </p:oleObj>
              </mc:Choice>
              <mc:Fallback>
                <p:oleObj name="Equation" r:id="rId9" imgW="901700" imgH="419100" progId="Equation.3">
                  <p:embed/>
                  <p:pic>
                    <p:nvPicPr>
                      <p:cNvPr id="349207"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51550" y="2527300"/>
                        <a:ext cx="2254250"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49208" name="Text Box 24"/>
          <p:cNvSpPr txBox="1">
            <a:spLocks noChangeArrowheads="1"/>
          </p:cNvSpPr>
          <p:nvPr/>
        </p:nvSpPr>
        <p:spPr bwMode="auto">
          <a:xfrm>
            <a:off x="5816600" y="3658513"/>
            <a:ext cx="28525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a:t>(</a:t>
            </a:r>
            <a:r>
              <a:rPr lang="en-US" altLang="x-none" sz="2800">
                <a:sym typeface="Symbol" charset="2"/>
              </a:rPr>
              <a:t> is learning rate)</a:t>
            </a:r>
            <a:endParaRPr lang="en-US" altLang="x-none" sz="2800"/>
          </a:p>
        </p:txBody>
      </p:sp>
    </p:spTree>
    <p:extLst>
      <p:ext uri="{BB962C8B-B14F-4D97-AF65-F5344CB8AC3E}">
        <p14:creationId xmlns:p14="http://schemas.microsoft.com/office/powerpoint/2010/main" val="235049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92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9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20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a:xfrm>
            <a:off x="-609600" y="381000"/>
            <a:ext cx="7772400" cy="1143000"/>
          </a:xfrm>
        </p:spPr>
        <p:txBody>
          <a:bodyPr/>
          <a:lstStyle/>
          <a:p>
            <a:r>
              <a:rPr lang="en-US" altLang="x-none"/>
              <a:t>With a linear output…</a:t>
            </a:r>
          </a:p>
        </p:txBody>
      </p:sp>
      <p:sp>
        <p:nvSpPr>
          <p:cNvPr id="351235" name="Rectangle 3"/>
          <p:cNvSpPr>
            <a:spLocks noGrp="1" noChangeArrowheads="1"/>
          </p:cNvSpPr>
          <p:nvPr>
            <p:ph type="body" idx="1"/>
          </p:nvPr>
        </p:nvSpPr>
        <p:spPr>
          <a:xfrm>
            <a:off x="152400" y="1371600"/>
            <a:ext cx="8915400" cy="4114800"/>
          </a:xfrm>
        </p:spPr>
        <p:txBody>
          <a:bodyPr/>
          <a:lstStyle/>
          <a:p>
            <a:endParaRPr lang="en-US" altLang="x-none"/>
          </a:p>
          <a:p>
            <a:endParaRPr lang="en-US" altLang="x-none"/>
          </a:p>
        </p:txBody>
      </p:sp>
      <p:sp>
        <p:nvSpPr>
          <p:cNvPr id="351237" name="Oval 5"/>
          <p:cNvSpPr>
            <a:spLocks noChangeArrowheads="1"/>
          </p:cNvSpPr>
          <p:nvPr/>
        </p:nvSpPr>
        <p:spPr bwMode="auto">
          <a:xfrm>
            <a:off x="1046163" y="2286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1238" name="Oval 6"/>
          <p:cNvSpPr>
            <a:spLocks noChangeArrowheads="1"/>
          </p:cNvSpPr>
          <p:nvPr/>
        </p:nvSpPr>
        <p:spPr bwMode="auto">
          <a:xfrm>
            <a:off x="519113" y="4191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1239" name="Oval 7"/>
          <p:cNvSpPr>
            <a:spLocks noChangeArrowheads="1"/>
          </p:cNvSpPr>
          <p:nvPr/>
        </p:nvSpPr>
        <p:spPr bwMode="auto">
          <a:xfrm>
            <a:off x="1738313" y="4191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1240" name="Line 8"/>
          <p:cNvSpPr>
            <a:spLocks noChangeShapeType="1"/>
          </p:cNvSpPr>
          <p:nvPr/>
        </p:nvSpPr>
        <p:spPr bwMode="auto">
          <a:xfrm flipH="1">
            <a:off x="1046163" y="31242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1241" name="Line 9"/>
          <p:cNvSpPr>
            <a:spLocks noChangeShapeType="1"/>
          </p:cNvSpPr>
          <p:nvPr/>
        </p:nvSpPr>
        <p:spPr bwMode="auto">
          <a:xfrm flipH="1" flipV="1">
            <a:off x="1655763" y="31242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1242" name="Text Box 10"/>
          <p:cNvSpPr txBox="1">
            <a:spLocks noChangeArrowheads="1"/>
          </p:cNvSpPr>
          <p:nvPr/>
        </p:nvSpPr>
        <p:spPr bwMode="auto">
          <a:xfrm>
            <a:off x="284163" y="4251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351243" name="Text Box 11"/>
          <p:cNvSpPr txBox="1">
            <a:spLocks noChangeArrowheads="1"/>
          </p:cNvSpPr>
          <p:nvPr/>
        </p:nvSpPr>
        <p:spPr bwMode="auto">
          <a:xfrm>
            <a:off x="1503363" y="4251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351244" name="Text Box 12"/>
          <p:cNvSpPr txBox="1">
            <a:spLocks noChangeArrowheads="1"/>
          </p:cNvSpPr>
          <p:nvPr/>
        </p:nvSpPr>
        <p:spPr bwMode="auto">
          <a:xfrm>
            <a:off x="811213" y="228600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351245" name="Text Box 13"/>
          <p:cNvSpPr txBox="1">
            <a:spLocks noChangeArrowheads="1"/>
          </p:cNvSpPr>
          <p:nvPr/>
        </p:nvSpPr>
        <p:spPr bwMode="auto">
          <a:xfrm>
            <a:off x="244693" y="5105400"/>
            <a:ext cx="262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a:t>perceptual features</a:t>
            </a:r>
          </a:p>
        </p:txBody>
      </p:sp>
      <p:sp>
        <p:nvSpPr>
          <p:cNvPr id="351246" name="Text Box 14"/>
          <p:cNvSpPr txBox="1">
            <a:spLocks noChangeArrowheads="1"/>
          </p:cNvSpPr>
          <p:nvPr/>
        </p:nvSpPr>
        <p:spPr bwMode="auto">
          <a:xfrm>
            <a:off x="177668" y="1781929"/>
            <a:ext cx="26824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+1 = cat, -1 = dog</a:t>
            </a:r>
          </a:p>
        </p:txBody>
      </p:sp>
      <p:graphicFrame>
        <p:nvGraphicFramePr>
          <p:cNvPr id="351264" name="Object 32"/>
          <p:cNvGraphicFramePr>
            <a:graphicFrameLocks noChangeAspect="1"/>
          </p:cNvGraphicFramePr>
          <p:nvPr/>
        </p:nvGraphicFramePr>
        <p:xfrm>
          <a:off x="3505200" y="1828800"/>
          <a:ext cx="3225800" cy="709613"/>
        </p:xfrm>
        <a:graphic>
          <a:graphicData uri="http://schemas.openxmlformats.org/presentationml/2006/ole">
            <mc:AlternateContent xmlns:mc="http://schemas.openxmlformats.org/markup-compatibility/2006">
              <mc:Choice xmlns:v="urn:schemas-microsoft-com:vml" Requires="v">
                <p:oleObj name="Equation" r:id="rId3" imgW="1092200" imgH="241300" progId="Equation.3">
                  <p:embed/>
                </p:oleObj>
              </mc:Choice>
              <mc:Fallback>
                <p:oleObj name="Equation" r:id="rId3" imgW="1092200" imgH="241300" progId="Equation.3">
                  <p:embed/>
                  <p:pic>
                    <p:nvPicPr>
                      <p:cNvPr id="351264"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828800"/>
                        <a:ext cx="3225800"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1265" name="Object 33"/>
          <p:cNvGraphicFramePr>
            <a:graphicFrameLocks noChangeAspect="1"/>
          </p:cNvGraphicFramePr>
          <p:nvPr/>
        </p:nvGraphicFramePr>
        <p:xfrm>
          <a:off x="3505200" y="2490788"/>
          <a:ext cx="2701925" cy="709612"/>
        </p:xfrm>
        <a:graphic>
          <a:graphicData uri="http://schemas.openxmlformats.org/presentationml/2006/ole">
            <mc:AlternateContent xmlns:mc="http://schemas.openxmlformats.org/markup-compatibility/2006">
              <mc:Choice xmlns:v="urn:schemas-microsoft-com:vml" Requires="v">
                <p:oleObj name="Equation" r:id="rId5" imgW="914400" imgH="241300" progId="Equation.3">
                  <p:embed/>
                </p:oleObj>
              </mc:Choice>
              <mc:Fallback>
                <p:oleObj name="Equation" r:id="rId5" imgW="914400" imgH="241300" progId="Equation.3">
                  <p:embed/>
                  <p:pic>
                    <p:nvPicPr>
                      <p:cNvPr id="351265"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2490788"/>
                        <a:ext cx="2701925"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1266" name="Object 34"/>
          <p:cNvGraphicFramePr>
            <a:graphicFrameLocks noChangeAspect="1"/>
          </p:cNvGraphicFramePr>
          <p:nvPr/>
        </p:nvGraphicFramePr>
        <p:xfrm>
          <a:off x="3536950" y="3176588"/>
          <a:ext cx="4614863" cy="709612"/>
        </p:xfrm>
        <a:graphic>
          <a:graphicData uri="http://schemas.openxmlformats.org/presentationml/2006/ole">
            <mc:AlternateContent xmlns:mc="http://schemas.openxmlformats.org/markup-compatibility/2006">
              <mc:Choice xmlns:v="urn:schemas-microsoft-com:vml" Requires="v">
                <p:oleObj name="Equation" r:id="rId7" imgW="1562100" imgH="241300" progId="Equation.3">
                  <p:embed/>
                </p:oleObj>
              </mc:Choice>
              <mc:Fallback>
                <p:oleObj name="Equation" r:id="rId7" imgW="1562100" imgH="241300" progId="Equation.3">
                  <p:embed/>
                  <p:pic>
                    <p:nvPicPr>
                      <p:cNvPr id="351266"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6950" y="3176588"/>
                        <a:ext cx="4614863" cy="70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1267" name="Object 35"/>
          <p:cNvGraphicFramePr>
            <a:graphicFrameLocks noChangeAspect="1"/>
          </p:cNvGraphicFramePr>
          <p:nvPr/>
        </p:nvGraphicFramePr>
        <p:xfrm>
          <a:off x="6527800" y="381000"/>
          <a:ext cx="2254250" cy="1050925"/>
        </p:xfrm>
        <a:graphic>
          <a:graphicData uri="http://schemas.openxmlformats.org/presentationml/2006/ole">
            <mc:AlternateContent xmlns:mc="http://schemas.openxmlformats.org/markup-compatibility/2006">
              <mc:Choice xmlns:v="urn:schemas-microsoft-com:vml" Requires="v">
                <p:oleObj name="Equation" r:id="rId9" imgW="901700" imgH="419100" progId="Equation.3">
                  <p:embed/>
                </p:oleObj>
              </mc:Choice>
              <mc:Fallback>
                <p:oleObj name="Equation" r:id="rId9" imgW="901700" imgH="419100" progId="Equation.3">
                  <p:embed/>
                  <p:pic>
                    <p:nvPicPr>
                      <p:cNvPr id="351267"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27800" y="381000"/>
                        <a:ext cx="2254250"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1268" name="Object 36"/>
          <p:cNvGraphicFramePr>
            <a:graphicFrameLocks noChangeAspect="1"/>
          </p:cNvGraphicFramePr>
          <p:nvPr/>
        </p:nvGraphicFramePr>
        <p:xfrm>
          <a:off x="3124200" y="3948113"/>
          <a:ext cx="5813425" cy="1233487"/>
        </p:xfrm>
        <a:graphic>
          <a:graphicData uri="http://schemas.openxmlformats.org/presentationml/2006/ole">
            <mc:AlternateContent xmlns:mc="http://schemas.openxmlformats.org/markup-compatibility/2006">
              <mc:Choice xmlns:v="urn:schemas-microsoft-com:vml" Requires="v">
                <p:oleObj name="Equation" r:id="rId11" imgW="1968500" imgH="419100" progId="Equation.3">
                  <p:embed/>
                </p:oleObj>
              </mc:Choice>
              <mc:Fallback>
                <p:oleObj name="Equation" r:id="rId11" imgW="1968500" imgH="419100" progId="Equation.3">
                  <p:embed/>
                  <p:pic>
                    <p:nvPicPr>
                      <p:cNvPr id="351268"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4200" y="3948113"/>
                        <a:ext cx="5813425" cy="123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1269" name="Object 37"/>
          <p:cNvGraphicFramePr>
            <a:graphicFrameLocks noChangeAspect="1"/>
          </p:cNvGraphicFramePr>
          <p:nvPr/>
        </p:nvGraphicFramePr>
        <p:xfrm>
          <a:off x="3124200" y="5181600"/>
          <a:ext cx="3789363" cy="635000"/>
        </p:xfrm>
        <a:graphic>
          <a:graphicData uri="http://schemas.openxmlformats.org/presentationml/2006/ole">
            <mc:AlternateContent xmlns:mc="http://schemas.openxmlformats.org/markup-compatibility/2006">
              <mc:Choice xmlns:v="urn:schemas-microsoft-com:vml" Requires="v">
                <p:oleObj name="Equation" r:id="rId13" imgW="1282700" imgH="215900" progId="Equation.3">
                  <p:embed/>
                </p:oleObj>
              </mc:Choice>
              <mc:Fallback>
                <p:oleObj name="Equation" r:id="rId13" imgW="1282700" imgH="215900" progId="Equation.3">
                  <p:embed/>
                  <p:pic>
                    <p:nvPicPr>
                      <p:cNvPr id="351269" name="Object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4200" y="5181600"/>
                        <a:ext cx="3789363"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351274" name="Group 42"/>
          <p:cNvGrpSpPr>
            <a:grpSpLocks/>
          </p:cNvGrpSpPr>
          <p:nvPr/>
        </p:nvGrpSpPr>
        <p:grpSpPr bwMode="auto">
          <a:xfrm>
            <a:off x="4724400" y="5181602"/>
            <a:ext cx="1676400" cy="1468438"/>
            <a:chOff x="2976" y="3264"/>
            <a:chExt cx="1056" cy="925"/>
          </a:xfrm>
        </p:grpSpPr>
        <p:sp>
          <p:nvSpPr>
            <p:cNvPr id="351270" name="Rectangle 38"/>
            <p:cNvSpPr>
              <a:spLocks noChangeArrowheads="1"/>
            </p:cNvSpPr>
            <p:nvPr/>
          </p:nvSpPr>
          <p:spPr bwMode="auto">
            <a:xfrm>
              <a:off x="2976" y="3264"/>
              <a:ext cx="1056" cy="384"/>
            </a:xfrm>
            <a:prstGeom prst="rect">
              <a:avLst/>
            </a:prstGeom>
            <a:noFill/>
            <a:ln w="28575">
              <a:solidFill>
                <a:srgbClr val="FF0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1272" name="Text Box 40"/>
            <p:cNvSpPr txBox="1">
              <a:spLocks noChangeArrowheads="1"/>
            </p:cNvSpPr>
            <p:nvPr/>
          </p:nvSpPr>
          <p:spPr bwMode="auto">
            <a:xfrm>
              <a:off x="3115" y="3666"/>
              <a:ext cx="69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solidFill>
                    <a:srgbClr val="FF0300"/>
                  </a:solidFill>
                </a:rPr>
                <a:t>output </a:t>
              </a:r>
            </a:p>
            <a:p>
              <a:pPr algn="ctr">
                <a:buFontTx/>
                <a:buNone/>
              </a:pPr>
              <a:r>
                <a:rPr lang="en-US" altLang="x-none" sz="2400" dirty="0">
                  <a:solidFill>
                    <a:srgbClr val="FF0300"/>
                  </a:solidFill>
                </a:rPr>
                <a:t>error</a:t>
              </a:r>
            </a:p>
          </p:txBody>
        </p:sp>
      </p:grpSp>
      <p:grpSp>
        <p:nvGrpSpPr>
          <p:cNvPr id="351275" name="Group 43"/>
          <p:cNvGrpSpPr>
            <a:grpSpLocks/>
          </p:cNvGrpSpPr>
          <p:nvPr/>
        </p:nvGrpSpPr>
        <p:grpSpPr bwMode="auto">
          <a:xfrm>
            <a:off x="6138865" y="5181602"/>
            <a:ext cx="1341438" cy="1477963"/>
            <a:chOff x="3867" y="3264"/>
            <a:chExt cx="845" cy="931"/>
          </a:xfrm>
        </p:grpSpPr>
        <p:sp>
          <p:nvSpPr>
            <p:cNvPr id="351271" name="Rectangle 39"/>
            <p:cNvSpPr>
              <a:spLocks noChangeArrowheads="1"/>
            </p:cNvSpPr>
            <p:nvPr/>
          </p:nvSpPr>
          <p:spPr bwMode="auto">
            <a:xfrm>
              <a:off x="4080" y="3264"/>
              <a:ext cx="240" cy="384"/>
            </a:xfrm>
            <a:prstGeom prst="rect">
              <a:avLst/>
            </a:prstGeom>
            <a:noFill/>
            <a:ln w="2857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1273" name="Text Box 41"/>
            <p:cNvSpPr txBox="1">
              <a:spLocks noChangeArrowheads="1"/>
            </p:cNvSpPr>
            <p:nvPr/>
          </p:nvSpPr>
          <p:spPr bwMode="auto">
            <a:xfrm>
              <a:off x="3867" y="3672"/>
              <a:ext cx="845" cy="52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solidFill>
                    <a:srgbClr val="0070C0"/>
                  </a:solidFill>
                </a:rPr>
                <a:t>influence</a:t>
              </a:r>
            </a:p>
            <a:p>
              <a:pPr algn="ctr">
                <a:buFontTx/>
                <a:buNone/>
              </a:pPr>
              <a:r>
                <a:rPr lang="en-US" altLang="x-none" sz="2400" dirty="0">
                  <a:solidFill>
                    <a:srgbClr val="0070C0"/>
                  </a:solidFill>
                </a:rPr>
                <a:t>of input</a:t>
              </a:r>
            </a:p>
          </p:txBody>
        </p:sp>
      </p:grpSp>
    </p:spTree>
    <p:extLst>
      <p:ext uri="{BB962C8B-B14F-4D97-AF65-F5344CB8AC3E}">
        <p14:creationId xmlns:p14="http://schemas.microsoft.com/office/powerpoint/2010/main" val="3182478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12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12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126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5126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5127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51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a:xfrm>
            <a:off x="-609600" y="381000"/>
            <a:ext cx="7772400" cy="1143000"/>
          </a:xfrm>
        </p:spPr>
        <p:txBody>
          <a:bodyPr/>
          <a:lstStyle/>
          <a:p>
            <a:r>
              <a:rPr lang="en-US" altLang="x-none" dirty="0"/>
              <a:t>The Delta Rule</a:t>
            </a:r>
          </a:p>
        </p:txBody>
      </p:sp>
      <p:sp>
        <p:nvSpPr>
          <p:cNvPr id="353283" name="Rectangle 3"/>
          <p:cNvSpPr>
            <a:spLocks noGrp="1" noChangeArrowheads="1"/>
          </p:cNvSpPr>
          <p:nvPr>
            <p:ph type="body" idx="1"/>
          </p:nvPr>
        </p:nvSpPr>
        <p:spPr>
          <a:xfrm>
            <a:off x="152400" y="1371600"/>
            <a:ext cx="8915400" cy="4114800"/>
          </a:xfrm>
        </p:spPr>
        <p:txBody>
          <a:bodyPr/>
          <a:lstStyle/>
          <a:p>
            <a:endParaRPr lang="en-US" altLang="x-none"/>
          </a:p>
          <a:p>
            <a:endParaRPr lang="en-US" altLang="x-none"/>
          </a:p>
        </p:txBody>
      </p:sp>
      <p:sp>
        <p:nvSpPr>
          <p:cNvPr id="353284" name="Oval 4"/>
          <p:cNvSpPr>
            <a:spLocks noChangeArrowheads="1"/>
          </p:cNvSpPr>
          <p:nvPr/>
        </p:nvSpPr>
        <p:spPr bwMode="auto">
          <a:xfrm>
            <a:off x="1046163" y="2286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3285" name="Oval 5"/>
          <p:cNvSpPr>
            <a:spLocks noChangeArrowheads="1"/>
          </p:cNvSpPr>
          <p:nvPr/>
        </p:nvSpPr>
        <p:spPr bwMode="auto">
          <a:xfrm>
            <a:off x="519113" y="4191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3286" name="Oval 6"/>
          <p:cNvSpPr>
            <a:spLocks noChangeArrowheads="1"/>
          </p:cNvSpPr>
          <p:nvPr/>
        </p:nvSpPr>
        <p:spPr bwMode="auto">
          <a:xfrm>
            <a:off x="1738313" y="4191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3287" name="Line 7"/>
          <p:cNvSpPr>
            <a:spLocks noChangeShapeType="1"/>
          </p:cNvSpPr>
          <p:nvPr/>
        </p:nvSpPr>
        <p:spPr bwMode="auto">
          <a:xfrm flipH="1">
            <a:off x="1046163" y="31242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3288" name="Line 8"/>
          <p:cNvSpPr>
            <a:spLocks noChangeShapeType="1"/>
          </p:cNvSpPr>
          <p:nvPr/>
        </p:nvSpPr>
        <p:spPr bwMode="auto">
          <a:xfrm flipH="1" flipV="1">
            <a:off x="1655763" y="31242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3289" name="Text Box 9"/>
          <p:cNvSpPr txBox="1">
            <a:spLocks noChangeArrowheads="1"/>
          </p:cNvSpPr>
          <p:nvPr/>
        </p:nvSpPr>
        <p:spPr bwMode="auto">
          <a:xfrm>
            <a:off x="284163" y="4251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353290" name="Text Box 10"/>
          <p:cNvSpPr txBox="1">
            <a:spLocks noChangeArrowheads="1"/>
          </p:cNvSpPr>
          <p:nvPr/>
        </p:nvSpPr>
        <p:spPr bwMode="auto">
          <a:xfrm>
            <a:off x="1503363" y="4251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353291" name="Text Box 11"/>
          <p:cNvSpPr txBox="1">
            <a:spLocks noChangeArrowheads="1"/>
          </p:cNvSpPr>
          <p:nvPr/>
        </p:nvSpPr>
        <p:spPr bwMode="auto">
          <a:xfrm>
            <a:off x="811213" y="228600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353293" name="Text Box 13"/>
          <p:cNvSpPr txBox="1">
            <a:spLocks noChangeArrowheads="1"/>
          </p:cNvSpPr>
          <p:nvPr/>
        </p:nvSpPr>
        <p:spPr bwMode="auto">
          <a:xfrm>
            <a:off x="193166" y="1812925"/>
            <a:ext cx="26824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dirty="0"/>
              <a:t>+1 = cat, -1 = dog</a:t>
            </a:r>
          </a:p>
        </p:txBody>
      </p:sp>
      <p:graphicFrame>
        <p:nvGraphicFramePr>
          <p:cNvPr id="353294" name="Object 14"/>
          <p:cNvGraphicFramePr>
            <a:graphicFrameLocks noChangeAspect="1"/>
          </p:cNvGraphicFramePr>
          <p:nvPr/>
        </p:nvGraphicFramePr>
        <p:xfrm>
          <a:off x="3505200" y="1828800"/>
          <a:ext cx="3225800" cy="709613"/>
        </p:xfrm>
        <a:graphic>
          <a:graphicData uri="http://schemas.openxmlformats.org/presentationml/2006/ole">
            <mc:AlternateContent xmlns:mc="http://schemas.openxmlformats.org/markup-compatibility/2006">
              <mc:Choice xmlns:v="urn:schemas-microsoft-com:vml" Requires="v">
                <p:oleObj name="Equation" r:id="rId3" imgW="1092200" imgH="241300" progId="Equation.3">
                  <p:embed/>
                </p:oleObj>
              </mc:Choice>
              <mc:Fallback>
                <p:oleObj name="Equation" r:id="rId3" imgW="1092200" imgH="241300" progId="Equation.3">
                  <p:embed/>
                  <p:pic>
                    <p:nvPicPr>
                      <p:cNvPr id="353294"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1828800"/>
                        <a:ext cx="3225800"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3297" name="Object 17"/>
          <p:cNvGraphicFramePr>
            <a:graphicFrameLocks noChangeAspect="1"/>
          </p:cNvGraphicFramePr>
          <p:nvPr/>
        </p:nvGraphicFramePr>
        <p:xfrm>
          <a:off x="6527800" y="381000"/>
          <a:ext cx="2254250" cy="1050925"/>
        </p:xfrm>
        <a:graphic>
          <a:graphicData uri="http://schemas.openxmlformats.org/presentationml/2006/ole">
            <mc:AlternateContent xmlns:mc="http://schemas.openxmlformats.org/markup-compatibility/2006">
              <mc:Choice xmlns:v="urn:schemas-microsoft-com:vml" Requires="v">
                <p:oleObj name="Equation" r:id="rId5" imgW="901700" imgH="419100" progId="Equation.3">
                  <p:embed/>
                </p:oleObj>
              </mc:Choice>
              <mc:Fallback>
                <p:oleObj name="Equation" r:id="rId5" imgW="901700" imgH="419100" progId="Equation.3">
                  <p:embed/>
                  <p:pic>
                    <p:nvPicPr>
                      <p:cNvPr id="353297"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7800" y="381000"/>
                        <a:ext cx="2254250" cy="105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3298" name="Object 18"/>
          <p:cNvGraphicFramePr>
            <a:graphicFrameLocks noChangeAspect="1"/>
          </p:cNvGraphicFramePr>
          <p:nvPr/>
        </p:nvGraphicFramePr>
        <p:xfrm>
          <a:off x="3106738" y="3948113"/>
          <a:ext cx="5849937" cy="1233487"/>
        </p:xfrm>
        <a:graphic>
          <a:graphicData uri="http://schemas.openxmlformats.org/presentationml/2006/ole">
            <mc:AlternateContent xmlns:mc="http://schemas.openxmlformats.org/markup-compatibility/2006">
              <mc:Choice xmlns:v="urn:schemas-microsoft-com:vml" Requires="v">
                <p:oleObj name="Equation" r:id="rId7" imgW="1981200" imgH="419100" progId="Equation.3">
                  <p:embed/>
                </p:oleObj>
              </mc:Choice>
              <mc:Fallback>
                <p:oleObj name="Equation" r:id="rId7" imgW="1981200" imgH="419100" progId="Equation.3">
                  <p:embed/>
                  <p:pic>
                    <p:nvPicPr>
                      <p:cNvPr id="353298"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6738" y="3948113"/>
                        <a:ext cx="5849937" cy="123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53299" name="Object 19"/>
          <p:cNvGraphicFramePr>
            <a:graphicFrameLocks noChangeAspect="1"/>
          </p:cNvGraphicFramePr>
          <p:nvPr/>
        </p:nvGraphicFramePr>
        <p:xfrm>
          <a:off x="3097213" y="5181600"/>
          <a:ext cx="5665787" cy="635000"/>
        </p:xfrm>
        <a:graphic>
          <a:graphicData uri="http://schemas.openxmlformats.org/presentationml/2006/ole">
            <mc:AlternateContent xmlns:mc="http://schemas.openxmlformats.org/markup-compatibility/2006">
              <mc:Choice xmlns:v="urn:schemas-microsoft-com:vml" Requires="v">
                <p:oleObj name="Equation" r:id="rId9" imgW="1917700" imgH="215900" progId="Equation.3">
                  <p:embed/>
                </p:oleObj>
              </mc:Choice>
              <mc:Fallback>
                <p:oleObj name="Equation" r:id="rId9" imgW="1917700" imgH="215900" progId="Equation.3">
                  <p:embed/>
                  <p:pic>
                    <p:nvPicPr>
                      <p:cNvPr id="353299"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97213" y="5181600"/>
                        <a:ext cx="5665787"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353300" name="Group 20"/>
          <p:cNvGrpSpPr>
            <a:grpSpLocks/>
          </p:cNvGrpSpPr>
          <p:nvPr/>
        </p:nvGrpSpPr>
        <p:grpSpPr bwMode="auto">
          <a:xfrm>
            <a:off x="4611478" y="5181602"/>
            <a:ext cx="2287796" cy="1458913"/>
            <a:chOff x="2921" y="3264"/>
            <a:chExt cx="1111" cy="919"/>
          </a:xfrm>
        </p:grpSpPr>
        <p:sp>
          <p:nvSpPr>
            <p:cNvPr id="353301" name="Rectangle 21"/>
            <p:cNvSpPr>
              <a:spLocks noChangeArrowheads="1"/>
            </p:cNvSpPr>
            <p:nvPr/>
          </p:nvSpPr>
          <p:spPr bwMode="auto">
            <a:xfrm>
              <a:off x="2976" y="3264"/>
              <a:ext cx="1056" cy="384"/>
            </a:xfrm>
            <a:prstGeom prst="rect">
              <a:avLst/>
            </a:prstGeom>
            <a:noFill/>
            <a:ln w="28575">
              <a:solidFill>
                <a:srgbClr val="FF0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3302" name="Text Box 22"/>
            <p:cNvSpPr txBox="1">
              <a:spLocks noChangeArrowheads="1"/>
            </p:cNvSpPr>
            <p:nvPr/>
          </p:nvSpPr>
          <p:spPr bwMode="auto">
            <a:xfrm>
              <a:off x="2921" y="3660"/>
              <a:ext cx="87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solidFill>
                    <a:srgbClr val="FF0300"/>
                  </a:solidFill>
                </a:rPr>
                <a:t>          output </a:t>
              </a:r>
            </a:p>
            <a:p>
              <a:pPr algn="ctr">
                <a:buFontTx/>
                <a:buNone/>
              </a:pPr>
              <a:r>
                <a:rPr lang="en-US" altLang="x-none" sz="2400" dirty="0">
                  <a:solidFill>
                    <a:srgbClr val="FF0300"/>
                  </a:solidFill>
                </a:rPr>
                <a:t>         error</a:t>
              </a:r>
            </a:p>
          </p:txBody>
        </p:sp>
      </p:grpSp>
      <p:grpSp>
        <p:nvGrpSpPr>
          <p:cNvPr id="353308" name="Group 28"/>
          <p:cNvGrpSpPr>
            <a:grpSpLocks/>
          </p:cNvGrpSpPr>
          <p:nvPr/>
        </p:nvGrpSpPr>
        <p:grpSpPr bwMode="auto">
          <a:xfrm>
            <a:off x="6934200" y="5181602"/>
            <a:ext cx="1828800" cy="1449388"/>
            <a:chOff x="4368" y="3264"/>
            <a:chExt cx="1152" cy="913"/>
          </a:xfrm>
        </p:grpSpPr>
        <p:sp>
          <p:nvSpPr>
            <p:cNvPr id="353304" name="Rectangle 24"/>
            <p:cNvSpPr>
              <a:spLocks noChangeArrowheads="1"/>
            </p:cNvSpPr>
            <p:nvPr/>
          </p:nvSpPr>
          <p:spPr bwMode="auto">
            <a:xfrm>
              <a:off x="4368" y="3264"/>
              <a:ext cx="1152" cy="39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3305" name="Text Box 25"/>
            <p:cNvSpPr txBox="1">
              <a:spLocks noChangeArrowheads="1"/>
            </p:cNvSpPr>
            <p:nvPr/>
          </p:nvSpPr>
          <p:spPr bwMode="auto">
            <a:xfrm>
              <a:off x="4515" y="3654"/>
              <a:ext cx="84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solidFill>
                    <a:schemeClr val="accent1"/>
                  </a:solidFill>
                </a:rPr>
                <a:t>influence</a:t>
              </a:r>
            </a:p>
            <a:p>
              <a:pPr algn="ctr">
                <a:buFontTx/>
                <a:buNone/>
              </a:pPr>
              <a:r>
                <a:rPr lang="en-US" altLang="x-none" sz="2400" dirty="0">
                  <a:solidFill>
                    <a:schemeClr val="accent1"/>
                  </a:solidFill>
                </a:rPr>
                <a:t>of input</a:t>
              </a:r>
            </a:p>
          </p:txBody>
        </p:sp>
      </p:grpSp>
      <p:sp>
        <p:nvSpPr>
          <p:cNvPr id="353306" name="Text Box 26"/>
          <p:cNvSpPr txBox="1">
            <a:spLocks noChangeArrowheads="1"/>
          </p:cNvSpPr>
          <p:nvPr/>
        </p:nvSpPr>
        <p:spPr bwMode="auto">
          <a:xfrm>
            <a:off x="2731632" y="2903107"/>
            <a:ext cx="568354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a:t>for any function </a:t>
            </a:r>
            <a:r>
              <a:rPr lang="en-US" altLang="x-none" sz="4400" i="1">
                <a:latin typeface="Times New Roman" charset="0"/>
              </a:rPr>
              <a:t>g </a:t>
            </a:r>
            <a:r>
              <a:rPr lang="en-US" altLang="x-none" sz="2800"/>
              <a:t>with derivative</a:t>
            </a:r>
            <a:r>
              <a:rPr lang="en-US" altLang="x-none" sz="4400">
                <a:latin typeface="Times New Roman" charset="0"/>
              </a:rPr>
              <a:t> </a:t>
            </a:r>
            <a:r>
              <a:rPr lang="en-US" altLang="x-none" sz="4400" i="1">
                <a:latin typeface="Times New Roman" charset="0"/>
              </a:rPr>
              <a:t>g</a:t>
            </a:r>
            <a:r>
              <a:rPr lang="en-US" altLang="x-none" sz="4400">
                <a:sym typeface="Symbol" charset="2"/>
              </a:rPr>
              <a:t></a:t>
            </a:r>
            <a:endParaRPr lang="en-US" altLang="x-none" sz="2800"/>
          </a:p>
        </p:txBody>
      </p:sp>
      <p:sp>
        <p:nvSpPr>
          <p:cNvPr id="353307" name="Text Box 27"/>
          <p:cNvSpPr txBox="1">
            <a:spLocks noChangeArrowheads="1"/>
          </p:cNvSpPr>
          <p:nvPr/>
        </p:nvSpPr>
        <p:spPr bwMode="auto">
          <a:xfrm>
            <a:off x="12216" y="5105400"/>
            <a:ext cx="30295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a:t>perceptual features</a:t>
            </a:r>
          </a:p>
        </p:txBody>
      </p:sp>
    </p:spTree>
    <p:extLst>
      <p:ext uri="{BB962C8B-B14F-4D97-AF65-F5344CB8AC3E}">
        <p14:creationId xmlns:p14="http://schemas.microsoft.com/office/powerpoint/2010/main" val="2367537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32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329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330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53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a:xfrm>
            <a:off x="685800" y="152400"/>
            <a:ext cx="8077200" cy="1143000"/>
          </a:xfrm>
        </p:spPr>
        <p:txBody>
          <a:bodyPr/>
          <a:lstStyle/>
          <a:p>
            <a:r>
              <a:rPr lang="en-US" altLang="x-none"/>
              <a:t>Problems with simple networks</a:t>
            </a:r>
          </a:p>
        </p:txBody>
      </p:sp>
      <p:pic>
        <p:nvPicPr>
          <p:cNvPr id="412727" name="Picture 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752600"/>
            <a:ext cx="2919412"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12728"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2514600"/>
            <a:ext cx="22225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pic>
        <p:nvPicPr>
          <p:cNvPr id="412729" name="Picture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888" y="2514600"/>
            <a:ext cx="2601912"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12731" name="Text Box 59"/>
          <p:cNvSpPr txBox="1">
            <a:spLocks noChangeArrowheads="1"/>
          </p:cNvSpPr>
          <p:nvPr/>
        </p:nvSpPr>
        <p:spPr bwMode="auto">
          <a:xfrm>
            <a:off x="3581400" y="525780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Marvin Minsky</a:t>
            </a:r>
          </a:p>
        </p:txBody>
      </p:sp>
      <p:sp>
        <p:nvSpPr>
          <p:cNvPr id="412732" name="Text Box 60"/>
          <p:cNvSpPr txBox="1">
            <a:spLocks noChangeArrowheads="1"/>
          </p:cNvSpPr>
          <p:nvPr/>
        </p:nvSpPr>
        <p:spPr bwMode="auto">
          <a:xfrm>
            <a:off x="6172200" y="52578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Seymour Papert</a:t>
            </a:r>
          </a:p>
        </p:txBody>
      </p:sp>
      <p:sp>
        <p:nvSpPr>
          <p:cNvPr id="2" name="TextBox 1"/>
          <p:cNvSpPr txBox="1"/>
          <p:nvPr/>
        </p:nvSpPr>
        <p:spPr>
          <a:xfrm>
            <a:off x="2482793" y="6107668"/>
            <a:ext cx="793807" cy="369332"/>
          </a:xfrm>
          <a:prstGeom prst="rect">
            <a:avLst/>
          </a:prstGeom>
          <a:noFill/>
        </p:spPr>
        <p:txBody>
          <a:bodyPr wrap="none" rtlCol="0">
            <a:spAutoFit/>
          </a:bodyPr>
          <a:lstStyle/>
          <a:p>
            <a:r>
              <a:rPr lang="en-US"/>
              <a:t>(1969)</a:t>
            </a:r>
          </a:p>
        </p:txBody>
      </p:sp>
    </p:spTree>
    <p:extLst>
      <p:ext uri="{BB962C8B-B14F-4D97-AF65-F5344CB8AC3E}">
        <p14:creationId xmlns:p14="http://schemas.microsoft.com/office/powerpoint/2010/main" val="1975058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685800" y="152400"/>
            <a:ext cx="8077200" cy="1143000"/>
          </a:xfrm>
        </p:spPr>
        <p:txBody>
          <a:bodyPr/>
          <a:lstStyle/>
          <a:p>
            <a:r>
              <a:rPr lang="en-US" altLang="x-none"/>
              <a:t>Problems with simple networks</a:t>
            </a:r>
          </a:p>
        </p:txBody>
      </p:sp>
      <p:sp>
        <p:nvSpPr>
          <p:cNvPr id="355332" name="Oval 4"/>
          <p:cNvSpPr>
            <a:spLocks noChangeArrowheads="1"/>
          </p:cNvSpPr>
          <p:nvPr/>
        </p:nvSpPr>
        <p:spPr bwMode="auto">
          <a:xfrm>
            <a:off x="2292350" y="1219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33" name="Oval 5"/>
          <p:cNvSpPr>
            <a:spLocks noChangeArrowheads="1"/>
          </p:cNvSpPr>
          <p:nvPr/>
        </p:nvSpPr>
        <p:spPr bwMode="auto">
          <a:xfrm>
            <a:off x="17589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34" name="Oval 6"/>
          <p:cNvSpPr>
            <a:spLocks noChangeArrowheads="1"/>
          </p:cNvSpPr>
          <p:nvPr/>
        </p:nvSpPr>
        <p:spPr bwMode="auto">
          <a:xfrm>
            <a:off x="29781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35" name="Line 7"/>
          <p:cNvSpPr>
            <a:spLocks noChangeShapeType="1"/>
          </p:cNvSpPr>
          <p:nvPr/>
        </p:nvSpPr>
        <p:spPr bwMode="auto">
          <a:xfrm flipH="1">
            <a:off x="2286000" y="20574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36" name="Line 8"/>
          <p:cNvSpPr>
            <a:spLocks noChangeShapeType="1"/>
          </p:cNvSpPr>
          <p:nvPr/>
        </p:nvSpPr>
        <p:spPr bwMode="auto">
          <a:xfrm flipH="1" flipV="1">
            <a:off x="2895600" y="20574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37" name="Text Box 9"/>
          <p:cNvSpPr txBox="1">
            <a:spLocks noChangeArrowheads="1"/>
          </p:cNvSpPr>
          <p:nvPr/>
        </p:nvSpPr>
        <p:spPr bwMode="auto">
          <a:xfrm>
            <a:off x="1524000" y="3168650"/>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355338" name="Text Box 10"/>
          <p:cNvSpPr txBox="1">
            <a:spLocks noChangeArrowheads="1"/>
          </p:cNvSpPr>
          <p:nvPr/>
        </p:nvSpPr>
        <p:spPr bwMode="auto">
          <a:xfrm>
            <a:off x="2743200" y="31845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355342" name="Line 14"/>
          <p:cNvSpPr>
            <a:spLocks noChangeShapeType="1"/>
          </p:cNvSpPr>
          <p:nvPr/>
        </p:nvSpPr>
        <p:spPr bwMode="auto">
          <a:xfrm>
            <a:off x="6096000" y="1295400"/>
            <a:ext cx="0" cy="175260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43" name="Line 15"/>
          <p:cNvSpPr>
            <a:spLocks noChangeShapeType="1"/>
          </p:cNvSpPr>
          <p:nvPr/>
        </p:nvSpPr>
        <p:spPr bwMode="auto">
          <a:xfrm flipH="1">
            <a:off x="5105400" y="2133600"/>
            <a:ext cx="19050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44" name="Text Box 16"/>
          <p:cNvSpPr txBox="1">
            <a:spLocks noChangeArrowheads="1"/>
          </p:cNvSpPr>
          <p:nvPr/>
        </p:nvSpPr>
        <p:spPr bwMode="auto">
          <a:xfrm>
            <a:off x="6707188" y="2117725"/>
            <a:ext cx="379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grpSp>
        <p:nvGrpSpPr>
          <p:cNvPr id="355346" name="Group 18"/>
          <p:cNvGrpSpPr>
            <a:grpSpLocks/>
          </p:cNvGrpSpPr>
          <p:nvPr/>
        </p:nvGrpSpPr>
        <p:grpSpPr bwMode="auto">
          <a:xfrm>
            <a:off x="5181600" y="1524000"/>
            <a:ext cx="1371600" cy="1524000"/>
            <a:chOff x="2400" y="3120"/>
            <a:chExt cx="864" cy="960"/>
          </a:xfrm>
        </p:grpSpPr>
        <p:sp>
          <p:nvSpPr>
            <p:cNvPr id="355347" name="Line 19"/>
            <p:cNvSpPr>
              <a:spLocks noChangeShapeType="1"/>
            </p:cNvSpPr>
            <p:nvPr/>
          </p:nvSpPr>
          <p:spPr bwMode="auto">
            <a:xfrm>
              <a:off x="2400" y="3120"/>
              <a:ext cx="86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48" name="Line 20"/>
            <p:cNvSpPr>
              <a:spLocks noChangeShapeType="1"/>
            </p:cNvSpPr>
            <p:nvPr/>
          </p:nvSpPr>
          <p:spPr bwMode="auto">
            <a:xfrm flipV="1">
              <a:off x="3168" y="3888"/>
              <a:ext cx="9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355349" name="Text Box 21"/>
          <p:cNvSpPr txBox="1">
            <a:spLocks noChangeArrowheads="1"/>
          </p:cNvSpPr>
          <p:nvPr/>
        </p:nvSpPr>
        <p:spPr bwMode="auto">
          <a:xfrm>
            <a:off x="5715000" y="1219200"/>
            <a:ext cx="379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grpSp>
        <p:nvGrpSpPr>
          <p:cNvPr id="355353" name="Group 25"/>
          <p:cNvGrpSpPr>
            <a:grpSpLocks/>
          </p:cNvGrpSpPr>
          <p:nvPr/>
        </p:nvGrpSpPr>
        <p:grpSpPr bwMode="auto">
          <a:xfrm>
            <a:off x="1371600" y="4648200"/>
            <a:ext cx="1371600" cy="1524000"/>
            <a:chOff x="2400" y="3120"/>
            <a:chExt cx="864" cy="960"/>
          </a:xfrm>
        </p:grpSpPr>
        <p:sp>
          <p:nvSpPr>
            <p:cNvPr id="355354" name="Line 26"/>
            <p:cNvSpPr>
              <a:spLocks noChangeShapeType="1"/>
            </p:cNvSpPr>
            <p:nvPr/>
          </p:nvSpPr>
          <p:spPr bwMode="auto">
            <a:xfrm>
              <a:off x="2400" y="3120"/>
              <a:ext cx="86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55" name="Line 27"/>
            <p:cNvSpPr>
              <a:spLocks noChangeShapeType="1"/>
            </p:cNvSpPr>
            <p:nvPr/>
          </p:nvSpPr>
          <p:spPr bwMode="auto">
            <a:xfrm flipV="1">
              <a:off x="3168" y="3888"/>
              <a:ext cx="9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355357" name="Text Box 29"/>
          <p:cNvSpPr txBox="1">
            <a:spLocks noChangeArrowheads="1"/>
          </p:cNvSpPr>
          <p:nvPr/>
        </p:nvSpPr>
        <p:spPr bwMode="auto">
          <a:xfrm>
            <a:off x="2057400" y="121920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grpSp>
        <p:nvGrpSpPr>
          <p:cNvPr id="355361" name="Group 33"/>
          <p:cNvGrpSpPr>
            <a:grpSpLocks/>
          </p:cNvGrpSpPr>
          <p:nvPr/>
        </p:nvGrpSpPr>
        <p:grpSpPr bwMode="auto">
          <a:xfrm>
            <a:off x="3733800" y="4876800"/>
            <a:ext cx="1371600" cy="1524000"/>
            <a:chOff x="2400" y="3120"/>
            <a:chExt cx="864" cy="960"/>
          </a:xfrm>
        </p:grpSpPr>
        <p:sp>
          <p:nvSpPr>
            <p:cNvPr id="355362" name="Line 34"/>
            <p:cNvSpPr>
              <a:spLocks noChangeShapeType="1"/>
            </p:cNvSpPr>
            <p:nvPr/>
          </p:nvSpPr>
          <p:spPr bwMode="auto">
            <a:xfrm>
              <a:off x="2400" y="3120"/>
              <a:ext cx="86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63" name="Line 35"/>
            <p:cNvSpPr>
              <a:spLocks noChangeShapeType="1"/>
            </p:cNvSpPr>
            <p:nvPr/>
          </p:nvSpPr>
          <p:spPr bwMode="auto">
            <a:xfrm flipV="1">
              <a:off x="3168" y="3888"/>
              <a:ext cx="9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355372" name="Text Box 44"/>
          <p:cNvSpPr txBox="1">
            <a:spLocks noChangeArrowheads="1"/>
          </p:cNvSpPr>
          <p:nvPr/>
        </p:nvSpPr>
        <p:spPr bwMode="auto">
          <a:xfrm>
            <a:off x="3740150" y="3200400"/>
            <a:ext cx="457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   Some kinds of data are not linearly separable</a:t>
            </a:r>
          </a:p>
        </p:txBody>
      </p:sp>
      <p:grpSp>
        <p:nvGrpSpPr>
          <p:cNvPr id="355388" name="Group 60"/>
          <p:cNvGrpSpPr>
            <a:grpSpLocks/>
          </p:cNvGrpSpPr>
          <p:nvPr/>
        </p:nvGrpSpPr>
        <p:grpSpPr bwMode="auto">
          <a:xfrm>
            <a:off x="914400" y="4173538"/>
            <a:ext cx="1981200" cy="2227262"/>
            <a:chOff x="624" y="757"/>
            <a:chExt cx="1248" cy="1403"/>
          </a:xfrm>
        </p:grpSpPr>
        <p:sp>
          <p:nvSpPr>
            <p:cNvPr id="355350" name="Line 22"/>
            <p:cNvSpPr>
              <a:spLocks noChangeShapeType="1"/>
            </p:cNvSpPr>
            <p:nvPr/>
          </p:nvSpPr>
          <p:spPr bwMode="auto">
            <a:xfrm>
              <a:off x="1248" y="1056"/>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51" name="Line 23"/>
            <p:cNvSpPr>
              <a:spLocks noChangeShapeType="1"/>
            </p:cNvSpPr>
            <p:nvPr/>
          </p:nvSpPr>
          <p:spPr bwMode="auto">
            <a:xfrm flipH="1">
              <a:off x="624" y="1584"/>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52" name="Text Box 24"/>
            <p:cNvSpPr txBox="1">
              <a:spLocks noChangeArrowheads="1"/>
            </p:cNvSpPr>
            <p:nvPr/>
          </p:nvSpPr>
          <p:spPr bwMode="auto">
            <a:xfrm>
              <a:off x="1633" y="1574"/>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sp>
          <p:nvSpPr>
            <p:cNvPr id="355356" name="Text Box 28"/>
            <p:cNvSpPr txBox="1">
              <a:spLocks noChangeArrowheads="1"/>
            </p:cNvSpPr>
            <p:nvPr/>
          </p:nvSpPr>
          <p:spPr bwMode="auto">
            <a:xfrm>
              <a:off x="1008" y="1008"/>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sp>
          <p:nvSpPr>
            <p:cNvPr id="355373" name="Oval 45"/>
            <p:cNvSpPr>
              <a:spLocks noChangeArrowheads="1"/>
            </p:cNvSpPr>
            <p:nvPr/>
          </p:nvSpPr>
          <p:spPr bwMode="auto">
            <a:xfrm>
              <a:off x="1536" y="1200"/>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74" name="Oval 46"/>
            <p:cNvSpPr>
              <a:spLocks noChangeArrowheads="1"/>
            </p:cNvSpPr>
            <p:nvPr/>
          </p:nvSpPr>
          <p:spPr bwMode="auto">
            <a:xfrm>
              <a:off x="864" y="1200"/>
              <a:ext cx="96" cy="96"/>
            </a:xfrm>
            <a:prstGeom prst="ellipse">
              <a:avLst/>
            </a:prstGeom>
            <a:solidFill>
              <a:srgbClr val="0070C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75" name="Oval 47"/>
            <p:cNvSpPr>
              <a:spLocks noChangeArrowheads="1"/>
            </p:cNvSpPr>
            <p:nvPr/>
          </p:nvSpPr>
          <p:spPr bwMode="auto">
            <a:xfrm>
              <a:off x="864" y="1872"/>
              <a:ext cx="96" cy="96"/>
            </a:xfrm>
            <a:prstGeom prst="ellipse">
              <a:avLst/>
            </a:prstGeom>
            <a:solidFill>
              <a:srgbClr val="0070C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76" name="Oval 48"/>
            <p:cNvSpPr>
              <a:spLocks noChangeArrowheads="1"/>
            </p:cNvSpPr>
            <p:nvPr/>
          </p:nvSpPr>
          <p:spPr bwMode="auto">
            <a:xfrm>
              <a:off x="1536" y="1872"/>
              <a:ext cx="96" cy="96"/>
            </a:xfrm>
            <a:prstGeom prst="ellipse">
              <a:avLst/>
            </a:prstGeom>
            <a:solidFill>
              <a:srgbClr val="0070C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85" name="Text Box 57"/>
            <p:cNvSpPr txBox="1">
              <a:spLocks noChangeArrowheads="1"/>
            </p:cNvSpPr>
            <p:nvPr/>
          </p:nvSpPr>
          <p:spPr bwMode="auto">
            <a:xfrm>
              <a:off x="1010" y="757"/>
              <a:ext cx="47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a:t>AND</a:t>
              </a:r>
            </a:p>
          </p:txBody>
        </p:sp>
      </p:grpSp>
      <p:grpSp>
        <p:nvGrpSpPr>
          <p:cNvPr id="355389" name="Group 61"/>
          <p:cNvGrpSpPr>
            <a:grpSpLocks/>
          </p:cNvGrpSpPr>
          <p:nvPr/>
        </p:nvGrpSpPr>
        <p:grpSpPr bwMode="auto">
          <a:xfrm>
            <a:off x="3657600" y="4191000"/>
            <a:ext cx="1981200" cy="2209800"/>
            <a:chOff x="2352" y="768"/>
            <a:chExt cx="1248" cy="1392"/>
          </a:xfrm>
        </p:grpSpPr>
        <p:sp>
          <p:nvSpPr>
            <p:cNvPr id="355358" name="Line 30"/>
            <p:cNvSpPr>
              <a:spLocks noChangeShapeType="1"/>
            </p:cNvSpPr>
            <p:nvPr/>
          </p:nvSpPr>
          <p:spPr bwMode="auto">
            <a:xfrm>
              <a:off x="2976" y="1056"/>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59" name="Line 31"/>
            <p:cNvSpPr>
              <a:spLocks noChangeShapeType="1"/>
            </p:cNvSpPr>
            <p:nvPr/>
          </p:nvSpPr>
          <p:spPr bwMode="auto">
            <a:xfrm flipH="1">
              <a:off x="2352" y="1584"/>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60" name="Text Box 32"/>
            <p:cNvSpPr txBox="1">
              <a:spLocks noChangeArrowheads="1"/>
            </p:cNvSpPr>
            <p:nvPr/>
          </p:nvSpPr>
          <p:spPr bwMode="auto">
            <a:xfrm>
              <a:off x="3361" y="1574"/>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sp>
          <p:nvSpPr>
            <p:cNvPr id="355364" name="Text Box 36"/>
            <p:cNvSpPr txBox="1">
              <a:spLocks noChangeArrowheads="1"/>
            </p:cNvSpPr>
            <p:nvPr/>
          </p:nvSpPr>
          <p:spPr bwMode="auto">
            <a:xfrm>
              <a:off x="2736" y="1008"/>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sp>
          <p:nvSpPr>
            <p:cNvPr id="355377" name="Oval 49"/>
            <p:cNvSpPr>
              <a:spLocks noChangeArrowheads="1"/>
            </p:cNvSpPr>
            <p:nvPr/>
          </p:nvSpPr>
          <p:spPr bwMode="auto">
            <a:xfrm>
              <a:off x="3264" y="1200"/>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78" name="Oval 50"/>
            <p:cNvSpPr>
              <a:spLocks noChangeArrowheads="1"/>
            </p:cNvSpPr>
            <p:nvPr/>
          </p:nvSpPr>
          <p:spPr bwMode="auto">
            <a:xfrm>
              <a:off x="2592" y="1200"/>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79" name="Oval 51"/>
            <p:cNvSpPr>
              <a:spLocks noChangeArrowheads="1"/>
            </p:cNvSpPr>
            <p:nvPr/>
          </p:nvSpPr>
          <p:spPr bwMode="auto">
            <a:xfrm>
              <a:off x="2592" y="1872"/>
              <a:ext cx="96" cy="96"/>
            </a:xfrm>
            <a:prstGeom prst="ellipse">
              <a:avLst/>
            </a:prstGeom>
            <a:solidFill>
              <a:srgbClr val="0070C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80" name="Oval 52"/>
            <p:cNvSpPr>
              <a:spLocks noChangeArrowheads="1"/>
            </p:cNvSpPr>
            <p:nvPr/>
          </p:nvSpPr>
          <p:spPr bwMode="auto">
            <a:xfrm>
              <a:off x="3264" y="1872"/>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86" name="Text Box 58"/>
            <p:cNvSpPr txBox="1">
              <a:spLocks noChangeArrowheads="1"/>
            </p:cNvSpPr>
            <p:nvPr/>
          </p:nvSpPr>
          <p:spPr bwMode="auto">
            <a:xfrm>
              <a:off x="2776" y="768"/>
              <a:ext cx="35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a:t>OR</a:t>
              </a:r>
            </a:p>
          </p:txBody>
        </p:sp>
      </p:grpSp>
      <p:grpSp>
        <p:nvGrpSpPr>
          <p:cNvPr id="355391" name="Group 63"/>
          <p:cNvGrpSpPr>
            <a:grpSpLocks/>
          </p:cNvGrpSpPr>
          <p:nvPr/>
        </p:nvGrpSpPr>
        <p:grpSpPr bwMode="auto">
          <a:xfrm>
            <a:off x="6400800" y="4191000"/>
            <a:ext cx="1981200" cy="2209800"/>
            <a:chOff x="4032" y="2640"/>
            <a:chExt cx="1248" cy="1392"/>
          </a:xfrm>
        </p:grpSpPr>
        <p:sp>
          <p:nvSpPr>
            <p:cNvPr id="355365" name="Line 37"/>
            <p:cNvSpPr>
              <a:spLocks noChangeShapeType="1"/>
            </p:cNvSpPr>
            <p:nvPr/>
          </p:nvSpPr>
          <p:spPr bwMode="auto">
            <a:xfrm>
              <a:off x="4656" y="2928"/>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66" name="Line 38"/>
            <p:cNvSpPr>
              <a:spLocks noChangeShapeType="1"/>
            </p:cNvSpPr>
            <p:nvPr/>
          </p:nvSpPr>
          <p:spPr bwMode="auto">
            <a:xfrm flipH="1">
              <a:off x="4032" y="3456"/>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67" name="Text Box 39"/>
            <p:cNvSpPr txBox="1">
              <a:spLocks noChangeArrowheads="1"/>
            </p:cNvSpPr>
            <p:nvPr/>
          </p:nvSpPr>
          <p:spPr bwMode="auto">
            <a:xfrm>
              <a:off x="5041" y="3446"/>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sp>
          <p:nvSpPr>
            <p:cNvPr id="355371" name="Text Box 43"/>
            <p:cNvSpPr txBox="1">
              <a:spLocks noChangeArrowheads="1"/>
            </p:cNvSpPr>
            <p:nvPr/>
          </p:nvSpPr>
          <p:spPr bwMode="auto">
            <a:xfrm>
              <a:off x="4416" y="2880"/>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sp>
          <p:nvSpPr>
            <p:cNvPr id="355381" name="Oval 53"/>
            <p:cNvSpPr>
              <a:spLocks noChangeArrowheads="1"/>
            </p:cNvSpPr>
            <p:nvPr/>
          </p:nvSpPr>
          <p:spPr bwMode="auto">
            <a:xfrm>
              <a:off x="4944" y="3072"/>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82" name="Oval 54"/>
            <p:cNvSpPr>
              <a:spLocks noChangeArrowheads="1"/>
            </p:cNvSpPr>
            <p:nvPr/>
          </p:nvSpPr>
          <p:spPr bwMode="auto">
            <a:xfrm>
              <a:off x="4272" y="3072"/>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83" name="Oval 55"/>
            <p:cNvSpPr>
              <a:spLocks noChangeArrowheads="1"/>
            </p:cNvSpPr>
            <p:nvPr/>
          </p:nvSpPr>
          <p:spPr bwMode="auto">
            <a:xfrm>
              <a:off x="4272" y="3744"/>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84" name="Oval 56"/>
            <p:cNvSpPr>
              <a:spLocks noChangeArrowheads="1"/>
            </p:cNvSpPr>
            <p:nvPr/>
          </p:nvSpPr>
          <p:spPr bwMode="auto">
            <a:xfrm>
              <a:off x="4944" y="3744"/>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355387" name="Text Box 59"/>
            <p:cNvSpPr txBox="1">
              <a:spLocks noChangeArrowheads="1"/>
            </p:cNvSpPr>
            <p:nvPr/>
          </p:nvSpPr>
          <p:spPr bwMode="auto">
            <a:xfrm>
              <a:off x="4456" y="2640"/>
              <a:ext cx="44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a:t>XOR</a:t>
              </a:r>
            </a:p>
          </p:txBody>
        </p:sp>
      </p:grpSp>
    </p:spTree>
    <p:extLst>
      <p:ext uri="{BB962C8B-B14F-4D97-AF65-F5344CB8AC3E}">
        <p14:creationId xmlns:p14="http://schemas.microsoft.com/office/powerpoint/2010/main" val="37584770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53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53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53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5538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5536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55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7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685800" y="152400"/>
            <a:ext cx="8077200" cy="854990"/>
          </a:xfrm>
        </p:spPr>
        <p:txBody>
          <a:bodyPr/>
          <a:lstStyle/>
          <a:p>
            <a:r>
              <a:rPr lang="en-US" altLang="x-none" dirty="0"/>
              <a:t>Problems with </a:t>
            </a:r>
            <a:r>
              <a:rPr lang="en-US" altLang="x-none" b="1" dirty="0"/>
              <a:t>linear </a:t>
            </a:r>
            <a:r>
              <a:rPr lang="en-US" altLang="x-none" dirty="0"/>
              <a:t>networks</a:t>
            </a:r>
          </a:p>
        </p:txBody>
      </p:sp>
      <p:sp>
        <p:nvSpPr>
          <p:cNvPr id="4" name="TextBox 3"/>
          <p:cNvSpPr txBox="1"/>
          <p:nvPr/>
        </p:nvSpPr>
        <p:spPr>
          <a:xfrm>
            <a:off x="185980" y="1301858"/>
            <a:ext cx="8849532" cy="492443"/>
          </a:xfrm>
          <a:prstGeom prst="rect">
            <a:avLst/>
          </a:prstGeom>
          <a:noFill/>
        </p:spPr>
        <p:txBody>
          <a:bodyPr wrap="square" rtlCol="0">
            <a:spAutoFit/>
          </a:bodyPr>
          <a:lstStyle/>
          <a:p>
            <a:r>
              <a:rPr lang="en-US" sz="2600" dirty="0"/>
              <a:t>Does adding layers help?</a:t>
            </a:r>
          </a:p>
        </p:txBody>
      </p:sp>
      <p:pic>
        <p:nvPicPr>
          <p:cNvPr id="5" name="Picture 4"/>
          <p:cNvPicPr>
            <a:picLocks noChangeAspect="1"/>
          </p:cNvPicPr>
          <p:nvPr/>
        </p:nvPicPr>
        <p:blipFill>
          <a:blip r:embed="rId3"/>
          <a:stretch>
            <a:fillRect/>
          </a:stretch>
        </p:blipFill>
        <p:spPr>
          <a:xfrm>
            <a:off x="1730213" y="2976266"/>
            <a:ext cx="5448300" cy="482600"/>
          </a:xfrm>
          <a:prstGeom prst="rect">
            <a:avLst/>
          </a:prstGeom>
        </p:spPr>
      </p:pic>
      <p:pic>
        <p:nvPicPr>
          <p:cNvPr id="7" name="Picture 6"/>
          <p:cNvPicPr>
            <a:picLocks noChangeAspect="1"/>
          </p:cNvPicPr>
          <p:nvPr/>
        </p:nvPicPr>
        <p:blipFill>
          <a:blip r:embed="rId4"/>
          <a:stretch>
            <a:fillRect/>
          </a:stretch>
        </p:blipFill>
        <p:spPr>
          <a:xfrm>
            <a:off x="4857750" y="3866452"/>
            <a:ext cx="2628900" cy="482600"/>
          </a:xfrm>
          <a:prstGeom prst="rect">
            <a:avLst/>
          </a:prstGeom>
        </p:spPr>
      </p:pic>
      <p:pic>
        <p:nvPicPr>
          <p:cNvPr id="8" name="Picture 7"/>
          <p:cNvPicPr>
            <a:picLocks noChangeAspect="1"/>
          </p:cNvPicPr>
          <p:nvPr/>
        </p:nvPicPr>
        <p:blipFill>
          <a:blip r:embed="rId5"/>
          <a:stretch>
            <a:fillRect/>
          </a:stretch>
        </p:blipFill>
        <p:spPr>
          <a:xfrm>
            <a:off x="432446" y="2086080"/>
            <a:ext cx="8356600" cy="482600"/>
          </a:xfrm>
          <a:prstGeom prst="rect">
            <a:avLst/>
          </a:prstGeom>
        </p:spPr>
      </p:pic>
      <p:pic>
        <p:nvPicPr>
          <p:cNvPr id="10" name="Picture 9"/>
          <p:cNvPicPr>
            <a:picLocks noChangeAspect="1"/>
          </p:cNvPicPr>
          <p:nvPr/>
        </p:nvPicPr>
        <p:blipFill>
          <a:blip r:embed="rId6"/>
          <a:stretch>
            <a:fillRect/>
          </a:stretch>
        </p:blipFill>
        <p:spPr>
          <a:xfrm>
            <a:off x="1160867" y="4897846"/>
            <a:ext cx="5816600" cy="469900"/>
          </a:xfrm>
          <a:prstGeom prst="rect">
            <a:avLst/>
          </a:prstGeom>
        </p:spPr>
      </p:pic>
      <p:pic>
        <p:nvPicPr>
          <p:cNvPr id="11" name="Picture 10"/>
          <p:cNvPicPr>
            <a:picLocks noChangeAspect="1"/>
          </p:cNvPicPr>
          <p:nvPr/>
        </p:nvPicPr>
        <p:blipFill>
          <a:blip r:embed="rId7"/>
          <a:stretch>
            <a:fillRect/>
          </a:stretch>
        </p:blipFill>
        <p:spPr>
          <a:xfrm>
            <a:off x="5115519" y="5753542"/>
            <a:ext cx="1803400" cy="342900"/>
          </a:xfrm>
          <a:prstGeom prst="rect">
            <a:avLst/>
          </a:prstGeom>
        </p:spPr>
      </p:pic>
      <p:pic>
        <p:nvPicPr>
          <p:cNvPr id="2" name="Picture 1"/>
          <p:cNvPicPr>
            <a:picLocks noChangeAspect="1"/>
          </p:cNvPicPr>
          <p:nvPr/>
        </p:nvPicPr>
        <p:blipFill>
          <a:blip r:embed="rId8"/>
          <a:stretch>
            <a:fillRect/>
          </a:stretch>
        </p:blipFill>
        <p:spPr>
          <a:xfrm>
            <a:off x="685800" y="3866452"/>
            <a:ext cx="3556000" cy="482600"/>
          </a:xfrm>
          <a:prstGeom prst="rect">
            <a:avLst/>
          </a:prstGeom>
        </p:spPr>
      </p:pic>
    </p:spTree>
    <p:extLst>
      <p:ext uri="{BB962C8B-B14F-4D97-AF65-F5344CB8AC3E}">
        <p14:creationId xmlns:p14="http://schemas.microsoft.com/office/powerpoint/2010/main" val="232278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a:xfrm>
            <a:off x="3120707" y="90487"/>
            <a:ext cx="5914214" cy="1143000"/>
          </a:xfrm>
        </p:spPr>
        <p:txBody>
          <a:bodyPr>
            <a:normAutofit fontScale="90000"/>
          </a:bodyPr>
          <a:lstStyle/>
          <a:p>
            <a:r>
              <a:rPr lang="en-US" altLang="x-none" sz="4000" b="1" dirty="0"/>
              <a:t>A solution: </a:t>
            </a:r>
            <a:br>
              <a:rPr lang="en-US" altLang="x-none" sz="4000" b="1" dirty="0"/>
            </a:br>
            <a:r>
              <a:rPr lang="en-US" altLang="x-none" sz="4000" b="1" dirty="0"/>
              <a:t>multiple layers + nonlinearity</a:t>
            </a:r>
          </a:p>
        </p:txBody>
      </p:sp>
      <p:sp>
        <p:nvSpPr>
          <p:cNvPr id="400387" name="Oval 3"/>
          <p:cNvSpPr>
            <a:spLocks noChangeArrowheads="1"/>
          </p:cNvSpPr>
          <p:nvPr/>
        </p:nvSpPr>
        <p:spPr bwMode="auto">
          <a:xfrm>
            <a:off x="2213084" y="16383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88" name="Oval 4"/>
          <p:cNvSpPr>
            <a:spLocks noChangeArrowheads="1"/>
          </p:cNvSpPr>
          <p:nvPr/>
        </p:nvSpPr>
        <p:spPr bwMode="auto">
          <a:xfrm>
            <a:off x="1679684" y="35433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89" name="Oval 5"/>
          <p:cNvSpPr>
            <a:spLocks noChangeArrowheads="1"/>
          </p:cNvSpPr>
          <p:nvPr/>
        </p:nvSpPr>
        <p:spPr bwMode="auto">
          <a:xfrm>
            <a:off x="2898884" y="35433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90" name="Line 6"/>
          <p:cNvSpPr>
            <a:spLocks noChangeShapeType="1"/>
          </p:cNvSpPr>
          <p:nvPr/>
        </p:nvSpPr>
        <p:spPr bwMode="auto">
          <a:xfrm flipH="1">
            <a:off x="2206734" y="24765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91" name="Line 7"/>
          <p:cNvSpPr>
            <a:spLocks noChangeShapeType="1"/>
          </p:cNvSpPr>
          <p:nvPr/>
        </p:nvSpPr>
        <p:spPr bwMode="auto">
          <a:xfrm flipH="1" flipV="1">
            <a:off x="2816334" y="24765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92" name="Text Box 8"/>
          <p:cNvSpPr txBox="1">
            <a:spLocks noChangeArrowheads="1"/>
          </p:cNvSpPr>
          <p:nvPr/>
        </p:nvSpPr>
        <p:spPr bwMode="auto">
          <a:xfrm>
            <a:off x="1444734" y="3587750"/>
            <a:ext cx="10310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dirty="0">
                <a:latin typeface="Times New Roman" charset="0"/>
              </a:rPr>
              <a:t>    h</a:t>
            </a:r>
            <a:r>
              <a:rPr lang="en-US" altLang="x-none" sz="3600" baseline="-25000" dirty="0">
                <a:latin typeface="Times New Roman" charset="0"/>
              </a:rPr>
              <a:t>1</a:t>
            </a:r>
            <a:endParaRPr lang="en-US" altLang="x-none" sz="3600" dirty="0"/>
          </a:p>
        </p:txBody>
      </p:sp>
      <p:sp>
        <p:nvSpPr>
          <p:cNvPr id="400393" name="Text Box 9"/>
          <p:cNvSpPr txBox="1">
            <a:spLocks noChangeArrowheads="1"/>
          </p:cNvSpPr>
          <p:nvPr/>
        </p:nvSpPr>
        <p:spPr bwMode="auto">
          <a:xfrm>
            <a:off x="2663934" y="3603625"/>
            <a:ext cx="10310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dirty="0">
                <a:latin typeface="Times New Roman" charset="0"/>
              </a:rPr>
              <a:t>    h</a:t>
            </a:r>
            <a:r>
              <a:rPr lang="en-US" altLang="x-none" sz="3600" baseline="-25000" dirty="0">
                <a:latin typeface="Times New Roman" charset="0"/>
              </a:rPr>
              <a:t>2</a:t>
            </a:r>
            <a:endParaRPr lang="en-US" altLang="x-none" sz="3600" dirty="0"/>
          </a:p>
        </p:txBody>
      </p:sp>
      <p:grpSp>
        <p:nvGrpSpPr>
          <p:cNvPr id="400394" name="Group 10"/>
          <p:cNvGrpSpPr>
            <a:grpSpLocks/>
          </p:cNvGrpSpPr>
          <p:nvPr/>
        </p:nvGrpSpPr>
        <p:grpSpPr bwMode="auto">
          <a:xfrm>
            <a:off x="5029200" y="2743200"/>
            <a:ext cx="1371600" cy="1524000"/>
            <a:chOff x="2400" y="3120"/>
            <a:chExt cx="864" cy="960"/>
          </a:xfrm>
        </p:grpSpPr>
        <p:sp>
          <p:nvSpPr>
            <p:cNvPr id="400395" name="Line 11"/>
            <p:cNvSpPr>
              <a:spLocks noChangeShapeType="1"/>
            </p:cNvSpPr>
            <p:nvPr/>
          </p:nvSpPr>
          <p:spPr bwMode="auto">
            <a:xfrm>
              <a:off x="2400" y="3120"/>
              <a:ext cx="86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96" name="Line 12"/>
            <p:cNvSpPr>
              <a:spLocks noChangeShapeType="1"/>
            </p:cNvSpPr>
            <p:nvPr/>
          </p:nvSpPr>
          <p:spPr bwMode="auto">
            <a:xfrm flipV="1">
              <a:off x="3168" y="3888"/>
              <a:ext cx="9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400397" name="Text Box 13"/>
          <p:cNvSpPr txBox="1">
            <a:spLocks noChangeArrowheads="1"/>
          </p:cNvSpPr>
          <p:nvPr/>
        </p:nvSpPr>
        <p:spPr bwMode="auto">
          <a:xfrm>
            <a:off x="1978134" y="163830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400398" name="Oval 14"/>
          <p:cNvSpPr>
            <a:spLocks noChangeArrowheads="1"/>
          </p:cNvSpPr>
          <p:nvPr/>
        </p:nvSpPr>
        <p:spPr bwMode="auto">
          <a:xfrm>
            <a:off x="1679684" y="55245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99" name="Oval 15"/>
          <p:cNvSpPr>
            <a:spLocks noChangeArrowheads="1"/>
          </p:cNvSpPr>
          <p:nvPr/>
        </p:nvSpPr>
        <p:spPr bwMode="auto">
          <a:xfrm>
            <a:off x="2898884" y="55245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00" name="Line 16"/>
          <p:cNvSpPr>
            <a:spLocks noChangeShapeType="1"/>
          </p:cNvSpPr>
          <p:nvPr/>
        </p:nvSpPr>
        <p:spPr bwMode="auto">
          <a:xfrm>
            <a:off x="1921202" y="43815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01" name="Line 17"/>
          <p:cNvSpPr>
            <a:spLocks noChangeShapeType="1"/>
          </p:cNvSpPr>
          <p:nvPr/>
        </p:nvSpPr>
        <p:spPr bwMode="auto">
          <a:xfrm>
            <a:off x="3356084" y="43815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02" name="Line 18"/>
          <p:cNvSpPr>
            <a:spLocks noChangeShapeType="1"/>
          </p:cNvSpPr>
          <p:nvPr/>
        </p:nvSpPr>
        <p:spPr bwMode="auto">
          <a:xfrm flipH="1">
            <a:off x="2213084" y="43815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03" name="Line 19"/>
          <p:cNvSpPr>
            <a:spLocks noChangeShapeType="1"/>
          </p:cNvSpPr>
          <p:nvPr/>
        </p:nvSpPr>
        <p:spPr bwMode="auto">
          <a:xfrm flipH="1" flipV="1">
            <a:off x="2213084" y="43815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04" name="Text Box 20"/>
          <p:cNvSpPr txBox="1">
            <a:spLocks noChangeArrowheads="1"/>
          </p:cNvSpPr>
          <p:nvPr/>
        </p:nvSpPr>
        <p:spPr bwMode="auto">
          <a:xfrm>
            <a:off x="1444734" y="55848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00405" name="Text Box 21"/>
          <p:cNvSpPr txBox="1">
            <a:spLocks noChangeArrowheads="1"/>
          </p:cNvSpPr>
          <p:nvPr/>
        </p:nvSpPr>
        <p:spPr bwMode="auto">
          <a:xfrm>
            <a:off x="2663934" y="55848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00406" name="AutoShape 22"/>
          <p:cNvSpPr>
            <a:spLocks noChangeArrowheads="1"/>
          </p:cNvSpPr>
          <p:nvPr/>
        </p:nvSpPr>
        <p:spPr bwMode="auto">
          <a:xfrm rot="16200000">
            <a:off x="3886200" y="1905000"/>
            <a:ext cx="1066800" cy="9144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07" name="AutoShape 23"/>
          <p:cNvSpPr>
            <a:spLocks noChangeArrowheads="1"/>
          </p:cNvSpPr>
          <p:nvPr/>
        </p:nvSpPr>
        <p:spPr bwMode="auto">
          <a:xfrm rot="10800000" flipH="1">
            <a:off x="7086600" y="2819400"/>
            <a:ext cx="990600" cy="2971800"/>
          </a:xfrm>
          <a:prstGeom prst="curvedLeftArrow">
            <a:avLst>
              <a:gd name="adj1" fmla="val 60000"/>
              <a:gd name="adj2" fmla="val 120000"/>
              <a:gd name="adj3" fmla="val 33333"/>
            </a:avLst>
          </a:pr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nvGrpSpPr>
          <p:cNvPr id="400408" name="Group 24"/>
          <p:cNvGrpSpPr>
            <a:grpSpLocks/>
          </p:cNvGrpSpPr>
          <p:nvPr/>
        </p:nvGrpSpPr>
        <p:grpSpPr bwMode="auto">
          <a:xfrm>
            <a:off x="5257800" y="4876800"/>
            <a:ext cx="1219200" cy="1219200"/>
            <a:chOff x="3312" y="2976"/>
            <a:chExt cx="768" cy="768"/>
          </a:xfrm>
        </p:grpSpPr>
        <p:sp>
          <p:nvSpPr>
            <p:cNvPr id="400409" name="Oval 25"/>
            <p:cNvSpPr>
              <a:spLocks noChangeArrowheads="1"/>
            </p:cNvSpPr>
            <p:nvPr/>
          </p:nvSpPr>
          <p:spPr bwMode="auto">
            <a:xfrm>
              <a:off x="3984" y="2976"/>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0" name="Oval 26"/>
            <p:cNvSpPr>
              <a:spLocks noChangeArrowheads="1"/>
            </p:cNvSpPr>
            <p:nvPr/>
          </p:nvSpPr>
          <p:spPr bwMode="auto">
            <a:xfrm>
              <a:off x="3312" y="2976"/>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1" name="Oval 27"/>
            <p:cNvSpPr>
              <a:spLocks noChangeArrowheads="1"/>
            </p:cNvSpPr>
            <p:nvPr/>
          </p:nvSpPr>
          <p:spPr bwMode="auto">
            <a:xfrm>
              <a:off x="3312" y="3648"/>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2" name="Oval 28"/>
            <p:cNvSpPr>
              <a:spLocks noChangeArrowheads="1"/>
            </p:cNvSpPr>
            <p:nvPr/>
          </p:nvSpPr>
          <p:spPr bwMode="auto">
            <a:xfrm>
              <a:off x="3984" y="3648"/>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400413" name="Group 29"/>
          <p:cNvGrpSpPr>
            <a:grpSpLocks/>
          </p:cNvGrpSpPr>
          <p:nvPr/>
        </p:nvGrpSpPr>
        <p:grpSpPr bwMode="auto">
          <a:xfrm>
            <a:off x="5181600" y="2895600"/>
            <a:ext cx="1219200" cy="1143000"/>
            <a:chOff x="3264" y="1824"/>
            <a:chExt cx="768" cy="720"/>
          </a:xfrm>
        </p:grpSpPr>
        <p:sp>
          <p:nvSpPr>
            <p:cNvPr id="400414" name="Oval 30"/>
            <p:cNvSpPr>
              <a:spLocks noChangeArrowheads="1"/>
            </p:cNvSpPr>
            <p:nvPr/>
          </p:nvSpPr>
          <p:spPr bwMode="auto">
            <a:xfrm>
              <a:off x="3264" y="2304"/>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5" name="Oval 31"/>
            <p:cNvSpPr>
              <a:spLocks noChangeArrowheads="1"/>
            </p:cNvSpPr>
            <p:nvPr/>
          </p:nvSpPr>
          <p:spPr bwMode="auto">
            <a:xfrm>
              <a:off x="3792" y="1824"/>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6" name="Oval 32"/>
            <p:cNvSpPr>
              <a:spLocks noChangeArrowheads="1"/>
            </p:cNvSpPr>
            <p:nvPr/>
          </p:nvSpPr>
          <p:spPr bwMode="auto">
            <a:xfrm>
              <a:off x="3408" y="2448"/>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7" name="Oval 33"/>
            <p:cNvSpPr>
              <a:spLocks noChangeArrowheads="1"/>
            </p:cNvSpPr>
            <p:nvPr/>
          </p:nvSpPr>
          <p:spPr bwMode="auto">
            <a:xfrm>
              <a:off x="3936" y="1968"/>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400418" name="Group 34"/>
          <p:cNvGrpSpPr>
            <a:grpSpLocks/>
          </p:cNvGrpSpPr>
          <p:nvPr/>
        </p:nvGrpSpPr>
        <p:grpSpPr bwMode="auto">
          <a:xfrm>
            <a:off x="4038600" y="1524000"/>
            <a:ext cx="3878263" cy="4876800"/>
            <a:chOff x="2544" y="960"/>
            <a:chExt cx="2443" cy="3072"/>
          </a:xfrm>
        </p:grpSpPr>
        <p:sp>
          <p:nvSpPr>
            <p:cNvPr id="400419" name="Text Box 35"/>
            <p:cNvSpPr txBox="1">
              <a:spLocks noChangeArrowheads="1"/>
            </p:cNvSpPr>
            <p:nvPr/>
          </p:nvSpPr>
          <p:spPr bwMode="auto">
            <a:xfrm>
              <a:off x="4800" y="998"/>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y</a:t>
              </a:r>
              <a:endParaRPr lang="en-US" altLang="x-none" sz="2000"/>
            </a:p>
          </p:txBody>
        </p:sp>
        <p:sp>
          <p:nvSpPr>
            <p:cNvPr id="400420" name="Line 36"/>
            <p:cNvSpPr>
              <a:spLocks noChangeShapeType="1"/>
            </p:cNvSpPr>
            <p:nvPr/>
          </p:nvSpPr>
          <p:spPr bwMode="auto">
            <a:xfrm>
              <a:off x="3696" y="1632"/>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1" name="Line 37"/>
            <p:cNvSpPr>
              <a:spLocks noChangeShapeType="1"/>
            </p:cNvSpPr>
            <p:nvPr/>
          </p:nvSpPr>
          <p:spPr bwMode="auto">
            <a:xfrm flipH="1" flipV="1">
              <a:off x="2544" y="1008"/>
              <a:ext cx="24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2" name="Line 38"/>
            <p:cNvSpPr>
              <a:spLocks noChangeShapeType="1"/>
            </p:cNvSpPr>
            <p:nvPr/>
          </p:nvSpPr>
          <p:spPr bwMode="auto">
            <a:xfrm flipH="1">
              <a:off x="3072" y="2160"/>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3" name="Text Box 39"/>
            <p:cNvSpPr txBox="1">
              <a:spLocks noChangeArrowheads="1"/>
            </p:cNvSpPr>
            <p:nvPr/>
          </p:nvSpPr>
          <p:spPr bwMode="auto">
            <a:xfrm>
              <a:off x="4081" y="2150"/>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dirty="0">
                  <a:latin typeface="Times New Roman" charset="0"/>
                </a:rPr>
                <a:t>h</a:t>
              </a:r>
              <a:r>
                <a:rPr lang="en-US" altLang="x-none" sz="2000" baseline="-25000" dirty="0">
                  <a:latin typeface="Times New Roman" charset="0"/>
                </a:rPr>
                <a:t>1</a:t>
              </a:r>
              <a:endParaRPr lang="en-US" altLang="x-none" sz="2000" dirty="0"/>
            </a:p>
          </p:txBody>
        </p:sp>
        <p:sp>
          <p:nvSpPr>
            <p:cNvPr id="400424" name="Text Box 40"/>
            <p:cNvSpPr txBox="1">
              <a:spLocks noChangeArrowheads="1"/>
            </p:cNvSpPr>
            <p:nvPr/>
          </p:nvSpPr>
          <p:spPr bwMode="auto">
            <a:xfrm>
              <a:off x="3476" y="1536"/>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dirty="0">
                  <a:latin typeface="Times New Roman" charset="0"/>
                </a:rPr>
                <a:t>h</a:t>
              </a:r>
              <a:r>
                <a:rPr lang="en-US" altLang="x-none" sz="2000" baseline="-25000" dirty="0">
                  <a:latin typeface="Times New Roman" charset="0"/>
                </a:rPr>
                <a:t>2</a:t>
              </a:r>
              <a:endParaRPr lang="en-US" altLang="x-none" sz="2000" dirty="0"/>
            </a:p>
          </p:txBody>
        </p:sp>
        <p:sp>
          <p:nvSpPr>
            <p:cNvPr id="400425" name="Line 41"/>
            <p:cNvSpPr>
              <a:spLocks noChangeShapeType="1"/>
            </p:cNvSpPr>
            <p:nvPr/>
          </p:nvSpPr>
          <p:spPr bwMode="auto">
            <a:xfrm>
              <a:off x="3696" y="960"/>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6" name="Line 42"/>
            <p:cNvSpPr>
              <a:spLocks noChangeShapeType="1"/>
            </p:cNvSpPr>
            <p:nvPr/>
          </p:nvSpPr>
          <p:spPr bwMode="auto">
            <a:xfrm>
              <a:off x="3696" y="2928"/>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7" name="Line 43"/>
            <p:cNvSpPr>
              <a:spLocks noChangeShapeType="1"/>
            </p:cNvSpPr>
            <p:nvPr/>
          </p:nvSpPr>
          <p:spPr bwMode="auto">
            <a:xfrm flipH="1">
              <a:off x="3072" y="3456"/>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8" name="Text Box 44"/>
            <p:cNvSpPr txBox="1">
              <a:spLocks noChangeArrowheads="1"/>
            </p:cNvSpPr>
            <p:nvPr/>
          </p:nvSpPr>
          <p:spPr bwMode="auto">
            <a:xfrm>
              <a:off x="4081" y="3446"/>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sp>
          <p:nvSpPr>
            <p:cNvPr id="400429" name="Text Box 45"/>
            <p:cNvSpPr txBox="1">
              <a:spLocks noChangeArrowheads="1"/>
            </p:cNvSpPr>
            <p:nvPr/>
          </p:nvSpPr>
          <p:spPr bwMode="auto">
            <a:xfrm>
              <a:off x="3456" y="2880"/>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grpSp>
      <p:sp>
        <p:nvSpPr>
          <p:cNvPr id="400430" name="Text Box 46"/>
          <p:cNvSpPr txBox="1">
            <a:spLocks noChangeArrowheads="1"/>
          </p:cNvSpPr>
          <p:nvPr/>
        </p:nvSpPr>
        <p:spPr bwMode="auto">
          <a:xfrm>
            <a:off x="5795963" y="40386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endParaRPr lang="x-none" altLang="x-none"/>
          </a:p>
        </p:txBody>
      </p:sp>
      <p:grpSp>
        <p:nvGrpSpPr>
          <p:cNvPr id="400431" name="Group 47"/>
          <p:cNvGrpSpPr>
            <a:grpSpLocks/>
          </p:cNvGrpSpPr>
          <p:nvPr/>
        </p:nvGrpSpPr>
        <p:grpSpPr bwMode="auto">
          <a:xfrm>
            <a:off x="4876800" y="1524000"/>
            <a:ext cx="1905000" cy="152400"/>
            <a:chOff x="3072" y="960"/>
            <a:chExt cx="1200" cy="96"/>
          </a:xfrm>
        </p:grpSpPr>
        <p:sp>
          <p:nvSpPr>
            <p:cNvPr id="400432" name="Oval 48"/>
            <p:cNvSpPr>
              <a:spLocks noChangeArrowheads="1"/>
            </p:cNvSpPr>
            <p:nvPr/>
          </p:nvSpPr>
          <p:spPr bwMode="auto">
            <a:xfrm>
              <a:off x="3072" y="960"/>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33" name="Oval 49"/>
            <p:cNvSpPr>
              <a:spLocks noChangeArrowheads="1"/>
            </p:cNvSpPr>
            <p:nvPr/>
          </p:nvSpPr>
          <p:spPr bwMode="auto">
            <a:xfrm>
              <a:off x="4176" y="960"/>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400434" name="Text Box 50"/>
          <p:cNvSpPr txBox="1">
            <a:spLocks noChangeArrowheads="1"/>
          </p:cNvSpPr>
          <p:nvPr/>
        </p:nvSpPr>
        <p:spPr bwMode="auto">
          <a:xfrm>
            <a:off x="162252" y="3482975"/>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dirty="0"/>
              <a:t>hidden layer</a:t>
            </a:r>
          </a:p>
        </p:txBody>
      </p:sp>
      <p:grpSp>
        <p:nvGrpSpPr>
          <p:cNvPr id="400435" name="Group 51"/>
          <p:cNvGrpSpPr>
            <a:grpSpLocks/>
          </p:cNvGrpSpPr>
          <p:nvPr/>
        </p:nvGrpSpPr>
        <p:grpSpPr bwMode="auto">
          <a:xfrm>
            <a:off x="162252" y="1562100"/>
            <a:ext cx="1524000" cy="4800600"/>
            <a:chOff x="240" y="720"/>
            <a:chExt cx="960" cy="3024"/>
          </a:xfrm>
        </p:grpSpPr>
        <p:sp>
          <p:nvSpPr>
            <p:cNvPr id="400436" name="Text Box 52"/>
            <p:cNvSpPr txBox="1">
              <a:spLocks noChangeArrowheads="1"/>
            </p:cNvSpPr>
            <p:nvPr/>
          </p:nvSpPr>
          <p:spPr bwMode="auto">
            <a:xfrm>
              <a:off x="240" y="3226"/>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dirty="0"/>
                <a:t>input layer</a:t>
              </a:r>
            </a:p>
          </p:txBody>
        </p:sp>
        <p:sp>
          <p:nvSpPr>
            <p:cNvPr id="400437" name="Text Box 53"/>
            <p:cNvSpPr txBox="1">
              <a:spLocks noChangeArrowheads="1"/>
            </p:cNvSpPr>
            <p:nvPr/>
          </p:nvSpPr>
          <p:spPr bwMode="auto">
            <a:xfrm>
              <a:off x="240" y="720"/>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output layer</a:t>
              </a:r>
            </a:p>
          </p:txBody>
        </p:sp>
      </p:grpSp>
      <p:sp>
        <p:nvSpPr>
          <p:cNvPr id="2" name="TextBox 1"/>
          <p:cNvSpPr txBox="1"/>
          <p:nvPr/>
        </p:nvSpPr>
        <p:spPr>
          <a:xfrm>
            <a:off x="244276" y="4805143"/>
            <a:ext cx="1645002" cy="461665"/>
          </a:xfrm>
          <a:prstGeom prst="rect">
            <a:avLst/>
          </a:prstGeom>
          <a:noFill/>
        </p:spPr>
        <p:txBody>
          <a:bodyPr wrap="none" rtlCol="0">
            <a:spAutoFit/>
          </a:bodyPr>
          <a:lstStyle/>
          <a:p>
            <a:r>
              <a:rPr lang="en-US" sz="2400" b="1" dirty="0">
                <a:solidFill>
                  <a:srgbClr val="00B050"/>
                </a:solidFill>
              </a:rPr>
              <a:t>Non-linear!</a:t>
            </a:r>
          </a:p>
        </p:txBody>
      </p:sp>
      <p:sp>
        <p:nvSpPr>
          <p:cNvPr id="3" name="TextBox 2"/>
          <p:cNvSpPr txBox="1"/>
          <p:nvPr/>
        </p:nvSpPr>
        <p:spPr>
          <a:xfrm>
            <a:off x="509671" y="2712850"/>
            <a:ext cx="1072730" cy="461665"/>
          </a:xfrm>
          <a:prstGeom prst="rect">
            <a:avLst/>
          </a:prstGeom>
          <a:noFill/>
        </p:spPr>
        <p:txBody>
          <a:bodyPr wrap="none" rtlCol="0">
            <a:spAutoFit/>
          </a:bodyPr>
          <a:lstStyle/>
          <a:p>
            <a:r>
              <a:rPr lang="en-US" sz="2400" b="1" dirty="0">
                <a:solidFill>
                  <a:srgbClr val="00B050"/>
                </a:solidFill>
              </a:rPr>
              <a:t>Linear!</a:t>
            </a:r>
          </a:p>
        </p:txBody>
      </p:sp>
    </p:spTree>
    <p:extLst>
      <p:ext uri="{BB962C8B-B14F-4D97-AF65-F5344CB8AC3E}">
        <p14:creationId xmlns:p14="http://schemas.microsoft.com/office/powerpoint/2010/main" val="38391962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04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043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04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040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040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040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04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03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04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406" grpId="0" animBg="1"/>
      <p:bldP spid="400407" grpId="0" animBg="1"/>
      <p:bldP spid="400434" grpId="0"/>
      <p:bldP spid="2"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a:xfrm>
            <a:off x="5075695" y="90487"/>
            <a:ext cx="3959225" cy="1143000"/>
          </a:xfrm>
        </p:spPr>
        <p:txBody>
          <a:bodyPr>
            <a:normAutofit fontScale="90000"/>
          </a:bodyPr>
          <a:lstStyle/>
          <a:p>
            <a:r>
              <a:rPr lang="en-US" altLang="x-none" sz="4000" b="1" dirty="0"/>
              <a:t>A solution: </a:t>
            </a:r>
            <a:br>
              <a:rPr lang="en-US" altLang="x-none" sz="4000" b="1" dirty="0"/>
            </a:br>
            <a:r>
              <a:rPr lang="en-US" altLang="x-none" sz="4000" b="1" dirty="0"/>
              <a:t>multiple layers</a:t>
            </a:r>
          </a:p>
        </p:txBody>
      </p:sp>
      <p:grpSp>
        <p:nvGrpSpPr>
          <p:cNvPr id="400394" name="Group 10"/>
          <p:cNvGrpSpPr>
            <a:grpSpLocks/>
          </p:cNvGrpSpPr>
          <p:nvPr/>
        </p:nvGrpSpPr>
        <p:grpSpPr bwMode="auto">
          <a:xfrm>
            <a:off x="5850599" y="2743200"/>
            <a:ext cx="1371600" cy="1524000"/>
            <a:chOff x="2400" y="3120"/>
            <a:chExt cx="864" cy="960"/>
          </a:xfrm>
        </p:grpSpPr>
        <p:sp>
          <p:nvSpPr>
            <p:cNvPr id="400395" name="Line 11"/>
            <p:cNvSpPr>
              <a:spLocks noChangeShapeType="1"/>
            </p:cNvSpPr>
            <p:nvPr/>
          </p:nvSpPr>
          <p:spPr bwMode="auto">
            <a:xfrm>
              <a:off x="2400" y="3120"/>
              <a:ext cx="86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396" name="Line 12"/>
            <p:cNvSpPr>
              <a:spLocks noChangeShapeType="1"/>
            </p:cNvSpPr>
            <p:nvPr/>
          </p:nvSpPr>
          <p:spPr bwMode="auto">
            <a:xfrm flipV="1">
              <a:off x="3168" y="3888"/>
              <a:ext cx="96"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400406" name="AutoShape 22"/>
          <p:cNvSpPr>
            <a:spLocks noChangeArrowheads="1"/>
          </p:cNvSpPr>
          <p:nvPr/>
        </p:nvSpPr>
        <p:spPr bwMode="auto">
          <a:xfrm rot="16200000">
            <a:off x="4707599" y="1905000"/>
            <a:ext cx="1066800" cy="9144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07" name="AutoShape 23"/>
          <p:cNvSpPr>
            <a:spLocks noChangeArrowheads="1"/>
          </p:cNvSpPr>
          <p:nvPr/>
        </p:nvSpPr>
        <p:spPr bwMode="auto">
          <a:xfrm rot="10800000" flipH="1">
            <a:off x="7907999" y="2819400"/>
            <a:ext cx="990600" cy="2971800"/>
          </a:xfrm>
          <a:prstGeom prst="curvedLeftArrow">
            <a:avLst>
              <a:gd name="adj1" fmla="val 60000"/>
              <a:gd name="adj2" fmla="val 120000"/>
              <a:gd name="adj3" fmla="val 33333"/>
            </a:avLst>
          </a:pr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nvGrpSpPr>
          <p:cNvPr id="400408" name="Group 24"/>
          <p:cNvGrpSpPr>
            <a:grpSpLocks/>
          </p:cNvGrpSpPr>
          <p:nvPr/>
        </p:nvGrpSpPr>
        <p:grpSpPr bwMode="auto">
          <a:xfrm>
            <a:off x="6079199" y="4876800"/>
            <a:ext cx="1219200" cy="1219200"/>
            <a:chOff x="3312" y="2976"/>
            <a:chExt cx="768" cy="768"/>
          </a:xfrm>
        </p:grpSpPr>
        <p:sp>
          <p:nvSpPr>
            <p:cNvPr id="400409" name="Oval 25"/>
            <p:cNvSpPr>
              <a:spLocks noChangeArrowheads="1"/>
            </p:cNvSpPr>
            <p:nvPr/>
          </p:nvSpPr>
          <p:spPr bwMode="auto">
            <a:xfrm>
              <a:off x="3984" y="2976"/>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0" name="Oval 26"/>
            <p:cNvSpPr>
              <a:spLocks noChangeArrowheads="1"/>
            </p:cNvSpPr>
            <p:nvPr/>
          </p:nvSpPr>
          <p:spPr bwMode="auto">
            <a:xfrm>
              <a:off x="3312" y="2976"/>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1" name="Oval 27"/>
            <p:cNvSpPr>
              <a:spLocks noChangeArrowheads="1"/>
            </p:cNvSpPr>
            <p:nvPr/>
          </p:nvSpPr>
          <p:spPr bwMode="auto">
            <a:xfrm>
              <a:off x="3312" y="3648"/>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2" name="Oval 28"/>
            <p:cNvSpPr>
              <a:spLocks noChangeArrowheads="1"/>
            </p:cNvSpPr>
            <p:nvPr/>
          </p:nvSpPr>
          <p:spPr bwMode="auto">
            <a:xfrm>
              <a:off x="3984" y="3648"/>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400413" name="Group 29"/>
          <p:cNvGrpSpPr>
            <a:grpSpLocks/>
          </p:cNvGrpSpPr>
          <p:nvPr/>
        </p:nvGrpSpPr>
        <p:grpSpPr bwMode="auto">
          <a:xfrm>
            <a:off x="6002999" y="2895600"/>
            <a:ext cx="1219200" cy="1143000"/>
            <a:chOff x="3264" y="1824"/>
            <a:chExt cx="768" cy="720"/>
          </a:xfrm>
        </p:grpSpPr>
        <p:sp>
          <p:nvSpPr>
            <p:cNvPr id="400414" name="Oval 30"/>
            <p:cNvSpPr>
              <a:spLocks noChangeArrowheads="1"/>
            </p:cNvSpPr>
            <p:nvPr/>
          </p:nvSpPr>
          <p:spPr bwMode="auto">
            <a:xfrm>
              <a:off x="3264" y="2304"/>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5" name="Oval 31"/>
            <p:cNvSpPr>
              <a:spLocks noChangeArrowheads="1"/>
            </p:cNvSpPr>
            <p:nvPr/>
          </p:nvSpPr>
          <p:spPr bwMode="auto">
            <a:xfrm>
              <a:off x="3792" y="1824"/>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6" name="Oval 32"/>
            <p:cNvSpPr>
              <a:spLocks noChangeArrowheads="1"/>
            </p:cNvSpPr>
            <p:nvPr/>
          </p:nvSpPr>
          <p:spPr bwMode="auto">
            <a:xfrm>
              <a:off x="3408" y="2448"/>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17" name="Oval 33"/>
            <p:cNvSpPr>
              <a:spLocks noChangeArrowheads="1"/>
            </p:cNvSpPr>
            <p:nvPr/>
          </p:nvSpPr>
          <p:spPr bwMode="auto">
            <a:xfrm>
              <a:off x="3936" y="1968"/>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400418" name="Group 34"/>
          <p:cNvGrpSpPr>
            <a:grpSpLocks/>
          </p:cNvGrpSpPr>
          <p:nvPr/>
        </p:nvGrpSpPr>
        <p:grpSpPr bwMode="auto">
          <a:xfrm>
            <a:off x="4859999" y="1524000"/>
            <a:ext cx="3878263" cy="4876800"/>
            <a:chOff x="2544" y="960"/>
            <a:chExt cx="2443" cy="3072"/>
          </a:xfrm>
        </p:grpSpPr>
        <p:sp>
          <p:nvSpPr>
            <p:cNvPr id="400419" name="Text Box 35"/>
            <p:cNvSpPr txBox="1">
              <a:spLocks noChangeArrowheads="1"/>
            </p:cNvSpPr>
            <p:nvPr/>
          </p:nvSpPr>
          <p:spPr bwMode="auto">
            <a:xfrm>
              <a:off x="4800" y="998"/>
              <a:ext cx="18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y</a:t>
              </a:r>
              <a:endParaRPr lang="en-US" altLang="x-none" sz="2000"/>
            </a:p>
          </p:txBody>
        </p:sp>
        <p:sp>
          <p:nvSpPr>
            <p:cNvPr id="400420" name="Line 36"/>
            <p:cNvSpPr>
              <a:spLocks noChangeShapeType="1"/>
            </p:cNvSpPr>
            <p:nvPr/>
          </p:nvSpPr>
          <p:spPr bwMode="auto">
            <a:xfrm>
              <a:off x="3696" y="1632"/>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1" name="Line 37"/>
            <p:cNvSpPr>
              <a:spLocks noChangeShapeType="1"/>
            </p:cNvSpPr>
            <p:nvPr/>
          </p:nvSpPr>
          <p:spPr bwMode="auto">
            <a:xfrm flipH="1" flipV="1">
              <a:off x="2544" y="1008"/>
              <a:ext cx="24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2" name="Line 38"/>
            <p:cNvSpPr>
              <a:spLocks noChangeShapeType="1"/>
            </p:cNvSpPr>
            <p:nvPr/>
          </p:nvSpPr>
          <p:spPr bwMode="auto">
            <a:xfrm flipH="1">
              <a:off x="3072" y="2160"/>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3" name="Text Box 39"/>
            <p:cNvSpPr txBox="1">
              <a:spLocks noChangeArrowheads="1"/>
            </p:cNvSpPr>
            <p:nvPr/>
          </p:nvSpPr>
          <p:spPr bwMode="auto">
            <a:xfrm>
              <a:off x="4081" y="2150"/>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dirty="0">
                  <a:latin typeface="Times New Roman" charset="0"/>
                </a:rPr>
                <a:t>h</a:t>
              </a:r>
              <a:r>
                <a:rPr lang="en-US" altLang="x-none" sz="2000" baseline="-25000" dirty="0">
                  <a:latin typeface="Times New Roman" charset="0"/>
                </a:rPr>
                <a:t>1</a:t>
              </a:r>
              <a:endParaRPr lang="en-US" altLang="x-none" sz="2000" dirty="0"/>
            </a:p>
          </p:txBody>
        </p:sp>
        <p:sp>
          <p:nvSpPr>
            <p:cNvPr id="400424" name="Text Box 40"/>
            <p:cNvSpPr txBox="1">
              <a:spLocks noChangeArrowheads="1"/>
            </p:cNvSpPr>
            <p:nvPr/>
          </p:nvSpPr>
          <p:spPr bwMode="auto">
            <a:xfrm>
              <a:off x="3476" y="1536"/>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dirty="0">
                  <a:latin typeface="Times New Roman" charset="0"/>
                </a:rPr>
                <a:t>h</a:t>
              </a:r>
              <a:r>
                <a:rPr lang="en-US" altLang="x-none" sz="2000" baseline="-25000" dirty="0">
                  <a:latin typeface="Times New Roman" charset="0"/>
                </a:rPr>
                <a:t>2</a:t>
              </a:r>
              <a:endParaRPr lang="en-US" altLang="x-none" sz="2000" dirty="0"/>
            </a:p>
          </p:txBody>
        </p:sp>
        <p:sp>
          <p:nvSpPr>
            <p:cNvPr id="400425" name="Line 41"/>
            <p:cNvSpPr>
              <a:spLocks noChangeShapeType="1"/>
            </p:cNvSpPr>
            <p:nvPr/>
          </p:nvSpPr>
          <p:spPr bwMode="auto">
            <a:xfrm>
              <a:off x="3696" y="960"/>
              <a:ext cx="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6" name="Line 42"/>
            <p:cNvSpPr>
              <a:spLocks noChangeShapeType="1"/>
            </p:cNvSpPr>
            <p:nvPr/>
          </p:nvSpPr>
          <p:spPr bwMode="auto">
            <a:xfrm>
              <a:off x="3696" y="2928"/>
              <a:ext cx="0" cy="1104"/>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7" name="Line 43"/>
            <p:cNvSpPr>
              <a:spLocks noChangeShapeType="1"/>
            </p:cNvSpPr>
            <p:nvPr/>
          </p:nvSpPr>
          <p:spPr bwMode="auto">
            <a:xfrm flipH="1">
              <a:off x="3072" y="3456"/>
              <a:ext cx="1200" cy="0"/>
            </a:xfrm>
            <a:prstGeom prst="line">
              <a:avLst/>
            </a:prstGeom>
            <a:noFill/>
            <a:ln w="1905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28" name="Text Box 44"/>
            <p:cNvSpPr txBox="1">
              <a:spLocks noChangeArrowheads="1"/>
            </p:cNvSpPr>
            <p:nvPr/>
          </p:nvSpPr>
          <p:spPr bwMode="auto">
            <a:xfrm>
              <a:off x="4081" y="3446"/>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1</a:t>
              </a:r>
              <a:endParaRPr lang="en-US" altLang="x-none" sz="2000"/>
            </a:p>
          </p:txBody>
        </p:sp>
        <p:sp>
          <p:nvSpPr>
            <p:cNvPr id="400429" name="Text Box 45"/>
            <p:cNvSpPr txBox="1">
              <a:spLocks noChangeArrowheads="1"/>
            </p:cNvSpPr>
            <p:nvPr/>
          </p:nvSpPr>
          <p:spPr bwMode="auto">
            <a:xfrm>
              <a:off x="3456" y="2880"/>
              <a:ext cx="23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000" i="1">
                  <a:latin typeface="Times New Roman" charset="0"/>
                </a:rPr>
                <a:t>x</a:t>
              </a:r>
              <a:r>
                <a:rPr lang="en-US" altLang="x-none" sz="2000" baseline="-25000">
                  <a:latin typeface="Times New Roman" charset="0"/>
                </a:rPr>
                <a:t>2</a:t>
              </a:r>
              <a:endParaRPr lang="en-US" altLang="x-none" sz="2000"/>
            </a:p>
          </p:txBody>
        </p:sp>
      </p:grpSp>
      <p:sp>
        <p:nvSpPr>
          <p:cNvPr id="400430" name="Text Box 46"/>
          <p:cNvSpPr txBox="1">
            <a:spLocks noChangeArrowheads="1"/>
          </p:cNvSpPr>
          <p:nvPr/>
        </p:nvSpPr>
        <p:spPr bwMode="auto">
          <a:xfrm>
            <a:off x="6617362" y="4038600"/>
            <a:ext cx="18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endParaRPr lang="x-none" altLang="x-none"/>
          </a:p>
        </p:txBody>
      </p:sp>
      <p:grpSp>
        <p:nvGrpSpPr>
          <p:cNvPr id="400431" name="Group 47"/>
          <p:cNvGrpSpPr>
            <a:grpSpLocks/>
          </p:cNvGrpSpPr>
          <p:nvPr/>
        </p:nvGrpSpPr>
        <p:grpSpPr bwMode="auto">
          <a:xfrm>
            <a:off x="5698199" y="1524000"/>
            <a:ext cx="1905000" cy="152400"/>
            <a:chOff x="3072" y="960"/>
            <a:chExt cx="1200" cy="96"/>
          </a:xfrm>
        </p:grpSpPr>
        <p:sp>
          <p:nvSpPr>
            <p:cNvPr id="400432" name="Oval 48"/>
            <p:cNvSpPr>
              <a:spLocks noChangeArrowheads="1"/>
            </p:cNvSpPr>
            <p:nvPr/>
          </p:nvSpPr>
          <p:spPr bwMode="auto">
            <a:xfrm>
              <a:off x="3072" y="960"/>
              <a:ext cx="96" cy="96"/>
            </a:xfrm>
            <a:prstGeom prst="ellipse">
              <a:avLst/>
            </a:prstGeom>
            <a:solidFill>
              <a:srgbClr val="FF0300"/>
            </a:solidFill>
            <a:ln w="9525">
              <a:solidFill>
                <a:schemeClr val="bg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00433" name="Oval 49"/>
            <p:cNvSpPr>
              <a:spLocks noChangeArrowheads="1"/>
            </p:cNvSpPr>
            <p:nvPr/>
          </p:nvSpPr>
          <p:spPr bwMode="auto">
            <a:xfrm>
              <a:off x="4176" y="960"/>
              <a:ext cx="96" cy="96"/>
            </a:xfrm>
            <a:prstGeom prst="ellipse">
              <a:avLst/>
            </a:prstGeom>
            <a:solidFill>
              <a:srgbClr val="0070C0"/>
            </a:solidFill>
            <a:ln w="9525">
              <a:solidFill>
                <a:schemeClr val="accent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pic>
        <p:nvPicPr>
          <p:cNvPr id="6" name="Picture 5"/>
          <p:cNvPicPr>
            <a:picLocks noChangeAspect="1"/>
          </p:cNvPicPr>
          <p:nvPr/>
        </p:nvPicPr>
        <p:blipFill>
          <a:blip r:embed="rId3"/>
          <a:stretch>
            <a:fillRect/>
          </a:stretch>
        </p:blipFill>
        <p:spPr>
          <a:xfrm>
            <a:off x="232061" y="258763"/>
            <a:ext cx="4089400" cy="381000"/>
          </a:xfrm>
          <a:prstGeom prst="rect">
            <a:avLst/>
          </a:prstGeom>
        </p:spPr>
      </p:pic>
      <p:pic>
        <p:nvPicPr>
          <p:cNvPr id="4" name="Picture 3"/>
          <p:cNvPicPr>
            <a:picLocks noChangeAspect="1"/>
          </p:cNvPicPr>
          <p:nvPr/>
        </p:nvPicPr>
        <p:blipFill>
          <a:blip r:embed="rId4"/>
          <a:stretch>
            <a:fillRect/>
          </a:stretch>
        </p:blipFill>
        <p:spPr>
          <a:xfrm>
            <a:off x="349490" y="905224"/>
            <a:ext cx="1625600" cy="749300"/>
          </a:xfrm>
          <a:prstGeom prst="rect">
            <a:avLst/>
          </a:prstGeom>
        </p:spPr>
      </p:pic>
      <p:pic>
        <p:nvPicPr>
          <p:cNvPr id="5" name="Picture 4"/>
          <p:cNvPicPr>
            <a:picLocks noChangeAspect="1"/>
          </p:cNvPicPr>
          <p:nvPr/>
        </p:nvPicPr>
        <p:blipFill>
          <a:blip r:embed="rId5"/>
          <a:stretch>
            <a:fillRect/>
          </a:stretch>
        </p:blipFill>
        <p:spPr>
          <a:xfrm>
            <a:off x="2292430" y="903556"/>
            <a:ext cx="1193800" cy="749300"/>
          </a:xfrm>
          <a:prstGeom prst="rect">
            <a:avLst/>
          </a:prstGeom>
        </p:spPr>
      </p:pic>
      <p:pic>
        <p:nvPicPr>
          <p:cNvPr id="7" name="Picture 6"/>
          <p:cNvPicPr>
            <a:picLocks noChangeAspect="1"/>
          </p:cNvPicPr>
          <p:nvPr/>
        </p:nvPicPr>
        <p:blipFill>
          <a:blip r:embed="rId6"/>
          <a:stretch>
            <a:fillRect/>
          </a:stretch>
        </p:blipFill>
        <p:spPr>
          <a:xfrm>
            <a:off x="4024593" y="569913"/>
            <a:ext cx="1308100" cy="749300"/>
          </a:xfrm>
          <a:prstGeom prst="rect">
            <a:avLst/>
          </a:prstGeom>
        </p:spPr>
      </p:pic>
      <p:pic>
        <p:nvPicPr>
          <p:cNvPr id="8" name="Picture 7"/>
          <p:cNvPicPr>
            <a:picLocks noChangeAspect="1"/>
          </p:cNvPicPr>
          <p:nvPr/>
        </p:nvPicPr>
        <p:blipFill>
          <a:blip r:embed="rId7"/>
          <a:stretch>
            <a:fillRect/>
          </a:stretch>
        </p:blipFill>
        <p:spPr>
          <a:xfrm>
            <a:off x="4876800" y="209766"/>
            <a:ext cx="673100" cy="228600"/>
          </a:xfrm>
          <a:prstGeom prst="rect">
            <a:avLst/>
          </a:prstGeom>
        </p:spPr>
      </p:pic>
      <p:pic>
        <p:nvPicPr>
          <p:cNvPr id="9" name="Picture 8"/>
          <p:cNvPicPr>
            <a:picLocks noChangeAspect="1"/>
          </p:cNvPicPr>
          <p:nvPr/>
        </p:nvPicPr>
        <p:blipFill>
          <a:blip r:embed="rId8"/>
          <a:stretch>
            <a:fillRect/>
          </a:stretch>
        </p:blipFill>
        <p:spPr>
          <a:xfrm>
            <a:off x="387590" y="1828799"/>
            <a:ext cx="1587500" cy="1473200"/>
          </a:xfrm>
          <a:prstGeom prst="rect">
            <a:avLst/>
          </a:prstGeom>
        </p:spPr>
      </p:pic>
      <p:pic>
        <p:nvPicPr>
          <p:cNvPr id="10" name="Picture 9"/>
          <p:cNvPicPr>
            <a:picLocks noChangeAspect="1"/>
          </p:cNvPicPr>
          <p:nvPr/>
        </p:nvPicPr>
        <p:blipFill>
          <a:blip r:embed="rId9"/>
          <a:stretch>
            <a:fillRect/>
          </a:stretch>
        </p:blipFill>
        <p:spPr>
          <a:xfrm>
            <a:off x="34788" y="3451602"/>
            <a:ext cx="1955800" cy="1473200"/>
          </a:xfrm>
          <a:prstGeom prst="rect">
            <a:avLst/>
          </a:prstGeom>
        </p:spPr>
      </p:pic>
      <p:sp>
        <p:nvSpPr>
          <p:cNvPr id="16" name="Rectangle 15"/>
          <p:cNvSpPr/>
          <p:nvPr/>
        </p:nvSpPr>
        <p:spPr>
          <a:xfrm>
            <a:off x="5549900" y="4572000"/>
            <a:ext cx="2148550" cy="1828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10"/>
          <a:stretch>
            <a:fillRect/>
          </a:stretch>
        </p:blipFill>
        <p:spPr>
          <a:xfrm>
            <a:off x="2236445" y="1825626"/>
            <a:ext cx="1981200" cy="1473200"/>
          </a:xfrm>
          <a:prstGeom prst="rect">
            <a:avLst/>
          </a:prstGeom>
        </p:spPr>
      </p:pic>
      <p:pic>
        <p:nvPicPr>
          <p:cNvPr id="18" name="Picture 17"/>
          <p:cNvPicPr>
            <a:picLocks noChangeAspect="1"/>
          </p:cNvPicPr>
          <p:nvPr/>
        </p:nvPicPr>
        <p:blipFill>
          <a:blip r:embed="rId11"/>
          <a:stretch>
            <a:fillRect/>
          </a:stretch>
        </p:blipFill>
        <p:spPr>
          <a:xfrm>
            <a:off x="2249044" y="3438523"/>
            <a:ext cx="2997200" cy="14732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F37D667-B443-BAC0-691C-63584EBD9048}"/>
                  </a:ext>
                </a:extLst>
              </p:cNvPr>
              <p:cNvSpPr txBox="1"/>
              <p:nvPr/>
            </p:nvSpPr>
            <p:spPr>
              <a:xfrm>
                <a:off x="1540801" y="5167310"/>
                <a:ext cx="5909695" cy="1360629"/>
              </a:xfrm>
              <a:prstGeom prst="rect">
                <a:avLst/>
              </a:prstGeom>
              <a:noFill/>
            </p:spPr>
            <p:txBody>
              <a:bodyPr wrap="none" lIns="0" tIns="0" rIns="0" bIns="0" rtlCol="0">
                <a:spAutoFit/>
              </a:bodyPr>
              <a:lstStyle/>
              <a:p>
                <a14:m>
                  <m:oMath xmlns:m="http://schemas.openxmlformats.org/officeDocument/2006/math">
                    <m:sSup>
                      <m:sSupPr>
                        <m:ctrlPr>
                          <a:rPr lang="en-US" sz="2400" b="1" i="1" smtClean="0">
                            <a:latin typeface="Cambria Math" panose="02040503050406030204" pitchFamily="18" charset="0"/>
                          </a:rPr>
                        </m:ctrlPr>
                      </m:sSupPr>
                      <m:e>
                        <m:r>
                          <a:rPr lang="en-US" sz="2400" b="1">
                            <a:latin typeface="Cambria Math" panose="02040503050406030204" pitchFamily="18" charset="0"/>
                          </a:rPr>
                          <m:t>𝐰</m:t>
                        </m:r>
                      </m:e>
                      <m:sup>
                        <m:r>
                          <a:rPr lang="en-US" sz="2400" b="1" i="1" smtClean="0">
                            <a:latin typeface="Cambria Math" panose="02040503050406030204" pitchFamily="18" charset="0"/>
                          </a:rPr>
                          <m:t>𝑻</m:t>
                        </m:r>
                      </m:sup>
                    </m:sSup>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max</m:t>
                        </m:r>
                      </m:fName>
                      <m:e>
                        <m:r>
                          <a:rPr lang="en-US" sz="2400" b="0" i="1" smtClean="0">
                            <a:latin typeface="Cambria Math" panose="02040503050406030204" pitchFamily="18" charset="0"/>
                          </a:rPr>
                          <m:t>(</m:t>
                        </m:r>
                      </m:e>
                    </m:func>
                    <m:r>
                      <a:rPr lang="en-US" sz="2400" b="0" i="1" smtClean="0">
                        <a:latin typeface="Cambria Math" panose="02040503050406030204" pitchFamily="18" charset="0"/>
                      </a:rPr>
                      <m:t>0,</m:t>
                    </m:r>
                    <m:d>
                      <m:dPr>
                        <m:begChr m:val="["/>
                        <m:endChr m:val="]"/>
                        <m:ctrlPr>
                          <a:rPr lang="en-US" sz="2400" i="1" smtClean="0">
                            <a:latin typeface="Cambria Math" panose="02040503050406030204" pitchFamily="18" charset="0"/>
                          </a:rPr>
                        </m:ctrlPr>
                      </m:dPr>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0</m:t>
                              </m:r>
                            </m:e>
                            <m:e>
                              <m:r>
                                <a:rPr lang="en-US" sz="2400" b="0" i="1" smtClean="0">
                                  <a:latin typeface="Cambria Math" panose="02040503050406030204" pitchFamily="18" charset="0"/>
                                </a:rPr>
                                <m:t>−1</m:t>
                              </m:r>
                            </m:e>
                          </m:mr>
                          <m:mr>
                            <m:e>
                              <m:r>
                                <a:rPr lang="en-US" sz="2400" b="0" i="1" smtClean="0">
                                  <a:latin typeface="Cambria Math" panose="02040503050406030204" pitchFamily="18" charset="0"/>
                                </a:rPr>
                                <m:t>1</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1</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2</m:t>
                              </m:r>
                            </m:e>
                            <m:e>
                              <m:r>
                                <a:rPr lang="en-US" sz="2400" b="0" i="1" smtClean="0">
                                  <a:latin typeface="Cambria Math" panose="02040503050406030204" pitchFamily="18" charset="0"/>
                                </a:rPr>
                                <m:t>1</m:t>
                              </m:r>
                            </m:e>
                          </m:mr>
                        </m:m>
                      </m:e>
                    </m:d>
                    <m:r>
                      <a:rPr lang="en-US" sz="2400" b="0" i="1" smtClean="0">
                        <a:latin typeface="Cambria Math" panose="02040503050406030204" pitchFamily="18" charset="0"/>
                      </a:rPr>
                      <m:t>)=</m:t>
                    </m:r>
                  </m:oMath>
                </a14:m>
                <a:r>
                  <a:rPr lang="en-US" sz="2400" dirty="0"/>
                  <a:t>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0" smtClean="0">
                            <a:latin typeface="Cambria Math" panose="02040503050406030204" pitchFamily="18" charset="0"/>
                          </a:rPr>
                          <m:t>1 −2</m:t>
                        </m:r>
                      </m:e>
                    </m:d>
                    <m:d>
                      <m:dPr>
                        <m:begChr m:val="["/>
                        <m:endChr m:val="]"/>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0</m:t>
                              </m:r>
                            </m:e>
                            <m:e>
                              <m:r>
                                <a:rPr lang="en-US" sz="2400" b="0" i="1" smtClean="0">
                                  <a:latin typeface="Cambria Math" panose="02040503050406030204" pitchFamily="18" charset="0"/>
                                </a:rPr>
                                <m:t>0</m:t>
                              </m:r>
                            </m:e>
                          </m:mr>
                          <m:mr>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2</m:t>
                              </m:r>
                            </m:e>
                            <m:e>
                              <m:r>
                                <a:rPr lang="en-US" sz="2400" i="1">
                                  <a:latin typeface="Cambria Math" panose="02040503050406030204" pitchFamily="18" charset="0"/>
                                </a:rPr>
                                <m:t>1</m:t>
                              </m:r>
                            </m:e>
                          </m:mr>
                        </m:m>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0</m:t>
                              </m:r>
                            </m:e>
                          </m:mr>
                          <m:mr>
                            <m:e>
                              <m:r>
                                <a:rPr lang="en-US" sz="2400" b="0" i="1" smtClean="0">
                                  <a:latin typeface="Cambria Math" panose="02040503050406030204" pitchFamily="18" charset="0"/>
                                </a:rPr>
                                <m:t>1</m:t>
                              </m:r>
                            </m:e>
                          </m:mr>
                          <m:mr>
                            <m:e>
                              <m:r>
                                <a:rPr lang="en-US" sz="2400" b="0" i="1" smtClean="0">
                                  <a:latin typeface="Cambria Math" panose="02040503050406030204" pitchFamily="18" charset="0"/>
                                </a:rPr>
                                <m:t>1</m:t>
                              </m:r>
                            </m:e>
                          </m:mr>
                          <m:mr>
                            <m:e>
                              <m:r>
                                <a:rPr lang="en-US" sz="2400" b="0" i="1" smtClean="0">
                                  <a:latin typeface="Cambria Math" panose="02040503050406030204" pitchFamily="18" charset="0"/>
                                </a:rPr>
                                <m:t>0</m:t>
                              </m:r>
                            </m:e>
                          </m:mr>
                        </m:m>
                      </m:e>
                    </m:d>
                  </m:oMath>
                </a14:m>
                <a:endParaRPr lang="en-US" sz="2400" dirty="0"/>
              </a:p>
            </p:txBody>
          </p:sp>
        </mc:Choice>
        <mc:Fallback xmlns="">
          <p:sp>
            <p:nvSpPr>
              <p:cNvPr id="2" name="TextBox 1">
                <a:extLst>
                  <a:ext uri="{FF2B5EF4-FFF2-40B4-BE49-F238E27FC236}">
                    <a16:creationId xmlns:a16="http://schemas.microsoft.com/office/drawing/2014/main" id="{DF37D667-B443-BAC0-691C-63584EBD9048}"/>
                  </a:ext>
                </a:extLst>
              </p:cNvPr>
              <p:cNvSpPr txBox="1">
                <a:spLocks noRot="1" noChangeAspect="1" noMove="1" noResize="1" noEditPoints="1" noAdjustHandles="1" noChangeArrowheads="1" noChangeShapeType="1" noTextEdit="1"/>
              </p:cNvSpPr>
              <p:nvPr/>
            </p:nvSpPr>
            <p:spPr>
              <a:xfrm>
                <a:off x="1540801" y="5167310"/>
                <a:ext cx="5909695" cy="1360629"/>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611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body" idx="1"/>
          </p:nvPr>
        </p:nvSpPr>
        <p:spPr>
          <a:xfrm>
            <a:off x="152400" y="1371600"/>
            <a:ext cx="8915400" cy="4114800"/>
          </a:xfrm>
        </p:spPr>
        <p:txBody>
          <a:bodyPr/>
          <a:lstStyle/>
          <a:p>
            <a:endParaRPr lang="en-US" altLang="x-none"/>
          </a:p>
          <a:p>
            <a:endParaRPr lang="en-US" altLang="x-none"/>
          </a:p>
        </p:txBody>
      </p:sp>
      <p:sp>
        <p:nvSpPr>
          <p:cNvPr id="453635" name="Oval 3"/>
          <p:cNvSpPr>
            <a:spLocks noChangeArrowheads="1"/>
          </p:cNvSpPr>
          <p:nvPr/>
        </p:nvSpPr>
        <p:spPr bwMode="auto">
          <a:xfrm>
            <a:off x="2292350" y="1219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36" name="Oval 4"/>
          <p:cNvSpPr>
            <a:spLocks noChangeArrowheads="1"/>
          </p:cNvSpPr>
          <p:nvPr/>
        </p:nvSpPr>
        <p:spPr bwMode="auto">
          <a:xfrm>
            <a:off x="17589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37" name="Oval 5"/>
          <p:cNvSpPr>
            <a:spLocks noChangeArrowheads="1"/>
          </p:cNvSpPr>
          <p:nvPr/>
        </p:nvSpPr>
        <p:spPr bwMode="auto">
          <a:xfrm>
            <a:off x="29781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38" name="Line 6"/>
          <p:cNvSpPr>
            <a:spLocks noChangeShapeType="1"/>
          </p:cNvSpPr>
          <p:nvPr/>
        </p:nvSpPr>
        <p:spPr bwMode="auto">
          <a:xfrm flipH="1">
            <a:off x="2286000" y="20574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39" name="Line 7"/>
          <p:cNvSpPr>
            <a:spLocks noChangeShapeType="1"/>
          </p:cNvSpPr>
          <p:nvPr/>
        </p:nvSpPr>
        <p:spPr bwMode="auto">
          <a:xfrm flipH="1" flipV="1">
            <a:off x="2895600" y="20574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40" name="Text Box 8"/>
          <p:cNvSpPr txBox="1">
            <a:spLocks noChangeArrowheads="1"/>
          </p:cNvSpPr>
          <p:nvPr/>
        </p:nvSpPr>
        <p:spPr bwMode="auto">
          <a:xfrm>
            <a:off x="1524000" y="316865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1</a:t>
            </a:r>
            <a:endParaRPr lang="en-US" altLang="x-none" sz="3600"/>
          </a:p>
        </p:txBody>
      </p:sp>
      <p:sp>
        <p:nvSpPr>
          <p:cNvPr id="453641" name="Text Box 9"/>
          <p:cNvSpPr txBox="1">
            <a:spLocks noChangeArrowheads="1"/>
          </p:cNvSpPr>
          <p:nvPr/>
        </p:nvSpPr>
        <p:spPr bwMode="auto">
          <a:xfrm>
            <a:off x="2743200" y="320040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2</a:t>
            </a:r>
            <a:endParaRPr lang="en-US" altLang="x-none" sz="3600"/>
          </a:p>
        </p:txBody>
      </p:sp>
      <p:sp>
        <p:nvSpPr>
          <p:cNvPr id="453642" name="Text Box 10"/>
          <p:cNvSpPr txBox="1">
            <a:spLocks noChangeArrowheads="1"/>
          </p:cNvSpPr>
          <p:nvPr/>
        </p:nvSpPr>
        <p:spPr bwMode="auto">
          <a:xfrm>
            <a:off x="2057400" y="121920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453643" name="Oval 11"/>
          <p:cNvSpPr>
            <a:spLocks noChangeArrowheads="1"/>
          </p:cNvSpPr>
          <p:nvPr/>
        </p:nvSpPr>
        <p:spPr bwMode="auto">
          <a:xfrm>
            <a:off x="17589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44" name="Oval 12"/>
          <p:cNvSpPr>
            <a:spLocks noChangeArrowheads="1"/>
          </p:cNvSpPr>
          <p:nvPr/>
        </p:nvSpPr>
        <p:spPr bwMode="auto">
          <a:xfrm>
            <a:off x="29781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45" name="Line 13"/>
          <p:cNvSpPr>
            <a:spLocks noChangeShapeType="1"/>
          </p:cNvSpPr>
          <p:nvPr/>
        </p:nvSpPr>
        <p:spPr bwMode="auto">
          <a:xfrm>
            <a:off x="213995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46" name="Line 14"/>
          <p:cNvSpPr>
            <a:spLocks noChangeShapeType="1"/>
          </p:cNvSpPr>
          <p:nvPr/>
        </p:nvSpPr>
        <p:spPr bwMode="auto">
          <a:xfrm>
            <a:off x="343535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47" name="Line 15"/>
          <p:cNvSpPr>
            <a:spLocks noChangeShapeType="1"/>
          </p:cNvSpPr>
          <p:nvPr/>
        </p:nvSpPr>
        <p:spPr bwMode="auto">
          <a:xfrm flipH="1">
            <a:off x="2292350" y="39624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48" name="Line 16"/>
          <p:cNvSpPr>
            <a:spLocks noChangeShapeType="1"/>
          </p:cNvSpPr>
          <p:nvPr/>
        </p:nvSpPr>
        <p:spPr bwMode="auto">
          <a:xfrm flipH="1" flipV="1">
            <a:off x="2292350" y="39624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3649" name="Text Box 17"/>
          <p:cNvSpPr txBox="1">
            <a:spLocks noChangeArrowheads="1"/>
          </p:cNvSpPr>
          <p:nvPr/>
        </p:nvSpPr>
        <p:spPr bwMode="auto">
          <a:xfrm>
            <a:off x="15240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53650" name="Text Box 18"/>
          <p:cNvSpPr txBox="1">
            <a:spLocks noChangeArrowheads="1"/>
          </p:cNvSpPr>
          <p:nvPr/>
        </p:nvSpPr>
        <p:spPr bwMode="auto">
          <a:xfrm>
            <a:off x="27432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53655" name="Text Box 23"/>
          <p:cNvSpPr txBox="1">
            <a:spLocks noChangeArrowheads="1"/>
          </p:cNvSpPr>
          <p:nvPr/>
        </p:nvSpPr>
        <p:spPr bwMode="auto">
          <a:xfrm>
            <a:off x="4419600" y="2438400"/>
            <a:ext cx="4038600"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buFontTx/>
              <a:buNone/>
            </a:pPr>
            <a:r>
              <a:rPr lang="en-US" altLang="x-none" sz="3200"/>
              <a:t>How do we learn the weights for a perceptron with multiple layers?</a:t>
            </a:r>
          </a:p>
        </p:txBody>
      </p:sp>
    </p:spTree>
    <p:extLst>
      <p:ext uri="{BB962C8B-B14F-4D97-AF65-F5344CB8AC3E}">
        <p14:creationId xmlns:p14="http://schemas.microsoft.com/office/powerpoint/2010/main" val="2595756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en-US" altLang="x-none"/>
              <a:t>David Rumelhart</a:t>
            </a:r>
          </a:p>
        </p:txBody>
      </p:sp>
      <p:sp>
        <p:nvSpPr>
          <p:cNvPr id="416771" name="Rectangle 3">
            <a:hlinkClick r:id="rId3"/>
          </p:cNvPr>
          <p:cNvSpPr>
            <a:spLocks noGrp="1" noChangeArrowheads="1"/>
          </p:cNvSpPr>
          <p:nvPr>
            <p:ph type="body" idx="1"/>
          </p:nvPr>
        </p:nvSpPr>
        <p:spPr>
          <a:xfrm>
            <a:off x="3886200" y="1905000"/>
            <a:ext cx="5029200" cy="4191000"/>
          </a:xfrm>
        </p:spPr>
        <p:txBody>
          <a:bodyPr/>
          <a:lstStyle/>
          <a:p>
            <a:pPr marL="0" indent="0">
              <a:buNone/>
            </a:pPr>
            <a:r>
              <a:rPr lang="en-US" altLang="x-none"/>
              <a:t>Explored mathematical models of cognition</a:t>
            </a:r>
          </a:p>
          <a:p>
            <a:pPr marL="0" indent="0">
              <a:buNone/>
            </a:pPr>
            <a:r>
              <a:rPr lang="en-US" altLang="x-none"/>
              <a:t>One of the discoverers of backpropagation</a:t>
            </a:r>
          </a:p>
          <a:p>
            <a:pPr marL="457200" lvl="1" indent="0">
              <a:buNone/>
            </a:pPr>
            <a:r>
              <a:rPr lang="en-US" altLang="x-none"/>
              <a:t>widely used in cognitive and computer science</a:t>
            </a:r>
          </a:p>
          <a:p>
            <a:pPr marL="0" indent="0">
              <a:buNone/>
            </a:pPr>
            <a:r>
              <a:rPr lang="en-US" altLang="x-none"/>
              <a:t>Inspiration for the annual Rumelhart Prize</a:t>
            </a:r>
          </a:p>
        </p:txBody>
      </p:sp>
      <p:pic>
        <p:nvPicPr>
          <p:cNvPr id="4167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981200"/>
            <a:ext cx="2827338"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Tree>
    <p:extLst>
      <p:ext uri="{BB962C8B-B14F-4D97-AF65-F5344CB8AC3E}">
        <p14:creationId xmlns:p14="http://schemas.microsoft.com/office/powerpoint/2010/main" val="488556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body" idx="1"/>
          </p:nvPr>
        </p:nvSpPr>
        <p:spPr>
          <a:xfrm>
            <a:off x="152400" y="1371600"/>
            <a:ext cx="8915400" cy="4114800"/>
          </a:xfrm>
        </p:spPr>
        <p:txBody>
          <a:bodyPr/>
          <a:lstStyle/>
          <a:p>
            <a:endParaRPr lang="en-US" altLang="x-none" dirty="0"/>
          </a:p>
          <a:p>
            <a:endParaRPr lang="en-US" altLang="x-none" dirty="0"/>
          </a:p>
        </p:txBody>
      </p:sp>
      <p:sp>
        <p:nvSpPr>
          <p:cNvPr id="414723" name="Oval 3"/>
          <p:cNvSpPr>
            <a:spLocks noChangeArrowheads="1"/>
          </p:cNvSpPr>
          <p:nvPr/>
        </p:nvSpPr>
        <p:spPr bwMode="auto">
          <a:xfrm>
            <a:off x="2292350" y="1219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24" name="Oval 4"/>
          <p:cNvSpPr>
            <a:spLocks noChangeArrowheads="1"/>
          </p:cNvSpPr>
          <p:nvPr/>
        </p:nvSpPr>
        <p:spPr bwMode="auto">
          <a:xfrm>
            <a:off x="17589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25" name="Oval 5"/>
          <p:cNvSpPr>
            <a:spLocks noChangeArrowheads="1"/>
          </p:cNvSpPr>
          <p:nvPr/>
        </p:nvSpPr>
        <p:spPr bwMode="auto">
          <a:xfrm>
            <a:off x="29781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26" name="Line 6"/>
          <p:cNvSpPr>
            <a:spLocks noChangeShapeType="1"/>
          </p:cNvSpPr>
          <p:nvPr/>
        </p:nvSpPr>
        <p:spPr bwMode="auto">
          <a:xfrm flipH="1">
            <a:off x="2286000" y="20574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27" name="Line 7"/>
          <p:cNvSpPr>
            <a:spLocks noChangeShapeType="1"/>
          </p:cNvSpPr>
          <p:nvPr/>
        </p:nvSpPr>
        <p:spPr bwMode="auto">
          <a:xfrm flipH="1" flipV="1">
            <a:off x="2895600" y="20574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28" name="Text Box 8"/>
          <p:cNvSpPr txBox="1">
            <a:spLocks noChangeArrowheads="1"/>
          </p:cNvSpPr>
          <p:nvPr/>
        </p:nvSpPr>
        <p:spPr bwMode="auto">
          <a:xfrm>
            <a:off x="1524000" y="316865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1</a:t>
            </a:r>
            <a:endParaRPr lang="en-US" altLang="x-none" sz="3600"/>
          </a:p>
        </p:txBody>
      </p:sp>
      <p:sp>
        <p:nvSpPr>
          <p:cNvPr id="414729" name="Text Box 9"/>
          <p:cNvSpPr txBox="1">
            <a:spLocks noChangeArrowheads="1"/>
          </p:cNvSpPr>
          <p:nvPr/>
        </p:nvSpPr>
        <p:spPr bwMode="auto">
          <a:xfrm>
            <a:off x="2743200" y="320040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2</a:t>
            </a:r>
            <a:endParaRPr lang="en-US" altLang="x-none" sz="3600"/>
          </a:p>
        </p:txBody>
      </p:sp>
      <p:sp>
        <p:nvSpPr>
          <p:cNvPr id="414730" name="Text Box 10"/>
          <p:cNvSpPr txBox="1">
            <a:spLocks noChangeArrowheads="1"/>
          </p:cNvSpPr>
          <p:nvPr/>
        </p:nvSpPr>
        <p:spPr bwMode="auto">
          <a:xfrm>
            <a:off x="2057400" y="121920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414731" name="Oval 11"/>
          <p:cNvSpPr>
            <a:spLocks noChangeArrowheads="1"/>
          </p:cNvSpPr>
          <p:nvPr/>
        </p:nvSpPr>
        <p:spPr bwMode="auto">
          <a:xfrm>
            <a:off x="17589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32" name="Oval 12"/>
          <p:cNvSpPr>
            <a:spLocks noChangeArrowheads="1"/>
          </p:cNvSpPr>
          <p:nvPr/>
        </p:nvSpPr>
        <p:spPr bwMode="auto">
          <a:xfrm>
            <a:off x="29781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33" name="Line 13"/>
          <p:cNvSpPr>
            <a:spLocks noChangeShapeType="1"/>
          </p:cNvSpPr>
          <p:nvPr/>
        </p:nvSpPr>
        <p:spPr bwMode="auto">
          <a:xfrm>
            <a:off x="213995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34" name="Line 14"/>
          <p:cNvSpPr>
            <a:spLocks noChangeShapeType="1"/>
          </p:cNvSpPr>
          <p:nvPr/>
        </p:nvSpPr>
        <p:spPr bwMode="auto">
          <a:xfrm>
            <a:off x="343535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35" name="Line 15"/>
          <p:cNvSpPr>
            <a:spLocks noChangeShapeType="1"/>
          </p:cNvSpPr>
          <p:nvPr/>
        </p:nvSpPr>
        <p:spPr bwMode="auto">
          <a:xfrm flipH="1">
            <a:off x="2292350" y="39624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36" name="Line 16"/>
          <p:cNvSpPr>
            <a:spLocks noChangeShapeType="1"/>
          </p:cNvSpPr>
          <p:nvPr/>
        </p:nvSpPr>
        <p:spPr bwMode="auto">
          <a:xfrm flipH="1" flipV="1">
            <a:off x="2292350" y="39624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37" name="Text Box 17"/>
          <p:cNvSpPr txBox="1">
            <a:spLocks noChangeArrowheads="1"/>
          </p:cNvSpPr>
          <p:nvPr/>
        </p:nvSpPr>
        <p:spPr bwMode="auto">
          <a:xfrm>
            <a:off x="15240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14738" name="Text Box 18"/>
          <p:cNvSpPr txBox="1">
            <a:spLocks noChangeArrowheads="1"/>
          </p:cNvSpPr>
          <p:nvPr/>
        </p:nvSpPr>
        <p:spPr bwMode="auto">
          <a:xfrm>
            <a:off x="27432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14739" name="Rectangle 19"/>
          <p:cNvSpPr>
            <a:spLocks noGrp="1" noChangeArrowheads="1"/>
          </p:cNvSpPr>
          <p:nvPr>
            <p:ph type="title"/>
          </p:nvPr>
        </p:nvSpPr>
        <p:spPr>
          <a:xfrm>
            <a:off x="685800" y="152400"/>
            <a:ext cx="8077200" cy="1143000"/>
          </a:xfrm>
          <a:noFill/>
          <a:ln/>
        </p:spPr>
        <p:txBody>
          <a:bodyPr/>
          <a:lstStyle/>
          <a:p>
            <a:r>
              <a:rPr lang="en-US" altLang="x-none"/>
              <a:t>Training multi-layer networks</a:t>
            </a:r>
          </a:p>
        </p:txBody>
      </p:sp>
      <p:sp>
        <p:nvSpPr>
          <p:cNvPr id="414740" name="Rectangle 20"/>
          <p:cNvSpPr>
            <a:spLocks noChangeArrowheads="1"/>
          </p:cNvSpPr>
          <p:nvPr/>
        </p:nvSpPr>
        <p:spPr bwMode="auto">
          <a:xfrm>
            <a:off x="1981200" y="1905000"/>
            <a:ext cx="1600200" cy="1371600"/>
          </a:xfrm>
          <a:prstGeom prst="rect">
            <a:avLst/>
          </a:prstGeom>
          <a:noFill/>
          <a:ln w="28575">
            <a:solidFill>
              <a:srgbClr val="FF0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41" name="Text Box 21"/>
          <p:cNvSpPr txBox="1">
            <a:spLocks noChangeArrowheads="1"/>
          </p:cNvSpPr>
          <p:nvPr/>
        </p:nvSpPr>
        <p:spPr bwMode="auto">
          <a:xfrm>
            <a:off x="4812621" y="1325563"/>
            <a:ext cx="1998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t>compute error</a:t>
            </a:r>
          </a:p>
        </p:txBody>
      </p:sp>
      <p:sp>
        <p:nvSpPr>
          <p:cNvPr id="414742" name="Text Box 22"/>
          <p:cNvSpPr txBox="1">
            <a:spLocks noChangeArrowheads="1"/>
          </p:cNvSpPr>
          <p:nvPr/>
        </p:nvSpPr>
        <p:spPr bwMode="auto">
          <a:xfrm>
            <a:off x="4038600" y="2301875"/>
            <a:ext cx="36449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buFontTx/>
              <a:buNone/>
            </a:pPr>
            <a:r>
              <a:rPr lang="en-US" altLang="x-none" sz="2400"/>
              <a:t>use delta rule</a:t>
            </a:r>
          </a:p>
        </p:txBody>
      </p:sp>
      <p:sp>
        <p:nvSpPr>
          <p:cNvPr id="414743" name="Text Box 23"/>
          <p:cNvSpPr txBox="1">
            <a:spLocks noChangeArrowheads="1"/>
          </p:cNvSpPr>
          <p:nvPr/>
        </p:nvSpPr>
        <p:spPr bwMode="auto">
          <a:xfrm>
            <a:off x="3962400" y="3063875"/>
            <a:ext cx="4038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buFontTx/>
              <a:buNone/>
            </a:pPr>
            <a:r>
              <a:rPr lang="en-US" altLang="x-none" sz="2400" dirty="0"/>
              <a:t>“propagate” error to hidden layer</a:t>
            </a:r>
          </a:p>
        </p:txBody>
      </p:sp>
      <p:sp>
        <p:nvSpPr>
          <p:cNvPr id="414744" name="Rectangle 24"/>
          <p:cNvSpPr>
            <a:spLocks noChangeArrowheads="1"/>
          </p:cNvSpPr>
          <p:nvPr/>
        </p:nvSpPr>
        <p:spPr bwMode="auto">
          <a:xfrm>
            <a:off x="1981200" y="3886200"/>
            <a:ext cx="1600200" cy="1371600"/>
          </a:xfrm>
          <a:prstGeom prst="rect">
            <a:avLst/>
          </a:prstGeom>
          <a:noFill/>
          <a:ln w="28575">
            <a:solidFill>
              <a:srgbClr val="FF0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14745" name="Text Box 25"/>
          <p:cNvSpPr txBox="1">
            <a:spLocks noChangeArrowheads="1"/>
          </p:cNvSpPr>
          <p:nvPr/>
        </p:nvSpPr>
        <p:spPr bwMode="auto">
          <a:xfrm>
            <a:off x="4279900" y="3969809"/>
            <a:ext cx="44831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lgn="ctr">
              <a:buFontTx/>
              <a:buNone/>
            </a:pPr>
            <a:r>
              <a:rPr lang="en-US" altLang="x-none" sz="2400" dirty="0"/>
              <a:t>use generalized delta rule</a:t>
            </a:r>
          </a:p>
          <a:p>
            <a:pPr algn="ctr">
              <a:buFontTx/>
              <a:buNone/>
            </a:pPr>
            <a:r>
              <a:rPr lang="en-US" altLang="x-none" sz="2400" dirty="0"/>
              <a:t>(updating inputs according to their role in causing the hidden layer to have errors)</a:t>
            </a:r>
          </a:p>
        </p:txBody>
      </p:sp>
      <p:sp>
        <p:nvSpPr>
          <p:cNvPr id="414746" name="Text Box 26"/>
          <p:cNvSpPr txBox="1">
            <a:spLocks noChangeArrowheads="1"/>
          </p:cNvSpPr>
          <p:nvPr/>
        </p:nvSpPr>
        <p:spPr bwMode="auto">
          <a:xfrm>
            <a:off x="3548063" y="5426075"/>
            <a:ext cx="5062537"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3600">
                <a:solidFill>
                  <a:srgbClr val="FF0300"/>
                </a:solidFill>
              </a:rPr>
              <a:t>“Backpropagation”</a:t>
            </a:r>
          </a:p>
          <a:p>
            <a:pPr algn="ctr">
              <a:buFontTx/>
              <a:buNone/>
            </a:pPr>
            <a:r>
              <a:rPr lang="en-US" altLang="x-none" sz="2400">
                <a:solidFill>
                  <a:srgbClr val="FF0300"/>
                </a:solidFill>
              </a:rPr>
              <a:t>(Rumelhart, Hinton, &amp; Wilson, 1986)</a:t>
            </a:r>
          </a:p>
        </p:txBody>
      </p:sp>
    </p:spTree>
    <p:extLst>
      <p:ext uri="{BB962C8B-B14F-4D97-AF65-F5344CB8AC3E}">
        <p14:creationId xmlns:p14="http://schemas.microsoft.com/office/powerpoint/2010/main" val="37448726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4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4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474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414740"/>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41474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474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474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4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40" grpId="0" animBg="1"/>
      <p:bldP spid="414740" grpId="1" animBg="1"/>
      <p:bldP spid="414741" grpId="0"/>
      <p:bldP spid="414742" grpId="0"/>
      <p:bldP spid="414743" grpId="0"/>
      <p:bldP spid="414744" grpId="0" animBg="1"/>
      <p:bldP spid="414745" grpId="0"/>
      <p:bldP spid="41474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body" idx="1"/>
          </p:nvPr>
        </p:nvSpPr>
        <p:spPr>
          <a:xfrm>
            <a:off x="152400" y="1371600"/>
            <a:ext cx="8915400" cy="4114800"/>
          </a:xfrm>
        </p:spPr>
        <p:txBody>
          <a:bodyPr/>
          <a:lstStyle/>
          <a:p>
            <a:endParaRPr lang="en-US" altLang="x-none"/>
          </a:p>
          <a:p>
            <a:endParaRPr lang="en-US" altLang="x-none"/>
          </a:p>
        </p:txBody>
      </p:sp>
      <p:sp>
        <p:nvSpPr>
          <p:cNvPr id="485379" name="Oval 3"/>
          <p:cNvSpPr>
            <a:spLocks noChangeArrowheads="1"/>
          </p:cNvSpPr>
          <p:nvPr/>
        </p:nvSpPr>
        <p:spPr bwMode="auto">
          <a:xfrm>
            <a:off x="2292350" y="1219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80" name="Oval 4"/>
          <p:cNvSpPr>
            <a:spLocks noChangeArrowheads="1"/>
          </p:cNvSpPr>
          <p:nvPr/>
        </p:nvSpPr>
        <p:spPr bwMode="auto">
          <a:xfrm>
            <a:off x="17589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81" name="Oval 5"/>
          <p:cNvSpPr>
            <a:spLocks noChangeArrowheads="1"/>
          </p:cNvSpPr>
          <p:nvPr/>
        </p:nvSpPr>
        <p:spPr bwMode="auto">
          <a:xfrm>
            <a:off x="29781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82" name="Line 6"/>
          <p:cNvSpPr>
            <a:spLocks noChangeShapeType="1"/>
          </p:cNvSpPr>
          <p:nvPr/>
        </p:nvSpPr>
        <p:spPr bwMode="auto">
          <a:xfrm flipH="1">
            <a:off x="2286000" y="20574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83" name="Line 7"/>
          <p:cNvSpPr>
            <a:spLocks noChangeShapeType="1"/>
          </p:cNvSpPr>
          <p:nvPr/>
        </p:nvSpPr>
        <p:spPr bwMode="auto">
          <a:xfrm flipH="1" flipV="1">
            <a:off x="2895600" y="20574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84" name="Text Box 8"/>
          <p:cNvSpPr txBox="1">
            <a:spLocks noChangeArrowheads="1"/>
          </p:cNvSpPr>
          <p:nvPr/>
        </p:nvSpPr>
        <p:spPr bwMode="auto">
          <a:xfrm>
            <a:off x="1524000" y="316865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1</a:t>
            </a:r>
            <a:endParaRPr lang="en-US" altLang="x-none" sz="3600"/>
          </a:p>
        </p:txBody>
      </p:sp>
      <p:sp>
        <p:nvSpPr>
          <p:cNvPr id="485385" name="Text Box 9"/>
          <p:cNvSpPr txBox="1">
            <a:spLocks noChangeArrowheads="1"/>
          </p:cNvSpPr>
          <p:nvPr/>
        </p:nvSpPr>
        <p:spPr bwMode="auto">
          <a:xfrm>
            <a:off x="2743200" y="320040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2</a:t>
            </a:r>
            <a:endParaRPr lang="en-US" altLang="x-none" sz="3600"/>
          </a:p>
        </p:txBody>
      </p:sp>
      <p:sp>
        <p:nvSpPr>
          <p:cNvPr id="485386" name="Text Box 10"/>
          <p:cNvSpPr txBox="1">
            <a:spLocks noChangeArrowheads="1"/>
          </p:cNvSpPr>
          <p:nvPr/>
        </p:nvSpPr>
        <p:spPr bwMode="auto">
          <a:xfrm>
            <a:off x="2057400" y="1219200"/>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r>
              <a:rPr lang="en-US" altLang="x-none" sz="3600" baseline="-25000">
                <a:latin typeface="Times New Roman" charset="0"/>
              </a:rPr>
              <a:t>1</a:t>
            </a:r>
            <a:endParaRPr lang="en-US" altLang="x-none" sz="3600"/>
          </a:p>
        </p:txBody>
      </p:sp>
      <p:sp>
        <p:nvSpPr>
          <p:cNvPr id="485387" name="Oval 11"/>
          <p:cNvSpPr>
            <a:spLocks noChangeArrowheads="1"/>
          </p:cNvSpPr>
          <p:nvPr/>
        </p:nvSpPr>
        <p:spPr bwMode="auto">
          <a:xfrm>
            <a:off x="17589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88" name="Oval 12"/>
          <p:cNvSpPr>
            <a:spLocks noChangeArrowheads="1"/>
          </p:cNvSpPr>
          <p:nvPr/>
        </p:nvSpPr>
        <p:spPr bwMode="auto">
          <a:xfrm>
            <a:off x="29781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89" name="Line 13"/>
          <p:cNvSpPr>
            <a:spLocks noChangeShapeType="1"/>
          </p:cNvSpPr>
          <p:nvPr/>
        </p:nvSpPr>
        <p:spPr bwMode="auto">
          <a:xfrm>
            <a:off x="213995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91" name="Line 15"/>
          <p:cNvSpPr>
            <a:spLocks noChangeShapeType="1"/>
          </p:cNvSpPr>
          <p:nvPr/>
        </p:nvSpPr>
        <p:spPr bwMode="auto">
          <a:xfrm flipH="1">
            <a:off x="2292350" y="39624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92" name="Line 16"/>
          <p:cNvSpPr>
            <a:spLocks noChangeShapeType="1"/>
          </p:cNvSpPr>
          <p:nvPr/>
        </p:nvSpPr>
        <p:spPr bwMode="auto">
          <a:xfrm flipH="1" flipV="1">
            <a:off x="2292350" y="39624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393" name="Text Box 17"/>
          <p:cNvSpPr txBox="1">
            <a:spLocks noChangeArrowheads="1"/>
          </p:cNvSpPr>
          <p:nvPr/>
        </p:nvSpPr>
        <p:spPr bwMode="auto">
          <a:xfrm>
            <a:off x="15240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85394" name="Text Box 18"/>
          <p:cNvSpPr txBox="1">
            <a:spLocks noChangeArrowheads="1"/>
          </p:cNvSpPr>
          <p:nvPr/>
        </p:nvSpPr>
        <p:spPr bwMode="auto">
          <a:xfrm>
            <a:off x="27432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85395" name="Rectangle 19"/>
          <p:cNvSpPr>
            <a:spLocks noGrp="1" noChangeArrowheads="1"/>
          </p:cNvSpPr>
          <p:nvPr>
            <p:ph type="title"/>
          </p:nvPr>
        </p:nvSpPr>
        <p:spPr>
          <a:xfrm>
            <a:off x="685800" y="-76200"/>
            <a:ext cx="8077200" cy="1143000"/>
          </a:xfrm>
          <a:noFill/>
          <a:ln/>
        </p:spPr>
        <p:txBody>
          <a:bodyPr/>
          <a:lstStyle/>
          <a:p>
            <a:r>
              <a:rPr lang="en-US" altLang="x-none"/>
              <a:t>Defining our terms</a:t>
            </a:r>
          </a:p>
        </p:txBody>
      </p:sp>
      <p:sp>
        <p:nvSpPr>
          <p:cNvPr id="485403" name="Text Box 27"/>
          <p:cNvSpPr txBox="1">
            <a:spLocks noChangeArrowheads="1"/>
          </p:cNvSpPr>
          <p:nvPr/>
        </p:nvSpPr>
        <p:spPr bwMode="auto">
          <a:xfrm>
            <a:off x="4953000" y="2022475"/>
            <a:ext cx="1219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4400" i="1">
                <a:latin typeface="Times New Roman" charset="0"/>
              </a:rPr>
              <a:t>w</a:t>
            </a:r>
            <a:r>
              <a:rPr lang="en-US" altLang="x-none" sz="4400" i="1" baseline="-25000">
                <a:latin typeface="Times New Roman" charset="0"/>
              </a:rPr>
              <a:t>ij</a:t>
            </a:r>
            <a:endParaRPr lang="en-US" altLang="x-none" sz="4400"/>
          </a:p>
        </p:txBody>
      </p:sp>
      <p:sp>
        <p:nvSpPr>
          <p:cNvPr id="485404" name="Text Box 28"/>
          <p:cNvSpPr txBox="1">
            <a:spLocks noChangeArrowheads="1"/>
          </p:cNvSpPr>
          <p:nvPr/>
        </p:nvSpPr>
        <p:spPr bwMode="auto">
          <a:xfrm>
            <a:off x="5029200" y="4003675"/>
            <a:ext cx="12795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4400" i="1">
                <a:latin typeface="Times New Roman" charset="0"/>
              </a:rPr>
              <a:t>w</a:t>
            </a:r>
            <a:r>
              <a:rPr lang="en-US" altLang="x-none" sz="4400" i="1" baseline="-25000">
                <a:latin typeface="Times New Roman" charset="0"/>
              </a:rPr>
              <a:t>jk</a:t>
            </a:r>
            <a:endParaRPr lang="en-US" altLang="x-none" sz="4400"/>
          </a:p>
        </p:txBody>
      </p:sp>
      <p:sp>
        <p:nvSpPr>
          <p:cNvPr id="485405" name="Line 29"/>
          <p:cNvSpPr>
            <a:spLocks noChangeShapeType="1"/>
          </p:cNvSpPr>
          <p:nvPr/>
        </p:nvSpPr>
        <p:spPr bwMode="auto">
          <a:xfrm>
            <a:off x="342900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85406" name="Text Box 30"/>
          <p:cNvSpPr txBox="1">
            <a:spLocks noChangeArrowheads="1"/>
          </p:cNvSpPr>
          <p:nvPr/>
        </p:nvSpPr>
        <p:spPr bwMode="auto">
          <a:xfrm>
            <a:off x="381000" y="3063875"/>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hidden layer</a:t>
            </a:r>
          </a:p>
        </p:txBody>
      </p:sp>
      <p:grpSp>
        <p:nvGrpSpPr>
          <p:cNvPr id="485407" name="Group 31"/>
          <p:cNvGrpSpPr>
            <a:grpSpLocks/>
          </p:cNvGrpSpPr>
          <p:nvPr/>
        </p:nvGrpSpPr>
        <p:grpSpPr bwMode="auto">
          <a:xfrm>
            <a:off x="381000" y="1143000"/>
            <a:ext cx="1524000" cy="4800600"/>
            <a:chOff x="240" y="720"/>
            <a:chExt cx="960" cy="3024"/>
          </a:xfrm>
        </p:grpSpPr>
        <p:sp>
          <p:nvSpPr>
            <p:cNvPr id="485408" name="Text Box 32"/>
            <p:cNvSpPr txBox="1">
              <a:spLocks noChangeArrowheads="1"/>
            </p:cNvSpPr>
            <p:nvPr/>
          </p:nvSpPr>
          <p:spPr bwMode="auto">
            <a:xfrm>
              <a:off x="240" y="3226"/>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input layer</a:t>
              </a:r>
            </a:p>
          </p:txBody>
        </p:sp>
        <p:sp>
          <p:nvSpPr>
            <p:cNvPr id="485409" name="Text Box 33"/>
            <p:cNvSpPr txBox="1">
              <a:spLocks noChangeArrowheads="1"/>
            </p:cNvSpPr>
            <p:nvPr/>
          </p:nvSpPr>
          <p:spPr bwMode="auto">
            <a:xfrm>
              <a:off x="240" y="720"/>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output layer</a:t>
              </a:r>
            </a:p>
          </p:txBody>
        </p:sp>
      </p:grpSp>
    </p:spTree>
    <p:extLst>
      <p:ext uri="{BB962C8B-B14F-4D97-AF65-F5344CB8AC3E}">
        <p14:creationId xmlns:p14="http://schemas.microsoft.com/office/powerpoint/2010/main" val="2156606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a:xfrm>
            <a:off x="685800" y="381000"/>
            <a:ext cx="7772400" cy="1143000"/>
          </a:xfrm>
        </p:spPr>
        <p:txBody>
          <a:bodyPr>
            <a:normAutofit fontScale="90000"/>
          </a:bodyPr>
          <a:lstStyle/>
          <a:p>
            <a:r>
              <a:rPr lang="en-US" altLang="x-none"/>
              <a:t>Backpropagation</a:t>
            </a:r>
            <a:br>
              <a:rPr lang="en-US" altLang="x-none"/>
            </a:br>
            <a:r>
              <a:rPr lang="en-US" altLang="x-none" sz="2800"/>
              <a:t>(generalized delta rule)</a:t>
            </a:r>
            <a:endParaRPr lang="en-US" altLang="x-none"/>
          </a:p>
        </p:txBody>
      </p:sp>
      <p:sp>
        <p:nvSpPr>
          <p:cNvPr id="451587" name="Rectangle 3"/>
          <p:cNvSpPr>
            <a:spLocks noGrp="1" noChangeArrowheads="1"/>
          </p:cNvSpPr>
          <p:nvPr>
            <p:ph type="body" idx="1"/>
          </p:nvPr>
        </p:nvSpPr>
        <p:spPr>
          <a:xfrm>
            <a:off x="152400" y="1371600"/>
            <a:ext cx="8915400" cy="4114800"/>
          </a:xfrm>
        </p:spPr>
        <p:txBody>
          <a:bodyPr/>
          <a:lstStyle/>
          <a:p>
            <a:endParaRPr lang="en-US" altLang="x-none"/>
          </a:p>
          <a:p>
            <a:endParaRPr lang="en-US" altLang="x-none"/>
          </a:p>
        </p:txBody>
      </p:sp>
      <p:graphicFrame>
        <p:nvGraphicFramePr>
          <p:cNvPr id="451610" name="Object 26"/>
          <p:cNvGraphicFramePr>
            <a:graphicFrameLocks noChangeAspect="1"/>
          </p:cNvGraphicFramePr>
          <p:nvPr/>
        </p:nvGraphicFramePr>
        <p:xfrm>
          <a:off x="1395413" y="2087563"/>
          <a:ext cx="6416675" cy="674687"/>
        </p:xfrm>
        <a:graphic>
          <a:graphicData uri="http://schemas.openxmlformats.org/presentationml/2006/ole">
            <mc:AlternateContent xmlns:mc="http://schemas.openxmlformats.org/markup-compatibility/2006">
              <mc:Choice xmlns:v="urn:schemas-microsoft-com:vml" Requires="v">
                <p:oleObj name="Equation" r:id="rId3" imgW="2171700" imgH="228600" progId="Equation.3">
                  <p:embed/>
                </p:oleObj>
              </mc:Choice>
              <mc:Fallback>
                <p:oleObj name="Equation" r:id="rId3" imgW="2171700" imgH="228600" progId="Equation.3">
                  <p:embed/>
                  <p:pic>
                    <p:nvPicPr>
                      <p:cNvPr id="45161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413" y="2087563"/>
                        <a:ext cx="6416675" cy="67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2" name="Group 1"/>
          <p:cNvGrpSpPr/>
          <p:nvPr/>
        </p:nvGrpSpPr>
        <p:grpSpPr>
          <a:xfrm>
            <a:off x="471488" y="2971800"/>
            <a:ext cx="6778625" cy="1314450"/>
            <a:chOff x="471488" y="2971800"/>
            <a:chExt cx="6778625" cy="1314450"/>
          </a:xfrm>
        </p:grpSpPr>
        <p:graphicFrame>
          <p:nvGraphicFramePr>
            <p:cNvPr id="451611" name="Object 27"/>
            <p:cNvGraphicFramePr>
              <a:graphicFrameLocks noChangeAspect="1"/>
            </p:cNvGraphicFramePr>
            <p:nvPr/>
          </p:nvGraphicFramePr>
          <p:xfrm>
            <a:off x="1849438" y="3649663"/>
            <a:ext cx="5400675" cy="636587"/>
          </p:xfrm>
          <a:graphic>
            <a:graphicData uri="http://schemas.openxmlformats.org/presentationml/2006/ole">
              <mc:AlternateContent xmlns:mc="http://schemas.openxmlformats.org/markup-compatibility/2006">
                <mc:Choice xmlns:v="urn:schemas-microsoft-com:vml" Requires="v">
                  <p:oleObj name="Equation" r:id="rId5" imgW="1828800" imgH="215900" progId="Equation.3">
                    <p:embed/>
                  </p:oleObj>
                </mc:Choice>
                <mc:Fallback>
                  <p:oleObj name="Equation" r:id="rId5" imgW="1828800" imgH="215900" progId="Equation.3">
                    <p:embed/>
                    <p:pic>
                      <p:nvPicPr>
                        <p:cNvPr id="451611"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9438" y="3649663"/>
                          <a:ext cx="5400675" cy="63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51612" name="Text Box 28"/>
            <p:cNvSpPr txBox="1">
              <a:spLocks noChangeArrowheads="1"/>
            </p:cNvSpPr>
            <p:nvPr/>
          </p:nvSpPr>
          <p:spPr bwMode="auto">
            <a:xfrm>
              <a:off x="471488" y="2971800"/>
              <a:ext cx="38707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dirty="0"/>
                <a:t>Define a modified error term:</a:t>
              </a:r>
            </a:p>
          </p:txBody>
        </p:sp>
      </p:grpSp>
      <p:sp>
        <p:nvSpPr>
          <p:cNvPr id="451613" name="Text Box 29"/>
          <p:cNvSpPr txBox="1">
            <a:spLocks noChangeArrowheads="1"/>
          </p:cNvSpPr>
          <p:nvPr/>
        </p:nvSpPr>
        <p:spPr bwMode="auto">
          <a:xfrm>
            <a:off x="608845" y="1447800"/>
            <a:ext cx="14889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a:t>Delta rule:</a:t>
            </a:r>
          </a:p>
        </p:txBody>
      </p:sp>
      <p:grpSp>
        <p:nvGrpSpPr>
          <p:cNvPr id="3" name="Group 2"/>
          <p:cNvGrpSpPr/>
          <p:nvPr/>
        </p:nvGrpSpPr>
        <p:grpSpPr>
          <a:xfrm>
            <a:off x="927996" y="4572000"/>
            <a:ext cx="4891779" cy="1219200"/>
            <a:chOff x="927996" y="4572000"/>
            <a:chExt cx="4891779" cy="1219200"/>
          </a:xfrm>
        </p:grpSpPr>
        <p:sp>
          <p:nvSpPr>
            <p:cNvPr id="451609" name="Text Box 25"/>
            <p:cNvSpPr txBox="1">
              <a:spLocks noChangeArrowheads="1"/>
            </p:cNvSpPr>
            <p:nvPr/>
          </p:nvSpPr>
          <p:spPr bwMode="auto">
            <a:xfrm>
              <a:off x="927996" y="4572000"/>
              <a:ext cx="39971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dirty="0"/>
                <a:t>We can write the delta rule as:</a:t>
              </a:r>
            </a:p>
          </p:txBody>
        </p:sp>
        <p:graphicFrame>
          <p:nvGraphicFramePr>
            <p:cNvPr id="451614" name="Object 30"/>
            <p:cNvGraphicFramePr>
              <a:graphicFrameLocks noChangeAspect="1"/>
            </p:cNvGraphicFramePr>
            <p:nvPr/>
          </p:nvGraphicFramePr>
          <p:xfrm>
            <a:off x="3381375" y="5191125"/>
            <a:ext cx="2438400" cy="600075"/>
          </p:xfrm>
          <a:graphic>
            <a:graphicData uri="http://schemas.openxmlformats.org/presentationml/2006/ole">
              <mc:AlternateContent xmlns:mc="http://schemas.openxmlformats.org/markup-compatibility/2006">
                <mc:Choice xmlns:v="urn:schemas-microsoft-com:vml" Requires="v">
                  <p:oleObj name="Equation" r:id="rId7" imgW="825500" imgH="203200" progId="Equation.3">
                    <p:embed/>
                  </p:oleObj>
                </mc:Choice>
                <mc:Fallback>
                  <p:oleObj name="Equation" r:id="rId7" imgW="825500" imgH="203200" progId="Equation.3">
                    <p:embed/>
                    <p:pic>
                      <p:nvPicPr>
                        <p:cNvPr id="451614"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1375" y="5191125"/>
                          <a:ext cx="243840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451615" name="Text Box 31"/>
          <p:cNvSpPr txBox="1">
            <a:spLocks noChangeArrowheads="1"/>
          </p:cNvSpPr>
          <p:nvPr/>
        </p:nvSpPr>
        <p:spPr bwMode="auto">
          <a:xfrm>
            <a:off x="50800" y="6019800"/>
            <a:ext cx="9017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3200">
                <a:solidFill>
                  <a:srgbClr val="FF0300"/>
                </a:solidFill>
              </a:rPr>
              <a:t>How do we work out the “error” for a hidden unit?</a:t>
            </a:r>
          </a:p>
        </p:txBody>
      </p:sp>
    </p:spTree>
    <p:extLst>
      <p:ext uri="{BB962C8B-B14F-4D97-AF65-F5344CB8AC3E}">
        <p14:creationId xmlns:p14="http://schemas.microsoft.com/office/powerpoint/2010/main" val="260955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1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762000" y="223838"/>
            <a:ext cx="7772400" cy="790575"/>
          </a:xfrm>
        </p:spPr>
        <p:txBody>
          <a:bodyPr/>
          <a:lstStyle/>
          <a:p>
            <a:r>
              <a:rPr lang="en-US" altLang="x-none"/>
              <a:t>A little math</a:t>
            </a:r>
          </a:p>
        </p:txBody>
      </p:sp>
      <p:graphicFrame>
        <p:nvGraphicFramePr>
          <p:cNvPr id="483341" name="Object 13"/>
          <p:cNvGraphicFramePr>
            <a:graphicFrameLocks noChangeAspect="1"/>
          </p:cNvGraphicFramePr>
          <p:nvPr/>
        </p:nvGraphicFramePr>
        <p:xfrm>
          <a:off x="1912938" y="1981200"/>
          <a:ext cx="5402262" cy="1643063"/>
        </p:xfrm>
        <a:graphic>
          <a:graphicData uri="http://schemas.openxmlformats.org/presentationml/2006/ole">
            <mc:AlternateContent xmlns:mc="http://schemas.openxmlformats.org/markup-compatibility/2006">
              <mc:Choice xmlns:v="urn:schemas-microsoft-com:vml" Requires="v">
                <p:oleObj name="Equation" r:id="rId3" imgW="1828800" imgH="558800" progId="Equation.3">
                  <p:embed/>
                </p:oleObj>
              </mc:Choice>
              <mc:Fallback>
                <p:oleObj name="Equation" r:id="rId3" imgW="1828800" imgH="558800" progId="Equation.3">
                  <p:embed/>
                  <p:pic>
                    <p:nvPicPr>
                      <p:cNvPr id="483341"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2938" y="1981200"/>
                        <a:ext cx="5402262" cy="164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83343" name="Object 15"/>
          <p:cNvGraphicFramePr>
            <a:graphicFrameLocks noChangeAspect="1"/>
          </p:cNvGraphicFramePr>
          <p:nvPr/>
        </p:nvGraphicFramePr>
        <p:xfrm>
          <a:off x="1066800" y="5638800"/>
          <a:ext cx="7116763" cy="903288"/>
        </p:xfrm>
        <a:graphic>
          <a:graphicData uri="http://schemas.openxmlformats.org/presentationml/2006/ole">
            <mc:AlternateContent xmlns:mc="http://schemas.openxmlformats.org/markup-compatibility/2006">
              <mc:Choice xmlns:v="urn:schemas-microsoft-com:vml" Requires="v">
                <p:oleObj name="Equation" r:id="rId5" imgW="4191000" imgH="533400" progId="Equation.3">
                  <p:embed/>
                </p:oleObj>
              </mc:Choice>
              <mc:Fallback>
                <p:oleObj name="Equation" r:id="rId5" imgW="4191000" imgH="533400" progId="Equation.3">
                  <p:embed/>
                  <p:pic>
                    <p:nvPicPr>
                      <p:cNvPr id="483343"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5638800"/>
                        <a:ext cx="7116763" cy="90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83353" name="Text Box 25"/>
          <p:cNvSpPr txBox="1">
            <a:spLocks noChangeArrowheads="1"/>
          </p:cNvSpPr>
          <p:nvPr/>
        </p:nvSpPr>
        <p:spPr bwMode="auto">
          <a:xfrm>
            <a:off x="1054854" y="1476375"/>
            <a:ext cx="6279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dirty="0"/>
              <a:t>With two layers, we can write the error as</a:t>
            </a:r>
          </a:p>
        </p:txBody>
      </p:sp>
      <p:graphicFrame>
        <p:nvGraphicFramePr>
          <p:cNvPr id="483354" name="Object 26"/>
          <p:cNvGraphicFramePr>
            <a:graphicFrameLocks noChangeAspect="1"/>
          </p:cNvGraphicFramePr>
          <p:nvPr/>
        </p:nvGraphicFramePr>
        <p:xfrm>
          <a:off x="3395663" y="3733800"/>
          <a:ext cx="3189287" cy="1008063"/>
        </p:xfrm>
        <a:graphic>
          <a:graphicData uri="http://schemas.openxmlformats.org/presentationml/2006/ole">
            <mc:AlternateContent xmlns:mc="http://schemas.openxmlformats.org/markup-compatibility/2006">
              <mc:Choice xmlns:v="urn:schemas-microsoft-com:vml" Requires="v">
                <p:oleObj name="Equation" r:id="rId7" imgW="1079500" imgH="342900" progId="Equation.3">
                  <p:embed/>
                </p:oleObj>
              </mc:Choice>
              <mc:Fallback>
                <p:oleObj name="Equation" r:id="rId7" imgW="1079500" imgH="342900" progId="Equation.3">
                  <p:embed/>
                  <p:pic>
                    <p:nvPicPr>
                      <p:cNvPr id="483354"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5663" y="3733800"/>
                        <a:ext cx="3189287"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83355" name="Text Box 27"/>
          <p:cNvSpPr txBox="1">
            <a:spLocks noChangeArrowheads="1"/>
          </p:cNvSpPr>
          <p:nvPr/>
        </p:nvSpPr>
        <p:spPr bwMode="auto">
          <a:xfrm>
            <a:off x="2178804" y="3824288"/>
            <a:ext cx="110652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a:t>where</a:t>
            </a:r>
          </a:p>
        </p:txBody>
      </p:sp>
      <p:sp>
        <p:nvSpPr>
          <p:cNvPr id="483356" name="Text Box 28"/>
          <p:cNvSpPr txBox="1">
            <a:spLocks noChangeArrowheads="1"/>
          </p:cNvSpPr>
          <p:nvPr/>
        </p:nvSpPr>
        <p:spPr bwMode="auto">
          <a:xfrm>
            <a:off x="2024817" y="4876800"/>
            <a:ext cx="47067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a:t>and then apply the chain rule…</a:t>
            </a:r>
          </a:p>
        </p:txBody>
      </p:sp>
    </p:spTree>
    <p:extLst>
      <p:ext uri="{BB962C8B-B14F-4D97-AF65-F5344CB8AC3E}">
        <p14:creationId xmlns:p14="http://schemas.microsoft.com/office/powerpoint/2010/main" val="16677484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a:xfrm>
            <a:off x="685800" y="381000"/>
            <a:ext cx="7772400" cy="1143000"/>
          </a:xfrm>
        </p:spPr>
        <p:txBody>
          <a:bodyPr>
            <a:normAutofit fontScale="90000"/>
          </a:bodyPr>
          <a:lstStyle/>
          <a:p>
            <a:r>
              <a:rPr lang="en-US" altLang="x-none"/>
              <a:t>Backpropagation</a:t>
            </a:r>
            <a:br>
              <a:rPr lang="en-US" altLang="x-none"/>
            </a:br>
            <a:r>
              <a:rPr lang="en-US" altLang="x-none" sz="2800"/>
              <a:t>(generalized delta rule)</a:t>
            </a:r>
            <a:endParaRPr lang="en-US" altLang="x-none"/>
          </a:p>
        </p:txBody>
      </p:sp>
      <p:sp>
        <p:nvSpPr>
          <p:cNvPr id="459780" name="Text Box 4"/>
          <p:cNvSpPr txBox="1">
            <a:spLocks noChangeArrowheads="1"/>
          </p:cNvSpPr>
          <p:nvPr/>
        </p:nvSpPr>
        <p:spPr bwMode="auto">
          <a:xfrm>
            <a:off x="826248" y="4876800"/>
            <a:ext cx="63786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800"/>
              <a:t>We can write the generalized delta rule as:</a:t>
            </a:r>
          </a:p>
        </p:txBody>
      </p:sp>
      <p:graphicFrame>
        <p:nvGraphicFramePr>
          <p:cNvPr id="459782" name="Object 6"/>
          <p:cNvGraphicFramePr>
            <a:graphicFrameLocks noChangeAspect="1"/>
          </p:cNvGraphicFramePr>
          <p:nvPr/>
        </p:nvGraphicFramePr>
        <p:xfrm>
          <a:off x="2173288" y="2133600"/>
          <a:ext cx="4687887" cy="1346200"/>
        </p:xfrm>
        <a:graphic>
          <a:graphicData uri="http://schemas.openxmlformats.org/presentationml/2006/ole">
            <mc:AlternateContent xmlns:mc="http://schemas.openxmlformats.org/markup-compatibility/2006">
              <mc:Choice xmlns:v="urn:schemas-microsoft-com:vml" Requires="v">
                <p:oleObj name="Equation" r:id="rId3" imgW="1587500" imgH="457200" progId="Equation.3">
                  <p:embed/>
                </p:oleObj>
              </mc:Choice>
              <mc:Fallback>
                <p:oleObj name="Equation" r:id="rId3" imgW="1587500" imgH="457200" progId="Equation.3">
                  <p:embed/>
                  <p:pic>
                    <p:nvPicPr>
                      <p:cNvPr id="45978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288" y="2133600"/>
                        <a:ext cx="4687887"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59783" name="Text Box 7"/>
          <p:cNvSpPr txBox="1">
            <a:spLocks noChangeArrowheads="1"/>
          </p:cNvSpPr>
          <p:nvPr/>
        </p:nvSpPr>
        <p:spPr bwMode="auto">
          <a:xfrm>
            <a:off x="457200" y="1625600"/>
            <a:ext cx="44363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dirty="0"/>
              <a:t>The appropriate error term is</a:t>
            </a:r>
          </a:p>
        </p:txBody>
      </p:sp>
      <p:graphicFrame>
        <p:nvGraphicFramePr>
          <p:cNvPr id="459785" name="Object 9"/>
          <p:cNvGraphicFramePr>
            <a:graphicFrameLocks noChangeAspect="1"/>
          </p:cNvGraphicFramePr>
          <p:nvPr/>
        </p:nvGraphicFramePr>
        <p:xfrm>
          <a:off x="3287713" y="5495925"/>
          <a:ext cx="2627312" cy="600075"/>
        </p:xfrm>
        <a:graphic>
          <a:graphicData uri="http://schemas.openxmlformats.org/presentationml/2006/ole">
            <mc:AlternateContent xmlns:mc="http://schemas.openxmlformats.org/markup-compatibility/2006">
              <mc:Choice xmlns:v="urn:schemas-microsoft-com:vml" Requires="v">
                <p:oleObj name="Equation" r:id="rId5" imgW="889000" imgH="203200" progId="Equation.3">
                  <p:embed/>
                </p:oleObj>
              </mc:Choice>
              <mc:Fallback>
                <p:oleObj name="Equation" r:id="rId5" imgW="889000" imgH="203200" progId="Equation.3">
                  <p:embed/>
                  <p:pic>
                    <p:nvPicPr>
                      <p:cNvPr id="459785"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7713" y="5495925"/>
                        <a:ext cx="2627312"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59787" name="Text Box 11"/>
          <p:cNvSpPr txBox="1">
            <a:spLocks noChangeArrowheads="1"/>
          </p:cNvSpPr>
          <p:nvPr/>
        </p:nvSpPr>
        <p:spPr bwMode="auto">
          <a:xfrm>
            <a:off x="533400" y="3657600"/>
            <a:ext cx="680731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800" dirty="0"/>
              <a:t>Each hidden unit is apportioned some blame!</a:t>
            </a:r>
          </a:p>
          <a:p>
            <a:pPr>
              <a:buFontTx/>
              <a:buNone/>
            </a:pPr>
            <a:r>
              <a:rPr lang="en-US" altLang="x-none" sz="2800" dirty="0"/>
              <a:t>Error is propagated “back” to hidden units…</a:t>
            </a:r>
          </a:p>
        </p:txBody>
      </p:sp>
    </p:spTree>
    <p:extLst>
      <p:ext uri="{BB962C8B-B14F-4D97-AF65-F5344CB8AC3E}">
        <p14:creationId xmlns:p14="http://schemas.microsoft.com/office/powerpoint/2010/main" val="39236188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body" idx="1"/>
          </p:nvPr>
        </p:nvSpPr>
        <p:spPr>
          <a:xfrm>
            <a:off x="152400" y="1371600"/>
            <a:ext cx="8915400" cy="4114800"/>
          </a:xfrm>
        </p:spPr>
        <p:txBody>
          <a:bodyPr/>
          <a:lstStyle/>
          <a:p>
            <a:endParaRPr lang="en-US" altLang="x-none"/>
          </a:p>
          <a:p>
            <a:endParaRPr lang="en-US" altLang="x-none"/>
          </a:p>
        </p:txBody>
      </p:sp>
      <p:sp>
        <p:nvSpPr>
          <p:cNvPr id="455683" name="Oval 3"/>
          <p:cNvSpPr>
            <a:spLocks noChangeArrowheads="1"/>
          </p:cNvSpPr>
          <p:nvPr/>
        </p:nvSpPr>
        <p:spPr bwMode="auto">
          <a:xfrm>
            <a:off x="2292350" y="1219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84" name="Oval 4"/>
          <p:cNvSpPr>
            <a:spLocks noChangeArrowheads="1"/>
          </p:cNvSpPr>
          <p:nvPr/>
        </p:nvSpPr>
        <p:spPr bwMode="auto">
          <a:xfrm>
            <a:off x="17589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85" name="Oval 5"/>
          <p:cNvSpPr>
            <a:spLocks noChangeArrowheads="1"/>
          </p:cNvSpPr>
          <p:nvPr/>
        </p:nvSpPr>
        <p:spPr bwMode="auto">
          <a:xfrm>
            <a:off x="2978150" y="31242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86" name="Line 6"/>
          <p:cNvSpPr>
            <a:spLocks noChangeShapeType="1"/>
          </p:cNvSpPr>
          <p:nvPr/>
        </p:nvSpPr>
        <p:spPr bwMode="auto">
          <a:xfrm flipH="1">
            <a:off x="2286000" y="2057400"/>
            <a:ext cx="304800" cy="10668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87" name="Line 7"/>
          <p:cNvSpPr>
            <a:spLocks noChangeShapeType="1"/>
          </p:cNvSpPr>
          <p:nvPr/>
        </p:nvSpPr>
        <p:spPr bwMode="auto">
          <a:xfrm flipH="1" flipV="1">
            <a:off x="2895600" y="2057400"/>
            <a:ext cx="38735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88" name="Text Box 8"/>
          <p:cNvSpPr txBox="1">
            <a:spLocks noChangeArrowheads="1"/>
          </p:cNvSpPr>
          <p:nvPr/>
        </p:nvSpPr>
        <p:spPr bwMode="auto">
          <a:xfrm>
            <a:off x="1524000" y="316865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1</a:t>
            </a:r>
            <a:endParaRPr lang="en-US" altLang="x-none" sz="3600"/>
          </a:p>
        </p:txBody>
      </p:sp>
      <p:sp>
        <p:nvSpPr>
          <p:cNvPr id="455689" name="Text Box 9"/>
          <p:cNvSpPr txBox="1">
            <a:spLocks noChangeArrowheads="1"/>
          </p:cNvSpPr>
          <p:nvPr/>
        </p:nvSpPr>
        <p:spPr bwMode="auto">
          <a:xfrm>
            <a:off x="2743200" y="320040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2</a:t>
            </a:r>
            <a:endParaRPr lang="en-US" altLang="x-none" sz="3600"/>
          </a:p>
        </p:txBody>
      </p:sp>
      <p:sp>
        <p:nvSpPr>
          <p:cNvPr id="455690" name="Text Box 10"/>
          <p:cNvSpPr txBox="1">
            <a:spLocks noChangeArrowheads="1"/>
          </p:cNvSpPr>
          <p:nvPr/>
        </p:nvSpPr>
        <p:spPr bwMode="auto">
          <a:xfrm>
            <a:off x="2057400" y="1219200"/>
            <a:ext cx="844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y</a:t>
            </a:r>
            <a:endParaRPr lang="en-US" altLang="x-none" sz="3600"/>
          </a:p>
        </p:txBody>
      </p:sp>
      <p:sp>
        <p:nvSpPr>
          <p:cNvPr id="455691" name="Oval 11"/>
          <p:cNvSpPr>
            <a:spLocks noChangeArrowheads="1"/>
          </p:cNvSpPr>
          <p:nvPr/>
        </p:nvSpPr>
        <p:spPr bwMode="auto">
          <a:xfrm>
            <a:off x="17589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92" name="Oval 12"/>
          <p:cNvSpPr>
            <a:spLocks noChangeArrowheads="1"/>
          </p:cNvSpPr>
          <p:nvPr/>
        </p:nvSpPr>
        <p:spPr bwMode="auto">
          <a:xfrm>
            <a:off x="2978150" y="51054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93" name="Line 13"/>
          <p:cNvSpPr>
            <a:spLocks noChangeShapeType="1"/>
          </p:cNvSpPr>
          <p:nvPr/>
        </p:nvSpPr>
        <p:spPr bwMode="auto">
          <a:xfrm>
            <a:off x="213995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94" name="Line 14"/>
          <p:cNvSpPr>
            <a:spLocks noChangeShapeType="1"/>
          </p:cNvSpPr>
          <p:nvPr/>
        </p:nvSpPr>
        <p:spPr bwMode="auto">
          <a:xfrm>
            <a:off x="3435350" y="39624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95" name="Line 15"/>
          <p:cNvSpPr>
            <a:spLocks noChangeShapeType="1"/>
          </p:cNvSpPr>
          <p:nvPr/>
        </p:nvSpPr>
        <p:spPr bwMode="auto">
          <a:xfrm flipH="1">
            <a:off x="2292350" y="39624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96" name="Line 16"/>
          <p:cNvSpPr>
            <a:spLocks noChangeShapeType="1"/>
          </p:cNvSpPr>
          <p:nvPr/>
        </p:nvSpPr>
        <p:spPr bwMode="auto">
          <a:xfrm flipH="1" flipV="1">
            <a:off x="2292350" y="39624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697" name="Text Box 17"/>
          <p:cNvSpPr txBox="1">
            <a:spLocks noChangeArrowheads="1"/>
          </p:cNvSpPr>
          <p:nvPr/>
        </p:nvSpPr>
        <p:spPr bwMode="auto">
          <a:xfrm>
            <a:off x="15240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55698" name="Text Box 18"/>
          <p:cNvSpPr txBox="1">
            <a:spLocks noChangeArrowheads="1"/>
          </p:cNvSpPr>
          <p:nvPr/>
        </p:nvSpPr>
        <p:spPr bwMode="auto">
          <a:xfrm>
            <a:off x="2743200" y="51657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55699" name="Rectangle 19"/>
          <p:cNvSpPr>
            <a:spLocks noGrp="1" noChangeArrowheads="1"/>
          </p:cNvSpPr>
          <p:nvPr>
            <p:ph type="title"/>
          </p:nvPr>
        </p:nvSpPr>
        <p:spPr>
          <a:xfrm>
            <a:off x="685800" y="152400"/>
            <a:ext cx="8077200" cy="1143000"/>
          </a:xfrm>
          <a:noFill/>
          <a:ln/>
        </p:spPr>
        <p:txBody>
          <a:bodyPr/>
          <a:lstStyle/>
          <a:p>
            <a:r>
              <a:rPr lang="en-US" altLang="x-none"/>
              <a:t>Training multi-layer networks</a:t>
            </a:r>
          </a:p>
        </p:txBody>
      </p:sp>
      <p:sp>
        <p:nvSpPr>
          <p:cNvPr id="455700" name="Rectangle 20"/>
          <p:cNvSpPr>
            <a:spLocks noChangeArrowheads="1"/>
          </p:cNvSpPr>
          <p:nvPr/>
        </p:nvSpPr>
        <p:spPr bwMode="auto">
          <a:xfrm>
            <a:off x="1981200" y="1905000"/>
            <a:ext cx="1600200" cy="1371600"/>
          </a:xfrm>
          <a:prstGeom prst="rect">
            <a:avLst/>
          </a:prstGeom>
          <a:noFill/>
          <a:ln w="28575">
            <a:solidFill>
              <a:srgbClr val="FF0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701" name="Text Box 21"/>
          <p:cNvSpPr txBox="1">
            <a:spLocks noChangeArrowheads="1"/>
          </p:cNvSpPr>
          <p:nvPr/>
        </p:nvSpPr>
        <p:spPr bwMode="auto">
          <a:xfrm>
            <a:off x="4812621" y="1325563"/>
            <a:ext cx="19984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2400"/>
              <a:t>compute error</a:t>
            </a:r>
          </a:p>
        </p:txBody>
      </p:sp>
      <p:sp>
        <p:nvSpPr>
          <p:cNvPr id="455702" name="Text Box 22"/>
          <p:cNvSpPr txBox="1">
            <a:spLocks noChangeArrowheads="1"/>
          </p:cNvSpPr>
          <p:nvPr/>
        </p:nvSpPr>
        <p:spPr bwMode="auto">
          <a:xfrm>
            <a:off x="4038600" y="2301875"/>
            <a:ext cx="36449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buFontTx/>
              <a:buNone/>
            </a:pPr>
            <a:r>
              <a:rPr lang="en-US" altLang="x-none" sz="2400"/>
              <a:t>use delta rule</a:t>
            </a:r>
          </a:p>
        </p:txBody>
      </p:sp>
      <p:sp>
        <p:nvSpPr>
          <p:cNvPr id="455703" name="Text Box 23"/>
          <p:cNvSpPr txBox="1">
            <a:spLocks noChangeArrowheads="1"/>
          </p:cNvSpPr>
          <p:nvPr/>
        </p:nvSpPr>
        <p:spPr bwMode="auto">
          <a:xfrm>
            <a:off x="3962400" y="3265353"/>
            <a:ext cx="42826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lgn="ctr">
              <a:buFontTx/>
              <a:buNone/>
            </a:pPr>
            <a:r>
              <a:rPr lang="en-US" altLang="x-none" sz="2400"/>
              <a:t>propagate error to hidden layer</a:t>
            </a:r>
          </a:p>
        </p:txBody>
      </p:sp>
      <p:sp>
        <p:nvSpPr>
          <p:cNvPr id="455704" name="Rectangle 24"/>
          <p:cNvSpPr>
            <a:spLocks noChangeArrowheads="1"/>
          </p:cNvSpPr>
          <p:nvPr/>
        </p:nvSpPr>
        <p:spPr bwMode="auto">
          <a:xfrm>
            <a:off x="1981200" y="3886200"/>
            <a:ext cx="1600200" cy="1371600"/>
          </a:xfrm>
          <a:prstGeom prst="rect">
            <a:avLst/>
          </a:prstGeom>
          <a:noFill/>
          <a:ln w="28575">
            <a:solidFill>
              <a:srgbClr val="FF0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55705" name="Text Box 25"/>
          <p:cNvSpPr txBox="1">
            <a:spLocks noChangeArrowheads="1"/>
          </p:cNvSpPr>
          <p:nvPr/>
        </p:nvSpPr>
        <p:spPr bwMode="auto">
          <a:xfrm>
            <a:off x="4279900" y="4206875"/>
            <a:ext cx="34163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buFontTx/>
              <a:buNone/>
            </a:pPr>
            <a:r>
              <a:rPr lang="en-US" altLang="x-none" sz="2400"/>
              <a:t>use generalized delta rule</a:t>
            </a:r>
          </a:p>
        </p:txBody>
      </p:sp>
      <p:sp>
        <p:nvSpPr>
          <p:cNvPr id="455706" name="Text Box 26"/>
          <p:cNvSpPr txBox="1">
            <a:spLocks noChangeArrowheads="1"/>
          </p:cNvSpPr>
          <p:nvPr/>
        </p:nvSpPr>
        <p:spPr bwMode="auto">
          <a:xfrm>
            <a:off x="3548063" y="5426075"/>
            <a:ext cx="5062537"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ctr">
              <a:buFontTx/>
              <a:buNone/>
            </a:pPr>
            <a:r>
              <a:rPr lang="en-US" altLang="x-none" sz="3600">
                <a:solidFill>
                  <a:srgbClr val="FF0300"/>
                </a:solidFill>
              </a:rPr>
              <a:t>“Backpropagation”</a:t>
            </a:r>
          </a:p>
          <a:p>
            <a:pPr algn="ctr">
              <a:buFontTx/>
              <a:buNone/>
            </a:pPr>
            <a:r>
              <a:rPr lang="en-US" altLang="x-none" sz="2400">
                <a:solidFill>
                  <a:srgbClr val="FF0300"/>
                </a:solidFill>
              </a:rPr>
              <a:t>(Rumelhart, Hinton, &amp; Wilson, 1986)</a:t>
            </a:r>
          </a:p>
        </p:txBody>
      </p:sp>
    </p:spTree>
    <p:extLst>
      <p:ext uri="{BB962C8B-B14F-4D97-AF65-F5344CB8AC3E}">
        <p14:creationId xmlns:p14="http://schemas.microsoft.com/office/powerpoint/2010/main" val="3704168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A425F-104B-5E5C-14FE-2C009B14CA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5AB53-EF76-387C-BBB2-6A1B5AD946AA}"/>
              </a:ext>
            </a:extLst>
          </p:cNvPr>
          <p:cNvSpPr>
            <a:spLocks noGrp="1"/>
          </p:cNvSpPr>
          <p:nvPr>
            <p:ph idx="1"/>
          </p:nvPr>
        </p:nvSpPr>
        <p:spPr>
          <a:xfrm>
            <a:off x="465992" y="135082"/>
            <a:ext cx="8229600" cy="6751588"/>
          </a:xfrm>
        </p:spPr>
        <p:txBody>
          <a:bodyPr>
            <a:normAutofit/>
          </a:bodyPr>
          <a:lstStyle/>
          <a:p>
            <a:r>
              <a:rPr lang="en-US" dirty="0"/>
              <a:t>Admin Matters</a:t>
            </a:r>
          </a:p>
          <a:p>
            <a:r>
              <a:rPr lang="en-US" dirty="0"/>
              <a:t>Connectionism and neural network basics</a:t>
            </a:r>
          </a:p>
          <a:p>
            <a:r>
              <a:rPr lang="en-US" dirty="0"/>
              <a:t>Linear neural networks</a:t>
            </a:r>
          </a:p>
          <a:p>
            <a:r>
              <a:rPr lang="en-US" dirty="0"/>
              <a:t>Nonlinearity and Backpropagation</a:t>
            </a:r>
          </a:p>
          <a:p>
            <a:r>
              <a:rPr lang="en-US" dirty="0"/>
              <a:t>Convolutional and Recurrent neural networks</a:t>
            </a:r>
          </a:p>
          <a:p>
            <a:pPr defTabSz="914400">
              <a:spcBef>
                <a:spcPts val="0"/>
              </a:spcBef>
              <a:defRPr/>
            </a:pPr>
            <a:endParaRPr lang="en-US" dirty="0"/>
          </a:p>
          <a:p>
            <a:pPr marL="0" indent="0" defTabSz="914400">
              <a:spcBef>
                <a:spcPts val="0"/>
              </a:spcBef>
              <a:buNone/>
              <a:defRPr/>
            </a:pPr>
            <a:r>
              <a:rPr lang="en-US" b="1" dirty="0"/>
              <a:t>Short rest 1</a:t>
            </a:r>
            <a:endParaRPr lang="en-US" dirty="0"/>
          </a:p>
          <a:p>
            <a:pPr defTabSz="914400">
              <a:spcBef>
                <a:spcPts val="0"/>
              </a:spcBef>
              <a:defRPr/>
            </a:pPr>
            <a:r>
              <a:rPr lang="en-US" dirty="0"/>
              <a:t>Three student presentations:</a:t>
            </a:r>
          </a:p>
          <a:p>
            <a:pPr marL="914400" lvl="1" indent="-514350" defTabSz="914400">
              <a:spcBef>
                <a:spcPts val="0"/>
              </a:spcBef>
              <a:buFont typeface="+mj-lt"/>
              <a:buAutoNum type="arabicPeriod"/>
              <a:defRPr/>
            </a:pPr>
            <a:r>
              <a:rPr lang="en-US" dirty="0"/>
              <a:t>Lake et al 2015 by </a:t>
            </a:r>
            <a:r>
              <a:rPr lang="en-US" dirty="0" err="1"/>
              <a:t>Ruijia</a:t>
            </a:r>
            <a:endParaRPr lang="en-US" dirty="0"/>
          </a:p>
          <a:p>
            <a:pPr marL="914400" lvl="1" indent="-514350" defTabSz="914400">
              <a:spcBef>
                <a:spcPts val="0"/>
              </a:spcBef>
              <a:buFont typeface="+mj-lt"/>
              <a:buAutoNum type="arabicPeriod"/>
              <a:defRPr/>
            </a:pPr>
            <a:r>
              <a:rPr lang="en-US" dirty="0" err="1"/>
              <a:t>Linzen</a:t>
            </a:r>
            <a:r>
              <a:rPr lang="en-US" dirty="0"/>
              <a:t> et al by Elijah</a:t>
            </a:r>
          </a:p>
          <a:p>
            <a:pPr marL="914400" lvl="1" indent="-514350" defTabSz="914400">
              <a:spcBef>
                <a:spcPts val="0"/>
              </a:spcBef>
              <a:buFont typeface="+mj-lt"/>
              <a:buAutoNum type="arabicPeriod"/>
              <a:defRPr/>
            </a:pPr>
            <a:endParaRPr lang="en-US" dirty="0"/>
          </a:p>
          <a:p>
            <a:pPr marL="0" indent="0" defTabSz="914400">
              <a:spcBef>
                <a:spcPts val="0"/>
              </a:spcBef>
              <a:buNone/>
              <a:defRPr/>
            </a:pPr>
            <a:r>
              <a:rPr lang="en-US" b="1" dirty="0"/>
              <a:t>Short rest 2</a:t>
            </a:r>
          </a:p>
          <a:p>
            <a:pPr marL="400050" lvl="1" indent="0" defTabSz="914400">
              <a:spcBef>
                <a:spcPts val="0"/>
              </a:spcBef>
              <a:buNone/>
              <a:defRPr/>
            </a:pPr>
            <a:r>
              <a:rPr lang="en-US" dirty="0"/>
              <a:t>3. Schulz </a:t>
            </a:r>
            <a:r>
              <a:rPr lang="en-US" dirty="0" err="1"/>
              <a:t>Buschoff</a:t>
            </a:r>
            <a:r>
              <a:rPr lang="en-US" dirty="0"/>
              <a:t> et al by </a:t>
            </a:r>
            <a:r>
              <a:rPr lang="en-US" dirty="0" err="1"/>
              <a:t>Khailanii</a:t>
            </a:r>
            <a:endParaRPr lang="en-US" dirty="0"/>
          </a:p>
        </p:txBody>
      </p:sp>
    </p:spTree>
    <p:extLst>
      <p:ext uri="{BB962C8B-B14F-4D97-AF65-F5344CB8AC3E}">
        <p14:creationId xmlns:p14="http://schemas.microsoft.com/office/powerpoint/2010/main" val="2659067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98"/>
            <a:ext cx="8229600" cy="748250"/>
          </a:xfrm>
        </p:spPr>
        <p:txBody>
          <a:bodyPr>
            <a:normAutofit fontScale="90000"/>
          </a:bodyPr>
          <a:lstStyle/>
          <a:p>
            <a:r>
              <a:rPr lang="en-US"/>
              <a:t>Convolutional Neural Networks</a:t>
            </a:r>
          </a:p>
        </p:txBody>
      </p:sp>
      <p:sp>
        <p:nvSpPr>
          <p:cNvPr id="4" name="TextBox 3"/>
          <p:cNvSpPr txBox="1"/>
          <p:nvPr/>
        </p:nvSpPr>
        <p:spPr>
          <a:xfrm>
            <a:off x="170480" y="960895"/>
            <a:ext cx="8973519" cy="4893647"/>
          </a:xfrm>
          <a:prstGeom prst="rect">
            <a:avLst/>
          </a:prstGeom>
          <a:noFill/>
        </p:spPr>
        <p:txBody>
          <a:bodyPr wrap="square" rtlCol="0">
            <a:spAutoFit/>
          </a:bodyPr>
          <a:lstStyle/>
          <a:p>
            <a:r>
              <a:rPr lang="en-US" sz="2400" b="1" dirty="0"/>
              <a:t>Convolutional Neural Networks </a:t>
            </a:r>
            <a:r>
              <a:rPr lang="en-US" sz="2400" dirty="0"/>
              <a:t>are neural networks that use “convolution” instead of standard matrix multiplication.</a:t>
            </a:r>
          </a:p>
          <a:p>
            <a:endParaRPr lang="en-US" sz="2400" dirty="0"/>
          </a:p>
          <a:p>
            <a:r>
              <a:rPr lang="en-US" sz="2400" b="1" dirty="0"/>
              <a:t>Convolution</a:t>
            </a:r>
          </a:p>
          <a:p>
            <a:r>
              <a:rPr lang="en-US" sz="2400" b="1" dirty="0"/>
              <a:t>	</a:t>
            </a:r>
            <a:r>
              <a:rPr lang="en-US" sz="2400" dirty="0"/>
              <a:t>Say x(t) is the noisy sensor of the location of a spaceship</a:t>
            </a:r>
          </a:p>
          <a:p>
            <a:r>
              <a:rPr lang="en-US" sz="2400" dirty="0"/>
              <a:t>	If we want the best estimate of the location at time </a:t>
            </a:r>
            <a:r>
              <a:rPr lang="en-US" sz="2400" i="1" dirty="0"/>
              <a:t>t</a:t>
            </a:r>
            <a:r>
              <a:rPr lang="en-US" sz="2400" dirty="0"/>
              <a:t>, we 	probably want to combine a few values. </a:t>
            </a:r>
          </a:p>
          <a:p>
            <a:r>
              <a:rPr lang="en-US" sz="2400" dirty="0"/>
              <a:t>	Convolution is a way of doing this -- we could combine the weights 	at different times near </a:t>
            </a:r>
            <a:r>
              <a:rPr lang="en-US" sz="2400" i="1" dirty="0"/>
              <a:t>t</a:t>
            </a:r>
            <a:r>
              <a:rPr lang="en-US" sz="2400" dirty="0"/>
              <a:t>.</a:t>
            </a:r>
          </a:p>
          <a:p>
            <a:r>
              <a:rPr lang="en-US" sz="2400" dirty="0"/>
              <a:t>		(larger values at </a:t>
            </a:r>
            <a:r>
              <a:rPr lang="en-US" sz="2400" i="1" dirty="0"/>
              <a:t>t</a:t>
            </a:r>
            <a:r>
              <a:rPr lang="en-US" sz="2400" dirty="0"/>
              <a:t> and decay as we go further away from </a:t>
            </a:r>
            <a:r>
              <a:rPr lang="en-US" sz="2400" i="1" dirty="0"/>
              <a:t>t</a:t>
            </a:r>
            <a:r>
              <a:rPr lang="en-US" sz="2400" dirty="0"/>
              <a:t>).</a:t>
            </a:r>
          </a:p>
          <a:p>
            <a:endParaRPr lang="en-US" sz="2400" dirty="0"/>
          </a:p>
          <a:p>
            <a:r>
              <a:rPr lang="en-US" sz="2400" dirty="0"/>
              <a:t>	x is the input.</a:t>
            </a:r>
          </a:p>
          <a:p>
            <a:r>
              <a:rPr lang="en-US" sz="2400" dirty="0"/>
              <a:t>	w is called the kernel (or sometimes a feature map/image)</a:t>
            </a:r>
          </a:p>
        </p:txBody>
      </p:sp>
      <p:pic>
        <p:nvPicPr>
          <p:cNvPr id="6" name="Picture 5"/>
          <p:cNvPicPr>
            <a:picLocks noChangeAspect="1"/>
          </p:cNvPicPr>
          <p:nvPr/>
        </p:nvPicPr>
        <p:blipFill>
          <a:blip r:embed="rId3"/>
          <a:stretch>
            <a:fillRect/>
          </a:stretch>
        </p:blipFill>
        <p:spPr>
          <a:xfrm>
            <a:off x="2133600" y="6051689"/>
            <a:ext cx="4876800" cy="685800"/>
          </a:xfrm>
          <a:prstGeom prst="rect">
            <a:avLst/>
          </a:prstGeom>
        </p:spPr>
      </p:pic>
    </p:spTree>
    <p:extLst>
      <p:ext uri="{BB962C8B-B14F-4D97-AF65-F5344CB8AC3E}">
        <p14:creationId xmlns:p14="http://schemas.microsoft.com/office/powerpoint/2010/main" val="282088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133" y="3328332"/>
            <a:ext cx="7965605" cy="250201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123914" y="448840"/>
                <a:ext cx="7358938" cy="2308324"/>
              </a:xfrm>
              <a:prstGeom prst="rect">
                <a:avLst/>
              </a:prstGeom>
              <a:noFill/>
            </p:spPr>
            <p:txBody>
              <a:bodyPr wrap="none" rtlCol="0">
                <a:spAutoFit/>
              </a:bodyPr>
              <a:lstStyle/>
              <a:p>
                <a:r>
                  <a:rPr lang="en-US" sz="2400" dirty="0"/>
                  <a:t>Moving vertical dotted line is current value of </a:t>
                </a:r>
                <a14:m>
                  <m:oMath xmlns:m="http://schemas.openxmlformats.org/officeDocument/2006/math">
                    <m:r>
                      <m:rPr>
                        <m:sty m:val="p"/>
                      </m:rPr>
                      <a:rPr lang="en-US" sz="2400" b="0" i="1" smtClean="0">
                        <a:latin typeface="Cambria Math" panose="02040503050406030204" pitchFamily="18" charset="0"/>
                      </a:rPr>
                      <m:t>τ</m:t>
                    </m:r>
                  </m:oMath>
                </a14:m>
                <a:r>
                  <a:rPr lang="en-US" sz="2400" b="0" dirty="0"/>
                  <a:t> (a before)</a:t>
                </a:r>
                <a:endParaRPr lang="en-US" sz="2400" dirty="0"/>
              </a:p>
              <a:p>
                <a:r>
                  <a:rPr lang="en-US" sz="2400" dirty="0"/>
                  <a:t>Blue is the input x, written as f(</a:t>
                </a:r>
                <a14:m>
                  <m:oMath xmlns:m="http://schemas.openxmlformats.org/officeDocument/2006/math">
                    <m:r>
                      <m:rPr>
                        <m:sty m:val="p"/>
                      </m:rPr>
                      <a:rPr lang="en-US" sz="2400" b="0" i="1" smtClean="0">
                        <a:latin typeface="Cambria Math" panose="02040503050406030204" pitchFamily="18" charset="0"/>
                      </a:rPr>
                      <m:t>τ</m:t>
                    </m:r>
                  </m:oMath>
                </a14:m>
                <a:r>
                  <a:rPr lang="en-US" sz="2400" dirty="0"/>
                  <a:t>) in this figure</a:t>
                </a:r>
              </a:p>
              <a:p>
                <a:r>
                  <a:rPr lang="en-US" sz="2400" dirty="0"/>
                  <a:t>Red is the kernel w as the integrand moving through with </a:t>
                </a:r>
              </a:p>
              <a:p>
                <a:r>
                  <a:rPr lang="en-US" sz="2400" dirty="0"/>
                  <a:t>	width g(t-</a:t>
                </a:r>
                <a:r>
                  <a:rPr lang="en-US" sz="2400" b="0" dirty="0"/>
                  <a:t> </a:t>
                </a:r>
                <a14:m>
                  <m:oMath xmlns:m="http://schemas.openxmlformats.org/officeDocument/2006/math">
                    <m:r>
                      <m:rPr>
                        <m:sty m:val="p"/>
                      </m:rPr>
                      <a:rPr lang="en-US" sz="2400" b="0" i="1" smtClean="0">
                        <a:latin typeface="Cambria Math" panose="02040503050406030204" pitchFamily="18" charset="0"/>
                      </a:rPr>
                      <m:t>τ</m:t>
                    </m:r>
                  </m:oMath>
                </a14:m>
                <a:r>
                  <a:rPr lang="en-US" sz="2400" dirty="0"/>
                  <a:t>)</a:t>
                </a:r>
              </a:p>
              <a:p>
                <a:r>
                  <a:rPr lang="en-US" sz="2400" dirty="0"/>
                  <a:t>Yellow is current area of integral, f(</a:t>
                </a:r>
                <a14:m>
                  <m:oMath xmlns:m="http://schemas.openxmlformats.org/officeDocument/2006/math">
                    <m:r>
                      <m:rPr>
                        <m:sty m:val="p"/>
                      </m:rPr>
                      <a:rPr lang="en-US" sz="2400" b="0" i="1" smtClean="0">
                        <a:latin typeface="Cambria Math" panose="02040503050406030204" pitchFamily="18" charset="0"/>
                      </a:rPr>
                      <m:t>τ</m:t>
                    </m:r>
                  </m:oMath>
                </a14:m>
                <a:r>
                  <a:rPr lang="en-US" sz="2400" dirty="0"/>
                  <a:t>)* g(t- </a:t>
                </a:r>
                <a14:m>
                  <m:oMath xmlns:m="http://schemas.openxmlformats.org/officeDocument/2006/math">
                    <m:r>
                      <m:rPr>
                        <m:sty m:val="p"/>
                      </m:rPr>
                      <a:rPr lang="en-US" sz="2400" i="1">
                        <a:latin typeface="Cambria Math" panose="02040503050406030204" pitchFamily="18" charset="0"/>
                      </a:rPr>
                      <m:t>τ</m:t>
                    </m:r>
                  </m:oMath>
                </a14:m>
                <a:r>
                  <a:rPr lang="en-US" sz="2400" dirty="0"/>
                  <a:t>)</a:t>
                </a:r>
              </a:p>
              <a:p>
                <a:r>
                  <a:rPr lang="en-US" sz="2400" dirty="0"/>
                  <a:t>Black is convolution (f * g)(t)</a:t>
                </a:r>
              </a:p>
            </p:txBody>
          </p:sp>
        </mc:Choice>
        <mc:Fallback xmlns="">
          <p:sp>
            <p:nvSpPr>
              <p:cNvPr id="5" name="TextBox 4"/>
              <p:cNvSpPr txBox="1">
                <a:spLocks noRot="1" noChangeAspect="1" noMove="1" noResize="1" noEditPoints="1" noAdjustHandles="1" noChangeArrowheads="1" noChangeShapeType="1" noTextEdit="1"/>
              </p:cNvSpPr>
              <p:nvPr/>
            </p:nvSpPr>
            <p:spPr>
              <a:xfrm>
                <a:off x="123914" y="448840"/>
                <a:ext cx="7358938" cy="2308324"/>
              </a:xfrm>
              <a:prstGeom prst="rect">
                <a:avLst/>
              </a:prstGeom>
              <a:blipFill>
                <a:blip r:embed="rId4"/>
                <a:stretch>
                  <a:fillRect l="-1242" t="-2116" r="-662" b="-5291"/>
                </a:stretch>
              </a:blipFill>
            </p:spPr>
            <p:txBody>
              <a:bodyPr/>
              <a:lstStyle/>
              <a:p>
                <a:r>
                  <a:rPr lang="en-US">
                    <a:noFill/>
                  </a:rPr>
                  <a:t> </a:t>
                </a:r>
              </a:p>
            </p:txBody>
          </p:sp>
        </mc:Fallback>
      </mc:AlternateContent>
    </p:spTree>
    <p:extLst>
      <p:ext uri="{BB962C8B-B14F-4D97-AF65-F5344CB8AC3E}">
        <p14:creationId xmlns:p14="http://schemas.microsoft.com/office/powerpoint/2010/main" val="1011116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98"/>
            <a:ext cx="8229600" cy="748250"/>
          </a:xfrm>
        </p:spPr>
        <p:txBody>
          <a:bodyPr>
            <a:normAutofit fontScale="90000"/>
          </a:bodyPr>
          <a:lstStyle/>
          <a:p>
            <a:r>
              <a:rPr lang="en-US"/>
              <a:t>Convolutional Neural Networks</a:t>
            </a:r>
          </a:p>
        </p:txBody>
      </p:sp>
      <p:sp>
        <p:nvSpPr>
          <p:cNvPr id="4" name="TextBox 3"/>
          <p:cNvSpPr txBox="1"/>
          <p:nvPr/>
        </p:nvSpPr>
        <p:spPr>
          <a:xfrm>
            <a:off x="170481" y="893161"/>
            <a:ext cx="8973519" cy="1569660"/>
          </a:xfrm>
          <a:prstGeom prst="rect">
            <a:avLst/>
          </a:prstGeom>
          <a:noFill/>
        </p:spPr>
        <p:txBody>
          <a:bodyPr wrap="square" rtlCol="0">
            <a:spAutoFit/>
          </a:bodyPr>
          <a:lstStyle/>
          <a:p>
            <a:r>
              <a:rPr lang="en-US" sz="2400" b="1" dirty="0"/>
              <a:t>Convolutional Neural Networks </a:t>
            </a:r>
            <a:r>
              <a:rPr lang="en-US" sz="2400" dirty="0"/>
              <a:t>are neural networks that use “convolution” instead of standard matrix multiplication.</a:t>
            </a:r>
          </a:p>
          <a:p>
            <a:endParaRPr lang="en-US" sz="2400" b="1" dirty="0"/>
          </a:p>
          <a:p>
            <a:r>
              <a:rPr lang="en-US" sz="2400" dirty="0"/>
              <a:t>They are often used in machine learning using images.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7233" y="2592234"/>
            <a:ext cx="4102100" cy="4179336"/>
          </a:xfrm>
          <a:prstGeom prst="rect">
            <a:avLst/>
          </a:prstGeom>
        </p:spPr>
      </p:pic>
    </p:spTree>
    <p:extLst>
      <p:ext uri="{BB962C8B-B14F-4D97-AF65-F5344CB8AC3E}">
        <p14:creationId xmlns:p14="http://schemas.microsoft.com/office/powerpoint/2010/main" val="3199929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498"/>
            <a:ext cx="8229600" cy="748250"/>
          </a:xfrm>
        </p:spPr>
        <p:txBody>
          <a:bodyPr>
            <a:normAutofit fontScale="90000"/>
          </a:bodyPr>
          <a:lstStyle/>
          <a:p>
            <a:r>
              <a:rPr lang="en-US"/>
              <a:t>Convolutional Neural Networks</a:t>
            </a:r>
          </a:p>
        </p:txBody>
      </p:sp>
      <p:sp>
        <p:nvSpPr>
          <p:cNvPr id="4" name="TextBox 3"/>
          <p:cNvSpPr txBox="1"/>
          <p:nvPr/>
        </p:nvSpPr>
        <p:spPr>
          <a:xfrm>
            <a:off x="170481" y="893161"/>
            <a:ext cx="8973519" cy="3416320"/>
          </a:xfrm>
          <a:prstGeom prst="rect">
            <a:avLst/>
          </a:prstGeom>
          <a:noFill/>
        </p:spPr>
        <p:txBody>
          <a:bodyPr wrap="square" rtlCol="0">
            <a:spAutoFit/>
          </a:bodyPr>
          <a:lstStyle/>
          <a:p>
            <a:r>
              <a:rPr lang="en-US" sz="2400" b="1" dirty="0"/>
              <a:t>Convolutional Neural Networks </a:t>
            </a:r>
            <a:r>
              <a:rPr lang="en-US" sz="2400" dirty="0"/>
              <a:t>are neural networks that use “convolution” instead of standard matrix multiplication.</a:t>
            </a:r>
          </a:p>
          <a:p>
            <a:endParaRPr lang="en-US" sz="2400" b="1" dirty="0"/>
          </a:p>
          <a:p>
            <a:r>
              <a:rPr lang="en-US" sz="2400" dirty="0"/>
              <a:t>They are often used in machine learning using images.</a:t>
            </a:r>
          </a:p>
          <a:p>
            <a:endParaRPr lang="en-US" sz="2400" dirty="0"/>
          </a:p>
          <a:p>
            <a:r>
              <a:rPr lang="en-US" sz="2400" dirty="0"/>
              <a:t>One interpretation is that you force multiple units that connect to different parts of the image to share the same weights.</a:t>
            </a:r>
          </a:p>
          <a:p>
            <a:endParaRPr lang="en-US" sz="2400" dirty="0"/>
          </a:p>
          <a:p>
            <a:r>
              <a:rPr lang="en-US" sz="2400" dirty="0"/>
              <a:t>It enables units that are </a:t>
            </a:r>
            <a:r>
              <a:rPr lang="en-US" sz="2400" b="1" dirty="0"/>
              <a:t>invariant </a:t>
            </a:r>
            <a:r>
              <a:rPr lang="en-US" sz="2400" dirty="0"/>
              <a:t>to types of transformation.</a:t>
            </a:r>
          </a:p>
        </p:txBody>
      </p:sp>
      <p:sp>
        <p:nvSpPr>
          <p:cNvPr id="5" name="Rectangle 4"/>
          <p:cNvSpPr/>
          <p:nvPr/>
        </p:nvSpPr>
        <p:spPr>
          <a:xfrm>
            <a:off x="1371600" y="4639733"/>
            <a:ext cx="1862666" cy="1693334"/>
          </a:xfrm>
          <a:prstGeom prst="rect">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5-Point Star 5"/>
          <p:cNvSpPr/>
          <p:nvPr/>
        </p:nvSpPr>
        <p:spPr>
          <a:xfrm>
            <a:off x="1507066" y="5088466"/>
            <a:ext cx="795867" cy="795867"/>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a:off x="5774267" y="4639733"/>
            <a:ext cx="1862666" cy="1693334"/>
          </a:xfrm>
          <a:prstGeom prst="rect">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5-Point Star 7"/>
          <p:cNvSpPr/>
          <p:nvPr/>
        </p:nvSpPr>
        <p:spPr>
          <a:xfrm>
            <a:off x="6705600" y="4893732"/>
            <a:ext cx="795867" cy="795867"/>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ight Arrow 8"/>
          <p:cNvSpPr/>
          <p:nvPr/>
        </p:nvSpPr>
        <p:spPr>
          <a:xfrm>
            <a:off x="3369732" y="5198532"/>
            <a:ext cx="2252134" cy="626534"/>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3627665" y="4829200"/>
            <a:ext cx="1559273" cy="461665"/>
          </a:xfrm>
          <a:prstGeom prst="rect">
            <a:avLst/>
          </a:prstGeom>
          <a:noFill/>
        </p:spPr>
        <p:txBody>
          <a:bodyPr wrap="none" rtlCol="0">
            <a:spAutoFit/>
          </a:bodyPr>
          <a:lstStyle/>
          <a:p>
            <a:r>
              <a:rPr lang="en-US" sz="2400" dirty="0"/>
              <a:t>Translation</a:t>
            </a:r>
          </a:p>
        </p:txBody>
      </p:sp>
    </p:spTree>
    <p:extLst>
      <p:ext uri="{BB962C8B-B14F-4D97-AF65-F5344CB8AC3E}">
        <p14:creationId xmlns:p14="http://schemas.microsoft.com/office/powerpoint/2010/main" val="8895156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a:xfrm>
            <a:off x="304800" y="381000"/>
            <a:ext cx="8610600" cy="1143000"/>
          </a:xfrm>
        </p:spPr>
        <p:txBody>
          <a:bodyPr/>
          <a:lstStyle/>
          <a:p>
            <a:r>
              <a:rPr lang="en-US" altLang="x-none"/>
              <a:t>A different computational problem</a:t>
            </a:r>
          </a:p>
        </p:txBody>
      </p:sp>
      <p:sp>
        <p:nvSpPr>
          <p:cNvPr id="412676" name="Rectangle 4"/>
          <p:cNvSpPr>
            <a:spLocks noChangeArrowheads="1"/>
          </p:cNvSpPr>
          <p:nvPr/>
        </p:nvSpPr>
        <p:spPr bwMode="auto">
          <a:xfrm>
            <a:off x="304800" y="1752600"/>
            <a:ext cx="8610600"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buChar char="•"/>
              <a:defRPr sz="3200">
                <a:solidFill>
                  <a:schemeClr val="tx1"/>
                </a:solidFill>
                <a:latin typeface="Arial" charset="0"/>
                <a:ea typeface="ＭＳ Ｐゴシック" charset="-128"/>
              </a:defRPr>
            </a:lvl1pPr>
            <a:lvl2pPr marL="742950" indent="-285750">
              <a:defRPr sz="2800">
                <a:solidFill>
                  <a:schemeClr val="tx1"/>
                </a:solidFill>
                <a:latin typeface="Arial" charset="0"/>
                <a:ea typeface="ＭＳ Ｐゴシック" charset="-128"/>
              </a:defRPr>
            </a:lvl2pPr>
            <a:lvl3pPr marL="1143000" indent="-228600">
              <a:buChar char="•"/>
              <a:defRPr sz="2400">
                <a:solidFill>
                  <a:schemeClr val="tx1"/>
                </a:solidFill>
                <a:latin typeface="Arial" charset="0"/>
                <a:ea typeface="ＭＳ Ｐゴシック" charset="-128"/>
              </a:defRPr>
            </a:lvl3pPr>
            <a:lvl4pPr marL="1600200" indent="-228600">
              <a:defRPr sz="2000">
                <a:solidFill>
                  <a:schemeClr val="tx1"/>
                </a:solidFill>
                <a:latin typeface="Arial" charset="0"/>
                <a:ea typeface="ＭＳ Ｐゴシック" charset="-128"/>
              </a:defRPr>
            </a:lvl4pPr>
            <a:lvl5pPr marL="2057400" indent="-228600">
              <a:buChar char="»"/>
              <a:defRPr sz="2000">
                <a:solidFill>
                  <a:schemeClr val="tx1"/>
                </a:solidFill>
                <a:latin typeface="Arial" charset="0"/>
                <a:ea typeface="ＭＳ Ｐゴシック" charset="-128"/>
              </a:defRPr>
            </a:lvl5pPr>
            <a:lvl6pPr marL="2514600" indent="-228600" fontAlgn="base">
              <a:spcBef>
                <a:spcPct val="20000"/>
              </a:spcBef>
              <a:spcAft>
                <a:spcPct val="0"/>
              </a:spcAft>
              <a:buChar char="»"/>
              <a:defRPr sz="2000">
                <a:solidFill>
                  <a:schemeClr val="tx1"/>
                </a:solidFill>
                <a:latin typeface="Arial" charset="0"/>
                <a:ea typeface="ＭＳ Ｐゴシック" charset="-128"/>
              </a:defRPr>
            </a:lvl6pPr>
            <a:lvl7pPr marL="2971800" indent="-228600" fontAlgn="base">
              <a:spcBef>
                <a:spcPct val="20000"/>
              </a:spcBef>
              <a:spcAft>
                <a:spcPct val="0"/>
              </a:spcAft>
              <a:buChar char="»"/>
              <a:defRPr sz="2000">
                <a:solidFill>
                  <a:schemeClr val="tx1"/>
                </a:solidFill>
                <a:latin typeface="Arial" charset="0"/>
                <a:ea typeface="ＭＳ Ｐゴシック" charset="-128"/>
              </a:defRPr>
            </a:lvl7pPr>
            <a:lvl8pPr marL="3429000" indent="-228600" fontAlgn="base">
              <a:spcBef>
                <a:spcPct val="20000"/>
              </a:spcBef>
              <a:spcAft>
                <a:spcPct val="0"/>
              </a:spcAft>
              <a:buChar char="»"/>
              <a:defRPr sz="2000">
                <a:solidFill>
                  <a:schemeClr val="tx1"/>
                </a:solidFill>
                <a:latin typeface="Arial" charset="0"/>
                <a:ea typeface="ＭＳ Ｐゴシック" charset="-128"/>
              </a:defRPr>
            </a:lvl8pPr>
            <a:lvl9pPr marL="3886200" indent="-228600" fontAlgn="base">
              <a:spcBef>
                <a:spcPct val="20000"/>
              </a:spcBef>
              <a:spcAft>
                <a:spcPct val="0"/>
              </a:spcAft>
              <a:buChar char="»"/>
              <a:defRPr sz="2000">
                <a:solidFill>
                  <a:schemeClr val="tx1"/>
                </a:solidFill>
                <a:latin typeface="Arial" charset="0"/>
                <a:ea typeface="ＭＳ Ｐゴシック" charset="-128"/>
              </a:defRPr>
            </a:lvl9pPr>
          </a:lstStyle>
          <a:p>
            <a:pPr marL="0" indent="0">
              <a:buNone/>
            </a:pPr>
            <a:r>
              <a:rPr lang="en-US" altLang="x-none" dirty="0"/>
              <a:t>Learning language is a sequential prediction problem</a:t>
            </a:r>
          </a:p>
          <a:p>
            <a:pPr marL="0" indent="0">
              <a:buNone/>
            </a:pPr>
            <a:endParaRPr lang="en-US" altLang="x-none" sz="1200" dirty="0"/>
          </a:p>
          <a:p>
            <a:pPr marL="0" indent="0">
              <a:buNone/>
            </a:pPr>
            <a:r>
              <a:rPr lang="en-US" altLang="x-none" dirty="0"/>
              <a:t>A grammar is a function from previous words to the next word</a:t>
            </a:r>
          </a:p>
          <a:p>
            <a:pPr marL="0" indent="0">
              <a:buNone/>
            </a:pPr>
            <a:endParaRPr lang="en-US" altLang="x-none" sz="1200" dirty="0"/>
          </a:p>
          <a:p>
            <a:pPr marL="0" indent="0">
              <a:buNone/>
            </a:pPr>
            <a:r>
              <a:rPr lang="en-US" altLang="x-none" dirty="0"/>
              <a:t>Words are represented as points in space (vectors, distributed or local representations)</a:t>
            </a:r>
          </a:p>
          <a:p>
            <a:pPr marL="0" indent="0">
              <a:buNone/>
            </a:pPr>
            <a:endParaRPr lang="en-US" altLang="x-none" sz="1200" dirty="0"/>
          </a:p>
          <a:p>
            <a:pPr marL="0" indent="0">
              <a:buNone/>
            </a:pPr>
            <a:r>
              <a:rPr lang="en-US" altLang="x-none" dirty="0"/>
              <a:t>A grammar can be encoded as a set of weights in a neural network</a:t>
            </a:r>
          </a:p>
          <a:p>
            <a:pPr marL="0" indent="0">
              <a:buNone/>
            </a:pPr>
            <a:endParaRPr lang="en-US" altLang="x-none" dirty="0"/>
          </a:p>
        </p:txBody>
      </p:sp>
    </p:spTree>
    <p:extLst>
      <p:ext uri="{BB962C8B-B14F-4D97-AF65-F5344CB8AC3E}">
        <p14:creationId xmlns:p14="http://schemas.microsoft.com/office/powerpoint/2010/main" val="64776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a:xfrm>
            <a:off x="685800" y="152400"/>
            <a:ext cx="8077200" cy="1143000"/>
          </a:xfrm>
        </p:spPr>
        <p:txBody>
          <a:bodyPr/>
          <a:lstStyle/>
          <a:p>
            <a:r>
              <a:rPr lang="en-US" altLang="x-none"/>
              <a:t>Simple recurrent networks</a:t>
            </a:r>
          </a:p>
        </p:txBody>
      </p:sp>
      <p:sp>
        <p:nvSpPr>
          <p:cNvPr id="420868" name="Oval 4"/>
          <p:cNvSpPr>
            <a:spLocks noChangeArrowheads="1"/>
          </p:cNvSpPr>
          <p:nvPr/>
        </p:nvSpPr>
        <p:spPr bwMode="auto">
          <a:xfrm>
            <a:off x="2597150" y="33528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69" name="Oval 5"/>
          <p:cNvSpPr>
            <a:spLocks noChangeArrowheads="1"/>
          </p:cNvSpPr>
          <p:nvPr/>
        </p:nvSpPr>
        <p:spPr bwMode="auto">
          <a:xfrm>
            <a:off x="3816350" y="33528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2" name="Text Box 8"/>
          <p:cNvSpPr txBox="1">
            <a:spLocks noChangeArrowheads="1"/>
          </p:cNvSpPr>
          <p:nvPr/>
        </p:nvSpPr>
        <p:spPr bwMode="auto">
          <a:xfrm>
            <a:off x="2362200" y="3397250"/>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1</a:t>
            </a:r>
            <a:endParaRPr lang="en-US" altLang="x-none" sz="3600"/>
          </a:p>
        </p:txBody>
      </p:sp>
      <p:sp>
        <p:nvSpPr>
          <p:cNvPr id="420873" name="Text Box 9"/>
          <p:cNvSpPr txBox="1">
            <a:spLocks noChangeArrowheads="1"/>
          </p:cNvSpPr>
          <p:nvPr/>
        </p:nvSpPr>
        <p:spPr bwMode="auto">
          <a:xfrm>
            <a:off x="3581400" y="3413125"/>
            <a:ext cx="971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z</a:t>
            </a:r>
            <a:r>
              <a:rPr lang="en-US" altLang="x-none" sz="3600" baseline="-25000">
                <a:latin typeface="Times New Roman" charset="0"/>
              </a:rPr>
              <a:t>2</a:t>
            </a:r>
            <a:endParaRPr lang="en-US" altLang="x-none" sz="3600"/>
          </a:p>
        </p:txBody>
      </p:sp>
      <p:sp>
        <p:nvSpPr>
          <p:cNvPr id="420875" name="Oval 11"/>
          <p:cNvSpPr>
            <a:spLocks noChangeArrowheads="1"/>
          </p:cNvSpPr>
          <p:nvPr/>
        </p:nvSpPr>
        <p:spPr bwMode="auto">
          <a:xfrm>
            <a:off x="2597150" y="5334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6" name="Oval 12"/>
          <p:cNvSpPr>
            <a:spLocks noChangeArrowheads="1"/>
          </p:cNvSpPr>
          <p:nvPr/>
        </p:nvSpPr>
        <p:spPr bwMode="auto">
          <a:xfrm>
            <a:off x="3816350" y="5334000"/>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7" name="Line 13"/>
          <p:cNvSpPr>
            <a:spLocks noChangeShapeType="1"/>
          </p:cNvSpPr>
          <p:nvPr/>
        </p:nvSpPr>
        <p:spPr bwMode="auto">
          <a:xfrm>
            <a:off x="2978150" y="41910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8" name="Line 14"/>
          <p:cNvSpPr>
            <a:spLocks noChangeShapeType="1"/>
          </p:cNvSpPr>
          <p:nvPr/>
        </p:nvSpPr>
        <p:spPr bwMode="auto">
          <a:xfrm>
            <a:off x="4273550" y="4191000"/>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79" name="Line 15"/>
          <p:cNvSpPr>
            <a:spLocks noChangeShapeType="1"/>
          </p:cNvSpPr>
          <p:nvPr/>
        </p:nvSpPr>
        <p:spPr bwMode="auto">
          <a:xfrm flipH="1">
            <a:off x="3130550" y="4191000"/>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80" name="Line 16"/>
          <p:cNvSpPr>
            <a:spLocks noChangeShapeType="1"/>
          </p:cNvSpPr>
          <p:nvPr/>
        </p:nvSpPr>
        <p:spPr bwMode="auto">
          <a:xfrm flipH="1" flipV="1">
            <a:off x="3130550" y="4191000"/>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81" name="Text Box 17"/>
          <p:cNvSpPr txBox="1">
            <a:spLocks noChangeArrowheads="1"/>
          </p:cNvSpPr>
          <p:nvPr/>
        </p:nvSpPr>
        <p:spPr bwMode="auto">
          <a:xfrm>
            <a:off x="2362200" y="5394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sp>
        <p:nvSpPr>
          <p:cNvPr id="420882" name="Text Box 18"/>
          <p:cNvSpPr txBox="1">
            <a:spLocks noChangeArrowheads="1"/>
          </p:cNvSpPr>
          <p:nvPr/>
        </p:nvSpPr>
        <p:spPr bwMode="auto">
          <a:xfrm>
            <a:off x="3581400" y="5394325"/>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20883" name="Text Box 19"/>
          <p:cNvSpPr txBox="1">
            <a:spLocks noChangeArrowheads="1"/>
          </p:cNvSpPr>
          <p:nvPr/>
        </p:nvSpPr>
        <p:spPr bwMode="auto">
          <a:xfrm>
            <a:off x="1219200" y="3292475"/>
            <a:ext cx="1524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hidden layer</a:t>
            </a:r>
          </a:p>
        </p:txBody>
      </p:sp>
      <p:grpSp>
        <p:nvGrpSpPr>
          <p:cNvPr id="420884" name="Group 20"/>
          <p:cNvGrpSpPr>
            <a:grpSpLocks/>
          </p:cNvGrpSpPr>
          <p:nvPr/>
        </p:nvGrpSpPr>
        <p:grpSpPr bwMode="auto">
          <a:xfrm>
            <a:off x="1219200" y="1371600"/>
            <a:ext cx="1524000" cy="4800600"/>
            <a:chOff x="240" y="720"/>
            <a:chExt cx="960" cy="3024"/>
          </a:xfrm>
        </p:grpSpPr>
        <p:sp>
          <p:nvSpPr>
            <p:cNvPr id="420885" name="Text Box 21"/>
            <p:cNvSpPr txBox="1">
              <a:spLocks noChangeArrowheads="1"/>
            </p:cNvSpPr>
            <p:nvPr/>
          </p:nvSpPr>
          <p:spPr bwMode="auto">
            <a:xfrm>
              <a:off x="240" y="3226"/>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input layer</a:t>
              </a:r>
            </a:p>
          </p:txBody>
        </p:sp>
        <p:sp>
          <p:nvSpPr>
            <p:cNvPr id="420886" name="Text Box 22"/>
            <p:cNvSpPr txBox="1">
              <a:spLocks noChangeArrowheads="1"/>
            </p:cNvSpPr>
            <p:nvPr/>
          </p:nvSpPr>
          <p:spPr bwMode="auto">
            <a:xfrm>
              <a:off x="240" y="720"/>
              <a:ext cx="96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buFontTx/>
                <a:buNone/>
              </a:pPr>
              <a:r>
                <a:rPr lang="en-US" altLang="x-none" sz="2400"/>
                <a:t>output layer</a:t>
              </a:r>
            </a:p>
          </p:txBody>
        </p:sp>
      </p:grpSp>
      <p:grpSp>
        <p:nvGrpSpPr>
          <p:cNvPr id="420887" name="Group 23"/>
          <p:cNvGrpSpPr>
            <a:grpSpLocks/>
          </p:cNvGrpSpPr>
          <p:nvPr/>
        </p:nvGrpSpPr>
        <p:grpSpPr bwMode="auto">
          <a:xfrm>
            <a:off x="5029200" y="3733800"/>
            <a:ext cx="2514600" cy="609600"/>
            <a:chOff x="3168" y="2352"/>
            <a:chExt cx="1584" cy="384"/>
          </a:xfrm>
        </p:grpSpPr>
        <p:sp>
          <p:nvSpPr>
            <p:cNvPr id="420888" name="Rectangle 24"/>
            <p:cNvSpPr>
              <a:spLocks noChangeArrowheads="1"/>
            </p:cNvSpPr>
            <p:nvPr/>
          </p:nvSpPr>
          <p:spPr bwMode="auto">
            <a:xfrm>
              <a:off x="3168" y="2352"/>
              <a:ext cx="1584"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89" name="Rectangle 25"/>
            <p:cNvSpPr>
              <a:spLocks noChangeArrowheads="1"/>
            </p:cNvSpPr>
            <p:nvPr/>
          </p:nvSpPr>
          <p:spPr bwMode="auto">
            <a:xfrm>
              <a:off x="3394" y="2382"/>
              <a:ext cx="11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dirty="0"/>
                <a:t>context units</a:t>
              </a:r>
            </a:p>
          </p:txBody>
        </p:sp>
      </p:grpSp>
      <p:grpSp>
        <p:nvGrpSpPr>
          <p:cNvPr id="420893" name="Group 29"/>
          <p:cNvGrpSpPr>
            <a:grpSpLocks/>
          </p:cNvGrpSpPr>
          <p:nvPr/>
        </p:nvGrpSpPr>
        <p:grpSpPr bwMode="auto">
          <a:xfrm>
            <a:off x="3200400" y="3657600"/>
            <a:ext cx="3429000" cy="1909763"/>
            <a:chOff x="2016" y="2304"/>
            <a:chExt cx="2160" cy="1203"/>
          </a:xfrm>
        </p:grpSpPr>
        <p:sp>
          <p:nvSpPr>
            <p:cNvPr id="420894" name="AutoShape 30"/>
            <p:cNvSpPr>
              <a:spLocks noChangeArrowheads="1"/>
            </p:cNvSpPr>
            <p:nvPr/>
          </p:nvSpPr>
          <p:spPr bwMode="auto">
            <a:xfrm rot="-10800000">
              <a:off x="2016" y="2304"/>
              <a:ext cx="2160" cy="912"/>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1 h 21600"/>
                <a:gd name="T6" fmla="*/ 2699 w 21600"/>
                <a:gd name="T7" fmla="*/ 10799 h 21600"/>
                <a:gd name="T8" fmla="*/ 10800 w 21600"/>
                <a:gd name="T9" fmla="*/ 5399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1" y="10799"/>
                  </a:ln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5" name="Rectangle 31"/>
            <p:cNvSpPr>
              <a:spLocks noChangeArrowheads="1"/>
            </p:cNvSpPr>
            <p:nvPr/>
          </p:nvSpPr>
          <p:spPr bwMode="auto">
            <a:xfrm>
              <a:off x="3264" y="3216"/>
              <a:ext cx="53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a:t>input</a:t>
              </a:r>
            </a:p>
          </p:txBody>
        </p:sp>
      </p:grpSp>
      <p:sp>
        <p:nvSpPr>
          <p:cNvPr id="420896" name="Text Box 32"/>
          <p:cNvSpPr txBox="1">
            <a:spLocks noChangeArrowheads="1"/>
          </p:cNvSpPr>
          <p:nvPr/>
        </p:nvSpPr>
        <p:spPr bwMode="auto">
          <a:xfrm>
            <a:off x="5342428" y="6412468"/>
            <a:ext cx="3687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lgn="r">
              <a:buFontTx/>
              <a:buNone/>
            </a:pPr>
            <a:r>
              <a:rPr lang="en-US" altLang="x-none" dirty="0"/>
              <a:t>(</a:t>
            </a:r>
            <a:r>
              <a:rPr lang="en-US" altLang="x-none" dirty="0" err="1"/>
              <a:t>Rumelhart</a:t>
            </a:r>
            <a:r>
              <a:rPr lang="en-US" altLang="x-none" dirty="0"/>
              <a:t> </a:t>
            </a:r>
            <a:r>
              <a:rPr lang="en-US" altLang="x-none"/>
              <a:t>et al., 1986; Elman</a:t>
            </a:r>
            <a:r>
              <a:rPr lang="en-US" altLang="x-none" dirty="0"/>
              <a:t>, 1990)</a:t>
            </a:r>
          </a:p>
        </p:txBody>
      </p:sp>
      <p:sp>
        <p:nvSpPr>
          <p:cNvPr id="420897" name="Oval 33"/>
          <p:cNvSpPr>
            <a:spLocks noChangeArrowheads="1"/>
          </p:cNvSpPr>
          <p:nvPr/>
        </p:nvSpPr>
        <p:spPr bwMode="auto">
          <a:xfrm>
            <a:off x="2578100" y="1343025"/>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8" name="Oval 34"/>
          <p:cNvSpPr>
            <a:spLocks noChangeArrowheads="1"/>
          </p:cNvSpPr>
          <p:nvPr/>
        </p:nvSpPr>
        <p:spPr bwMode="auto">
          <a:xfrm>
            <a:off x="3797300" y="1343025"/>
            <a:ext cx="838200" cy="838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9" name="Text Box 35"/>
          <p:cNvSpPr txBox="1">
            <a:spLocks noChangeArrowheads="1"/>
          </p:cNvSpPr>
          <p:nvPr/>
        </p:nvSpPr>
        <p:spPr bwMode="auto">
          <a:xfrm>
            <a:off x="3505200" y="1371600"/>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2</a:t>
            </a:r>
            <a:endParaRPr lang="en-US" altLang="x-none" sz="3600"/>
          </a:p>
        </p:txBody>
      </p:sp>
      <p:sp>
        <p:nvSpPr>
          <p:cNvPr id="420900" name="Line 36"/>
          <p:cNvSpPr>
            <a:spLocks noChangeShapeType="1"/>
          </p:cNvSpPr>
          <p:nvPr/>
        </p:nvSpPr>
        <p:spPr bwMode="auto">
          <a:xfrm>
            <a:off x="2959100" y="2181225"/>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1" name="Line 37"/>
          <p:cNvSpPr>
            <a:spLocks noChangeShapeType="1"/>
          </p:cNvSpPr>
          <p:nvPr/>
        </p:nvSpPr>
        <p:spPr bwMode="auto">
          <a:xfrm>
            <a:off x="4254500" y="2181225"/>
            <a:ext cx="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2" name="Line 38"/>
          <p:cNvSpPr>
            <a:spLocks noChangeShapeType="1"/>
          </p:cNvSpPr>
          <p:nvPr/>
        </p:nvSpPr>
        <p:spPr bwMode="auto">
          <a:xfrm flipH="1">
            <a:off x="3111500" y="2181225"/>
            <a:ext cx="990600" cy="1143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3" name="Line 39"/>
          <p:cNvSpPr>
            <a:spLocks noChangeShapeType="1"/>
          </p:cNvSpPr>
          <p:nvPr/>
        </p:nvSpPr>
        <p:spPr bwMode="auto">
          <a:xfrm flipH="1" flipV="1">
            <a:off x="3111500" y="2181225"/>
            <a:ext cx="990600" cy="114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904" name="Text Box 40"/>
          <p:cNvSpPr txBox="1">
            <a:spLocks noChangeArrowheads="1"/>
          </p:cNvSpPr>
          <p:nvPr/>
        </p:nvSpPr>
        <p:spPr bwMode="auto">
          <a:xfrm>
            <a:off x="2286000" y="1371600"/>
            <a:ext cx="99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3600" i="1">
                <a:latin typeface="Times New Roman" charset="0"/>
              </a:rPr>
              <a:t>    x</a:t>
            </a:r>
            <a:r>
              <a:rPr lang="en-US" altLang="x-none" sz="3600" baseline="-25000">
                <a:latin typeface="Times New Roman" charset="0"/>
              </a:rPr>
              <a:t>1</a:t>
            </a:r>
            <a:endParaRPr lang="en-US" altLang="x-none" sz="3600"/>
          </a:p>
        </p:txBody>
      </p:sp>
      <p:grpSp>
        <p:nvGrpSpPr>
          <p:cNvPr id="420890" name="Group 26"/>
          <p:cNvGrpSpPr>
            <a:grpSpLocks/>
          </p:cNvGrpSpPr>
          <p:nvPr/>
        </p:nvGrpSpPr>
        <p:grpSpPr bwMode="auto">
          <a:xfrm>
            <a:off x="3200400" y="2055813"/>
            <a:ext cx="3429000" cy="1982787"/>
            <a:chOff x="2016" y="1295"/>
            <a:chExt cx="2160" cy="1249"/>
          </a:xfrm>
        </p:grpSpPr>
        <p:sp>
          <p:nvSpPr>
            <p:cNvPr id="420891" name="AutoShape 27"/>
            <p:cNvSpPr>
              <a:spLocks noChangeArrowheads="1"/>
            </p:cNvSpPr>
            <p:nvPr/>
          </p:nvSpPr>
          <p:spPr bwMode="auto">
            <a:xfrm>
              <a:off x="2016" y="1632"/>
              <a:ext cx="2160" cy="912"/>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800 w 21600"/>
                <a:gd name="T5" fmla="*/ -1 h 21600"/>
                <a:gd name="T6" fmla="*/ 2699 w 21600"/>
                <a:gd name="T7" fmla="*/ 10799 h 21600"/>
                <a:gd name="T8" fmla="*/ 10800 w 21600"/>
                <a:gd name="T9" fmla="*/ 5399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1" y="10799"/>
                  </a:ln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rgbClr val="C4C4C4"/>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420892" name="Rectangle 28"/>
            <p:cNvSpPr>
              <a:spLocks noChangeArrowheads="1"/>
            </p:cNvSpPr>
            <p:nvPr/>
          </p:nvSpPr>
          <p:spPr bwMode="auto">
            <a:xfrm>
              <a:off x="3107" y="1295"/>
              <a:ext cx="48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buFontTx/>
                <a:buNone/>
              </a:pPr>
              <a:r>
                <a:rPr lang="en-US" altLang="x-none" sz="2400" dirty="0"/>
                <a:t>copy</a:t>
              </a:r>
            </a:p>
          </p:txBody>
        </p:sp>
      </p:grpSp>
      <p:graphicFrame>
        <p:nvGraphicFramePr>
          <p:cNvPr id="420905" name="Object 41"/>
          <p:cNvGraphicFramePr>
            <a:graphicFrameLocks noChangeAspect="1"/>
          </p:cNvGraphicFramePr>
          <p:nvPr/>
        </p:nvGraphicFramePr>
        <p:xfrm>
          <a:off x="4921250" y="1066800"/>
          <a:ext cx="1174750" cy="636588"/>
        </p:xfrm>
        <a:graphic>
          <a:graphicData uri="http://schemas.openxmlformats.org/presentationml/2006/ole">
            <mc:AlternateContent xmlns:mc="http://schemas.openxmlformats.org/markup-compatibility/2006">
              <mc:Choice xmlns:v="urn:schemas-microsoft-com:vml" Requires="v">
                <p:oleObj name="Equation" r:id="rId3" imgW="304800" imgH="165100" progId="Equation.3">
                  <p:embed/>
                </p:oleObj>
              </mc:Choice>
              <mc:Fallback>
                <p:oleObj name="Equation" r:id="rId3" imgW="304800" imgH="165100" progId="Equation.3">
                  <p:embed/>
                  <p:pic>
                    <p:nvPicPr>
                      <p:cNvPr id="420905"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250" y="1066800"/>
                        <a:ext cx="1174750"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20906" name="Object 42"/>
          <p:cNvGraphicFramePr>
            <a:graphicFrameLocks noChangeAspect="1"/>
          </p:cNvGraphicFramePr>
          <p:nvPr/>
        </p:nvGraphicFramePr>
        <p:xfrm>
          <a:off x="4800600" y="5611813"/>
          <a:ext cx="831850" cy="636587"/>
        </p:xfrm>
        <a:graphic>
          <a:graphicData uri="http://schemas.openxmlformats.org/presentationml/2006/ole">
            <mc:AlternateContent xmlns:mc="http://schemas.openxmlformats.org/markup-compatibility/2006">
              <mc:Choice xmlns:v="urn:schemas-microsoft-com:vml" Requires="v">
                <p:oleObj name="Equation" r:id="rId5" imgW="215900" imgH="165100" progId="Equation.3">
                  <p:embed/>
                </p:oleObj>
              </mc:Choice>
              <mc:Fallback>
                <p:oleObj name="Equation" r:id="rId5" imgW="215900" imgH="165100" progId="Equation.3">
                  <p:embed/>
                  <p:pic>
                    <p:nvPicPr>
                      <p:cNvPr id="420906"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5611813"/>
                        <a:ext cx="831850" cy="63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9388394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08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208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208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Unfolding A Recurrent Net</a:t>
            </a:r>
          </a:p>
        </p:txBody>
      </p:sp>
      <p:sp>
        <p:nvSpPr>
          <p:cNvPr id="6" name="Content Placeholder 5"/>
          <p:cNvSpPr>
            <a:spLocks noGrp="1"/>
          </p:cNvSpPr>
          <p:nvPr>
            <p:ph idx="1"/>
          </p:nvPr>
        </p:nvSpPr>
        <p:spPr>
          <a:xfrm>
            <a:off x="508000" y="1885953"/>
            <a:ext cx="4196747" cy="3799655"/>
          </a:xfrm>
        </p:spPr>
        <p:txBody>
          <a:bodyPr>
            <a:normAutofit fontScale="55000" lnSpcReduction="20000"/>
          </a:bodyPr>
          <a:lstStyle/>
          <a:p>
            <a:r>
              <a:rPr lang="en-US" dirty="0"/>
              <a:t>Requires duplication of hardware (units and weights)</a:t>
            </a:r>
          </a:p>
          <a:p>
            <a:pPr lvl="1"/>
            <a:r>
              <a:rPr lang="en-US" dirty="0"/>
              <a:t>one layer for each discrete time step</a:t>
            </a:r>
          </a:p>
          <a:p>
            <a:r>
              <a:rPr lang="en-US" dirty="0"/>
              <a:t>Unfolded net has dynamics identical to that of recurrent net run for a fixed number of time steps</a:t>
            </a:r>
          </a:p>
          <a:p>
            <a:r>
              <a:rPr lang="en-US" dirty="0"/>
              <a:t>BP may violate the constraint that corresponding weights are equal.</a:t>
            </a:r>
          </a:p>
          <a:p>
            <a:pPr lvl="1"/>
            <a:r>
              <a:rPr lang="en-US" dirty="0"/>
              <a:t>To enforce the constraint, assume a single set of underlying parameters</a:t>
            </a:r>
          </a:p>
          <a:p>
            <a:r>
              <a:rPr lang="en-US" dirty="0"/>
              <a:t>Unfolding is necessary only during learning.</a:t>
            </a:r>
          </a:p>
          <a:p>
            <a:pPr lvl="1"/>
            <a:r>
              <a:rPr lang="en-US" dirty="0"/>
              <a:t>Once weights are trained, can run as an ordinary RNN</a:t>
            </a:r>
          </a:p>
        </p:txBody>
      </p:sp>
      <p:pic>
        <p:nvPicPr>
          <p:cNvPr id="4" name="Picture 3" descr="f4.PDF"/>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rot="16200000">
            <a:off x="2774951" y="1619496"/>
            <a:ext cx="3594098" cy="4127011"/>
          </a:xfrm>
          <a:prstGeom prst="rect">
            <a:avLst/>
          </a:prstGeom>
        </p:spPr>
      </p:pic>
      <p:sp>
        <p:nvSpPr>
          <p:cNvPr id="2" name="TextBox 1"/>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188714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5 0 E" pathEditMode="relative" ptsTypes="">
                                      <p:cBhvr>
                                        <p:cTn id="6" dur="1000" fill="hold"/>
                                        <p:tgtEl>
                                          <p:spTgt spid="4"/>
                                        </p:tgtEl>
                                        <p:attrNameLst>
                                          <p:attrName>ppt_x</p:attrName>
                                          <p:attrName>ppt_y</p:attrName>
                                        </p:attrNameLst>
                                      </p:cBhvr>
                                    </p:animMotion>
                                  </p:childTnLst>
                                </p:cTn>
                              </p:par>
                            </p:childTnLst>
                          </p:cTn>
                        </p:par>
                        <p:par>
                          <p:cTn id="7" fill="hold">
                            <p:stCondLst>
                              <p:cond delay="1000"/>
                            </p:stCondLst>
                            <p:childTnLst>
                              <p:par>
                                <p:cTn id="8" presetID="1" presetClass="entr" presetSubtype="0" fill="hold" nodeType="after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Neural Network Music Composition</a:t>
            </a:r>
            <a:br>
              <a:rPr lang="en-US" dirty="0"/>
            </a:br>
            <a:r>
              <a:rPr lang="en-US" dirty="0"/>
              <a:t>(Mozer, 1994)</a:t>
            </a:r>
          </a:p>
        </p:txBody>
      </p:sp>
      <p:pic>
        <p:nvPicPr>
          <p:cNvPr id="4" name="Content Placeholder 3" descr="Screen Shot 2014-04-15 at 9.56.54 AM.pdf"/>
          <p:cNvPicPr>
            <a:picLocks noGrp="1" noChangeAspect="1"/>
          </p:cNvPicPr>
          <p:nvPr>
            <p:ph idx="1"/>
          </p:nvPr>
        </p:nvPicPr>
        <p:blipFill>
          <a:blip r:embed="rId3" cstate="screen">
            <a:extLst>
              <a:ext uri="{28A0092B-C50C-407E-A947-70E740481C1C}">
                <a14:useLocalDpi xmlns:a14="http://schemas.microsoft.com/office/drawing/2010/main"/>
              </a:ext>
            </a:extLst>
          </a:blip>
          <a:srcRect l="-49891" r="-49891"/>
          <a:stretch>
            <a:fillRect/>
          </a:stretch>
        </p:blipFill>
        <p:spPr>
          <a:ln>
            <a:noFill/>
          </a:ln>
        </p:spPr>
      </p:pic>
      <p:sp>
        <p:nvSpPr>
          <p:cNvPr id="5" name="TextBox 4"/>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1470295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Psychologically Grounded</a:t>
            </a:r>
            <a:br>
              <a:rPr lang="en-US" dirty="0"/>
            </a:br>
            <a:r>
              <a:rPr lang="en-US" dirty="0"/>
              <a:t>Representation Of Pitch</a:t>
            </a:r>
          </a:p>
        </p:txBody>
      </p:sp>
      <p:sp>
        <p:nvSpPr>
          <p:cNvPr id="3" name="Content Placeholder 2"/>
          <p:cNvSpPr>
            <a:spLocks noGrp="1"/>
          </p:cNvSpPr>
          <p:nvPr>
            <p:ph idx="1"/>
          </p:nvPr>
        </p:nvSpPr>
        <p:spPr>
          <a:xfrm>
            <a:off x="1465732" y="1885953"/>
            <a:ext cx="6101603" cy="442054"/>
          </a:xfrm>
        </p:spPr>
        <p:txBody>
          <a:bodyPr>
            <a:normAutofit fontScale="77500" lnSpcReduction="20000"/>
          </a:bodyPr>
          <a:lstStyle/>
          <a:p>
            <a:r>
              <a:rPr lang="en-US" dirty="0"/>
              <a:t>Each pitch as point in 5 dimensional space</a:t>
            </a:r>
          </a:p>
        </p:txBody>
      </p:sp>
      <p:pic>
        <p:nvPicPr>
          <p:cNvPr id="4" name="Picture 3" descr="Screen Shot 2014-04-15 at 9.57.53 AM.pdf"/>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803622" y="2659759"/>
            <a:ext cx="3378153" cy="3252102"/>
          </a:xfrm>
          <a:prstGeom prst="rect">
            <a:avLst/>
          </a:prstGeom>
        </p:spPr>
      </p:pic>
      <p:sp>
        <p:nvSpPr>
          <p:cNvPr id="5" name="TextBox 4"/>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35330265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Analogous Representation Of Duration</a:t>
            </a:r>
          </a:p>
        </p:txBody>
      </p:sp>
      <p:pic>
        <p:nvPicPr>
          <p:cNvPr id="4" name="Content Placeholder 3" descr="Screen Shot 2014-04-15 at 9.58.37 AM.pdf"/>
          <p:cNvPicPr>
            <a:picLocks noGrp="1" noChangeAspect="1"/>
          </p:cNvPicPr>
          <p:nvPr>
            <p:ph idx="1"/>
          </p:nvPr>
        </p:nvPicPr>
        <p:blipFill>
          <a:blip r:embed="rId3" cstate="screen">
            <a:extLst>
              <a:ext uri="{28A0092B-C50C-407E-A947-70E740481C1C}">
                <a14:useLocalDpi xmlns:a14="http://schemas.microsoft.com/office/drawing/2010/main"/>
              </a:ext>
            </a:extLst>
          </a:blip>
          <a:srcRect/>
          <a:stretch>
            <a:fillRect/>
          </a:stretch>
        </p:blipFill>
        <p:spPr/>
      </p:pic>
      <p:sp>
        <p:nvSpPr>
          <p:cNvPr id="5" name="TextBox 4"/>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24289497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Experiments</a:t>
            </a:r>
          </a:p>
        </p:txBody>
      </p:sp>
      <p:sp>
        <p:nvSpPr>
          <p:cNvPr id="3" name="Content Placeholder 2"/>
          <p:cNvSpPr>
            <a:spLocks noGrp="1"/>
          </p:cNvSpPr>
          <p:nvPr>
            <p:ph idx="1"/>
          </p:nvPr>
        </p:nvSpPr>
        <p:spPr/>
        <p:txBody>
          <a:bodyPr>
            <a:normAutofit fontScale="92500" lnSpcReduction="20000"/>
          </a:bodyPr>
          <a:lstStyle/>
          <a:p>
            <a:r>
              <a:rPr lang="en-US" dirty="0"/>
              <a:t>All pieces transposed to common key</a:t>
            </a:r>
          </a:p>
          <a:p>
            <a:pPr lvl="1"/>
            <a:r>
              <a:rPr lang="en-US" dirty="0"/>
              <a:t>C major or A minor</a:t>
            </a:r>
          </a:p>
          <a:p>
            <a:endParaRPr lang="en-US" dirty="0"/>
          </a:p>
          <a:p>
            <a:r>
              <a:rPr lang="en-US" dirty="0"/>
              <a:t>Bach (10 training examples)</a:t>
            </a:r>
          </a:p>
          <a:p>
            <a:r>
              <a:rPr lang="en-US" dirty="0"/>
              <a:t>European folk melodies (25 examples)</a:t>
            </a:r>
          </a:p>
          <a:p>
            <a:r>
              <a:rPr lang="en-US" dirty="0"/>
              <a:t>Waltzes (25 examples with harmonic accompaniment)</a:t>
            </a:r>
          </a:p>
          <a:p>
            <a:r>
              <a:rPr lang="en-US" dirty="0"/>
              <a:t>Outcome</a:t>
            </a:r>
          </a:p>
          <a:p>
            <a:pPr lvl="1"/>
            <a:r>
              <a:rPr lang="en-US" dirty="0"/>
              <a:t>Network learns local structure but not global structure of musical organization</a:t>
            </a:r>
          </a:p>
        </p:txBody>
      </p:sp>
      <p:pic>
        <p:nvPicPr>
          <p:cNvPr id="4" name="Bach.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5248088" y="2787838"/>
            <a:ext cx="537882" cy="537882"/>
          </a:xfrm>
          <a:prstGeom prst="rect">
            <a:avLst/>
          </a:prstGeom>
        </p:spPr>
      </p:pic>
      <p:pic>
        <p:nvPicPr>
          <p:cNvPr id="5" name="EnglishFolkTunes.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6872492" y="3266820"/>
            <a:ext cx="537882" cy="537882"/>
          </a:xfrm>
          <a:prstGeom prst="rect">
            <a:avLst/>
          </a:prstGeom>
        </p:spPr>
      </p:pic>
      <p:pic>
        <p:nvPicPr>
          <p:cNvPr id="6" name="Waltzes.mp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3672391" y="4254915"/>
            <a:ext cx="537882" cy="537882"/>
          </a:xfrm>
          <a:prstGeom prst="rect">
            <a:avLst/>
          </a:prstGeom>
        </p:spPr>
      </p:pic>
      <p:sp>
        <p:nvSpPr>
          <p:cNvPr id="7" name="TextBox 6"/>
          <p:cNvSpPr txBox="1"/>
          <p:nvPr/>
        </p:nvSpPr>
        <p:spPr>
          <a:xfrm>
            <a:off x="5683886" y="6396335"/>
            <a:ext cx="3460114" cy="461665"/>
          </a:xfrm>
          <a:prstGeom prst="rect">
            <a:avLst/>
          </a:prstGeom>
          <a:noFill/>
        </p:spPr>
        <p:txBody>
          <a:bodyPr wrap="none" rtlCol="0">
            <a:spAutoFit/>
          </a:bodyPr>
          <a:lstStyle/>
          <a:p>
            <a:r>
              <a:rPr lang="en-US" sz="2400" b="1" dirty="0">
                <a:latin typeface="+mn-lt"/>
              </a:rPr>
              <a:t>Slide from Michael </a:t>
            </a:r>
            <a:r>
              <a:rPr lang="en-US" sz="2400" b="1" dirty="0" err="1">
                <a:latin typeface="+mn-lt"/>
              </a:rPr>
              <a:t>Mozer</a:t>
            </a:r>
            <a:endParaRPr lang="en-US" sz="2400" b="1" dirty="0">
              <a:latin typeface="+mn-lt"/>
            </a:endParaRPr>
          </a:p>
        </p:txBody>
      </p:sp>
    </p:spTree>
    <p:extLst>
      <p:ext uri="{BB962C8B-B14F-4D97-AF65-F5344CB8AC3E}">
        <p14:creationId xmlns:p14="http://schemas.microsoft.com/office/powerpoint/2010/main" val="102074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45818" fill="hold"/>
                                        <p:tgtEl>
                                          <p:spTgt spid="4"/>
                                        </p:tgtEl>
                                      </p:cBhvr>
                                    </p:cmd>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70817" fill="hold"/>
                                        <p:tgtEl>
                                          <p:spTgt spid="5"/>
                                        </p:tgtEl>
                                      </p:cBhvr>
                                    </p:cmd>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mediacall" presetSubtype="0" fill="hold" nodeType="clickEffect">
                                  <p:stCondLst>
                                    <p:cond delay="0"/>
                                  </p:stCondLst>
                                  <p:childTnLst>
                                    <p:cmd type="call" cmd="playFrom(0.0)">
                                      <p:cBhvr>
                                        <p:cTn id="32" dur="203807" fill="hold"/>
                                        <p:tgtEl>
                                          <p:spTgt spid="6"/>
                                        </p:tgtEl>
                                      </p:cBhvr>
                                    </p:cmd>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9" restart="whenNotActive" fill="hold" evtFilter="cancelBubble" nodeType="interactiveSeq">
                <p:stCondLst>
                  <p:cond evt="onClick" delay="0">
                    <p:tgtEl>
                      <p:spTgt spid="4"/>
                    </p:tgtEl>
                  </p:cond>
                </p:stCondLst>
                <p:endSync evt="end" delay="0">
                  <p:rtn val="all"/>
                </p:endSync>
                <p:childTnLst>
                  <p:par>
                    <p:cTn id="40" fill="hold">
                      <p:stCondLst>
                        <p:cond delay="0"/>
                      </p:stCondLst>
                      <p:childTnLst>
                        <p:par>
                          <p:cTn id="41" fill="hold">
                            <p:stCondLst>
                              <p:cond delay="0"/>
                            </p:stCondLst>
                            <p:childTnLst>
                              <p:par>
                                <p:cTn id="42" presetID="1" presetClass="mediacall" presetSubtype="0" fill="hold" nodeType="clickEffect">
                                  <p:stCondLst>
                                    <p:cond delay="0"/>
                                  </p:stCondLst>
                                  <p:childTnLst>
                                    <p:cmd type="call" cmd="playFrom(0.0)">
                                      <p:cBhvr>
                                        <p:cTn id="43" dur="45818" fill="hold"/>
                                        <p:tgtEl>
                                          <p:spTgt spid="4"/>
                                        </p:tgtEl>
                                      </p:cBhvr>
                                    </p:cmd>
                                  </p:childTnLst>
                                </p:cTn>
                              </p:par>
                            </p:childTnLst>
                          </p:cTn>
                        </p:par>
                      </p:childTnLst>
                    </p:cTn>
                  </p:par>
                </p:childTnLst>
              </p:cTn>
              <p:nextCondLst>
                <p:cond evt="onClick" delay="0">
                  <p:tgtEl>
                    <p:spTgt spid="4"/>
                  </p:tgtEl>
                </p:cond>
              </p:nextCondLst>
            </p:seq>
            <p:audio>
              <p:cMediaNode vol="80000">
                <p:cTn id="44" fill="hold" display="0">
                  <p:stCondLst>
                    <p:cond delay="indefinite"/>
                  </p:stCondLst>
                  <p:endCondLst>
                    <p:cond evt="onStopAudio" delay="0">
                      <p:tgtEl>
                        <p:sldTgt/>
                      </p:tgtEl>
                    </p:cond>
                  </p:endCondLst>
                </p:cTn>
                <p:tgtEl>
                  <p:spTgt spid="4"/>
                </p:tgtEl>
              </p:cMediaNode>
            </p:audio>
            <p:seq concurrent="1" nextAc="seek">
              <p:cTn id="45" restart="whenNotActive" fill="hold" evtFilter="cancelBubble" nodeType="interactiveSeq">
                <p:stCondLst>
                  <p:cond evt="onClick" delay="0">
                    <p:tgtEl>
                      <p:spTgt spid="5"/>
                    </p:tgtEl>
                  </p:cond>
                </p:stCondLst>
                <p:endSync evt="end" delay="0">
                  <p:rtn val="all"/>
                </p:endSync>
                <p:childTnLst>
                  <p:par>
                    <p:cTn id="46" fill="hold">
                      <p:stCondLst>
                        <p:cond delay="0"/>
                      </p:stCondLst>
                      <p:childTnLst>
                        <p:par>
                          <p:cTn id="47" fill="hold">
                            <p:stCondLst>
                              <p:cond delay="0"/>
                            </p:stCondLst>
                            <p:childTnLst>
                              <p:par>
                                <p:cTn id="48" presetID="1" presetClass="mediacall" presetSubtype="0" fill="hold" nodeType="clickEffect">
                                  <p:stCondLst>
                                    <p:cond delay="0"/>
                                  </p:stCondLst>
                                  <p:childTnLst>
                                    <p:cmd type="call" cmd="playFrom(0.0)">
                                      <p:cBhvr>
                                        <p:cTn id="49" dur="70817" fill="hold"/>
                                        <p:tgtEl>
                                          <p:spTgt spid="5"/>
                                        </p:tgtEl>
                                      </p:cBhvr>
                                    </p:cmd>
                                  </p:childTnLst>
                                </p:cTn>
                              </p:par>
                            </p:childTnLst>
                          </p:cTn>
                        </p:par>
                      </p:childTnLst>
                    </p:cTn>
                  </p:par>
                </p:childTnLst>
              </p:cTn>
              <p:nextCondLst>
                <p:cond evt="onClick" delay="0">
                  <p:tgtEl>
                    <p:spTgt spid="5"/>
                  </p:tgtEl>
                </p:cond>
              </p:nextCondLst>
            </p:seq>
            <p:audio>
              <p:cMediaNode vol="80000">
                <p:cTn id="50" fill="hold" display="0">
                  <p:stCondLst>
                    <p:cond delay="indefinite"/>
                  </p:stCondLst>
                  <p:endCondLst>
                    <p:cond evt="onStopAudio" delay="0">
                      <p:tgtEl>
                        <p:sldTgt/>
                      </p:tgtEl>
                    </p:cond>
                  </p:endCondLst>
                </p:cTn>
                <p:tgtEl>
                  <p:spTgt spid="5"/>
                </p:tgtEl>
              </p:cMediaNode>
            </p:audio>
            <p:seq concurrent="1" nextAc="seek">
              <p:cTn id="51" restart="whenNotActive" fill="hold" evtFilter="cancelBubble" nodeType="interactiveSeq">
                <p:stCondLst>
                  <p:cond evt="onClick" delay="0">
                    <p:tgtEl>
                      <p:spTgt spid="6"/>
                    </p:tgtEl>
                  </p:cond>
                </p:stCondLst>
                <p:endSync evt="end" delay="0">
                  <p:rtn val="all"/>
                </p:endSync>
                <p:childTnLst>
                  <p:par>
                    <p:cTn id="52" fill="hold">
                      <p:stCondLst>
                        <p:cond delay="0"/>
                      </p:stCondLst>
                      <p:childTnLst>
                        <p:par>
                          <p:cTn id="53" fill="hold">
                            <p:stCondLst>
                              <p:cond delay="0"/>
                            </p:stCondLst>
                            <p:childTnLst>
                              <p:par>
                                <p:cTn id="54" presetID="1" presetClass="mediacall" presetSubtype="0" fill="hold" nodeType="clickEffect">
                                  <p:stCondLst>
                                    <p:cond delay="0"/>
                                  </p:stCondLst>
                                  <p:childTnLst>
                                    <p:cmd type="call" cmd="playFrom(0.0)">
                                      <p:cBhvr>
                                        <p:cTn id="55" dur="203807" fill="hold"/>
                                        <p:tgtEl>
                                          <p:spTgt spid="6"/>
                                        </p:tgtEl>
                                      </p:cBhvr>
                                    </p:cmd>
                                  </p:childTnLst>
                                </p:cTn>
                              </p:par>
                            </p:childTnLst>
                          </p:cTn>
                        </p:par>
                      </p:childTnLst>
                    </p:cTn>
                  </p:par>
                </p:childTnLst>
              </p:cTn>
              <p:nextCondLst>
                <p:cond evt="onClick" delay="0">
                  <p:tgtEl>
                    <p:spTgt spid="6"/>
                  </p:tgtEl>
                </p:cond>
              </p:nextCondLst>
            </p:seq>
            <p:audio>
              <p:cMediaNode vol="80000">
                <p:cTn id="56" fill="hold" display="0">
                  <p:stCondLst>
                    <p:cond delay="indefinite"/>
                  </p:stCondLst>
                  <p:endCondLst>
                    <p:cond evt="onStopAudio" delay="0">
                      <p:tgtEl>
                        <p:sldTgt/>
                      </p:tgtEl>
                    </p:cond>
                  </p:endCondLst>
                </p:cTn>
                <p:tgtEl>
                  <p:spTgt spid="6"/>
                </p:tgtEl>
              </p:cMediaNode>
            </p:audi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86015"/>
          </a:xfrm>
        </p:spPr>
        <p:txBody>
          <a:bodyPr/>
          <a:lstStyle/>
          <a:p>
            <a:r>
              <a:rPr lang="en-US" dirty="0"/>
              <a:t>Regularization in Deep Nets</a:t>
            </a:r>
          </a:p>
        </p:txBody>
      </p:sp>
      <p:pic>
        <p:nvPicPr>
          <p:cNvPr id="4" name="Picture 3"/>
          <p:cNvPicPr>
            <a:picLocks noChangeAspect="1"/>
          </p:cNvPicPr>
          <p:nvPr/>
        </p:nvPicPr>
        <p:blipFill>
          <a:blip r:embed="rId3"/>
          <a:stretch>
            <a:fillRect/>
          </a:stretch>
        </p:blipFill>
        <p:spPr>
          <a:xfrm>
            <a:off x="1004850" y="1466637"/>
            <a:ext cx="1257300" cy="317500"/>
          </a:xfrm>
          <a:prstGeom prst="rect">
            <a:avLst/>
          </a:prstGeom>
        </p:spPr>
      </p:pic>
      <p:sp>
        <p:nvSpPr>
          <p:cNvPr id="5" name="TextBox 4"/>
          <p:cNvSpPr txBox="1"/>
          <p:nvPr/>
        </p:nvSpPr>
        <p:spPr>
          <a:xfrm>
            <a:off x="2809800" y="1319639"/>
            <a:ext cx="5404302" cy="830997"/>
          </a:xfrm>
          <a:prstGeom prst="rect">
            <a:avLst/>
          </a:prstGeom>
          <a:noFill/>
        </p:spPr>
        <p:txBody>
          <a:bodyPr wrap="square" rtlCol="0">
            <a:spAutoFit/>
          </a:bodyPr>
          <a:lstStyle/>
          <a:p>
            <a:r>
              <a:rPr lang="en-US" sz="2400" dirty="0"/>
              <a:t>Some sort of “Error” or “loss” function (e.g., sum squared error, </a:t>
            </a:r>
            <a:r>
              <a:rPr lang="en-US" sz="2400"/>
              <a:t>“cross-entropy”)</a:t>
            </a:r>
          </a:p>
        </p:txBody>
      </p:sp>
      <p:pic>
        <p:nvPicPr>
          <p:cNvPr id="7" name="Picture 6"/>
          <p:cNvPicPr>
            <a:picLocks noChangeAspect="1"/>
          </p:cNvPicPr>
          <p:nvPr/>
        </p:nvPicPr>
        <p:blipFill>
          <a:blip r:embed="rId4"/>
          <a:stretch>
            <a:fillRect/>
          </a:stretch>
        </p:blipFill>
        <p:spPr>
          <a:xfrm>
            <a:off x="1004850" y="2314951"/>
            <a:ext cx="4152900" cy="368300"/>
          </a:xfrm>
          <a:prstGeom prst="rect">
            <a:avLst/>
          </a:prstGeom>
        </p:spPr>
      </p:pic>
      <p:pic>
        <p:nvPicPr>
          <p:cNvPr id="8" name="Picture 7"/>
          <p:cNvPicPr>
            <a:picLocks noChangeAspect="1"/>
          </p:cNvPicPr>
          <p:nvPr/>
        </p:nvPicPr>
        <p:blipFill>
          <a:blip r:embed="rId5"/>
          <a:stretch>
            <a:fillRect/>
          </a:stretch>
        </p:blipFill>
        <p:spPr>
          <a:xfrm>
            <a:off x="1062000" y="3591017"/>
            <a:ext cx="736600" cy="228600"/>
          </a:xfrm>
          <a:prstGeom prst="rect">
            <a:avLst/>
          </a:prstGeom>
        </p:spPr>
      </p:pic>
      <p:pic>
        <p:nvPicPr>
          <p:cNvPr id="9" name="Picture 8"/>
          <p:cNvPicPr>
            <a:picLocks noChangeAspect="1"/>
          </p:cNvPicPr>
          <p:nvPr/>
        </p:nvPicPr>
        <p:blipFill>
          <a:blip r:embed="rId6"/>
          <a:stretch>
            <a:fillRect/>
          </a:stretch>
        </p:blipFill>
        <p:spPr>
          <a:xfrm>
            <a:off x="1062000" y="2938435"/>
            <a:ext cx="571500" cy="317500"/>
          </a:xfrm>
          <a:prstGeom prst="rect">
            <a:avLst/>
          </a:prstGeom>
        </p:spPr>
      </p:pic>
      <p:sp>
        <p:nvSpPr>
          <p:cNvPr id="10" name="TextBox 9"/>
          <p:cNvSpPr txBox="1"/>
          <p:nvPr/>
        </p:nvSpPr>
        <p:spPr>
          <a:xfrm>
            <a:off x="1844050" y="2865292"/>
            <a:ext cx="3067186" cy="461665"/>
          </a:xfrm>
          <a:prstGeom prst="rect">
            <a:avLst/>
          </a:prstGeom>
          <a:noFill/>
        </p:spPr>
        <p:txBody>
          <a:bodyPr wrap="none" rtlCol="0">
            <a:spAutoFit/>
          </a:bodyPr>
          <a:lstStyle/>
          <a:p>
            <a:r>
              <a:rPr lang="en-US" sz="2400" dirty="0"/>
              <a:t>is called a “</a:t>
            </a:r>
            <a:r>
              <a:rPr lang="en-US" sz="2400" dirty="0" err="1"/>
              <a:t>regularizer</a:t>
            </a:r>
            <a:r>
              <a:rPr lang="en-US" sz="2400" dirty="0"/>
              <a:t>”</a:t>
            </a:r>
          </a:p>
        </p:txBody>
      </p:sp>
      <p:sp>
        <p:nvSpPr>
          <p:cNvPr id="11" name="TextBox 10"/>
          <p:cNvSpPr txBox="1"/>
          <p:nvPr/>
        </p:nvSpPr>
        <p:spPr>
          <a:xfrm>
            <a:off x="1844050" y="3443489"/>
            <a:ext cx="7009163" cy="461665"/>
          </a:xfrm>
          <a:prstGeom prst="rect">
            <a:avLst/>
          </a:prstGeom>
          <a:noFill/>
        </p:spPr>
        <p:txBody>
          <a:bodyPr wrap="none" rtlCol="0">
            <a:spAutoFit/>
          </a:bodyPr>
          <a:lstStyle/>
          <a:p>
            <a:r>
              <a:rPr lang="en-US" sz="2400" dirty="0"/>
              <a:t>is a </a:t>
            </a:r>
            <a:r>
              <a:rPr lang="en-US" sz="2400" dirty="0" err="1"/>
              <a:t>hyperparameter</a:t>
            </a:r>
            <a:r>
              <a:rPr lang="en-US" sz="2400" dirty="0"/>
              <a:t> controlling strength of </a:t>
            </a:r>
            <a:r>
              <a:rPr lang="en-US" sz="2400" dirty="0" err="1"/>
              <a:t>regularizer</a:t>
            </a:r>
            <a:r>
              <a:rPr lang="en-US" sz="2400" dirty="0"/>
              <a:t> </a:t>
            </a:r>
          </a:p>
        </p:txBody>
      </p:sp>
      <p:sp>
        <p:nvSpPr>
          <p:cNvPr id="12" name="TextBox 11"/>
          <p:cNvSpPr txBox="1"/>
          <p:nvPr/>
        </p:nvSpPr>
        <p:spPr>
          <a:xfrm>
            <a:off x="1004850" y="4145618"/>
            <a:ext cx="3612977" cy="461665"/>
          </a:xfrm>
          <a:prstGeom prst="rect">
            <a:avLst/>
          </a:prstGeom>
          <a:noFill/>
        </p:spPr>
        <p:txBody>
          <a:bodyPr wrap="none" rtlCol="0">
            <a:spAutoFit/>
          </a:bodyPr>
          <a:lstStyle/>
          <a:p>
            <a:r>
              <a:rPr lang="en-US" sz="2400" dirty="0"/>
              <a:t>Some example </a:t>
            </a:r>
            <a:r>
              <a:rPr lang="en-US" sz="2400" dirty="0" err="1"/>
              <a:t>regularizers</a:t>
            </a:r>
            <a:r>
              <a:rPr lang="en-US" sz="2400" dirty="0"/>
              <a:t>:</a:t>
            </a:r>
          </a:p>
        </p:txBody>
      </p:sp>
      <p:sp>
        <p:nvSpPr>
          <p:cNvPr id="13" name="TextBox 12"/>
          <p:cNvSpPr txBox="1"/>
          <p:nvPr/>
        </p:nvSpPr>
        <p:spPr>
          <a:xfrm>
            <a:off x="343307" y="4765757"/>
            <a:ext cx="2580386" cy="461665"/>
          </a:xfrm>
          <a:prstGeom prst="rect">
            <a:avLst/>
          </a:prstGeom>
          <a:noFill/>
        </p:spPr>
        <p:txBody>
          <a:bodyPr wrap="none" rtlCol="0">
            <a:spAutoFit/>
          </a:bodyPr>
          <a:lstStyle/>
          <a:p>
            <a:r>
              <a:rPr lang="en-US" sz="2400" dirty="0"/>
              <a:t>L</a:t>
            </a:r>
            <a:r>
              <a:rPr lang="en-US" sz="2400" baseline="30000" dirty="0"/>
              <a:t>2</a:t>
            </a:r>
            <a:r>
              <a:rPr lang="en-US" sz="2400" dirty="0"/>
              <a:t> norm (squared):</a:t>
            </a:r>
          </a:p>
        </p:txBody>
      </p:sp>
      <p:pic>
        <p:nvPicPr>
          <p:cNvPr id="14" name="Picture 13"/>
          <p:cNvPicPr>
            <a:picLocks noChangeAspect="1"/>
          </p:cNvPicPr>
          <p:nvPr/>
        </p:nvPicPr>
        <p:blipFill>
          <a:blip r:embed="rId7"/>
          <a:stretch>
            <a:fillRect/>
          </a:stretch>
        </p:blipFill>
        <p:spPr>
          <a:xfrm>
            <a:off x="2865227" y="4778687"/>
            <a:ext cx="1752600" cy="673100"/>
          </a:xfrm>
          <a:prstGeom prst="rect">
            <a:avLst/>
          </a:prstGeom>
        </p:spPr>
      </p:pic>
      <p:sp>
        <p:nvSpPr>
          <p:cNvPr id="15" name="TextBox 14"/>
          <p:cNvSpPr txBox="1"/>
          <p:nvPr/>
        </p:nvSpPr>
        <p:spPr>
          <a:xfrm>
            <a:off x="4989566" y="4765756"/>
            <a:ext cx="1314784" cy="461665"/>
          </a:xfrm>
          <a:prstGeom prst="rect">
            <a:avLst/>
          </a:prstGeom>
          <a:noFill/>
        </p:spPr>
        <p:txBody>
          <a:bodyPr wrap="none" rtlCol="0">
            <a:spAutoFit/>
          </a:bodyPr>
          <a:lstStyle/>
          <a:p>
            <a:r>
              <a:rPr lang="en-US" sz="2400" dirty="0"/>
              <a:t>L</a:t>
            </a:r>
            <a:r>
              <a:rPr lang="en-US" sz="2400" baseline="30000" dirty="0"/>
              <a:t>1</a:t>
            </a:r>
            <a:r>
              <a:rPr lang="en-US" sz="2400" dirty="0"/>
              <a:t> norm :</a:t>
            </a:r>
          </a:p>
        </p:txBody>
      </p:sp>
      <p:pic>
        <p:nvPicPr>
          <p:cNvPr id="16" name="Picture 15"/>
          <p:cNvPicPr>
            <a:picLocks noChangeAspect="1"/>
          </p:cNvPicPr>
          <p:nvPr/>
        </p:nvPicPr>
        <p:blipFill>
          <a:blip r:embed="rId8"/>
          <a:stretch>
            <a:fillRect/>
          </a:stretch>
        </p:blipFill>
        <p:spPr>
          <a:xfrm>
            <a:off x="6304350" y="4794513"/>
            <a:ext cx="1917700" cy="673100"/>
          </a:xfrm>
          <a:prstGeom prst="rect">
            <a:avLst/>
          </a:prstGeom>
        </p:spPr>
      </p:pic>
      <p:sp>
        <p:nvSpPr>
          <p:cNvPr id="17" name="TextBox 16"/>
          <p:cNvSpPr txBox="1"/>
          <p:nvPr/>
        </p:nvSpPr>
        <p:spPr>
          <a:xfrm>
            <a:off x="343307" y="5520457"/>
            <a:ext cx="7892414" cy="1292662"/>
          </a:xfrm>
          <a:prstGeom prst="rect">
            <a:avLst/>
          </a:prstGeom>
          <a:noFill/>
        </p:spPr>
        <p:txBody>
          <a:bodyPr wrap="square" rtlCol="0">
            <a:spAutoFit/>
          </a:bodyPr>
          <a:lstStyle/>
          <a:p>
            <a:r>
              <a:rPr lang="en-US" sz="2400" dirty="0"/>
              <a:t>L</a:t>
            </a:r>
            <a:r>
              <a:rPr lang="en-US" sz="2400" baseline="30000" dirty="0"/>
              <a:t>1</a:t>
            </a:r>
            <a:r>
              <a:rPr lang="en-US" sz="2400" dirty="0"/>
              <a:t> leads to sparse representations (few non-zero items).</a:t>
            </a:r>
          </a:p>
          <a:p>
            <a:endParaRPr lang="en-US" sz="600" b="1" dirty="0"/>
          </a:p>
          <a:p>
            <a:r>
              <a:rPr lang="en-US" sz="2400" b="1" dirty="0"/>
              <a:t>Early stopping: </a:t>
            </a:r>
            <a:r>
              <a:rPr lang="en-US" sz="2400" dirty="0"/>
              <a:t>Stopping before training error is minimum is implicit regularization.</a:t>
            </a:r>
          </a:p>
        </p:txBody>
      </p:sp>
    </p:spTree>
    <p:extLst>
      <p:ext uri="{BB962C8B-B14F-4D97-AF65-F5344CB8AC3E}">
        <p14:creationId xmlns:p14="http://schemas.microsoft.com/office/powerpoint/2010/main" val="403197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24844</TotalTime>
  <Words>8448</Words>
  <Application>Microsoft Office PowerPoint</Application>
  <PresentationFormat>On-screen Show (4:3)</PresentationFormat>
  <Paragraphs>560</Paragraphs>
  <Slides>45</Slides>
  <Notes>45</Notes>
  <HiddenSlides>1</HiddenSlides>
  <MMClips>3</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2" baseType="lpstr">
      <vt:lpstr>Arial</vt:lpstr>
      <vt:lpstr>Calibri</vt:lpstr>
      <vt:lpstr>Cambria Math</vt:lpstr>
      <vt:lpstr>Symbol</vt:lpstr>
      <vt:lpstr>Times New Roman</vt:lpstr>
      <vt:lpstr>Office Theme</vt:lpstr>
      <vt:lpstr>Equation</vt:lpstr>
      <vt:lpstr>Introduction to Neural Networks</vt:lpstr>
      <vt:lpstr>PowerPoint Presentation</vt:lpstr>
      <vt:lpstr>Administrative Matters</vt:lpstr>
      <vt:lpstr>PowerPoint Presentation</vt:lpstr>
      <vt:lpstr>PowerPoint Presentation</vt:lpstr>
      <vt:lpstr>Connectionism (Parallel Distributed Processing)</vt:lpstr>
      <vt:lpstr>A caution on biological connections</vt:lpstr>
      <vt:lpstr>Artificial neural networks</vt:lpstr>
      <vt:lpstr>A very simple neural network</vt:lpstr>
      <vt:lpstr>Distributed representations</vt:lpstr>
      <vt:lpstr>Distributed representations</vt:lpstr>
      <vt:lpstr>Different representations</vt:lpstr>
      <vt:lpstr>PowerPoint Presentation</vt:lpstr>
      <vt:lpstr>Perceptrons</vt:lpstr>
      <vt:lpstr>A linear classifier</vt:lpstr>
      <vt:lpstr>Error-driven learning</vt:lpstr>
      <vt:lpstr>Gradient descent</vt:lpstr>
      <vt:lpstr>With a linear output…</vt:lpstr>
      <vt:lpstr>The Delta Rule</vt:lpstr>
      <vt:lpstr>Problems with simple networks</vt:lpstr>
      <vt:lpstr>Problems with simple networks</vt:lpstr>
      <vt:lpstr>Problems with linear networks</vt:lpstr>
      <vt:lpstr>A solution:  multiple layers + nonlinearity</vt:lpstr>
      <vt:lpstr>A solution:  multiple layers</vt:lpstr>
      <vt:lpstr>PowerPoint Presentation</vt:lpstr>
      <vt:lpstr>David Rumelhart</vt:lpstr>
      <vt:lpstr>Training multi-layer networks</vt:lpstr>
      <vt:lpstr>Defining our terms</vt:lpstr>
      <vt:lpstr>Backpropagation (generalized delta rule)</vt:lpstr>
      <vt:lpstr>A little math</vt:lpstr>
      <vt:lpstr>Backpropagation (generalized delta rule)</vt:lpstr>
      <vt:lpstr>Training multi-layer networks</vt:lpstr>
      <vt:lpstr>PowerPoint Presentation</vt:lpstr>
      <vt:lpstr>Convolutional Neural Networks</vt:lpstr>
      <vt:lpstr>PowerPoint Presentation</vt:lpstr>
      <vt:lpstr>Convolutional Neural Networks</vt:lpstr>
      <vt:lpstr>Convolutional Neural Networks</vt:lpstr>
      <vt:lpstr>A different computational problem</vt:lpstr>
      <vt:lpstr>Simple recurrent networks</vt:lpstr>
      <vt:lpstr>Unfolding A Recurrent Net</vt:lpstr>
      <vt:lpstr>Neural Network Music Composition (Mozer, 1994)</vt:lpstr>
      <vt:lpstr>Psychologically Grounded Representation Of Pitch</vt:lpstr>
      <vt:lpstr>Analogous Representation Of Duration</vt:lpstr>
      <vt:lpstr>Simulation Experiments</vt:lpstr>
      <vt:lpstr>Regularization in Deep Nets</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Joseph Austerweil</dc:creator>
  <cp:lastModifiedBy>Joe Austerweil</cp:lastModifiedBy>
  <cp:revision>674</cp:revision>
  <cp:lastPrinted>2017-09-13T02:18:10Z</cp:lastPrinted>
  <dcterms:created xsi:type="dcterms:W3CDTF">2015-09-05T16:34:09Z</dcterms:created>
  <dcterms:modified xsi:type="dcterms:W3CDTF">2025-04-17T16:42:09Z</dcterms:modified>
</cp:coreProperties>
</file>