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7" r:id="rId2"/>
    <p:sldId id="795" r:id="rId3"/>
    <p:sldId id="259" r:id="rId4"/>
    <p:sldId id="796" r:id="rId5"/>
    <p:sldId id="364" r:id="rId6"/>
    <p:sldId id="365" r:id="rId7"/>
    <p:sldId id="366" r:id="rId8"/>
    <p:sldId id="351" r:id="rId9"/>
    <p:sldId id="352" r:id="rId10"/>
    <p:sldId id="353" r:id="rId11"/>
    <p:sldId id="367" r:id="rId12"/>
    <p:sldId id="368" r:id="rId13"/>
    <p:sldId id="371" r:id="rId14"/>
    <p:sldId id="369" r:id="rId15"/>
    <p:sldId id="370" r:id="rId16"/>
    <p:sldId id="797" r:id="rId17"/>
    <p:sldId id="297" r:id="rId18"/>
    <p:sldId id="310" r:id="rId19"/>
    <p:sldId id="798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280" r:id="rId29"/>
    <p:sldId id="320" r:id="rId30"/>
    <p:sldId id="799" r:id="rId31"/>
    <p:sldId id="695" r:id="rId32"/>
    <p:sldId id="696" r:id="rId33"/>
    <p:sldId id="697" r:id="rId34"/>
    <p:sldId id="698" r:id="rId35"/>
    <p:sldId id="703" r:id="rId36"/>
    <p:sldId id="704" r:id="rId37"/>
    <p:sldId id="699" r:id="rId38"/>
    <p:sldId id="700" r:id="rId39"/>
    <p:sldId id="701" r:id="rId40"/>
    <p:sldId id="702" r:id="rId41"/>
    <p:sldId id="687" r:id="rId42"/>
    <p:sldId id="694" r:id="rId43"/>
    <p:sldId id="706" r:id="rId44"/>
    <p:sldId id="707" r:id="rId45"/>
    <p:sldId id="708" r:id="rId46"/>
    <p:sldId id="800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06" autoAdjust="0"/>
    <p:restoredTop sz="89180" autoAdjust="0"/>
  </p:normalViewPr>
  <p:slideViewPr>
    <p:cSldViewPr snapToGrid="0" snapToObjects="1">
      <p:cViewPr varScale="1">
        <p:scale>
          <a:sx n="77" d="100"/>
          <a:sy n="77" d="100"/>
        </p:scale>
        <p:origin x="12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10T16:00:24.6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1035 1217,'0'-701,"1"677,2 0,10-45,-9 53,0-1,-1 0,-1-1,-1 1,0 0,-1 0,-4-31,-4 17,-17-43,6 20,17 50,1-1,-1 1,0 1,-1-1,1 0,0 0,-1 1,0 0,0-1,0 1,0 0,-1 0,1 1,-1-1,1 1,-1-1,0 1,0 0,0 1,0-1,0 1,-1 0,1 0,-7-1,-10 0,0 1,-1 0,-41 6,15-2,-54-3,-50 3,137-1,-1 2,2 0,-1 0,0 2,-17 8,-21 8,38-17,-99 29,-37 3,148-37,1 1,-1 0,0 0,0 0,1 0,-1 0,0 1,1-1,-1 1,1 0,0-1,-1 1,1 0,0 1,0-1,0 0,1 0,-1 1,0-1,1 1,0-1,0 1,-1 0,2 0,-2 4,2-3,0 0,1 1,-1-1,1 0,0 1,1-1,-1 0,1 0,-1 0,1 0,1 0,-1 0,0-1,1 1,0-1,5 5,7 10,-8-13,-1 1,0 0,-1 1,1 0,-1 0,-1 0,1 0,-1 1,0-1,-1 1,0 0,0 0,-1 0,0 1,0-1,0 13,-1 304,-4-140,3 355,-1-536,1 1,0-1,1 1,-1-1,1 1,0-1,0 1,0-1,0 1,1-1,0 0,0 0,0 0,5 7,-4-8,1 0,-1-1,1 1,-1-1,1 0,0 0,0 0,-1-1,1 1,1-1,-1 0,0 0,0 0,0-1,1 0,4 1,3-1,0 0,0-1,-1 0,1-1,0 0,-1 0,1-2,-1 1,21-11,-3-2,1-2,29-24,-54 38,49-31,2 3,90-40,13-6,-17 15,-118 51,-3 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10T16:00:27.87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213 0,'4'4,"-1"1,0 0,0-1,0 1,-1 0,0 1,0-1,0 0,0 1,-1-1,0 0,1 10,1 73,-3-63,1 32,16 110,0-73,-3 2,0 130,-13-196,2 0,9 43,-6-39,4 52,-9 245,-3-154,2-172,1 0,-2 0,1 0,-1 0,0 0,0 0,-2 6,3-10,0-1,-1 1,1 0,-1-1,1 1,0-1,-1 1,1-1,-1 1,1-1,-1 1,1-1,-1 0,1 1,-1-1,0 0,1 1,-1-1,0 0,1 0,-1 1,0-1,0 0,-1 0,0-1,0 1,1 0,-1-1,0 1,0-1,1 0,-1 1,1-1,-1 0,0 0,1 0,-2-1,-80-65,58 46,-1 0,0 1,-2 2,-56-29,63 39,18 10,28 18,1 0,1 8,-2 1,0 1,-3 1,28 49,-24-39,-7-7,-9-16,0 0,1-1,20 24,-28-38,-1 0,0-1,1 1,0-1,-1 1,1-1,0 0,0 0,0 0,1-1,-1 1,0-1,1 0,-1 0,0 0,1 0,0 0,-1-1,1 0,-1 0,1 0,-1 0,1 0,0-1,6-1,-8 1,1 0,-1-1,1 1,-1-1,0 0,0 1,0-1,0 0,0 0,0-1,0 1,-1 0,1 0,-1-1,0 1,1-1,-1 1,1-6,12-57,-8 32,3-5,3 0,23-53,-31 81,0-1,0 0,-1 1,-1-1,1 0,-2-1,0 1,0 0,-1 0,0 0,-1-1,-4-16,4 27,1-1,-1 0,0 1,-1-1,1 1,0-1,0 1,-1-1,1 1,-1 0,1 0,-1 0,1 0,-1 0,0 0,0 0,1 1,-1-1,0 0,0 1,0 0,0-1,0 1,1 0,-1 0,0 0,0 0,0 0,0 1,0-1,-3 1,-10 2,0 1,-28 9,30-8,-16 7,-1 1,2 1,-43 29,-9 5,68-36,22-6,36-2,-36-3,34 5,61 16,-62-11,56 6,-84-16,1 0,-1-1,0-1,1 0,-1-1,0-1,23-6,-37 9,0 0,0 0,0 0,0-1,0 1,0 0,0-1,0 1,0 0,0-1,0 1,-1-1,1 1,0-1,0 0,0 1,0-1,-1 0,1 0,0 1,-1-1,1 0,-1 0,1 0,-1 0,1 0,0-1,-2 0,0 1,1 0,-1 0,0 0,0 0,0-1,0 1,0 1,0-1,0 0,0 0,0 0,0 0,0 1,-1-1,1 0,-2 0,-66-22,66 22,-28-6,2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10T16:02:57.271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1354 797,'-2'-7,"0"0,0 0,-1 0,1 0,-6-8,1 0,-51-139,38 117,-1 0,-2 1,-28-33,6 8,-11-18,-83-89,121 147,16 18,-1 0,1-1,-1 1,0 0,0 0,0 1,0-1,-1 1,1-1,-1 1,0 0,1 0,-1 1,0-1,0 1,0 0,0 0,0 0,-1 0,-5 0,-53-1,30 2,-59-10,55 4,1 2,-1 2,1 1,-51 5,82-3,0 1,0-1,1 1,-1 0,0 1,1-1,-1 1,1 0,0 0,0 0,0 0,0 1,0 0,-2 3,1-1,1-2,-1 1,0 0,-1-1,1 0,-1 0,0-1,-9 4,-58 9,30-8,-3-3,36-5,-1 1,1 0,0 1,0 0,0 0,-17 7,25-8,1 0,-1 0,1 0,-1 0,1 0,0 0,0 0,-1 1,1-1,0 0,0 1,0-1,0 1,1-1,-1 1,0-1,1 1,-2 2,2 0,0-1,0 0,0 1,1-1,-1 0,1 1,-1-1,1 0,0 0,0 1,1-1,-1 0,2 3,41 62,-36-59,-1 1,0 0,-1 0,0 0,0 1,-1-1,-1 1,0 1,0-1,-1 1,2 18,-6 54,-1-54,4 53,0-74,-1 1,1-1,0 0,1 0,0 1,1-2,0 1,0 0,9 13,-6-10,-1 0,0 0,-1 1,0 0,-1 0,-1 0,0 0,1 15,16 54,2-24,-12-34,0 0,-2 0,6 34,-12-49,0 0,1 0,0 0,0-1,1 1,0-1,1 1,0-1,0-1,1 1,0-1,0 0,0 0,13 9,-7-6,1-1,1 0,0-1,0-1,0 0,1-1,27 8,-33-13,0 0,0 0,0-1,0 0,-1-1,1 0,0-1,0 1,0-2,-1 1,13-6,-13 4,1 1,0 0,0 1,0 0,0 0,0 1,0 0,0 0,1 1,-1 1,12 1,-8 1,1-1,0 0,-1-1,1-1,0 0,0 0,-1-2,1 0,16-4,-29 6,34-4,0 2,0 1,0 1,0 2,51 10,-82-11,0-1,0 0,0-1,0 1,0-1,0 1,0-1,0 0,0-1,0 1,0-1,-1 1,1-1,4-3,49-41,-14 11,-39 32,-1-1,1 1,-1 0,0-1,0 0,0 1,-1-1,1 0,-1-1,0 1,0 0,0-1,-1 1,0-1,0 1,0-1,0 0,0-6,0-16,-1 1,-3-33,0 11,5-14,0 41,-2 1,0-1,0 1,-2 0,-5-21,2 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10T16:03:00.518"/>
    </inkml:context>
    <inkml:brush xml:id="br0">
      <inkml:brushProperty name="width" value="0.1" units="cm"/>
      <inkml:brushProperty name="height" value="0.1" units="cm"/>
      <inkml:brushProperty name="color" value="#00A0D7"/>
      <inkml:brushProperty name="ignorePressure" value="1"/>
    </inkml:brush>
  </inkml:definitions>
  <inkml:trace contextRef="#ctx0" brushRef="#br0">0 0,'3'1,"-1"-1,0 1,1 0,-1 0,0 0,1 0,-1 0,0 0,0 0,0 1,0-1,0 1,-1 0,1 0,0-1,1 3,26 36,-25-34,66 121,67 75,-100-156,-31-40,0 1,0-1,-1 1,0 0,0 1,-1-1,0 1,0 0,0 0,2 12,5 18,0-1,26 52,-19-44,-13-36,-1-1,2 1,-1-1,1 0,0 0,0-1,1 0,14 11,69 47,-57-44,148 97,44 29,-218-141,-1-1,0-1,0 0,0 0,1 0,-1-1,1 0,10 4,-16-7,0 0,0-1,-1 1,1 0,0 0,-1-1,1 1,0-1,-1 1,1 0,0-1,-1 1,1-1,-1 1,1-1,-1 0,1 1,-1-1,0 1,1-1,-1 0,1 1,-1-1,0 0,0 0,0 1,1-1,-1 0,0 0,0 1,0-1,0 0,0 0,0 1,0-1,0 0,-1 0,1 1,0-1,0 0,-1 1,1-2,-9-33,-12-46,16 60,0 0,-1 1,-1-1,-19-37,13 38,15 31,18 35,-5-14,2-1,1-1,2-1,1 0,31 32,-49-57,1 0,-1 0,0 0,0 0,0 1,-1-1,1 1,-1 0,0-1,-1 1,1 0,-1 0,0 1,0-1,0 0,-1 0,0 0,0 0,0 1,-2 5,1-7,0-1,0 0,0 1,0-1,-1 0,0 0,0 0,1 0,-2 0,1 0,0-1,-1 1,1-1,-1 1,1-1,-1 0,0 0,0 0,0-1,0 1,-1-1,1 1,0-1,-1 0,1 0,-1-1,1 1,0-1,-1 0,-6 0,7 0,-1 0,0 0,0-1,1 1,-1-1,0 0,1 0,-1-1,1 1,-1-1,1 1,0-1,-1 0,1-1,0 1,0 0,1-1,-1 0,0 1,1-1,0 0,-1 0,1-1,1 1,-1 0,0-1,1 1,-1-1,1 1,0-1,-1-7,-1-10,0-1,1-1,1 1,2-27,-1 28,1-142,-1 143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1CB42-D47B-CE44-8DEE-D3A42889BE6E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8A63-2409-0241-8255-D95D06F65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90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281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45F431-A03C-F84E-B7E7-102B8BC43164}" type="slidenum">
              <a:rPr lang="en-US"/>
              <a:pPr/>
              <a:t>5</a:t>
            </a:fld>
            <a:endParaRPr lang="en-US"/>
          </a:p>
        </p:txBody>
      </p:sp>
      <p:sp>
        <p:nvSpPr>
          <p:cNvPr id="11571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The future is independent of the past conditioned on</a:t>
            </a:r>
            <a:r>
              <a:rPr lang="en-US" baseline="0" dirty="0"/>
              <a:t> the present</a:t>
            </a:r>
            <a:endParaRPr lang="en-US" dirty="0"/>
          </a:p>
          <a:p>
            <a:r>
              <a:rPr lang="en-US" dirty="0" err="1"/>
              <a:t>Ergodic</a:t>
            </a:r>
            <a:r>
              <a:rPr lang="en-US" dirty="0"/>
              <a:t> = aperiodic and positive recurrent</a:t>
            </a:r>
          </a:p>
          <a:p>
            <a:r>
              <a:rPr lang="en-US" dirty="0"/>
              <a:t>It is also irreducible = positive probability of going between any two states.</a:t>
            </a:r>
            <a:r>
              <a:rPr lang="en-US" baseline="0" dirty="0"/>
              <a:t> </a:t>
            </a:r>
            <a:r>
              <a:rPr lang="en-US" dirty="0"/>
              <a:t>Bring out a deck for discussion.</a:t>
            </a:r>
          </a:p>
        </p:txBody>
      </p:sp>
    </p:spTree>
    <p:extLst>
      <p:ext uri="{BB962C8B-B14F-4D97-AF65-F5344CB8AC3E}">
        <p14:creationId xmlns:p14="http://schemas.microsoft.com/office/powerpoint/2010/main" val="2980226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45F431-A03C-F84E-B7E7-102B8BC43164}" type="slidenum">
              <a:rPr lang="en-US"/>
              <a:pPr/>
              <a:t>6</a:t>
            </a:fld>
            <a:endParaRPr lang="en-US"/>
          </a:p>
        </p:txBody>
      </p:sp>
      <p:sp>
        <p:nvSpPr>
          <p:cNvPr id="11571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/>
              <a:t>The future </a:t>
            </a:r>
            <a:r>
              <a:rPr lang="en-US"/>
              <a:t>is independent of </a:t>
            </a:r>
            <a:r>
              <a:rPr lang="en-US" dirty="0"/>
              <a:t>the past conditioned on</a:t>
            </a:r>
            <a:r>
              <a:rPr lang="en-US" baseline="0" dirty="0"/>
              <a:t> the present</a:t>
            </a:r>
            <a:endParaRPr lang="en-US" dirty="0"/>
          </a:p>
          <a:p>
            <a:r>
              <a:rPr lang="en-US" dirty="0" err="1"/>
              <a:t>Ergodic</a:t>
            </a:r>
            <a:r>
              <a:rPr lang="en-US" dirty="0"/>
              <a:t> = aperiodic and positive recurrent</a:t>
            </a:r>
          </a:p>
          <a:p>
            <a:r>
              <a:rPr lang="en-US" dirty="0"/>
              <a:t>It is also irreducible = positive probability of going between any two states.</a:t>
            </a:r>
            <a:r>
              <a:rPr lang="en-US" baseline="0" dirty="0"/>
              <a:t> </a:t>
            </a:r>
            <a:r>
              <a:rPr lang="en-US" dirty="0"/>
              <a:t>Bring out a deck for discussion.</a:t>
            </a:r>
          </a:p>
        </p:txBody>
      </p:sp>
    </p:spTree>
    <p:extLst>
      <p:ext uri="{BB962C8B-B14F-4D97-AF65-F5344CB8AC3E}">
        <p14:creationId xmlns:p14="http://schemas.microsoft.com/office/powerpoint/2010/main" val="3428493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matrix is a very big</a:t>
            </a:r>
            <a:r>
              <a:rPr lang="en-US" baseline="0" dirty="0"/>
              <a:t> matrix where rows and columns are all possible orderings of cards in a deck. go from any ordering to the same ordering with a random card on top. (52! By 52!)</a:t>
            </a:r>
          </a:p>
          <a:p>
            <a:r>
              <a:rPr lang="en-US" baseline="0" dirty="0"/>
              <a:t>There are more efficient sorts. For example, “riffle shuffle,” where cards are interleaved results in convergence to stationary distribution in about 7 shuffles! </a:t>
            </a:r>
          </a:p>
          <a:p>
            <a:r>
              <a:rPr lang="en-US" baseline="0" dirty="0"/>
              <a:t>Random to top is about 52 log 52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A5FEAB-8C09-D54B-A9EB-E5130446A3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73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53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2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Geometric convergence</a:t>
            </a:r>
            <a:r>
              <a:rPr lang="en-US" baseline="0" dirty="0"/>
              <a:t> with rate of eigenvalue 2 over 1 (.8/1, so converges somewhat slowly – due to low mixing between states)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B5C30-D446-1041-B423-798728FCB85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704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unique. 0 is defined to not count as an eigenvector.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44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full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12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3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29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A284C-79A3-AE45-A29D-322D8EC7B22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54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1D2D2-8CA7-204F-96A0-F8F57D67637B}" type="slidenum">
              <a:rPr lang="en-US"/>
              <a:pPr/>
              <a:t>17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76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1D2D2-8CA7-204F-96A0-F8F57D67637B}" type="slidenum">
              <a:rPr lang="en-US"/>
              <a:pPr/>
              <a:t>18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Recommendation systems</a:t>
            </a:r>
          </a:p>
        </p:txBody>
      </p:sp>
    </p:spTree>
    <p:extLst>
      <p:ext uri="{BB962C8B-B14F-4D97-AF65-F5344CB8AC3E}">
        <p14:creationId xmlns:p14="http://schemas.microsoft.com/office/powerpoint/2010/main" val="1891938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1D2D2-8CA7-204F-96A0-F8F57D67637B}" type="slidenum">
              <a:rPr lang="en-US"/>
              <a:pPr/>
              <a:t>28</a:t>
            </a:fld>
            <a:endParaRPr lang="en-US"/>
          </a:p>
        </p:txBody>
      </p:sp>
      <p:sp>
        <p:nvSpPr>
          <p:cNvPr id="1184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84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r>
              <a:rPr lang="en-US" dirty="0"/>
              <a:t>Recommendation systems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372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401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12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58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718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51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706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82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cares?  Height vs.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9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cares?  Height vs.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850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A3567E-6F69-C546-BA98-45FFEFB0AE6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113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113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94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866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595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8A63-2409-0241-8255-D95D06F653A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2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3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449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85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3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6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3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0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A15393-3CCC-4343-B59B-737CD1DF1100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155EF-18F2-0A4E-9AF3-3F3A98326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1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jpg"/><Relationship Id="rId4" Type="http://schemas.openxmlformats.org/officeDocument/2006/relationships/image" Target="../media/image6.png"/><Relationship Id="rId9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emf"/><Relationship Id="rId5" Type="http://schemas.openxmlformats.org/officeDocument/2006/relationships/image" Target="../media/image15.emf"/><Relationship Id="rId10" Type="http://schemas.openxmlformats.org/officeDocument/2006/relationships/image" Target="../media/image20.emf"/><Relationship Id="rId4" Type="http://schemas.openxmlformats.org/officeDocument/2006/relationships/image" Target="../media/image14.emf"/><Relationship Id="rId9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27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12" Type="http://schemas.openxmlformats.org/officeDocument/2006/relationships/image" Target="../media/image2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5.emf"/><Relationship Id="rId5" Type="http://schemas.openxmlformats.org/officeDocument/2006/relationships/image" Target="../media/image15.emf"/><Relationship Id="rId10" Type="http://schemas.openxmlformats.org/officeDocument/2006/relationships/image" Target="../media/image24.emf"/><Relationship Id="rId4" Type="http://schemas.openxmlformats.org/officeDocument/2006/relationships/image" Target="../media/image14.emf"/><Relationship Id="rId9" Type="http://schemas.openxmlformats.org/officeDocument/2006/relationships/image" Target="../media/image2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customXml" Target="../ink/ink3.xml"/><Relationship Id="rId3" Type="http://schemas.openxmlformats.org/officeDocument/2006/relationships/tags" Target="../tags/tag3.xml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tags" Target="../tags/tag2.xml"/><Relationship Id="rId16" Type="http://schemas.openxmlformats.org/officeDocument/2006/relationships/image" Target="../media/image34.png"/><Relationship Id="rId1" Type="http://schemas.openxmlformats.org/officeDocument/2006/relationships/tags" Target="../tags/tag1.xml"/><Relationship Id="rId6" Type="http://schemas.openxmlformats.org/officeDocument/2006/relationships/image" Target="../media/image28.png"/><Relationship Id="rId11" Type="http://schemas.openxmlformats.org/officeDocument/2006/relationships/image" Target="../media/image31.png"/><Relationship Id="rId5" Type="http://schemas.openxmlformats.org/officeDocument/2006/relationships/notesSlide" Target="../notesSlides/notesSlide8.xml"/><Relationship Id="rId15" Type="http://schemas.openxmlformats.org/officeDocument/2006/relationships/customXml" Target="../ink/ink4.xml"/><Relationship Id="rId10" Type="http://schemas.openxmlformats.org/officeDocument/2006/relationships/customXml" Target="../ink/ink2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0.png"/><Relationship Id="rId1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gi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tif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tif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if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794" y="1721194"/>
            <a:ext cx="8998890" cy="1470025"/>
          </a:xfrm>
        </p:spPr>
        <p:txBody>
          <a:bodyPr/>
          <a:lstStyle/>
          <a:p>
            <a:r>
              <a:rPr lang="en-US" dirty="0"/>
              <a:t>Markov Chains and Networks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229125" y="4086470"/>
            <a:ext cx="5914875" cy="26475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PSYCH/COMP SCI/BMI 841: Computational Cognitive Science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Joseph Austerweil</a:t>
            </a:r>
          </a:p>
          <a:p>
            <a:r>
              <a:rPr lang="en-US" dirty="0">
                <a:solidFill>
                  <a:schemeClr val="tx1"/>
                </a:solidFill>
              </a:rPr>
              <a:t>March 6, 2025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10" y="3946986"/>
            <a:ext cx="3344993" cy="26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25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DF59-8DDC-3614-EEB3-0384B181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F0C7-ACE2-FCAF-C693-9B18B8E88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Markov Chains</a:t>
            </a:r>
          </a:p>
          <a:p>
            <a:r>
              <a:rPr lang="en-US" dirty="0"/>
              <a:t>Network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Karl presenting </a:t>
            </a:r>
            <a:r>
              <a:rPr lang="en-US" dirty="0" err="1"/>
              <a:t>Muhkerjee</a:t>
            </a:r>
            <a:r>
              <a:rPr lang="en-US" dirty="0"/>
              <a:t> et al (2017)</a:t>
            </a:r>
          </a:p>
          <a:p>
            <a:pPr lvl="1"/>
            <a:r>
              <a:rPr lang="en-US" dirty="0" err="1"/>
              <a:t>Bujji</a:t>
            </a:r>
            <a:r>
              <a:rPr lang="en-US" dirty="0"/>
              <a:t> presenting Griffiths et al. (2007)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Aakash + Ashwini presenting Abbott et al. (2012)</a:t>
            </a:r>
          </a:p>
          <a:p>
            <a:pPr lvl="1"/>
            <a:r>
              <a:rPr lang="en-US" dirty="0"/>
              <a:t>Caleb presenting </a:t>
            </a:r>
            <a:r>
              <a:rPr lang="en-US" dirty="0" err="1"/>
              <a:t>Zemla</a:t>
            </a:r>
            <a:r>
              <a:rPr lang="en-US" dirty="0"/>
              <a:t> and Austerweil (2019)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48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0B844-C8D6-871E-2E6D-933FA980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79"/>
            <a:ext cx="8229600" cy="689458"/>
          </a:xfrm>
        </p:spPr>
        <p:txBody>
          <a:bodyPr>
            <a:normAutofit fontScale="90000"/>
          </a:bodyPr>
          <a:lstStyle/>
          <a:p>
            <a:r>
              <a:rPr lang="en-US" dirty="0"/>
              <a:t>Administrative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9CC3-800A-DE11-B68C-C05431A3E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14647"/>
            <a:ext cx="9144000" cy="600097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Caught up on last week’s discussion posts, but now that I’m delayed, it will take a bit to catch up.</a:t>
            </a:r>
          </a:p>
          <a:p>
            <a:endParaRPr lang="en-US" sz="1600" dirty="0"/>
          </a:p>
          <a:p>
            <a:r>
              <a:rPr lang="en-US" dirty="0"/>
              <a:t>Generalization Assignment was due yesterday at 8:59pm</a:t>
            </a:r>
          </a:p>
          <a:p>
            <a:pPr lvl="1"/>
            <a:r>
              <a:rPr lang="en-US" dirty="0"/>
              <a:t>Remember you have three “free” late days for assignments.</a:t>
            </a:r>
          </a:p>
          <a:p>
            <a:pPr lvl="1"/>
            <a:r>
              <a:rPr lang="en-US" dirty="0"/>
              <a:t>Late days do not prorate (used up in 24-hour chunks).</a:t>
            </a:r>
          </a:p>
          <a:p>
            <a:pPr lvl="1"/>
            <a:r>
              <a:rPr lang="en-US" dirty="0"/>
              <a:t>Some folks are still turning this in, so we’ll chat about it next week.</a:t>
            </a:r>
          </a:p>
          <a:p>
            <a:endParaRPr lang="en-US" sz="1600" dirty="0"/>
          </a:p>
          <a:p>
            <a:r>
              <a:rPr lang="en-US" dirty="0"/>
              <a:t>Project proposal due next Wednesday Mar 12 8:59pm</a:t>
            </a:r>
          </a:p>
          <a:p>
            <a:pPr lvl="1"/>
            <a:r>
              <a:rPr lang="en-US" dirty="0"/>
              <a:t>No late days for project proposal (or final paper/presentation)</a:t>
            </a:r>
          </a:p>
          <a:p>
            <a:endParaRPr lang="en-US" sz="1600" dirty="0"/>
          </a:p>
          <a:p>
            <a:r>
              <a:rPr lang="en-US" dirty="0"/>
              <a:t>Assignment 3 just went out and is due April 2 at 8:59pm</a:t>
            </a:r>
          </a:p>
          <a:p>
            <a:endParaRPr lang="en-US" dirty="0"/>
          </a:p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1914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45F54-1E7E-52DF-EF36-09DD913F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381F5-01E3-7CDA-9825-C2661E44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Markov Chains</a:t>
            </a:r>
          </a:p>
          <a:p>
            <a:r>
              <a:rPr lang="en-US" dirty="0"/>
              <a:t>Network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Karl presenting </a:t>
            </a:r>
            <a:r>
              <a:rPr lang="en-US" dirty="0" err="1"/>
              <a:t>Muhkerjee</a:t>
            </a:r>
            <a:r>
              <a:rPr lang="en-US" dirty="0"/>
              <a:t> et al (2017)</a:t>
            </a:r>
          </a:p>
          <a:p>
            <a:pPr lvl="1"/>
            <a:r>
              <a:rPr lang="en-US" dirty="0" err="1"/>
              <a:t>Bujji</a:t>
            </a:r>
            <a:r>
              <a:rPr lang="en-US" dirty="0"/>
              <a:t> presenting Griffiths et al. (2007)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Aakash + Ashwini presenting Abbott et al. (2012)</a:t>
            </a:r>
          </a:p>
          <a:p>
            <a:pPr lvl="1"/>
            <a:r>
              <a:rPr lang="en-US" dirty="0"/>
              <a:t>Caleb presenting </a:t>
            </a:r>
            <a:r>
              <a:rPr lang="en-US" dirty="0" err="1"/>
              <a:t>Zemla</a:t>
            </a:r>
            <a:r>
              <a:rPr lang="en-US" dirty="0"/>
              <a:t> and Austerweil (2019)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035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118" name="Rectangle 22"/>
          <p:cNvSpPr>
            <a:spLocks noGrp="1" noChangeArrowheads="1"/>
          </p:cNvSpPr>
          <p:nvPr>
            <p:ph type="title"/>
          </p:nvPr>
        </p:nvSpPr>
        <p:spPr>
          <a:xfrm>
            <a:off x="457200" y="13510"/>
            <a:ext cx="8229600" cy="873710"/>
          </a:xfrm>
        </p:spPr>
        <p:txBody>
          <a:bodyPr/>
          <a:lstStyle/>
          <a:p>
            <a:r>
              <a:rPr lang="en-US" dirty="0"/>
              <a:t>Markov</a:t>
            </a:r>
          </a:p>
        </p:txBody>
      </p:sp>
      <p:pic>
        <p:nvPicPr>
          <p:cNvPr id="26" name="Picture 25" descr="AAMarkov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9814" y="1265499"/>
            <a:ext cx="2619202" cy="34126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928" y="5944388"/>
            <a:ext cx="8712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Given the present, the future is independent of the past.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9140"/>
            <a:ext cx="2777045" cy="4232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7186" y="5241779"/>
            <a:ext cx="2040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Really Past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4712" y="5241779"/>
            <a:ext cx="1580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Past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709" y="5241779"/>
            <a:ext cx="1580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Less Past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648896-9131-4CFF-A2B6-50FFB5D77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585" y="1144993"/>
            <a:ext cx="2416151" cy="341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38367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4679950"/>
            <a:ext cx="8391525" cy="18764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Variables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baseline="30000" dirty="0"/>
              <a:t>(</a:t>
            </a:r>
            <a:r>
              <a:rPr lang="en-US" i="1" baseline="30000" dirty="0"/>
              <a:t>t</a:t>
            </a:r>
            <a:r>
              <a:rPr lang="en-US" baseline="30000" dirty="0"/>
              <a:t>+1)</a:t>
            </a:r>
            <a:r>
              <a:rPr lang="en-US" dirty="0"/>
              <a:t> independent of history given </a:t>
            </a:r>
            <a:r>
              <a:rPr lang="en-US" b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baseline="300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i="1" baseline="30000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baseline="30000" dirty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Converges to a </a:t>
            </a:r>
            <a:r>
              <a:rPr lang="en-US" i="1" dirty="0"/>
              <a:t>stationary distribution</a:t>
            </a:r>
            <a:r>
              <a:rPr lang="en-US" dirty="0"/>
              <a:t> in most situations (i.e., if it is </a:t>
            </a:r>
            <a:r>
              <a:rPr lang="en-US" i="1" dirty="0"/>
              <a:t>ergodic</a:t>
            </a:r>
            <a:r>
              <a:rPr lang="en-US" dirty="0"/>
              <a:t>).</a:t>
            </a:r>
          </a:p>
        </p:txBody>
      </p:sp>
      <p:sp>
        <p:nvSpPr>
          <p:cNvPr id="1156099" name="Text Box 3"/>
          <p:cNvSpPr txBox="1">
            <a:spLocks noChangeArrowheads="1"/>
          </p:cNvSpPr>
          <p:nvPr/>
        </p:nvSpPr>
        <p:spPr bwMode="auto">
          <a:xfrm>
            <a:off x="654050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 dirty="0"/>
              <a:t>x</a:t>
            </a:r>
            <a:endParaRPr lang="en-US" sz="2000" i="1" dirty="0"/>
          </a:p>
        </p:txBody>
      </p:sp>
      <p:sp>
        <p:nvSpPr>
          <p:cNvPr id="1156100" name="Text Box 4"/>
          <p:cNvSpPr txBox="1">
            <a:spLocks noChangeArrowheads="1"/>
          </p:cNvSpPr>
          <p:nvPr/>
        </p:nvSpPr>
        <p:spPr bwMode="auto">
          <a:xfrm>
            <a:off x="1739900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</a:p>
        </p:txBody>
      </p:sp>
      <p:sp>
        <p:nvSpPr>
          <p:cNvPr id="1156101" name="Line 5"/>
          <p:cNvSpPr>
            <a:spLocks noChangeShapeType="1"/>
          </p:cNvSpPr>
          <p:nvPr/>
        </p:nvSpPr>
        <p:spPr bwMode="auto">
          <a:xfrm>
            <a:off x="-69850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02" name="Line 6"/>
          <p:cNvSpPr>
            <a:spLocks noChangeShapeType="1"/>
          </p:cNvSpPr>
          <p:nvPr/>
        </p:nvSpPr>
        <p:spPr bwMode="auto">
          <a:xfrm>
            <a:off x="1016000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03" name="Text Box 7"/>
          <p:cNvSpPr txBox="1">
            <a:spLocks noChangeArrowheads="1"/>
          </p:cNvSpPr>
          <p:nvPr/>
        </p:nvSpPr>
        <p:spPr bwMode="auto">
          <a:xfrm>
            <a:off x="2817813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  <a:endParaRPr lang="en-US" sz="2000" i="1"/>
          </a:p>
        </p:txBody>
      </p:sp>
      <p:sp>
        <p:nvSpPr>
          <p:cNvPr id="1156104" name="Text Box 8"/>
          <p:cNvSpPr txBox="1">
            <a:spLocks noChangeArrowheads="1"/>
          </p:cNvSpPr>
          <p:nvPr/>
        </p:nvSpPr>
        <p:spPr bwMode="auto">
          <a:xfrm>
            <a:off x="3903663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</a:p>
        </p:txBody>
      </p:sp>
      <p:sp>
        <p:nvSpPr>
          <p:cNvPr id="1156105" name="Line 9"/>
          <p:cNvSpPr>
            <a:spLocks noChangeShapeType="1"/>
          </p:cNvSpPr>
          <p:nvPr/>
        </p:nvSpPr>
        <p:spPr bwMode="auto">
          <a:xfrm>
            <a:off x="2093913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06" name="Line 10"/>
          <p:cNvSpPr>
            <a:spLocks noChangeShapeType="1"/>
          </p:cNvSpPr>
          <p:nvPr/>
        </p:nvSpPr>
        <p:spPr bwMode="auto">
          <a:xfrm>
            <a:off x="3179763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07" name="Text Box 11"/>
          <p:cNvSpPr txBox="1">
            <a:spLocks noChangeArrowheads="1"/>
          </p:cNvSpPr>
          <p:nvPr/>
        </p:nvSpPr>
        <p:spPr bwMode="auto">
          <a:xfrm>
            <a:off x="4986338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  <a:endParaRPr lang="en-US" sz="2000" i="1"/>
          </a:p>
        </p:txBody>
      </p:sp>
      <p:sp>
        <p:nvSpPr>
          <p:cNvPr id="1156108" name="Text Box 12"/>
          <p:cNvSpPr txBox="1">
            <a:spLocks noChangeArrowheads="1"/>
          </p:cNvSpPr>
          <p:nvPr/>
        </p:nvSpPr>
        <p:spPr bwMode="auto">
          <a:xfrm>
            <a:off x="6072188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</a:p>
        </p:txBody>
      </p:sp>
      <p:sp>
        <p:nvSpPr>
          <p:cNvPr id="1156109" name="Line 13"/>
          <p:cNvSpPr>
            <a:spLocks noChangeShapeType="1"/>
          </p:cNvSpPr>
          <p:nvPr/>
        </p:nvSpPr>
        <p:spPr bwMode="auto">
          <a:xfrm>
            <a:off x="4262438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0" name="Line 14"/>
          <p:cNvSpPr>
            <a:spLocks noChangeShapeType="1"/>
          </p:cNvSpPr>
          <p:nvPr/>
        </p:nvSpPr>
        <p:spPr bwMode="auto">
          <a:xfrm>
            <a:off x="5348288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1" name="Text Box 15"/>
          <p:cNvSpPr txBox="1">
            <a:spLocks noChangeArrowheads="1"/>
          </p:cNvSpPr>
          <p:nvPr/>
        </p:nvSpPr>
        <p:spPr bwMode="auto">
          <a:xfrm>
            <a:off x="7150100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  <a:endParaRPr lang="en-US" sz="2000" i="1"/>
          </a:p>
        </p:txBody>
      </p:sp>
      <p:sp>
        <p:nvSpPr>
          <p:cNvPr id="1156112" name="Text Box 16"/>
          <p:cNvSpPr txBox="1">
            <a:spLocks noChangeArrowheads="1"/>
          </p:cNvSpPr>
          <p:nvPr/>
        </p:nvSpPr>
        <p:spPr bwMode="auto">
          <a:xfrm>
            <a:off x="8235950" y="2195285"/>
            <a:ext cx="3641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000" b="1" i="1"/>
              <a:t>x</a:t>
            </a:r>
          </a:p>
        </p:txBody>
      </p:sp>
      <p:sp>
        <p:nvSpPr>
          <p:cNvPr id="1156113" name="Line 17"/>
          <p:cNvSpPr>
            <a:spLocks noChangeShapeType="1"/>
          </p:cNvSpPr>
          <p:nvPr/>
        </p:nvSpPr>
        <p:spPr bwMode="auto">
          <a:xfrm>
            <a:off x="6426200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4" name="Line 18"/>
          <p:cNvSpPr>
            <a:spLocks noChangeShapeType="1"/>
          </p:cNvSpPr>
          <p:nvPr/>
        </p:nvSpPr>
        <p:spPr bwMode="auto">
          <a:xfrm>
            <a:off x="7512050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5" name="Line 19"/>
          <p:cNvSpPr>
            <a:spLocks noChangeShapeType="1"/>
          </p:cNvSpPr>
          <p:nvPr/>
        </p:nvSpPr>
        <p:spPr bwMode="auto">
          <a:xfrm>
            <a:off x="8580438" y="2440700"/>
            <a:ext cx="666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6" name="AutoShape 20"/>
          <p:cNvSpPr>
            <a:spLocks noChangeArrowheads="1"/>
          </p:cNvSpPr>
          <p:nvPr/>
        </p:nvSpPr>
        <p:spPr bwMode="auto">
          <a:xfrm flipV="1">
            <a:off x="4349750" y="2535238"/>
            <a:ext cx="374650" cy="952500"/>
          </a:xfrm>
          <a:prstGeom prst="downArrow">
            <a:avLst>
              <a:gd name="adj1" fmla="val 50000"/>
              <a:gd name="adj2" fmla="val 63559"/>
            </a:avLst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17" name="Text Box 21"/>
          <p:cNvSpPr txBox="1">
            <a:spLocks noChangeArrowheads="1"/>
          </p:cNvSpPr>
          <p:nvPr/>
        </p:nvSpPr>
        <p:spPr bwMode="auto">
          <a:xfrm>
            <a:off x="3212321" y="3444875"/>
            <a:ext cx="26368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Transition matrix</a:t>
            </a:r>
          </a:p>
          <a:p>
            <a:pPr algn="ctr"/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P</a:t>
            </a:r>
            <a:r>
              <a:rPr lang="en-US" sz="2800" i="1" dirty="0">
                <a:latin typeface="Times New Roman" charset="0"/>
                <a:ea typeface="Times New Roman" charset="0"/>
                <a:cs typeface="Times New Roman" charset="0"/>
              </a:rPr>
              <a:t> = P</a:t>
            </a: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2800" baseline="300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sz="2800" i="1" baseline="30000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z="2800" baseline="30000" dirty="0">
                <a:latin typeface="Times New Roman" charset="0"/>
                <a:ea typeface="Times New Roman" charset="0"/>
                <a:cs typeface="Times New Roman" charset="0"/>
              </a:rPr>
              <a:t>+1)</a:t>
            </a: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|</a:t>
            </a:r>
            <a:r>
              <a:rPr lang="en-US" sz="2800" b="1" dirty="0">
                <a:latin typeface="Times New Roman" charset="0"/>
                <a:ea typeface="Times New Roman" charset="0"/>
                <a:cs typeface="Times New Roman" charset="0"/>
              </a:rPr>
              <a:t>x</a:t>
            </a:r>
            <a:r>
              <a:rPr lang="en-US" sz="2800" baseline="30000" dirty="0">
                <a:latin typeface="Times New Roman" charset="0"/>
                <a:ea typeface="Times New Roman" charset="0"/>
                <a:cs typeface="Times New Roman" charset="0"/>
              </a:rPr>
              <a:t>(</a:t>
            </a:r>
            <a:r>
              <a:rPr lang="en-US" sz="2800" i="1" baseline="30000" dirty="0">
                <a:latin typeface="Times New Roman" charset="0"/>
                <a:ea typeface="Times New Roman" charset="0"/>
                <a:cs typeface="Times New Roman" charset="0"/>
              </a:rPr>
              <a:t>t</a:t>
            </a:r>
            <a:r>
              <a:rPr lang="en-US" sz="2800" baseline="300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  <a:r>
              <a:rPr lang="en-US" sz="2800" dirty="0">
                <a:latin typeface="Times New Roman" charset="0"/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1156118" name="Rectangle 22"/>
          <p:cNvSpPr>
            <a:spLocks noGrp="1" noChangeArrowheads="1"/>
          </p:cNvSpPr>
          <p:nvPr>
            <p:ph type="title"/>
          </p:nvPr>
        </p:nvSpPr>
        <p:spPr>
          <a:xfrm>
            <a:off x="457200" y="13510"/>
            <a:ext cx="8229600" cy="873710"/>
          </a:xfrm>
        </p:spPr>
        <p:txBody>
          <a:bodyPr/>
          <a:lstStyle/>
          <a:p>
            <a:r>
              <a:rPr lang="en-US" dirty="0"/>
              <a:t>Markov chains</a:t>
            </a:r>
          </a:p>
        </p:txBody>
      </p:sp>
    </p:spTree>
    <p:extLst>
      <p:ext uri="{BB962C8B-B14F-4D97-AF65-F5344CB8AC3E}">
        <p14:creationId xmlns:p14="http://schemas.microsoft.com/office/powerpoint/2010/main" val="10644264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870725"/>
          </a:xfrm>
        </p:spPr>
        <p:txBody>
          <a:bodyPr/>
          <a:lstStyle/>
          <a:p>
            <a:r>
              <a:rPr lang="en-US" dirty="0"/>
              <a:t>Example: Card Shuffling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811" y="1122682"/>
            <a:ext cx="8663483" cy="1667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i="1" dirty="0"/>
              <a:t>shuffle</a:t>
            </a:r>
            <a:r>
              <a:rPr lang="en-US" dirty="0"/>
              <a:t> is a transition matrix of a Markov chain, whose states are the order of cards in a deck.</a:t>
            </a:r>
          </a:p>
          <a:p>
            <a:pPr marL="0" indent="0">
              <a:buNone/>
            </a:pPr>
            <a:r>
              <a:rPr lang="en-US" dirty="0"/>
              <a:t>E.g., </a:t>
            </a:r>
            <a:r>
              <a:rPr lang="en-US" i="1" dirty="0"/>
              <a:t>Move Random Card to Top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46649" y="2789695"/>
            <a:ext cx="3193880" cy="4068305"/>
            <a:chOff x="546649" y="2789695"/>
            <a:chExt cx="3193880" cy="4068305"/>
          </a:xfrm>
        </p:grpSpPr>
        <p:pic>
          <p:nvPicPr>
            <p:cNvPr id="5" name="Picture 4" descr="ace_spades1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6649" y="2789695"/>
              <a:ext cx="1573763" cy="2285333"/>
            </a:xfrm>
            <a:prstGeom prst="rect">
              <a:avLst/>
            </a:prstGeom>
          </p:spPr>
        </p:pic>
        <p:pic>
          <p:nvPicPr>
            <p:cNvPr id="6" name="Picture 5" descr="king-spades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586" y="2959799"/>
              <a:ext cx="1580073" cy="2431062"/>
            </a:xfrm>
            <a:prstGeom prst="rect">
              <a:avLst/>
            </a:prstGeom>
          </p:spPr>
        </p:pic>
        <p:pic>
          <p:nvPicPr>
            <p:cNvPr id="7" name="Picture 6" descr="queen-spades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387" y="3197942"/>
              <a:ext cx="1592049" cy="2449489"/>
            </a:xfrm>
            <a:prstGeom prst="rect">
              <a:avLst/>
            </a:prstGeom>
          </p:spPr>
        </p:pic>
        <p:pic>
          <p:nvPicPr>
            <p:cNvPr id="10" name="Picture 9" descr="The+Four+of+Clubs+Pokersm24B4c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6232" y="4218074"/>
              <a:ext cx="1528548" cy="2139967"/>
            </a:xfrm>
            <a:prstGeom prst="rect">
              <a:avLst/>
            </a:prstGeom>
          </p:spPr>
        </p:pic>
        <p:pic>
          <p:nvPicPr>
            <p:cNvPr id="9" name="Picture 8" descr="Three_Of_Clubs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0549" y="4610419"/>
              <a:ext cx="1376407" cy="1926970"/>
            </a:xfrm>
            <a:prstGeom prst="rect">
              <a:avLst/>
            </a:prstGeom>
          </p:spPr>
        </p:pic>
        <p:pic>
          <p:nvPicPr>
            <p:cNvPr id="8" name="Picture 7" descr="clubs02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84729" y="4964184"/>
              <a:ext cx="1355800" cy="1893816"/>
            </a:xfrm>
            <a:prstGeom prst="rect">
              <a:avLst/>
            </a:prstGeom>
          </p:spPr>
        </p:pic>
        <p:pic>
          <p:nvPicPr>
            <p:cNvPr id="13" name="Picture 12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0000">
              <a:off x="1501624" y="3633873"/>
              <a:ext cx="152400" cy="1168400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14" name="Right Arrow 13"/>
          <p:cNvSpPr/>
          <p:nvPr/>
        </p:nvSpPr>
        <p:spPr>
          <a:xfrm>
            <a:off x="3141080" y="3680574"/>
            <a:ext cx="1576210" cy="41958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5589621" y="2365054"/>
            <a:ext cx="3542209" cy="4466768"/>
            <a:chOff x="5589621" y="2365054"/>
            <a:chExt cx="3542209" cy="4466768"/>
          </a:xfrm>
        </p:grpSpPr>
        <p:pic>
          <p:nvPicPr>
            <p:cNvPr id="15" name="Picture 14" descr="img-thing.jpg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61" t="8032" r="17261" b="8627"/>
            <a:stretch/>
          </p:blipFill>
          <p:spPr>
            <a:xfrm>
              <a:off x="5589621" y="2365054"/>
              <a:ext cx="1764123" cy="2245365"/>
            </a:xfrm>
            <a:prstGeom prst="rect">
              <a:avLst/>
            </a:prstGeom>
          </p:spPr>
        </p:pic>
        <p:pic>
          <p:nvPicPr>
            <p:cNvPr id="16" name="Picture 15" descr="ace_spades1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7950" y="2763517"/>
              <a:ext cx="1573763" cy="2285333"/>
            </a:xfrm>
            <a:prstGeom prst="rect">
              <a:avLst/>
            </a:prstGeom>
          </p:spPr>
        </p:pic>
        <p:pic>
          <p:nvPicPr>
            <p:cNvPr id="17" name="Picture 16" descr="king-spades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9887" y="2933621"/>
              <a:ext cx="1580073" cy="2431062"/>
            </a:xfrm>
            <a:prstGeom prst="rect">
              <a:avLst/>
            </a:prstGeom>
          </p:spPr>
        </p:pic>
        <p:pic>
          <p:nvPicPr>
            <p:cNvPr id="18" name="Picture 17" descr="queen-spades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3688" y="3171764"/>
              <a:ext cx="1592049" cy="2449489"/>
            </a:xfrm>
            <a:prstGeom prst="rect">
              <a:avLst/>
            </a:prstGeom>
          </p:spPr>
        </p:pic>
        <p:pic>
          <p:nvPicPr>
            <p:cNvPr id="19" name="Picture 18" descr="The+Four+of+Clubs+Pokersm24B4c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533" y="4191896"/>
              <a:ext cx="1528548" cy="2139967"/>
            </a:xfrm>
            <a:prstGeom prst="rect">
              <a:avLst/>
            </a:prstGeom>
          </p:spPr>
        </p:pic>
        <p:pic>
          <p:nvPicPr>
            <p:cNvPr id="20" name="Picture 19" descr="Three_Of_Clubs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1850" y="4584241"/>
              <a:ext cx="1376407" cy="1926970"/>
            </a:xfrm>
            <a:prstGeom prst="rect">
              <a:avLst/>
            </a:prstGeom>
          </p:spPr>
        </p:pic>
        <p:pic>
          <p:nvPicPr>
            <p:cNvPr id="21" name="Picture 20" descr="clubs02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76030" y="4938006"/>
              <a:ext cx="1355800" cy="1893816"/>
            </a:xfrm>
            <a:prstGeom prst="rect">
              <a:avLst/>
            </a:prstGeom>
          </p:spPr>
        </p:pic>
        <p:pic>
          <p:nvPicPr>
            <p:cNvPr id="22" name="Picture 21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220000">
              <a:off x="6892925" y="3607695"/>
              <a:ext cx="152400" cy="1168400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23" name="TextBox 22"/>
          <p:cNvSpPr txBox="1"/>
          <p:nvPr/>
        </p:nvSpPr>
        <p:spPr>
          <a:xfrm>
            <a:off x="3834725" y="5393131"/>
            <a:ext cx="3222008" cy="1446550"/>
          </a:xfrm>
          <a:prstGeom prst="rect">
            <a:avLst/>
          </a:prstGeom>
          <a:noFill/>
          <a:ln w="19050" cmpd="sng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This will converge to a “shuffled deck” (uniform over orderings), which is its stationary distribution!</a:t>
            </a:r>
          </a:p>
        </p:txBody>
      </p:sp>
    </p:spTree>
    <p:extLst>
      <p:ext uri="{BB962C8B-B14F-4D97-AF65-F5344CB8AC3E}">
        <p14:creationId xmlns:p14="http://schemas.microsoft.com/office/powerpoint/2010/main" val="91606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30452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look at Markov chains/processes</a:t>
            </a:r>
          </a:p>
        </p:txBody>
      </p:sp>
      <p:sp>
        <p:nvSpPr>
          <p:cNvPr id="5" name="Oval 4"/>
          <p:cNvSpPr/>
          <p:nvPr/>
        </p:nvSpPr>
        <p:spPr>
          <a:xfrm>
            <a:off x="544263" y="3203909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p:sp>
        <p:nvSpPr>
          <p:cNvPr id="6" name="Oval 5"/>
          <p:cNvSpPr/>
          <p:nvPr/>
        </p:nvSpPr>
        <p:spPr>
          <a:xfrm>
            <a:off x="3236573" y="3203909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</a:t>
            </a:r>
          </a:p>
        </p:txBody>
      </p:sp>
      <p:cxnSp>
        <p:nvCxnSpPr>
          <p:cNvPr id="12" name="Curved Connector 11"/>
          <p:cNvCxnSpPr>
            <a:stCxn id="5" idx="2"/>
            <a:endCxn id="5" idx="4"/>
          </p:cNvCxnSpPr>
          <p:nvPr/>
        </p:nvCxnSpPr>
        <p:spPr>
          <a:xfrm rot="10800000" flipH="1" flipV="1">
            <a:off x="544263" y="3566753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6"/>
            <a:endCxn id="6" idx="4"/>
          </p:cNvCxnSpPr>
          <p:nvPr/>
        </p:nvCxnSpPr>
        <p:spPr>
          <a:xfrm flipH="1">
            <a:off x="3599417" y="3566753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5" idx="7"/>
            <a:endCxn id="6" idx="1"/>
          </p:cNvCxnSpPr>
          <p:nvPr/>
        </p:nvCxnSpPr>
        <p:spPr>
          <a:xfrm rot="5400000" flipH="1" flipV="1">
            <a:off x="2253262" y="2220598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5"/>
            <a:endCxn id="6" idx="3"/>
          </p:cNvCxnSpPr>
          <p:nvPr/>
        </p:nvCxnSpPr>
        <p:spPr>
          <a:xfrm rot="16200000" flipH="1">
            <a:off x="2253262" y="2733736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264" y="3077803"/>
            <a:ext cx="1879600" cy="977900"/>
          </a:xfrm>
          <a:prstGeom prst="rect">
            <a:avLst/>
          </a:prstGeom>
        </p:spPr>
      </p:pic>
      <p:pic>
        <p:nvPicPr>
          <p:cNvPr id="20" name="Picture 1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062" y="3122648"/>
            <a:ext cx="355600" cy="292100"/>
          </a:xfrm>
          <a:prstGeom prst="rect">
            <a:avLst/>
          </a:prstGeom>
        </p:spPr>
      </p:pic>
      <p:pic>
        <p:nvPicPr>
          <p:cNvPr id="21" name="Picture 2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770" y="3647317"/>
            <a:ext cx="292100" cy="279400"/>
          </a:xfrm>
          <a:prstGeom prst="rect">
            <a:avLst/>
          </a:prstGeom>
        </p:spPr>
      </p:pic>
      <p:pic>
        <p:nvPicPr>
          <p:cNvPr id="22" name="Picture 2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46" y="2782228"/>
            <a:ext cx="355600" cy="292100"/>
          </a:xfrm>
          <a:prstGeom prst="rect">
            <a:avLst/>
          </a:prstGeom>
        </p:spPr>
      </p:pic>
      <p:pic>
        <p:nvPicPr>
          <p:cNvPr id="23" name="Picture 2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382" y="2769313"/>
            <a:ext cx="292100" cy="279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7090" y="4128491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261" y="4029787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7595" y="2448823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7595" y="4217805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pic>
        <p:nvPicPr>
          <p:cNvPr id="32" name="Picture 31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214" y="3393317"/>
            <a:ext cx="368300" cy="254000"/>
          </a:xfrm>
          <a:prstGeom prst="rect">
            <a:avLst/>
          </a:prstGeom>
        </p:spPr>
      </p:pic>
      <p:pic>
        <p:nvPicPr>
          <p:cNvPr id="33" name="Picture 32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884" y="2435865"/>
            <a:ext cx="762000" cy="2921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055149" y="2962926"/>
            <a:ext cx="229753" cy="229753"/>
          </a:xfrm>
          <a:prstGeom prst="rect">
            <a:avLst/>
          </a:prstGeom>
          <a:solidFill>
            <a:srgbClr val="FF6600"/>
          </a:solidFill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93" y="4998120"/>
            <a:ext cx="1257300" cy="355600"/>
          </a:xfrm>
          <a:prstGeom prst="rect">
            <a:avLst/>
          </a:prstGeom>
        </p:spPr>
      </p:pic>
      <p:grpSp>
        <p:nvGrpSpPr>
          <p:cNvPr id="53" name="Group 52"/>
          <p:cNvGrpSpPr/>
          <p:nvPr/>
        </p:nvGrpSpPr>
        <p:grpSpPr>
          <a:xfrm>
            <a:off x="2755652" y="4892055"/>
            <a:ext cx="5175909" cy="461665"/>
            <a:chOff x="2755652" y="4892055"/>
            <a:chExt cx="5175909" cy="461665"/>
          </a:xfrm>
        </p:grpSpPr>
        <p:sp>
          <p:nvSpPr>
            <p:cNvPr id="36" name="TextBox 35"/>
            <p:cNvSpPr txBox="1"/>
            <p:nvPr/>
          </p:nvSpPr>
          <p:spPr>
            <a:xfrm>
              <a:off x="2755652" y="4892055"/>
              <a:ext cx="38523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Sample U[0,1] = 0.56 &lt; 0.9 =&gt; </a:t>
              </a:r>
            </a:p>
          </p:txBody>
        </p:sp>
        <p:pic>
          <p:nvPicPr>
            <p:cNvPr id="37" name="Picture 36" descr="latex-image-1.pdf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4261" y="4972204"/>
              <a:ext cx="1257300" cy="355600"/>
            </a:xfrm>
            <a:prstGeom prst="rect">
              <a:avLst/>
            </a:prstGeom>
          </p:spPr>
        </p:pic>
      </p:grpSp>
      <p:pic>
        <p:nvPicPr>
          <p:cNvPr id="38" name="Picture 37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93" y="5525286"/>
            <a:ext cx="1257300" cy="355600"/>
          </a:xfrm>
          <a:prstGeom prst="rect">
            <a:avLst/>
          </a:prstGeom>
        </p:spPr>
      </p:pic>
      <p:grpSp>
        <p:nvGrpSpPr>
          <p:cNvPr id="55" name="Group 54"/>
          <p:cNvGrpSpPr/>
          <p:nvPr/>
        </p:nvGrpSpPr>
        <p:grpSpPr>
          <a:xfrm>
            <a:off x="2755652" y="5418331"/>
            <a:ext cx="5198536" cy="461665"/>
            <a:chOff x="2755652" y="5418331"/>
            <a:chExt cx="5198536" cy="461665"/>
          </a:xfrm>
        </p:grpSpPr>
        <p:sp>
          <p:nvSpPr>
            <p:cNvPr id="39" name="TextBox 38"/>
            <p:cNvSpPr txBox="1"/>
            <p:nvPr/>
          </p:nvSpPr>
          <p:spPr>
            <a:xfrm>
              <a:off x="2755652" y="5418331"/>
              <a:ext cx="38523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Sample U[0,1] = 0.37 &lt; 0.9 =&gt; </a:t>
              </a:r>
            </a:p>
          </p:txBody>
        </p:sp>
        <p:pic>
          <p:nvPicPr>
            <p:cNvPr id="40" name="Picture 39" descr="latex-image-1.pdf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6888" y="5474468"/>
              <a:ext cx="1257300" cy="355600"/>
            </a:xfrm>
            <a:prstGeom prst="rect">
              <a:avLst/>
            </a:prstGeom>
          </p:spPr>
        </p:pic>
      </p:grpSp>
      <p:sp>
        <p:nvSpPr>
          <p:cNvPr id="41" name="Oval 40"/>
          <p:cNvSpPr/>
          <p:nvPr/>
        </p:nvSpPr>
        <p:spPr>
          <a:xfrm>
            <a:off x="5340500" y="1082104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sz="2000" baseline="-25000" dirty="0"/>
              <a:t>n+1</a:t>
            </a:r>
            <a:endParaRPr lang="en-US" sz="2000" dirty="0"/>
          </a:p>
        </p:txBody>
      </p:sp>
      <p:sp>
        <p:nvSpPr>
          <p:cNvPr id="43" name="Oval 42"/>
          <p:cNvSpPr/>
          <p:nvPr/>
        </p:nvSpPr>
        <p:spPr>
          <a:xfrm>
            <a:off x="2986411" y="1082104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S</a:t>
            </a:r>
            <a:r>
              <a:rPr lang="en-US" sz="2000" baseline="-25000" dirty="0" err="1"/>
              <a:t>n</a:t>
            </a:r>
            <a:endParaRPr lang="en-US" sz="2000" dirty="0"/>
          </a:p>
        </p:txBody>
      </p:sp>
      <p:cxnSp>
        <p:nvCxnSpPr>
          <p:cNvPr id="45" name="Straight Arrow Connector 44"/>
          <p:cNvCxnSpPr>
            <a:stCxn id="43" idx="6"/>
            <a:endCxn id="41" idx="2"/>
          </p:cNvCxnSpPr>
          <p:nvPr/>
        </p:nvCxnSpPr>
        <p:spPr>
          <a:xfrm>
            <a:off x="3823668" y="1500733"/>
            <a:ext cx="15168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6" name="Picture 45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93" y="6093354"/>
            <a:ext cx="1257300" cy="355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56496" y="6005483"/>
            <a:ext cx="3852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Sample U[0,1] = 0.96 &gt; 0.9 =&gt; </a:t>
            </a:r>
          </a:p>
        </p:txBody>
      </p:sp>
      <p:pic>
        <p:nvPicPr>
          <p:cNvPr id="48" name="Picture 47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888" y="6092079"/>
            <a:ext cx="1181100" cy="3429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23055" y="2032004"/>
            <a:ext cx="5025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u="sng" dirty="0"/>
              <a:t>Finite state automaton (machine) 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68646" y="1216477"/>
            <a:ext cx="1437563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Transition</a:t>
            </a:r>
          </a:p>
          <a:p>
            <a:pPr algn="ctr"/>
            <a:r>
              <a:rPr lang="en-US" sz="2400" dirty="0"/>
              <a:t>Matrix</a:t>
            </a:r>
          </a:p>
          <a:p>
            <a:pPr algn="ctr"/>
            <a:r>
              <a:rPr lang="en-US" sz="2400" u="sng" dirty="0"/>
              <a:t>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46062" y="3081781"/>
            <a:ext cx="2309803" cy="444105"/>
          </a:xfrm>
          <a:prstGeom prst="rect">
            <a:avLst/>
          </a:prstGeom>
          <a:solidFill>
            <a:srgbClr val="FF6600">
              <a:alpha val="29000"/>
            </a:srgbClr>
          </a:solidFill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02 -3.7037E-6 C -0.00226 -3.7037E-6 0.02708 0.03866 0.02708 0.08658 C 0.02708 0.13426 -0.00226 0.17338 -0.03802 0.17338 C -0.07396 0.17338 -0.10295 0.13426 -0.10295 0.08658 C -0.10295 0.03866 -0.07396 -3.7037E-6 -0.03802 -3.7037E-6 Z " pathEditMode="relative" rAng="0" ptsTypes="fffff">
                                      <p:cBhvr>
                                        <p:cTn id="1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02 -1.11111E-6 C -0.00347 -1.11111E-6 0.02483 0.0375 0.02483 0.0838 C 0.02483 0.12986 -0.00347 0.16759 -0.03802 0.16759 C -0.07274 0.16759 -0.10087 0.12986 -0.10087 0.0838 C -0.10087 0.0375 -0.07274 -1.11111E-6 -0.03802 -1.11111E-6 Z " pathEditMode="relative" rAng="0" ptsTypes="fffff">
                                      <p:cBhvr>
                                        <p:cTn id="2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3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1.11111E-6 L 0.06702 -0.02222 C 0.08108 -0.02708 0.10208 -0.02986 0.12396 -0.02986 C 0.14896 -0.02986 0.16893 -0.02708 0.18299 -0.02222 L 0.25 -1.11111E-6 " pathEditMode="relative" rAng="0" ptsTypes="FffFF">
                                      <p:cBhvr>
                                        <p:cTn id="3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96296E-6 L 2.5E-6 0.07871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4" grpId="2" animBg="1"/>
      <p:bldP spid="47" grpId="0"/>
      <p:bldP spid="5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30452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look at Markov chains/processes</a:t>
            </a:r>
          </a:p>
        </p:txBody>
      </p:sp>
      <p:sp>
        <p:nvSpPr>
          <p:cNvPr id="5" name="Oval 4"/>
          <p:cNvSpPr/>
          <p:nvPr/>
        </p:nvSpPr>
        <p:spPr>
          <a:xfrm>
            <a:off x="544263" y="2883077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p:sp>
        <p:nvSpPr>
          <p:cNvPr id="6" name="Oval 5"/>
          <p:cNvSpPr/>
          <p:nvPr/>
        </p:nvSpPr>
        <p:spPr>
          <a:xfrm>
            <a:off x="3236573" y="2883077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</a:t>
            </a:r>
          </a:p>
        </p:txBody>
      </p:sp>
      <p:cxnSp>
        <p:nvCxnSpPr>
          <p:cNvPr id="12" name="Curved Connector 11"/>
          <p:cNvCxnSpPr>
            <a:stCxn id="5" idx="2"/>
            <a:endCxn id="5" idx="4"/>
          </p:cNvCxnSpPr>
          <p:nvPr/>
        </p:nvCxnSpPr>
        <p:spPr>
          <a:xfrm rot="10800000" flipH="1" flipV="1">
            <a:off x="544263" y="3245921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6"/>
            <a:endCxn id="6" idx="4"/>
          </p:cNvCxnSpPr>
          <p:nvPr/>
        </p:nvCxnSpPr>
        <p:spPr>
          <a:xfrm flipH="1">
            <a:off x="3599417" y="3245921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5" idx="7"/>
            <a:endCxn id="6" idx="1"/>
          </p:cNvCxnSpPr>
          <p:nvPr/>
        </p:nvCxnSpPr>
        <p:spPr>
          <a:xfrm rot="5400000" flipH="1" flipV="1">
            <a:off x="2253262" y="1899766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5"/>
            <a:endCxn id="6" idx="3"/>
          </p:cNvCxnSpPr>
          <p:nvPr/>
        </p:nvCxnSpPr>
        <p:spPr>
          <a:xfrm rot="16200000" flipH="1">
            <a:off x="2253262" y="2412904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264" y="2756971"/>
            <a:ext cx="1879600" cy="977900"/>
          </a:xfrm>
          <a:prstGeom prst="rect">
            <a:avLst/>
          </a:prstGeom>
        </p:spPr>
      </p:pic>
      <p:pic>
        <p:nvPicPr>
          <p:cNvPr id="20" name="Picture 1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062" y="2801816"/>
            <a:ext cx="355600" cy="292100"/>
          </a:xfrm>
          <a:prstGeom prst="rect">
            <a:avLst/>
          </a:prstGeom>
        </p:spPr>
      </p:pic>
      <p:pic>
        <p:nvPicPr>
          <p:cNvPr id="21" name="Picture 2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770" y="3326485"/>
            <a:ext cx="292100" cy="279400"/>
          </a:xfrm>
          <a:prstGeom prst="rect">
            <a:avLst/>
          </a:prstGeom>
        </p:spPr>
      </p:pic>
      <p:pic>
        <p:nvPicPr>
          <p:cNvPr id="22" name="Picture 2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46" y="2461396"/>
            <a:ext cx="355600" cy="292100"/>
          </a:xfrm>
          <a:prstGeom prst="rect">
            <a:avLst/>
          </a:prstGeom>
        </p:spPr>
      </p:pic>
      <p:pic>
        <p:nvPicPr>
          <p:cNvPr id="23" name="Picture 2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382" y="2448481"/>
            <a:ext cx="292100" cy="279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7090" y="3807659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261" y="3708955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7595" y="2127991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7595" y="3896973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pic>
        <p:nvPicPr>
          <p:cNvPr id="32" name="Picture 31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214" y="3072485"/>
            <a:ext cx="368300" cy="254000"/>
          </a:xfrm>
          <a:prstGeom prst="rect">
            <a:avLst/>
          </a:prstGeom>
        </p:spPr>
      </p:pic>
      <p:pic>
        <p:nvPicPr>
          <p:cNvPr id="33" name="Picture 32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884" y="2115033"/>
            <a:ext cx="762000" cy="2921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92230" y="2589656"/>
            <a:ext cx="229753" cy="229753"/>
          </a:xfrm>
          <a:prstGeom prst="rect">
            <a:avLst/>
          </a:prstGeom>
          <a:solidFill>
            <a:srgbClr val="FF6600"/>
          </a:solidFill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340500" y="1295992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sz="2000" baseline="-25000" dirty="0"/>
              <a:t>n+1</a:t>
            </a:r>
            <a:endParaRPr lang="en-US" sz="2000" dirty="0"/>
          </a:p>
        </p:txBody>
      </p:sp>
      <p:sp>
        <p:nvSpPr>
          <p:cNvPr id="43" name="Oval 42"/>
          <p:cNvSpPr/>
          <p:nvPr/>
        </p:nvSpPr>
        <p:spPr>
          <a:xfrm>
            <a:off x="2986411" y="1295992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S</a:t>
            </a:r>
            <a:r>
              <a:rPr lang="en-US" sz="2000" baseline="-25000" dirty="0" err="1"/>
              <a:t>n</a:t>
            </a:r>
            <a:endParaRPr lang="en-US" sz="2000" dirty="0"/>
          </a:p>
        </p:txBody>
      </p:sp>
      <p:cxnSp>
        <p:nvCxnSpPr>
          <p:cNvPr id="45" name="Straight Arrow Connector 44"/>
          <p:cNvCxnSpPr>
            <a:stCxn id="43" idx="6"/>
            <a:endCxn id="41" idx="2"/>
          </p:cNvCxnSpPr>
          <p:nvPr/>
        </p:nvCxnSpPr>
        <p:spPr>
          <a:xfrm>
            <a:off x="3823668" y="1714621"/>
            <a:ext cx="15168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0397" y="4358638"/>
            <a:ext cx="89568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Samples from this process (starting at H):</a:t>
            </a:r>
          </a:p>
          <a:p>
            <a:r>
              <a:rPr lang="en-US" sz="2400" dirty="0">
                <a:latin typeface="Courier"/>
                <a:cs typeface="Courier"/>
              </a:rPr>
              <a:t>HHHHHHHTTTTTTTTTTTTT			HHHHHHHHTTTTHHHHHHHH</a:t>
            </a:r>
          </a:p>
          <a:p>
            <a:r>
              <a:rPr lang="en-US" sz="2400" dirty="0">
                <a:latin typeface="Courier"/>
                <a:cs typeface="Courier"/>
              </a:rPr>
              <a:t>HHHHHHHHTTTTTHHHTHHH			HHHHHHHTTTTTTTTTTTTT</a:t>
            </a:r>
          </a:p>
          <a:p>
            <a:r>
              <a:rPr lang="en-US" sz="2400" dirty="0">
                <a:latin typeface="Courier"/>
                <a:cs typeface="Courier"/>
              </a:rPr>
              <a:t>HHHHHHHTTTTTTTTTTTTT			HHHHHHHHHTTTTTTTTTTT</a:t>
            </a:r>
          </a:p>
          <a:p>
            <a:r>
              <a:rPr lang="en-US" sz="2400" dirty="0">
                <a:latin typeface="Courier"/>
                <a:cs typeface="Courier"/>
              </a:rPr>
              <a:t>HHHHTTTHHHHHHHHHHHHH			HHHHHTTTTTTTTTTTTTTT</a:t>
            </a:r>
          </a:p>
          <a:p>
            <a:r>
              <a:rPr lang="en-US" sz="2400" dirty="0">
                <a:latin typeface="Courier"/>
                <a:cs typeface="Courier"/>
              </a:rPr>
              <a:t>HHHHHHHHHTTTTTTTTTTT			HHTTTTTTTTTTTTTTTTTT</a:t>
            </a:r>
          </a:p>
        </p:txBody>
      </p:sp>
    </p:spTree>
    <p:extLst>
      <p:ext uri="{BB962C8B-B14F-4D97-AF65-F5344CB8AC3E}">
        <p14:creationId xmlns:p14="http://schemas.microsoft.com/office/powerpoint/2010/main" val="246527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30452"/>
          </a:xfrm>
        </p:spPr>
        <p:txBody>
          <a:bodyPr>
            <a:normAutofit fontScale="90000"/>
          </a:bodyPr>
          <a:lstStyle/>
          <a:p>
            <a:r>
              <a:rPr lang="en-US" dirty="0"/>
              <a:t>Another look at Markov chains/processes</a:t>
            </a:r>
          </a:p>
        </p:txBody>
      </p:sp>
      <p:sp>
        <p:nvSpPr>
          <p:cNvPr id="5" name="Oval 4"/>
          <p:cNvSpPr/>
          <p:nvPr/>
        </p:nvSpPr>
        <p:spPr>
          <a:xfrm>
            <a:off x="544263" y="2669189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H</a:t>
            </a:r>
          </a:p>
        </p:txBody>
      </p:sp>
      <p:sp>
        <p:nvSpPr>
          <p:cNvPr id="6" name="Oval 5"/>
          <p:cNvSpPr/>
          <p:nvPr/>
        </p:nvSpPr>
        <p:spPr>
          <a:xfrm>
            <a:off x="3236573" y="2669189"/>
            <a:ext cx="725688" cy="7256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</a:t>
            </a:r>
          </a:p>
        </p:txBody>
      </p:sp>
      <p:cxnSp>
        <p:nvCxnSpPr>
          <p:cNvPr id="12" name="Curved Connector 11"/>
          <p:cNvCxnSpPr>
            <a:stCxn id="5" idx="2"/>
            <a:endCxn id="5" idx="4"/>
          </p:cNvCxnSpPr>
          <p:nvPr/>
        </p:nvCxnSpPr>
        <p:spPr>
          <a:xfrm rot="10800000" flipH="1" flipV="1">
            <a:off x="544263" y="3032033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6" idx="6"/>
            <a:endCxn id="6" idx="4"/>
          </p:cNvCxnSpPr>
          <p:nvPr/>
        </p:nvCxnSpPr>
        <p:spPr>
          <a:xfrm flipH="1">
            <a:off x="3599417" y="3032033"/>
            <a:ext cx="362844" cy="362844"/>
          </a:xfrm>
          <a:prstGeom prst="curvedConnector4">
            <a:avLst>
              <a:gd name="adj1" fmla="val -63002"/>
              <a:gd name="adj2" fmla="val 16300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5" idx="7"/>
            <a:endCxn id="6" idx="1"/>
          </p:cNvCxnSpPr>
          <p:nvPr/>
        </p:nvCxnSpPr>
        <p:spPr>
          <a:xfrm rot="5400000" flipH="1" flipV="1">
            <a:off x="2253262" y="1685878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5"/>
            <a:endCxn id="6" idx="3"/>
          </p:cNvCxnSpPr>
          <p:nvPr/>
        </p:nvCxnSpPr>
        <p:spPr>
          <a:xfrm rot="16200000" flipH="1">
            <a:off x="2253262" y="2199016"/>
            <a:ext cx="12700" cy="2179172"/>
          </a:xfrm>
          <a:prstGeom prst="curvedConnector3">
            <a:avLst>
              <a:gd name="adj1" fmla="val 2636811"/>
            </a:avLst>
          </a:prstGeom>
          <a:ln>
            <a:prstDash val="dash"/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264" y="2543083"/>
            <a:ext cx="1879600" cy="977900"/>
          </a:xfrm>
          <a:prstGeom prst="rect">
            <a:avLst/>
          </a:prstGeom>
        </p:spPr>
      </p:pic>
      <p:pic>
        <p:nvPicPr>
          <p:cNvPr id="20" name="Picture 1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062" y="2587928"/>
            <a:ext cx="355600" cy="292100"/>
          </a:xfrm>
          <a:prstGeom prst="rect">
            <a:avLst/>
          </a:prstGeom>
        </p:spPr>
      </p:pic>
      <p:pic>
        <p:nvPicPr>
          <p:cNvPr id="21" name="Picture 20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770" y="3112597"/>
            <a:ext cx="292100" cy="279400"/>
          </a:xfrm>
          <a:prstGeom prst="rect">
            <a:avLst/>
          </a:prstGeom>
        </p:spPr>
      </p:pic>
      <p:pic>
        <p:nvPicPr>
          <p:cNvPr id="22" name="Picture 21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46" y="2247508"/>
            <a:ext cx="355600" cy="292100"/>
          </a:xfrm>
          <a:prstGeom prst="rect">
            <a:avLst/>
          </a:prstGeom>
        </p:spPr>
      </p:pic>
      <p:pic>
        <p:nvPicPr>
          <p:cNvPr id="23" name="Picture 22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382" y="2234593"/>
            <a:ext cx="292100" cy="279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7090" y="3593771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2261" y="3495067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37595" y="1914103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7595" y="3683085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p:pic>
        <p:nvPicPr>
          <p:cNvPr id="32" name="Picture 31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214" y="2858597"/>
            <a:ext cx="368300" cy="254000"/>
          </a:xfrm>
          <a:prstGeom prst="rect">
            <a:avLst/>
          </a:prstGeom>
        </p:spPr>
      </p:pic>
      <p:pic>
        <p:nvPicPr>
          <p:cNvPr id="33" name="Picture 32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884" y="1901145"/>
            <a:ext cx="762000" cy="2921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792230" y="2375768"/>
            <a:ext cx="229753" cy="229753"/>
          </a:xfrm>
          <a:prstGeom prst="rect">
            <a:avLst/>
          </a:prstGeom>
          <a:solidFill>
            <a:srgbClr val="FF6600"/>
          </a:solidFill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5340500" y="1082104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sz="2000" baseline="-25000" dirty="0"/>
              <a:t>n+1</a:t>
            </a:r>
            <a:endParaRPr lang="en-US" sz="2000" dirty="0"/>
          </a:p>
        </p:txBody>
      </p:sp>
      <p:sp>
        <p:nvSpPr>
          <p:cNvPr id="43" name="Oval 42"/>
          <p:cNvSpPr/>
          <p:nvPr/>
        </p:nvSpPr>
        <p:spPr>
          <a:xfrm>
            <a:off x="2986411" y="1082104"/>
            <a:ext cx="837257" cy="83725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S</a:t>
            </a:r>
            <a:r>
              <a:rPr lang="en-US" sz="2000" baseline="-25000" dirty="0"/>
              <a:t>n</a:t>
            </a:r>
            <a:endParaRPr lang="en-US" sz="2000" dirty="0"/>
          </a:p>
        </p:txBody>
      </p:sp>
      <p:cxnSp>
        <p:nvCxnSpPr>
          <p:cNvPr id="45" name="Straight Arrow Connector 44"/>
          <p:cNvCxnSpPr>
            <a:stCxn id="43" idx="6"/>
            <a:endCxn id="41" idx="2"/>
          </p:cNvCxnSpPr>
          <p:nvPr/>
        </p:nvCxnSpPr>
        <p:spPr>
          <a:xfrm>
            <a:off x="3823668" y="1500733"/>
            <a:ext cx="151683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40397" y="4174181"/>
            <a:ext cx="8910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cs typeface="Courier"/>
              </a:rPr>
              <a:t>What’s the stationary distribution?	    (intuitively ½, but how to see?)</a:t>
            </a:r>
          </a:p>
        </p:txBody>
      </p:sp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5" y="4892173"/>
            <a:ext cx="2552700" cy="749300"/>
          </a:xfrm>
          <a:prstGeom prst="rect">
            <a:avLst/>
          </a:prstGeom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05" y="5868403"/>
            <a:ext cx="2552700" cy="7493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5076" y="4892173"/>
            <a:ext cx="2552700" cy="749300"/>
          </a:xfrm>
          <a:prstGeom prst="rect">
            <a:avLst/>
          </a:prstGeom>
        </p:spPr>
      </p:pic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186" y="5868403"/>
            <a:ext cx="2552700" cy="749300"/>
          </a:xfrm>
          <a:prstGeom prst="rect">
            <a:avLst/>
          </a:prstGeom>
        </p:spPr>
      </p:pic>
      <p:pic>
        <p:nvPicPr>
          <p:cNvPr id="13" name="Picture 12" descr="latex-image-1.pdf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47" y="4892173"/>
            <a:ext cx="2667000" cy="749300"/>
          </a:xfrm>
          <a:prstGeom prst="rect">
            <a:avLst/>
          </a:prstGeom>
        </p:spPr>
      </p:pic>
      <p:pic>
        <p:nvPicPr>
          <p:cNvPr id="15" name="Picture 14" descr="latex-image-1.pdf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868" y="5868403"/>
            <a:ext cx="26670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5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97E7-A77E-4B6D-930A-949F9DDF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Multi-step Probability and the Stationary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D1F54-723B-41D2-854F-DA3638F1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is the probability of starting in state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/>
              <a:t> and ending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dirty="0"/>
              <a:t> after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/>
              <a:t> steps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happens if I multiply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dirty="0"/>
              <a:t>by itself a lot?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578A07-ED5B-4D87-AD66-B7A8F4F4CE9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1500" y="1696433"/>
            <a:ext cx="445770" cy="4416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97C0443-365B-40D3-881A-75E6FF9CAAB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06046" y="3944276"/>
            <a:ext cx="2066630" cy="38769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0EEAC50-8C00-4057-9B56-594BA41C0A91}"/>
              </a:ext>
            </a:extLst>
          </p:cNvPr>
          <p:cNvGrpSpPr/>
          <p:nvPr/>
        </p:nvGrpSpPr>
        <p:grpSpPr>
          <a:xfrm>
            <a:off x="3124620" y="3882330"/>
            <a:ext cx="384840" cy="1159200"/>
            <a:chOff x="3124620" y="3882330"/>
            <a:chExt cx="384840" cy="11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A4EBC9-118C-4931-8AD2-D799789804B9}"/>
                    </a:ext>
                  </a:extLst>
                </p14:cNvPr>
                <p14:cNvContentPartPr/>
                <p14:nvPr/>
              </p14:nvContentPartPr>
              <p14:xfrm>
                <a:off x="3124620" y="3882330"/>
                <a:ext cx="384840" cy="566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A4EBC9-118C-4931-8AD2-D799789804B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06980" y="3864330"/>
                  <a:ext cx="42048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AB8A24E-40DB-4A71-88DE-31C909B08F23}"/>
                    </a:ext>
                  </a:extLst>
                </p14:cNvPr>
                <p14:cNvContentPartPr/>
                <p14:nvPr/>
              </p14:nvContentPartPr>
              <p14:xfrm>
                <a:off x="3260700" y="4366170"/>
                <a:ext cx="237960" cy="675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AB8A24E-40DB-4A71-88DE-31C909B08F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42700" y="4348170"/>
                  <a:ext cx="273600" cy="71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1A599F-7F7E-4880-8C0D-B26ADA6EBA71}"/>
              </a:ext>
            </a:extLst>
          </p:cNvPr>
          <p:cNvGrpSpPr/>
          <p:nvPr/>
        </p:nvGrpSpPr>
        <p:grpSpPr>
          <a:xfrm>
            <a:off x="571500" y="5084510"/>
            <a:ext cx="4000500" cy="1569660"/>
            <a:chOff x="2274570" y="5041530"/>
            <a:chExt cx="4000500" cy="156966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01B587-3DAC-49B2-9819-40AB76CE3507}"/>
                </a:ext>
              </a:extLst>
            </p:cNvPr>
            <p:cNvSpPr txBox="1"/>
            <p:nvPr/>
          </p:nvSpPr>
          <p:spPr>
            <a:xfrm>
              <a:off x="2274570" y="5041530"/>
              <a:ext cx="4000500" cy="15696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Largest Eigenvector</a:t>
              </a:r>
            </a:p>
            <a:p>
              <a:r>
                <a:rPr lang="en-US" sz="2400" dirty="0"/>
                <a:t>      is the relative frequency of visits to state </a:t>
              </a:r>
              <a:r>
                <a:rPr lang="en-US" sz="2400" dirty="0" err="1"/>
                <a:t>i</a:t>
              </a:r>
              <a:r>
                <a:rPr lang="en-US" sz="2400" dirty="0"/>
                <a:t> by the Markov chain after many steps.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FC78EE-5AF8-498A-B1FB-D77D5CD495C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419314" y="5581351"/>
              <a:ext cx="241371" cy="1792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EECE9BF-90F6-4841-958F-A2F05CA9DA4E}"/>
              </a:ext>
            </a:extLst>
          </p:cNvPr>
          <p:cNvGrpSpPr/>
          <p:nvPr/>
        </p:nvGrpSpPr>
        <p:grpSpPr>
          <a:xfrm>
            <a:off x="4478899" y="3882187"/>
            <a:ext cx="838080" cy="942120"/>
            <a:chOff x="4478899" y="3882187"/>
            <a:chExt cx="838080" cy="94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57492F-B3B4-4CBF-BC9A-F5D61610C424}"/>
                    </a:ext>
                  </a:extLst>
                </p14:cNvPr>
                <p14:cNvContentPartPr/>
                <p14:nvPr/>
              </p14:nvContentPartPr>
              <p14:xfrm>
                <a:off x="4478899" y="3882187"/>
                <a:ext cx="489960" cy="478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57492F-B3B4-4CBF-BC9A-F5D61610C42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60899" y="3864547"/>
                  <a:ext cx="52560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6CDD91B-C887-429C-8386-0C7648FF9AB2}"/>
                    </a:ext>
                  </a:extLst>
                </p14:cNvPr>
                <p14:cNvContentPartPr/>
                <p14:nvPr/>
              </p14:nvContentPartPr>
              <p14:xfrm>
                <a:off x="4873819" y="4336867"/>
                <a:ext cx="443160" cy="4874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6CDD91B-C887-429C-8386-0C7648FF9A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55819" y="4318867"/>
                  <a:ext cx="478800" cy="523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676D92C-2E33-4DFD-A3D4-9145FBCC29BE}"/>
              </a:ext>
            </a:extLst>
          </p:cNvPr>
          <p:cNvSpPr txBox="1"/>
          <p:nvPr/>
        </p:nvSpPr>
        <p:spPr>
          <a:xfrm>
            <a:off x="5346233" y="4569824"/>
            <a:ext cx="331131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Largest eigenvalue is 1. </a:t>
            </a:r>
          </a:p>
          <a:p>
            <a:endParaRPr lang="en-US" sz="2400" dirty="0"/>
          </a:p>
          <a:p>
            <a:r>
              <a:rPr lang="en-US" sz="2400" dirty="0"/>
              <a:t>Property of “stochastic matrices”</a:t>
            </a:r>
          </a:p>
        </p:txBody>
      </p:sp>
    </p:spTree>
    <p:extLst>
      <p:ext uri="{BB962C8B-B14F-4D97-AF65-F5344CB8AC3E}">
        <p14:creationId xmlns:p14="http://schemas.microsoft.com/office/powerpoint/2010/main" val="29055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97E7-A77E-4B6D-930A-949F9DDF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6265"/>
          </a:xfrm>
        </p:spPr>
        <p:txBody>
          <a:bodyPr>
            <a:normAutofit/>
          </a:bodyPr>
          <a:lstStyle/>
          <a:p>
            <a:r>
              <a:rPr lang="en-US" dirty="0"/>
              <a:t>Note on Eigenvectors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04B955-B2FB-43D3-867F-06B3971E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80" y="947956"/>
            <a:ext cx="8707772" cy="56709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Eigenvectors of a matrix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are those vectors that are “unchanged” when multiplied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/>
              <a:t>They only differ from the original by a </a:t>
            </a:r>
            <a:r>
              <a:rPr lang="en-US" sz="2800" b="1" dirty="0"/>
              <a:t>scalar.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	That scalar is the eigenvector’s eigenvalue.</a:t>
            </a:r>
          </a:p>
          <a:p>
            <a:pPr marL="0" indent="0">
              <a:buNone/>
            </a:pPr>
            <a:r>
              <a:rPr lang="en-US" dirty="0"/>
              <a:t>Eigenvectors and eigenvalues are very useful descriptions of a matrix. </a:t>
            </a:r>
          </a:p>
          <a:p>
            <a:pPr marL="0" indent="0">
              <a:buNone/>
            </a:pPr>
            <a:r>
              <a:rPr lang="en-US" sz="2800" dirty="0"/>
              <a:t>	The sum of the eigenvalues is equal to the sum of the 	diagonal of a matrix (called trace).</a:t>
            </a:r>
          </a:p>
          <a:p>
            <a:pPr marL="0" indent="0">
              <a:buNone/>
            </a:pPr>
            <a:r>
              <a:rPr lang="en-US" sz="2800" dirty="0"/>
              <a:t>	The product of eigenvalues is equal to the determinant.</a:t>
            </a:r>
          </a:p>
          <a:p>
            <a:pPr marL="0" indent="0">
              <a:buNone/>
            </a:pPr>
            <a:r>
              <a:rPr lang="en-US" sz="2800" dirty="0"/>
              <a:t>Note: Square matrices with positive values (more generally, </a:t>
            </a:r>
            <a:r>
              <a:rPr lang="en-US" sz="2800" b="1" dirty="0"/>
              <a:t>positive semidefinite</a:t>
            </a:r>
            <a:r>
              <a:rPr lang="en-US" sz="2800" dirty="0"/>
              <a:t>) have </a:t>
            </a:r>
            <a:r>
              <a:rPr lang="en-US" sz="2800" b="1" dirty="0"/>
              <a:t>real eigenvalues</a:t>
            </a:r>
            <a:r>
              <a:rPr lang="en-US" sz="2800" dirty="0"/>
              <a:t>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8529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F59B-5E55-4AD5-9758-92FEFD2F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85"/>
            <a:ext cx="8229600" cy="728252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 interpretation</a:t>
            </a:r>
          </a:p>
        </p:txBody>
      </p:sp>
      <p:pic>
        <p:nvPicPr>
          <p:cNvPr id="2050" name="Picture 2" descr="PCA animation: variance and reconstruction error">
            <a:extLst>
              <a:ext uri="{FF2B5EF4-FFF2-40B4-BE49-F238E27FC236}">
                <a16:creationId xmlns:a16="http://schemas.microsoft.com/office/drawing/2014/main" id="{E1146F1C-4900-4F7E-A8E8-A853270512A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1837"/>
            <a:ext cx="91440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454BD3-82E8-4BF2-8B28-9947670F13F6}"/>
              </a:ext>
            </a:extLst>
          </p:cNvPr>
          <p:cNvSpPr txBox="1"/>
          <p:nvPr/>
        </p:nvSpPr>
        <p:spPr>
          <a:xfrm>
            <a:off x="0" y="6092190"/>
            <a:ext cx="902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https://stats.stackexchange.com/questions/2691/making-sense-of-principal-component-analysis-eigenvectors-eigenvalues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BE9BD6-DAC7-4277-B4A1-863B673BE33C}"/>
              </a:ext>
            </a:extLst>
          </p:cNvPr>
          <p:cNvSpPr txBox="1"/>
          <p:nvPr/>
        </p:nvSpPr>
        <p:spPr>
          <a:xfrm>
            <a:off x="152400" y="4389437"/>
            <a:ext cx="9029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Blue dots = data</a:t>
            </a:r>
          </a:p>
          <a:p>
            <a:r>
              <a:rPr lang="en-US" sz="2000" dirty="0"/>
              <a:t>Black line = line centered at data with varying slope</a:t>
            </a:r>
          </a:p>
          <a:p>
            <a:r>
              <a:rPr lang="en-US" sz="2000" dirty="0"/>
              <a:t>Red lines/points = Best fitting points for data where data must live on black line.</a:t>
            </a:r>
          </a:p>
          <a:p>
            <a:r>
              <a:rPr lang="en-US" sz="2000" dirty="0"/>
              <a:t>Pink/Magenta = largest eigenvector – blue points “spread” on it the most AND has the smallest reconstruction error (minimal sum of red lines).</a:t>
            </a:r>
          </a:p>
        </p:txBody>
      </p:sp>
    </p:spTree>
    <p:extLst>
      <p:ext uri="{BB962C8B-B14F-4D97-AF65-F5344CB8AC3E}">
        <p14:creationId xmlns:p14="http://schemas.microsoft.com/office/powerpoint/2010/main" val="216888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97E7-A77E-4B6D-930A-949F9DDF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6265"/>
          </a:xfrm>
        </p:spPr>
        <p:txBody>
          <a:bodyPr>
            <a:normAutofit/>
          </a:bodyPr>
          <a:lstStyle/>
          <a:p>
            <a:r>
              <a:rPr lang="en-US" dirty="0"/>
              <a:t>Note on Eigenvectors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04B955-B2FB-43D3-867F-06B3971E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79" y="947956"/>
            <a:ext cx="8858233" cy="567095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Eigenvalue decomposition </a:t>
            </a:r>
            <a:r>
              <a:rPr lang="en-US" sz="2800" dirty="0"/>
              <a:t>describes a matrix with its eigenvectors and eigenvalue. 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dirty="0"/>
              <a:t>Let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/>
              <a:t> be a square matrix.</a:t>
            </a:r>
          </a:p>
          <a:p>
            <a:pPr marL="0" indent="0">
              <a:buNone/>
            </a:pPr>
            <a:r>
              <a:rPr lang="en-US" sz="2800" b="1" dirty="0"/>
              <a:t>	</a:t>
            </a:r>
            <a:r>
              <a:rPr lang="en-US" sz="2800" dirty="0"/>
              <a:t>Let      be a diagonal matrix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’s eigenvalues.</a:t>
            </a: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	Let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be a matrix where each column is an eigenvector 	of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Eigenvector decomposition of the covariance matrix of data is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principal component analysis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(including only the top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eigenvectors – those with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largest eigenvalues).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D577F-B72A-4BAE-9207-5F74515130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264874" y="2540001"/>
            <a:ext cx="224000" cy="2538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64AE2A-5931-4928-832E-4A38ABCDE0F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206142" y="3926347"/>
            <a:ext cx="2731715" cy="51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1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97E7-A77E-4B6D-930A-949F9DDF1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6265"/>
          </a:xfrm>
        </p:spPr>
        <p:txBody>
          <a:bodyPr>
            <a:normAutofit/>
          </a:bodyPr>
          <a:lstStyle/>
          <a:p>
            <a:r>
              <a:rPr lang="en-US" dirty="0"/>
              <a:t>Note on Eigenvectors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04B955-B2FB-43D3-867F-06B3971E6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79" y="947955"/>
            <a:ext cx="8858233" cy="5787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Eigenvector decomposition of the covariance matrix of data is </a:t>
            </a:r>
            <a:r>
              <a:rPr lang="en-US" sz="2800" b="1" dirty="0">
                <a:latin typeface="+mj-lt"/>
                <a:cs typeface="Times New Roman" panose="02020603050405020304" pitchFamily="18" charset="0"/>
              </a:rPr>
              <a:t>principal component analysis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(including only the top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eigenvectors – those with the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 largest eigenvalues).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Singular value decomposition of data is equivalent to PCA on its covariance matrix. 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If X is our data, singular value decomposition (SVD) combines the eigenvector decomposition of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aseline="300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dirty="0">
                <a:latin typeface="+mj-lt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Remember that SVD is the non-probabilistic version of topic modeling (latent semantic analysis).</a:t>
            </a:r>
          </a:p>
        </p:txBody>
      </p:sp>
    </p:spTree>
    <p:extLst>
      <p:ext uri="{BB962C8B-B14F-4D97-AF65-F5344CB8AC3E}">
        <p14:creationId xmlns:p14="http://schemas.microsoft.com/office/powerpoint/2010/main" val="3565731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F93E2-73FF-E9C7-EB9C-FBD59846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F4346-09DC-A3A6-C6C2-A68A7108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Markov Chains</a:t>
            </a:r>
          </a:p>
          <a:p>
            <a:r>
              <a:rPr lang="en-US" dirty="0"/>
              <a:t>Network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Karl presenting </a:t>
            </a:r>
            <a:r>
              <a:rPr lang="en-US" dirty="0" err="1"/>
              <a:t>Muhkerjee</a:t>
            </a:r>
            <a:r>
              <a:rPr lang="en-US" dirty="0"/>
              <a:t> et al (2017)</a:t>
            </a:r>
          </a:p>
          <a:p>
            <a:pPr lvl="1"/>
            <a:r>
              <a:rPr lang="en-US" dirty="0" err="1"/>
              <a:t>Bujji</a:t>
            </a:r>
            <a:r>
              <a:rPr lang="en-US" dirty="0"/>
              <a:t> presenting Griffiths et al. (2007)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Aakash + Ashwini presenting Abbott et al. (2012)</a:t>
            </a:r>
          </a:p>
          <a:p>
            <a:pPr lvl="1"/>
            <a:r>
              <a:rPr lang="en-US" dirty="0"/>
              <a:t>Caleb presenting </a:t>
            </a:r>
            <a:r>
              <a:rPr lang="en-US" dirty="0" err="1"/>
              <a:t>Zemla</a:t>
            </a:r>
            <a:r>
              <a:rPr lang="en-US" dirty="0"/>
              <a:t> and Austerweil (2019)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744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076729"/>
          </a:xfrm>
        </p:spPr>
        <p:txBody>
          <a:bodyPr/>
          <a:lstStyle/>
          <a:p>
            <a:r>
              <a:rPr lang="en-US" dirty="0"/>
              <a:t>(Semantic) Networks</a:t>
            </a:r>
          </a:p>
        </p:txBody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9880"/>
            <a:ext cx="8305800" cy="4191000"/>
          </a:xfrm>
        </p:spPr>
        <p:txBody>
          <a:bodyPr/>
          <a:lstStyle/>
          <a:p>
            <a:pPr lvl="1">
              <a:buFontTx/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1183748" name="Rectangle 4"/>
          <p:cNvSpPr>
            <a:spLocks noChangeArrowheads="1"/>
          </p:cNvSpPr>
          <p:nvPr/>
        </p:nvSpPr>
        <p:spPr bwMode="auto">
          <a:xfrm>
            <a:off x="31356" y="1076729"/>
            <a:ext cx="9144000" cy="530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Represent words and concepts as nodes/vertices in a </a:t>
            </a:r>
            <a:r>
              <a:rPr lang="en-US" sz="3200" b="1" dirty="0"/>
              <a:t>graph </a:t>
            </a:r>
            <a:r>
              <a:rPr lang="en-US" sz="3200" i="1" dirty="0">
                <a:latin typeface="Times New Roman"/>
                <a:cs typeface="Times New Roman"/>
              </a:rPr>
              <a:t>G</a:t>
            </a:r>
            <a:r>
              <a:rPr lang="en-US" sz="3200" dirty="0"/>
              <a:t>, with edges indicating relationships.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	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Can be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			undirected 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			directed       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Edges can be weighted </a:t>
            </a:r>
          </a:p>
          <a:p>
            <a:pPr algn="l" eaLnBrk="1" hangingPunct="1">
              <a:spcBef>
                <a:spcPct val="20000"/>
              </a:spcBef>
            </a:pPr>
            <a:r>
              <a:rPr lang="en-US" sz="3200" dirty="0"/>
              <a:t>Different kinds of networks:</a:t>
            </a:r>
          </a:p>
          <a:p>
            <a:pPr marL="742950" lvl="1" indent="-285750" algn="l" eaLnBrk="1" hangingPunct="1">
              <a:spcBef>
                <a:spcPct val="20000"/>
              </a:spcBef>
              <a:buFontTx/>
              <a:buChar char="–"/>
            </a:pPr>
            <a:r>
              <a:rPr lang="en-US" sz="2800" dirty="0"/>
              <a:t>inheritance hierarchies (Collins &amp; </a:t>
            </a:r>
            <a:r>
              <a:rPr lang="en-US" sz="2800" dirty="0" err="1"/>
              <a:t>Quillian</a:t>
            </a:r>
            <a:r>
              <a:rPr lang="en-US" sz="2800" dirty="0"/>
              <a:t>, 1969)</a:t>
            </a:r>
          </a:p>
          <a:p>
            <a:pPr marL="742950" lvl="1" indent="-285750" algn="l" eaLnBrk="1" hangingPunct="1">
              <a:spcBef>
                <a:spcPct val="20000"/>
              </a:spcBef>
              <a:buFontTx/>
              <a:buChar char="–"/>
            </a:pPr>
            <a:r>
              <a:rPr lang="en-US" sz="2800" dirty="0"/>
              <a:t>associative networks (Collins &amp; Loftus, 1975)</a:t>
            </a:r>
          </a:p>
        </p:txBody>
      </p: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269" y="2297780"/>
            <a:ext cx="1892300" cy="419100"/>
          </a:xfrm>
          <a:prstGeom prst="rect">
            <a:avLst/>
          </a:prstGeom>
        </p:spPr>
      </p:pic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203" y="2297780"/>
            <a:ext cx="2743200" cy="419100"/>
          </a:xfrm>
          <a:prstGeom prst="rect">
            <a:avLst/>
          </a:prstGeom>
        </p:spPr>
      </p:pic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08" y="3396827"/>
            <a:ext cx="2971800" cy="4191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308" y="3961304"/>
            <a:ext cx="4991100" cy="4191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731" y="4578506"/>
            <a:ext cx="19558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3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7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076729"/>
          </a:xfrm>
        </p:spPr>
        <p:txBody>
          <a:bodyPr/>
          <a:lstStyle/>
          <a:p>
            <a:r>
              <a:rPr lang="en-US" dirty="0"/>
              <a:t>From graphs to probabilities</a:t>
            </a:r>
          </a:p>
        </p:txBody>
      </p:sp>
      <p:sp>
        <p:nvSpPr>
          <p:cNvPr id="1183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9880"/>
            <a:ext cx="8305800" cy="4191000"/>
          </a:xfrm>
        </p:spPr>
        <p:txBody>
          <a:bodyPr/>
          <a:lstStyle/>
          <a:p>
            <a:pPr lvl="1">
              <a:buFontTx/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83748" name="Rectangle 4"/>
          <p:cNvSpPr>
            <a:spLocks noChangeArrowheads="1"/>
          </p:cNvSpPr>
          <p:nvPr/>
        </p:nvSpPr>
        <p:spPr bwMode="auto">
          <a:xfrm>
            <a:off x="31356" y="1076729"/>
            <a:ext cx="9144000" cy="530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8287195" y="374442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52400" y="1149880"/>
            <a:ext cx="8839200" cy="5016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Define a random walk on a graph from its edges:</a:t>
            </a:r>
          </a:p>
          <a:p>
            <a:r>
              <a:rPr lang="en-US" sz="3200" dirty="0"/>
              <a:t>1. Define matrix </a:t>
            </a:r>
            <a:r>
              <a:rPr lang="en-US" sz="3200" b="1" dirty="0">
                <a:latin typeface="Times New Roman"/>
                <a:cs typeface="Times New Roman"/>
              </a:rPr>
              <a:t>L</a:t>
            </a:r>
            <a:r>
              <a:rPr lang="en-US" sz="3200" dirty="0"/>
              <a:t> that encodes edge information.</a:t>
            </a:r>
          </a:p>
          <a:p>
            <a:r>
              <a:rPr lang="en-US" sz="3200" dirty="0"/>
              <a:t>If there’s an edge from node </a:t>
            </a:r>
            <a:r>
              <a:rPr lang="en-US" sz="3200" i="1" dirty="0" err="1">
                <a:latin typeface="Times New Roman"/>
                <a:cs typeface="Times New Roman"/>
              </a:rPr>
              <a:t>i</a:t>
            </a:r>
            <a:r>
              <a:rPr lang="en-US" sz="3200" dirty="0"/>
              <a:t> to node </a:t>
            </a:r>
            <a:r>
              <a:rPr lang="en-US" sz="3200" i="1" dirty="0">
                <a:latin typeface="Times New Roman"/>
                <a:cs typeface="Times New Roman"/>
              </a:rPr>
              <a:t>j</a:t>
            </a:r>
            <a:r>
              <a:rPr lang="en-US" sz="3200" dirty="0"/>
              <a:t>, let </a:t>
            </a:r>
            <a:r>
              <a:rPr lang="en-US" sz="3200" i="1" dirty="0" err="1">
                <a:latin typeface="Times New Roman"/>
                <a:cs typeface="Times New Roman"/>
              </a:rPr>
              <a:t>L</a:t>
            </a:r>
            <a:r>
              <a:rPr lang="en-US" sz="3200" i="1" baseline="-25000" dirty="0" err="1">
                <a:latin typeface="Times New Roman"/>
                <a:cs typeface="Times New Roman"/>
              </a:rPr>
              <a:t>ij</a:t>
            </a:r>
            <a:r>
              <a:rPr lang="en-US" sz="3200" dirty="0">
                <a:latin typeface="Times New Roman"/>
                <a:cs typeface="Times New Roman"/>
              </a:rPr>
              <a:t> = 1</a:t>
            </a:r>
            <a:r>
              <a:rPr lang="en-US" sz="3200" dirty="0"/>
              <a:t>.</a:t>
            </a:r>
          </a:p>
          <a:p>
            <a:r>
              <a:rPr lang="en-US" sz="3200" dirty="0"/>
              <a:t>	You can have other weights instead of just 1.</a:t>
            </a:r>
          </a:p>
          <a:p>
            <a:r>
              <a:rPr lang="en-US" sz="3200" dirty="0"/>
              <a:t>	(they do have to be positive though).</a:t>
            </a:r>
          </a:p>
          <a:p>
            <a:r>
              <a:rPr lang="en-US" sz="3200" dirty="0"/>
              <a:t>	If a graph is symmetric then </a:t>
            </a:r>
            <a:r>
              <a:rPr lang="en-US" sz="3200" i="1" dirty="0" err="1">
                <a:latin typeface="Times New Roman"/>
                <a:cs typeface="Times New Roman"/>
              </a:rPr>
              <a:t>L</a:t>
            </a:r>
            <a:r>
              <a:rPr lang="en-US" sz="3200" i="1" baseline="-25000" dirty="0" err="1">
                <a:latin typeface="Times New Roman"/>
                <a:cs typeface="Times New Roman"/>
              </a:rPr>
              <a:t>ij</a:t>
            </a:r>
            <a:r>
              <a:rPr lang="en-US" sz="3200" dirty="0">
                <a:latin typeface="Times New Roman"/>
                <a:cs typeface="Times New Roman"/>
              </a:rPr>
              <a:t> = </a:t>
            </a:r>
            <a:r>
              <a:rPr lang="en-US" sz="3200" i="1" dirty="0" err="1">
                <a:latin typeface="Times New Roman"/>
                <a:cs typeface="Times New Roman"/>
              </a:rPr>
              <a:t>L</a:t>
            </a:r>
            <a:r>
              <a:rPr lang="en-US" sz="3200" i="1" baseline="-25000" dirty="0" err="1">
                <a:latin typeface="Times New Roman"/>
                <a:cs typeface="Times New Roman"/>
              </a:rPr>
              <a:t>ji</a:t>
            </a:r>
            <a:endParaRPr lang="en-US" sz="3200" i="1" baseline="-25000" dirty="0">
              <a:latin typeface="Times New Roman"/>
              <a:cs typeface="Times New Roman"/>
            </a:endParaRPr>
          </a:p>
          <a:p>
            <a:endParaRPr lang="en-US" sz="3200" dirty="0"/>
          </a:p>
          <a:p>
            <a:r>
              <a:rPr lang="en-US" sz="3200" dirty="0"/>
              <a:t>2. Define matrix </a:t>
            </a:r>
            <a:r>
              <a:rPr lang="en-US" sz="3200" b="1" dirty="0">
                <a:latin typeface="Times New Roman"/>
                <a:cs typeface="Times New Roman"/>
              </a:rPr>
              <a:t>P</a:t>
            </a:r>
            <a:r>
              <a:rPr lang="en-US" sz="3200" dirty="0"/>
              <a:t> that converts </a:t>
            </a:r>
            <a:r>
              <a:rPr lang="en-US" sz="3200" b="1" dirty="0">
                <a:latin typeface="Times New Roman"/>
                <a:cs typeface="Times New Roman"/>
              </a:rPr>
              <a:t>L</a:t>
            </a:r>
            <a:r>
              <a:rPr lang="en-US" sz="3200" dirty="0"/>
              <a:t> to the transition matrix of a RW on the graph.</a:t>
            </a:r>
          </a:p>
          <a:p>
            <a:endParaRPr lang="en-US" sz="3200" dirty="0"/>
          </a:p>
        </p:txBody>
      </p: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26" y="5684037"/>
            <a:ext cx="2413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5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31" y="1772361"/>
            <a:ext cx="8229600" cy="1727583"/>
          </a:xfrm>
        </p:spPr>
        <p:txBody>
          <a:bodyPr>
            <a:normAutofit/>
          </a:bodyPr>
          <a:lstStyle/>
          <a:p>
            <a:r>
              <a:rPr lang="en-US" dirty="0"/>
              <a:t>The sequence of states visited by a random walk form a Markov chain</a:t>
            </a:r>
          </a:p>
        </p:txBody>
      </p:sp>
    </p:spTree>
    <p:extLst>
      <p:ext uri="{BB962C8B-B14F-4D97-AF65-F5344CB8AC3E}">
        <p14:creationId xmlns:p14="http://schemas.microsoft.com/office/powerpoint/2010/main" val="1356097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304954" y="3179626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304954" y="1102112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1993765" y="1859146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266229" y="3689150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385892" y="1760799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508168" y="2694031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285245" y="2650393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324005" y="3689150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371" y="1265985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32" y="4465806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7684232" y="1264153"/>
            <a:ext cx="987040" cy="1921178"/>
            <a:chOff x="7684232" y="1264153"/>
            <a:chExt cx="987040" cy="1921178"/>
          </a:xfrm>
        </p:grpSpPr>
        <p:sp>
          <p:nvSpPr>
            <p:cNvPr id="33" name="TextBox 32"/>
            <p:cNvSpPr txBox="1"/>
            <p:nvPr/>
          </p:nvSpPr>
          <p:spPr>
            <a:xfrm>
              <a:off x="7689208" y="1264153"/>
              <a:ext cx="982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Meow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89208" y="2231729"/>
              <a:ext cx="595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Cat</a:t>
              </a:r>
              <a:endParaRPr lang="en-US" sz="24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689208" y="1715214"/>
              <a:ext cx="7088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Lion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684232" y="2723666"/>
              <a:ext cx="6799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063234" y="4470778"/>
            <a:ext cx="1067369" cy="1941561"/>
            <a:chOff x="8063234" y="4470778"/>
            <a:chExt cx="1067369" cy="1941561"/>
          </a:xfrm>
        </p:grpSpPr>
        <p:sp>
          <p:nvSpPr>
            <p:cNvPr id="32" name="Rectangle 31"/>
            <p:cNvSpPr/>
            <p:nvPr/>
          </p:nvSpPr>
          <p:spPr>
            <a:xfrm>
              <a:off x="8063234" y="4562149"/>
              <a:ext cx="1033459" cy="1850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48539" y="4470778"/>
              <a:ext cx="9820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Meow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148539" y="4935973"/>
              <a:ext cx="70884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/>
                <a:t>Lion</a:t>
              </a:r>
              <a:endParaRPr lang="en-US" sz="24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26292" y="5397638"/>
              <a:ext cx="595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Cat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148539" y="5859303"/>
              <a:ext cx="6799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Dog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42" name="TextBox 41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47" name="TextBox 46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822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571" y="1346551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766" y="4393873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3233" y="4438498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5" y="5721727"/>
            <a:ext cx="1994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</a:t>
            </a:r>
          </a:p>
        </p:txBody>
      </p:sp>
      <p:sp>
        <p:nvSpPr>
          <p:cNvPr id="2" name="Rectangle 1"/>
          <p:cNvSpPr/>
          <p:nvPr/>
        </p:nvSpPr>
        <p:spPr>
          <a:xfrm>
            <a:off x="3787746" y="5362297"/>
            <a:ext cx="4315509" cy="5173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46" name="TextBox 45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49" name="TextBox 48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54" name="TextBox 53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819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365253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58" y="4428513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40156" y="1072948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5" y="5721727"/>
            <a:ext cx="1994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48" name="TextBox 47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53" name="TextBox 52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4217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540" y="1270658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326" y="4468435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40156" y="1072948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7" y="5721727"/>
            <a:ext cx="2941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Cat, Meow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1669" y="4376699"/>
            <a:ext cx="4315509" cy="5173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61" name="TextBox 60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65" name="TextBox 64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68" name="TextBox 67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73" name="TextBox 72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741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287417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58" y="4485879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749" y="4315051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7" y="5721727"/>
            <a:ext cx="29418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Cat, Meow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48" name="TextBox 47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53" name="TextBox 52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608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289356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58" y="4466064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3749" y="4315051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7" y="5721727"/>
            <a:ext cx="3500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Cat, Meow, Cat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77838" y="5434488"/>
            <a:ext cx="4315509" cy="5173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50" name="TextBox 49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55" name="TextBox 54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337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654085" y="329600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654085" y="121848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2342896" y="197552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615360" y="380552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735023" y="187717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857299" y="281040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634376" y="276676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673136" y="380552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944" y="1265985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858" y="4423198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6346" y="4824575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7" y="5721727"/>
            <a:ext cx="3500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Cat, Meow, 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8539" y="4470778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48539" y="4935973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8126292" y="5397638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48539" y="5859303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53" name="TextBox 52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4220719" y="3990752"/>
            <a:ext cx="3602952" cy="379231"/>
            <a:chOff x="4177463" y="4133873"/>
            <a:chExt cx="3602952" cy="379231"/>
          </a:xfrm>
        </p:grpSpPr>
        <p:sp>
          <p:nvSpPr>
            <p:cNvPr id="58" name="TextBox 57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5259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96602" y="295954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5" name="Oval 4"/>
          <p:cNvSpPr/>
          <p:nvPr/>
        </p:nvSpPr>
        <p:spPr>
          <a:xfrm>
            <a:off x="296602" y="88202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6" name="Oval 5"/>
          <p:cNvSpPr/>
          <p:nvPr/>
        </p:nvSpPr>
        <p:spPr>
          <a:xfrm>
            <a:off x="1985413" y="163906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7" name="Oval 6"/>
          <p:cNvSpPr/>
          <p:nvPr/>
        </p:nvSpPr>
        <p:spPr>
          <a:xfrm>
            <a:off x="2257877" y="346906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9" name="Curved Connector 8"/>
          <p:cNvCxnSpPr>
            <a:stCxn id="5" idx="5"/>
            <a:endCxn id="6" idx="2"/>
          </p:cNvCxnSpPr>
          <p:nvPr/>
        </p:nvCxnSpPr>
        <p:spPr>
          <a:xfrm rot="16200000" flipH="1">
            <a:off x="1377540" y="154071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6" idx="4"/>
            <a:endCxn id="4" idx="6"/>
          </p:cNvCxnSpPr>
          <p:nvPr/>
        </p:nvCxnSpPr>
        <p:spPr>
          <a:xfrm rot="5400000">
            <a:off x="1499816" y="247394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" idx="0"/>
            <a:endCxn id="5" idx="4"/>
          </p:cNvCxnSpPr>
          <p:nvPr/>
        </p:nvCxnSpPr>
        <p:spPr>
          <a:xfrm rot="5400000" flipH="1" flipV="1">
            <a:off x="276893" y="243030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7" idx="2"/>
            <a:endCxn id="4" idx="6"/>
          </p:cNvCxnSpPr>
          <p:nvPr/>
        </p:nvCxnSpPr>
        <p:spPr>
          <a:xfrm rot="10800000">
            <a:off x="1315653" y="346906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347" y="1265985"/>
            <a:ext cx="3441700" cy="1955800"/>
          </a:xfrm>
          <a:prstGeom prst="rect">
            <a:avLst/>
          </a:prstGeom>
        </p:spPr>
      </p:pic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61" y="3909301"/>
            <a:ext cx="5092700" cy="1955800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95587" y="-3004"/>
            <a:ext cx="8575685" cy="967755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/>
              <a:t>Example: Creating a random walk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8863" y="4488115"/>
            <a:ext cx="386077" cy="38607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191225" y="5721727"/>
            <a:ext cx="4522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Walk visits Cat, Meow, Cat, Dog, ...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64441" y="5335982"/>
            <a:ext cx="4315509" cy="517363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89208" y="1264153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Meow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9208" y="2231729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Cat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7689208" y="1715214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4232" y="2723666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8539" y="3909302"/>
            <a:ext cx="982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8539" y="4374497"/>
            <a:ext cx="708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Lion</a:t>
            </a:r>
            <a:endParaRPr lang="en-US" sz="2400" dirty="0"/>
          </a:p>
        </p:txBody>
      </p:sp>
      <p:sp>
        <p:nvSpPr>
          <p:cNvPr id="29" name="TextBox 28"/>
          <p:cNvSpPr txBox="1"/>
          <p:nvPr/>
        </p:nvSpPr>
        <p:spPr>
          <a:xfrm>
            <a:off x="8126292" y="4836162"/>
            <a:ext cx="59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8539" y="5297827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5151135" y="972733"/>
            <a:ext cx="2510089" cy="373577"/>
            <a:chOff x="4829721" y="890576"/>
            <a:chExt cx="2510089" cy="373577"/>
          </a:xfrm>
        </p:grpSpPr>
        <p:sp>
          <p:nvSpPr>
            <p:cNvPr id="32" name="TextBox 31"/>
            <p:cNvSpPr txBox="1"/>
            <p:nvPr/>
          </p:nvSpPr>
          <p:spPr>
            <a:xfrm>
              <a:off x="4829721" y="894821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507453" y="892989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133984" y="890576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81644" y="890576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220719" y="3621786"/>
            <a:ext cx="3602952" cy="379231"/>
            <a:chOff x="4177463" y="4133873"/>
            <a:chExt cx="3602952" cy="379231"/>
          </a:xfrm>
        </p:grpSpPr>
        <p:sp>
          <p:nvSpPr>
            <p:cNvPr id="37" name="TextBox 36"/>
            <p:cNvSpPr txBox="1"/>
            <p:nvPr/>
          </p:nvSpPr>
          <p:spPr>
            <a:xfrm>
              <a:off x="4177463" y="4135705"/>
              <a:ext cx="783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Meow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221463" y="413387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Lion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203204" y="4133873"/>
              <a:ext cx="493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222249" y="4143772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4392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1076729"/>
          </a:xfrm>
        </p:spPr>
        <p:txBody>
          <a:bodyPr/>
          <a:lstStyle/>
          <a:p>
            <a:r>
              <a:rPr lang="en-US" dirty="0"/>
              <a:t>Stationary distributions</a:t>
            </a:r>
          </a:p>
        </p:txBody>
      </p:sp>
      <p:sp>
        <p:nvSpPr>
          <p:cNvPr id="1183748" name="Rectangle 4"/>
          <p:cNvSpPr>
            <a:spLocks noChangeArrowheads="1"/>
          </p:cNvSpPr>
          <p:nvPr/>
        </p:nvSpPr>
        <p:spPr bwMode="auto">
          <a:xfrm>
            <a:off x="31356" y="1076729"/>
            <a:ext cx="9144000" cy="530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>
              <a:spcBef>
                <a:spcPct val="20000"/>
              </a:spcBef>
            </a:pP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8287195" y="374442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52400" y="1149880"/>
            <a:ext cx="8610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How often will the RW visit each node?</a:t>
            </a:r>
          </a:p>
          <a:p>
            <a:r>
              <a:rPr lang="en-US" sz="3200" dirty="0"/>
              <a:t>	This is the stationary distribution of the RW.</a:t>
            </a:r>
          </a:p>
          <a:p>
            <a:r>
              <a:rPr lang="en-US" sz="3200" dirty="0"/>
              <a:t>	(remember RW is a Markov model)</a:t>
            </a:r>
          </a:p>
          <a:p>
            <a:endParaRPr lang="en-US" sz="3200" dirty="0"/>
          </a:p>
          <a:p>
            <a:r>
              <a:rPr lang="en-US" sz="3200" dirty="0"/>
              <a:t>The stationary distribution </a:t>
            </a:r>
            <a:r>
              <a:rPr lang="en-US" sz="3200" dirty="0">
                <a:latin typeface="Times"/>
                <a:cs typeface="Times"/>
              </a:rPr>
              <a:t>π</a:t>
            </a:r>
            <a:r>
              <a:rPr lang="en-US" sz="3200" dirty="0"/>
              <a:t> of a RW on an undirected graph is</a:t>
            </a:r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In the case of an </a:t>
            </a:r>
            <a:r>
              <a:rPr lang="en-US" sz="3200" dirty="0" err="1"/>
              <a:t>unweighted</a:t>
            </a:r>
            <a:r>
              <a:rPr lang="en-US" sz="3200" dirty="0"/>
              <a:t> graph,</a:t>
            </a:r>
          </a:p>
          <a:p>
            <a:pPr algn="ctr"/>
            <a:r>
              <a:rPr lang="en-US" sz="3200" i="1" dirty="0">
                <a:latin typeface="Times New Roman"/>
                <a:cs typeface="Times New Roman"/>
              </a:rPr>
              <a:t>π</a:t>
            </a:r>
            <a:r>
              <a:rPr lang="en-US" sz="3200" i="1" baseline="-25000" dirty="0" err="1">
                <a:latin typeface="Times New Roman"/>
                <a:cs typeface="Times New Roman"/>
              </a:rPr>
              <a:t>i</a:t>
            </a:r>
            <a:r>
              <a:rPr lang="en-US" sz="3200" dirty="0">
                <a:latin typeface="Times New Roman"/>
                <a:cs typeface="Times New Roman"/>
              </a:rPr>
              <a:t> is proportional to the </a:t>
            </a:r>
            <a:r>
              <a:rPr lang="en-US" sz="3200" dirty="0"/>
              <a:t># of edges connected to </a:t>
            </a:r>
            <a:r>
              <a:rPr lang="en-US" sz="3200" i="1" dirty="0">
                <a:latin typeface="Times New Roman"/>
                <a:cs typeface="Times New Roman"/>
              </a:rPr>
              <a:t>i</a:t>
            </a:r>
          </a:p>
          <a:p>
            <a:pPr algn="ctr"/>
            <a:r>
              <a:rPr lang="en-US" sz="3200" dirty="0">
                <a:latin typeface="Times New Roman"/>
                <a:cs typeface="Times New Roman"/>
              </a:rPr>
              <a:t>(this is also called the node’s degree)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746" y="4113759"/>
            <a:ext cx="21082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2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Shot 2015-11-09 at 9.13.4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056" y="3479800"/>
            <a:ext cx="4508500" cy="3378200"/>
          </a:xfrm>
          <a:prstGeom prst="rect">
            <a:avLst/>
          </a:prstGeom>
          <a:effectLst/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06" y="5299067"/>
            <a:ext cx="4737100" cy="11557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668"/>
            <a:ext cx="8229600" cy="11430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10" name="Picture 9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780" y="1225668"/>
            <a:ext cx="5092700" cy="19558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296602" y="295954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Cat</a:t>
            </a:r>
          </a:p>
        </p:txBody>
      </p:sp>
      <p:sp>
        <p:nvSpPr>
          <p:cNvPr id="28" name="Oval 27"/>
          <p:cNvSpPr/>
          <p:nvPr/>
        </p:nvSpPr>
        <p:spPr>
          <a:xfrm>
            <a:off x="296602" y="882027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rIns="0" rtlCol="0" anchor="ctr"/>
          <a:lstStyle/>
          <a:p>
            <a:pPr algn="ctr"/>
            <a:r>
              <a:rPr lang="en-US" sz="2400" dirty="0"/>
              <a:t>Meow</a:t>
            </a:r>
          </a:p>
        </p:txBody>
      </p:sp>
      <p:sp>
        <p:nvSpPr>
          <p:cNvPr id="29" name="Oval 28"/>
          <p:cNvSpPr/>
          <p:nvPr/>
        </p:nvSpPr>
        <p:spPr>
          <a:xfrm>
            <a:off x="1985413" y="1639061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Lion</a:t>
            </a:r>
          </a:p>
        </p:txBody>
      </p:sp>
      <p:sp>
        <p:nvSpPr>
          <p:cNvPr id="30" name="Oval 29"/>
          <p:cNvSpPr/>
          <p:nvPr/>
        </p:nvSpPr>
        <p:spPr>
          <a:xfrm>
            <a:off x="2257877" y="3469065"/>
            <a:ext cx="1019048" cy="1019048"/>
          </a:xfrm>
          <a:prstGeom prst="ellipse">
            <a:avLst/>
          </a:prstGeom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Dog</a:t>
            </a:r>
          </a:p>
        </p:txBody>
      </p:sp>
      <p:cxnSp>
        <p:nvCxnSpPr>
          <p:cNvPr id="31" name="Curved Connector 30"/>
          <p:cNvCxnSpPr>
            <a:stCxn id="30" idx="5"/>
            <a:endCxn id="31" idx="2"/>
          </p:cNvCxnSpPr>
          <p:nvPr/>
        </p:nvCxnSpPr>
        <p:spPr>
          <a:xfrm rot="16200000" flipH="1">
            <a:off x="1377540" y="1540714"/>
            <a:ext cx="396746" cy="818999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31" idx="4"/>
            <a:endCxn id="29" idx="6"/>
          </p:cNvCxnSpPr>
          <p:nvPr/>
        </p:nvCxnSpPr>
        <p:spPr>
          <a:xfrm rot="5400000">
            <a:off x="1499816" y="2473946"/>
            <a:ext cx="810956" cy="1179287"/>
          </a:xfrm>
          <a:prstGeom prst="curvedConnector2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29" idx="0"/>
            <a:endCxn id="30" idx="4"/>
          </p:cNvCxnSpPr>
          <p:nvPr/>
        </p:nvCxnSpPr>
        <p:spPr>
          <a:xfrm rot="5400000" flipH="1" flipV="1">
            <a:off x="276893" y="2430308"/>
            <a:ext cx="1058466" cy="12700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32" idx="2"/>
            <a:endCxn id="29" idx="6"/>
          </p:cNvCxnSpPr>
          <p:nvPr/>
        </p:nvCxnSpPr>
        <p:spPr>
          <a:xfrm rot="10800000">
            <a:off x="1315653" y="3469065"/>
            <a:ext cx="942227" cy="509524"/>
          </a:xfrm>
          <a:prstGeom prst="curvedConnector3">
            <a:avLst/>
          </a:prstGeom>
          <a:ln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8B44E4D-B7D5-4A98-8D5C-14D8020AFDD3}"/>
              </a:ext>
            </a:extLst>
          </p:cNvPr>
          <p:cNvSpPr/>
          <p:nvPr/>
        </p:nvSpPr>
        <p:spPr>
          <a:xfrm>
            <a:off x="4832056" y="5006340"/>
            <a:ext cx="4231934" cy="17689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4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7C543-6BE8-48A7-F84C-083431B11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network theory as time allows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C2143-D431-CB4C-89F5-EF829BE49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63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10343"/>
                <a:ext cx="8229600" cy="5421085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Degree of node </a:t>
                </a:r>
                <a:r>
                  <a:rPr lang="en-US" b="1" dirty="0" err="1"/>
                  <a:t>i</a:t>
                </a:r>
                <a:r>
                  <a:rPr lang="en-US" b="1" dirty="0"/>
                  <a:t>: </a:t>
                </a:r>
                <a:r>
                  <a:rPr lang="en-US" dirty="0"/>
                  <a:t># of edges connected to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	(directed) in-degree: </a:t>
                </a:r>
                <a:r>
                  <a:rPr lang="en-US" dirty="0"/>
                  <a:t># of edges into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	(directed) out-degree: </a:t>
                </a:r>
                <a:r>
                  <a:rPr lang="en-US" dirty="0"/>
                  <a:t># of edges out of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Complete graph: </a:t>
                </a:r>
                <a:r>
                  <a:rPr lang="en-US" dirty="0"/>
                  <a:t>Graph containing every possible edge. If </a:t>
                </a:r>
                <a:r>
                  <a:rPr lang="en-US" i="1" dirty="0"/>
                  <a:t>n </a:t>
                </a:r>
                <a:r>
                  <a:rPr lang="en-US" dirty="0"/>
                  <a:t>nodes, </a:t>
                </a:r>
                <a:r>
                  <a:rPr lang="en-US" i="1" dirty="0"/>
                  <a:t>n </a:t>
                </a:r>
                <a:r>
                  <a:rPr lang="en-US" dirty="0"/>
                  <a:t>choose 2 edges.</a:t>
                </a:r>
              </a:p>
              <a:p>
                <a:pPr marL="0" indent="0">
                  <a:buNone/>
                </a:pPr>
                <a:r>
                  <a:rPr lang="en-US" b="1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>
                    <a:solidFill>
                      <a:schemeClr val="bg1"/>
                    </a:solidFill>
                  </a:rPr>
                  <a:t>Edge Density: </a:t>
                </a:r>
                <a:r>
                  <a:rPr lang="en-US" dirty="0">
                    <a:solidFill>
                      <a:schemeClr val="bg1"/>
                    </a:solidFill>
                  </a:rPr>
                  <a:t>% of edges in graph compared to complete graph.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10343"/>
                <a:ext cx="8229600" cy="5421085"/>
              </a:xfrm>
              <a:blipFill>
                <a:blip r:embed="rId3"/>
                <a:stretch>
                  <a:fillRect l="-1852" t="-2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CC47727-EF9B-2543-A398-479CE2E6A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885" y="1110343"/>
            <a:ext cx="6186255" cy="476794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416801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Degree of node </a:t>
                </a:r>
                <a:r>
                  <a:rPr lang="en-US" b="1" dirty="0" err="1"/>
                  <a:t>i</a:t>
                </a:r>
                <a:r>
                  <a:rPr lang="en-US" b="1" dirty="0"/>
                  <a:t>: </a:t>
                </a:r>
                <a:r>
                  <a:rPr lang="en-US" dirty="0"/>
                  <a:t># of edges including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	(directed) in-degree: </a:t>
                </a:r>
                <a:r>
                  <a:rPr lang="en-US" dirty="0"/>
                  <a:t># of edges into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r>
                  <a:rPr lang="en-US" b="1" dirty="0"/>
                  <a:t>	(directed) out-degree: </a:t>
                </a:r>
                <a:r>
                  <a:rPr lang="en-US" dirty="0"/>
                  <a:t># of edges out of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Complete graph: </a:t>
                </a:r>
                <a:r>
                  <a:rPr lang="en-US" dirty="0"/>
                  <a:t>Graph containing every possible edge. If </a:t>
                </a:r>
                <a:r>
                  <a:rPr lang="en-US" i="1" dirty="0"/>
                  <a:t>n </a:t>
                </a:r>
                <a:r>
                  <a:rPr lang="en-US" dirty="0"/>
                  <a:t>nodes, </a:t>
                </a:r>
                <a:r>
                  <a:rPr lang="en-US" i="1" dirty="0"/>
                  <a:t>n </a:t>
                </a:r>
                <a:r>
                  <a:rPr lang="en-US" dirty="0"/>
                  <a:t>choose 2 edges.</a:t>
                </a:r>
              </a:p>
              <a:p>
                <a:pPr marL="0" indent="0">
                  <a:buNone/>
                </a:pPr>
                <a:r>
                  <a:rPr lang="en-US" b="1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sz="1600" b="1" dirty="0"/>
              </a:p>
              <a:p>
                <a:pPr marL="0" indent="0">
                  <a:buNone/>
                </a:pPr>
                <a:r>
                  <a:rPr lang="en-US" b="1" dirty="0"/>
                  <a:t>Edge Density: </a:t>
                </a:r>
                <a:r>
                  <a:rPr lang="en-US" dirty="0"/>
                  <a:t># of edges in graph compared to complete graph.</a:t>
                </a:r>
              </a:p>
              <a:p>
                <a:pPr marL="0" indent="0">
                  <a:buNone/>
                </a:pPr>
                <a:r>
                  <a:rPr lang="en-US" dirty="0"/>
                  <a:t>	A graph is </a:t>
                </a:r>
                <a:r>
                  <a:rPr lang="en-US" b="1" dirty="0"/>
                  <a:t>sparse </a:t>
                </a:r>
                <a:r>
                  <a:rPr lang="en-US" dirty="0"/>
                  <a:t>if its # of edges &lt;&lt; to # in 		complete graph.</a:t>
                </a: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  <a:blipFill>
                <a:blip r:embed="rId3"/>
                <a:stretch>
                  <a:fillRect l="-1852" t="-1982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1472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B570-CE2C-C24F-B3C1-A07C67626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1135"/>
            <a:ext cx="8229600" cy="57476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Shortest path length (Geodesic distance):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The # of edges on the shortest path between 	two nodes on a network.</a:t>
            </a:r>
          </a:p>
          <a:p>
            <a:pPr marL="0" indent="0">
              <a:buNone/>
            </a:pPr>
            <a:r>
              <a:rPr lang="en-US" b="1" dirty="0"/>
              <a:t>		</a:t>
            </a:r>
            <a:r>
              <a:rPr lang="en-US" dirty="0"/>
              <a:t>For weighted edges, it is the path with 				minimal sum of edge weights.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Average shortest path length: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/>
              <a:t>Average of the shortest path between every 	pair of nodes on a network.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Diameter</a:t>
            </a:r>
            <a:r>
              <a:rPr lang="en-US" dirty="0"/>
              <a:t>: Largest path length</a:t>
            </a:r>
          </a:p>
        </p:txBody>
      </p:sp>
    </p:spTree>
    <p:extLst>
      <p:ext uri="{BB962C8B-B14F-4D97-AF65-F5344CB8AC3E}">
        <p14:creationId xmlns:p14="http://schemas.microsoft.com/office/powerpoint/2010/main" val="419294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Clustering coefficient:</a:t>
                </a:r>
              </a:p>
              <a:p>
                <a:pPr marL="0" indent="0">
                  <a:buNone/>
                </a:pPr>
                <a:r>
                  <a:rPr lang="en-US" dirty="0"/>
                  <a:t>	How “clustered” is the network?	</a:t>
                </a:r>
              </a:p>
              <a:p>
                <a:pPr marL="0" indent="0">
                  <a:buNone/>
                </a:pPr>
                <a:r>
                  <a:rPr lang="en-US" dirty="0"/>
                  <a:t>	(Global):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triangles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triplets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nodes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  <a:blipFill>
                <a:blip r:embed="rId3"/>
                <a:stretch>
                  <a:fillRect l="-1852"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3797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560643-62B8-D844-9CFA-227BCF182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745" y="179638"/>
            <a:ext cx="4320987" cy="652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960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Clustering coefficient:</a:t>
                </a:r>
              </a:p>
              <a:p>
                <a:pPr marL="0" indent="0">
                  <a:buNone/>
                </a:pPr>
                <a:r>
                  <a:rPr lang="en-US" dirty="0"/>
                  <a:t>	How “clustered” is the network?	</a:t>
                </a:r>
              </a:p>
              <a:p>
                <a:pPr marL="0" indent="0">
                  <a:buNone/>
                </a:pPr>
                <a:r>
                  <a:rPr lang="en-US" dirty="0"/>
                  <a:t>	(Global):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triangles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number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triplets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nodes</m:t>
                        </m:r>
                      </m:den>
                    </m:f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Small-world network: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r>
                  <a:rPr lang="en-US" dirty="0"/>
                  <a:t>Avg. shortest distance is proportional to the 	logarithm of the number of nodes.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dirty="0"/>
                  <a:t>	Large clustering coefficient and small average 	shortest path length.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  <a:blipFill>
                <a:blip r:embed="rId3"/>
                <a:stretch>
                  <a:fillRect l="-1852" t="-1101" r="-1543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237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Some network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Small-world network:</a:t>
                </a:r>
              </a:p>
              <a:p>
                <a:pPr marL="0" indent="0">
                  <a:buNone/>
                </a:pPr>
                <a:r>
                  <a:rPr lang="en-US" b="1" dirty="0"/>
                  <a:t>	</a:t>
                </a:r>
                <a:r>
                  <a:rPr lang="en-US" dirty="0"/>
                  <a:t>Avg. shortest distance is proportional to the 	logarithm of the number of nodes.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dirty="0"/>
                  <a:t>	Large clustering coefficient (</a:t>
                </a:r>
                <a:r>
                  <a:rPr lang="en-US" i="1" dirty="0"/>
                  <a:t>C</a:t>
                </a:r>
                <a:r>
                  <a:rPr lang="en-US" dirty="0"/>
                  <a:t>) and small 	average shortest path length (</a:t>
                </a:r>
                <a:r>
                  <a:rPr lang="en-US" i="1" dirty="0"/>
                  <a:t>L</a:t>
                </a:r>
                <a:r>
                  <a:rPr lang="en-US" dirty="0"/>
                  <a:t>)</a:t>
                </a:r>
                <a:r>
                  <a:rPr lang="en-US" i="1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type m:val="li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 are the statistics for “equivalent 	random network”. What does that mean?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3B570-CE2C-C24F-B3C1-A07C67626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21135"/>
                <a:ext cx="8229600" cy="5747657"/>
              </a:xfrm>
              <a:blipFill>
                <a:blip r:embed="rId3"/>
                <a:stretch>
                  <a:fillRect l="-1852" t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2993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Canonical Random Network: </a:t>
            </a:r>
            <a:r>
              <a:rPr lang="en-US" dirty="0" err="1"/>
              <a:t>Erdős-Rényi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B570-CE2C-C24F-B3C1-A07C67626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21135"/>
            <a:ext cx="8229600" cy="5747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dirty="0" err="1"/>
              <a:t>Erdős-Rényi</a:t>
            </a:r>
            <a:r>
              <a:rPr lang="en-US" dirty="0"/>
              <a:t> network is a network formed from </a:t>
            </a:r>
            <a:r>
              <a:rPr lang="en-US" i="1" dirty="0"/>
              <a:t>n </a:t>
            </a:r>
            <a:r>
              <a:rPr lang="en-US" dirty="0"/>
              <a:t>nodes and </a:t>
            </a:r>
            <a:r>
              <a:rPr lang="en-US" i="1" dirty="0"/>
              <a:t>m </a:t>
            </a:r>
            <a:r>
              <a:rPr lang="en-US" dirty="0"/>
              <a:t>edges where the </a:t>
            </a:r>
            <a:r>
              <a:rPr lang="en-US" i="1" dirty="0"/>
              <a:t>m </a:t>
            </a:r>
            <a:r>
              <a:rPr lang="en-US" dirty="0"/>
              <a:t>edges are assigned at random to pairs of nodes.</a:t>
            </a:r>
          </a:p>
          <a:p>
            <a:pPr marL="0" indent="0">
              <a:buNone/>
            </a:pPr>
            <a:r>
              <a:rPr lang="en-US" dirty="0"/>
              <a:t>	A variant instead defines it in terms of 	number of nodes and probability of an edge 	between any two nodes.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/>
              <a:t>Who cares?</a:t>
            </a:r>
          </a:p>
          <a:p>
            <a:pPr marL="0" indent="0">
              <a:buNone/>
            </a:pPr>
            <a:r>
              <a:rPr lang="en-US" dirty="0"/>
              <a:t>	These networks cannot be sparse and 	clustered.</a:t>
            </a:r>
          </a:p>
        </p:txBody>
      </p:sp>
    </p:spTree>
    <p:extLst>
      <p:ext uri="{BB962C8B-B14F-4D97-AF65-F5344CB8AC3E}">
        <p14:creationId xmlns:p14="http://schemas.microsoft.com/office/powerpoint/2010/main" val="5897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3B72B-8CE2-6546-A591-86CE682F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9"/>
            <a:ext cx="8229600" cy="792162"/>
          </a:xfrm>
        </p:spPr>
        <p:txBody>
          <a:bodyPr>
            <a:normAutofit/>
          </a:bodyPr>
          <a:lstStyle/>
          <a:p>
            <a:r>
              <a:rPr lang="en-US" sz="4000" dirty="0"/>
              <a:t>Degree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3B570-CE2C-C24F-B3C1-A07C67626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27" y="1021135"/>
            <a:ext cx="8898673" cy="3394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degree distribution of a network is a histogram of the degree for each node.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dirty="0" err="1"/>
              <a:t>Erdős-Rényi</a:t>
            </a:r>
            <a:r>
              <a:rPr lang="en-US" dirty="0"/>
              <a:t> have Binomial(</a:t>
            </a:r>
            <a:r>
              <a:rPr lang="en-US" dirty="0" err="1"/>
              <a:t>n,p</a:t>
            </a:r>
            <a:r>
              <a:rPr lang="en-US" dirty="0"/>
              <a:t>) degree distribution.</a:t>
            </a:r>
          </a:p>
          <a:p>
            <a:pPr marL="0" indent="0">
              <a:buNone/>
            </a:pPr>
            <a:r>
              <a:rPr lang="en-US" dirty="0"/>
              <a:t>Real-world networks have </a:t>
            </a:r>
            <a:r>
              <a:rPr lang="en-US" i="1" dirty="0"/>
              <a:t>scale-free </a:t>
            </a:r>
            <a:r>
              <a:rPr lang="en-US" dirty="0"/>
              <a:t>or </a:t>
            </a:r>
            <a:r>
              <a:rPr lang="en-US" i="1" dirty="0"/>
              <a:t>power-law </a:t>
            </a:r>
            <a:r>
              <a:rPr lang="en-US" dirty="0"/>
              <a:t>degree distributions. 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5A7EF-0F7B-6D43-9AEE-BDEC4B1EA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93963"/>
            <a:ext cx="2945553" cy="20640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8563E-36F5-FB4A-B650-EF12F38AF8DD}"/>
              </a:ext>
            </a:extLst>
          </p:cNvPr>
          <p:cNvSpPr txBox="1"/>
          <p:nvPr/>
        </p:nvSpPr>
        <p:spPr>
          <a:xfrm>
            <a:off x="1314962" y="4271045"/>
            <a:ext cx="1505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Binomial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44D8E-C88A-DD40-ACAB-76767EB2E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428" y="4921500"/>
            <a:ext cx="3735659" cy="1936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26B02C-0DFA-214A-871E-84586EA23C27}"/>
              </a:ext>
            </a:extLst>
          </p:cNvPr>
          <p:cNvSpPr txBox="1"/>
          <p:nvPr/>
        </p:nvSpPr>
        <p:spPr>
          <a:xfrm>
            <a:off x="4551234" y="4261007"/>
            <a:ext cx="3398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Scale-free/Power-law</a:t>
            </a:r>
          </a:p>
        </p:txBody>
      </p:sp>
    </p:spTree>
    <p:extLst>
      <p:ext uri="{BB962C8B-B14F-4D97-AF65-F5344CB8AC3E}">
        <p14:creationId xmlns:p14="http://schemas.microsoft.com/office/powerpoint/2010/main" val="2036683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8977FF0-6434-D740-8D32-2F4501D0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err="1"/>
              <a:t>Erdos-Renyi</a:t>
            </a:r>
            <a:r>
              <a:rPr lang="en-US" dirty="0"/>
              <a:t> vs. Power-Law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2E3AFB-4E3A-9140-91F3-9C1E5F3EA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1357"/>
            <a:ext cx="3636225" cy="3080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3F8AE-45AB-A244-9626-6995DE4D7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862" y="2651356"/>
            <a:ext cx="3404618" cy="308036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5B9160-6FD7-1743-AC44-BE1B7E352EAB}"/>
              </a:ext>
            </a:extLst>
          </p:cNvPr>
          <p:cNvSpPr/>
          <p:nvPr/>
        </p:nvSpPr>
        <p:spPr>
          <a:xfrm>
            <a:off x="6088868" y="6488668"/>
            <a:ext cx="3055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Steyvers</a:t>
            </a:r>
            <a:r>
              <a:rPr lang="en-US" dirty="0"/>
              <a:t> &amp; Tenenbaum, 2005)</a:t>
            </a:r>
          </a:p>
        </p:txBody>
      </p:sp>
    </p:spTree>
    <p:extLst>
      <p:ext uri="{BB962C8B-B14F-4D97-AF65-F5344CB8AC3E}">
        <p14:creationId xmlns:p14="http://schemas.microsoft.com/office/powerpoint/2010/main" val="188156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09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representations: </a:t>
            </a:r>
            <a:br>
              <a:rPr lang="en-US" dirty="0"/>
            </a:br>
            <a:r>
              <a:rPr lang="en-US" dirty="0"/>
              <a:t>Semantic/Associative Networks</a:t>
            </a:r>
          </a:p>
        </p:txBody>
      </p:sp>
      <p:pic>
        <p:nvPicPr>
          <p:cNvPr id="9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4" y="1620144"/>
            <a:ext cx="394811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11926" y="6423831"/>
            <a:ext cx="2351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(Collins &amp; Loftus, 1975)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221" y="1301358"/>
            <a:ext cx="50686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Links represent associations between words or concepts.</a:t>
            </a:r>
          </a:p>
          <a:p>
            <a:endParaRPr lang="en-US" sz="1600" dirty="0"/>
          </a:p>
          <a:p>
            <a:r>
              <a:rPr lang="en-US" sz="3200" dirty="0"/>
              <a:t>Links may or may not be weighted.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297508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95585" y="44430"/>
            <a:ext cx="8575685" cy="765656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Properties of semantic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792" y="992235"/>
            <a:ext cx="8558652" cy="563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USF Association Network: 5,048 nodes; ~ 63,000 edges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							(of ~6 million possible)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Sparse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Network contains only a small number of the 				             possible edges between nodes.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USF network, avg. # of edges per node is 11!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“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Small world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” The shortest path between any two words tends to 					be small.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	The avg. shortest path between any two nodes is 3!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Power-law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Most words have few edges, but a few have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degree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many edges.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Clustering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Neighbors of a node are likely to be connected by an 				edge.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35901" y="6470281"/>
            <a:ext cx="65080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(Nelson,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McEvoy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 &amp; Schreiber, 1998;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Steyvers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 &amp;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Tenenbaum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+mn-ea"/>
                <a:cs typeface="+mn-cs"/>
              </a:rPr>
              <a:t>, 2005)</a:t>
            </a:r>
          </a:p>
        </p:txBody>
      </p:sp>
    </p:spTree>
    <p:extLst>
      <p:ext uri="{BB962C8B-B14F-4D97-AF65-F5344CB8AC3E}">
        <p14:creationId xmlns:p14="http://schemas.microsoft.com/office/powerpoint/2010/main" val="90731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C9F54C-D7F4-CC4E-921A-31CE08634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03" y="1086622"/>
            <a:ext cx="8156510" cy="4399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AE6ED-066A-7A4B-B4E5-8D0C28703944}"/>
              </a:ext>
            </a:extLst>
          </p:cNvPr>
          <p:cNvSpPr txBox="1"/>
          <p:nvPr/>
        </p:nvSpPr>
        <p:spPr>
          <a:xfrm>
            <a:off x="6088868" y="6411951"/>
            <a:ext cx="30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Steyvers</a:t>
            </a:r>
            <a:r>
              <a:rPr lang="en-US" dirty="0"/>
              <a:t> &amp; Tenenbaum, 2005)</a:t>
            </a:r>
          </a:p>
        </p:txBody>
      </p:sp>
    </p:spTree>
    <p:extLst>
      <p:ext uri="{BB962C8B-B14F-4D97-AF65-F5344CB8AC3E}">
        <p14:creationId xmlns:p14="http://schemas.microsoft.com/office/powerpoint/2010/main" val="35497300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6DE6D2-B18A-7A47-A3E8-E04470FD4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779" y="643466"/>
            <a:ext cx="5306441" cy="5571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A50B3A-2E7B-4746-A582-58FDC588E40D}"/>
              </a:ext>
            </a:extLst>
          </p:cNvPr>
          <p:cNvSpPr/>
          <p:nvPr/>
        </p:nvSpPr>
        <p:spPr>
          <a:xfrm>
            <a:off x="6088868" y="6488668"/>
            <a:ext cx="3055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Steyvers</a:t>
            </a:r>
            <a:r>
              <a:rPr lang="en-US" dirty="0"/>
              <a:t> &amp; Tenenbaum, 2005)</a:t>
            </a:r>
          </a:p>
        </p:txBody>
      </p:sp>
    </p:spTree>
    <p:extLst>
      <p:ext uri="{BB962C8B-B14F-4D97-AF65-F5344CB8AC3E}">
        <p14:creationId xmlns:p14="http://schemas.microsoft.com/office/powerpoint/2010/main" val="17958971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65BD-5111-794C-B6D1-74135FDF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6" y="629266"/>
            <a:ext cx="3845274" cy="16766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What network growth mechanisms result in scale-free, sparse, </a:t>
            </a:r>
            <a:r>
              <a:rPr lang="en-US" sz="3100" err="1"/>
              <a:t>etc</a:t>
            </a:r>
            <a:r>
              <a:rPr lang="en-US" sz="310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97BF5-34C8-F342-8B9C-922C18417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2438400"/>
            <a:ext cx="3845272" cy="378541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Not </a:t>
            </a:r>
            <a:r>
              <a:rPr lang="en-US" sz="2700" dirty="0" err="1"/>
              <a:t>Erdos-Renyi</a:t>
            </a:r>
            <a:r>
              <a:rPr lang="en-US" sz="27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7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One method (similar to </a:t>
            </a:r>
            <a:r>
              <a:rPr lang="en-US" sz="2700" dirty="0" err="1"/>
              <a:t>Barabasi</a:t>
            </a:r>
            <a:r>
              <a:rPr lang="en-US" sz="2700" dirty="0"/>
              <a:t> &amp; Albert, 1999)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700" dirty="0"/>
              <a:t>	New nodes connect to 	existing nodes 	proportional to their 	degree.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4031EE-54C3-1C43-86EE-96ECB9D360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49" t="-1" r="-3463" b="4"/>
          <a:stretch/>
        </p:blipFill>
        <p:spPr>
          <a:xfrm>
            <a:off x="4242758" y="1199941"/>
            <a:ext cx="4901241" cy="4835168"/>
          </a:xfrm>
          <a:prstGeom prst="rect">
            <a:avLst/>
          </a:prstGeom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3F9257-1F72-5F45-93BA-1E68B529C652}"/>
              </a:ext>
            </a:extLst>
          </p:cNvPr>
          <p:cNvSpPr/>
          <p:nvPr/>
        </p:nvSpPr>
        <p:spPr>
          <a:xfrm>
            <a:off x="6088868" y="6488668"/>
            <a:ext cx="3055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Steyvers</a:t>
            </a:r>
            <a:r>
              <a:rPr lang="en-US" dirty="0"/>
              <a:t> &amp; Tenenbaum, 2005)</a:t>
            </a:r>
          </a:p>
        </p:txBody>
      </p:sp>
    </p:spTree>
    <p:extLst>
      <p:ext uri="{BB962C8B-B14F-4D97-AF65-F5344CB8AC3E}">
        <p14:creationId xmlns:p14="http://schemas.microsoft.com/office/powerpoint/2010/main" val="5736510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8BC43-9E24-9C4C-8E74-DED1EFEA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D057D-91B4-36F9-AD20-E3DBE81C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992" y="135082"/>
            <a:ext cx="8229600" cy="6751588"/>
          </a:xfrm>
        </p:spPr>
        <p:txBody>
          <a:bodyPr>
            <a:normAutofit/>
          </a:bodyPr>
          <a:lstStyle/>
          <a:p>
            <a:r>
              <a:rPr lang="en-US" dirty="0"/>
              <a:t>Admin Matters</a:t>
            </a:r>
          </a:p>
          <a:p>
            <a:r>
              <a:rPr lang="en-US" dirty="0"/>
              <a:t>Markov Chains</a:t>
            </a:r>
          </a:p>
          <a:p>
            <a:r>
              <a:rPr lang="en-US" dirty="0"/>
              <a:t>Network Theory</a:t>
            </a:r>
          </a:p>
          <a:p>
            <a:r>
              <a:rPr lang="en-US" b="1" dirty="0"/>
              <a:t>Short rest 1</a:t>
            </a:r>
            <a:endParaRPr lang="en-US" dirty="0"/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Karl presenting </a:t>
            </a:r>
            <a:r>
              <a:rPr lang="en-US" dirty="0" err="1"/>
              <a:t>Muhkerjee</a:t>
            </a:r>
            <a:r>
              <a:rPr lang="en-US" dirty="0"/>
              <a:t> et al (2017)</a:t>
            </a:r>
          </a:p>
          <a:p>
            <a:pPr lvl="1"/>
            <a:r>
              <a:rPr lang="en-US" dirty="0" err="1"/>
              <a:t>Bujji</a:t>
            </a:r>
            <a:r>
              <a:rPr lang="en-US" dirty="0"/>
              <a:t> presenting Griffiths et al. (2007)</a:t>
            </a:r>
          </a:p>
          <a:p>
            <a:r>
              <a:rPr lang="en-US" b="1" dirty="0"/>
              <a:t>Short rest 2</a:t>
            </a:r>
          </a:p>
          <a:p>
            <a:r>
              <a:rPr lang="en-US" dirty="0"/>
              <a:t>Student presentations:</a:t>
            </a:r>
          </a:p>
          <a:p>
            <a:pPr lvl="1"/>
            <a:r>
              <a:rPr lang="en-US" dirty="0"/>
              <a:t>Aakash + Ashwini presenting Abbott et al. (2012)</a:t>
            </a:r>
          </a:p>
          <a:p>
            <a:pPr lvl="1"/>
            <a:r>
              <a:rPr lang="en-US" dirty="0"/>
              <a:t>Caleb presenting </a:t>
            </a:r>
            <a:r>
              <a:rPr lang="en-US" dirty="0" err="1"/>
              <a:t>Zemla</a:t>
            </a:r>
            <a:r>
              <a:rPr lang="en-US" dirty="0"/>
              <a:t> and Austerweil (2019)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57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9.73"/>
  <p:tag name="ORIGINALWIDTH" val="161.2298"/>
  <p:tag name="LATEXADDIN" val="\documentclass{article}&#10;\usepackage{amsmath}&#10;\pagestyle{empty}&#10;\begin{document}&#10;&#10;&#10;\begin{equation*}&#10;P_{ij}^T&#10;\end{equation*}&#10;&#10;\end{document}"/>
  <p:tag name="IGUANATEXSIZE" val="20"/>
  <p:tag name="IGUANATEXCURSOR" val="136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483.6895"/>
  <p:tag name="LATEXADDIN" val="\documentclass{article}&#10;\usepackage{amsmath}&#10;\pagestyle{empty}&#10;\begin{document}&#10;&#10;&#10;\begin{equation*}&#10;\vec{\pi} {\bf P} = \lambda \vec{\pi}&#10;\end{equation*}&#10;&#10;\end{document}"/>
  <p:tag name="IGUANATEXSIZE" val="32"/>
  <p:tag name="IGUANATEXCURSOR" val="13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98.98764"/>
  <p:tag name="LATEXADDIN" val="\documentclass{article}&#10;\usepackage{amsmath}&#10;\pagestyle{empty}&#10;\begin{document}&#10;&#10;&#10;\begin{equation*}&#10;\pi_i&#10;\end{equation*}&#10;&#10;\end{document}"/>
  <p:tag name="IGUANATEXSIZE" val="24"/>
  <p:tag name="IGUANATEXCURSOR" val="10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78.74016"/>
  <p:tag name="LATEXADDIN" val="\documentclass{article}&#10;\usepackage{amsmath}&#10;\pagestyle{empty}&#10;\begin{document}&#10;&#10;&#10;\begin{equation*}&#10;\Lambda&#10;\end{equation*}&#10;&#10;\end{document}"/>
  <p:tag name="IGUANATEXSIZE" val="28"/>
  <p:tag name="IGUANATEXCURSOR" val="10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.4833"/>
  <p:tag name="ORIGINALWIDTH" val="704.162"/>
  <p:tag name="LATEXADDIN" val="\documentclass{article}&#10;\usepackage{amsmath}&#10;\pagestyle{empty}&#10;\begin{document}&#10;&#10;&#10;\begin{equation*}&#10;{\bf A} = {\bf Q} {\bf \Lambda} {\bf Q}^{-1} &#10;\end{equation*}&#10;&#10;\end{document}"/>
  <p:tag name="IGUANATEXSIZE" val="20"/>
  <p:tag name="IGUANATEXCURSOR" val="143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7341</TotalTime>
  <Words>2525</Words>
  <Application>Microsoft Office PowerPoint</Application>
  <PresentationFormat>On-screen Show (4:3)</PresentationFormat>
  <Paragraphs>519</Paragraphs>
  <Slides>46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Courier</vt:lpstr>
      <vt:lpstr>Arial</vt:lpstr>
      <vt:lpstr>Calibri</vt:lpstr>
      <vt:lpstr>Cambria Math</vt:lpstr>
      <vt:lpstr>Times</vt:lpstr>
      <vt:lpstr>Times New Roman</vt:lpstr>
      <vt:lpstr>Office Theme</vt:lpstr>
      <vt:lpstr>Markov Chains and Networks</vt:lpstr>
      <vt:lpstr>PowerPoint Presentation</vt:lpstr>
      <vt:lpstr>Administrative Matters</vt:lpstr>
      <vt:lpstr>PowerPoint Presentation</vt:lpstr>
      <vt:lpstr>Markov</vt:lpstr>
      <vt:lpstr>Markov chains</vt:lpstr>
      <vt:lpstr>Example: Card Shuffling</vt:lpstr>
      <vt:lpstr>Another look at Markov chains/processes</vt:lpstr>
      <vt:lpstr>Another look at Markov chains/processes</vt:lpstr>
      <vt:lpstr>Another look at Markov chains/processes</vt:lpstr>
      <vt:lpstr>Multi-step Probability and the Stationary Distribution</vt:lpstr>
      <vt:lpstr>Note on Eigenvectors</vt:lpstr>
      <vt:lpstr>Visual interpretation</vt:lpstr>
      <vt:lpstr>Note on Eigenvectors</vt:lpstr>
      <vt:lpstr>Note on Eigenvectors</vt:lpstr>
      <vt:lpstr>PowerPoint Presentation</vt:lpstr>
      <vt:lpstr>(Semantic) Networks</vt:lpstr>
      <vt:lpstr>From graphs to probabilities</vt:lpstr>
      <vt:lpstr>The sequence of states visited by a random walk form a Markov chain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Stationary distributions</vt:lpstr>
      <vt:lpstr>Example</vt:lpstr>
      <vt:lpstr>More network theory as time allows</vt:lpstr>
      <vt:lpstr>Some network terms</vt:lpstr>
      <vt:lpstr>Some network terms</vt:lpstr>
      <vt:lpstr>Some network terms</vt:lpstr>
      <vt:lpstr>Some network terms</vt:lpstr>
      <vt:lpstr>PowerPoint Presentation</vt:lpstr>
      <vt:lpstr>Some network terms</vt:lpstr>
      <vt:lpstr>Some network terms</vt:lpstr>
      <vt:lpstr>Canonical Random Network: Erdős-Rényi</vt:lpstr>
      <vt:lpstr>Degree distributions</vt:lpstr>
      <vt:lpstr>Erdos-Renyi vs. Power-Law</vt:lpstr>
      <vt:lpstr>Network representations:  Semantic/Associative Networks</vt:lpstr>
      <vt:lpstr>Properties of semantic networks</vt:lpstr>
      <vt:lpstr>PowerPoint Presentation</vt:lpstr>
      <vt:lpstr>PowerPoint Presentation</vt:lpstr>
      <vt:lpstr>What network growth mechanisms result in scale-free, sparse, etc?</vt:lpstr>
      <vt:lpstr>PowerPoint Presentation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Joseph Austerweil</dc:creator>
  <cp:lastModifiedBy>Joseph Austerweil</cp:lastModifiedBy>
  <cp:revision>306</cp:revision>
  <cp:lastPrinted>2017-09-13T02:18:10Z</cp:lastPrinted>
  <dcterms:created xsi:type="dcterms:W3CDTF">2015-09-05T16:34:09Z</dcterms:created>
  <dcterms:modified xsi:type="dcterms:W3CDTF">2025-03-06T18:19:19Z</dcterms:modified>
</cp:coreProperties>
</file>