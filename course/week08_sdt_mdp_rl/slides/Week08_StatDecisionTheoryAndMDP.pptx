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7" r:id="rId2"/>
    <p:sldId id="814" r:id="rId3"/>
    <p:sldId id="259" r:id="rId4"/>
    <p:sldId id="819" r:id="rId5"/>
    <p:sldId id="810" r:id="rId6"/>
    <p:sldId id="811" r:id="rId7"/>
    <p:sldId id="812" r:id="rId8"/>
    <p:sldId id="818" r:id="rId9"/>
    <p:sldId id="813" r:id="rId10"/>
    <p:sldId id="395" r:id="rId11"/>
    <p:sldId id="820" r:id="rId12"/>
    <p:sldId id="363" r:id="rId13"/>
    <p:sldId id="354" r:id="rId14"/>
    <p:sldId id="355" r:id="rId15"/>
    <p:sldId id="356" r:id="rId16"/>
    <p:sldId id="357" r:id="rId17"/>
    <p:sldId id="371" r:id="rId18"/>
    <p:sldId id="397" r:id="rId19"/>
    <p:sldId id="399" r:id="rId20"/>
    <p:sldId id="401" r:id="rId21"/>
    <p:sldId id="402" r:id="rId22"/>
    <p:sldId id="403" r:id="rId23"/>
    <p:sldId id="404" r:id="rId24"/>
    <p:sldId id="405" r:id="rId25"/>
    <p:sldId id="406" r:id="rId26"/>
    <p:sldId id="407" r:id="rId27"/>
    <p:sldId id="387" r:id="rId28"/>
    <p:sldId id="389" r:id="rId29"/>
    <p:sldId id="396" r:id="rId30"/>
    <p:sldId id="373" r:id="rId31"/>
    <p:sldId id="821" r:id="rId32"/>
    <p:sldId id="326" r:id="rId33"/>
    <p:sldId id="822"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51" autoAdjust="0"/>
    <p:restoredTop sz="72251" autoAdjust="0"/>
  </p:normalViewPr>
  <p:slideViewPr>
    <p:cSldViewPr snapToGrid="0" snapToObjects="1">
      <p:cViewPr>
        <p:scale>
          <a:sx n="78" d="100"/>
          <a:sy n="78" d="100"/>
        </p:scale>
        <p:origin x="1196" y="8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21CB42-D47B-CE44-8DEE-D3A42889BE6E}" type="datetimeFigureOut">
              <a:rPr lang="en-US" smtClean="0"/>
              <a:t>3/19/2025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18A63-2409-0241-8255-D95D06F653A2}" type="slidenum">
              <a:rPr lang="en-US" smtClean="0"/>
              <a:t>‹#›</a:t>
            </a:fld>
            <a:endParaRPr lang="en-US"/>
          </a:p>
        </p:txBody>
      </p:sp>
    </p:spTree>
    <p:extLst>
      <p:ext uri="{BB962C8B-B14F-4D97-AF65-F5344CB8AC3E}">
        <p14:creationId xmlns:p14="http://schemas.microsoft.com/office/powerpoint/2010/main" val="9414907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class, let’s get started. Thanks everyone for being flexible and doing class virtually today. I really appreciate it. It is helping me with getting better. </a:t>
            </a:r>
          </a:p>
        </p:txBody>
      </p:sp>
      <p:sp>
        <p:nvSpPr>
          <p:cNvPr id="4" name="Slide Number Placeholder 3"/>
          <p:cNvSpPr>
            <a:spLocks noGrp="1"/>
          </p:cNvSpPr>
          <p:nvPr>
            <p:ph type="sldNum" sz="quarter" idx="10"/>
          </p:nvPr>
        </p:nvSpPr>
        <p:spPr/>
        <p:txBody>
          <a:bodyPr/>
          <a:lstStyle/>
          <a:p>
            <a:fld id="{A80A284C-79A3-AE45-A29D-322D8EC7B22F}" type="slidenum">
              <a:rPr lang="en-US" smtClean="0"/>
              <a:t>1</a:t>
            </a:fld>
            <a:endParaRPr lang="en-US"/>
          </a:p>
        </p:txBody>
      </p:sp>
    </p:spTree>
    <p:extLst>
      <p:ext uri="{BB962C8B-B14F-4D97-AF65-F5344CB8AC3E}">
        <p14:creationId xmlns:p14="http://schemas.microsoft.com/office/powerpoint/2010/main" val="2067281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today’s class, we’ll start with some short admin matters, move into statistical decision theory and Markov decision processes/reinforcement learning, and </a:t>
            </a:r>
            <a:r>
              <a:rPr lang="en-US" dirty="0" err="1"/>
              <a:t>thenhave</a:t>
            </a:r>
            <a:r>
              <a:rPr lang="en-US" dirty="0"/>
              <a:t> three student presentations with two short rests.</a:t>
            </a:r>
          </a:p>
        </p:txBody>
      </p:sp>
      <p:sp>
        <p:nvSpPr>
          <p:cNvPr id="4" name="Slide Number Placeholder 3"/>
          <p:cNvSpPr>
            <a:spLocks noGrp="1"/>
          </p:cNvSpPr>
          <p:nvPr>
            <p:ph type="sldNum" sz="quarter" idx="5"/>
          </p:nvPr>
        </p:nvSpPr>
        <p:spPr/>
        <p:txBody>
          <a:bodyPr/>
          <a:lstStyle/>
          <a:p>
            <a:fld id="{D5C18A63-2409-0241-8255-D95D06F653A2}" type="slidenum">
              <a:rPr lang="en-US" smtClean="0"/>
              <a:t>2</a:t>
            </a:fld>
            <a:endParaRPr lang="en-US"/>
          </a:p>
        </p:txBody>
      </p:sp>
    </p:spTree>
    <p:extLst>
      <p:ext uri="{BB962C8B-B14F-4D97-AF65-F5344CB8AC3E}">
        <p14:creationId xmlns:p14="http://schemas.microsoft.com/office/powerpoint/2010/main" val="245761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Apologies about the generalization assignment grading being a bit delayed. I’m a </a:t>
            </a:r>
            <a:r>
              <a:rPr lang="en-US" dirty="0" err="1"/>
              <a:t>metareviewer</a:t>
            </a:r>
            <a:r>
              <a:rPr lang="en-US" dirty="0"/>
              <a:t> for the </a:t>
            </a:r>
            <a:r>
              <a:rPr lang="en-US" dirty="0" err="1"/>
              <a:t>cogsci</a:t>
            </a:r>
            <a:r>
              <a:rPr lang="en-US" dirty="0"/>
              <a:t> conference each year. They used to default to 4 or at most 6 papers for meta reviewing. But they increased it to 8 this year and I hadn’t realized. Also, more than half of the papers had split reviewer decisions, which required me to think carefully to evaluate the criticisms and the paper to make a fair recommendation that takes them all into account. At that point, your project proposals came in and getting those back to you first to ensure you got timely feedback and could make progress on those became more important. I’m hoping to get the generalization assignment back to you soon.</a:t>
            </a:r>
          </a:p>
          <a:p>
            <a:endParaRPr lang="en-US" dirty="0"/>
          </a:p>
          <a:p>
            <a:r>
              <a:rPr lang="en-US" dirty="0"/>
              <a:t>Also, we already discussed this, but the due date for </a:t>
            </a:r>
            <a:r>
              <a:rPr lang="en-US" dirty="0" err="1"/>
              <a:t>assigments</a:t>
            </a:r>
            <a:r>
              <a:rPr lang="en-US" dirty="0"/>
              <a:t> 3 and 4 were pushed back a week. Assignment 4 isn’t out yet. It’s pretty straightforward – with a lot of helper code, you reproduce the basic phenomena from the ho et al 2015 paper we’re discussing today and explain why it’s happening. It will go out by the end of spring break (likely sooner).</a:t>
            </a:r>
          </a:p>
          <a:p>
            <a:endParaRPr lang="en-US" dirty="0"/>
          </a:p>
          <a:p>
            <a:r>
              <a:rPr lang="en-US" dirty="0"/>
              <a:t>Any questions?</a:t>
            </a:r>
          </a:p>
        </p:txBody>
      </p:sp>
      <p:sp>
        <p:nvSpPr>
          <p:cNvPr id="4" name="Slide Number Placeholder 3"/>
          <p:cNvSpPr>
            <a:spLocks noGrp="1"/>
          </p:cNvSpPr>
          <p:nvPr>
            <p:ph type="sldNum" sz="quarter" idx="5"/>
          </p:nvPr>
        </p:nvSpPr>
        <p:spPr/>
        <p:txBody>
          <a:bodyPr/>
          <a:lstStyle/>
          <a:p>
            <a:fld id="{D5C18A63-2409-0241-8255-D95D06F653A2}" type="slidenum">
              <a:rPr lang="en-US" smtClean="0"/>
              <a:t>3</a:t>
            </a:fld>
            <a:endParaRPr lang="en-US"/>
          </a:p>
        </p:txBody>
      </p:sp>
    </p:spTree>
    <p:extLst>
      <p:ext uri="{BB962C8B-B14F-4D97-AF65-F5344CB8AC3E}">
        <p14:creationId xmlns:p14="http://schemas.microsoft.com/office/powerpoint/2010/main" val="45583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everything we’ve discussed has been in service of making predictions. We saw how Bayesian updating be used to make all sorts of predictions, ranging from generalizing properties to causal judgments to memory retrieval. We even started discussing how to approximate these calculations when it’s challenging to do the calculations explicitly. </a:t>
            </a:r>
          </a:p>
          <a:p>
            <a:endParaRPr lang="en-US" dirty="0"/>
          </a:p>
          <a:p>
            <a:r>
              <a:rPr lang="en-US" dirty="0"/>
              <a:t>But, what use is prediction if you can’t do anything about it? In this lecture, we’ll discuss statistical decision theory, which serves as the normative basis for evaluating decision-making. I will give a flavor of what the framework looks like and what one can do with it. This will allow you to delve deeper into the topics later on your own if you’re interested.</a:t>
            </a:r>
          </a:p>
          <a:p>
            <a:endParaRPr lang="en-US" dirty="0"/>
          </a:p>
          <a:p>
            <a:r>
              <a:rPr lang="en-US" baseline="0" dirty="0"/>
              <a:t>To introduce the overall idea, let’s say you’re trying to get to the airport in a city where there are two ways to drive to the airport: you can take the bridge or the tunnel. You need to have a choice or actions one can take to make a decision, so that’s what the bridge vs. tunnel choice is serving. </a:t>
            </a:r>
          </a:p>
          <a:p>
            <a:endParaRPr lang="en-US" baseline="0" dirty="0"/>
          </a:p>
          <a:p>
            <a:r>
              <a:rPr lang="en-US" baseline="0" dirty="0"/>
              <a:t>Let’s assume that the bridge is better as long as the proportion of cars are on it don’t get too high. We can represent how good it is to take the bridge vs. tunnel based on the level of traffic on the bridge by a loss function. It encodes the loss of an action based on the state of the world. So in our example, it might be the extra amount of time it takes to get to the airport based on the traffic. Note that this can capture good decisions too, it would just be a negative amount in this case. Statisticians decided to be more pessimistic and encode everything in terms of negatives.</a:t>
            </a:r>
          </a:p>
          <a:p>
            <a:endParaRPr lang="en-US" baseline="0" dirty="0"/>
          </a:p>
          <a:p>
            <a:r>
              <a:rPr lang="en-US" baseline="0" dirty="0"/>
              <a:t>Now, to make this more interesting, we can introduce observations. It could be noisy. For example, let’s say we have access to the bridge traffic cam at certain points. We could watch that for a bit and estimate the level of traffic that there is on the bridge. That’s effectively learning! Now we can make a decision based on how we learn and examine our loss based on taking those actions and whatever the true state of the world. We can evaluate whether or one decision rule is better than another from this loss and a bit of extra work.</a:t>
            </a:r>
          </a:p>
          <a:p>
            <a:endParaRPr lang="en-US" baseline="0" dirty="0"/>
          </a:p>
        </p:txBody>
      </p:sp>
      <p:sp>
        <p:nvSpPr>
          <p:cNvPr id="4" name="Slide Number Placeholder 3"/>
          <p:cNvSpPr>
            <a:spLocks noGrp="1"/>
          </p:cNvSpPr>
          <p:nvPr>
            <p:ph type="sldNum" sz="quarter" idx="10"/>
          </p:nvPr>
        </p:nvSpPr>
        <p:spPr/>
        <p:txBody>
          <a:bodyPr/>
          <a:lstStyle/>
          <a:p>
            <a:fld id="{877EBB72-264C-9443-9D38-1AA15D3C50C8}" type="slidenum">
              <a:rPr lang="en-US" smtClean="0"/>
              <a:t>5</a:t>
            </a:fld>
            <a:endParaRPr lang="en-US"/>
          </a:p>
        </p:txBody>
      </p:sp>
    </p:spTree>
    <p:extLst>
      <p:ext uri="{BB962C8B-B14F-4D97-AF65-F5344CB8AC3E}">
        <p14:creationId xmlns:p14="http://schemas.microsoft.com/office/powerpoint/2010/main" val="2277135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connect the intuitive example we began with to the formal components that statistical decision theory uses to define a problem.</a:t>
            </a:r>
          </a:p>
        </p:txBody>
      </p:sp>
      <p:sp>
        <p:nvSpPr>
          <p:cNvPr id="4" name="Slide Number Placeholder 3"/>
          <p:cNvSpPr>
            <a:spLocks noGrp="1"/>
          </p:cNvSpPr>
          <p:nvPr>
            <p:ph type="sldNum" sz="quarter" idx="10"/>
          </p:nvPr>
        </p:nvSpPr>
        <p:spPr/>
        <p:txBody>
          <a:bodyPr/>
          <a:lstStyle/>
          <a:p>
            <a:fld id="{877EBB72-264C-9443-9D38-1AA15D3C50C8}" type="slidenum">
              <a:rPr lang="en-US" smtClean="0"/>
              <a:t>6</a:t>
            </a:fld>
            <a:endParaRPr lang="en-US"/>
          </a:p>
        </p:txBody>
      </p:sp>
    </p:spTree>
    <p:extLst>
      <p:ext uri="{BB962C8B-B14F-4D97-AF65-F5344CB8AC3E}">
        <p14:creationId xmlns:p14="http://schemas.microsoft.com/office/powerpoint/2010/main" val="3900777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the notation setup, we can move to how one actually prescribes decisions in uncertain situations using statistical decision theory. Before, we talked about getting a single observation x and making a decision based on that, but that ignores the random aspects of the problem. We’re only seeing a little bit of the bridge and making a guess as to the full proportion of cars on the bridge. It may take time to get to the bridge and the percent of cars on it might change a bit in that time. To define how good a decision rule is, we can examine the expected loss we get based on the decision we would make depending on different observations we would get. This is called the risk function –it’s the expected loss we get over different data sets given the true state of the world using our decision rule. This gets us one step closer to our goal of being able to critique different decision rules as now we’re taking account of the different possible observations we could get. But we still have a different risk value for each true state of the world…</a:t>
            </a:r>
          </a:p>
        </p:txBody>
      </p:sp>
      <p:sp>
        <p:nvSpPr>
          <p:cNvPr id="4" name="Slide Number Placeholder 3"/>
          <p:cNvSpPr>
            <a:spLocks noGrp="1"/>
          </p:cNvSpPr>
          <p:nvPr>
            <p:ph type="sldNum" sz="quarter" idx="10"/>
          </p:nvPr>
        </p:nvSpPr>
        <p:spPr/>
        <p:txBody>
          <a:bodyPr/>
          <a:lstStyle/>
          <a:p>
            <a:fld id="{877EBB72-264C-9443-9D38-1AA15D3C50C8}" type="slidenum">
              <a:rPr lang="en-US" smtClean="0"/>
              <a:t>7</a:t>
            </a:fld>
            <a:endParaRPr lang="en-US"/>
          </a:p>
        </p:txBody>
      </p:sp>
    </p:spTree>
    <p:extLst>
      <p:ext uri="{BB962C8B-B14F-4D97-AF65-F5344CB8AC3E}">
        <p14:creationId xmlns:p14="http://schemas.microsoft.com/office/powerpoint/2010/main" val="4231469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901A-CA0D-2419-840A-9C1FBC57D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4C21F-0032-B6EA-6EE8-D458C302A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3B0B77-14C7-53EB-51F3-9B81AB89269F}"/>
              </a:ext>
            </a:extLst>
          </p:cNvPr>
          <p:cNvSpPr>
            <a:spLocks noGrp="1"/>
          </p:cNvSpPr>
          <p:nvPr>
            <p:ph type="body" idx="1"/>
          </p:nvPr>
        </p:nvSpPr>
        <p:spPr/>
        <p:txBody>
          <a:bodyPr/>
          <a:lstStyle/>
          <a:p>
            <a:r>
              <a:rPr lang="en-US" dirty="0"/>
              <a:t>To make progress from here, we need to either make assumptions about what states of the world are likely before we observe any data or decide on some sort of alternative goal, like focus on the worst possibility and minimize our loss in that situation. The former corresponds to putting a prior on the states of the world and leads to a Bayesian criterion and the Bayesian perspective. However, some folks don’t feel comfortable doing that or rather focus on bounding the worst loss one could get. This especially makes sense in adversarial situations where “the world” gets to pick the state of the world based on which decision rule you pick to try and make your risk as bad as possible. This corresponds to a minimax criterion and the set of frequentist estimators that you’re familiar with.</a:t>
            </a:r>
          </a:p>
        </p:txBody>
      </p:sp>
      <p:sp>
        <p:nvSpPr>
          <p:cNvPr id="4" name="Slide Number Placeholder 3">
            <a:extLst>
              <a:ext uri="{FF2B5EF4-FFF2-40B4-BE49-F238E27FC236}">
                <a16:creationId xmlns:a16="http://schemas.microsoft.com/office/drawing/2014/main" id="{840BD72B-313A-BA08-38B0-6D1E6FDB190A}"/>
              </a:ext>
            </a:extLst>
          </p:cNvPr>
          <p:cNvSpPr>
            <a:spLocks noGrp="1"/>
          </p:cNvSpPr>
          <p:nvPr>
            <p:ph type="sldNum" sz="quarter" idx="10"/>
          </p:nvPr>
        </p:nvSpPr>
        <p:spPr/>
        <p:txBody>
          <a:bodyPr/>
          <a:lstStyle/>
          <a:p>
            <a:fld id="{877EBB72-264C-9443-9D38-1AA15D3C50C8}" type="slidenum">
              <a:rPr lang="en-US" smtClean="0"/>
              <a:t>8</a:t>
            </a:fld>
            <a:endParaRPr lang="en-US"/>
          </a:p>
        </p:txBody>
      </p:sp>
    </p:spTree>
    <p:extLst>
      <p:ext uri="{BB962C8B-B14F-4D97-AF65-F5344CB8AC3E}">
        <p14:creationId xmlns:p14="http://schemas.microsoft.com/office/powerpoint/2010/main" val="1051012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this graphically, lets say we have two decision rules for different states of the world \theta whose risk functions are given by the magenta and blue curves. Now we can consider each criterion and which decision rule it prefers.</a:t>
            </a:r>
          </a:p>
          <a:p>
            <a:endParaRPr lang="en-US" dirty="0"/>
          </a:p>
          <a:p>
            <a:r>
              <a:rPr lang="en-US" dirty="0"/>
              <a:t>Let’s start with the Bayesian criterion. To use this, we need to assume a prior. For our example here, the blue curve is superior (has less risk) unless we focus on the extreme cases where the magenta curve has less loss. So as long as we use a prior distribution that doesn’t focus too much on the tail regions, the blue curve will have less expected risk. To simplify it, let’s say we use a uniform prior (if you want, you may imagine we set limits on the extremes so we can avoid worrying about a uniform distribution over the continuum). In this case, the blue curve is clearly better according to our Bayesian criterion</a:t>
            </a:r>
          </a:p>
          <a:p>
            <a:endParaRPr lang="en-US" dirty="0"/>
          </a:p>
          <a:p>
            <a:r>
              <a:rPr lang="en-US" dirty="0"/>
              <a:t>Let’s next consider the minimax criterion. In this case, we don’t need to worry about any prior. All we need to do is find the decision rule whose worst or maximal risk is less than the worst or maximal risk of the other decision rules. If we look at these two curves, the blue curve has larger risk in more than one place than the magenta curve. So, the magenta decision rule has better (smaller) worst (maximal) risk than the blue one and the magenta one is the minimax decision rule.</a:t>
            </a:r>
          </a:p>
          <a:p>
            <a:endParaRPr lang="en-US" dirty="0"/>
          </a:p>
          <a:p>
            <a:r>
              <a:rPr lang="en-US" dirty="0"/>
              <a:t>Unless your final project is really using statistical decision theory heavily, you won’t need to worry about this to much. But it helps with understanding papers like the </a:t>
            </a:r>
            <a:r>
              <a:rPr lang="en-US" dirty="0" err="1"/>
              <a:t>Vul</a:t>
            </a:r>
            <a:r>
              <a:rPr lang="en-US" dirty="0"/>
              <a:t> one from last week which are based on this formalism. Also, it helps with understanding how one would need to solve sequential problems if we didn’t use something like the Markov assumption as we do in Markov decision processes. Lastly, we’ll see in a second how some statistical friends you’ve made over the years fit into this framework.</a:t>
            </a:r>
          </a:p>
        </p:txBody>
      </p:sp>
      <p:sp>
        <p:nvSpPr>
          <p:cNvPr id="4" name="Slide Number Placeholder 3"/>
          <p:cNvSpPr>
            <a:spLocks noGrp="1"/>
          </p:cNvSpPr>
          <p:nvPr>
            <p:ph type="sldNum" sz="quarter" idx="10"/>
          </p:nvPr>
        </p:nvSpPr>
        <p:spPr/>
        <p:txBody>
          <a:bodyPr/>
          <a:lstStyle/>
          <a:p>
            <a:fld id="{877EBB72-264C-9443-9D38-1AA15D3C50C8}" type="slidenum">
              <a:rPr lang="en-US" smtClean="0"/>
              <a:t>9</a:t>
            </a:fld>
            <a:endParaRPr lang="en-US"/>
          </a:p>
        </p:txBody>
      </p:sp>
    </p:spTree>
    <p:extLst>
      <p:ext uri="{BB962C8B-B14F-4D97-AF65-F5344CB8AC3E}">
        <p14:creationId xmlns:p14="http://schemas.microsoft.com/office/powerpoint/2010/main" val="607921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we use a Bayesian criterion with typical noninformative priors and look at a discrete setup with what’s called 0-1 loss 1 loss for wrong action and 0 for the correct action. You end up with the maximum a posteriori (or the choice with the largest posterior probability) as the optimal decision rule.</a:t>
            </a:r>
          </a:p>
          <a:p>
            <a:endParaRPr lang="en-US" dirty="0"/>
          </a:p>
          <a:p>
            <a:r>
              <a:rPr lang="en-US" dirty="0"/>
              <a:t>In continuous scenarios where you’re doing something like estimation or regression with uninformative priors and use squared loss (sometimes called L^2 norm) as your loss function, you get the mean as the best estimator.</a:t>
            </a:r>
          </a:p>
          <a:p>
            <a:endParaRPr lang="en-US" dirty="0"/>
          </a:p>
          <a:p>
            <a:r>
              <a:rPr lang="en-US" dirty="0"/>
              <a:t>Conversely, if you’re in the same setup, but use the absolute loss (also known as the L1 norm) as your loss function, then you get the median as the best estimator. </a:t>
            </a:r>
          </a:p>
          <a:p>
            <a:endParaRPr lang="en-US" dirty="0"/>
          </a:p>
          <a:p>
            <a:r>
              <a:rPr lang="en-US" dirty="0"/>
              <a:t>I find it helpful to know these things as people switch between using the mean and median without much explanation usually. Median tends to have a bit more robust properties and that is connected to this assumption of absolute loss.</a:t>
            </a:r>
          </a:p>
        </p:txBody>
      </p:sp>
      <p:sp>
        <p:nvSpPr>
          <p:cNvPr id="4" name="Slide Number Placeholder 3"/>
          <p:cNvSpPr>
            <a:spLocks noGrp="1"/>
          </p:cNvSpPr>
          <p:nvPr>
            <p:ph type="sldNum" sz="quarter" idx="10"/>
          </p:nvPr>
        </p:nvSpPr>
        <p:spPr/>
        <p:txBody>
          <a:bodyPr/>
          <a:lstStyle/>
          <a:p>
            <a:fld id="{877EBB72-264C-9443-9D38-1AA15D3C50C8}" type="slidenum">
              <a:rPr lang="en-US" smtClean="0"/>
              <a:t>10</a:t>
            </a:fld>
            <a:endParaRPr lang="en-US"/>
          </a:p>
        </p:txBody>
      </p:sp>
    </p:spTree>
    <p:extLst>
      <p:ext uri="{BB962C8B-B14F-4D97-AF65-F5344CB8AC3E}">
        <p14:creationId xmlns:p14="http://schemas.microsoft.com/office/powerpoint/2010/main" val="4185593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past section, we discussed how statistical decision theory incorporates decisions into uncertain situations to prescribe what action is best to take in a certain condition. But that is just one action. When our actions influence the state of the world, then we need to plan a whole sequence of actions. How can we do this?</a:t>
            </a:r>
          </a:p>
          <a:p>
            <a:endParaRPr lang="en-US" dirty="0"/>
          </a:p>
          <a:p>
            <a:r>
              <a:rPr lang="en-US" dirty="0"/>
              <a:t>Now in some ways, we already solved this. Statistical decision theory doesn’t care about the type of variable or states and their dynamics. If we could formulate everything in the same way we did previously, we could get the correct answers using the same formalism as before. All we need to do is specify the actions and their state dynamics and then calculate the expected loss of every possible action sequence. However, that’s really unrealistic to do because there’s just too many possible sequences! Also, we need to worry about the tradeoff of getting rewards now vs. in the future, even if the future rewards are certain. Because most people and agents should prefer to get $10 now as opposed to after 1000 actions… </a:t>
            </a:r>
          </a:p>
          <a:p>
            <a:endParaRPr lang="en-US" dirty="0"/>
          </a:p>
          <a:p>
            <a:r>
              <a:rPr lang="en-US" dirty="0"/>
              <a:t>This means we’ll want to discount future rewards.</a:t>
            </a:r>
          </a:p>
        </p:txBody>
      </p:sp>
      <p:sp>
        <p:nvSpPr>
          <p:cNvPr id="4" name="Slide Number Placeholder 3"/>
          <p:cNvSpPr>
            <a:spLocks noGrp="1"/>
          </p:cNvSpPr>
          <p:nvPr>
            <p:ph type="sldNum" sz="quarter" idx="5"/>
          </p:nvPr>
        </p:nvSpPr>
        <p:spPr/>
        <p:txBody>
          <a:bodyPr/>
          <a:lstStyle/>
          <a:p>
            <a:fld id="{D5C18A63-2409-0241-8255-D95D06F653A2}" type="slidenum">
              <a:rPr lang="en-US" smtClean="0"/>
              <a:t>12</a:t>
            </a:fld>
            <a:endParaRPr lang="en-US"/>
          </a:p>
        </p:txBody>
      </p:sp>
    </p:spTree>
    <p:extLst>
      <p:ext uri="{BB962C8B-B14F-4D97-AF65-F5344CB8AC3E}">
        <p14:creationId xmlns:p14="http://schemas.microsoft.com/office/powerpoint/2010/main" val="1601133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To deal with these issues, we’ll assume the underlying dynamics of our environment can be understood as a Markov chain. If we do that but allow for decisions that affect how states evolve and that both the state and actions we take determining our rewards, we end up defining a Markov decision process. It’s defined by the following variables. You have a set of states S. You have a set of possible actions that an agent can take. These may depend on the state you’re in if you want. You have a state transition function which provides the probability transition matrix for how we get from one state to another depending on the actions. If we only had one possible action, we’d basically have a Markov chain. Next we have a reward function which tells us the immediate goodness of taking an action in each state. This can be probabilistic, but often is just deterministic to simplify things and often just defined to be determined purely by the state (especially in grid world contexts). Lastly, you need to know how much to discount getting a reward on the next time step as opposed to now. That’s given by the \gamma variable.</a:t>
            </a:r>
          </a:p>
        </p:txBody>
      </p:sp>
      <p:sp>
        <p:nvSpPr>
          <p:cNvPr id="4" name="Slide Number Placeholder 3"/>
          <p:cNvSpPr>
            <a:spLocks noGrp="1"/>
          </p:cNvSpPr>
          <p:nvPr>
            <p:ph type="sldNum" sz="quarter" idx="10"/>
          </p:nvPr>
        </p:nvSpPr>
        <p:spPr/>
        <p:txBody>
          <a:bodyPr/>
          <a:lstStyle/>
          <a:p>
            <a:fld id="{706B5C30-D446-1041-B423-798728FCB85D}" type="slidenum">
              <a:rPr lang="en-US" smtClean="0"/>
              <a:t>13</a:t>
            </a:fld>
            <a:endParaRPr lang="en-US"/>
          </a:p>
        </p:txBody>
      </p:sp>
    </p:spTree>
    <p:extLst>
      <p:ext uri="{BB962C8B-B14F-4D97-AF65-F5344CB8AC3E}">
        <p14:creationId xmlns:p14="http://schemas.microsoft.com/office/powerpoint/2010/main" val="875814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walk through what Markov decision processes could look like, lets walk through a simplified one for working on the final project. From a practical standpoint, we need to define the starting state for our model. Let’s define that and call it the “start project” state. Next we will look at what states we can get from the “start project state”. There could be two possible states we can get to from the start project state, the project half-finished state and the watch TV state. We could have two actions we could take here. We could try to work, and maybe with a 40% chance we end up being successful and finish half the project. Maybe it’s not too fun to actually do work so we lose two reward that way. Alternatively, we might still not get the work done and end up watching TV instead. That happens 60% of the time and gives us some reward +2. But it gives us less reward than if we just watch TV without any guilt of having tried to work. If we just decide to break, then we get +4 reward instead. From there we can only try to get back to work and fail half of the time and start to accumulate a little guilt. When successful, we’re back to the start, but needing to work again which feels bad so -4 reward.</a:t>
            </a:r>
          </a:p>
          <a:p>
            <a:endParaRPr lang="en-US" dirty="0"/>
          </a:p>
          <a:p>
            <a:r>
              <a:rPr lang="en-US" dirty="0"/>
              <a:t>Getting to the project being half-finished leads to another set of difficult choices. The project is due the next day. One possible next state is finishing up the project, but you hear about a party which is an enticing alternative. The party though could lead to the project failing if you stay for too long and can’t finish it in time. You could work, which succeeds 30% of the time and leads to a tasty reward of 100. If you fail at working, you end up at the party state, which still provides some reward for you. There you get some new actions, you can stay which most likely provides you with some more reward, but runs the risk of getting too tired and ultimately failing your project. Even if you leave, you might fail because a cute guy starts talking to you and you get distracted. At least you get a decent reward from that. 20% of the time you resist his charms, which gives some negative feelings.</a:t>
            </a:r>
          </a:p>
          <a:p>
            <a:endParaRPr lang="en-US" dirty="0"/>
          </a:p>
          <a:p>
            <a:r>
              <a:rPr lang="en-US" dirty="0"/>
              <a:t>What is the optimal sequence of steps to take here? </a:t>
            </a:r>
          </a:p>
          <a:p>
            <a:endParaRPr lang="en-US" dirty="0"/>
          </a:p>
          <a:p>
            <a:r>
              <a:rPr lang="en-US" dirty="0"/>
              <a:t>It’s probably just working both times. But trying to work through all the possible sequences is going to be really tricky. Depending on the precise probabilities and reward amounts, it may be worth trying to chase as much reward as you can at the party and hope you don’t fall pray to gambler’s ruin. Knowing how to do that it involves solving for the expected cumulative discounted reward of taking actions in each state. </a:t>
            </a:r>
          </a:p>
          <a:p>
            <a:endParaRPr lang="en-US" dirty="0"/>
          </a:p>
          <a:p>
            <a:r>
              <a:rPr lang="en-US" dirty="0"/>
              <a:t>We’ll move on to that next.</a:t>
            </a:r>
          </a:p>
        </p:txBody>
      </p:sp>
      <p:sp>
        <p:nvSpPr>
          <p:cNvPr id="4" name="Slide Number Placeholder 3"/>
          <p:cNvSpPr>
            <a:spLocks noGrp="1"/>
          </p:cNvSpPr>
          <p:nvPr>
            <p:ph type="sldNum" sz="quarter" idx="5"/>
          </p:nvPr>
        </p:nvSpPr>
        <p:spPr/>
        <p:txBody>
          <a:bodyPr/>
          <a:lstStyle/>
          <a:p>
            <a:fld id="{D5C18A63-2409-0241-8255-D95D06F653A2}" type="slidenum">
              <a:rPr lang="en-US" smtClean="0"/>
              <a:t>14</a:t>
            </a:fld>
            <a:endParaRPr lang="en-US"/>
          </a:p>
        </p:txBody>
      </p:sp>
    </p:spTree>
    <p:extLst>
      <p:ext uri="{BB962C8B-B14F-4D97-AF65-F5344CB8AC3E}">
        <p14:creationId xmlns:p14="http://schemas.microsoft.com/office/powerpoint/2010/main" val="1486275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 solution to a MDP is typically represented as a policy \pi, which provides a probability distribution over the actions to take in each state. Since we are Markov, we only need to know the current state and not the states that were visited before that to know what actions to take.</a:t>
            </a:r>
          </a:p>
          <a:p>
            <a:endParaRPr lang="en-US" baseline="0" dirty="0"/>
          </a:p>
          <a:p>
            <a:r>
              <a:rPr lang="en-US" baseline="0" dirty="0"/>
              <a:t>So how do evaluate a policy so we know how good each one is, compare them, and pick the best one as an agent. Well, we want to look at which one will give us the best, long run rewards. To do that, we define </a:t>
            </a:r>
            <a:r>
              <a:rPr lang="en-US" baseline="0" dirty="0" err="1"/>
              <a:t>G_t</a:t>
            </a:r>
            <a:r>
              <a:rPr lang="en-US" baseline="0" dirty="0"/>
              <a:t> to be the total or cumulative discounted reward, which is the sum of the reward we get immediately from here plus discounted reward from what we get on the next time step + doubly discounted reward form what we get in two time steps and so on. This gives us the following formula for defining the cumulative rewards</a:t>
            </a:r>
          </a:p>
          <a:p>
            <a:endParaRPr lang="en-US" baseline="0" dirty="0"/>
          </a:p>
          <a:p>
            <a:r>
              <a:rPr lang="en-US" baseline="0" dirty="0"/>
              <a:t>Now we can evaluate our policy using this formalism because it defines how to select actions in every state, which in turn defines the states that the agent goes through and therefore also the rewards they receive. We can write this idea as the expected cumulative discounted reward under the distribution of states given by using the policy in the defined MDP. This is often written as a subscript \pi in the expectation. Also, we can define two different views on this. The first is what is called the state-value function, which gives the expected cumulative discounted reward of a policy given you start in state s and use that policy. The second is the action-value or q-function which also takes into account an action you decide to take from state s and then continue to follow the policy.</a:t>
            </a:r>
          </a:p>
        </p:txBody>
      </p:sp>
      <p:sp>
        <p:nvSpPr>
          <p:cNvPr id="4" name="Slide Number Placeholder 3"/>
          <p:cNvSpPr>
            <a:spLocks noGrp="1"/>
          </p:cNvSpPr>
          <p:nvPr>
            <p:ph type="sldNum" sz="quarter" idx="10"/>
          </p:nvPr>
        </p:nvSpPr>
        <p:spPr/>
        <p:txBody>
          <a:bodyPr/>
          <a:lstStyle/>
          <a:p>
            <a:fld id="{706B5C30-D446-1041-B423-798728FCB85D}" type="slidenum">
              <a:rPr lang="en-US" smtClean="0"/>
              <a:t>15</a:t>
            </a:fld>
            <a:endParaRPr lang="en-US"/>
          </a:p>
        </p:txBody>
      </p:sp>
    </p:spTree>
    <p:extLst>
      <p:ext uri="{BB962C8B-B14F-4D97-AF65-F5344CB8AC3E}">
        <p14:creationId xmlns:p14="http://schemas.microsoft.com/office/powerpoint/2010/main" val="829040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With v defined, we can define the solution to a MDP as \pi^*, which is the policy that provides actions in each state that lead to the largest expected cumulative reward. </a:t>
            </a:r>
          </a:p>
          <a:p>
            <a:endParaRPr lang="en-US" baseline="0" dirty="0"/>
          </a:p>
          <a:p>
            <a:r>
              <a:rPr lang="en-US" baseline="0" dirty="0"/>
              <a:t>Reinforcement learning algorithms provide solutions for learning these quantities. Typically we use the action-value or q function or q-values as we want to focus on the best action to take in each state and make that easy to look up. Also, we can look at expanding </a:t>
            </a:r>
            <a:r>
              <a:rPr lang="en-US" baseline="0" dirty="0" err="1"/>
              <a:t>G_t</a:t>
            </a:r>
            <a:r>
              <a:rPr lang="en-US" baseline="0" dirty="0"/>
              <a:t> one step to setup a recursive definition for the q-function. It gets expanded to the next immediate reward plus a discount on the q-value. Now the first q-value is outside of an expectation and the second is within the expectation. Some different RL algorithms, resolve this expectation differently and allow us to setup the recursive equation, which you can then use to . Should we assume that we sample from our current best policy? Or should we select the current best action from our policy? Should we do that all the time or have some percent of time to explore other parts of the state space? </a:t>
            </a:r>
          </a:p>
          <a:p>
            <a:endParaRPr lang="en-US" baseline="0" dirty="0"/>
          </a:p>
          <a:p>
            <a:r>
              <a:rPr lang="en-US" baseline="0" dirty="0"/>
              <a:t>I believe SARSA is the algorithm you get when you sample from the current best policy. Q-learning is what you get when you take the action with the maximal expected q-value according to your current estimate of the q-value function.</a:t>
            </a:r>
          </a:p>
          <a:p>
            <a:endParaRPr lang="en-US" baseline="0" dirty="0"/>
          </a:p>
          <a:p>
            <a:endParaRPr lang="en-US" baseline="0" dirty="0"/>
          </a:p>
          <a:p>
            <a:endParaRPr lang="en-US" baseline="0" dirty="0"/>
          </a:p>
          <a:p>
            <a:r>
              <a:rPr lang="en-US" baseline="0" dirty="0"/>
              <a:t>Note knowing Q_\pi*(</a:t>
            </a:r>
            <a:r>
              <a:rPr lang="en-US" baseline="0" dirty="0" err="1"/>
              <a:t>s,a</a:t>
            </a:r>
            <a:r>
              <a:rPr lang="en-US" baseline="0" dirty="0"/>
              <a:t>) gives us the optimal policy</a:t>
            </a:r>
          </a:p>
          <a:p>
            <a:endParaRPr lang="en-US" baseline="0" dirty="0"/>
          </a:p>
          <a:p>
            <a:r>
              <a:rPr lang="en-US" baseline="0" dirty="0"/>
              <a:t>There’s always a deterministic optimal policy for any MDP</a:t>
            </a:r>
          </a:p>
        </p:txBody>
      </p:sp>
      <p:sp>
        <p:nvSpPr>
          <p:cNvPr id="4" name="Slide Number Placeholder 3"/>
          <p:cNvSpPr>
            <a:spLocks noGrp="1"/>
          </p:cNvSpPr>
          <p:nvPr>
            <p:ph type="sldNum" sz="quarter" idx="10"/>
          </p:nvPr>
        </p:nvSpPr>
        <p:spPr/>
        <p:txBody>
          <a:bodyPr/>
          <a:lstStyle/>
          <a:p>
            <a:fld id="{706B5C30-D446-1041-B423-798728FCB85D}" type="slidenum">
              <a:rPr lang="en-US" smtClean="0"/>
              <a:t>16</a:t>
            </a:fld>
            <a:endParaRPr lang="en-US"/>
          </a:p>
        </p:txBody>
      </p:sp>
    </p:spTree>
    <p:extLst>
      <p:ext uri="{BB962C8B-B14F-4D97-AF65-F5344CB8AC3E}">
        <p14:creationId xmlns:p14="http://schemas.microsoft.com/office/powerpoint/2010/main" val="1926240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Let’s go through the Q-learning algorithm. It is for discrete states and actions, though there are extensions. To do so, we firs set up a table of our current estimates of the Q-values for each state action pair. We typically will initialize this to zero. I put a * here because in actuality, one simple modification folks do with Q-learning is to initialize the Q-values to be moderate positive values This is called optimistic initialization. It’s good at promoting exploration to ensure that the algorithm explores the part of the state-action space with the best values and doesn’t get stuck exploiting some small reward early that it finds early in learning. </a:t>
            </a:r>
          </a:p>
          <a:p>
            <a:endParaRPr lang="en-US" baseline="0" dirty="0"/>
          </a:p>
          <a:p>
            <a:r>
              <a:rPr lang="en-US" baseline="0" dirty="0"/>
              <a:t>After initialization, the algorithm begins learning by acting in the environment. To do so, it first selects an action. There are a few different schemes for this, but one of the most common is called \epsilon-greedy. According to it, the algorithms selects an optimal action with probability 1-\epsilon given its current state and current Q-value estimates. With probability \epsilon, you select a random suboptimal action. Suboptimal again here means according to your current estimates of the Q-value function. </a:t>
            </a:r>
          </a:p>
          <a:p>
            <a:endParaRPr lang="en-US" baseline="0" dirty="0"/>
          </a:p>
          <a:p>
            <a:r>
              <a:rPr lang="en-US" baseline="0" dirty="0"/>
              <a:t>Once you have your action, you select it. You then get a reward from the environment. Then you update your q-estimates accordingly based on the reward you got, the discounted cumulative reward you expect to get taking the best action in the next state, relative to what your q-estimates predicts should be the expected cumulative reward from taking the action you picked in the state you started. This is sometimes called a temporal difference algorithm because you are comparing your current guess as to the expected cumulative reward of taking the action you took in the current state to the feedback you got and the expected cumulative reward you could get from taking the best action in the next state. To ensure numeric stability, we use a learning rate \alpha less than 1 so that we don’t update too much too quickly. It also forms a fixed-point equation when you do this and you can prove that the changes to the q-table from updates will go to zero in the limit. </a:t>
            </a:r>
          </a:p>
        </p:txBody>
      </p:sp>
      <p:sp>
        <p:nvSpPr>
          <p:cNvPr id="4" name="Slide Number Placeholder 3"/>
          <p:cNvSpPr>
            <a:spLocks noGrp="1"/>
          </p:cNvSpPr>
          <p:nvPr>
            <p:ph type="sldNum" sz="quarter" idx="10"/>
          </p:nvPr>
        </p:nvSpPr>
        <p:spPr/>
        <p:txBody>
          <a:bodyPr/>
          <a:lstStyle/>
          <a:p>
            <a:fld id="{706B5C30-D446-1041-B423-798728FCB85D}" type="slidenum">
              <a:rPr lang="en-US" smtClean="0"/>
              <a:t>17</a:t>
            </a:fld>
            <a:endParaRPr lang="en-US"/>
          </a:p>
        </p:txBody>
      </p:sp>
    </p:spTree>
    <p:extLst>
      <p:ext uri="{BB962C8B-B14F-4D97-AF65-F5344CB8AC3E}">
        <p14:creationId xmlns:p14="http://schemas.microsoft.com/office/powerpoint/2010/main" val="2119915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an example of Q-learning. Our setup will be the same as Ho </a:t>
            </a:r>
            <a:r>
              <a:rPr lang="en-US" dirty="0" err="1"/>
              <a:t>etal</a:t>
            </a:r>
            <a:r>
              <a:rPr lang="en-US" dirty="0"/>
              <a:t> 2015, which will hopefully help </a:t>
            </a:r>
            <a:r>
              <a:rPr lang="en-US" dirty="0" err="1"/>
              <a:t>khailanii</a:t>
            </a:r>
            <a:r>
              <a:rPr lang="en-US" dirty="0"/>
              <a:t> with her presentation. In this world we have a 3x3 grid world. Our starting state is in the bottom left corner. We have garden and path tiles, as well as a goal in the top right corner. The environmental rewards will be setup to promote the agent to get to the goal from the start state via the path tiles. We don’t want the agent to walk in the flowers in the garden as they could get trampled.</a:t>
            </a:r>
          </a:p>
          <a:p>
            <a:endParaRPr lang="en-US" dirty="0"/>
          </a:p>
          <a:p>
            <a:r>
              <a:rPr lang="en-US" dirty="0"/>
              <a:t>Setting up this example, we setup the possible x-y values for states and the actions she can take in every state. As some actions are impossible (e.g., going down from the start state), we will handle that by initializing their Q-values to negative infinity, and ensure we never pick those values when taking a random action.</a:t>
            </a:r>
          </a:p>
          <a:p>
            <a:endParaRPr lang="en-US" dirty="0"/>
          </a:p>
          <a:p>
            <a:r>
              <a:rPr lang="en-US" dirty="0"/>
              <a:t>We set our discount and learning rates to reasonable values -- \alpha of 0.9 is a bit large actually, but it works for our purposes here. We set our random action probability, \epsilon, to be 0.1 which is a pretty typical value.</a:t>
            </a:r>
          </a:p>
        </p:txBody>
      </p:sp>
      <p:sp>
        <p:nvSpPr>
          <p:cNvPr id="4" name="Slide Number Placeholder 3"/>
          <p:cNvSpPr>
            <a:spLocks noGrp="1"/>
          </p:cNvSpPr>
          <p:nvPr>
            <p:ph type="sldNum" sz="quarter" idx="5"/>
          </p:nvPr>
        </p:nvSpPr>
        <p:spPr/>
        <p:txBody>
          <a:bodyPr/>
          <a:lstStyle/>
          <a:p>
            <a:fld id="{D5C18A63-2409-0241-8255-D95D06F653A2}" type="slidenum">
              <a:rPr lang="en-US" smtClean="0"/>
              <a:t>18</a:t>
            </a:fld>
            <a:endParaRPr lang="en-US"/>
          </a:p>
        </p:txBody>
      </p:sp>
    </p:spTree>
    <p:extLst>
      <p:ext uri="{BB962C8B-B14F-4D97-AF65-F5344CB8AC3E}">
        <p14:creationId xmlns:p14="http://schemas.microsoft.com/office/powerpoint/2010/main" val="3326127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learning! It’s a bit laborious, but I think walking through the algorithm helps with understanding how it works and some of the weird situations that can arise with it. </a:t>
            </a:r>
          </a:p>
          <a:p>
            <a:endParaRPr lang="en-US" dirty="0"/>
          </a:p>
          <a:p>
            <a:r>
              <a:rPr lang="en-US" dirty="0"/>
              <a:t>So our agent starts in the start state, which is denoted by the X. We first get the possible actions from the current state and their Q-values. Since we are in the bottom left, that is up and right. When we get them out, we learn that their values are zero and zero. Next we sample to see whether we take an optimal value. Note there are two optimal values here – they are both zero. So we need to pick one of them at random. We end up getting right. So our next state is [1 ,2] (our first dimension is y here and second is x. apologies for any confusion).</a:t>
            </a:r>
          </a:p>
          <a:p>
            <a:endParaRPr lang="en-US" dirty="0"/>
          </a:p>
          <a:p>
            <a:r>
              <a:rPr lang="en-US" dirty="0"/>
              <a:t>With our action and next state, we also get our environmental feedback of -10. We walked into the garden, so it makes sense we would be punished. To complete our q-update, we also need to get the max q-value of states we can reach from our new state. Since this is our first update, it’ll be the same initial value of 0. Now we can combine the pieces together, and use the q-learning formula. That gives us 0 (current value) + 0.9 learning rate * (-10 feedback + 0.95 discount rate * 0 the maximal q-value achievable from the next state based on our current Q-table - 0 current value) which gives us a new q-value update -9 for going right from our current state. Great, I’m going to denote that with a sizeable red arrow  for going right at the starting state.</a:t>
            </a:r>
          </a:p>
        </p:txBody>
      </p:sp>
      <p:sp>
        <p:nvSpPr>
          <p:cNvPr id="4" name="Slide Number Placeholder 3"/>
          <p:cNvSpPr>
            <a:spLocks noGrp="1"/>
          </p:cNvSpPr>
          <p:nvPr>
            <p:ph type="sldNum" sz="quarter" idx="5"/>
          </p:nvPr>
        </p:nvSpPr>
        <p:spPr/>
        <p:txBody>
          <a:bodyPr/>
          <a:lstStyle/>
          <a:p>
            <a:fld id="{D5C18A63-2409-0241-8255-D95D06F653A2}" type="slidenum">
              <a:rPr lang="en-US" smtClean="0"/>
              <a:t>19</a:t>
            </a:fld>
            <a:endParaRPr lang="en-US"/>
          </a:p>
        </p:txBody>
      </p:sp>
    </p:spTree>
    <p:extLst>
      <p:ext uri="{BB962C8B-B14F-4D97-AF65-F5344CB8AC3E}">
        <p14:creationId xmlns:p14="http://schemas.microsoft.com/office/powerpoint/2010/main" val="403678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repeat the procedure here. Now we have 3 possible next states of up left and right and they all have value 0 as they have not changed from initialization</a:t>
            </a:r>
          </a:p>
          <a:p>
            <a:endParaRPr lang="en-US" dirty="0"/>
          </a:p>
          <a:p>
            <a:r>
              <a:rPr lang="en-US" dirty="0"/>
              <a:t>We sample whether to take an optimal action, and get that we take an optimal action. We then sample one of the optimal actions. As this is our first time visiting the state, all 3 actions look the same and are optimal and so we pick one of them at random. We get right.</a:t>
            </a:r>
          </a:p>
          <a:p>
            <a:endParaRPr lang="en-US" dirty="0"/>
          </a:p>
          <a:p>
            <a:r>
              <a:rPr lang="en-US" dirty="0"/>
              <a:t>So we move right. Look at the maximal possible Q-value based on our current Q-value estimates from the bottom right corner. That’s still zero as we can get zero from any of the potential states after it (including this current one, as up and left are still zero). </a:t>
            </a:r>
          </a:p>
          <a:p>
            <a:endParaRPr lang="en-US" dirty="0"/>
          </a:p>
          <a:p>
            <a:r>
              <a:rPr lang="en-US" dirty="0"/>
              <a:t>We get our -10 feedback. We end up with the same q-update as before, but now for the bottom center tile rather than the bottom left start tile. I record that with a red right arrow from the bottom center tile.</a:t>
            </a:r>
          </a:p>
        </p:txBody>
      </p:sp>
      <p:sp>
        <p:nvSpPr>
          <p:cNvPr id="4" name="Slide Number Placeholder 3"/>
          <p:cNvSpPr>
            <a:spLocks noGrp="1"/>
          </p:cNvSpPr>
          <p:nvPr>
            <p:ph type="sldNum" sz="quarter" idx="5"/>
          </p:nvPr>
        </p:nvSpPr>
        <p:spPr/>
        <p:txBody>
          <a:bodyPr/>
          <a:lstStyle/>
          <a:p>
            <a:fld id="{D5C18A63-2409-0241-8255-D95D06F653A2}" type="slidenum">
              <a:rPr lang="en-US" smtClean="0"/>
              <a:t>20</a:t>
            </a:fld>
            <a:endParaRPr lang="en-US"/>
          </a:p>
        </p:txBody>
      </p:sp>
    </p:spTree>
    <p:extLst>
      <p:ext uri="{BB962C8B-B14F-4D97-AF65-F5344CB8AC3E}">
        <p14:creationId xmlns:p14="http://schemas.microsoft.com/office/powerpoint/2010/main" val="1904118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repeat the procedure here. Now we are in the bottom right state and so there we have 2 possible next states of up and left. they all have value 0 as they have not changed from initialization</a:t>
            </a:r>
          </a:p>
          <a:p>
            <a:endParaRPr lang="en-US" dirty="0"/>
          </a:p>
          <a:p>
            <a:r>
              <a:rPr lang="en-US" dirty="0"/>
              <a:t>We sample whether to take an optimal action, and get that we take an optimal action. We then sample one of the optimal actions. As this is our first time visiting the state, both possible actions look the same and are optimal and so we pick one of them at random. We get up.</a:t>
            </a:r>
          </a:p>
          <a:p>
            <a:endParaRPr lang="en-US" dirty="0"/>
          </a:p>
          <a:p>
            <a:r>
              <a:rPr lang="en-US" dirty="0"/>
              <a:t>So we move up. Look at the maximal possible Q-value based on our current Q-value estimates from the middle right tile. That’s still zero as we can get zero from any of the potential states after it</a:t>
            </a:r>
          </a:p>
          <a:p>
            <a:endParaRPr lang="en-US" dirty="0"/>
          </a:p>
          <a:p>
            <a:r>
              <a:rPr lang="en-US" dirty="0"/>
              <a:t>We get our -10 feedback. We end up with the same q-update as before, but now for the bottom right tile rather than the bottom middle tile. I record that with a red up arrow from the bottom right tile.</a:t>
            </a:r>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21</a:t>
            </a:fld>
            <a:endParaRPr lang="en-US"/>
          </a:p>
        </p:txBody>
      </p:sp>
    </p:spTree>
    <p:extLst>
      <p:ext uri="{BB962C8B-B14F-4D97-AF65-F5344CB8AC3E}">
        <p14:creationId xmlns:p14="http://schemas.microsoft.com/office/powerpoint/2010/main" val="30182121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repeat the procedure here. Now we are in the center right state and so there we have 3 possible next states of up down and left. they all have value 0 as they have not changed from initialization</a:t>
            </a:r>
          </a:p>
          <a:p>
            <a:endParaRPr lang="en-US" dirty="0"/>
          </a:p>
          <a:p>
            <a:r>
              <a:rPr lang="en-US" dirty="0"/>
              <a:t>We sample whether to take an optimal action, and get that we take an optimal action. We then sample one of the optimal actions. As this is our first time visiting the state, both possible actions look the same and are optimal and so we pick one of them at random. We get left.</a:t>
            </a:r>
          </a:p>
          <a:p>
            <a:endParaRPr lang="en-US" dirty="0"/>
          </a:p>
          <a:p>
            <a:r>
              <a:rPr lang="en-US" dirty="0"/>
              <a:t>So we move left. Look at the maximal possible Q-value based on our current Q-value estimates from the middle right tile. That’s still zero as we can get zero from any of the potential states after it</a:t>
            </a:r>
          </a:p>
          <a:p>
            <a:endParaRPr lang="en-US" dirty="0"/>
          </a:p>
          <a:p>
            <a:r>
              <a:rPr lang="en-US" dirty="0"/>
              <a:t>We get our -10 feedback. We end up with the same q-update as before, but now for the middle right tile. I record that with a red left arrow in it.</a:t>
            </a:r>
          </a:p>
          <a:p>
            <a:endParaRPr lang="en-US" dirty="0"/>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22</a:t>
            </a:fld>
            <a:endParaRPr lang="en-US"/>
          </a:p>
        </p:txBody>
      </p:sp>
    </p:spTree>
    <p:extLst>
      <p:ext uri="{BB962C8B-B14F-4D97-AF65-F5344CB8AC3E}">
        <p14:creationId xmlns:p14="http://schemas.microsoft.com/office/powerpoint/2010/main" val="8230263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repeat the procedure here. Now we are in the center tile and so there we have 4 possible next states of up down left and right. they all have value 0 as they have not changed from initialization</a:t>
            </a:r>
          </a:p>
          <a:p>
            <a:endParaRPr lang="en-US" dirty="0"/>
          </a:p>
          <a:p>
            <a:r>
              <a:rPr lang="en-US" dirty="0"/>
              <a:t>We sample whether to take an optimal action, and get that we take a suboptimal action. What are the set of suboptimal actions? Well it’s a little weird because everything has equal q-values. So the distinction between optimal and suboptimal just doesn’t mean a lot at the moment. So we sample at random from the possible actions. We get down</a:t>
            </a:r>
          </a:p>
          <a:p>
            <a:endParaRPr lang="en-US" dirty="0"/>
          </a:p>
          <a:p>
            <a:r>
              <a:rPr lang="en-US" dirty="0"/>
              <a:t>So we move down. Look at the maximal possible Q-value based on our current Q-value estimates from the middle right tile. That’s still zero as we can get zero from any of the potential states after it. </a:t>
            </a:r>
          </a:p>
          <a:p>
            <a:endParaRPr lang="en-US" dirty="0"/>
          </a:p>
          <a:p>
            <a:r>
              <a:rPr lang="en-US" dirty="0"/>
              <a:t>We get our -10 feedback. We end up with the same q-update as before, but now for the middle tile. I record that with a red down arrow in it.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23</a:t>
            </a:fld>
            <a:endParaRPr lang="en-US"/>
          </a:p>
        </p:txBody>
      </p:sp>
    </p:spTree>
    <p:extLst>
      <p:ext uri="{BB962C8B-B14F-4D97-AF65-F5344CB8AC3E}">
        <p14:creationId xmlns:p14="http://schemas.microsoft.com/office/powerpoint/2010/main" val="24763360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repeat the procedure here. Now we are in the bottom center state for the second time. we have 3 possible next states of up left and right. Up and left have a value of 0 as they have not changed from initialization, but right was updated to have value -9.</a:t>
            </a:r>
          </a:p>
          <a:p>
            <a:endParaRPr lang="en-US" dirty="0"/>
          </a:p>
          <a:p>
            <a:r>
              <a:rPr lang="en-US" dirty="0"/>
              <a:t>We sample whether to take an optimal action, and get that we take an optimal action. We then sample one of the optimal actions. There are two optimal actions according to our current q-value estimates: up and left. We pick up. </a:t>
            </a:r>
          </a:p>
          <a:p>
            <a:endParaRPr lang="en-US" dirty="0"/>
          </a:p>
          <a:p>
            <a:r>
              <a:rPr lang="en-US" dirty="0"/>
              <a:t>So we move up. Look at the maximal possible Q-value based on our current Q-value estimates from the middle right tile. That’s still zero as we can get zero from any of the potential states after it</a:t>
            </a:r>
          </a:p>
          <a:p>
            <a:endParaRPr lang="en-US" dirty="0"/>
          </a:p>
          <a:p>
            <a:r>
              <a:rPr lang="en-US" dirty="0"/>
              <a:t>We get our -10 feedback. We end up with the same q-update as before, but now for going up from the bottom middle tile. I record that with a red </a:t>
            </a:r>
            <a:r>
              <a:rPr lang="en-US" dirty="0" err="1"/>
              <a:t>uparrow</a:t>
            </a:r>
            <a:r>
              <a:rPr lang="en-US" dirty="0"/>
              <a:t> in it.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24</a:t>
            </a:fld>
            <a:endParaRPr lang="en-US"/>
          </a:p>
        </p:txBody>
      </p:sp>
    </p:spTree>
    <p:extLst>
      <p:ext uri="{BB962C8B-B14F-4D97-AF65-F5344CB8AC3E}">
        <p14:creationId xmlns:p14="http://schemas.microsoft.com/office/powerpoint/2010/main" val="679932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repeat the procedure here. Now we are back in the center state for the second time. we have 4 possible next states of up left and right. Up left and right have a value of 0 as they have not changed from initialization, but down has have value -9.</a:t>
            </a:r>
          </a:p>
          <a:p>
            <a:endParaRPr lang="en-US" dirty="0"/>
          </a:p>
          <a:p>
            <a:r>
              <a:rPr lang="en-US" dirty="0"/>
              <a:t>We sample whether to take an optimal action, and get that we take an optimal action. We then sample one of the optimal actions. There are three optimal actions according to our current q-value estimates: up and left and right. We pick up. </a:t>
            </a:r>
          </a:p>
          <a:p>
            <a:endParaRPr lang="en-US" dirty="0"/>
          </a:p>
          <a:p>
            <a:r>
              <a:rPr lang="en-US" dirty="0"/>
              <a:t>So we move up. Look at the maximal possible Q-value based on our current Q-value estimates from the middle right tile. That’s still zero as we can get zero from any of the potential states after it</a:t>
            </a:r>
          </a:p>
          <a:p>
            <a:endParaRPr lang="en-US" dirty="0"/>
          </a:p>
          <a:p>
            <a:r>
              <a:rPr lang="en-US" dirty="0"/>
              <a:t>We get our +10 feedback our first reward! Sweet!  We end up with +9 for our update now for going up from the center tile. I record that with a blue up arrow in it.</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25</a:t>
            </a:fld>
            <a:endParaRPr lang="en-US"/>
          </a:p>
        </p:txBody>
      </p:sp>
    </p:spTree>
    <p:extLst>
      <p:ext uri="{BB962C8B-B14F-4D97-AF65-F5344CB8AC3E}">
        <p14:creationId xmlns:p14="http://schemas.microsoft.com/office/powerpoint/2010/main" val="28000556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5C18A63-2409-0241-8255-D95D06F653A2}" type="slidenum">
              <a:rPr lang="en-US" smtClean="0"/>
              <a:t>26</a:t>
            </a:fld>
            <a:endParaRPr lang="en-US"/>
          </a:p>
        </p:txBody>
      </p:sp>
    </p:spTree>
    <p:extLst>
      <p:ext uri="{BB962C8B-B14F-4D97-AF65-F5344CB8AC3E}">
        <p14:creationId xmlns:p14="http://schemas.microsoft.com/office/powerpoint/2010/main" val="2266706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we’ve been using model-free versions of these algorithms because we are not propagating updates through the state space. The rewards stick precisely to the state-action and rewards and do not propagate to other states excerpt indirectly when we look at how good possible next states when updating the q-value in the current state.</a:t>
            </a:r>
          </a:p>
          <a:p>
            <a:endParaRPr lang="en-US" dirty="0"/>
          </a:p>
          <a:p>
            <a:r>
              <a:rPr lang="en-US" dirty="0"/>
              <a:t>One might imagine that we know what next states we can get to via the transition function. We could propagate feedback beyond the immediate states to make learning potentially faster. This is called model-based learning. </a:t>
            </a:r>
          </a:p>
          <a:p>
            <a:endParaRPr lang="en-US" dirty="0"/>
          </a:p>
          <a:p>
            <a:r>
              <a:rPr lang="en-US" dirty="0"/>
              <a:t>If you’re interested in learning more about it, </a:t>
            </a:r>
          </a:p>
        </p:txBody>
      </p:sp>
      <p:sp>
        <p:nvSpPr>
          <p:cNvPr id="4" name="Slide Number Placeholder 3"/>
          <p:cNvSpPr>
            <a:spLocks noGrp="1"/>
          </p:cNvSpPr>
          <p:nvPr>
            <p:ph type="sldNum" sz="quarter" idx="10"/>
          </p:nvPr>
        </p:nvSpPr>
        <p:spPr/>
        <p:txBody>
          <a:bodyPr/>
          <a:lstStyle/>
          <a:p>
            <a:fld id="{D5C18A63-2409-0241-8255-D95D06F653A2}" type="slidenum">
              <a:rPr lang="en-US" smtClean="0"/>
              <a:t>27</a:t>
            </a:fld>
            <a:endParaRPr lang="en-US"/>
          </a:p>
        </p:txBody>
      </p:sp>
    </p:spTree>
    <p:extLst>
      <p:ext uri="{BB962C8B-B14F-4D97-AF65-F5344CB8AC3E}">
        <p14:creationId xmlns:p14="http://schemas.microsoft.com/office/powerpoint/2010/main" val="832134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year no one signed up for the </a:t>
            </a:r>
            <a:r>
              <a:rPr lang="en-US" dirty="0" err="1"/>
              <a:t>daw</a:t>
            </a:r>
            <a:r>
              <a:rPr lang="en-US" dirty="0"/>
              <a:t> paper, but that is the classic paper and task for exploring when people use model-free vs. model-based RL. It’s a nice read if you’re interested, and a very influential paper in the literature. The short is that people use model-based RL sometimes, but less than one might think. </a:t>
            </a:r>
          </a:p>
        </p:txBody>
      </p:sp>
      <p:sp>
        <p:nvSpPr>
          <p:cNvPr id="4" name="Slide Number Placeholder 3"/>
          <p:cNvSpPr>
            <a:spLocks noGrp="1"/>
          </p:cNvSpPr>
          <p:nvPr>
            <p:ph type="sldNum" sz="quarter" idx="10"/>
          </p:nvPr>
        </p:nvSpPr>
        <p:spPr/>
        <p:txBody>
          <a:bodyPr/>
          <a:lstStyle/>
          <a:p>
            <a:fld id="{D5C18A63-2409-0241-8255-D95D06F653A2}" type="slidenum">
              <a:rPr lang="en-US" smtClean="0"/>
              <a:t>28</a:t>
            </a:fld>
            <a:endParaRPr lang="en-US"/>
          </a:p>
        </p:txBody>
      </p:sp>
    </p:spTree>
    <p:extLst>
      <p:ext uri="{BB962C8B-B14F-4D97-AF65-F5344CB8AC3E}">
        <p14:creationId xmlns:p14="http://schemas.microsoft.com/office/powerpoint/2010/main" val="522332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Marko decision process setup, the agent gets to know with certainty what state they are in. they use their policy \pi to select actions, which then results in new states that they get to observe from the world. </a:t>
            </a:r>
          </a:p>
          <a:p>
            <a:endParaRPr lang="en-US" dirty="0"/>
          </a:p>
          <a:p>
            <a:r>
              <a:rPr lang="en-US" dirty="0"/>
              <a:t>In a partially observable Markov decision process, the agent only gets a noisy observation that is somehow related to the possible states of the world. Using their policy the action they took, and the observation, they estimate the state they might be in and update their beliefs in it and then use the same sort of procedure from there. As the state of the world is uncertain and estimating the wrong state several steps ago could mean you are way off in how you’re interpreting the current information from the environment about your state, these are much harder. One can actually convert a POMDP to a MDP where now the fully observed states of “the environment” are the belief states of the learner. It’s much more difficult. We’ll talk a bit more about these next time.</a:t>
            </a:r>
          </a:p>
        </p:txBody>
      </p:sp>
      <p:sp>
        <p:nvSpPr>
          <p:cNvPr id="4" name="Slide Number Placeholder 3"/>
          <p:cNvSpPr>
            <a:spLocks noGrp="1"/>
          </p:cNvSpPr>
          <p:nvPr>
            <p:ph type="sldNum" sz="quarter" idx="5"/>
          </p:nvPr>
        </p:nvSpPr>
        <p:spPr/>
        <p:txBody>
          <a:bodyPr/>
          <a:lstStyle/>
          <a:p>
            <a:fld id="{D5C18A63-2409-0241-8255-D95D06F653A2}" type="slidenum">
              <a:rPr lang="en-US" smtClean="0"/>
              <a:t>30</a:t>
            </a:fld>
            <a:endParaRPr lang="en-US"/>
          </a:p>
        </p:txBody>
      </p:sp>
    </p:spTree>
    <p:extLst>
      <p:ext uri="{BB962C8B-B14F-4D97-AF65-F5344CB8AC3E}">
        <p14:creationId xmlns:p14="http://schemas.microsoft.com/office/powerpoint/2010/main" val="1540931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A15393-3CCC-4343-B59B-737CD1DF1100}"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759536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1126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A15393-3CCC-4343-B59B-737CD1DF1100}"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295117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A15393-3CCC-4343-B59B-737CD1DF1100}" type="datetimeFigureOut">
              <a:rPr lang="en-US" smtClean="0"/>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33449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A15393-3CCC-4343-B59B-737CD1DF1100}" type="datetimeFigureOut">
              <a:rPr lang="en-US" smtClean="0"/>
              <a:t>3/19/2025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8228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A15393-3CCC-4343-B59B-737CD1DF1100}" type="datetimeFigureOut">
              <a:rPr lang="en-US" smtClean="0"/>
              <a:t>3/19/2025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530638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15393-3CCC-4343-B59B-737CD1DF1100}" type="datetimeFigureOut">
              <a:rPr lang="en-US" smtClean="0"/>
              <a:t>3/19/2025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7684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3053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85576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1150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7527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A15393-3CCC-4343-B59B-737CD1DF1100}" type="datetimeFigureOut">
              <a:rPr lang="en-US" smtClean="0"/>
              <a:t>3/19/2025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155EF-18F2-0A4E-9AF3-3F3A983262B4}" type="slidenum">
              <a:rPr lang="en-US" smtClean="0"/>
              <a:t>‹#›</a:t>
            </a:fld>
            <a:endParaRPr lang="en-US"/>
          </a:p>
        </p:txBody>
      </p:sp>
    </p:spTree>
    <p:extLst>
      <p:ext uri="{BB962C8B-B14F-4D97-AF65-F5344CB8AC3E}">
        <p14:creationId xmlns:p14="http://schemas.microsoft.com/office/powerpoint/2010/main" val="214451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image" Target="../media/image24.emf"/><Relationship Id="rId3" Type="http://schemas.openxmlformats.org/officeDocument/2006/relationships/image" Target="../media/image14.emf"/><Relationship Id="rId7" Type="http://schemas.openxmlformats.org/officeDocument/2006/relationships/image" Target="../media/image18.emf"/><Relationship Id="rId12" Type="http://schemas.openxmlformats.org/officeDocument/2006/relationships/image" Target="../media/image23.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emf"/><Relationship Id="rId11" Type="http://schemas.openxmlformats.org/officeDocument/2006/relationships/image" Target="../media/image22.emf"/><Relationship Id="rId5" Type="http://schemas.openxmlformats.org/officeDocument/2006/relationships/image" Target="../media/image16.emf"/><Relationship Id="rId10" Type="http://schemas.openxmlformats.org/officeDocument/2006/relationships/image" Target="../media/image21.emf"/><Relationship Id="rId4" Type="http://schemas.openxmlformats.org/officeDocument/2006/relationships/image" Target="../media/image15.emf"/><Relationship Id="rId9" Type="http://schemas.openxmlformats.org/officeDocument/2006/relationships/image" Target="../media/image20.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hyperlink" Target="http://www.pomdp.or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794" y="1721194"/>
            <a:ext cx="8998890" cy="1470025"/>
          </a:xfrm>
        </p:spPr>
        <p:txBody>
          <a:bodyPr>
            <a:normAutofit fontScale="90000"/>
          </a:bodyPr>
          <a:lstStyle/>
          <a:p>
            <a:r>
              <a:rPr lang="en-US" dirty="0"/>
              <a:t>Statistical Decision Theory, Markov Decision Processes, </a:t>
            </a:r>
            <a:br>
              <a:rPr lang="en-US" dirty="0"/>
            </a:br>
            <a:r>
              <a:rPr lang="en-US" dirty="0"/>
              <a:t>and Reinforcement Learning</a:t>
            </a:r>
          </a:p>
        </p:txBody>
      </p:sp>
      <p:sp>
        <p:nvSpPr>
          <p:cNvPr id="4" name="Subtitle 2"/>
          <p:cNvSpPr>
            <a:spLocks noGrp="1"/>
          </p:cNvSpPr>
          <p:nvPr>
            <p:ph type="subTitle" idx="1"/>
          </p:nvPr>
        </p:nvSpPr>
        <p:spPr>
          <a:xfrm>
            <a:off x="3229125" y="4086470"/>
            <a:ext cx="5914875" cy="2647546"/>
          </a:xfrm>
        </p:spPr>
        <p:txBody>
          <a:bodyPr>
            <a:normAutofit/>
          </a:bodyPr>
          <a:lstStyle/>
          <a:p>
            <a:r>
              <a:rPr lang="en-US" b="1" dirty="0">
                <a:solidFill>
                  <a:schemeClr val="tx1"/>
                </a:solidFill>
              </a:rPr>
              <a:t>PSYCH/COMP SCI/BMI 841: Computational Cognitive Science</a:t>
            </a:r>
            <a:endParaRPr lang="en-US" dirty="0">
              <a:solidFill>
                <a:schemeClr val="tx1"/>
              </a:solidFill>
            </a:endParaRPr>
          </a:p>
          <a:p>
            <a:r>
              <a:rPr lang="en-US" dirty="0">
                <a:solidFill>
                  <a:schemeClr val="tx1"/>
                </a:solidFill>
              </a:rPr>
              <a:t>Joseph Austerweil</a:t>
            </a:r>
          </a:p>
          <a:p>
            <a:r>
              <a:rPr lang="en-US" dirty="0">
                <a:solidFill>
                  <a:schemeClr val="tx1"/>
                </a:solidFill>
              </a:rPr>
              <a:t>March 20, 2025</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10" y="3946986"/>
            <a:ext cx="3344993" cy="2647546"/>
          </a:xfrm>
          <a:prstGeom prst="rect">
            <a:avLst/>
          </a:prstGeom>
        </p:spPr>
      </p:pic>
    </p:spTree>
    <p:extLst>
      <p:ext uri="{BB962C8B-B14F-4D97-AF65-F5344CB8AC3E}">
        <p14:creationId xmlns:p14="http://schemas.microsoft.com/office/powerpoint/2010/main" val="79032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7879-2F59-F57D-C952-CCC9C5E93E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1DFBB-0B27-555B-6B8F-57B705D3B739}"/>
              </a:ext>
            </a:extLst>
          </p:cNvPr>
          <p:cNvSpPr>
            <a:spLocks noGrp="1"/>
          </p:cNvSpPr>
          <p:nvPr>
            <p:ph idx="1"/>
          </p:nvPr>
        </p:nvSpPr>
        <p:spPr>
          <a:xfrm>
            <a:off x="465992" y="135082"/>
            <a:ext cx="8229600" cy="6751588"/>
          </a:xfrm>
        </p:spPr>
        <p:txBody>
          <a:bodyPr>
            <a:normAutofit/>
          </a:bodyPr>
          <a:lstStyle/>
          <a:p>
            <a:r>
              <a:rPr lang="en-US" dirty="0"/>
              <a:t>Admin Matters</a:t>
            </a:r>
          </a:p>
          <a:p>
            <a:pPr defTabSz="914400">
              <a:spcBef>
                <a:spcPts val="0"/>
              </a:spcBef>
              <a:defRPr/>
            </a:pPr>
            <a:r>
              <a:rPr lang="en-US" dirty="0"/>
              <a:t>Statistical Decision Theory</a:t>
            </a:r>
          </a:p>
          <a:p>
            <a:pPr defTabSz="914400">
              <a:spcBef>
                <a:spcPts val="0"/>
              </a:spcBef>
              <a:defRPr/>
            </a:pPr>
            <a:r>
              <a:rPr lang="en-US" dirty="0"/>
              <a:t>Markov Decision Processes</a:t>
            </a:r>
          </a:p>
          <a:p>
            <a:pPr defTabSz="914400">
              <a:spcBef>
                <a:spcPts val="0"/>
              </a:spcBef>
              <a:defRPr/>
            </a:pPr>
            <a:r>
              <a:rPr lang="en-US" b="1" dirty="0"/>
              <a:t>Short rest 1</a:t>
            </a:r>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Schulz et al 1997 by Ashwini</a:t>
            </a:r>
          </a:p>
          <a:p>
            <a:pPr marL="914400" lvl="1" indent="-514350" defTabSz="914400">
              <a:spcBef>
                <a:spcPts val="0"/>
              </a:spcBef>
              <a:buFont typeface="+mj-lt"/>
              <a:buAutoNum type="arabicPeriod"/>
              <a:defRPr/>
            </a:pPr>
            <a:r>
              <a:rPr lang="en-US" dirty="0"/>
              <a:t>Ho et al 2015 by </a:t>
            </a:r>
            <a:r>
              <a:rPr lang="en-US" dirty="0" err="1"/>
              <a:t>Khailanii</a:t>
            </a:r>
            <a:endParaRPr lang="en-US" dirty="0"/>
          </a:p>
          <a:p>
            <a:pPr marL="400050" lvl="1" indent="0" defTabSz="914400">
              <a:spcBef>
                <a:spcPts val="0"/>
              </a:spcBef>
              <a:buNone/>
              <a:defRPr/>
            </a:pPr>
            <a:r>
              <a:rPr lang="en-US" b="1" dirty="0"/>
              <a:t>Short rest 2</a:t>
            </a:r>
          </a:p>
          <a:p>
            <a:pPr marL="400050" lvl="1" indent="0" defTabSz="914400">
              <a:spcBef>
                <a:spcPts val="0"/>
              </a:spcBef>
              <a:buNone/>
              <a:defRPr/>
            </a:pPr>
            <a:r>
              <a:rPr lang="en-US" dirty="0"/>
              <a:t>3.   Ho et al 2017 by Anirudh</a:t>
            </a:r>
          </a:p>
        </p:txBody>
      </p:sp>
    </p:spTree>
    <p:extLst>
      <p:ext uri="{BB962C8B-B14F-4D97-AF65-F5344CB8AC3E}">
        <p14:creationId xmlns:p14="http://schemas.microsoft.com/office/powerpoint/2010/main" val="352007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B844-C8D6-871E-2E6D-933FA980683A}"/>
              </a:ext>
            </a:extLst>
          </p:cNvPr>
          <p:cNvSpPr>
            <a:spLocks noGrp="1"/>
          </p:cNvSpPr>
          <p:nvPr>
            <p:ph type="title"/>
          </p:nvPr>
        </p:nvSpPr>
        <p:spPr>
          <a:xfrm>
            <a:off x="457200" y="42379"/>
            <a:ext cx="8229600" cy="689458"/>
          </a:xfrm>
        </p:spPr>
        <p:txBody>
          <a:bodyPr>
            <a:normAutofit fontScale="90000"/>
          </a:bodyPr>
          <a:lstStyle/>
          <a:p>
            <a:r>
              <a:rPr lang="en-US" dirty="0"/>
              <a:t>Administrative Matters</a:t>
            </a:r>
          </a:p>
        </p:txBody>
      </p:sp>
      <p:sp>
        <p:nvSpPr>
          <p:cNvPr id="3" name="Content Placeholder 2">
            <a:extLst>
              <a:ext uri="{FF2B5EF4-FFF2-40B4-BE49-F238E27FC236}">
                <a16:creationId xmlns:a16="http://schemas.microsoft.com/office/drawing/2014/main" id="{6BA19CC3-800A-DE11-B68C-C05431A3EBA3}"/>
              </a:ext>
            </a:extLst>
          </p:cNvPr>
          <p:cNvSpPr>
            <a:spLocks noGrp="1"/>
          </p:cNvSpPr>
          <p:nvPr>
            <p:ph idx="1"/>
          </p:nvPr>
        </p:nvSpPr>
        <p:spPr>
          <a:xfrm>
            <a:off x="0" y="814647"/>
            <a:ext cx="9144000" cy="6000974"/>
          </a:xfrm>
        </p:spPr>
        <p:txBody>
          <a:bodyPr>
            <a:normAutofit fontScale="92500"/>
          </a:bodyPr>
          <a:lstStyle/>
          <a:p>
            <a:r>
              <a:rPr lang="en-US" dirty="0"/>
              <a:t>Generalization Assignment grading a bit delayed. </a:t>
            </a:r>
          </a:p>
          <a:p>
            <a:pPr lvl="1"/>
            <a:r>
              <a:rPr lang="en-US" dirty="0"/>
              <a:t>Metareviews for </a:t>
            </a:r>
            <a:r>
              <a:rPr lang="en-US" dirty="0" err="1"/>
              <a:t>cogsci</a:t>
            </a:r>
            <a:r>
              <a:rPr lang="en-US" dirty="0"/>
              <a:t> + illness blindsided me.</a:t>
            </a:r>
          </a:p>
          <a:p>
            <a:endParaRPr lang="en-US" sz="1600" dirty="0"/>
          </a:p>
          <a:p>
            <a:r>
              <a:rPr lang="en-US" dirty="0"/>
              <a:t>Thank you for turning in the project proposal.</a:t>
            </a:r>
          </a:p>
          <a:p>
            <a:pPr lvl="1"/>
            <a:r>
              <a:rPr lang="en-US" dirty="0"/>
              <a:t>Feedback went back to you this weekend</a:t>
            </a:r>
          </a:p>
          <a:p>
            <a:pPr lvl="1"/>
            <a:r>
              <a:rPr lang="en-US" dirty="0"/>
              <a:t>Prioritized this to make sure everyone got timely feedback</a:t>
            </a:r>
          </a:p>
          <a:p>
            <a:endParaRPr lang="en-US" sz="1600" dirty="0"/>
          </a:p>
          <a:p>
            <a:r>
              <a:rPr lang="en-US" dirty="0"/>
              <a:t>Deadlines for assignments 3 and 4 pushed back a week:</a:t>
            </a:r>
          </a:p>
          <a:p>
            <a:pPr lvl="1"/>
            <a:r>
              <a:rPr lang="en-US" dirty="0"/>
              <a:t>Assignment 3 is due April 9 at 8:59pm</a:t>
            </a:r>
          </a:p>
          <a:p>
            <a:pPr lvl="1"/>
            <a:r>
              <a:rPr lang="en-US" dirty="0"/>
              <a:t>Assignment 4 is due April 23 at 8:59pm</a:t>
            </a:r>
          </a:p>
          <a:p>
            <a:endParaRPr lang="en-US" dirty="0"/>
          </a:p>
          <a:p>
            <a:r>
              <a:rPr lang="en-US" dirty="0"/>
              <a:t>Questions?</a:t>
            </a:r>
          </a:p>
        </p:txBody>
      </p:sp>
    </p:spTree>
    <p:extLst>
      <p:ext uri="{BB962C8B-B14F-4D97-AF65-F5344CB8AC3E}">
        <p14:creationId xmlns:p14="http://schemas.microsoft.com/office/powerpoint/2010/main" val="219140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FCBC-FB06-B95F-4588-0EADA43F98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D6BFD4-C32C-D5E6-1455-BED3CFE499C0}"/>
              </a:ext>
            </a:extLst>
          </p:cNvPr>
          <p:cNvSpPr>
            <a:spLocks noGrp="1"/>
          </p:cNvSpPr>
          <p:nvPr>
            <p:ph idx="1"/>
          </p:nvPr>
        </p:nvSpPr>
        <p:spPr>
          <a:xfrm>
            <a:off x="465992" y="135082"/>
            <a:ext cx="8229600" cy="6751588"/>
          </a:xfrm>
        </p:spPr>
        <p:txBody>
          <a:bodyPr>
            <a:normAutofit/>
          </a:bodyPr>
          <a:lstStyle/>
          <a:p>
            <a:r>
              <a:rPr lang="en-US" dirty="0"/>
              <a:t>Admin Matters</a:t>
            </a:r>
          </a:p>
          <a:p>
            <a:pPr defTabSz="914400">
              <a:spcBef>
                <a:spcPts val="0"/>
              </a:spcBef>
              <a:defRPr/>
            </a:pPr>
            <a:r>
              <a:rPr lang="en-US" dirty="0"/>
              <a:t>Statistical Decision Theory</a:t>
            </a:r>
          </a:p>
          <a:p>
            <a:pPr defTabSz="914400">
              <a:spcBef>
                <a:spcPts val="0"/>
              </a:spcBef>
              <a:defRPr/>
            </a:pPr>
            <a:r>
              <a:rPr lang="en-US" dirty="0"/>
              <a:t>Markov Decision Processes</a:t>
            </a:r>
          </a:p>
          <a:p>
            <a:pPr defTabSz="914400">
              <a:spcBef>
                <a:spcPts val="0"/>
              </a:spcBef>
              <a:defRPr/>
            </a:pPr>
            <a:r>
              <a:rPr lang="en-US" b="1" dirty="0"/>
              <a:t>Short rest 1</a:t>
            </a:r>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Schulz et al 1997 by Ashwini</a:t>
            </a:r>
          </a:p>
          <a:p>
            <a:pPr marL="914400" lvl="1" indent="-514350" defTabSz="914400">
              <a:spcBef>
                <a:spcPts val="0"/>
              </a:spcBef>
              <a:buFont typeface="+mj-lt"/>
              <a:buAutoNum type="arabicPeriod"/>
              <a:defRPr/>
            </a:pPr>
            <a:r>
              <a:rPr lang="en-US" dirty="0"/>
              <a:t>Ho et al 2015 by </a:t>
            </a:r>
            <a:r>
              <a:rPr lang="en-US" dirty="0" err="1"/>
              <a:t>Khailanii</a:t>
            </a:r>
            <a:endParaRPr lang="en-US" dirty="0"/>
          </a:p>
          <a:p>
            <a:pPr marL="400050" lvl="1" indent="0" defTabSz="914400">
              <a:spcBef>
                <a:spcPts val="0"/>
              </a:spcBef>
              <a:buNone/>
              <a:defRPr/>
            </a:pPr>
            <a:r>
              <a:rPr lang="en-US" b="1" dirty="0"/>
              <a:t>Short rest 2</a:t>
            </a:r>
          </a:p>
          <a:p>
            <a:pPr marL="400050" lvl="1" indent="0" defTabSz="914400">
              <a:spcBef>
                <a:spcPts val="0"/>
              </a:spcBef>
              <a:buNone/>
              <a:defRPr/>
            </a:pPr>
            <a:r>
              <a:rPr lang="en-US" dirty="0"/>
              <a:t>3.   Ho et al 2017 by Anirudh</a:t>
            </a:r>
          </a:p>
        </p:txBody>
      </p:sp>
    </p:spTree>
    <p:extLst>
      <p:ext uri="{BB962C8B-B14F-4D97-AF65-F5344CB8AC3E}">
        <p14:creationId xmlns:p14="http://schemas.microsoft.com/office/powerpoint/2010/main" val="822173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628" y="49406"/>
            <a:ext cx="8995372" cy="819670"/>
          </a:xfrm>
        </p:spPr>
        <p:txBody>
          <a:bodyPr/>
          <a:lstStyle/>
          <a:p>
            <a:r>
              <a:rPr lang="en-US" dirty="0"/>
              <a:t>Decisions under uncertainty</a:t>
            </a:r>
          </a:p>
        </p:txBody>
      </p:sp>
      <p:pic>
        <p:nvPicPr>
          <p:cNvPr id="4" name="Picture 3" descr="car.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8628" y="3494057"/>
            <a:ext cx="1629752" cy="1018595"/>
          </a:xfrm>
          <a:prstGeom prst="rect">
            <a:avLst/>
          </a:prstGeom>
        </p:spPr>
      </p:pic>
      <p:pic>
        <p:nvPicPr>
          <p:cNvPr id="6" name="Picture 5" descr="airplane_silhouette_2.pn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120632" y="3404513"/>
            <a:ext cx="1807181" cy="1108139"/>
          </a:xfrm>
          <a:prstGeom prst="rect">
            <a:avLst/>
          </a:prstGeom>
        </p:spPr>
      </p:pic>
      <p:grpSp>
        <p:nvGrpSpPr>
          <p:cNvPr id="36" name="Group 35"/>
          <p:cNvGrpSpPr/>
          <p:nvPr/>
        </p:nvGrpSpPr>
        <p:grpSpPr>
          <a:xfrm>
            <a:off x="1778380" y="1418546"/>
            <a:ext cx="5342252" cy="2584809"/>
            <a:chOff x="1778380" y="1418546"/>
            <a:chExt cx="5342252" cy="2584809"/>
          </a:xfrm>
        </p:grpSpPr>
        <p:pic>
          <p:nvPicPr>
            <p:cNvPr id="8" name="Picture 7" descr="GoldenGateBridge-001.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156163" y="1418546"/>
              <a:ext cx="2017491" cy="1513118"/>
            </a:xfrm>
            <a:prstGeom prst="rect">
              <a:avLst/>
            </a:prstGeom>
          </p:spPr>
        </p:pic>
        <p:cxnSp>
          <p:nvCxnSpPr>
            <p:cNvPr id="14" name="Straight Arrow Connector 13"/>
            <p:cNvCxnSpPr>
              <a:stCxn id="8" idx="3"/>
              <a:endCxn id="6" idx="1"/>
            </p:cNvCxnSpPr>
            <p:nvPr/>
          </p:nvCxnSpPr>
          <p:spPr>
            <a:xfrm>
              <a:off x="6173654" y="2175105"/>
              <a:ext cx="946978" cy="178347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a:stCxn id="4" idx="3"/>
              <a:endCxn id="8" idx="1"/>
            </p:cNvCxnSpPr>
            <p:nvPr/>
          </p:nvCxnSpPr>
          <p:spPr>
            <a:xfrm flipV="1">
              <a:off x="1778380" y="2175105"/>
              <a:ext cx="2377783" cy="18282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2989006" y="1528774"/>
              <a:ext cx="1356320" cy="769441"/>
            </a:xfrm>
            <a:prstGeom prst="rect">
              <a:avLst/>
            </a:prstGeom>
            <a:noFill/>
          </p:spPr>
          <p:txBody>
            <a:bodyPr wrap="square" rtlCol="0">
              <a:spAutoFit/>
            </a:bodyPr>
            <a:lstStyle/>
            <a:p>
              <a:r>
                <a:rPr lang="en-US" sz="2200" b="1" dirty="0"/>
                <a:t>Action: </a:t>
              </a:r>
              <a:r>
                <a:rPr lang="en-US" sz="2200" dirty="0"/>
                <a:t>Bridge</a:t>
              </a:r>
            </a:p>
          </p:txBody>
        </p:sp>
      </p:grpSp>
      <p:grpSp>
        <p:nvGrpSpPr>
          <p:cNvPr id="37" name="Group 36"/>
          <p:cNvGrpSpPr/>
          <p:nvPr/>
        </p:nvGrpSpPr>
        <p:grpSpPr>
          <a:xfrm>
            <a:off x="1778380" y="3958583"/>
            <a:ext cx="5342252" cy="2764316"/>
            <a:chOff x="1778380" y="3958583"/>
            <a:chExt cx="5342252" cy="2764316"/>
          </a:xfrm>
        </p:grpSpPr>
        <p:pic>
          <p:nvPicPr>
            <p:cNvPr id="10" name="Picture 9" descr="tunnelReal.JPG"/>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942192" y="5049302"/>
              <a:ext cx="2231462" cy="1673597"/>
            </a:xfrm>
            <a:prstGeom prst="rect">
              <a:avLst/>
            </a:prstGeom>
          </p:spPr>
        </p:pic>
        <p:cxnSp>
          <p:nvCxnSpPr>
            <p:cNvPr id="16" name="Straight Arrow Connector 15"/>
            <p:cNvCxnSpPr>
              <a:stCxn id="10" idx="3"/>
              <a:endCxn id="6" idx="1"/>
            </p:cNvCxnSpPr>
            <p:nvPr/>
          </p:nvCxnSpPr>
          <p:spPr>
            <a:xfrm flipV="1">
              <a:off x="6173654" y="3958583"/>
              <a:ext cx="946978" cy="192751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a:stCxn id="4" idx="3"/>
              <a:endCxn id="10" idx="1"/>
            </p:cNvCxnSpPr>
            <p:nvPr/>
          </p:nvCxnSpPr>
          <p:spPr>
            <a:xfrm>
              <a:off x="1778380" y="4003355"/>
              <a:ext cx="2163812" cy="188274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2772461" y="5558241"/>
              <a:ext cx="1075781" cy="769441"/>
            </a:xfrm>
            <a:prstGeom prst="rect">
              <a:avLst/>
            </a:prstGeom>
            <a:noFill/>
          </p:spPr>
          <p:txBody>
            <a:bodyPr wrap="square" rtlCol="0">
              <a:spAutoFit/>
            </a:bodyPr>
            <a:lstStyle/>
            <a:p>
              <a:r>
                <a:rPr lang="en-US" sz="2200" b="1" dirty="0"/>
                <a:t>Action: </a:t>
              </a:r>
              <a:r>
                <a:rPr lang="en-US" sz="2200" dirty="0"/>
                <a:t>Tunnel</a:t>
              </a:r>
            </a:p>
          </p:txBody>
        </p:sp>
      </p:grpSp>
      <p:grpSp>
        <p:nvGrpSpPr>
          <p:cNvPr id="38" name="Group 37"/>
          <p:cNvGrpSpPr/>
          <p:nvPr/>
        </p:nvGrpSpPr>
        <p:grpSpPr>
          <a:xfrm>
            <a:off x="243452" y="1283447"/>
            <a:ext cx="2650730" cy="1614932"/>
            <a:chOff x="243452" y="1283447"/>
            <a:chExt cx="2650730" cy="1614932"/>
          </a:xfrm>
        </p:grpSpPr>
        <p:pic>
          <p:nvPicPr>
            <p:cNvPr id="28" name="Picture 27" descr="traffic.jpg"/>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337895" y="1746494"/>
              <a:ext cx="1475482" cy="1103441"/>
            </a:xfrm>
            <a:prstGeom prst="rect">
              <a:avLst/>
            </a:prstGeom>
          </p:spPr>
        </p:pic>
        <p:sp>
          <p:nvSpPr>
            <p:cNvPr id="29" name="TextBox 28"/>
            <p:cNvSpPr txBox="1"/>
            <p:nvPr/>
          </p:nvSpPr>
          <p:spPr>
            <a:xfrm>
              <a:off x="1243071" y="1283447"/>
              <a:ext cx="1651111" cy="461665"/>
            </a:xfrm>
            <a:prstGeom prst="rect">
              <a:avLst/>
            </a:prstGeom>
            <a:noFill/>
          </p:spPr>
          <p:txBody>
            <a:bodyPr wrap="square" rtlCol="0">
              <a:spAutoFit/>
            </a:bodyPr>
            <a:lstStyle/>
            <a:p>
              <a:r>
                <a:rPr lang="en-US" sz="2400" dirty="0">
                  <a:latin typeface="Calibri"/>
                  <a:cs typeface="Calibri"/>
                </a:rPr>
                <a:t>Observe</a:t>
              </a:r>
              <a:r>
                <a:rPr lang="en-US" sz="2400" dirty="0">
                  <a:latin typeface="Times New Roman"/>
                  <a:cs typeface="Times New Roman"/>
                </a:rPr>
                <a:t>: </a:t>
              </a:r>
              <a:r>
                <a:rPr lang="en-US" sz="2400" i="1" dirty="0">
                  <a:latin typeface="Times New Roman"/>
                  <a:cs typeface="Times New Roman"/>
                </a:rPr>
                <a:t>x</a:t>
              </a:r>
            </a:p>
          </p:txBody>
        </p:sp>
        <p:sp>
          <p:nvSpPr>
            <p:cNvPr id="30" name="TextBox 29"/>
            <p:cNvSpPr txBox="1"/>
            <p:nvPr/>
          </p:nvSpPr>
          <p:spPr>
            <a:xfrm>
              <a:off x="243452" y="1698051"/>
              <a:ext cx="1094443" cy="1200328"/>
            </a:xfrm>
            <a:prstGeom prst="rect">
              <a:avLst/>
            </a:prstGeom>
            <a:noFill/>
          </p:spPr>
          <p:txBody>
            <a:bodyPr wrap="square" rtlCol="0">
              <a:spAutoFit/>
            </a:bodyPr>
            <a:lstStyle/>
            <a:p>
              <a:r>
                <a:rPr lang="en-US" sz="2400" dirty="0"/>
                <a:t>Bridge traffic cam</a:t>
              </a:r>
            </a:p>
          </p:txBody>
        </p:sp>
      </p:grpSp>
      <p:sp>
        <p:nvSpPr>
          <p:cNvPr id="31" name="Rectangle 30"/>
          <p:cNvSpPr/>
          <p:nvPr/>
        </p:nvSpPr>
        <p:spPr>
          <a:xfrm>
            <a:off x="6593677" y="1277722"/>
            <a:ext cx="2334136" cy="830997"/>
          </a:xfrm>
          <a:prstGeom prst="rect">
            <a:avLst/>
          </a:prstGeom>
        </p:spPr>
        <p:txBody>
          <a:bodyPr wrap="square">
            <a:spAutoFit/>
          </a:bodyPr>
          <a:lstStyle/>
          <a:p>
            <a:r>
              <a:rPr lang="en-US" sz="2400" dirty="0">
                <a:latin typeface="Calibri"/>
                <a:ea typeface="Lucida Grande"/>
                <a:cs typeface="Calibri"/>
              </a:rPr>
              <a:t>Proportion of cars on bridge</a:t>
            </a:r>
            <a:r>
              <a:rPr lang="en-US" sz="2400" dirty="0">
                <a:latin typeface="Times New Roman"/>
                <a:ea typeface="Lucida Grande"/>
                <a:cs typeface="Times New Roman"/>
              </a:rPr>
              <a:t>: </a:t>
            </a:r>
            <a:r>
              <a:rPr lang="en-US" sz="2400" i="1" dirty="0" err="1">
                <a:latin typeface="Times New Roman"/>
                <a:ea typeface="Lucida Grande"/>
                <a:cs typeface="Times New Roman"/>
              </a:rPr>
              <a:t>θ</a:t>
            </a:r>
            <a:endParaRPr lang="en-US" sz="2400" i="1" dirty="0">
              <a:latin typeface="Times New Roman"/>
              <a:cs typeface="Times New Roman"/>
            </a:endParaRPr>
          </a:p>
        </p:txBody>
      </p:sp>
      <p:sp>
        <p:nvSpPr>
          <p:cNvPr id="34" name="TextBox 33"/>
          <p:cNvSpPr txBox="1"/>
          <p:nvPr/>
        </p:nvSpPr>
        <p:spPr>
          <a:xfrm>
            <a:off x="3518186" y="3209115"/>
            <a:ext cx="3038954" cy="1569660"/>
          </a:xfrm>
          <a:prstGeom prst="rect">
            <a:avLst/>
          </a:prstGeom>
          <a:noFill/>
        </p:spPr>
        <p:txBody>
          <a:bodyPr wrap="square" rtlCol="0">
            <a:spAutoFit/>
          </a:bodyPr>
          <a:lstStyle/>
          <a:p>
            <a:r>
              <a:rPr lang="en-US" sz="2400" dirty="0"/>
              <a:t>Decision rule </a:t>
            </a:r>
            <a:r>
              <a:rPr lang="en-US" sz="2400" i="1" dirty="0">
                <a:latin typeface="Times New Roman"/>
                <a:cs typeface="Times New Roman"/>
              </a:rPr>
              <a:t>d</a:t>
            </a:r>
            <a:r>
              <a:rPr lang="en-US" sz="2400" dirty="0">
                <a:latin typeface="Times New Roman"/>
                <a:cs typeface="Times New Roman"/>
              </a:rPr>
              <a:t>(</a:t>
            </a:r>
            <a:r>
              <a:rPr lang="en-US" sz="2400" i="1" dirty="0">
                <a:latin typeface="Times New Roman"/>
                <a:cs typeface="Times New Roman"/>
              </a:rPr>
              <a:t>x</a:t>
            </a:r>
            <a:r>
              <a:rPr lang="en-US" sz="2400" dirty="0">
                <a:latin typeface="Times New Roman"/>
                <a:cs typeface="Times New Roman"/>
              </a:rPr>
              <a:t>)</a:t>
            </a:r>
            <a:r>
              <a:rPr lang="en-US" sz="2400" dirty="0"/>
              <a:t>: Rule based on traffic cam data to take bridge or tunnel.</a:t>
            </a:r>
          </a:p>
        </p:txBody>
      </p:sp>
      <p:sp>
        <p:nvSpPr>
          <p:cNvPr id="35" name="TextBox 34"/>
          <p:cNvSpPr txBox="1"/>
          <p:nvPr/>
        </p:nvSpPr>
        <p:spPr>
          <a:xfrm>
            <a:off x="6688260" y="5049302"/>
            <a:ext cx="2351025" cy="1569660"/>
          </a:xfrm>
          <a:prstGeom prst="rect">
            <a:avLst/>
          </a:prstGeom>
          <a:noFill/>
        </p:spPr>
        <p:txBody>
          <a:bodyPr wrap="square" rtlCol="0">
            <a:spAutoFit/>
          </a:bodyPr>
          <a:lstStyle/>
          <a:p>
            <a:r>
              <a:rPr lang="en-US" sz="2400" dirty="0"/>
              <a:t>Loss function </a:t>
            </a:r>
            <a:r>
              <a:rPr lang="en-US" sz="2400" dirty="0">
                <a:latin typeface="Times New Roman"/>
                <a:cs typeface="Times New Roman"/>
              </a:rPr>
              <a:t>L(</a:t>
            </a:r>
            <a:r>
              <a:rPr lang="en-US" sz="2400" i="1" dirty="0" err="1">
                <a:latin typeface="Times New Roman"/>
                <a:ea typeface="Lucida Grande"/>
                <a:cs typeface="Times New Roman"/>
              </a:rPr>
              <a:t>θ</a:t>
            </a:r>
            <a:r>
              <a:rPr lang="en-US" sz="2400" i="1" dirty="0">
                <a:latin typeface="Times New Roman"/>
                <a:cs typeface="Times New Roman"/>
              </a:rPr>
              <a:t>, a</a:t>
            </a:r>
            <a:r>
              <a:rPr lang="en-US" sz="2400" dirty="0">
                <a:latin typeface="Times New Roman"/>
                <a:cs typeface="Times New Roman"/>
              </a:rPr>
              <a:t>):</a:t>
            </a:r>
            <a:r>
              <a:rPr lang="en-US" sz="2400" b="1" dirty="0"/>
              <a:t> </a:t>
            </a:r>
            <a:r>
              <a:rPr lang="en-US" sz="2400" dirty="0"/>
              <a:t>based on state of world and action.</a:t>
            </a:r>
            <a:endParaRPr lang="en-US" sz="2400" dirty="0">
              <a:latin typeface="Times New Roman"/>
              <a:cs typeface="Times New Roman"/>
            </a:endParaRPr>
          </a:p>
        </p:txBody>
      </p:sp>
    </p:spTree>
    <p:extLst>
      <p:ext uri="{BB962C8B-B14F-4D97-AF65-F5344CB8AC3E}">
        <p14:creationId xmlns:p14="http://schemas.microsoft.com/office/powerpoint/2010/main" val="129474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4" grpId="0"/>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478"/>
            <a:ext cx="8229600" cy="833180"/>
          </a:xfrm>
        </p:spPr>
        <p:txBody>
          <a:bodyPr/>
          <a:lstStyle/>
          <a:p>
            <a:r>
              <a:rPr lang="en-US" dirty="0"/>
              <a:t>Statistical decision theory</a:t>
            </a:r>
          </a:p>
        </p:txBody>
      </p:sp>
      <p:sp>
        <p:nvSpPr>
          <p:cNvPr id="3" name="Content Placeholder 2"/>
          <p:cNvSpPr>
            <a:spLocks noGrp="1"/>
          </p:cNvSpPr>
          <p:nvPr>
            <p:ph idx="1"/>
          </p:nvPr>
        </p:nvSpPr>
        <p:spPr>
          <a:xfrm>
            <a:off x="148627" y="891658"/>
            <a:ext cx="8809587" cy="5966342"/>
          </a:xfrm>
        </p:spPr>
        <p:txBody>
          <a:bodyPr/>
          <a:lstStyle/>
          <a:p>
            <a:pPr marL="0" indent="0">
              <a:buNone/>
            </a:pPr>
            <a:r>
              <a:rPr lang="en-US" dirty="0"/>
              <a:t>Decision making under uncertainty formalism:</a:t>
            </a:r>
          </a:p>
          <a:p>
            <a:pPr marL="914400" lvl="1" indent="-514350">
              <a:buFont typeface="+mj-lt"/>
              <a:buAutoNum type="arabicPeriod"/>
            </a:pPr>
            <a:r>
              <a:rPr lang="en-US" dirty="0"/>
              <a:t>States of world </a:t>
            </a:r>
            <a:r>
              <a:rPr lang="en-US" i="1" dirty="0" err="1">
                <a:latin typeface="Times New Roman"/>
                <a:ea typeface="Lucida Grande"/>
                <a:cs typeface="Times New Roman"/>
              </a:rPr>
              <a:t>θ</a:t>
            </a:r>
            <a:r>
              <a:rPr lang="en-US" i="1" dirty="0">
                <a:latin typeface="Times New Roman"/>
                <a:ea typeface="Lucida Grande"/>
                <a:cs typeface="Times New Roman"/>
              </a:rPr>
              <a:t> </a:t>
            </a:r>
            <a:r>
              <a:rPr lang="en-US" dirty="0">
                <a:latin typeface="Calibri"/>
                <a:ea typeface="Lucida Grande"/>
                <a:cs typeface="Calibri"/>
              </a:rPr>
              <a:t>(e.g., prop. of traffic on bridge)</a:t>
            </a:r>
            <a:endParaRPr lang="en-US" i="1" dirty="0">
              <a:latin typeface="Calibri"/>
              <a:cs typeface="Calibri"/>
            </a:endParaRPr>
          </a:p>
          <a:p>
            <a:pPr marL="914400" lvl="1" indent="-514350">
              <a:buFont typeface="+mj-lt"/>
              <a:buAutoNum type="arabicPeriod"/>
            </a:pPr>
            <a:r>
              <a:rPr lang="en-US" dirty="0"/>
              <a:t>Observation </a:t>
            </a:r>
            <a:r>
              <a:rPr lang="en-US" i="1" dirty="0">
                <a:latin typeface="Times New Roman"/>
                <a:cs typeface="Times New Roman"/>
              </a:rPr>
              <a:t>x</a:t>
            </a:r>
            <a:r>
              <a:rPr lang="en-US" i="1" dirty="0"/>
              <a:t> </a:t>
            </a:r>
            <a:r>
              <a:rPr lang="en-US" dirty="0"/>
              <a:t>(e.g., current traffic leading to bridge).</a:t>
            </a:r>
          </a:p>
          <a:p>
            <a:pPr marL="914400" lvl="1" indent="-514350">
              <a:buFont typeface="+mj-lt"/>
              <a:buAutoNum type="arabicPeriod"/>
            </a:pPr>
            <a:r>
              <a:rPr lang="en-US" dirty="0"/>
              <a:t>Possible actions </a:t>
            </a:r>
            <a:r>
              <a:rPr lang="en-US" i="1" dirty="0">
                <a:latin typeface="Times New Roman"/>
                <a:cs typeface="Times New Roman"/>
              </a:rPr>
              <a:t>A</a:t>
            </a:r>
            <a:r>
              <a:rPr lang="en-US" dirty="0">
                <a:latin typeface="Times New Roman"/>
                <a:cs typeface="Times New Roman"/>
              </a:rPr>
              <a:t> </a:t>
            </a:r>
            <a:r>
              <a:rPr lang="en-US" dirty="0">
                <a:latin typeface="Calibri"/>
                <a:cs typeface="Calibri"/>
              </a:rPr>
              <a:t>(e.g., take tunnel or bridge).</a:t>
            </a:r>
          </a:p>
          <a:p>
            <a:pPr marL="914400" lvl="1" indent="-514350">
              <a:buFont typeface="+mj-lt"/>
              <a:buAutoNum type="arabicPeriod"/>
            </a:pPr>
            <a:r>
              <a:rPr lang="en-US" dirty="0">
                <a:latin typeface="Calibri"/>
                <a:cs typeface="Calibri"/>
              </a:rPr>
              <a:t>Decision rule </a:t>
            </a:r>
            <a:r>
              <a:rPr lang="en-US" i="1" dirty="0">
                <a:latin typeface="Times New Roman"/>
                <a:cs typeface="Times New Roman"/>
              </a:rPr>
              <a:t>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 </a:t>
            </a:r>
            <a:r>
              <a:rPr lang="en-US" dirty="0">
                <a:latin typeface="Calibri"/>
                <a:cs typeface="Calibri"/>
              </a:rPr>
              <a:t>(e.g., take tunnel if </a:t>
            </a:r>
            <a:r>
              <a:rPr lang="en-US" i="1" dirty="0">
                <a:latin typeface="Times New Roman"/>
                <a:cs typeface="Times New Roman"/>
              </a:rPr>
              <a:t>x</a:t>
            </a:r>
            <a:r>
              <a:rPr lang="en-US" i="1" dirty="0">
                <a:latin typeface="Calibri"/>
                <a:cs typeface="Calibri"/>
              </a:rPr>
              <a:t> </a:t>
            </a:r>
            <a:r>
              <a:rPr lang="en-US" dirty="0">
                <a:latin typeface="Calibri"/>
                <a:cs typeface="Calibri"/>
              </a:rPr>
              <a:t>is heavy).</a:t>
            </a:r>
          </a:p>
          <a:p>
            <a:pPr marL="914400" lvl="1" indent="-514350">
              <a:buFont typeface="+mj-lt"/>
              <a:buAutoNum type="arabicPeriod"/>
            </a:pPr>
            <a:r>
              <a:rPr lang="en-US" dirty="0">
                <a:latin typeface="Calibri"/>
                <a:cs typeface="Calibri"/>
              </a:rPr>
              <a:t>Loss function </a:t>
            </a:r>
            <a:r>
              <a:rPr lang="en-US" i="1" dirty="0">
                <a:latin typeface="Times New Roman"/>
                <a:cs typeface="Times New Roman"/>
              </a:rPr>
              <a:t>L</a:t>
            </a:r>
            <a:r>
              <a:rPr lang="en-US" dirty="0">
                <a:latin typeface="Times New Roman"/>
                <a:cs typeface="Times New Roman"/>
              </a:rPr>
              <a:t>(</a:t>
            </a:r>
            <a:r>
              <a:rPr lang="en-US" i="1" dirty="0" err="1">
                <a:latin typeface="Times New Roman"/>
                <a:ea typeface="Lucida Grande"/>
                <a:cs typeface="Times New Roman"/>
              </a:rPr>
              <a:t>θ</a:t>
            </a:r>
            <a:r>
              <a:rPr lang="en-US" i="1" dirty="0">
                <a:latin typeface="Times New Roman"/>
                <a:ea typeface="Lucida Grande"/>
                <a:cs typeface="Times New Roman"/>
              </a:rPr>
              <a:t>, a</a:t>
            </a:r>
            <a:r>
              <a:rPr lang="en-US" dirty="0">
                <a:latin typeface="Times New Roman"/>
                <a:ea typeface="Lucida Grande"/>
                <a:cs typeface="Times New Roman"/>
              </a:rPr>
              <a:t>) = </a:t>
            </a:r>
            <a:r>
              <a:rPr lang="en-US" i="1" dirty="0">
                <a:latin typeface="Times New Roman"/>
                <a:cs typeface="Times New Roman"/>
              </a:rPr>
              <a:t>L</a:t>
            </a:r>
            <a:r>
              <a:rPr lang="en-US" dirty="0">
                <a:latin typeface="Times New Roman"/>
                <a:cs typeface="Times New Roman"/>
              </a:rPr>
              <a:t>(</a:t>
            </a:r>
            <a:r>
              <a:rPr lang="en-US" i="1" dirty="0" err="1">
                <a:latin typeface="Times New Roman"/>
                <a:ea typeface="Lucida Grande"/>
                <a:cs typeface="Times New Roman"/>
              </a:rPr>
              <a:t>θ</a:t>
            </a:r>
            <a:r>
              <a:rPr lang="en-US" i="1" dirty="0">
                <a:latin typeface="Times New Roman"/>
                <a:ea typeface="Lucida Grande"/>
                <a:cs typeface="Times New Roman"/>
              </a:rPr>
              <a:t>,</a:t>
            </a:r>
            <a:r>
              <a:rPr lang="en-US" i="1" dirty="0">
                <a:latin typeface="Times New Roman"/>
                <a:cs typeface="Times New Roman"/>
              </a:rPr>
              <a:t> 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p>
          <a:p>
            <a:pPr marL="1257300" lvl="2" indent="-457200">
              <a:buFont typeface="+mj-lt"/>
              <a:buAutoNum type="arabicPeriod"/>
            </a:pPr>
            <a:r>
              <a:rPr lang="en-US" dirty="0">
                <a:latin typeface="Calibri"/>
                <a:cs typeface="Calibri"/>
              </a:rPr>
              <a:t>0-1 loss: 1 for wrong action, 0 for correct action. (e.g., 0 if you take bridge and less traffic on bridge)</a:t>
            </a:r>
          </a:p>
          <a:p>
            <a:pPr marL="800100" lvl="2" indent="0">
              <a:buNone/>
            </a:pPr>
            <a:r>
              <a:rPr lang="en-US" dirty="0">
                <a:latin typeface="Calibri"/>
                <a:cs typeface="Calibri"/>
              </a:rPr>
              <a:t>For continuous “actions” (estimation):</a:t>
            </a:r>
          </a:p>
          <a:p>
            <a:pPr marL="1314450" lvl="2" indent="-514350">
              <a:buFont typeface="+mj-lt"/>
              <a:buAutoNum type="arabicPeriod"/>
            </a:pPr>
            <a:r>
              <a:rPr lang="en-US" dirty="0">
                <a:latin typeface="Calibri"/>
                <a:cs typeface="Calibri"/>
              </a:rPr>
              <a:t>Squared loss (also called L</a:t>
            </a:r>
            <a:r>
              <a:rPr lang="en-US" baseline="30000" dirty="0">
                <a:latin typeface="Calibri"/>
                <a:cs typeface="Calibri"/>
              </a:rPr>
              <a:t>2</a:t>
            </a:r>
            <a:r>
              <a:rPr lang="en-US" dirty="0">
                <a:latin typeface="Calibri"/>
                <a:cs typeface="Calibri"/>
              </a:rPr>
              <a:t> norm): </a:t>
            </a:r>
            <a:r>
              <a:rPr lang="en-US" dirty="0">
                <a:latin typeface="Times New Roman"/>
                <a:cs typeface="Times New Roman"/>
              </a:rPr>
              <a:t>(</a:t>
            </a:r>
            <a:r>
              <a:rPr lang="en-US" i="1" dirty="0" err="1">
                <a:latin typeface="Times New Roman"/>
                <a:ea typeface="Lucida Grande"/>
                <a:cs typeface="Times New Roman"/>
              </a:rPr>
              <a:t>θ</a:t>
            </a:r>
            <a:r>
              <a:rPr lang="en-US" i="1" dirty="0">
                <a:latin typeface="Times New Roman"/>
                <a:ea typeface="Lucida Grande"/>
                <a:cs typeface="Times New Roman"/>
              </a:rPr>
              <a:t> - </a:t>
            </a:r>
            <a:r>
              <a:rPr lang="en-US" i="1" dirty="0">
                <a:latin typeface="Times New Roman"/>
                <a:cs typeface="Times New Roman"/>
              </a:rPr>
              <a:t>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r>
              <a:rPr lang="en-US" baseline="30000" dirty="0">
                <a:latin typeface="Times New Roman"/>
                <a:cs typeface="Times New Roman"/>
              </a:rPr>
              <a:t>2</a:t>
            </a:r>
          </a:p>
          <a:p>
            <a:pPr marL="1314450" lvl="2" indent="-514350">
              <a:buFont typeface="+mj-lt"/>
              <a:buAutoNum type="arabicPeriod"/>
            </a:pPr>
            <a:r>
              <a:rPr lang="en-US" dirty="0">
                <a:latin typeface="Calibri"/>
                <a:cs typeface="Calibri"/>
              </a:rPr>
              <a:t>Absolute loss (also called L</a:t>
            </a:r>
            <a:r>
              <a:rPr lang="en-US" baseline="30000" dirty="0">
                <a:latin typeface="Calibri"/>
                <a:cs typeface="Calibri"/>
              </a:rPr>
              <a:t>1</a:t>
            </a:r>
            <a:r>
              <a:rPr lang="en-US" dirty="0">
                <a:latin typeface="Calibri"/>
                <a:cs typeface="Calibri"/>
              </a:rPr>
              <a:t> norm):</a:t>
            </a:r>
            <a:r>
              <a:rPr lang="en-US" dirty="0">
                <a:latin typeface="Times New Roman"/>
                <a:cs typeface="Times New Roman"/>
              </a:rPr>
              <a:t> |</a:t>
            </a:r>
            <a:r>
              <a:rPr lang="en-US" i="1" dirty="0" err="1">
                <a:latin typeface="Times New Roman"/>
                <a:ea typeface="Lucida Grande"/>
                <a:cs typeface="Times New Roman"/>
              </a:rPr>
              <a:t>θ</a:t>
            </a:r>
            <a:r>
              <a:rPr lang="en-US" i="1" dirty="0">
                <a:latin typeface="Times New Roman"/>
                <a:ea typeface="Lucida Grande"/>
                <a:cs typeface="Times New Roman"/>
              </a:rPr>
              <a:t> - </a:t>
            </a:r>
            <a:r>
              <a:rPr lang="en-US" i="1" dirty="0">
                <a:latin typeface="Times New Roman"/>
                <a:cs typeface="Times New Roman"/>
              </a:rPr>
              <a:t>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p>
        </p:txBody>
      </p:sp>
    </p:spTree>
    <p:extLst>
      <p:ext uri="{BB962C8B-B14F-4D97-AF65-F5344CB8AC3E}">
        <p14:creationId xmlns:p14="http://schemas.microsoft.com/office/powerpoint/2010/main" val="165393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478"/>
            <a:ext cx="8229600" cy="833180"/>
          </a:xfrm>
        </p:spPr>
        <p:txBody>
          <a:bodyPr/>
          <a:lstStyle/>
          <a:p>
            <a:r>
              <a:rPr lang="en-US" dirty="0"/>
              <a:t>Statistical decision theory</a:t>
            </a:r>
          </a:p>
        </p:txBody>
      </p:sp>
      <p:sp>
        <p:nvSpPr>
          <p:cNvPr id="3" name="Content Placeholder 2"/>
          <p:cNvSpPr>
            <a:spLocks noGrp="1"/>
          </p:cNvSpPr>
          <p:nvPr>
            <p:ph idx="1"/>
          </p:nvPr>
        </p:nvSpPr>
        <p:spPr>
          <a:xfrm>
            <a:off x="94579" y="891658"/>
            <a:ext cx="8995373" cy="5966342"/>
          </a:xfrm>
        </p:spPr>
        <p:txBody>
          <a:bodyPr>
            <a:normAutofit/>
          </a:bodyPr>
          <a:lstStyle/>
          <a:p>
            <a:pPr marL="0" indent="0">
              <a:buNone/>
            </a:pPr>
            <a:r>
              <a:rPr lang="en-US" dirty="0">
                <a:ea typeface="Lucida Grande"/>
                <a:cs typeface="Calibri"/>
              </a:rPr>
              <a:t>How “good” is your rule for deciding from the traffic cam based on the true percent of cars on the bridge?</a:t>
            </a:r>
          </a:p>
          <a:p>
            <a:pPr marL="0" indent="0">
              <a:buNone/>
            </a:pPr>
            <a:endParaRPr lang="en-US" b="1" dirty="0">
              <a:latin typeface="Calibri"/>
              <a:cs typeface="Calibri"/>
            </a:endParaRPr>
          </a:p>
          <a:p>
            <a:pPr marL="0" indent="0">
              <a:buNone/>
            </a:pPr>
            <a:r>
              <a:rPr lang="en-US" b="1" dirty="0">
                <a:latin typeface="Calibri"/>
                <a:cs typeface="Calibri"/>
              </a:rPr>
              <a:t>Risk function</a:t>
            </a:r>
            <a:r>
              <a:rPr lang="en-US" b="1" dirty="0">
                <a:latin typeface="Times New Roman"/>
                <a:cs typeface="Times New Roman"/>
              </a:rPr>
              <a:t>: </a:t>
            </a:r>
            <a:r>
              <a:rPr lang="en-US" dirty="0">
                <a:latin typeface="Times New Roman"/>
                <a:cs typeface="Times New Roman"/>
              </a:rPr>
              <a:t>R(</a:t>
            </a:r>
            <a:r>
              <a:rPr lang="en-US" i="1" dirty="0">
                <a:latin typeface="Times New Roman"/>
                <a:ea typeface="Lucida Grande"/>
                <a:cs typeface="Times New Roman"/>
              </a:rPr>
              <a:t>θ,</a:t>
            </a:r>
            <a:r>
              <a:rPr lang="en-US" i="1" dirty="0">
                <a:latin typeface="Times New Roman"/>
                <a:cs typeface="Times New Roman"/>
              </a:rPr>
              <a:t> 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 = E</a:t>
            </a:r>
            <a:r>
              <a:rPr lang="en-US" i="1" baseline="30000" dirty="0">
                <a:latin typeface="Times New Roman"/>
                <a:cs typeface="Times New Roman"/>
              </a:rPr>
              <a:t>x</a:t>
            </a:r>
            <a:r>
              <a:rPr lang="en-US" dirty="0">
                <a:latin typeface="Times New Roman"/>
                <a:cs typeface="Times New Roman"/>
              </a:rPr>
              <a:t>[L(</a:t>
            </a:r>
            <a:r>
              <a:rPr lang="en-US" i="1" dirty="0">
                <a:latin typeface="Times New Roman"/>
                <a:ea typeface="Lucida Grande"/>
                <a:cs typeface="Times New Roman"/>
              </a:rPr>
              <a:t>θ,</a:t>
            </a:r>
            <a:r>
              <a:rPr lang="en-US" i="1" dirty="0">
                <a:latin typeface="Times New Roman"/>
                <a:cs typeface="Times New Roman"/>
              </a:rPr>
              <a:t> 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p>
          <a:p>
            <a:pPr marL="0" indent="0">
              <a:buNone/>
            </a:pPr>
            <a:endParaRPr lang="en-US" dirty="0">
              <a:latin typeface="Calibri"/>
              <a:cs typeface="Calibri"/>
            </a:endParaRPr>
          </a:p>
          <a:p>
            <a:pPr marL="0" indent="0">
              <a:buNone/>
            </a:pPr>
            <a:r>
              <a:rPr lang="en-US" dirty="0">
                <a:latin typeface="Calibri"/>
                <a:cs typeface="Calibri"/>
              </a:rPr>
              <a:t>The risk function provides the expected loss for a decision rule </a:t>
            </a:r>
            <a:r>
              <a:rPr lang="en-US" i="1" dirty="0">
                <a:latin typeface="Times New Roman"/>
                <a:cs typeface="Times New Roman"/>
              </a:rPr>
              <a:t>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r>
              <a:rPr lang="en-US" dirty="0">
                <a:latin typeface="Calibri"/>
                <a:cs typeface="Calibri"/>
              </a:rPr>
              <a:t> and a state of the world </a:t>
            </a:r>
            <a:r>
              <a:rPr lang="en-US" i="1" dirty="0">
                <a:latin typeface="Times New Roman"/>
                <a:ea typeface="Lucida Grande"/>
                <a:cs typeface="Times New Roman"/>
              </a:rPr>
              <a:t>θ</a:t>
            </a:r>
            <a:r>
              <a:rPr lang="en-US" dirty="0">
                <a:latin typeface="Calibri"/>
                <a:ea typeface="Lucida Grande"/>
                <a:cs typeface="Calibri"/>
              </a:rPr>
              <a:t>.</a:t>
            </a:r>
          </a:p>
          <a:p>
            <a:pPr marL="0" indent="0">
              <a:buNone/>
            </a:pPr>
            <a:endParaRPr lang="en-US" dirty="0">
              <a:latin typeface="Calibri"/>
              <a:ea typeface="Lucida Grande"/>
              <a:cs typeface="Calibri"/>
            </a:endParaRPr>
          </a:p>
          <a:p>
            <a:pPr marL="0" indent="0">
              <a:buNone/>
            </a:pPr>
            <a:endParaRPr lang="en-US" sz="1600" dirty="0">
              <a:latin typeface="Times New Roman"/>
              <a:ea typeface="Lucida Grande"/>
              <a:cs typeface="Times New Roman"/>
            </a:endParaRPr>
          </a:p>
          <a:p>
            <a:pPr marL="0" indent="0">
              <a:buNone/>
            </a:pPr>
            <a:r>
              <a:rPr lang="en-US" dirty="0">
                <a:latin typeface="Calibri"/>
                <a:ea typeface="Lucida Grande"/>
                <a:cs typeface="Calibri"/>
              </a:rPr>
              <a:t>How should one pick a decision rule to minimize risk?</a:t>
            </a:r>
          </a:p>
        </p:txBody>
      </p:sp>
    </p:spTree>
    <p:extLst>
      <p:ext uri="{BB962C8B-B14F-4D97-AF65-F5344CB8AC3E}">
        <p14:creationId xmlns:p14="http://schemas.microsoft.com/office/powerpoint/2010/main" val="80507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3CF56-35F9-369A-D6FD-4CC4F0C7D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A54BB-832B-C373-2FDC-DF9A15646DAB}"/>
              </a:ext>
            </a:extLst>
          </p:cNvPr>
          <p:cNvSpPr>
            <a:spLocks noGrp="1"/>
          </p:cNvSpPr>
          <p:nvPr>
            <p:ph type="title"/>
          </p:nvPr>
        </p:nvSpPr>
        <p:spPr>
          <a:xfrm>
            <a:off x="457200" y="58478"/>
            <a:ext cx="8229600" cy="833180"/>
          </a:xfrm>
        </p:spPr>
        <p:txBody>
          <a:bodyPr/>
          <a:lstStyle/>
          <a:p>
            <a:r>
              <a:rPr lang="en-US" dirty="0"/>
              <a:t>Statistical decision theory</a:t>
            </a:r>
          </a:p>
        </p:txBody>
      </p:sp>
      <p:sp>
        <p:nvSpPr>
          <p:cNvPr id="3" name="Content Placeholder 2">
            <a:extLst>
              <a:ext uri="{FF2B5EF4-FFF2-40B4-BE49-F238E27FC236}">
                <a16:creationId xmlns:a16="http://schemas.microsoft.com/office/drawing/2014/main" id="{C4FE82A7-7BA9-1D0E-C76B-277C9FEFE469}"/>
              </a:ext>
            </a:extLst>
          </p:cNvPr>
          <p:cNvSpPr>
            <a:spLocks noGrp="1"/>
          </p:cNvSpPr>
          <p:nvPr>
            <p:ph idx="1"/>
          </p:nvPr>
        </p:nvSpPr>
        <p:spPr>
          <a:xfrm>
            <a:off x="94579" y="891658"/>
            <a:ext cx="8995373" cy="5966342"/>
          </a:xfrm>
        </p:spPr>
        <p:txBody>
          <a:bodyPr>
            <a:normAutofit fontScale="92500"/>
          </a:bodyPr>
          <a:lstStyle/>
          <a:p>
            <a:pPr marL="0" indent="0">
              <a:buNone/>
            </a:pPr>
            <a:r>
              <a:rPr lang="en-US" b="1" dirty="0">
                <a:latin typeface="Calibri"/>
                <a:cs typeface="Calibri"/>
              </a:rPr>
              <a:t>Risk function</a:t>
            </a:r>
            <a:r>
              <a:rPr lang="en-US" b="1" dirty="0">
                <a:latin typeface="Times New Roman"/>
                <a:cs typeface="Times New Roman"/>
              </a:rPr>
              <a:t>: </a:t>
            </a:r>
            <a:r>
              <a:rPr lang="en-US" dirty="0">
                <a:latin typeface="Times New Roman"/>
                <a:cs typeface="Times New Roman"/>
              </a:rPr>
              <a:t>R(</a:t>
            </a:r>
            <a:r>
              <a:rPr lang="en-US" i="1" dirty="0" err="1">
                <a:latin typeface="Times New Roman"/>
                <a:ea typeface="Lucida Grande"/>
                <a:cs typeface="Times New Roman"/>
              </a:rPr>
              <a:t>θ</a:t>
            </a:r>
            <a:r>
              <a:rPr lang="en-US" i="1" dirty="0">
                <a:latin typeface="Times New Roman"/>
                <a:ea typeface="Lucida Grande"/>
                <a:cs typeface="Times New Roman"/>
              </a:rPr>
              <a:t>,</a:t>
            </a:r>
            <a:r>
              <a:rPr lang="en-US" i="1" dirty="0">
                <a:latin typeface="Times New Roman"/>
                <a:cs typeface="Times New Roman"/>
              </a:rPr>
              <a:t> 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 = E</a:t>
            </a:r>
            <a:r>
              <a:rPr lang="en-US" i="1" baseline="30000" dirty="0">
                <a:latin typeface="Times New Roman"/>
                <a:cs typeface="Times New Roman"/>
              </a:rPr>
              <a:t>x</a:t>
            </a:r>
            <a:r>
              <a:rPr lang="en-US" dirty="0">
                <a:latin typeface="Times New Roman"/>
                <a:cs typeface="Times New Roman"/>
              </a:rPr>
              <a:t>[L(</a:t>
            </a:r>
            <a:r>
              <a:rPr lang="en-US" i="1" dirty="0" err="1">
                <a:latin typeface="Times New Roman"/>
                <a:ea typeface="Lucida Grande"/>
                <a:cs typeface="Times New Roman"/>
              </a:rPr>
              <a:t>θ</a:t>
            </a:r>
            <a:r>
              <a:rPr lang="en-US" i="1" dirty="0">
                <a:latin typeface="Times New Roman"/>
                <a:ea typeface="Lucida Grande"/>
                <a:cs typeface="Times New Roman"/>
              </a:rPr>
              <a:t>,</a:t>
            </a:r>
            <a:r>
              <a:rPr lang="en-US" i="1" dirty="0">
                <a:latin typeface="Times New Roman"/>
                <a:cs typeface="Times New Roman"/>
              </a:rPr>
              <a:t> 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p>
          <a:p>
            <a:pPr marL="0" indent="0">
              <a:buNone/>
            </a:pPr>
            <a:r>
              <a:rPr lang="en-US" dirty="0">
                <a:latin typeface="Calibri"/>
                <a:ea typeface="Lucida Grande"/>
                <a:cs typeface="Calibri"/>
              </a:rPr>
              <a:t>How should one pick a decision rule to minimize risk?</a:t>
            </a:r>
          </a:p>
          <a:p>
            <a:pPr marL="0" indent="0">
              <a:buNone/>
            </a:pPr>
            <a:r>
              <a:rPr lang="en-US" dirty="0">
                <a:latin typeface="Calibri"/>
                <a:ea typeface="Lucida Grande"/>
                <a:cs typeface="Calibri"/>
              </a:rPr>
              <a:t>Do we have knowledge about the true state of the world?</a:t>
            </a:r>
          </a:p>
          <a:p>
            <a:pPr marL="0" indent="0">
              <a:buNone/>
            </a:pPr>
            <a:endParaRPr lang="en-US" dirty="0">
              <a:latin typeface="Calibri"/>
              <a:ea typeface="Lucida Grande"/>
              <a:cs typeface="Calibri"/>
            </a:endParaRPr>
          </a:p>
          <a:p>
            <a:pPr marL="0" indent="0">
              <a:buNone/>
            </a:pPr>
            <a:r>
              <a:rPr lang="en-US" b="1" dirty="0">
                <a:latin typeface="Calibri"/>
                <a:ea typeface="Lucida Grande"/>
                <a:cs typeface="Calibri"/>
              </a:rPr>
              <a:t>If yes, can use a Bayesian criterion</a:t>
            </a:r>
            <a:r>
              <a:rPr lang="en-US" dirty="0">
                <a:latin typeface="Calibri"/>
                <a:ea typeface="Lucida Grande"/>
                <a:cs typeface="Calibri"/>
              </a:rPr>
              <a:t>: minimize expected loss given a prior over the state of the world. </a:t>
            </a:r>
          </a:p>
          <a:p>
            <a:pPr marL="0" indent="0" algn="ctr">
              <a:buNone/>
            </a:pPr>
            <a:r>
              <a:rPr lang="en-US" dirty="0" err="1">
                <a:latin typeface="Times New Roman"/>
                <a:ea typeface="Lucida Grande"/>
                <a:cs typeface="Times New Roman"/>
              </a:rPr>
              <a:t>argmin</a:t>
            </a:r>
            <a:r>
              <a:rPr lang="en-US" i="1" baseline="-25000" dirty="0" err="1">
                <a:latin typeface="Times New Roman"/>
                <a:cs typeface="Times New Roman"/>
              </a:rPr>
              <a:t>d</a:t>
            </a:r>
            <a:r>
              <a:rPr lang="en-US" baseline="-25000" dirty="0">
                <a:latin typeface="Times New Roman"/>
                <a:cs typeface="Times New Roman"/>
              </a:rPr>
              <a:t>(</a:t>
            </a:r>
            <a:r>
              <a:rPr lang="en-US" i="1" baseline="-25000" dirty="0">
                <a:latin typeface="Times New Roman"/>
                <a:cs typeface="Times New Roman"/>
              </a:rPr>
              <a:t>x</a:t>
            </a:r>
            <a:r>
              <a:rPr lang="en-US" baseline="-25000" dirty="0">
                <a:latin typeface="Times New Roman"/>
                <a:cs typeface="Times New Roman"/>
              </a:rPr>
              <a:t>)</a:t>
            </a:r>
            <a:r>
              <a:rPr lang="en-US" dirty="0">
                <a:latin typeface="Calibri"/>
                <a:ea typeface="Lucida Grande"/>
                <a:cs typeface="Calibri"/>
              </a:rPr>
              <a:t> </a:t>
            </a:r>
            <a:r>
              <a:rPr lang="en-US" dirty="0" err="1">
                <a:latin typeface="Times New Roman"/>
                <a:cs typeface="Times New Roman"/>
              </a:rPr>
              <a:t>E</a:t>
            </a:r>
            <a:r>
              <a:rPr lang="en-US" i="1" baseline="30000" dirty="0" err="1">
                <a:latin typeface="Times New Roman"/>
                <a:ea typeface="Lucida Grande"/>
                <a:cs typeface="Times New Roman"/>
              </a:rPr>
              <a:t>θ</a:t>
            </a:r>
            <a:r>
              <a:rPr lang="en-US" dirty="0" err="1">
                <a:latin typeface="Times New Roman"/>
                <a:cs typeface="Times New Roman"/>
              </a:rPr>
              <a:t>E</a:t>
            </a:r>
            <a:r>
              <a:rPr lang="en-US" i="1" baseline="30000" dirty="0" err="1">
                <a:latin typeface="Times New Roman"/>
                <a:cs typeface="Times New Roman"/>
              </a:rPr>
              <a:t>x</a:t>
            </a:r>
            <a:r>
              <a:rPr lang="en-US" dirty="0">
                <a:latin typeface="Times New Roman"/>
                <a:cs typeface="Times New Roman"/>
              </a:rPr>
              <a:t>[L(</a:t>
            </a:r>
            <a:r>
              <a:rPr lang="en-US" i="1" dirty="0" err="1">
                <a:latin typeface="Times New Roman"/>
                <a:ea typeface="Lucida Grande"/>
                <a:cs typeface="Times New Roman"/>
              </a:rPr>
              <a:t>θ</a:t>
            </a:r>
            <a:r>
              <a:rPr lang="en-US" i="1" dirty="0">
                <a:latin typeface="Times New Roman"/>
                <a:ea typeface="Lucida Grande"/>
                <a:cs typeface="Times New Roman"/>
              </a:rPr>
              <a:t>,</a:t>
            </a:r>
            <a:r>
              <a:rPr lang="en-US" i="1" dirty="0">
                <a:latin typeface="Times New Roman"/>
                <a:cs typeface="Times New Roman"/>
              </a:rPr>
              <a:t> 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p>
          <a:p>
            <a:pPr marL="0" indent="0">
              <a:buNone/>
            </a:pPr>
            <a:r>
              <a:rPr lang="en-US" b="1" dirty="0">
                <a:latin typeface="Calibri"/>
                <a:ea typeface="Lucida Grande"/>
                <a:cs typeface="Calibri"/>
              </a:rPr>
              <a:t>If no, can use a minimax criterion:</a:t>
            </a:r>
            <a:r>
              <a:rPr lang="en-US" dirty="0">
                <a:latin typeface="Calibri"/>
                <a:ea typeface="Lucida Grande"/>
                <a:cs typeface="Calibri"/>
              </a:rPr>
              <a:t> minimize the worst possible loss over all possible states of the world.</a:t>
            </a:r>
          </a:p>
          <a:p>
            <a:pPr marL="0" indent="0" algn="ctr">
              <a:buNone/>
            </a:pPr>
            <a:r>
              <a:rPr lang="en-US" dirty="0" err="1">
                <a:latin typeface="Times New Roman"/>
                <a:cs typeface="Times New Roman"/>
              </a:rPr>
              <a:t>argmin</a:t>
            </a:r>
            <a:r>
              <a:rPr lang="en-US" i="1" baseline="-25000" dirty="0" err="1">
                <a:latin typeface="Times New Roman"/>
                <a:cs typeface="Times New Roman"/>
              </a:rPr>
              <a:t>d</a:t>
            </a:r>
            <a:r>
              <a:rPr lang="en-US" baseline="-25000" dirty="0">
                <a:latin typeface="Times New Roman"/>
                <a:cs typeface="Times New Roman"/>
              </a:rPr>
              <a:t>(</a:t>
            </a:r>
            <a:r>
              <a:rPr lang="en-US" i="1" baseline="-25000" dirty="0">
                <a:latin typeface="Times New Roman"/>
                <a:cs typeface="Times New Roman"/>
              </a:rPr>
              <a:t>x</a:t>
            </a:r>
            <a:r>
              <a:rPr lang="en-US" baseline="-25000" dirty="0">
                <a:latin typeface="Times New Roman"/>
                <a:cs typeface="Times New Roman"/>
              </a:rPr>
              <a:t>)</a:t>
            </a:r>
            <a:r>
              <a:rPr lang="en-US" dirty="0">
                <a:latin typeface="Times New Roman"/>
                <a:cs typeface="Times New Roman"/>
              </a:rPr>
              <a:t> </a:t>
            </a:r>
            <a:r>
              <a:rPr lang="en-US" dirty="0" err="1">
                <a:latin typeface="Times New Roman"/>
                <a:cs typeface="Times New Roman"/>
              </a:rPr>
              <a:t>max</a:t>
            </a:r>
            <a:r>
              <a:rPr lang="en-US" i="1" baseline="-25000" dirty="0" err="1">
                <a:latin typeface="Times New Roman"/>
                <a:ea typeface="Lucida Grande"/>
                <a:cs typeface="Times New Roman"/>
              </a:rPr>
              <a:t>θ</a:t>
            </a:r>
            <a:r>
              <a:rPr lang="en-US" dirty="0">
                <a:latin typeface="Times New Roman"/>
                <a:cs typeface="Times New Roman"/>
              </a:rPr>
              <a:t> E</a:t>
            </a:r>
            <a:r>
              <a:rPr lang="en-US" i="1" baseline="30000" dirty="0">
                <a:latin typeface="Times New Roman"/>
                <a:cs typeface="Times New Roman"/>
              </a:rPr>
              <a:t>x</a:t>
            </a:r>
            <a:r>
              <a:rPr lang="en-US" dirty="0">
                <a:latin typeface="Times New Roman"/>
                <a:cs typeface="Times New Roman"/>
              </a:rPr>
              <a:t>[L(</a:t>
            </a:r>
            <a:r>
              <a:rPr lang="en-US" i="1" dirty="0" err="1">
                <a:latin typeface="Times New Roman"/>
                <a:ea typeface="Lucida Grande"/>
                <a:cs typeface="Times New Roman"/>
              </a:rPr>
              <a:t>θ</a:t>
            </a:r>
            <a:r>
              <a:rPr lang="en-US" i="1" dirty="0">
                <a:latin typeface="Times New Roman"/>
                <a:ea typeface="Lucida Grande"/>
                <a:cs typeface="Times New Roman"/>
              </a:rPr>
              <a:t>,</a:t>
            </a:r>
            <a:r>
              <a:rPr lang="en-US" i="1" dirty="0">
                <a:latin typeface="Times New Roman"/>
                <a:cs typeface="Times New Roman"/>
              </a:rPr>
              <a:t> 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endParaRPr lang="en-US" b="1" dirty="0">
              <a:latin typeface="Calibri"/>
              <a:ea typeface="Lucida Grande"/>
              <a:cs typeface="Calibri"/>
            </a:endParaRPr>
          </a:p>
        </p:txBody>
      </p:sp>
    </p:spTree>
    <p:extLst>
      <p:ext uri="{BB962C8B-B14F-4D97-AF65-F5344CB8AC3E}">
        <p14:creationId xmlns:p14="http://schemas.microsoft.com/office/powerpoint/2010/main" val="82321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478"/>
            <a:ext cx="8229600" cy="833180"/>
          </a:xfrm>
        </p:spPr>
        <p:txBody>
          <a:bodyPr/>
          <a:lstStyle/>
          <a:p>
            <a:r>
              <a:rPr lang="en-US" dirty="0"/>
              <a:t>Statistical decision theory</a:t>
            </a:r>
          </a:p>
        </p:txBody>
      </p:sp>
      <p:sp>
        <p:nvSpPr>
          <p:cNvPr id="3" name="Content Placeholder 2"/>
          <p:cNvSpPr>
            <a:spLocks noGrp="1"/>
          </p:cNvSpPr>
          <p:nvPr>
            <p:ph idx="1"/>
          </p:nvPr>
        </p:nvSpPr>
        <p:spPr>
          <a:xfrm>
            <a:off x="94579" y="824109"/>
            <a:ext cx="8995373" cy="2891134"/>
          </a:xfrm>
        </p:spPr>
        <p:txBody>
          <a:bodyPr>
            <a:normAutofit/>
          </a:bodyPr>
          <a:lstStyle/>
          <a:p>
            <a:pPr marL="0" indent="0">
              <a:buNone/>
            </a:pPr>
            <a:r>
              <a:rPr lang="en-US" sz="2600" b="1" dirty="0">
                <a:latin typeface="Calibri"/>
                <a:ea typeface="Lucida Grande"/>
                <a:cs typeface="Calibri"/>
              </a:rPr>
              <a:t>Bayesian criterion</a:t>
            </a:r>
            <a:r>
              <a:rPr lang="en-US" sz="2600" dirty="0">
                <a:latin typeface="Calibri"/>
                <a:ea typeface="Lucida Grande"/>
                <a:cs typeface="Calibri"/>
              </a:rPr>
              <a:t>: minimize expected loss given a prior over the state of the world. </a:t>
            </a:r>
          </a:p>
          <a:p>
            <a:pPr marL="0" indent="0" algn="ctr">
              <a:buNone/>
            </a:pPr>
            <a:r>
              <a:rPr lang="en-US" sz="2600" dirty="0" err="1">
                <a:latin typeface="Times New Roman"/>
                <a:ea typeface="Lucida Grande"/>
                <a:cs typeface="Times New Roman"/>
              </a:rPr>
              <a:t>argmin</a:t>
            </a:r>
            <a:r>
              <a:rPr lang="en-US" sz="2600" i="1" baseline="-25000" dirty="0" err="1">
                <a:latin typeface="Times New Roman"/>
                <a:cs typeface="Times New Roman"/>
              </a:rPr>
              <a:t>d</a:t>
            </a:r>
            <a:r>
              <a:rPr lang="en-US" sz="2600" baseline="-25000" dirty="0">
                <a:latin typeface="Times New Roman"/>
                <a:cs typeface="Times New Roman"/>
              </a:rPr>
              <a:t>(</a:t>
            </a:r>
            <a:r>
              <a:rPr lang="en-US" sz="2600" i="1" baseline="-25000" dirty="0">
                <a:latin typeface="Times New Roman"/>
                <a:cs typeface="Times New Roman"/>
              </a:rPr>
              <a:t>x</a:t>
            </a:r>
            <a:r>
              <a:rPr lang="en-US" sz="2600" baseline="-25000" dirty="0">
                <a:latin typeface="Times New Roman"/>
                <a:cs typeface="Times New Roman"/>
              </a:rPr>
              <a:t>)</a:t>
            </a:r>
            <a:r>
              <a:rPr lang="en-US" sz="2600" dirty="0">
                <a:latin typeface="Calibri"/>
                <a:ea typeface="Lucida Grande"/>
                <a:cs typeface="Calibri"/>
              </a:rPr>
              <a:t> </a:t>
            </a:r>
            <a:r>
              <a:rPr lang="en-US" sz="2600" dirty="0" err="1">
                <a:latin typeface="Times New Roman"/>
                <a:cs typeface="Times New Roman"/>
              </a:rPr>
              <a:t>E</a:t>
            </a:r>
            <a:r>
              <a:rPr lang="en-US" sz="2600" i="1" baseline="30000" dirty="0" err="1">
                <a:latin typeface="Times New Roman"/>
                <a:ea typeface="Lucida Grande"/>
                <a:cs typeface="Times New Roman"/>
              </a:rPr>
              <a:t>θ</a:t>
            </a:r>
            <a:r>
              <a:rPr lang="en-US" sz="2600" dirty="0" err="1">
                <a:latin typeface="Times New Roman"/>
                <a:cs typeface="Times New Roman"/>
              </a:rPr>
              <a:t>E</a:t>
            </a:r>
            <a:r>
              <a:rPr lang="en-US" sz="2600" i="1" baseline="30000" dirty="0" err="1">
                <a:latin typeface="Times New Roman"/>
                <a:cs typeface="Times New Roman"/>
              </a:rPr>
              <a:t>x</a:t>
            </a:r>
            <a:r>
              <a:rPr lang="en-US" sz="2600" dirty="0">
                <a:latin typeface="Times New Roman"/>
                <a:cs typeface="Times New Roman"/>
              </a:rPr>
              <a:t>[L(</a:t>
            </a:r>
            <a:r>
              <a:rPr lang="en-US" sz="2600" i="1" dirty="0" err="1">
                <a:latin typeface="Times New Roman"/>
                <a:ea typeface="Lucida Grande"/>
                <a:cs typeface="Times New Roman"/>
              </a:rPr>
              <a:t>θ</a:t>
            </a:r>
            <a:r>
              <a:rPr lang="en-US" sz="2600" i="1" dirty="0">
                <a:latin typeface="Times New Roman"/>
                <a:ea typeface="Lucida Grande"/>
                <a:cs typeface="Times New Roman"/>
              </a:rPr>
              <a:t>,</a:t>
            </a:r>
            <a:r>
              <a:rPr lang="en-US" sz="2600" i="1" dirty="0">
                <a:latin typeface="Times New Roman"/>
                <a:cs typeface="Times New Roman"/>
              </a:rPr>
              <a:t> d</a:t>
            </a:r>
            <a:r>
              <a:rPr lang="en-US" sz="2600" dirty="0">
                <a:latin typeface="Times New Roman"/>
                <a:cs typeface="Times New Roman"/>
              </a:rPr>
              <a:t>(</a:t>
            </a:r>
            <a:r>
              <a:rPr lang="en-US" sz="2600" i="1" dirty="0">
                <a:latin typeface="Times New Roman"/>
                <a:cs typeface="Times New Roman"/>
              </a:rPr>
              <a:t>x</a:t>
            </a:r>
            <a:r>
              <a:rPr lang="en-US" sz="2600" dirty="0">
                <a:latin typeface="Times New Roman"/>
                <a:cs typeface="Times New Roman"/>
              </a:rPr>
              <a:t>))]</a:t>
            </a:r>
          </a:p>
          <a:p>
            <a:pPr marL="0" indent="0">
              <a:buNone/>
            </a:pPr>
            <a:r>
              <a:rPr lang="en-US" sz="2600" b="1" dirty="0" err="1">
                <a:latin typeface="Calibri"/>
                <a:ea typeface="Lucida Grande"/>
                <a:cs typeface="Calibri"/>
              </a:rPr>
              <a:t>Minimax</a:t>
            </a:r>
            <a:r>
              <a:rPr lang="en-US" sz="2600" b="1" dirty="0">
                <a:latin typeface="Calibri"/>
                <a:ea typeface="Lucida Grande"/>
                <a:cs typeface="Calibri"/>
              </a:rPr>
              <a:t> criterion:</a:t>
            </a:r>
            <a:r>
              <a:rPr lang="en-US" sz="2600" dirty="0">
                <a:latin typeface="Calibri"/>
                <a:ea typeface="Lucida Grande"/>
                <a:cs typeface="Calibri"/>
              </a:rPr>
              <a:t> minimize the worst possible loss you could have over all possible states of the world.</a:t>
            </a:r>
          </a:p>
          <a:p>
            <a:pPr marL="0" indent="0" algn="ctr">
              <a:buNone/>
            </a:pPr>
            <a:r>
              <a:rPr lang="en-US" sz="2600" dirty="0" err="1">
                <a:latin typeface="Times New Roman"/>
                <a:cs typeface="Times New Roman"/>
              </a:rPr>
              <a:t>argmin</a:t>
            </a:r>
            <a:r>
              <a:rPr lang="en-US" sz="2600" i="1" baseline="-25000" dirty="0" err="1">
                <a:latin typeface="Times New Roman"/>
                <a:cs typeface="Times New Roman"/>
              </a:rPr>
              <a:t>d</a:t>
            </a:r>
            <a:r>
              <a:rPr lang="en-US" sz="2600" baseline="-25000" dirty="0">
                <a:latin typeface="Times New Roman"/>
                <a:cs typeface="Times New Roman"/>
              </a:rPr>
              <a:t>(</a:t>
            </a:r>
            <a:r>
              <a:rPr lang="en-US" sz="2600" i="1" baseline="-25000" dirty="0">
                <a:latin typeface="Times New Roman"/>
                <a:cs typeface="Times New Roman"/>
              </a:rPr>
              <a:t>x</a:t>
            </a:r>
            <a:r>
              <a:rPr lang="en-US" sz="2600" baseline="-25000" dirty="0">
                <a:latin typeface="Times New Roman"/>
                <a:cs typeface="Times New Roman"/>
              </a:rPr>
              <a:t>)</a:t>
            </a:r>
            <a:r>
              <a:rPr lang="en-US" sz="2600" dirty="0">
                <a:latin typeface="Times New Roman"/>
                <a:cs typeface="Times New Roman"/>
              </a:rPr>
              <a:t> </a:t>
            </a:r>
            <a:r>
              <a:rPr lang="en-US" sz="2600" dirty="0" err="1">
                <a:latin typeface="Times New Roman"/>
                <a:cs typeface="Times New Roman"/>
              </a:rPr>
              <a:t>max</a:t>
            </a:r>
            <a:r>
              <a:rPr lang="en-US" sz="2600" i="1" baseline="-25000" dirty="0" err="1">
                <a:latin typeface="Times New Roman"/>
                <a:ea typeface="Lucida Grande"/>
                <a:cs typeface="Times New Roman"/>
              </a:rPr>
              <a:t>θ</a:t>
            </a:r>
            <a:r>
              <a:rPr lang="en-US" sz="2600" dirty="0">
                <a:latin typeface="Times New Roman"/>
                <a:cs typeface="Times New Roman"/>
              </a:rPr>
              <a:t> E</a:t>
            </a:r>
            <a:r>
              <a:rPr lang="en-US" sz="2600" i="1" baseline="30000" dirty="0">
                <a:latin typeface="Times New Roman"/>
                <a:cs typeface="Times New Roman"/>
              </a:rPr>
              <a:t>x</a:t>
            </a:r>
            <a:r>
              <a:rPr lang="en-US" sz="2600" dirty="0">
                <a:latin typeface="Times New Roman"/>
                <a:cs typeface="Times New Roman"/>
              </a:rPr>
              <a:t>[L(</a:t>
            </a:r>
            <a:r>
              <a:rPr lang="en-US" sz="2600" i="1" dirty="0" err="1">
                <a:latin typeface="Times New Roman"/>
                <a:ea typeface="Lucida Grande"/>
                <a:cs typeface="Times New Roman"/>
              </a:rPr>
              <a:t>θ</a:t>
            </a:r>
            <a:r>
              <a:rPr lang="en-US" sz="2600" i="1" dirty="0">
                <a:latin typeface="Times New Roman"/>
                <a:ea typeface="Lucida Grande"/>
                <a:cs typeface="Times New Roman"/>
              </a:rPr>
              <a:t>,</a:t>
            </a:r>
            <a:r>
              <a:rPr lang="en-US" sz="2600" i="1" dirty="0">
                <a:latin typeface="Times New Roman"/>
                <a:cs typeface="Times New Roman"/>
              </a:rPr>
              <a:t> d</a:t>
            </a:r>
            <a:r>
              <a:rPr lang="en-US" sz="2600" dirty="0">
                <a:latin typeface="Times New Roman"/>
                <a:cs typeface="Times New Roman"/>
              </a:rPr>
              <a:t>(</a:t>
            </a:r>
            <a:r>
              <a:rPr lang="en-US" sz="2600" i="1" dirty="0">
                <a:latin typeface="Times New Roman"/>
                <a:cs typeface="Times New Roman"/>
              </a:rPr>
              <a:t>x</a:t>
            </a:r>
            <a:r>
              <a:rPr lang="en-US" sz="2600" dirty="0">
                <a:latin typeface="Times New Roman"/>
                <a:cs typeface="Times New Roman"/>
              </a:rPr>
              <a:t>))]</a:t>
            </a:r>
            <a:endParaRPr lang="en-US" sz="2600" b="1" dirty="0">
              <a:latin typeface="Calibri"/>
              <a:ea typeface="Lucida Grande"/>
              <a:cs typeface="Calibri"/>
            </a:endParaRPr>
          </a:p>
        </p:txBody>
      </p:sp>
      <p:pic>
        <p:nvPicPr>
          <p:cNvPr id="4" name="Picture 3" descr="mnimaxVBayes.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0443" y="3312878"/>
            <a:ext cx="3670300" cy="3644900"/>
          </a:xfrm>
          <a:prstGeom prst="rect">
            <a:avLst/>
          </a:prstGeom>
        </p:spPr>
      </p:pic>
      <p:sp>
        <p:nvSpPr>
          <p:cNvPr id="5" name="Rectangle 4"/>
          <p:cNvSpPr/>
          <p:nvPr/>
        </p:nvSpPr>
        <p:spPr>
          <a:xfrm>
            <a:off x="7685551" y="6232796"/>
            <a:ext cx="390385" cy="523220"/>
          </a:xfrm>
          <a:prstGeom prst="rect">
            <a:avLst/>
          </a:prstGeom>
        </p:spPr>
        <p:txBody>
          <a:bodyPr wrap="none">
            <a:spAutoFit/>
          </a:bodyPr>
          <a:lstStyle/>
          <a:p>
            <a:r>
              <a:rPr lang="en-US" sz="2800" i="1" dirty="0" err="1">
                <a:latin typeface="Times New Roman"/>
                <a:ea typeface="Lucida Grande"/>
                <a:cs typeface="Times New Roman"/>
              </a:rPr>
              <a:t>θ</a:t>
            </a:r>
            <a:endParaRPr lang="en-US" sz="2800" dirty="0"/>
          </a:p>
        </p:txBody>
      </p:sp>
      <p:sp>
        <p:nvSpPr>
          <p:cNvPr id="6" name="Rectangle 5"/>
          <p:cNvSpPr/>
          <p:nvPr/>
        </p:nvSpPr>
        <p:spPr>
          <a:xfrm>
            <a:off x="3934304" y="5309196"/>
            <a:ext cx="2204450" cy="523220"/>
          </a:xfrm>
          <a:prstGeom prst="rect">
            <a:avLst/>
          </a:prstGeom>
        </p:spPr>
        <p:txBody>
          <a:bodyPr wrap="none">
            <a:spAutoFit/>
          </a:bodyPr>
          <a:lstStyle/>
          <a:p>
            <a:r>
              <a:rPr lang="en-US" sz="2800" dirty="0">
                <a:latin typeface="Times New Roman"/>
                <a:cs typeface="Times New Roman"/>
              </a:rPr>
              <a:t>E</a:t>
            </a:r>
            <a:r>
              <a:rPr lang="en-US" sz="2800" i="1" baseline="30000" dirty="0">
                <a:latin typeface="Times New Roman"/>
                <a:cs typeface="Times New Roman"/>
              </a:rPr>
              <a:t>x </a:t>
            </a:r>
            <a:r>
              <a:rPr lang="en-US" sz="2800" dirty="0">
                <a:latin typeface="Times New Roman"/>
                <a:cs typeface="Times New Roman"/>
              </a:rPr>
              <a:t>[L(</a:t>
            </a:r>
            <a:r>
              <a:rPr lang="en-US" sz="2800" i="1" dirty="0">
                <a:latin typeface="Times New Roman"/>
                <a:ea typeface="Lucida Grande"/>
                <a:cs typeface="Times New Roman"/>
              </a:rPr>
              <a:t>θ,</a:t>
            </a:r>
            <a:r>
              <a:rPr lang="en-US" sz="2800" i="1" dirty="0">
                <a:latin typeface="Times New Roman"/>
                <a:cs typeface="Times New Roman"/>
              </a:rPr>
              <a:t> d</a:t>
            </a:r>
            <a:r>
              <a:rPr lang="en-US" sz="2800" dirty="0">
                <a:latin typeface="Times New Roman"/>
                <a:cs typeface="Times New Roman"/>
              </a:rPr>
              <a:t>(</a:t>
            </a:r>
            <a:r>
              <a:rPr lang="en-US" sz="2800" i="1" dirty="0">
                <a:latin typeface="Times New Roman"/>
                <a:cs typeface="Times New Roman"/>
              </a:rPr>
              <a:t>x</a:t>
            </a:r>
            <a:r>
              <a:rPr lang="en-US" sz="2800" dirty="0">
                <a:latin typeface="Times New Roman"/>
                <a:cs typeface="Times New Roman"/>
              </a:rPr>
              <a:t>))]</a:t>
            </a:r>
            <a:endParaRPr lang="en-US" sz="2800" dirty="0"/>
          </a:p>
        </p:txBody>
      </p:sp>
      <p:sp>
        <p:nvSpPr>
          <p:cNvPr id="7" name="TextBox 6">
            <a:extLst>
              <a:ext uri="{FF2B5EF4-FFF2-40B4-BE49-F238E27FC236}">
                <a16:creationId xmlns:a16="http://schemas.microsoft.com/office/drawing/2014/main" id="{D20F5350-F54E-A95B-E6C6-1C3F1D76CDF1}"/>
              </a:ext>
            </a:extLst>
          </p:cNvPr>
          <p:cNvSpPr txBox="1"/>
          <p:nvPr/>
        </p:nvSpPr>
        <p:spPr>
          <a:xfrm>
            <a:off x="208949" y="4084158"/>
            <a:ext cx="4018268" cy="2308324"/>
          </a:xfrm>
          <a:prstGeom prst="rect">
            <a:avLst/>
          </a:prstGeom>
          <a:noFill/>
        </p:spPr>
        <p:txBody>
          <a:bodyPr wrap="square" rtlCol="0">
            <a:spAutoFit/>
          </a:bodyPr>
          <a:lstStyle/>
          <a:p>
            <a:r>
              <a:rPr lang="en-US" sz="2400" dirty="0"/>
              <a:t>Exploring the difference between the two criteria graphically…</a:t>
            </a:r>
          </a:p>
          <a:p>
            <a:endParaRPr lang="en-US" sz="2400" dirty="0"/>
          </a:p>
          <a:p>
            <a:r>
              <a:rPr lang="en-US" sz="2400" dirty="0"/>
              <a:t>In the Bayesian case, </a:t>
            </a:r>
          </a:p>
          <a:p>
            <a:r>
              <a:rPr lang="en-US" sz="2400" dirty="0"/>
              <a:t>assume a uniform prior.</a:t>
            </a:r>
          </a:p>
        </p:txBody>
      </p:sp>
      <p:sp>
        <p:nvSpPr>
          <p:cNvPr id="8" name="Rectangle 7">
            <a:extLst>
              <a:ext uri="{FF2B5EF4-FFF2-40B4-BE49-F238E27FC236}">
                <a16:creationId xmlns:a16="http://schemas.microsoft.com/office/drawing/2014/main" id="{C9700766-A7D6-544B-4F7D-3B386FDB830E}"/>
              </a:ext>
            </a:extLst>
          </p:cNvPr>
          <p:cNvSpPr/>
          <p:nvPr/>
        </p:nvSpPr>
        <p:spPr>
          <a:xfrm>
            <a:off x="6306533" y="5382270"/>
            <a:ext cx="1234911" cy="37707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24159BA-4BEB-CDB0-2404-0295BCC27D60}"/>
              </a:ext>
            </a:extLst>
          </p:cNvPr>
          <p:cNvSpPr/>
          <p:nvPr/>
        </p:nvSpPr>
        <p:spPr>
          <a:xfrm>
            <a:off x="6306532" y="4183834"/>
            <a:ext cx="1234911" cy="377072"/>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337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478"/>
            <a:ext cx="8229600" cy="833180"/>
          </a:xfrm>
        </p:spPr>
        <p:txBody>
          <a:bodyPr/>
          <a:lstStyle/>
          <a:p>
            <a:r>
              <a:rPr lang="en-US" dirty="0"/>
              <a:t>Statistical decision theory</a:t>
            </a:r>
          </a:p>
        </p:txBody>
      </p:sp>
      <p:sp>
        <p:nvSpPr>
          <p:cNvPr id="3" name="Content Placeholder 2"/>
          <p:cNvSpPr>
            <a:spLocks noGrp="1"/>
          </p:cNvSpPr>
          <p:nvPr>
            <p:ph idx="1"/>
          </p:nvPr>
        </p:nvSpPr>
        <p:spPr>
          <a:xfrm>
            <a:off x="148627" y="891658"/>
            <a:ext cx="8809587" cy="5966342"/>
          </a:xfrm>
        </p:spPr>
        <p:txBody>
          <a:bodyPr/>
          <a:lstStyle/>
          <a:p>
            <a:pPr marL="0" indent="0">
              <a:buNone/>
            </a:pPr>
            <a:r>
              <a:rPr lang="en-US" dirty="0">
                <a:latin typeface="Calibri"/>
                <a:cs typeface="Calibri"/>
              </a:rPr>
              <a:t>Under Bayesian criterion with typical priors, setup, and given loss function,</a:t>
            </a:r>
          </a:p>
          <a:p>
            <a:pPr marL="400050" lvl="1" indent="0">
              <a:buNone/>
            </a:pPr>
            <a:r>
              <a:rPr lang="en-US" b="1" dirty="0">
                <a:latin typeface="Calibri"/>
                <a:cs typeface="Calibri"/>
              </a:rPr>
              <a:t>0-1 loss</a:t>
            </a:r>
            <a:r>
              <a:rPr lang="en-US" dirty="0">
                <a:latin typeface="Calibri"/>
                <a:cs typeface="Calibri"/>
              </a:rPr>
              <a:t>: 1 for wrong action, 0 for correct action. (e.g., 0 if you take bridge and less traffic on bridge)</a:t>
            </a:r>
          </a:p>
          <a:p>
            <a:pPr marL="400050" lvl="1" indent="0">
              <a:buNone/>
            </a:pPr>
            <a:r>
              <a:rPr lang="en-US" dirty="0">
                <a:latin typeface="Calibri"/>
                <a:cs typeface="Calibri"/>
              </a:rPr>
              <a:t>		MAP is optimal</a:t>
            </a:r>
          </a:p>
          <a:p>
            <a:pPr marL="400050" lvl="1" indent="0">
              <a:buNone/>
            </a:pPr>
            <a:endParaRPr lang="en-US" dirty="0">
              <a:latin typeface="Calibri"/>
              <a:cs typeface="Calibri"/>
            </a:endParaRPr>
          </a:p>
          <a:p>
            <a:pPr marL="400050" lvl="1" indent="0">
              <a:buNone/>
            </a:pPr>
            <a:r>
              <a:rPr lang="en-US" b="1" dirty="0">
                <a:latin typeface="Calibri"/>
                <a:cs typeface="Calibri"/>
              </a:rPr>
              <a:t>Squared loss </a:t>
            </a:r>
            <a:r>
              <a:rPr lang="en-US" dirty="0">
                <a:latin typeface="Calibri"/>
                <a:cs typeface="Calibri"/>
              </a:rPr>
              <a:t>(also called L</a:t>
            </a:r>
            <a:r>
              <a:rPr lang="en-US" baseline="30000" dirty="0">
                <a:latin typeface="Calibri"/>
                <a:cs typeface="Calibri"/>
              </a:rPr>
              <a:t>2</a:t>
            </a:r>
            <a:r>
              <a:rPr lang="en-US" dirty="0">
                <a:latin typeface="Calibri"/>
                <a:cs typeface="Calibri"/>
              </a:rPr>
              <a:t> norm): </a:t>
            </a:r>
            <a:r>
              <a:rPr lang="en-US" dirty="0">
                <a:latin typeface="Times New Roman"/>
                <a:cs typeface="Times New Roman"/>
              </a:rPr>
              <a:t>(</a:t>
            </a:r>
            <a:r>
              <a:rPr lang="en-US" i="1" dirty="0" err="1">
                <a:latin typeface="Times New Roman"/>
                <a:ea typeface="Lucida Grande"/>
                <a:cs typeface="Times New Roman"/>
              </a:rPr>
              <a:t>θ</a:t>
            </a:r>
            <a:r>
              <a:rPr lang="en-US" i="1" dirty="0">
                <a:latin typeface="Times New Roman"/>
                <a:ea typeface="Lucida Grande"/>
                <a:cs typeface="Times New Roman"/>
              </a:rPr>
              <a:t> - </a:t>
            </a:r>
            <a:r>
              <a:rPr lang="en-US" i="1" dirty="0">
                <a:latin typeface="Times New Roman"/>
                <a:cs typeface="Times New Roman"/>
              </a:rPr>
              <a:t>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r>
              <a:rPr lang="en-US" baseline="30000" dirty="0">
                <a:latin typeface="Times New Roman"/>
                <a:cs typeface="Times New Roman"/>
              </a:rPr>
              <a:t>2</a:t>
            </a:r>
          </a:p>
          <a:p>
            <a:pPr marL="400050" lvl="1" indent="0">
              <a:buNone/>
            </a:pPr>
            <a:r>
              <a:rPr lang="en-US" dirty="0">
                <a:latin typeface="Calibri" charset="0"/>
                <a:ea typeface="Calibri" charset="0"/>
                <a:cs typeface="Calibri" charset="0"/>
              </a:rPr>
              <a:t>		Mean is optimal</a:t>
            </a:r>
          </a:p>
          <a:p>
            <a:pPr marL="400050" lvl="1" indent="0">
              <a:buNone/>
            </a:pPr>
            <a:endParaRPr lang="en-US" dirty="0">
              <a:latin typeface="Calibri" charset="0"/>
              <a:ea typeface="Calibri" charset="0"/>
              <a:cs typeface="Calibri" charset="0"/>
            </a:endParaRPr>
          </a:p>
          <a:p>
            <a:pPr marL="400050" lvl="1" indent="0">
              <a:buNone/>
            </a:pPr>
            <a:r>
              <a:rPr lang="en-US" b="1" dirty="0">
                <a:latin typeface="Calibri"/>
                <a:cs typeface="Calibri"/>
              </a:rPr>
              <a:t>Absolute loss</a:t>
            </a:r>
            <a:r>
              <a:rPr lang="en-US" dirty="0">
                <a:latin typeface="Calibri"/>
                <a:cs typeface="Calibri"/>
              </a:rPr>
              <a:t> (also called L</a:t>
            </a:r>
            <a:r>
              <a:rPr lang="en-US" baseline="30000" dirty="0">
                <a:latin typeface="Calibri"/>
                <a:cs typeface="Calibri"/>
              </a:rPr>
              <a:t>1</a:t>
            </a:r>
            <a:r>
              <a:rPr lang="en-US" dirty="0">
                <a:latin typeface="Calibri"/>
                <a:cs typeface="Calibri"/>
              </a:rPr>
              <a:t> norm):</a:t>
            </a:r>
            <a:r>
              <a:rPr lang="en-US" dirty="0">
                <a:latin typeface="Times New Roman"/>
                <a:cs typeface="Times New Roman"/>
              </a:rPr>
              <a:t> |</a:t>
            </a:r>
            <a:r>
              <a:rPr lang="en-US" i="1" dirty="0" err="1">
                <a:latin typeface="Times New Roman"/>
                <a:ea typeface="Lucida Grande"/>
                <a:cs typeface="Times New Roman"/>
              </a:rPr>
              <a:t>θ</a:t>
            </a:r>
            <a:r>
              <a:rPr lang="en-US" i="1" dirty="0">
                <a:latin typeface="Times New Roman"/>
                <a:ea typeface="Lucida Grande"/>
                <a:cs typeface="Times New Roman"/>
              </a:rPr>
              <a:t> - </a:t>
            </a:r>
            <a:r>
              <a:rPr lang="en-US" i="1" dirty="0">
                <a:latin typeface="Times New Roman"/>
                <a:cs typeface="Times New Roman"/>
              </a:rPr>
              <a:t>d</a:t>
            </a:r>
            <a:r>
              <a:rPr lang="en-US" dirty="0">
                <a:latin typeface="Times New Roman"/>
                <a:cs typeface="Times New Roman"/>
              </a:rPr>
              <a:t>(</a:t>
            </a:r>
            <a:r>
              <a:rPr lang="en-US" i="1" dirty="0">
                <a:latin typeface="Times New Roman"/>
                <a:cs typeface="Times New Roman"/>
              </a:rPr>
              <a:t>x</a:t>
            </a:r>
            <a:r>
              <a:rPr lang="en-US" dirty="0">
                <a:latin typeface="Times New Roman"/>
                <a:cs typeface="Times New Roman"/>
              </a:rPr>
              <a:t>)|</a:t>
            </a:r>
          </a:p>
          <a:p>
            <a:pPr marL="400050" lvl="1" indent="0">
              <a:buNone/>
            </a:pPr>
            <a:r>
              <a:rPr lang="en-US" dirty="0">
                <a:latin typeface="Times New Roman"/>
                <a:cs typeface="Times New Roman"/>
              </a:rPr>
              <a:t>	</a:t>
            </a:r>
            <a:r>
              <a:rPr lang="en-US" dirty="0">
                <a:latin typeface="Calibri" charset="0"/>
                <a:ea typeface="Calibri" charset="0"/>
                <a:cs typeface="Calibri" charset="0"/>
              </a:rPr>
              <a:t>	Median is optimal</a:t>
            </a:r>
          </a:p>
        </p:txBody>
      </p:sp>
    </p:spTree>
    <p:extLst>
      <p:ext uri="{BB962C8B-B14F-4D97-AF65-F5344CB8AC3E}">
        <p14:creationId xmlns:p14="http://schemas.microsoft.com/office/powerpoint/2010/main" val="68193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14B3B-3BB0-80EB-8555-19D975317F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1FA5A-CBC0-9CC6-D09B-003386045D7F}"/>
              </a:ext>
            </a:extLst>
          </p:cNvPr>
          <p:cNvSpPr>
            <a:spLocks noGrp="1"/>
          </p:cNvSpPr>
          <p:nvPr>
            <p:ph idx="1"/>
          </p:nvPr>
        </p:nvSpPr>
        <p:spPr>
          <a:xfrm>
            <a:off x="465992" y="135082"/>
            <a:ext cx="8229600" cy="6751588"/>
          </a:xfrm>
        </p:spPr>
        <p:txBody>
          <a:bodyPr>
            <a:normAutofit/>
          </a:bodyPr>
          <a:lstStyle/>
          <a:p>
            <a:r>
              <a:rPr lang="en-US" dirty="0"/>
              <a:t>Admin Matters</a:t>
            </a:r>
          </a:p>
          <a:p>
            <a:pPr defTabSz="914400">
              <a:spcBef>
                <a:spcPts val="0"/>
              </a:spcBef>
              <a:defRPr/>
            </a:pPr>
            <a:r>
              <a:rPr lang="en-US" dirty="0"/>
              <a:t>Statistical Decision Theory</a:t>
            </a:r>
          </a:p>
          <a:p>
            <a:pPr defTabSz="914400">
              <a:spcBef>
                <a:spcPts val="0"/>
              </a:spcBef>
              <a:defRPr/>
            </a:pPr>
            <a:r>
              <a:rPr lang="en-US" dirty="0"/>
              <a:t>Markov Decision Processes</a:t>
            </a:r>
          </a:p>
          <a:p>
            <a:pPr defTabSz="914400">
              <a:spcBef>
                <a:spcPts val="0"/>
              </a:spcBef>
              <a:defRPr/>
            </a:pPr>
            <a:r>
              <a:rPr lang="en-US" b="1" dirty="0"/>
              <a:t>Short rest 1</a:t>
            </a:r>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Schulz et al 1997 by Ashwini</a:t>
            </a:r>
          </a:p>
          <a:p>
            <a:pPr marL="914400" lvl="1" indent="-514350" defTabSz="914400">
              <a:spcBef>
                <a:spcPts val="0"/>
              </a:spcBef>
              <a:buFont typeface="+mj-lt"/>
              <a:buAutoNum type="arabicPeriod"/>
              <a:defRPr/>
            </a:pPr>
            <a:r>
              <a:rPr lang="en-US" dirty="0"/>
              <a:t>Ho et al 2015 by </a:t>
            </a:r>
            <a:r>
              <a:rPr lang="en-US" dirty="0" err="1"/>
              <a:t>Khailanii</a:t>
            </a:r>
            <a:endParaRPr lang="en-US" dirty="0"/>
          </a:p>
          <a:p>
            <a:pPr marL="400050" lvl="1" indent="0" defTabSz="914400">
              <a:spcBef>
                <a:spcPts val="0"/>
              </a:spcBef>
              <a:buNone/>
              <a:defRPr/>
            </a:pPr>
            <a:r>
              <a:rPr lang="en-US" b="1" dirty="0"/>
              <a:t>Short rest 2</a:t>
            </a:r>
          </a:p>
          <a:p>
            <a:pPr marL="400050" lvl="1" indent="0" defTabSz="914400">
              <a:spcBef>
                <a:spcPts val="0"/>
              </a:spcBef>
              <a:buNone/>
              <a:defRPr/>
            </a:pPr>
            <a:r>
              <a:rPr lang="en-US" dirty="0"/>
              <a:t>3.   Ho et al 2017 by Anirudh</a:t>
            </a:r>
          </a:p>
        </p:txBody>
      </p:sp>
    </p:spTree>
    <p:extLst>
      <p:ext uri="{BB962C8B-B14F-4D97-AF65-F5344CB8AC3E}">
        <p14:creationId xmlns:p14="http://schemas.microsoft.com/office/powerpoint/2010/main" val="1820481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30452"/>
          </a:xfrm>
        </p:spPr>
        <p:txBody>
          <a:bodyPr>
            <a:normAutofit/>
          </a:bodyPr>
          <a:lstStyle/>
          <a:p>
            <a:r>
              <a:rPr lang="en-US" dirty="0"/>
              <a:t>Multiple actions</a:t>
            </a:r>
          </a:p>
        </p:txBody>
      </p:sp>
      <p:sp>
        <p:nvSpPr>
          <p:cNvPr id="3" name="Content Placeholder 2"/>
          <p:cNvSpPr>
            <a:spLocks noGrp="1"/>
          </p:cNvSpPr>
          <p:nvPr>
            <p:ph idx="1"/>
          </p:nvPr>
        </p:nvSpPr>
        <p:spPr>
          <a:xfrm>
            <a:off x="155502" y="930452"/>
            <a:ext cx="8871867" cy="5927548"/>
          </a:xfrm>
        </p:spPr>
        <p:txBody>
          <a:bodyPr>
            <a:normAutofit fontScale="92500" lnSpcReduction="10000"/>
          </a:bodyPr>
          <a:lstStyle/>
          <a:p>
            <a:pPr marL="0" indent="0">
              <a:buNone/>
            </a:pPr>
            <a:r>
              <a:rPr lang="en-US" dirty="0"/>
              <a:t>Statistical decision theory prescribes how we should make an action, but what about an action sequence?</a:t>
            </a:r>
          </a:p>
          <a:p>
            <a:pPr marL="0" indent="0">
              <a:buNone/>
            </a:pPr>
            <a:endParaRPr lang="en-US" sz="1500" dirty="0"/>
          </a:p>
          <a:p>
            <a:pPr marL="0" indent="0">
              <a:buNone/>
            </a:pPr>
            <a:r>
              <a:rPr lang="en-US" dirty="0"/>
              <a:t>In theory, no real difference.</a:t>
            </a:r>
          </a:p>
          <a:p>
            <a:pPr marL="0" indent="0">
              <a:buNone/>
            </a:pPr>
            <a:r>
              <a:rPr lang="en-US" dirty="0"/>
              <a:t>“Action variable” takes action sequence as value.</a:t>
            </a:r>
          </a:p>
          <a:p>
            <a:pPr marL="0" indent="0">
              <a:buNone/>
            </a:pPr>
            <a:r>
              <a:rPr lang="en-US" dirty="0"/>
              <a:t>But then how do we choose the correct sequence?</a:t>
            </a:r>
          </a:p>
          <a:p>
            <a:pPr marL="0" indent="0">
              <a:buNone/>
            </a:pPr>
            <a:endParaRPr lang="en-US" sz="1600" dirty="0"/>
          </a:p>
          <a:p>
            <a:pPr marL="0" indent="0">
              <a:buNone/>
            </a:pPr>
            <a:r>
              <a:rPr lang="en-US" dirty="0"/>
              <a:t>Work is in specifying the state dynamics, utilities/loss, and a rule for selecting the optimal sequence of actions.</a:t>
            </a:r>
          </a:p>
          <a:p>
            <a:pPr marL="0" indent="0">
              <a:buNone/>
            </a:pPr>
            <a:r>
              <a:rPr lang="en-US" dirty="0"/>
              <a:t>	Probably won’t just be sum of rewards.</a:t>
            </a:r>
          </a:p>
          <a:p>
            <a:pPr marL="0" indent="0">
              <a:buNone/>
            </a:pPr>
            <a:endParaRPr lang="en-US" sz="1600" dirty="0"/>
          </a:p>
          <a:p>
            <a:pPr marL="0" indent="0">
              <a:buNone/>
            </a:pPr>
            <a:r>
              <a:rPr lang="en-US" dirty="0"/>
              <a:t>Want to </a:t>
            </a:r>
            <a:r>
              <a:rPr lang="en-US" b="1" dirty="0"/>
              <a:t>discount</a:t>
            </a:r>
            <a:r>
              <a:rPr lang="en-US" dirty="0"/>
              <a:t> future rewards.</a:t>
            </a:r>
          </a:p>
          <a:p>
            <a:pPr marL="0" indent="0">
              <a:buNone/>
            </a:pPr>
            <a:r>
              <a:rPr lang="en-US" dirty="0"/>
              <a:t>	Would you prefer $10 now or $10 in 1000 years?</a:t>
            </a:r>
          </a:p>
          <a:p>
            <a:pPr marL="0" indent="0">
              <a:buNone/>
            </a:pPr>
            <a:endParaRPr lang="en-US" dirty="0"/>
          </a:p>
        </p:txBody>
      </p:sp>
    </p:spTree>
    <p:extLst>
      <p:ext uri="{BB962C8B-B14F-4D97-AF65-F5344CB8AC3E}">
        <p14:creationId xmlns:p14="http://schemas.microsoft.com/office/powerpoint/2010/main" val="59911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476"/>
            <a:ext cx="9144000" cy="1096210"/>
          </a:xfrm>
        </p:spPr>
        <p:txBody>
          <a:bodyPr>
            <a:normAutofit fontScale="90000"/>
          </a:bodyPr>
          <a:lstStyle/>
          <a:p>
            <a:pPr algn="l"/>
            <a:r>
              <a:rPr lang="en-US" b="1" dirty="0"/>
              <a:t>Markov Chains + Decisions + Rewards  = </a:t>
            </a:r>
            <a:br>
              <a:rPr lang="en-US" b="1" dirty="0"/>
            </a:br>
            <a:r>
              <a:rPr lang="en-US" b="1" dirty="0"/>
              <a:t>Markov Decision Processes (MDPs)</a:t>
            </a:r>
          </a:p>
        </p:txBody>
      </p:sp>
      <mc:AlternateContent xmlns:mc="http://schemas.openxmlformats.org/markup-compatibility/2006" xmlns:a14="http://schemas.microsoft.com/office/drawing/2010/main">
        <mc:Choice Requires="a14">
          <p:sp>
            <p:nvSpPr>
              <p:cNvPr id="4" name="TextBox 3"/>
              <p:cNvSpPr txBox="1"/>
              <p:nvPr/>
            </p:nvSpPr>
            <p:spPr>
              <a:xfrm>
                <a:off x="173789" y="1216528"/>
                <a:ext cx="8836527" cy="5909310"/>
              </a:xfrm>
              <a:prstGeom prst="rect">
                <a:avLst/>
              </a:prstGeom>
              <a:noFill/>
            </p:spPr>
            <p:txBody>
              <a:bodyPr wrap="square" rtlCol="0">
                <a:spAutoFit/>
              </a:bodyPr>
              <a:lstStyle/>
              <a:p>
                <a:r>
                  <a:rPr lang="en-US" sz="2800" dirty="0"/>
                  <a:t>MDP defined by the following variables:</a:t>
                </a:r>
              </a:p>
              <a:p>
                <a:r>
                  <a:rPr lang="en-US" sz="2800" dirty="0"/>
                  <a:t>	</a:t>
                </a:r>
                <a:r>
                  <a:rPr lang="en-US" sz="2800" b="1" dirty="0"/>
                  <a:t>S</a:t>
                </a:r>
                <a:r>
                  <a:rPr lang="en-US" sz="2800" dirty="0"/>
                  <a:t> = a set of “environmental” states</a:t>
                </a:r>
              </a:p>
              <a:p>
                <a:endParaRPr lang="en-US" sz="1400" dirty="0"/>
              </a:p>
              <a:p>
                <a:r>
                  <a:rPr lang="en-US" sz="2800" dirty="0"/>
                  <a:t>	</a:t>
                </a:r>
                <a:r>
                  <a:rPr lang="en-US" sz="2800" b="1" dirty="0"/>
                  <a:t>A </a:t>
                </a:r>
                <a:r>
                  <a:rPr lang="en-US" sz="2800" dirty="0"/>
                  <a:t>= a set of possible actions for the agent to take</a:t>
                </a:r>
              </a:p>
              <a:p>
                <a:r>
                  <a:rPr lang="en-US" sz="2800" dirty="0"/>
                  <a:t>		(decision rules in statistical decision theory).</a:t>
                </a:r>
              </a:p>
              <a:p>
                <a:endParaRPr lang="en-US" sz="1400" dirty="0"/>
              </a:p>
              <a:p>
                <a:r>
                  <a:rPr lang="en-US" sz="2800" dirty="0"/>
                  <a:t>	</a:t>
                </a:r>
                <a:r>
                  <a:rPr lang="en-US" sz="2800" b="1" dirty="0"/>
                  <a:t>T </a:t>
                </a:r>
                <a:r>
                  <a:rPr lang="en-US" sz="2800" dirty="0"/>
                  <a:t>= </a:t>
                </a:r>
                <a:r>
                  <a:rPr lang="en-US" sz="2800" i="1" dirty="0"/>
                  <a:t>state transition function</a:t>
                </a:r>
                <a:r>
                  <a:rPr lang="en-US" sz="2800" dirty="0"/>
                  <a:t>, which defines a probability 		transition matrix for each action.</a:t>
                </a:r>
                <a:endParaRPr lang="en-US" sz="1400" dirty="0"/>
              </a:p>
              <a:p>
                <a:r>
                  <a:rPr lang="en-US" sz="2800" i="1" dirty="0"/>
                  <a:t>		</a:t>
                </a:r>
                <a:r>
                  <a:rPr lang="en-US" sz="2800" dirty="0"/>
                  <a:t>Typically this is written as     </a:t>
                </a:r>
                <a:r>
                  <a:rPr lang="en-US" sz="2800" dirty="0">
                    <a:latin typeface="Times New Roman"/>
                    <a:cs typeface="Times New Roman"/>
                  </a:rPr>
                  <a:t> </a:t>
                </a:r>
              </a:p>
              <a:p>
                <a:r>
                  <a:rPr lang="en-US" sz="2800" dirty="0">
                    <a:latin typeface="Times New Roman"/>
                    <a:cs typeface="Times New Roman"/>
                  </a:rPr>
                  <a:t>		</a:t>
                </a:r>
                <a:r>
                  <a:rPr lang="en-US" sz="2000" dirty="0">
                    <a:latin typeface="Calibri"/>
                    <a:cs typeface="Calibri"/>
                  </a:rPr>
                  <a:t>(MCs can be thought of as a special case with only 1 action)</a:t>
                </a:r>
              </a:p>
              <a:p>
                <a:endParaRPr lang="en-US" sz="1400" dirty="0">
                  <a:latin typeface="Calibri"/>
                  <a:cs typeface="Calibri"/>
                </a:endParaRPr>
              </a:p>
              <a:p>
                <a:r>
                  <a:rPr lang="en-US" sz="2800" i="1" dirty="0">
                    <a:latin typeface="Calibri"/>
                    <a:cs typeface="Calibri"/>
                  </a:rPr>
                  <a:t>	</a:t>
                </a:r>
                <a:r>
                  <a:rPr lang="en-US" sz="2800" b="1" dirty="0">
                    <a:latin typeface="Calibri"/>
                    <a:cs typeface="Calibri"/>
                  </a:rPr>
                  <a:t>R </a:t>
                </a:r>
                <a:r>
                  <a:rPr lang="en-US" sz="2800" dirty="0">
                    <a:latin typeface="Calibri"/>
                    <a:cs typeface="Calibri"/>
                  </a:rPr>
                  <a:t>= a </a:t>
                </a:r>
                <a:r>
                  <a:rPr lang="en-US" sz="2800" i="1" dirty="0">
                    <a:latin typeface="Calibri"/>
                    <a:cs typeface="Calibri"/>
                  </a:rPr>
                  <a:t>reward function</a:t>
                </a:r>
                <a:r>
                  <a:rPr lang="en-US" sz="2800" dirty="0">
                    <a:latin typeface="Calibri"/>
                    <a:cs typeface="Calibri"/>
                  </a:rPr>
                  <a:t>. Maps states and actions, </a:t>
                </a:r>
                <a:r>
                  <a:rPr lang="en-US" sz="2800" dirty="0">
                    <a:latin typeface="Times New Roman"/>
                    <a:cs typeface="Times New Roman"/>
                  </a:rPr>
                  <a:t>R(</a:t>
                </a:r>
                <a:r>
                  <a:rPr lang="en-US" sz="2800" i="1" dirty="0" err="1">
                    <a:latin typeface="Times New Roman"/>
                    <a:cs typeface="Times New Roman"/>
                  </a:rPr>
                  <a:t>s</a:t>
                </a:r>
                <a:r>
                  <a:rPr lang="en-US" sz="2800" dirty="0" err="1">
                    <a:latin typeface="Times New Roman"/>
                    <a:cs typeface="Times New Roman"/>
                  </a:rPr>
                  <a:t>,</a:t>
                </a:r>
                <a:r>
                  <a:rPr lang="en-US" sz="2800" i="1" dirty="0" err="1">
                    <a:latin typeface="Times New Roman"/>
                    <a:cs typeface="Times New Roman"/>
                  </a:rPr>
                  <a:t>a</a:t>
                </a:r>
                <a:r>
                  <a:rPr lang="en-US" sz="2800" dirty="0">
                    <a:latin typeface="Times New Roman"/>
                    <a:cs typeface="Times New Roman"/>
                  </a:rPr>
                  <a:t>)</a:t>
                </a:r>
                <a:r>
                  <a:rPr lang="en-US" sz="2800" dirty="0">
                    <a:latin typeface="Calibri"/>
                    <a:cs typeface="Calibri"/>
                  </a:rPr>
                  <a:t>, 		to a reward (a real number). Reward = - Loss</a:t>
                </a:r>
              </a:p>
              <a:p>
                <a:r>
                  <a:rPr lang="en-US" sz="1400" i="1" dirty="0">
                    <a:latin typeface="Calibri"/>
                    <a:cs typeface="Calibri"/>
                  </a:rPr>
                  <a:t>	</a:t>
                </a:r>
              </a:p>
              <a:p>
                <a:r>
                  <a:rPr lang="en-US" sz="2800" b="0" dirty="0">
                    <a:cs typeface="Calibri"/>
                  </a:rPr>
                  <a:t>	</a:t>
                </a:r>
                <a14:m>
                  <m:oMath xmlns:m="http://schemas.openxmlformats.org/officeDocument/2006/math">
                    <m:r>
                      <a:rPr lang="en-US" sz="2800" b="0" i="1" smtClean="0">
                        <a:latin typeface="Cambria Math" panose="02040503050406030204" pitchFamily="18" charset="0"/>
                        <a:cs typeface="Calibri"/>
                      </a:rPr>
                      <m:t>𝛾</m:t>
                    </m:r>
                    <m:r>
                      <a:rPr lang="en-US" sz="2800" b="0" i="1" smtClean="0">
                        <a:latin typeface="Cambria Math" panose="02040503050406030204" pitchFamily="18" charset="0"/>
                        <a:cs typeface="Calibri"/>
                      </a:rPr>
                      <m:t> </m:t>
                    </m:r>
                  </m:oMath>
                </a14:m>
                <a:r>
                  <a:rPr lang="en-US" sz="2800" dirty="0">
                    <a:latin typeface="Calibri"/>
                    <a:cs typeface="Calibri"/>
                  </a:rPr>
                  <a:t>= delayed discount parameter </a:t>
                </a:r>
              </a:p>
            </p:txBody>
          </p:sp>
        </mc:Choice>
        <mc:Fallback xmlns="">
          <p:sp>
            <p:nvSpPr>
              <p:cNvPr id="4" name="TextBox 3"/>
              <p:cNvSpPr txBox="1">
                <a:spLocks noRot="1" noChangeAspect="1" noMove="1" noResize="1" noEditPoints="1" noAdjustHandles="1" noChangeArrowheads="1" noChangeShapeType="1" noTextEdit="1"/>
              </p:cNvSpPr>
              <p:nvPr/>
            </p:nvSpPr>
            <p:spPr>
              <a:xfrm>
                <a:off x="173789" y="1216528"/>
                <a:ext cx="8836527" cy="5909310"/>
              </a:xfrm>
              <a:prstGeom prst="rect">
                <a:avLst/>
              </a:prstGeom>
              <a:blipFill>
                <a:blip r:embed="rId3"/>
                <a:stretch>
                  <a:fillRect l="-1449" t="-1032" r="-414"/>
                </a:stretch>
              </a:blipFill>
            </p:spPr>
            <p:txBody>
              <a:bodyPr/>
              <a:lstStyle/>
              <a:p>
                <a:r>
                  <a:rPr lang="en-US">
                    <a:noFill/>
                  </a:rPr>
                  <a:t> </a:t>
                </a:r>
              </a:p>
            </p:txBody>
          </p:sp>
        </mc:Fallback>
      </mc:AlternateContent>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7083" y="4289793"/>
            <a:ext cx="2311400" cy="419100"/>
          </a:xfrm>
          <a:prstGeom prst="rect">
            <a:avLst/>
          </a:prstGeom>
        </p:spPr>
      </p:pic>
    </p:spTree>
    <p:extLst>
      <p:ext uri="{BB962C8B-B14F-4D97-AF65-F5344CB8AC3E}">
        <p14:creationId xmlns:p14="http://schemas.microsoft.com/office/powerpoint/2010/main" val="12829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497262" y="4463894"/>
            <a:ext cx="1270001" cy="1270001"/>
          </a:xfrm>
          <a:prstGeom prst="ellipse">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dirty="0"/>
              <a:t>Start</a:t>
            </a:r>
          </a:p>
          <a:p>
            <a:pPr algn="ctr"/>
            <a:r>
              <a:rPr lang="en-US" dirty="0"/>
              <a:t>Project</a:t>
            </a:r>
          </a:p>
        </p:txBody>
      </p:sp>
      <p:sp>
        <p:nvSpPr>
          <p:cNvPr id="12" name="Oval 11"/>
          <p:cNvSpPr/>
          <p:nvPr/>
        </p:nvSpPr>
        <p:spPr>
          <a:xfrm>
            <a:off x="1497262" y="2028164"/>
            <a:ext cx="1270001" cy="1270001"/>
          </a:xfrm>
          <a:prstGeom prst="ellipse">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dirty="0"/>
              <a:t>TV</a:t>
            </a:r>
          </a:p>
        </p:txBody>
      </p:sp>
      <p:cxnSp>
        <p:nvCxnSpPr>
          <p:cNvPr id="48" name="Straight Arrow Connector 47"/>
          <p:cNvCxnSpPr>
            <a:stCxn id="4" idx="0"/>
            <a:endCxn id="12" idx="4"/>
          </p:cNvCxnSpPr>
          <p:nvPr/>
        </p:nvCxnSpPr>
        <p:spPr>
          <a:xfrm flipV="1">
            <a:off x="2132263" y="3298165"/>
            <a:ext cx="0" cy="116572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0" name="TextBox 49"/>
          <p:cNvSpPr txBox="1"/>
          <p:nvPr/>
        </p:nvSpPr>
        <p:spPr>
          <a:xfrm>
            <a:off x="1303864" y="1311440"/>
            <a:ext cx="1690362" cy="400110"/>
          </a:xfrm>
          <a:prstGeom prst="rect">
            <a:avLst/>
          </a:prstGeom>
          <a:noFill/>
        </p:spPr>
        <p:txBody>
          <a:bodyPr wrap="none" rtlCol="0">
            <a:spAutoFit/>
          </a:bodyPr>
          <a:lstStyle/>
          <a:p>
            <a:r>
              <a:rPr lang="en-US" sz="2000" b="1" dirty="0">
                <a:solidFill>
                  <a:srgbClr val="FF0000"/>
                </a:solidFill>
              </a:rPr>
              <a:t>Back to work?</a:t>
            </a:r>
          </a:p>
        </p:txBody>
      </p:sp>
      <p:cxnSp>
        <p:nvCxnSpPr>
          <p:cNvPr id="54" name="Elbow Connector 53"/>
          <p:cNvCxnSpPr>
            <a:stCxn id="12" idx="0"/>
            <a:endCxn id="4" idx="2"/>
          </p:cNvCxnSpPr>
          <p:nvPr/>
        </p:nvCxnSpPr>
        <p:spPr>
          <a:xfrm rot="16200000" flipH="1" flipV="1">
            <a:off x="279397" y="3246028"/>
            <a:ext cx="3070731" cy="635001"/>
          </a:xfrm>
          <a:prstGeom prst="bentConnector4">
            <a:avLst>
              <a:gd name="adj1" fmla="val -7444"/>
              <a:gd name="adj2" fmla="val 136000"/>
            </a:avLst>
          </a:prstGeom>
          <a:ln>
            <a:tailEnd type="arrow"/>
          </a:ln>
        </p:spPr>
        <p:style>
          <a:lnRef idx="2">
            <a:schemeClr val="dk1"/>
          </a:lnRef>
          <a:fillRef idx="0">
            <a:schemeClr val="dk1"/>
          </a:fillRef>
          <a:effectRef idx="1">
            <a:schemeClr val="dk1"/>
          </a:effectRef>
          <a:fontRef idx="minor">
            <a:schemeClr val="tx1"/>
          </a:fontRef>
        </p:style>
      </p:cxnSp>
      <p:sp>
        <p:nvSpPr>
          <p:cNvPr id="55" name="TextBox 54"/>
          <p:cNvSpPr txBox="1"/>
          <p:nvPr/>
        </p:nvSpPr>
        <p:spPr>
          <a:xfrm>
            <a:off x="374217" y="2663165"/>
            <a:ext cx="902811" cy="923330"/>
          </a:xfrm>
          <a:prstGeom prst="rect">
            <a:avLst/>
          </a:prstGeom>
          <a:noFill/>
        </p:spPr>
        <p:txBody>
          <a:bodyPr wrap="none" rtlCol="0">
            <a:spAutoFit/>
          </a:bodyPr>
          <a:lstStyle/>
          <a:p>
            <a:pPr algn="ctr"/>
            <a:r>
              <a:rPr lang="en-US" dirty="0"/>
              <a:t>Success</a:t>
            </a:r>
          </a:p>
          <a:p>
            <a:pPr algn="ctr"/>
            <a:r>
              <a:rPr lang="en-US" dirty="0"/>
              <a:t>P = 0.5</a:t>
            </a:r>
          </a:p>
          <a:p>
            <a:pPr algn="ctr"/>
            <a:r>
              <a:rPr lang="en-US" dirty="0"/>
              <a:t>R = -4</a:t>
            </a:r>
          </a:p>
        </p:txBody>
      </p:sp>
      <p:cxnSp>
        <p:nvCxnSpPr>
          <p:cNvPr id="58" name="Elbow Connector 57"/>
          <p:cNvCxnSpPr>
            <a:stCxn id="12" idx="0"/>
            <a:endCxn id="12" idx="6"/>
          </p:cNvCxnSpPr>
          <p:nvPr/>
        </p:nvCxnSpPr>
        <p:spPr>
          <a:xfrm rot="16200000" flipH="1">
            <a:off x="2132262" y="2028164"/>
            <a:ext cx="635001" cy="635000"/>
          </a:xfrm>
          <a:prstGeom prst="bentConnector4">
            <a:avLst>
              <a:gd name="adj1" fmla="val -36000"/>
              <a:gd name="adj2" fmla="val 136000"/>
            </a:avLst>
          </a:prstGeom>
          <a:ln>
            <a:tailEnd type="arrow"/>
          </a:ln>
        </p:spPr>
        <p:style>
          <a:lnRef idx="2">
            <a:schemeClr val="dk1"/>
          </a:lnRef>
          <a:fillRef idx="0">
            <a:schemeClr val="dk1"/>
          </a:fillRef>
          <a:effectRef idx="1">
            <a:schemeClr val="dk1"/>
          </a:effectRef>
          <a:fontRef idx="minor">
            <a:schemeClr val="tx1"/>
          </a:fontRef>
        </p:style>
      </p:cxnSp>
      <p:sp>
        <p:nvSpPr>
          <p:cNvPr id="59" name="TextBox 58"/>
          <p:cNvSpPr txBox="1"/>
          <p:nvPr/>
        </p:nvSpPr>
        <p:spPr>
          <a:xfrm>
            <a:off x="3021302" y="1965946"/>
            <a:ext cx="815510" cy="923330"/>
          </a:xfrm>
          <a:prstGeom prst="rect">
            <a:avLst/>
          </a:prstGeom>
          <a:noFill/>
        </p:spPr>
        <p:txBody>
          <a:bodyPr wrap="none" rtlCol="0">
            <a:spAutoFit/>
          </a:bodyPr>
          <a:lstStyle/>
          <a:p>
            <a:pPr algn="ctr"/>
            <a:r>
              <a:rPr lang="en-US" dirty="0"/>
              <a:t>Fail</a:t>
            </a:r>
          </a:p>
          <a:p>
            <a:pPr algn="ctr"/>
            <a:r>
              <a:rPr lang="en-US" dirty="0"/>
              <a:t>P = 0.5</a:t>
            </a:r>
          </a:p>
          <a:p>
            <a:pPr algn="ctr"/>
            <a:r>
              <a:rPr lang="en-US" dirty="0"/>
              <a:t>R = -1</a:t>
            </a:r>
          </a:p>
        </p:txBody>
      </p:sp>
      <p:sp>
        <p:nvSpPr>
          <p:cNvPr id="60" name="Oval 59"/>
          <p:cNvSpPr/>
          <p:nvPr/>
        </p:nvSpPr>
        <p:spPr>
          <a:xfrm>
            <a:off x="4457031" y="4463894"/>
            <a:ext cx="1270001" cy="1270001"/>
          </a:xfrm>
          <a:prstGeom prst="ellipse">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dirty="0"/>
              <a:t>Project Half-finished!</a:t>
            </a:r>
          </a:p>
        </p:txBody>
      </p:sp>
      <p:cxnSp>
        <p:nvCxnSpPr>
          <p:cNvPr id="62" name="Straight Arrow Connector 61"/>
          <p:cNvCxnSpPr>
            <a:stCxn id="4" idx="6"/>
            <a:endCxn id="60" idx="2"/>
          </p:cNvCxnSpPr>
          <p:nvPr/>
        </p:nvCxnSpPr>
        <p:spPr>
          <a:xfrm>
            <a:off x="2767263" y="5098895"/>
            <a:ext cx="168976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4" name="TextBox 63"/>
          <p:cNvSpPr txBox="1"/>
          <p:nvPr/>
        </p:nvSpPr>
        <p:spPr>
          <a:xfrm>
            <a:off x="2863722" y="5254391"/>
            <a:ext cx="1454244" cy="923330"/>
          </a:xfrm>
          <a:prstGeom prst="rect">
            <a:avLst/>
          </a:prstGeom>
          <a:noFill/>
        </p:spPr>
        <p:txBody>
          <a:bodyPr wrap="none" rtlCol="0">
            <a:spAutoFit/>
          </a:bodyPr>
          <a:lstStyle/>
          <a:p>
            <a:pPr algn="ctr"/>
            <a:r>
              <a:rPr lang="en-US" dirty="0"/>
              <a:t>Work success</a:t>
            </a:r>
          </a:p>
          <a:p>
            <a:pPr algn="ctr"/>
            <a:r>
              <a:rPr lang="en-US" dirty="0"/>
              <a:t>P = 0.4</a:t>
            </a:r>
          </a:p>
          <a:p>
            <a:pPr algn="ctr"/>
            <a:r>
              <a:rPr lang="en-US" dirty="0"/>
              <a:t>R = -2</a:t>
            </a:r>
          </a:p>
        </p:txBody>
      </p:sp>
      <p:sp>
        <p:nvSpPr>
          <p:cNvPr id="69" name="TextBox 68"/>
          <p:cNvSpPr txBox="1"/>
          <p:nvPr/>
        </p:nvSpPr>
        <p:spPr>
          <a:xfrm>
            <a:off x="40071" y="0"/>
            <a:ext cx="4714652" cy="707886"/>
          </a:xfrm>
          <a:prstGeom prst="rect">
            <a:avLst/>
          </a:prstGeom>
          <a:noFill/>
        </p:spPr>
        <p:txBody>
          <a:bodyPr wrap="none" rtlCol="0">
            <a:spAutoFit/>
          </a:bodyPr>
          <a:lstStyle/>
          <a:p>
            <a:r>
              <a:rPr lang="en-US" sz="4000" b="1" dirty="0"/>
              <a:t>MDP for final project</a:t>
            </a:r>
          </a:p>
        </p:txBody>
      </p:sp>
      <p:grpSp>
        <p:nvGrpSpPr>
          <p:cNvPr id="126" name="Group 125"/>
          <p:cNvGrpSpPr/>
          <p:nvPr/>
        </p:nvGrpSpPr>
        <p:grpSpPr>
          <a:xfrm>
            <a:off x="5727032" y="4463893"/>
            <a:ext cx="3077411" cy="1270001"/>
            <a:chOff x="5727032" y="4463893"/>
            <a:chExt cx="3077411" cy="1270001"/>
          </a:xfrm>
        </p:grpSpPr>
        <p:sp>
          <p:nvSpPr>
            <p:cNvPr id="68" name="Oval 67"/>
            <p:cNvSpPr/>
            <p:nvPr/>
          </p:nvSpPr>
          <p:spPr>
            <a:xfrm>
              <a:off x="7534442" y="4463893"/>
              <a:ext cx="1270001" cy="1270001"/>
            </a:xfrm>
            <a:prstGeom prst="ellipse">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dirty="0"/>
                <a:t>Project finished!</a:t>
              </a:r>
            </a:p>
          </p:txBody>
        </p:sp>
        <p:cxnSp>
          <p:nvCxnSpPr>
            <p:cNvPr id="74" name="Straight Arrow Connector 73"/>
            <p:cNvCxnSpPr>
              <a:stCxn id="60" idx="6"/>
              <a:endCxn id="68" idx="2"/>
            </p:cNvCxnSpPr>
            <p:nvPr/>
          </p:nvCxnSpPr>
          <p:spPr>
            <a:xfrm flipV="1">
              <a:off x="5727032" y="5098894"/>
              <a:ext cx="1807410" cy="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sp>
        <p:nvSpPr>
          <p:cNvPr id="75" name="TextBox 74"/>
          <p:cNvSpPr txBox="1"/>
          <p:nvPr/>
        </p:nvSpPr>
        <p:spPr>
          <a:xfrm>
            <a:off x="5948947" y="5176071"/>
            <a:ext cx="1454244" cy="923330"/>
          </a:xfrm>
          <a:prstGeom prst="rect">
            <a:avLst/>
          </a:prstGeom>
          <a:noFill/>
        </p:spPr>
        <p:txBody>
          <a:bodyPr wrap="none" rtlCol="0">
            <a:spAutoFit/>
          </a:bodyPr>
          <a:lstStyle/>
          <a:p>
            <a:pPr algn="ctr"/>
            <a:r>
              <a:rPr lang="en-US" dirty="0"/>
              <a:t>Work success</a:t>
            </a:r>
          </a:p>
          <a:p>
            <a:pPr algn="ctr"/>
            <a:r>
              <a:rPr lang="en-US" dirty="0"/>
              <a:t>P = 0.3</a:t>
            </a:r>
          </a:p>
          <a:p>
            <a:pPr algn="ctr"/>
            <a:r>
              <a:rPr lang="en-US" dirty="0"/>
              <a:t>R = +100</a:t>
            </a:r>
          </a:p>
        </p:txBody>
      </p:sp>
      <p:sp>
        <p:nvSpPr>
          <p:cNvPr id="76" name="TextBox 75"/>
          <p:cNvSpPr txBox="1"/>
          <p:nvPr/>
        </p:nvSpPr>
        <p:spPr>
          <a:xfrm>
            <a:off x="3155668" y="4463895"/>
            <a:ext cx="888109" cy="400110"/>
          </a:xfrm>
          <a:prstGeom prst="rect">
            <a:avLst/>
          </a:prstGeom>
          <a:noFill/>
        </p:spPr>
        <p:txBody>
          <a:bodyPr wrap="none" rtlCol="0">
            <a:spAutoFit/>
          </a:bodyPr>
          <a:lstStyle/>
          <a:p>
            <a:r>
              <a:rPr lang="en-US" sz="2000" b="1" dirty="0">
                <a:solidFill>
                  <a:srgbClr val="FF0000"/>
                </a:solidFill>
              </a:rPr>
              <a:t>Work?</a:t>
            </a:r>
          </a:p>
        </p:txBody>
      </p:sp>
      <p:sp>
        <p:nvSpPr>
          <p:cNvPr id="79" name="TextBox 78"/>
          <p:cNvSpPr txBox="1"/>
          <p:nvPr/>
        </p:nvSpPr>
        <p:spPr>
          <a:xfrm>
            <a:off x="5748445" y="4586130"/>
            <a:ext cx="888109" cy="400110"/>
          </a:xfrm>
          <a:prstGeom prst="rect">
            <a:avLst/>
          </a:prstGeom>
          <a:noFill/>
        </p:spPr>
        <p:txBody>
          <a:bodyPr wrap="none" rtlCol="0">
            <a:spAutoFit/>
          </a:bodyPr>
          <a:lstStyle/>
          <a:p>
            <a:r>
              <a:rPr lang="en-US" sz="2000" b="1" dirty="0">
                <a:solidFill>
                  <a:srgbClr val="FF0000"/>
                </a:solidFill>
              </a:rPr>
              <a:t>Work?</a:t>
            </a:r>
          </a:p>
        </p:txBody>
      </p:sp>
      <p:sp>
        <p:nvSpPr>
          <p:cNvPr id="85" name="TextBox 84"/>
          <p:cNvSpPr txBox="1"/>
          <p:nvPr/>
        </p:nvSpPr>
        <p:spPr>
          <a:xfrm>
            <a:off x="2114971" y="3499523"/>
            <a:ext cx="2026479" cy="923330"/>
          </a:xfrm>
          <a:prstGeom prst="rect">
            <a:avLst/>
          </a:prstGeom>
          <a:noFill/>
        </p:spPr>
        <p:txBody>
          <a:bodyPr wrap="none" rtlCol="0">
            <a:spAutoFit/>
          </a:bodyPr>
          <a:lstStyle/>
          <a:p>
            <a:pPr algn="ctr"/>
            <a:r>
              <a:rPr lang="en-US" dirty="0"/>
              <a:t>Try, but fail to work</a:t>
            </a:r>
          </a:p>
          <a:p>
            <a:pPr algn="ctr"/>
            <a:r>
              <a:rPr lang="en-US" dirty="0"/>
              <a:t>P = 0.6</a:t>
            </a:r>
          </a:p>
          <a:p>
            <a:pPr algn="ctr"/>
            <a:r>
              <a:rPr lang="en-US" dirty="0"/>
              <a:t>R = +2</a:t>
            </a:r>
          </a:p>
        </p:txBody>
      </p:sp>
      <p:sp>
        <p:nvSpPr>
          <p:cNvPr id="86" name="TextBox 85"/>
          <p:cNvSpPr txBox="1"/>
          <p:nvPr/>
        </p:nvSpPr>
        <p:spPr>
          <a:xfrm>
            <a:off x="4993485" y="427655"/>
            <a:ext cx="1596287" cy="707886"/>
          </a:xfrm>
          <a:prstGeom prst="rect">
            <a:avLst/>
          </a:prstGeom>
          <a:noFill/>
        </p:spPr>
        <p:txBody>
          <a:bodyPr wrap="square" rtlCol="0">
            <a:spAutoFit/>
          </a:bodyPr>
          <a:lstStyle/>
          <a:p>
            <a:pPr algn="ctr"/>
            <a:r>
              <a:rPr lang="en-US" sz="2000" b="1" dirty="0">
                <a:solidFill>
                  <a:srgbClr val="FF0000"/>
                </a:solidFill>
              </a:rPr>
              <a:t>Try to leave party?</a:t>
            </a:r>
          </a:p>
        </p:txBody>
      </p:sp>
      <p:cxnSp>
        <p:nvCxnSpPr>
          <p:cNvPr id="88" name="Elbow Connector 87"/>
          <p:cNvCxnSpPr>
            <a:stCxn id="65" idx="0"/>
            <a:endCxn id="65" idx="6"/>
          </p:cNvCxnSpPr>
          <p:nvPr/>
        </p:nvCxnSpPr>
        <p:spPr>
          <a:xfrm rot="16200000" flipH="1">
            <a:off x="5791629" y="1403719"/>
            <a:ext cx="635001" cy="635000"/>
          </a:xfrm>
          <a:prstGeom prst="bentConnector4">
            <a:avLst>
              <a:gd name="adj1" fmla="val -36000"/>
              <a:gd name="adj2" fmla="val 136000"/>
            </a:avLst>
          </a:prstGeom>
          <a:ln>
            <a:tailEnd type="arrow"/>
          </a:ln>
        </p:spPr>
        <p:style>
          <a:lnRef idx="2">
            <a:schemeClr val="dk1"/>
          </a:lnRef>
          <a:fillRef idx="0">
            <a:schemeClr val="dk1"/>
          </a:fillRef>
          <a:effectRef idx="1">
            <a:schemeClr val="dk1"/>
          </a:effectRef>
          <a:fontRef idx="minor">
            <a:schemeClr val="tx1"/>
          </a:fontRef>
        </p:style>
      </p:cxnSp>
      <p:sp>
        <p:nvSpPr>
          <p:cNvPr id="89" name="TextBox 88"/>
          <p:cNvSpPr txBox="1"/>
          <p:nvPr/>
        </p:nvSpPr>
        <p:spPr>
          <a:xfrm>
            <a:off x="6327422" y="394301"/>
            <a:ext cx="2151537" cy="1477328"/>
          </a:xfrm>
          <a:prstGeom prst="rect">
            <a:avLst/>
          </a:prstGeom>
          <a:noFill/>
        </p:spPr>
        <p:txBody>
          <a:bodyPr wrap="square" rtlCol="0">
            <a:spAutoFit/>
          </a:bodyPr>
          <a:lstStyle/>
          <a:p>
            <a:pPr algn="ctr"/>
            <a:r>
              <a:rPr lang="en-US" dirty="0"/>
              <a:t>Fail, but get distracted for a bit by a cute guy</a:t>
            </a:r>
          </a:p>
          <a:p>
            <a:pPr algn="ctr"/>
            <a:r>
              <a:rPr lang="en-US" dirty="0"/>
              <a:t>P = 0.8</a:t>
            </a:r>
          </a:p>
          <a:p>
            <a:pPr algn="ctr"/>
            <a:r>
              <a:rPr lang="en-US" dirty="0"/>
              <a:t>R = +10</a:t>
            </a:r>
          </a:p>
        </p:txBody>
      </p:sp>
      <p:sp>
        <p:nvSpPr>
          <p:cNvPr id="93" name="TextBox 92"/>
          <p:cNvSpPr txBox="1"/>
          <p:nvPr/>
        </p:nvSpPr>
        <p:spPr>
          <a:xfrm>
            <a:off x="1277028" y="3482621"/>
            <a:ext cx="881972" cy="954107"/>
          </a:xfrm>
          <a:prstGeom prst="rect">
            <a:avLst/>
          </a:prstGeom>
          <a:noFill/>
        </p:spPr>
        <p:txBody>
          <a:bodyPr wrap="none" rtlCol="0">
            <a:spAutoFit/>
          </a:bodyPr>
          <a:lstStyle/>
          <a:p>
            <a:pPr algn="ctr"/>
            <a:r>
              <a:rPr lang="en-US" sz="2000" b="1" dirty="0">
                <a:solidFill>
                  <a:srgbClr val="FF0000"/>
                </a:solidFill>
              </a:rPr>
              <a:t>Break!</a:t>
            </a:r>
          </a:p>
          <a:p>
            <a:pPr algn="ctr"/>
            <a:r>
              <a:rPr lang="en-US" dirty="0"/>
              <a:t>P = 1.0</a:t>
            </a:r>
          </a:p>
          <a:p>
            <a:pPr algn="ctr"/>
            <a:r>
              <a:rPr lang="en-US" dirty="0"/>
              <a:t>R = +4</a:t>
            </a:r>
          </a:p>
        </p:txBody>
      </p:sp>
      <p:cxnSp>
        <p:nvCxnSpPr>
          <p:cNvPr id="101" name="Elbow Connector 100"/>
          <p:cNvCxnSpPr>
            <a:stCxn id="65" idx="0"/>
            <a:endCxn id="60" idx="1"/>
          </p:cNvCxnSpPr>
          <p:nvPr/>
        </p:nvCxnSpPr>
        <p:spPr>
          <a:xfrm rot="16200000" flipH="1" flipV="1">
            <a:off x="3594243" y="2452494"/>
            <a:ext cx="3246162" cy="1148612"/>
          </a:xfrm>
          <a:prstGeom prst="bentConnector3">
            <a:avLst>
              <a:gd name="adj1" fmla="val -7042"/>
            </a:avLst>
          </a:prstGeom>
          <a:ln>
            <a:tailEnd type="arrow"/>
          </a:ln>
        </p:spPr>
        <p:style>
          <a:lnRef idx="2">
            <a:schemeClr val="dk1"/>
          </a:lnRef>
          <a:fillRef idx="0">
            <a:schemeClr val="dk1"/>
          </a:fillRef>
          <a:effectRef idx="1">
            <a:schemeClr val="dk1"/>
          </a:effectRef>
          <a:fontRef idx="minor">
            <a:schemeClr val="tx1"/>
          </a:fontRef>
        </p:style>
      </p:cxnSp>
      <p:sp>
        <p:nvSpPr>
          <p:cNvPr id="103" name="TextBox 102"/>
          <p:cNvSpPr txBox="1"/>
          <p:nvPr/>
        </p:nvSpPr>
        <p:spPr>
          <a:xfrm>
            <a:off x="3599723" y="838391"/>
            <a:ext cx="1198028" cy="1200329"/>
          </a:xfrm>
          <a:prstGeom prst="rect">
            <a:avLst/>
          </a:prstGeom>
          <a:noFill/>
        </p:spPr>
        <p:txBody>
          <a:bodyPr wrap="square" rtlCol="0">
            <a:spAutoFit/>
          </a:bodyPr>
          <a:lstStyle/>
          <a:p>
            <a:pPr algn="ctr"/>
            <a:r>
              <a:rPr lang="en-US" dirty="0"/>
              <a:t>Resist his charms</a:t>
            </a:r>
          </a:p>
          <a:p>
            <a:pPr algn="ctr"/>
            <a:r>
              <a:rPr lang="en-US" dirty="0"/>
              <a:t>P = 0.2</a:t>
            </a:r>
          </a:p>
          <a:p>
            <a:pPr algn="ctr"/>
            <a:r>
              <a:rPr lang="en-US" dirty="0"/>
              <a:t>R = -3</a:t>
            </a:r>
          </a:p>
        </p:txBody>
      </p:sp>
      <p:cxnSp>
        <p:nvCxnSpPr>
          <p:cNvPr id="106" name="Curved Connector 105"/>
          <p:cNvCxnSpPr>
            <a:stCxn id="65" idx="6"/>
            <a:endCxn id="65" idx="5"/>
          </p:cNvCxnSpPr>
          <p:nvPr/>
        </p:nvCxnSpPr>
        <p:spPr>
          <a:xfrm flipH="1">
            <a:off x="6240643" y="2038720"/>
            <a:ext cx="185987" cy="449013"/>
          </a:xfrm>
          <a:prstGeom prst="curvedConnector4">
            <a:avLst>
              <a:gd name="adj1" fmla="val -122912"/>
              <a:gd name="adj2" fmla="val 192333"/>
            </a:avLst>
          </a:prstGeom>
          <a:ln>
            <a:headEnd type="arrow"/>
            <a:tailEnd type="arrow"/>
          </a:ln>
        </p:spPr>
        <p:style>
          <a:lnRef idx="2">
            <a:schemeClr val="dk1"/>
          </a:lnRef>
          <a:fillRef idx="0">
            <a:schemeClr val="dk1"/>
          </a:fillRef>
          <a:effectRef idx="1">
            <a:schemeClr val="dk1"/>
          </a:effectRef>
          <a:fontRef idx="minor">
            <a:schemeClr val="tx1"/>
          </a:fontRef>
        </p:style>
      </p:cxnSp>
      <p:sp>
        <p:nvSpPr>
          <p:cNvPr id="109" name="TextBox 108"/>
          <p:cNvSpPr txBox="1"/>
          <p:nvPr/>
        </p:nvSpPr>
        <p:spPr>
          <a:xfrm>
            <a:off x="5857389" y="2831937"/>
            <a:ext cx="895684" cy="1477328"/>
          </a:xfrm>
          <a:prstGeom prst="rect">
            <a:avLst/>
          </a:prstGeom>
          <a:noFill/>
        </p:spPr>
        <p:txBody>
          <a:bodyPr wrap="square" rtlCol="0">
            <a:spAutoFit/>
          </a:bodyPr>
          <a:lstStyle/>
          <a:p>
            <a:pPr algn="ctr"/>
            <a:r>
              <a:rPr lang="en-US" dirty="0"/>
              <a:t>Just a little longer</a:t>
            </a:r>
          </a:p>
          <a:p>
            <a:pPr algn="ctr"/>
            <a:r>
              <a:rPr lang="en-US" dirty="0"/>
              <a:t>P = 0.9</a:t>
            </a:r>
          </a:p>
          <a:p>
            <a:pPr algn="ctr"/>
            <a:r>
              <a:rPr lang="en-US" dirty="0"/>
              <a:t>R = +2</a:t>
            </a:r>
          </a:p>
        </p:txBody>
      </p:sp>
      <p:grpSp>
        <p:nvGrpSpPr>
          <p:cNvPr id="127" name="Group 126"/>
          <p:cNvGrpSpPr/>
          <p:nvPr/>
        </p:nvGrpSpPr>
        <p:grpSpPr>
          <a:xfrm>
            <a:off x="5092031" y="1403719"/>
            <a:ext cx="1334599" cy="3060176"/>
            <a:chOff x="5092031" y="1403719"/>
            <a:chExt cx="1334599" cy="3060176"/>
          </a:xfrm>
        </p:grpSpPr>
        <p:sp>
          <p:nvSpPr>
            <p:cNvPr id="65" name="Oval 64"/>
            <p:cNvSpPr/>
            <p:nvPr/>
          </p:nvSpPr>
          <p:spPr>
            <a:xfrm>
              <a:off x="5156629" y="1403719"/>
              <a:ext cx="1270001" cy="1270001"/>
            </a:xfrm>
            <a:prstGeom prst="ellipse">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dirty="0"/>
                <a:t>Party!!!!!</a:t>
              </a:r>
            </a:p>
          </p:txBody>
        </p:sp>
        <p:cxnSp>
          <p:nvCxnSpPr>
            <p:cNvPr id="112" name="Elbow Connector 111"/>
            <p:cNvCxnSpPr>
              <a:stCxn id="60" idx="0"/>
              <a:endCxn id="65" idx="2"/>
            </p:cNvCxnSpPr>
            <p:nvPr/>
          </p:nvCxnSpPr>
          <p:spPr>
            <a:xfrm rot="5400000" flipH="1" flipV="1">
              <a:off x="3911743" y="3219009"/>
              <a:ext cx="2425174" cy="64597"/>
            </a:xfrm>
            <a:prstGeom prst="bentConnector2">
              <a:avLst/>
            </a:prstGeom>
            <a:ln>
              <a:tailEnd type="arrow"/>
            </a:ln>
          </p:spPr>
          <p:style>
            <a:lnRef idx="2">
              <a:schemeClr val="dk1"/>
            </a:lnRef>
            <a:fillRef idx="0">
              <a:schemeClr val="dk1"/>
            </a:fillRef>
            <a:effectRef idx="1">
              <a:schemeClr val="dk1"/>
            </a:effectRef>
            <a:fontRef idx="minor">
              <a:schemeClr val="tx1"/>
            </a:fontRef>
          </p:style>
        </p:cxnSp>
      </p:grpSp>
      <p:sp>
        <p:nvSpPr>
          <p:cNvPr id="49" name="TextBox 48"/>
          <p:cNvSpPr txBox="1"/>
          <p:nvPr/>
        </p:nvSpPr>
        <p:spPr>
          <a:xfrm>
            <a:off x="4526089" y="3222524"/>
            <a:ext cx="1433143" cy="1200329"/>
          </a:xfrm>
          <a:prstGeom prst="rect">
            <a:avLst/>
          </a:prstGeom>
          <a:noFill/>
        </p:spPr>
        <p:txBody>
          <a:bodyPr wrap="square" rtlCol="0">
            <a:spAutoFit/>
          </a:bodyPr>
          <a:lstStyle/>
          <a:p>
            <a:pPr algn="ctr"/>
            <a:r>
              <a:rPr lang="en-US" dirty="0"/>
              <a:t>Try, but fail to work</a:t>
            </a:r>
          </a:p>
          <a:p>
            <a:pPr algn="ctr"/>
            <a:r>
              <a:rPr lang="en-US" dirty="0"/>
              <a:t>P = 0.7</a:t>
            </a:r>
          </a:p>
          <a:p>
            <a:pPr algn="ctr"/>
            <a:r>
              <a:rPr lang="en-US" dirty="0"/>
              <a:t>R = +3</a:t>
            </a:r>
          </a:p>
        </p:txBody>
      </p:sp>
      <p:sp>
        <p:nvSpPr>
          <p:cNvPr id="113" name="TextBox 112"/>
          <p:cNvSpPr txBox="1"/>
          <p:nvPr/>
        </p:nvSpPr>
        <p:spPr>
          <a:xfrm>
            <a:off x="6208898" y="2394849"/>
            <a:ext cx="761747" cy="400110"/>
          </a:xfrm>
          <a:prstGeom prst="rect">
            <a:avLst/>
          </a:prstGeom>
          <a:noFill/>
        </p:spPr>
        <p:txBody>
          <a:bodyPr wrap="none" rtlCol="0">
            <a:spAutoFit/>
          </a:bodyPr>
          <a:lstStyle/>
          <a:p>
            <a:r>
              <a:rPr lang="en-US" sz="2000" b="1" dirty="0">
                <a:solidFill>
                  <a:srgbClr val="FF0000"/>
                </a:solidFill>
              </a:rPr>
              <a:t>Stay?</a:t>
            </a:r>
          </a:p>
        </p:txBody>
      </p:sp>
      <p:grpSp>
        <p:nvGrpSpPr>
          <p:cNvPr id="128" name="Group 127"/>
          <p:cNvGrpSpPr/>
          <p:nvPr/>
        </p:nvGrpSpPr>
        <p:grpSpPr>
          <a:xfrm>
            <a:off x="6426630" y="2038720"/>
            <a:ext cx="2568057" cy="1730665"/>
            <a:chOff x="6426630" y="2038720"/>
            <a:chExt cx="2568057" cy="1730665"/>
          </a:xfrm>
        </p:grpSpPr>
        <p:sp>
          <p:nvSpPr>
            <p:cNvPr id="104" name="Oval 103"/>
            <p:cNvSpPr/>
            <p:nvPr/>
          </p:nvSpPr>
          <p:spPr>
            <a:xfrm>
              <a:off x="7724686" y="2499384"/>
              <a:ext cx="1270001" cy="1270001"/>
            </a:xfrm>
            <a:prstGeom prst="ellipse">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dirty="0"/>
                <a:t>Project fail!</a:t>
              </a:r>
            </a:p>
          </p:txBody>
        </p:sp>
        <p:cxnSp>
          <p:nvCxnSpPr>
            <p:cNvPr id="116" name="Elbow Connector 115"/>
            <p:cNvCxnSpPr>
              <a:stCxn id="65" idx="6"/>
              <a:endCxn id="104" idx="2"/>
            </p:cNvCxnSpPr>
            <p:nvPr/>
          </p:nvCxnSpPr>
          <p:spPr>
            <a:xfrm>
              <a:off x="6426630" y="2038720"/>
              <a:ext cx="1298056" cy="1095665"/>
            </a:xfrm>
            <a:prstGeom prst="bentConnector3">
              <a:avLst/>
            </a:prstGeom>
            <a:ln>
              <a:tailEnd type="arrow"/>
            </a:ln>
          </p:spPr>
          <p:style>
            <a:lnRef idx="2">
              <a:schemeClr val="dk1"/>
            </a:lnRef>
            <a:fillRef idx="0">
              <a:schemeClr val="dk1"/>
            </a:fillRef>
            <a:effectRef idx="1">
              <a:schemeClr val="dk1"/>
            </a:effectRef>
            <a:fontRef idx="minor">
              <a:schemeClr val="tx1"/>
            </a:fontRef>
          </p:style>
        </p:cxnSp>
      </p:grpSp>
      <p:sp>
        <p:nvSpPr>
          <p:cNvPr id="119" name="TextBox 118"/>
          <p:cNvSpPr txBox="1"/>
          <p:nvPr/>
        </p:nvSpPr>
        <p:spPr>
          <a:xfrm>
            <a:off x="6976380" y="1888842"/>
            <a:ext cx="1264000" cy="923330"/>
          </a:xfrm>
          <a:prstGeom prst="rect">
            <a:avLst/>
          </a:prstGeom>
          <a:noFill/>
        </p:spPr>
        <p:txBody>
          <a:bodyPr wrap="none" rtlCol="0">
            <a:spAutoFit/>
          </a:bodyPr>
          <a:lstStyle/>
          <a:p>
            <a:pPr algn="ctr"/>
            <a:r>
              <a:rPr lang="en-US" dirty="0"/>
              <a:t>Too tired </a:t>
            </a:r>
            <a:r>
              <a:rPr lang="en-US" dirty="0">
                <a:sym typeface="Wingdings"/>
              </a:rPr>
              <a:t></a:t>
            </a:r>
          </a:p>
          <a:p>
            <a:pPr algn="ctr"/>
            <a:r>
              <a:rPr lang="en-US" dirty="0">
                <a:sym typeface="Wingdings"/>
              </a:rPr>
              <a:t>P = 0.1</a:t>
            </a:r>
          </a:p>
          <a:p>
            <a:pPr algn="ctr"/>
            <a:r>
              <a:rPr lang="en-US" dirty="0">
                <a:sym typeface="Wingdings"/>
              </a:rPr>
              <a:t>R = -100</a:t>
            </a:r>
            <a:endParaRPr lang="en-US" dirty="0"/>
          </a:p>
        </p:txBody>
      </p:sp>
      <p:cxnSp>
        <p:nvCxnSpPr>
          <p:cNvPr id="121" name="Curved Connector 120"/>
          <p:cNvCxnSpPr>
            <a:stCxn id="104" idx="3"/>
            <a:endCxn id="104" idx="4"/>
          </p:cNvCxnSpPr>
          <p:nvPr/>
        </p:nvCxnSpPr>
        <p:spPr>
          <a:xfrm rot="16200000" flipH="1">
            <a:off x="8042187" y="3451884"/>
            <a:ext cx="185987" cy="449014"/>
          </a:xfrm>
          <a:prstGeom prst="curvedConnector3">
            <a:avLst>
              <a:gd name="adj1" fmla="val 222912"/>
            </a:avLst>
          </a:prstGeom>
          <a:ln>
            <a:tailEnd type="arrow"/>
          </a:ln>
        </p:spPr>
        <p:style>
          <a:lnRef idx="2">
            <a:schemeClr val="dk1"/>
          </a:lnRef>
          <a:fillRef idx="0">
            <a:schemeClr val="dk1"/>
          </a:fillRef>
          <a:effectRef idx="1">
            <a:schemeClr val="dk1"/>
          </a:effectRef>
          <a:fontRef idx="minor">
            <a:schemeClr val="tx1"/>
          </a:fontRef>
        </p:style>
      </p:cxnSp>
      <p:cxnSp>
        <p:nvCxnSpPr>
          <p:cNvPr id="123" name="Curved Connector 122"/>
          <p:cNvCxnSpPr>
            <a:stCxn id="68" idx="3"/>
            <a:endCxn id="68" idx="4"/>
          </p:cNvCxnSpPr>
          <p:nvPr/>
        </p:nvCxnSpPr>
        <p:spPr>
          <a:xfrm rot="16200000" flipH="1">
            <a:off x="7851943" y="5416393"/>
            <a:ext cx="185987" cy="449014"/>
          </a:xfrm>
          <a:prstGeom prst="curvedConnector3">
            <a:avLst>
              <a:gd name="adj1" fmla="val 222912"/>
            </a:avLst>
          </a:prstGeom>
          <a:ln>
            <a:tailEnd type="arrow"/>
          </a:ln>
        </p:spPr>
        <p:style>
          <a:lnRef idx="2">
            <a:schemeClr val="dk1"/>
          </a:lnRef>
          <a:fillRef idx="0">
            <a:schemeClr val="dk1"/>
          </a:fillRef>
          <a:effectRef idx="1">
            <a:schemeClr val="dk1"/>
          </a:effectRef>
          <a:fontRef idx="minor">
            <a:schemeClr val="tx1"/>
          </a:fontRef>
        </p:style>
      </p:cxnSp>
      <p:sp>
        <p:nvSpPr>
          <p:cNvPr id="124" name="TextBox 123"/>
          <p:cNvSpPr txBox="1"/>
          <p:nvPr/>
        </p:nvSpPr>
        <p:spPr>
          <a:xfrm>
            <a:off x="112502" y="6487738"/>
            <a:ext cx="992579" cy="400110"/>
          </a:xfrm>
          <a:prstGeom prst="rect">
            <a:avLst/>
          </a:prstGeom>
          <a:noFill/>
        </p:spPr>
        <p:txBody>
          <a:bodyPr wrap="none" rtlCol="0">
            <a:spAutoFit/>
          </a:bodyPr>
          <a:lstStyle/>
          <a:p>
            <a:pPr algn="ctr"/>
            <a:r>
              <a:rPr lang="en-US" sz="2000" b="1" dirty="0">
                <a:solidFill>
                  <a:srgbClr val="FF0000"/>
                </a:solidFill>
              </a:rPr>
              <a:t>Actions</a:t>
            </a:r>
          </a:p>
        </p:txBody>
      </p:sp>
      <p:sp>
        <p:nvSpPr>
          <p:cNvPr id="125" name="TextBox 124"/>
          <p:cNvSpPr txBox="1"/>
          <p:nvPr/>
        </p:nvSpPr>
        <p:spPr>
          <a:xfrm>
            <a:off x="35557" y="6176211"/>
            <a:ext cx="1146468" cy="369332"/>
          </a:xfrm>
          <a:prstGeom prst="rect">
            <a:avLst/>
          </a:prstGeom>
          <a:noFill/>
        </p:spPr>
        <p:txBody>
          <a:bodyPr wrap="none" rtlCol="0">
            <a:spAutoFit/>
          </a:bodyPr>
          <a:lstStyle/>
          <a:p>
            <a:pPr algn="ctr"/>
            <a:r>
              <a:rPr lang="en-US" dirty="0"/>
              <a:t>Outcomes</a:t>
            </a:r>
          </a:p>
        </p:txBody>
      </p:sp>
      <p:sp>
        <p:nvSpPr>
          <p:cNvPr id="129" name="TextBox 128"/>
          <p:cNvSpPr txBox="1"/>
          <p:nvPr/>
        </p:nvSpPr>
        <p:spPr>
          <a:xfrm>
            <a:off x="1118317" y="2344859"/>
            <a:ext cx="6978994" cy="1569660"/>
          </a:xfrm>
          <a:prstGeom prst="rect">
            <a:avLst/>
          </a:prstGeom>
          <a:solidFill>
            <a:schemeClr val="bg1"/>
          </a:solidFill>
          <a:ln w="38100" cmpd="sng">
            <a:solidFill>
              <a:schemeClr val="tx1"/>
            </a:solidFill>
          </a:ln>
        </p:spPr>
        <p:txBody>
          <a:bodyPr wrap="none" rtlCol="0">
            <a:spAutoFit/>
          </a:bodyPr>
          <a:lstStyle/>
          <a:p>
            <a:endParaRPr lang="en-US" sz="3200" dirty="0"/>
          </a:p>
          <a:p>
            <a:r>
              <a:rPr lang="en-US" sz="3200" dirty="0"/>
              <a:t>What’s the optimal sequence of actions?</a:t>
            </a:r>
          </a:p>
          <a:p>
            <a:endParaRPr lang="en-US" sz="3200" dirty="0"/>
          </a:p>
        </p:txBody>
      </p:sp>
      <p:sp>
        <p:nvSpPr>
          <p:cNvPr id="3" name="Oval 2">
            <a:extLst>
              <a:ext uri="{FF2B5EF4-FFF2-40B4-BE49-F238E27FC236}">
                <a16:creationId xmlns:a16="http://schemas.microsoft.com/office/drawing/2014/main" id="{92E9703C-9B81-7C3B-48F2-606308EF685C}"/>
              </a:ext>
            </a:extLst>
          </p:cNvPr>
          <p:cNvSpPr/>
          <p:nvPr/>
        </p:nvSpPr>
        <p:spPr>
          <a:xfrm>
            <a:off x="217718" y="5458896"/>
            <a:ext cx="750020" cy="750020"/>
          </a:xfrm>
          <a:prstGeom prst="ellipse">
            <a:avLst/>
          </a:prstGeom>
        </p:spPr>
        <p:style>
          <a:lnRef idx="2">
            <a:schemeClr val="dk1"/>
          </a:lnRef>
          <a:fillRef idx="1">
            <a:schemeClr val="lt1"/>
          </a:fillRef>
          <a:effectRef idx="0">
            <a:schemeClr val="dk1"/>
          </a:effectRef>
          <a:fontRef idx="minor">
            <a:schemeClr val="dk1"/>
          </a:fontRef>
        </p:style>
        <p:txBody>
          <a:bodyPr lIns="0" rIns="0" rtlCol="0" anchor="ctr"/>
          <a:lstStyle/>
          <a:p>
            <a:pPr algn="ctr"/>
            <a:r>
              <a:rPr lang="en-US" dirty="0"/>
              <a:t>State</a:t>
            </a:r>
          </a:p>
        </p:txBody>
      </p:sp>
    </p:spTree>
    <p:extLst>
      <p:ext uri="{BB962C8B-B14F-4D97-AF65-F5344CB8AC3E}">
        <p14:creationId xmlns:p14="http://schemas.microsoft.com/office/powerpoint/2010/main" val="96792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1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21"/>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2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0" grpId="0"/>
      <p:bldP spid="55" grpId="0"/>
      <p:bldP spid="59" grpId="0"/>
      <p:bldP spid="60" grpId="0" animBg="1"/>
      <p:bldP spid="64" grpId="0"/>
      <p:bldP spid="75" grpId="0"/>
      <p:bldP spid="76" grpId="0"/>
      <p:bldP spid="79" grpId="0"/>
      <p:bldP spid="85" grpId="0"/>
      <p:bldP spid="86" grpId="0"/>
      <p:bldP spid="89" grpId="0"/>
      <p:bldP spid="93" grpId="0"/>
      <p:bldP spid="103" grpId="0"/>
      <p:bldP spid="109" grpId="0"/>
      <p:bldP spid="49" grpId="0"/>
      <p:bldP spid="113" grpId="0"/>
      <p:bldP spid="119" grpId="0"/>
      <p:bldP spid="1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373"/>
            <a:ext cx="9144000" cy="815470"/>
          </a:xfrm>
        </p:spPr>
        <p:txBody>
          <a:bodyPr>
            <a:normAutofit/>
          </a:bodyPr>
          <a:lstStyle/>
          <a:p>
            <a:pPr algn="l"/>
            <a:r>
              <a:rPr lang="en-US" b="1" dirty="0"/>
              <a:t>Policies, Values and Actions in MDPs</a:t>
            </a:r>
          </a:p>
        </p:txBody>
      </p:sp>
      <p:sp>
        <p:nvSpPr>
          <p:cNvPr id="5" name="TextBox 4"/>
          <p:cNvSpPr txBox="1"/>
          <p:nvPr/>
        </p:nvSpPr>
        <p:spPr>
          <a:xfrm>
            <a:off x="173789" y="815558"/>
            <a:ext cx="8836527" cy="6340198"/>
          </a:xfrm>
          <a:prstGeom prst="rect">
            <a:avLst/>
          </a:prstGeom>
          <a:noFill/>
        </p:spPr>
        <p:txBody>
          <a:bodyPr wrap="square" rtlCol="0">
            <a:spAutoFit/>
          </a:bodyPr>
          <a:lstStyle/>
          <a:p>
            <a:r>
              <a:rPr lang="en-US" sz="2800" dirty="0"/>
              <a:t>The actions an agent takes in each state is represented by a</a:t>
            </a:r>
            <a:r>
              <a:rPr lang="en-US" sz="2800" b="1" dirty="0"/>
              <a:t> policy </a:t>
            </a:r>
            <a:r>
              <a:rPr lang="en-US" sz="2800" i="1" dirty="0"/>
              <a:t>π</a:t>
            </a:r>
            <a:r>
              <a:rPr lang="en-US" sz="2800" dirty="0"/>
              <a:t>, which is a distribution over actions in each state.</a:t>
            </a:r>
          </a:p>
          <a:p>
            <a:endParaRPr lang="en-US" sz="2800" i="1" dirty="0">
              <a:latin typeface="Calibri"/>
              <a:cs typeface="Calibri"/>
            </a:endParaRPr>
          </a:p>
          <a:p>
            <a:r>
              <a:rPr lang="en-US" sz="2800" dirty="0">
                <a:latin typeface="Calibri"/>
                <a:cs typeface="Calibri"/>
              </a:rPr>
              <a:t>Because it is Markov, it only depends on current state.</a:t>
            </a:r>
          </a:p>
          <a:p>
            <a:r>
              <a:rPr lang="en-US" sz="2800" dirty="0">
                <a:latin typeface="Calibri"/>
                <a:cs typeface="Calibri"/>
              </a:rPr>
              <a:t>How do we count (and discount) future rewards?</a:t>
            </a:r>
          </a:p>
          <a:p>
            <a:r>
              <a:rPr lang="en-US" sz="2800" dirty="0">
                <a:latin typeface="Calibri"/>
                <a:cs typeface="Calibri"/>
              </a:rPr>
              <a:t>Let 0 ≤ </a:t>
            </a:r>
            <a:r>
              <a:rPr lang="en-US" sz="2800" dirty="0" err="1">
                <a:latin typeface="Times New Roman" panose="02020603050405020304" pitchFamily="18" charset="0"/>
                <a:cs typeface="Times New Roman" panose="02020603050405020304" pitchFamily="18" charset="0"/>
              </a:rPr>
              <a:t>γ</a:t>
            </a:r>
            <a:r>
              <a:rPr lang="en-US" sz="2800" dirty="0">
                <a:latin typeface="Calibri"/>
                <a:cs typeface="Calibri"/>
              </a:rPr>
              <a:t> ≤ 1 be the discount factor.</a:t>
            </a:r>
          </a:p>
          <a:p>
            <a:r>
              <a:rPr lang="en-US" sz="2800" dirty="0">
                <a:latin typeface="Calibri"/>
                <a:cs typeface="Calibri"/>
              </a:rPr>
              <a:t>Let </a:t>
            </a:r>
            <a:r>
              <a:rPr lang="en-US" sz="2800" i="1" dirty="0" err="1">
                <a:latin typeface="Times New Roman"/>
                <a:cs typeface="Times New Roman"/>
              </a:rPr>
              <a:t>G</a:t>
            </a:r>
            <a:r>
              <a:rPr lang="en-US" sz="2800" i="1" baseline="-25000" dirty="0" err="1">
                <a:latin typeface="Times New Roman"/>
                <a:cs typeface="Times New Roman"/>
              </a:rPr>
              <a:t>t</a:t>
            </a:r>
            <a:r>
              <a:rPr lang="en-US" sz="2800" dirty="0">
                <a:latin typeface="Calibri"/>
                <a:cs typeface="Calibri"/>
              </a:rPr>
              <a:t> be the total future discounted reward.</a:t>
            </a:r>
          </a:p>
          <a:p>
            <a:endParaRPr lang="en-US" sz="2800" dirty="0">
              <a:latin typeface="Calibri"/>
              <a:cs typeface="Calibri"/>
            </a:endParaRPr>
          </a:p>
          <a:p>
            <a:endParaRPr lang="en-US" sz="2800" dirty="0">
              <a:latin typeface="Calibri"/>
              <a:cs typeface="Calibri"/>
            </a:endParaRPr>
          </a:p>
          <a:p>
            <a:r>
              <a:rPr lang="en-US" sz="2800" dirty="0">
                <a:latin typeface="Calibri"/>
                <a:cs typeface="Calibri"/>
              </a:rPr>
              <a:t>The state-value function,                                      , is the expected reward from state </a:t>
            </a:r>
            <a:r>
              <a:rPr lang="en-US" sz="2800" i="1" dirty="0">
                <a:latin typeface="Times New Roman"/>
                <a:cs typeface="Times New Roman"/>
              </a:rPr>
              <a:t>s</a:t>
            </a:r>
            <a:r>
              <a:rPr lang="en-US" sz="2800" dirty="0">
                <a:latin typeface="Calibri"/>
                <a:cs typeface="Calibri"/>
              </a:rPr>
              <a:t> following policy </a:t>
            </a:r>
            <a:r>
              <a:rPr lang="en-US" sz="2800" i="1" dirty="0"/>
              <a:t>π</a:t>
            </a:r>
            <a:r>
              <a:rPr lang="en-US" sz="2800" dirty="0"/>
              <a:t>.</a:t>
            </a:r>
          </a:p>
          <a:p>
            <a:r>
              <a:rPr lang="en-US" sz="2800" dirty="0">
                <a:latin typeface="Calibri"/>
                <a:cs typeface="Calibri"/>
              </a:rPr>
              <a:t>The action-value function,                                                      , is the expected return of taking action </a:t>
            </a:r>
            <a:r>
              <a:rPr lang="en-US" sz="2800" dirty="0">
                <a:latin typeface="Times New Roman"/>
                <a:cs typeface="Times New Roman"/>
              </a:rPr>
              <a:t>a</a:t>
            </a:r>
            <a:r>
              <a:rPr lang="en-US" sz="2800" dirty="0">
                <a:latin typeface="Calibri"/>
                <a:cs typeface="Calibri"/>
              </a:rPr>
              <a:t> from state </a:t>
            </a:r>
            <a:r>
              <a:rPr lang="en-US" sz="2800" i="1" dirty="0">
                <a:latin typeface="Times New Roman"/>
                <a:cs typeface="Times New Roman"/>
              </a:rPr>
              <a:t>s </a:t>
            </a:r>
            <a:r>
              <a:rPr lang="en-US" sz="2800" dirty="0">
                <a:latin typeface="Calibri"/>
                <a:cs typeface="Calibri"/>
              </a:rPr>
              <a:t>and then following policy </a:t>
            </a:r>
            <a:r>
              <a:rPr lang="en-US" sz="2800" i="1" dirty="0"/>
              <a:t>π.</a:t>
            </a:r>
            <a:endParaRPr lang="en-US" sz="2800" dirty="0">
              <a:latin typeface="Calibri"/>
              <a:cs typeface="Calibri"/>
            </a:endParaRPr>
          </a:p>
        </p:txBody>
      </p:sp>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5692" y="1839579"/>
            <a:ext cx="1638300" cy="317500"/>
          </a:xfrm>
          <a:prstGeom prst="rect">
            <a:avLst/>
          </a:prstGeom>
        </p:spPr>
      </p:pic>
      <p:pic>
        <p:nvPicPr>
          <p:cNvPr id="7" name="Picture 6"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5001" y="3811053"/>
            <a:ext cx="5461000" cy="850900"/>
          </a:xfrm>
          <a:prstGeom prst="rect">
            <a:avLst/>
          </a:prstGeom>
        </p:spPr>
      </p:pic>
      <p:pic>
        <p:nvPicPr>
          <p:cNvPr id="8" name="Picture 7"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2844" y="4801332"/>
            <a:ext cx="2882900" cy="317500"/>
          </a:xfrm>
          <a:prstGeom prst="rect">
            <a:avLst/>
          </a:prstGeom>
        </p:spPr>
      </p:pic>
      <p:pic>
        <p:nvPicPr>
          <p:cNvPr id="9" name="Picture 8"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07887" y="5641480"/>
            <a:ext cx="4216400" cy="317500"/>
          </a:xfrm>
          <a:prstGeom prst="rect">
            <a:avLst/>
          </a:prstGeom>
        </p:spPr>
      </p:pic>
    </p:spTree>
    <p:extLst>
      <p:ext uri="{BB962C8B-B14F-4D97-AF65-F5344CB8AC3E}">
        <p14:creationId xmlns:p14="http://schemas.microsoft.com/office/powerpoint/2010/main" val="691302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373"/>
            <a:ext cx="9144000" cy="815470"/>
          </a:xfrm>
        </p:spPr>
        <p:txBody>
          <a:bodyPr>
            <a:normAutofit/>
          </a:bodyPr>
          <a:lstStyle/>
          <a:p>
            <a:pPr algn="l"/>
            <a:r>
              <a:rPr lang="en-US" b="1" dirty="0"/>
              <a:t>Policies, Values and Actions in MDPs</a:t>
            </a:r>
          </a:p>
        </p:txBody>
      </p:sp>
      <p:sp>
        <p:nvSpPr>
          <p:cNvPr id="4" name="TextBox 3"/>
          <p:cNvSpPr txBox="1"/>
          <p:nvPr/>
        </p:nvSpPr>
        <p:spPr>
          <a:xfrm>
            <a:off x="183553" y="771964"/>
            <a:ext cx="8836527" cy="5693866"/>
          </a:xfrm>
          <a:prstGeom prst="rect">
            <a:avLst/>
          </a:prstGeom>
          <a:noFill/>
        </p:spPr>
        <p:txBody>
          <a:bodyPr wrap="square" rtlCol="0">
            <a:spAutoFit/>
          </a:bodyPr>
          <a:lstStyle/>
          <a:p>
            <a:r>
              <a:rPr lang="en-US" sz="2800" dirty="0"/>
              <a:t>The optimal sequence of actions in a MDP can then be defined as the policy </a:t>
            </a:r>
            <a:r>
              <a:rPr lang="en-US" sz="2800" dirty="0">
                <a:latin typeface="Times New Roman" charset="0"/>
                <a:ea typeface="Times New Roman" charset="0"/>
                <a:cs typeface="Times New Roman" charset="0"/>
              </a:rPr>
              <a:t>π</a:t>
            </a:r>
            <a:r>
              <a:rPr lang="en-US" sz="2800" baseline="30000" dirty="0">
                <a:latin typeface="Times New Roman" charset="0"/>
                <a:ea typeface="Times New Roman" charset="0"/>
                <a:cs typeface="Times New Roman" charset="0"/>
              </a:rPr>
              <a:t>*</a:t>
            </a:r>
            <a:r>
              <a:rPr lang="en-US" sz="2800" baseline="30000" dirty="0"/>
              <a:t> </a:t>
            </a:r>
            <a:r>
              <a:rPr lang="en-US" sz="2800" dirty="0"/>
              <a:t>satisfying</a:t>
            </a:r>
            <a:endParaRPr lang="en-US" sz="1400" i="1" dirty="0">
              <a:latin typeface="Calibri"/>
              <a:cs typeface="Calibri"/>
            </a:endParaRPr>
          </a:p>
          <a:p>
            <a:endParaRPr lang="en-US" sz="2800" i="1" dirty="0">
              <a:latin typeface="Calibri"/>
              <a:cs typeface="Calibri"/>
            </a:endParaRPr>
          </a:p>
          <a:p>
            <a:r>
              <a:rPr lang="en-US" sz="2800" dirty="0">
                <a:latin typeface="Calibri"/>
                <a:cs typeface="Calibri"/>
              </a:rPr>
              <a:t>Reinforcement learning methods are methods for finding </a:t>
            </a:r>
            <a:r>
              <a:rPr lang="en-US" sz="2800" dirty="0">
                <a:latin typeface="Times New Roman" charset="0"/>
                <a:ea typeface="Times New Roman" charset="0"/>
                <a:cs typeface="Times New Roman" charset="0"/>
              </a:rPr>
              <a:t>π</a:t>
            </a:r>
            <a:r>
              <a:rPr lang="en-US" sz="2800" baseline="30000" dirty="0">
                <a:latin typeface="Times New Roman" charset="0"/>
                <a:ea typeface="Times New Roman" charset="0"/>
                <a:cs typeface="Times New Roman" charset="0"/>
              </a:rPr>
              <a:t>*</a:t>
            </a:r>
            <a:endParaRPr lang="en-US" sz="2800" dirty="0">
              <a:latin typeface="Calibri"/>
              <a:cs typeface="Calibri"/>
            </a:endParaRPr>
          </a:p>
          <a:p>
            <a:endParaRPr lang="en-US" sz="2800" dirty="0">
              <a:latin typeface="Calibri"/>
              <a:cs typeface="Calibri"/>
            </a:endParaRPr>
          </a:p>
          <a:p>
            <a:endParaRPr lang="en-US" sz="2800" dirty="0">
              <a:latin typeface="Calibri"/>
              <a:cs typeface="Calibri"/>
            </a:endParaRPr>
          </a:p>
          <a:p>
            <a:r>
              <a:rPr lang="en-US" sz="2800" dirty="0">
                <a:latin typeface="Calibri"/>
                <a:cs typeface="Calibri"/>
              </a:rPr>
              <a:t>This sets up a recursive definition, which can be exploited using dynamic programming and iterative updates.</a:t>
            </a:r>
          </a:p>
          <a:p>
            <a:r>
              <a:rPr lang="en-US" sz="2800" dirty="0">
                <a:latin typeface="Calibri"/>
                <a:cs typeface="Calibri"/>
              </a:rPr>
              <a:t>	Different learning rules defined via different ways of 	resolving the random variables </a:t>
            </a:r>
            <a:r>
              <a:rPr lang="en-US" sz="2800" i="1" dirty="0">
                <a:latin typeface="Times New Roman"/>
                <a:cs typeface="Times New Roman"/>
              </a:rPr>
              <a:t>S</a:t>
            </a:r>
            <a:r>
              <a:rPr lang="en-US" sz="2800" i="1" baseline="-25000" dirty="0">
                <a:latin typeface="Times New Roman"/>
                <a:cs typeface="Times New Roman"/>
              </a:rPr>
              <a:t>t+</a:t>
            </a:r>
            <a:r>
              <a:rPr lang="en-US" sz="2800" baseline="-25000" dirty="0">
                <a:latin typeface="Times New Roman"/>
                <a:cs typeface="Times New Roman"/>
              </a:rPr>
              <a:t>1</a:t>
            </a:r>
            <a:r>
              <a:rPr lang="en-US" sz="2800" dirty="0">
                <a:latin typeface="Calibri"/>
                <a:cs typeface="Calibri"/>
              </a:rPr>
              <a:t> and </a:t>
            </a:r>
            <a:r>
              <a:rPr lang="en-US" sz="2800" i="1" dirty="0">
                <a:latin typeface="Times New Roman"/>
                <a:cs typeface="Times New Roman"/>
              </a:rPr>
              <a:t>A</a:t>
            </a:r>
            <a:r>
              <a:rPr lang="en-US" sz="2800" i="1" baseline="-25000" dirty="0">
                <a:latin typeface="Times New Roman"/>
                <a:cs typeface="Times New Roman"/>
              </a:rPr>
              <a:t>t</a:t>
            </a:r>
            <a:r>
              <a:rPr lang="en-US" sz="2800" baseline="-25000" dirty="0">
                <a:latin typeface="Times New Roman"/>
                <a:cs typeface="Times New Roman"/>
              </a:rPr>
              <a:t>+1</a:t>
            </a:r>
            <a:r>
              <a:rPr lang="en-US" sz="2800" dirty="0">
                <a:latin typeface="Calibri"/>
                <a:cs typeface="Calibri"/>
              </a:rPr>
              <a:t>.</a:t>
            </a:r>
          </a:p>
          <a:p>
            <a:r>
              <a:rPr lang="en-US" sz="2800" dirty="0">
                <a:latin typeface="Calibri"/>
                <a:cs typeface="Calibri"/>
              </a:rPr>
              <a:t>	</a:t>
            </a:r>
            <a:r>
              <a:rPr lang="en-US" sz="2800" dirty="0">
                <a:cs typeface="Calibri"/>
              </a:rPr>
              <a:t>iterative updates based on reinforcement during 	exploration is reinforcement learning (RL).</a:t>
            </a:r>
            <a:endParaRPr lang="en-US" sz="2800" dirty="0">
              <a:latin typeface="Calibri"/>
              <a:cs typeface="Calibri"/>
            </a:endParaRPr>
          </a:p>
          <a:p>
            <a:r>
              <a:rPr lang="en-US" sz="2800" dirty="0">
                <a:latin typeface="Calibri"/>
                <a:cs typeface="Calibri"/>
              </a:rPr>
              <a:t>Max = Q-learning; Lots of elaborations from there...</a:t>
            </a:r>
          </a:p>
        </p:txBody>
      </p:sp>
      <p:pic>
        <p:nvPicPr>
          <p:cNvPr id="8" name="Picture 7"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8757" y="1723235"/>
            <a:ext cx="5803900" cy="431800"/>
          </a:xfrm>
          <a:prstGeom prst="rect">
            <a:avLst/>
          </a:prstGeom>
        </p:spPr>
      </p:pic>
      <p:pic>
        <p:nvPicPr>
          <p:cNvPr id="11" name="Picture 10"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143" y="2596890"/>
            <a:ext cx="6959600" cy="774700"/>
          </a:xfrm>
          <a:prstGeom prst="rect">
            <a:avLst/>
          </a:prstGeom>
        </p:spPr>
      </p:pic>
    </p:spTree>
    <p:extLst>
      <p:ext uri="{BB962C8B-B14F-4D97-AF65-F5344CB8AC3E}">
        <p14:creationId xmlns:p14="http://schemas.microsoft.com/office/powerpoint/2010/main" val="81684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373"/>
            <a:ext cx="9144000" cy="815470"/>
          </a:xfrm>
        </p:spPr>
        <p:txBody>
          <a:bodyPr>
            <a:normAutofit/>
          </a:bodyPr>
          <a:lstStyle/>
          <a:p>
            <a:pPr algn="l"/>
            <a:r>
              <a:rPr lang="en-US" b="1" dirty="0"/>
              <a:t>Reinforcement Learning</a:t>
            </a:r>
          </a:p>
        </p:txBody>
      </p:sp>
      <p:sp>
        <p:nvSpPr>
          <p:cNvPr id="4" name="TextBox 3"/>
          <p:cNvSpPr txBox="1"/>
          <p:nvPr/>
        </p:nvSpPr>
        <p:spPr>
          <a:xfrm>
            <a:off x="183553" y="661602"/>
            <a:ext cx="8836527" cy="5262979"/>
          </a:xfrm>
          <a:prstGeom prst="rect">
            <a:avLst/>
          </a:prstGeom>
          <a:noFill/>
        </p:spPr>
        <p:txBody>
          <a:bodyPr wrap="square" rtlCol="0">
            <a:spAutoFit/>
          </a:bodyPr>
          <a:lstStyle/>
          <a:p>
            <a:endParaRPr lang="en-US" sz="2800" dirty="0">
              <a:latin typeface="Calibri"/>
              <a:cs typeface="Calibri"/>
            </a:endParaRPr>
          </a:p>
          <a:p>
            <a:endParaRPr lang="en-US" sz="2800" dirty="0">
              <a:latin typeface="Calibri"/>
              <a:cs typeface="Calibri"/>
            </a:endParaRPr>
          </a:p>
          <a:p>
            <a:endParaRPr lang="en-US" sz="2800" dirty="0">
              <a:latin typeface="Calibri"/>
              <a:cs typeface="Calibri"/>
            </a:endParaRPr>
          </a:p>
          <a:p>
            <a:r>
              <a:rPr lang="en-US" sz="2800" dirty="0">
                <a:latin typeface="Calibri"/>
                <a:cs typeface="Calibri"/>
              </a:rPr>
              <a:t>Q-learning (					 &amp;					)</a:t>
            </a:r>
          </a:p>
          <a:p>
            <a:r>
              <a:rPr lang="en-US" sz="2800" dirty="0">
                <a:latin typeface="Calibri"/>
                <a:cs typeface="Calibri"/>
              </a:rPr>
              <a:t>	      is a  		   matrix of q-values</a:t>
            </a:r>
          </a:p>
          <a:p>
            <a:r>
              <a:rPr lang="en-US" sz="2800" dirty="0">
                <a:latin typeface="Calibri"/>
                <a:cs typeface="Calibri"/>
              </a:rPr>
              <a:t>	Initialize       to 0*</a:t>
            </a:r>
          </a:p>
          <a:p>
            <a:r>
              <a:rPr lang="en-US" sz="2800" dirty="0">
                <a:latin typeface="Calibri"/>
                <a:cs typeface="Calibri"/>
              </a:rPr>
              <a:t>	Select an action. How? </a:t>
            </a:r>
          </a:p>
          <a:p>
            <a:pPr marL="971550" lvl="1" indent="-514350">
              <a:buFont typeface="+mj-lt"/>
              <a:buAutoNum type="arabicPeriod"/>
            </a:pPr>
            <a:r>
              <a:rPr lang="en-US" sz="2800" dirty="0">
                <a:latin typeface="Calibri"/>
                <a:cs typeface="Calibri"/>
              </a:rPr>
              <a:t>  -greedy: Take best action in current state according to       with prob.          . Take non-optimal action with prob.    (break times at chance)</a:t>
            </a:r>
          </a:p>
          <a:p>
            <a:pPr marL="971550" lvl="1" indent="-514350">
              <a:buFont typeface="+mj-lt"/>
              <a:buAutoNum type="arabicPeriod"/>
            </a:pPr>
            <a:r>
              <a:rPr lang="en-US" sz="2800" dirty="0">
                <a:latin typeface="Calibri"/>
                <a:cs typeface="Calibri"/>
              </a:rPr>
              <a:t>Get reward/feedback          from world</a:t>
            </a:r>
          </a:p>
          <a:p>
            <a:pPr marL="971550" lvl="1" indent="-514350">
              <a:buFont typeface="+mj-lt"/>
              <a:buAutoNum type="arabicPeriod"/>
            </a:pPr>
            <a:r>
              <a:rPr lang="en-US" sz="2800" dirty="0">
                <a:latin typeface="Calibri"/>
                <a:cs typeface="Calibri"/>
              </a:rPr>
              <a:t>Update Q:</a:t>
            </a:r>
          </a:p>
        </p:txBody>
      </p:sp>
      <p:pic>
        <p:nvPicPr>
          <p:cNvPr id="11" name="Picture 10"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377" y="940434"/>
            <a:ext cx="6959600" cy="77470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5247" y="2043952"/>
            <a:ext cx="1498600" cy="26670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8941" y="2043952"/>
            <a:ext cx="1473200" cy="330200"/>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2611" y="2442193"/>
            <a:ext cx="406400" cy="330200"/>
          </a:xfrm>
          <a:prstGeom prst="rect">
            <a:avLst/>
          </a:prstGeom>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61491" y="2479713"/>
            <a:ext cx="927100" cy="266700"/>
          </a:xfrm>
          <a:prstGeom prst="rect">
            <a:avLst/>
          </a:prstGeom>
        </p:spPr>
      </p:pic>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20281" y="2425821"/>
            <a:ext cx="1943100" cy="381000"/>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06075" y="2886233"/>
            <a:ext cx="406400" cy="330200"/>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63869" y="3844592"/>
            <a:ext cx="139700" cy="177800"/>
          </a:xfrm>
          <a:prstGeom prst="rect">
            <a:avLst/>
          </a:prstGeom>
        </p:spPr>
      </p:pic>
      <p:pic>
        <p:nvPicPr>
          <p:cNvPr id="13" name="Picture 1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71937" y="4178296"/>
            <a:ext cx="368300" cy="330200"/>
          </a:xfrm>
          <a:prstGeom prst="rect">
            <a:avLst/>
          </a:prstGeom>
        </p:spPr>
      </p:pic>
      <p:pic>
        <p:nvPicPr>
          <p:cNvPr id="14" name="Picture 1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83438" y="4223287"/>
            <a:ext cx="723900" cy="254000"/>
          </a:xfrm>
          <a:prstGeom prst="rect">
            <a:avLst/>
          </a:prstGeom>
        </p:spPr>
      </p:pic>
      <p:pic>
        <p:nvPicPr>
          <p:cNvPr id="15" name="Picture 1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92127" y="4706440"/>
            <a:ext cx="139700" cy="177800"/>
          </a:xfrm>
          <a:prstGeom prst="rect">
            <a:avLst/>
          </a:prstGeom>
        </p:spPr>
      </p:pic>
      <p:pic>
        <p:nvPicPr>
          <p:cNvPr id="17" name="Picture 1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422023" y="5093112"/>
            <a:ext cx="596900" cy="254000"/>
          </a:xfrm>
          <a:prstGeom prst="rect">
            <a:avLst/>
          </a:prstGeom>
        </p:spPr>
      </p:pic>
      <p:pic>
        <p:nvPicPr>
          <p:cNvPr id="19" name="Picture 1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86841" y="5921205"/>
            <a:ext cx="8204200" cy="647700"/>
          </a:xfrm>
          <a:prstGeom prst="rect">
            <a:avLst/>
          </a:prstGeom>
        </p:spPr>
      </p:pic>
      <p:grpSp>
        <p:nvGrpSpPr>
          <p:cNvPr id="24" name="Group 23"/>
          <p:cNvGrpSpPr/>
          <p:nvPr/>
        </p:nvGrpSpPr>
        <p:grpSpPr>
          <a:xfrm>
            <a:off x="586841" y="3741503"/>
            <a:ext cx="8204200" cy="2179702"/>
            <a:chOff x="586841" y="3741503"/>
            <a:chExt cx="8204200" cy="2179702"/>
          </a:xfrm>
        </p:grpSpPr>
        <p:sp>
          <p:nvSpPr>
            <p:cNvPr id="20" name="TextBox 19"/>
            <p:cNvSpPr txBox="1"/>
            <p:nvPr/>
          </p:nvSpPr>
          <p:spPr>
            <a:xfrm>
              <a:off x="586841" y="3741503"/>
              <a:ext cx="8204200" cy="1569660"/>
            </a:xfrm>
            <a:prstGeom prst="rect">
              <a:avLst/>
            </a:prstGeom>
            <a:solidFill>
              <a:schemeClr val="bg1"/>
            </a:solidFill>
            <a:ln>
              <a:solidFill>
                <a:schemeClr val="tx1"/>
              </a:solidFill>
            </a:ln>
          </p:spPr>
          <p:txBody>
            <a:bodyPr wrap="square" rtlCol="0">
              <a:spAutoFit/>
            </a:bodyPr>
            <a:lstStyle/>
            <a:p>
              <a:r>
                <a:rPr lang="en-US" sz="2400" u="sng" dirty="0"/>
                <a:t>A </a:t>
              </a:r>
              <a:r>
                <a:rPr lang="en-US" sz="2400" b="1" u="sng" dirty="0"/>
                <a:t>temporal difference </a:t>
              </a:r>
              <a:r>
                <a:rPr lang="en-US" sz="2400" u="sng" dirty="0"/>
                <a:t>algorithm</a:t>
              </a:r>
            </a:p>
            <a:p>
              <a:endParaRPr lang="en-US" sz="2400" dirty="0"/>
            </a:p>
            <a:p>
              <a:r>
                <a:rPr lang="en-US" sz="2400" dirty="0"/>
                <a:t>Class of algorithms that learn the values of each state by updating whenever predicted value differs from observed value.</a:t>
              </a:r>
            </a:p>
          </p:txBody>
        </p:sp>
        <p:cxnSp>
          <p:nvCxnSpPr>
            <p:cNvPr id="22" name="Straight Arrow Connector 21"/>
            <p:cNvCxnSpPr>
              <a:stCxn id="20" idx="2"/>
              <a:endCxn id="19" idx="0"/>
            </p:cNvCxnSpPr>
            <p:nvPr/>
          </p:nvCxnSpPr>
          <p:spPr>
            <a:xfrm>
              <a:off x="4688941" y="5311163"/>
              <a:ext cx="0" cy="6100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9636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350874" y="3072348"/>
            <a:ext cx="8442251" cy="3477875"/>
          </a:xfrm>
          <a:prstGeom prst="rect">
            <a:avLst/>
          </a:prstGeom>
          <a:noFill/>
        </p:spPr>
        <p:txBody>
          <a:bodyPr wrap="square" rtlCol="0">
            <a:spAutoFit/>
          </a:bodyPr>
          <a:lstStyle/>
          <a:p>
            <a:r>
              <a:rPr lang="en-US" sz="2000" dirty="0" err="1">
                <a:latin typeface="Consolas" panose="020B0609020204030204" pitchFamily="49" charset="0"/>
                <a:cs typeface="Consolas" panose="020B0609020204030204" pitchFamily="49" charset="0"/>
              </a:rPr>
              <a:t>possXs</a:t>
            </a:r>
            <a:r>
              <a:rPr lang="en-US" sz="2000" dirty="0">
                <a:latin typeface="Consolas" panose="020B0609020204030204" pitchFamily="49" charset="0"/>
                <a:cs typeface="Consolas" panose="020B0609020204030204" pitchFamily="49" charset="0"/>
              </a:rPr>
              <a:t> = 1:3;</a:t>
            </a:r>
          </a:p>
          <a:p>
            <a:r>
              <a:rPr lang="en-US" sz="2000" dirty="0" err="1">
                <a:latin typeface="Consolas" panose="020B0609020204030204" pitchFamily="49" charset="0"/>
                <a:cs typeface="Consolas" panose="020B0609020204030204" pitchFamily="49" charset="0"/>
              </a:rPr>
              <a:t>possYs</a:t>
            </a:r>
            <a:r>
              <a:rPr lang="en-US" sz="2000" dirty="0">
                <a:latin typeface="Consolas" panose="020B0609020204030204" pitchFamily="49" charset="0"/>
                <a:cs typeface="Consolas" panose="020B0609020204030204" pitchFamily="49" charset="0"/>
              </a:rPr>
              <a:t> = 1:3;</a:t>
            </a:r>
          </a:p>
          <a:p>
            <a:r>
              <a:rPr lang="en-US" sz="2000" dirty="0">
                <a:latin typeface="Consolas" panose="020B0609020204030204" pitchFamily="49" charset="0"/>
                <a:cs typeface="Consolas" panose="020B0609020204030204" pitchFamily="49" charset="0"/>
              </a:rPr>
              <a:t>actions = [up = 1; down =  2; right = 3; left = 4];</a:t>
            </a:r>
          </a:p>
          <a:p>
            <a:endParaRPr lang="en-US" sz="2000" dirty="0">
              <a:latin typeface="Consolas" panose="020B0609020204030204" pitchFamily="49" charset="0"/>
              <a:cs typeface="Consolas" panose="020B0609020204030204" pitchFamily="49" charset="0"/>
            </a:endParaRPr>
          </a:p>
          <a:p>
            <a:r>
              <a:rPr lang="en-US" sz="2000" dirty="0">
                <a:latin typeface="Consolas" panose="020B0609020204030204" pitchFamily="49" charset="0"/>
                <a:cs typeface="Consolas" panose="020B0609020204030204" pitchFamily="49" charset="0"/>
              </a:rPr>
              <a:t>Q = zeros(length(</a:t>
            </a:r>
            <a:r>
              <a:rPr lang="en-US" sz="2000" dirty="0" err="1">
                <a:latin typeface="Consolas" panose="020B0609020204030204" pitchFamily="49" charset="0"/>
                <a:cs typeface="Consolas" panose="020B0609020204030204" pitchFamily="49" charset="0"/>
              </a:rPr>
              <a:t>possYs</a:t>
            </a:r>
            <a:r>
              <a:rPr lang="en-US" sz="2000" dirty="0">
                <a:latin typeface="Consolas" panose="020B0609020204030204" pitchFamily="49" charset="0"/>
                <a:cs typeface="Consolas" panose="020B0609020204030204" pitchFamily="49" charset="0"/>
              </a:rPr>
              <a:t>),length(</a:t>
            </a:r>
            <a:r>
              <a:rPr lang="en-US" sz="2000" dirty="0" err="1">
                <a:latin typeface="Consolas" panose="020B0609020204030204" pitchFamily="49" charset="0"/>
                <a:cs typeface="Consolas" panose="020B0609020204030204" pitchFamily="49" charset="0"/>
              </a:rPr>
              <a:t>possXs</a:t>
            </a:r>
            <a:r>
              <a:rPr lang="en-US" sz="2000" dirty="0">
                <a:latin typeface="Consolas" panose="020B0609020204030204" pitchFamily="49" charset="0"/>
                <a:cs typeface="Consolas" panose="020B0609020204030204" pitchFamily="49" charset="0"/>
              </a:rPr>
              <a:t>),length(actions));</a:t>
            </a:r>
          </a:p>
          <a:p>
            <a:r>
              <a:rPr lang="en-US" sz="2000" dirty="0">
                <a:latin typeface="Consolas" panose="020B0609020204030204" pitchFamily="49" charset="0"/>
                <a:cs typeface="Consolas" panose="020B0609020204030204" pitchFamily="49" charset="0"/>
              </a:rPr>
              <a:t>Q = </a:t>
            </a:r>
            <a:r>
              <a:rPr lang="en-US" sz="2000" dirty="0" err="1">
                <a:latin typeface="Consolas" panose="020B0609020204030204" pitchFamily="49" charset="0"/>
                <a:cs typeface="Consolas" panose="020B0609020204030204" pitchFamily="49" charset="0"/>
              </a:rPr>
              <a:t>fillImpossVals</a:t>
            </a:r>
            <a:r>
              <a:rPr lang="en-US" sz="2000" dirty="0">
                <a:latin typeface="Consolas" panose="020B0609020204030204" pitchFamily="49" charset="0"/>
                <a:cs typeface="Consolas" panose="020B0609020204030204" pitchFamily="49" charset="0"/>
              </a:rPr>
              <a:t>(Q);</a:t>
            </a:r>
          </a:p>
          <a:p>
            <a:endParaRPr lang="en-US" sz="2000" dirty="0">
              <a:latin typeface="Consolas" panose="020B0609020204030204" pitchFamily="49" charset="0"/>
              <a:cs typeface="Consolas" panose="020B0609020204030204" pitchFamily="49" charset="0"/>
            </a:endParaRPr>
          </a:p>
          <a:p>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0.95;  % (gamma)</a:t>
            </a:r>
          </a:p>
          <a:p>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0.9;  % (alpha)</a:t>
            </a:r>
          </a:p>
          <a:p>
            <a:r>
              <a:rPr lang="en-US" sz="2000" dirty="0" err="1">
                <a:latin typeface="Consolas" panose="020B0609020204030204" pitchFamily="49" charset="0"/>
                <a:cs typeface="Consolas" panose="020B0609020204030204" pitchFamily="49" charset="0"/>
              </a:rPr>
              <a:t>randActProb</a:t>
            </a:r>
            <a:r>
              <a:rPr lang="en-US" sz="2000" dirty="0">
                <a:latin typeface="Consolas" panose="020B0609020204030204" pitchFamily="49" charset="0"/>
                <a:cs typeface="Consolas" panose="020B0609020204030204" pitchFamily="49" charset="0"/>
              </a:rPr>
              <a:t> = 0.1  % epsilon</a:t>
            </a:r>
          </a:p>
          <a:p>
            <a:endParaRPr lang="en-US" sz="2000" dirty="0">
              <a:latin typeface="Consolas" panose="020B0609020204030204" pitchFamily="49" charset="0"/>
              <a:cs typeface="Consolas" panose="020B0609020204030204" pitchFamily="49" charset="0"/>
            </a:endParaRP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2821171" y="333744"/>
          <a:ext cx="3834810" cy="2770616"/>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dirty="0"/>
                    </a:p>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p>
                    <a:p>
                      <a:r>
                        <a:rPr lang="en-US" dirty="0"/>
                        <a:t>   </a:t>
                      </a:r>
                      <a:r>
                        <a:rPr lang="en-US" sz="2000" b="1" dirty="0"/>
                        <a:t>  Start</a:t>
                      </a:r>
                    </a:p>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Tree>
    <p:extLst>
      <p:ext uri="{BB962C8B-B14F-4D97-AF65-F5344CB8AC3E}">
        <p14:creationId xmlns:p14="http://schemas.microsoft.com/office/powerpoint/2010/main" val="287298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2604518"/>
            <a:ext cx="8623005" cy="4093428"/>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%1. What are the current actions</a:t>
            </a:r>
          </a:p>
          <a:p>
            <a:r>
              <a:rPr lang="en-US" sz="2000" dirty="0">
                <a:latin typeface="Consolas" panose="020B0609020204030204" pitchFamily="49" charset="0"/>
                <a:cs typeface="Consolas" panose="020B0609020204030204" pitchFamily="49" charset="0"/>
              </a:rPr>
              <a:t>%  and how good do we believe they are?</a:t>
            </a:r>
          </a:p>
          <a:p>
            <a:r>
              <a:rPr lang="en-US" sz="2000" dirty="0">
                <a:latin typeface="Consolas" panose="020B0609020204030204" pitchFamily="49" charset="0"/>
                <a:cs typeface="Consolas" panose="020B0609020204030204" pitchFamily="49" charset="0"/>
              </a:rPr>
              <a:t>    [Up Right];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(Up, Right)]) = [0 0];</a:t>
            </a:r>
          </a:p>
          <a:p>
            <a:r>
              <a:rPr lang="en-US" sz="2000" dirty="0">
                <a:latin typeface="Consolas" panose="020B0609020204030204" pitchFamily="49" charset="0"/>
                <a:cs typeface="Consolas" panose="020B0609020204030204" pitchFamily="49" charset="0"/>
              </a:rPr>
              <a:t>%2. What action do we take?</a:t>
            </a:r>
          </a:p>
          <a:p>
            <a:r>
              <a:rPr lang="en-US" sz="2000" dirty="0">
                <a:latin typeface="Consolas" panose="020B0609020204030204" pitchFamily="49" charset="0"/>
                <a:cs typeface="Consolas" panose="020B0609020204030204" pitchFamily="49" charset="0"/>
              </a:rPr>
              <a:t>	Random Uniform[0,1] -&gt; 0.16 &lt; 0.9 % YES!</a:t>
            </a:r>
          </a:p>
          <a:p>
            <a:r>
              <a:rPr lang="en-US" sz="2000" dirty="0">
                <a:latin typeface="Consolas" panose="020B0609020204030204" pitchFamily="49" charset="0"/>
                <a:cs typeface="Consolas" panose="020B0609020204030204" pitchFamily="49" charset="0"/>
              </a:rPr>
              <a:t>   %Which one? ceiling(2*Uniform) = ceiling(1.91) = 2 %RIGHT</a:t>
            </a:r>
          </a:p>
          <a:p>
            <a:r>
              <a:rPr lang="en-US" sz="2000" dirty="0">
                <a:latin typeface="Consolas" panose="020B0609020204030204" pitchFamily="49" charset="0"/>
                <a:cs typeface="Consolas" panose="020B0609020204030204" pitchFamily="49" charset="0"/>
              </a:rPr>
              <a:t>%3. Take action, get feedback, and update Q-value/state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&lt;- [1, 2]; </a:t>
            </a:r>
          </a:p>
          <a:p>
            <a:r>
              <a:rPr lang="en-US" sz="2000" dirty="0">
                <a:latin typeface="Consolas" panose="020B0609020204030204" pitchFamily="49" charset="0"/>
                <a:cs typeface="Consolas" panose="020B0609020204030204" pitchFamily="49" charset="0"/>
              </a:rPr>
              <a:t>	% Max Q-value of states next to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0</a:t>
            </a:r>
          </a:p>
          <a:p>
            <a:r>
              <a:rPr lang="en-US" sz="2000" dirty="0">
                <a:latin typeface="Consolas" panose="020B0609020204030204" pitchFamily="49" charset="0"/>
                <a:cs typeface="Consolas" panose="020B0609020204030204" pitchFamily="49" charset="0"/>
              </a:rPr>
              <a:t>	% Feedback  [-10] (in Garden)</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R]) += </a:t>
            </a:r>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(fb + </a:t>
            </a:r>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a:t>
            </a:r>
            <a:r>
              <a:rPr lang="en-US" sz="2000" dirty="0" err="1">
                <a:latin typeface="Consolas" panose="020B0609020204030204" pitchFamily="49" charset="0"/>
                <a:cs typeface="Consolas" panose="020B0609020204030204" pitchFamily="49" charset="0"/>
              </a:rPr>
              <a:t>maxQNext</a:t>
            </a:r>
            <a:r>
              <a:rPr lang="en-US" sz="2000" dirty="0">
                <a:latin typeface="Consolas" panose="020B0609020204030204" pitchFamily="49" charset="0"/>
                <a:cs typeface="Consolas" panose="020B0609020204030204" pitchFamily="49" charset="0"/>
              </a:rPr>
              <a:t> 											–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R]);</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R) = 0 + .9*(-10 + .95*0-0) = -9</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X</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[1, 1];</a:t>
            </a:r>
          </a:p>
        </p:txBody>
      </p:sp>
      <p:cxnSp>
        <p:nvCxnSpPr>
          <p:cNvPr id="6" name="Straight Arrow Connector 5">
            <a:extLst>
              <a:ext uri="{FF2B5EF4-FFF2-40B4-BE49-F238E27FC236}">
                <a16:creationId xmlns:a16="http://schemas.microsoft.com/office/drawing/2014/main" id="{36083ADE-EDA3-A245-91A0-3C895B96F069}"/>
              </a:ext>
            </a:extLst>
          </p:cNvPr>
          <p:cNvCxnSpPr>
            <a:cxnSpLocks/>
          </p:cNvCxnSpPr>
          <p:nvPr/>
        </p:nvCxnSpPr>
        <p:spPr>
          <a:xfrm>
            <a:off x="5812143" y="240295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75833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2604518"/>
            <a:ext cx="8623005" cy="4093428"/>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%1. What are the current actions</a:t>
            </a:r>
          </a:p>
          <a:p>
            <a:r>
              <a:rPr lang="en-US" sz="2000" dirty="0">
                <a:latin typeface="Consolas" panose="020B0609020204030204" pitchFamily="49" charset="0"/>
                <a:cs typeface="Consolas" panose="020B0609020204030204" pitchFamily="49" charset="0"/>
              </a:rPr>
              <a:t>%  and how good do we believe they are?</a:t>
            </a:r>
          </a:p>
          <a:p>
            <a:r>
              <a:rPr lang="en-US" sz="2000" dirty="0">
                <a:latin typeface="Consolas" panose="020B0609020204030204" pitchFamily="49" charset="0"/>
                <a:cs typeface="Consolas" panose="020B0609020204030204" pitchFamily="49" charset="0"/>
              </a:rPr>
              <a:t>    [U L R];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(U,L,R)]) = [0, 0, 0];</a:t>
            </a:r>
          </a:p>
          <a:p>
            <a:r>
              <a:rPr lang="en-US" sz="2000" dirty="0">
                <a:latin typeface="Consolas" panose="020B0609020204030204" pitchFamily="49" charset="0"/>
                <a:cs typeface="Consolas" panose="020B0609020204030204" pitchFamily="49" charset="0"/>
              </a:rPr>
              <a:t>%2. What action do we take?</a:t>
            </a:r>
          </a:p>
          <a:p>
            <a:r>
              <a:rPr lang="en-US" sz="2000" dirty="0">
                <a:latin typeface="Consolas" panose="020B0609020204030204" pitchFamily="49" charset="0"/>
                <a:cs typeface="Consolas" panose="020B0609020204030204" pitchFamily="49" charset="0"/>
              </a:rPr>
              <a:t>	Random Uniform[0,1] -&gt; 0.74 &lt; 0.9 % Optimal (U,L,R)</a:t>
            </a:r>
          </a:p>
          <a:p>
            <a:r>
              <a:rPr lang="en-US" sz="2000" dirty="0">
                <a:latin typeface="Consolas" panose="020B0609020204030204" pitchFamily="49" charset="0"/>
                <a:cs typeface="Consolas" panose="020B0609020204030204" pitchFamily="49" charset="0"/>
              </a:rPr>
              <a:t>   %Which one? ceiling(3*Uniform) = ceiling(2.3) = 3 %RIGHT</a:t>
            </a:r>
          </a:p>
          <a:p>
            <a:r>
              <a:rPr lang="en-US" sz="2000" dirty="0">
                <a:latin typeface="Consolas" panose="020B0609020204030204" pitchFamily="49" charset="0"/>
                <a:cs typeface="Consolas" panose="020B0609020204030204" pitchFamily="49" charset="0"/>
              </a:rPr>
              <a:t>%3. Take action, get feedback, and update Q-value/state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&lt;- [1, 3]; </a:t>
            </a:r>
          </a:p>
          <a:p>
            <a:r>
              <a:rPr lang="en-US" sz="2000" dirty="0">
                <a:latin typeface="Consolas" panose="020B0609020204030204" pitchFamily="49" charset="0"/>
                <a:cs typeface="Consolas" panose="020B0609020204030204" pitchFamily="49" charset="0"/>
              </a:rPr>
              <a:t>	% Max Q-value of states next to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0</a:t>
            </a:r>
          </a:p>
          <a:p>
            <a:r>
              <a:rPr lang="en-US" sz="2000" dirty="0">
                <a:latin typeface="Consolas" panose="020B0609020204030204" pitchFamily="49" charset="0"/>
                <a:cs typeface="Consolas" panose="020B0609020204030204" pitchFamily="49" charset="0"/>
              </a:rPr>
              <a:t>	% Feedback  [-10] (in Garden)</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R]) += </a:t>
            </a:r>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(fb + </a:t>
            </a:r>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a:t>
            </a:r>
            <a:r>
              <a:rPr lang="en-US" sz="2000" dirty="0" err="1">
                <a:latin typeface="Consolas" panose="020B0609020204030204" pitchFamily="49" charset="0"/>
                <a:cs typeface="Consolas" panose="020B0609020204030204" pitchFamily="49" charset="0"/>
              </a:rPr>
              <a:t>maxQNext</a:t>
            </a:r>
            <a:r>
              <a:rPr lang="en-US" sz="2000" dirty="0">
                <a:latin typeface="Consolas" panose="020B0609020204030204" pitchFamily="49" charset="0"/>
                <a:cs typeface="Consolas" panose="020B0609020204030204" pitchFamily="49" charset="0"/>
              </a:rPr>
              <a:t> 											–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R]);</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R) = 0 + .9*(-10 + .95*0-0) = -9</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X</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[1, 2];</a:t>
            </a:r>
          </a:p>
        </p:txBody>
      </p:sp>
      <p:cxnSp>
        <p:nvCxnSpPr>
          <p:cNvPr id="6" name="Straight Arrow Connector 5">
            <a:extLst>
              <a:ext uri="{FF2B5EF4-FFF2-40B4-BE49-F238E27FC236}">
                <a16:creationId xmlns:a16="http://schemas.microsoft.com/office/drawing/2014/main" id="{36083ADE-EDA3-A245-91A0-3C895B96F069}"/>
              </a:ext>
            </a:extLst>
          </p:cNvPr>
          <p:cNvCxnSpPr/>
          <p:nvPr/>
        </p:nvCxnSpPr>
        <p:spPr>
          <a:xfrm>
            <a:off x="5699051" y="2381693"/>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3EED043D-6D4F-354C-B5BE-1D0D0993DCA5}"/>
              </a:ext>
            </a:extLst>
          </p:cNvPr>
          <p:cNvCxnSpPr/>
          <p:nvPr/>
        </p:nvCxnSpPr>
        <p:spPr>
          <a:xfrm>
            <a:off x="7106095" y="238523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68812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2604518"/>
            <a:ext cx="8623005" cy="4093428"/>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%1. What are the current actions</a:t>
            </a:r>
          </a:p>
          <a:p>
            <a:r>
              <a:rPr lang="en-US" sz="2000" dirty="0">
                <a:latin typeface="Consolas" panose="020B0609020204030204" pitchFamily="49" charset="0"/>
                <a:cs typeface="Consolas" panose="020B0609020204030204" pitchFamily="49" charset="0"/>
              </a:rPr>
              <a:t>%  and how good do we believe they are?</a:t>
            </a:r>
          </a:p>
          <a:p>
            <a:r>
              <a:rPr lang="en-US" sz="2000" dirty="0">
                <a:latin typeface="Consolas" panose="020B0609020204030204" pitchFamily="49" charset="0"/>
                <a:cs typeface="Consolas" panose="020B0609020204030204" pitchFamily="49" charset="0"/>
              </a:rPr>
              <a:t>    [U L];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L)]) = [0, 0];</a:t>
            </a:r>
          </a:p>
          <a:p>
            <a:r>
              <a:rPr lang="en-US" sz="2000" dirty="0">
                <a:latin typeface="Consolas" panose="020B0609020204030204" pitchFamily="49" charset="0"/>
                <a:cs typeface="Consolas" panose="020B0609020204030204" pitchFamily="49" charset="0"/>
              </a:rPr>
              <a:t>%2. What action do we take?</a:t>
            </a:r>
          </a:p>
          <a:p>
            <a:r>
              <a:rPr lang="en-US" sz="2000" dirty="0">
                <a:latin typeface="Consolas" panose="020B0609020204030204" pitchFamily="49" charset="0"/>
                <a:cs typeface="Consolas" panose="020B0609020204030204" pitchFamily="49" charset="0"/>
              </a:rPr>
              <a:t>	Random Uniform[0,1] -&gt; 0.14 &lt; 0.9 % Optimal (U,L)</a:t>
            </a:r>
          </a:p>
          <a:p>
            <a:r>
              <a:rPr lang="en-US" sz="2000" dirty="0">
                <a:latin typeface="Consolas" panose="020B0609020204030204" pitchFamily="49" charset="0"/>
                <a:cs typeface="Consolas" panose="020B0609020204030204" pitchFamily="49" charset="0"/>
              </a:rPr>
              <a:t>   %Which one? ceiling(2*Uniform) = ceiling(0.78) = 1 U</a:t>
            </a:r>
          </a:p>
          <a:p>
            <a:r>
              <a:rPr lang="en-US" sz="2000" dirty="0">
                <a:latin typeface="Consolas" panose="020B0609020204030204" pitchFamily="49" charset="0"/>
                <a:cs typeface="Consolas" panose="020B0609020204030204" pitchFamily="49" charset="0"/>
              </a:rPr>
              <a:t>%3. Take action, get feedback, and update Q-value/state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&lt;- [2, 3]; </a:t>
            </a:r>
          </a:p>
          <a:p>
            <a:r>
              <a:rPr lang="en-US" sz="2000" dirty="0">
                <a:latin typeface="Consolas" panose="020B0609020204030204" pitchFamily="49" charset="0"/>
                <a:cs typeface="Consolas" panose="020B0609020204030204" pitchFamily="49" charset="0"/>
              </a:rPr>
              <a:t>	% Max Q-value of states next to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0</a:t>
            </a:r>
          </a:p>
          <a:p>
            <a:r>
              <a:rPr lang="en-US" sz="2000" dirty="0">
                <a:latin typeface="Consolas" panose="020B0609020204030204" pitchFamily="49" charset="0"/>
                <a:cs typeface="Consolas" panose="020B0609020204030204" pitchFamily="49" charset="0"/>
              </a:rPr>
              <a:t>	% Feedback  [-10] (in Garden)</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 </a:t>
            </a:r>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(fb + </a:t>
            </a:r>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a:t>
            </a:r>
            <a:r>
              <a:rPr lang="en-US" sz="2000" dirty="0" err="1">
                <a:latin typeface="Consolas" panose="020B0609020204030204" pitchFamily="49" charset="0"/>
                <a:cs typeface="Consolas" panose="020B0609020204030204" pitchFamily="49" charset="0"/>
              </a:rPr>
              <a:t>maxQNext</a:t>
            </a:r>
            <a:r>
              <a:rPr lang="en-US" sz="2000" dirty="0">
                <a:latin typeface="Consolas" panose="020B0609020204030204" pitchFamily="49" charset="0"/>
                <a:cs typeface="Consolas" panose="020B0609020204030204" pitchFamily="49" charset="0"/>
              </a:rPr>
              <a:t> 											–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 0 + .9*(-10 + .95*0-0) = -9</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X</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[1, 3];</a:t>
            </a:r>
          </a:p>
        </p:txBody>
      </p:sp>
      <p:cxnSp>
        <p:nvCxnSpPr>
          <p:cNvPr id="6" name="Straight Arrow Connector 5">
            <a:extLst>
              <a:ext uri="{FF2B5EF4-FFF2-40B4-BE49-F238E27FC236}">
                <a16:creationId xmlns:a16="http://schemas.microsoft.com/office/drawing/2014/main" id="{36083ADE-EDA3-A245-91A0-3C895B96F069}"/>
              </a:ext>
            </a:extLst>
          </p:cNvPr>
          <p:cNvCxnSpPr/>
          <p:nvPr/>
        </p:nvCxnSpPr>
        <p:spPr>
          <a:xfrm>
            <a:off x="5699051" y="2381693"/>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3EED043D-6D4F-354C-B5BE-1D0D0993DCA5}"/>
              </a:ext>
            </a:extLst>
          </p:cNvPr>
          <p:cNvCxnSpPr/>
          <p:nvPr/>
        </p:nvCxnSpPr>
        <p:spPr>
          <a:xfrm>
            <a:off x="7084830" y="238523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FA301FF9-43E5-2A46-9C3E-247DAB4CDF5E}"/>
              </a:ext>
            </a:extLst>
          </p:cNvPr>
          <p:cNvCxnSpPr>
            <a:cxnSpLocks/>
          </p:cNvCxnSpPr>
          <p:nvPr/>
        </p:nvCxnSpPr>
        <p:spPr>
          <a:xfrm rot="16200000">
            <a:off x="8171447" y="241004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72812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2604518"/>
            <a:ext cx="8623005" cy="4093428"/>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%1. What are the current actions</a:t>
            </a:r>
          </a:p>
          <a:p>
            <a:r>
              <a:rPr lang="en-US" sz="2000" dirty="0">
                <a:latin typeface="Consolas" panose="020B0609020204030204" pitchFamily="49" charset="0"/>
                <a:cs typeface="Consolas" panose="020B0609020204030204" pitchFamily="49" charset="0"/>
              </a:rPr>
              <a:t>%  and how good do we believe they are?</a:t>
            </a:r>
          </a:p>
          <a:p>
            <a:r>
              <a:rPr lang="en-US" sz="2000" dirty="0">
                <a:latin typeface="Consolas" panose="020B0609020204030204" pitchFamily="49" charset="0"/>
                <a:cs typeface="Consolas" panose="020B0609020204030204" pitchFamily="49" charset="0"/>
              </a:rPr>
              <a:t>    [U, D, L];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D, L)]) = [0, 0, 0];</a:t>
            </a:r>
          </a:p>
          <a:p>
            <a:r>
              <a:rPr lang="en-US" sz="2000" dirty="0">
                <a:latin typeface="Consolas" panose="020B0609020204030204" pitchFamily="49" charset="0"/>
                <a:cs typeface="Consolas" panose="020B0609020204030204" pitchFamily="49" charset="0"/>
              </a:rPr>
              <a:t>%2. What action do we take?</a:t>
            </a:r>
          </a:p>
          <a:p>
            <a:r>
              <a:rPr lang="en-US" sz="2000" dirty="0">
                <a:latin typeface="Consolas" panose="020B0609020204030204" pitchFamily="49" charset="0"/>
                <a:cs typeface="Consolas" panose="020B0609020204030204" pitchFamily="49" charset="0"/>
              </a:rPr>
              <a:t>	Random Uniform[0,1] -&gt; 0.42 &lt; 0.9 % Optimal (U, D, L)</a:t>
            </a:r>
          </a:p>
          <a:p>
            <a:r>
              <a:rPr lang="en-US" sz="2000" dirty="0">
                <a:latin typeface="Consolas" panose="020B0609020204030204" pitchFamily="49" charset="0"/>
                <a:cs typeface="Consolas" panose="020B0609020204030204" pitchFamily="49" charset="0"/>
              </a:rPr>
              <a:t>   %Which one? ceiling(3*Uniform) = ceiling(2.11) = 3 %LEFT</a:t>
            </a:r>
          </a:p>
          <a:p>
            <a:r>
              <a:rPr lang="en-US" sz="2000" dirty="0">
                <a:latin typeface="Consolas" panose="020B0609020204030204" pitchFamily="49" charset="0"/>
                <a:cs typeface="Consolas" panose="020B0609020204030204" pitchFamily="49" charset="0"/>
              </a:rPr>
              <a:t>%3. Take action, get feedback, and update Q-value/state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&lt;- [2, 2]; </a:t>
            </a:r>
          </a:p>
          <a:p>
            <a:r>
              <a:rPr lang="en-US" sz="2000" dirty="0">
                <a:latin typeface="Consolas" panose="020B0609020204030204" pitchFamily="49" charset="0"/>
                <a:cs typeface="Consolas" panose="020B0609020204030204" pitchFamily="49" charset="0"/>
              </a:rPr>
              <a:t>	% Max Q-value of states next to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0</a:t>
            </a:r>
          </a:p>
          <a:p>
            <a:r>
              <a:rPr lang="en-US" sz="2000" dirty="0">
                <a:latin typeface="Consolas" panose="020B0609020204030204" pitchFamily="49" charset="0"/>
                <a:cs typeface="Consolas" panose="020B0609020204030204" pitchFamily="49" charset="0"/>
              </a:rPr>
              <a:t>	% Feedback  [-10] (in Garden)</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L]) += </a:t>
            </a:r>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(fb + </a:t>
            </a:r>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a:t>
            </a:r>
            <a:r>
              <a:rPr lang="en-US" sz="2000" dirty="0" err="1">
                <a:latin typeface="Consolas" panose="020B0609020204030204" pitchFamily="49" charset="0"/>
                <a:cs typeface="Consolas" panose="020B0609020204030204" pitchFamily="49" charset="0"/>
              </a:rPr>
              <a:t>maxQNext</a:t>
            </a:r>
            <a:r>
              <a:rPr lang="en-US" sz="2000" dirty="0">
                <a:latin typeface="Consolas" panose="020B0609020204030204" pitchFamily="49" charset="0"/>
                <a:cs typeface="Consolas" panose="020B0609020204030204" pitchFamily="49" charset="0"/>
              </a:rPr>
              <a:t> 											–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L]);</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L) = 0 + .9*(-10 + .95*0-0) = -9</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X</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[2, 3];</a:t>
            </a:r>
          </a:p>
        </p:txBody>
      </p:sp>
      <p:cxnSp>
        <p:nvCxnSpPr>
          <p:cNvPr id="6" name="Straight Arrow Connector 5">
            <a:extLst>
              <a:ext uri="{FF2B5EF4-FFF2-40B4-BE49-F238E27FC236}">
                <a16:creationId xmlns:a16="http://schemas.microsoft.com/office/drawing/2014/main" id="{36083ADE-EDA3-A245-91A0-3C895B96F069}"/>
              </a:ext>
            </a:extLst>
          </p:cNvPr>
          <p:cNvCxnSpPr/>
          <p:nvPr/>
        </p:nvCxnSpPr>
        <p:spPr>
          <a:xfrm>
            <a:off x="5699051" y="2381693"/>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3EED043D-6D4F-354C-B5BE-1D0D0993DCA5}"/>
              </a:ext>
            </a:extLst>
          </p:cNvPr>
          <p:cNvCxnSpPr/>
          <p:nvPr/>
        </p:nvCxnSpPr>
        <p:spPr>
          <a:xfrm>
            <a:off x="7084830" y="238523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5CCB71C5-9633-084C-84C2-81064EFD8A56}"/>
              </a:ext>
            </a:extLst>
          </p:cNvPr>
          <p:cNvCxnSpPr>
            <a:cxnSpLocks/>
          </p:cNvCxnSpPr>
          <p:nvPr/>
        </p:nvCxnSpPr>
        <p:spPr>
          <a:xfrm rot="16200000">
            <a:off x="8109101" y="241004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CE350014-321B-FC41-A88C-D492656A16CE}"/>
              </a:ext>
            </a:extLst>
          </p:cNvPr>
          <p:cNvCxnSpPr>
            <a:cxnSpLocks/>
          </p:cNvCxnSpPr>
          <p:nvPr/>
        </p:nvCxnSpPr>
        <p:spPr>
          <a:xfrm flipH="1">
            <a:off x="7928347" y="158070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61079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2604518"/>
            <a:ext cx="8623005" cy="4093428"/>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%1. What are the current actions</a:t>
            </a:r>
          </a:p>
          <a:p>
            <a:r>
              <a:rPr lang="en-US" sz="2000" dirty="0">
                <a:latin typeface="Consolas" panose="020B0609020204030204" pitchFamily="49" charset="0"/>
                <a:cs typeface="Consolas" panose="020B0609020204030204" pitchFamily="49" charset="0"/>
              </a:rPr>
              <a:t>%  and how good do we believe they are?</a:t>
            </a:r>
          </a:p>
          <a:p>
            <a:r>
              <a:rPr lang="en-US" sz="2000" dirty="0">
                <a:latin typeface="Consolas" panose="020B0609020204030204" pitchFamily="49" charset="0"/>
                <a:cs typeface="Consolas" panose="020B0609020204030204" pitchFamily="49" charset="0"/>
              </a:rPr>
              <a:t>    [U,D,L,R];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(U,D,L,R)]) = [0,0,0,0];</a:t>
            </a:r>
          </a:p>
          <a:p>
            <a:r>
              <a:rPr lang="en-US" sz="2000" dirty="0">
                <a:latin typeface="Consolas" panose="020B0609020204030204" pitchFamily="49" charset="0"/>
                <a:cs typeface="Consolas" panose="020B0609020204030204" pitchFamily="49" charset="0"/>
              </a:rPr>
              <a:t>%2. What action do we take?</a:t>
            </a:r>
          </a:p>
          <a:p>
            <a:r>
              <a:rPr lang="en-US" sz="2000" dirty="0">
                <a:latin typeface="Consolas" panose="020B0609020204030204" pitchFamily="49" charset="0"/>
                <a:cs typeface="Consolas" panose="020B0609020204030204" pitchFamily="49" charset="0"/>
              </a:rPr>
              <a:t>	Random Uniform[0,1] -&gt; 0.96 &lt; 0.9 % SUBOPTIMAL (U,D,L,R)</a:t>
            </a:r>
          </a:p>
          <a:p>
            <a:r>
              <a:rPr lang="en-US" sz="2000" dirty="0">
                <a:latin typeface="Consolas" panose="020B0609020204030204" pitchFamily="49" charset="0"/>
                <a:cs typeface="Consolas" panose="020B0609020204030204" pitchFamily="49" charset="0"/>
              </a:rPr>
              <a:t>   %Which one? ceiling(4*Uniform) = ceiling(1.07) = 2 %D</a:t>
            </a:r>
          </a:p>
          <a:p>
            <a:r>
              <a:rPr lang="en-US" sz="2000" dirty="0">
                <a:latin typeface="Consolas" panose="020B0609020204030204" pitchFamily="49" charset="0"/>
                <a:cs typeface="Consolas" panose="020B0609020204030204" pitchFamily="49" charset="0"/>
              </a:rPr>
              <a:t>%3. Take action, get feedback, and update Q-value/state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&lt;- [1, 2]; </a:t>
            </a:r>
          </a:p>
          <a:p>
            <a:r>
              <a:rPr lang="en-US" sz="2000" dirty="0">
                <a:latin typeface="Consolas" panose="020B0609020204030204" pitchFamily="49" charset="0"/>
                <a:cs typeface="Consolas" panose="020B0609020204030204" pitchFamily="49" charset="0"/>
              </a:rPr>
              <a:t>	% Max Q-value of states next to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0</a:t>
            </a:r>
          </a:p>
          <a:p>
            <a:r>
              <a:rPr lang="en-US" sz="2000" dirty="0">
                <a:latin typeface="Consolas" panose="020B0609020204030204" pitchFamily="49" charset="0"/>
                <a:cs typeface="Consolas" panose="020B0609020204030204" pitchFamily="49" charset="0"/>
              </a:rPr>
              <a:t>	% Feedback  [-10] (in Garden)</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D) += </a:t>
            </a:r>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(fb + </a:t>
            </a:r>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a:t>
            </a:r>
            <a:r>
              <a:rPr lang="en-US" sz="2000" dirty="0" err="1">
                <a:latin typeface="Consolas" panose="020B0609020204030204" pitchFamily="49" charset="0"/>
                <a:cs typeface="Consolas" panose="020B0609020204030204" pitchFamily="49" charset="0"/>
              </a:rPr>
              <a:t>maxQNext</a:t>
            </a:r>
            <a:r>
              <a:rPr lang="en-US" sz="2000" dirty="0">
                <a:latin typeface="Consolas" panose="020B0609020204030204" pitchFamily="49" charset="0"/>
                <a:cs typeface="Consolas" panose="020B0609020204030204" pitchFamily="49" charset="0"/>
              </a:rPr>
              <a:t> 											–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D]);</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D) = 0 + .9*(-10 + .95*0-0) = -9</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X</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[2, 2];</a:t>
            </a:r>
          </a:p>
        </p:txBody>
      </p:sp>
      <p:cxnSp>
        <p:nvCxnSpPr>
          <p:cNvPr id="6" name="Straight Arrow Connector 5">
            <a:extLst>
              <a:ext uri="{FF2B5EF4-FFF2-40B4-BE49-F238E27FC236}">
                <a16:creationId xmlns:a16="http://schemas.microsoft.com/office/drawing/2014/main" id="{36083ADE-EDA3-A245-91A0-3C895B96F069}"/>
              </a:ext>
            </a:extLst>
          </p:cNvPr>
          <p:cNvCxnSpPr/>
          <p:nvPr/>
        </p:nvCxnSpPr>
        <p:spPr>
          <a:xfrm>
            <a:off x="5699051" y="2381693"/>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3EED043D-6D4F-354C-B5BE-1D0D0993DCA5}"/>
              </a:ext>
            </a:extLst>
          </p:cNvPr>
          <p:cNvCxnSpPr/>
          <p:nvPr/>
        </p:nvCxnSpPr>
        <p:spPr>
          <a:xfrm>
            <a:off x="7084830" y="238523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5CCB71C5-9633-084C-84C2-81064EFD8A56}"/>
              </a:ext>
            </a:extLst>
          </p:cNvPr>
          <p:cNvCxnSpPr>
            <a:cxnSpLocks/>
          </p:cNvCxnSpPr>
          <p:nvPr/>
        </p:nvCxnSpPr>
        <p:spPr>
          <a:xfrm rot="16200000">
            <a:off x="8109101" y="241004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CE350014-321B-FC41-A88C-D492656A16CE}"/>
              </a:ext>
            </a:extLst>
          </p:cNvPr>
          <p:cNvCxnSpPr>
            <a:cxnSpLocks/>
          </p:cNvCxnSpPr>
          <p:nvPr/>
        </p:nvCxnSpPr>
        <p:spPr>
          <a:xfrm flipH="1">
            <a:off x="7928347" y="158070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F8AA7ED3-4B31-0548-822B-EACBDFB98793}"/>
              </a:ext>
            </a:extLst>
          </p:cNvPr>
          <p:cNvCxnSpPr>
            <a:cxnSpLocks/>
          </p:cNvCxnSpPr>
          <p:nvPr/>
        </p:nvCxnSpPr>
        <p:spPr>
          <a:xfrm rot="5400000" flipV="1">
            <a:off x="6904077" y="1633872"/>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15837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2604518"/>
            <a:ext cx="8623005" cy="4093428"/>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%1. What are the current actions</a:t>
            </a:r>
          </a:p>
          <a:p>
            <a:r>
              <a:rPr lang="en-US" sz="2000" dirty="0">
                <a:latin typeface="Consolas" panose="020B0609020204030204" pitchFamily="49" charset="0"/>
                <a:cs typeface="Consolas" panose="020B0609020204030204" pitchFamily="49" charset="0"/>
              </a:rPr>
              <a:t>%  and how good do we believe they are?</a:t>
            </a:r>
          </a:p>
          <a:p>
            <a:r>
              <a:rPr lang="en-US" sz="2000" dirty="0">
                <a:latin typeface="Consolas" panose="020B0609020204030204" pitchFamily="49" charset="0"/>
                <a:cs typeface="Consolas" panose="020B0609020204030204" pitchFamily="49" charset="0"/>
              </a:rPr>
              <a:t>    [U,L,R];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(U,L,R)]) = [0,0,-9];</a:t>
            </a:r>
          </a:p>
          <a:p>
            <a:r>
              <a:rPr lang="en-US" sz="2000" dirty="0">
                <a:latin typeface="Consolas" panose="020B0609020204030204" pitchFamily="49" charset="0"/>
                <a:cs typeface="Consolas" panose="020B0609020204030204" pitchFamily="49" charset="0"/>
              </a:rPr>
              <a:t>%2. What action do we take?</a:t>
            </a:r>
          </a:p>
          <a:p>
            <a:r>
              <a:rPr lang="en-US" sz="2000" dirty="0">
                <a:latin typeface="Consolas" panose="020B0609020204030204" pitchFamily="49" charset="0"/>
                <a:cs typeface="Consolas" panose="020B0609020204030204" pitchFamily="49" charset="0"/>
              </a:rPr>
              <a:t>	Random Uniform[0,1] -&gt; 0.05 &lt; 0.9 % OPTIMAL (U,L)</a:t>
            </a:r>
          </a:p>
          <a:p>
            <a:r>
              <a:rPr lang="en-US" sz="2000" dirty="0">
                <a:latin typeface="Consolas" panose="020B0609020204030204" pitchFamily="49" charset="0"/>
                <a:cs typeface="Consolas" panose="020B0609020204030204" pitchFamily="49" charset="0"/>
              </a:rPr>
              <a:t>   %Which one? ceiling(3*Uniform) = ceiling(0.19) = 1 %U</a:t>
            </a:r>
          </a:p>
          <a:p>
            <a:r>
              <a:rPr lang="en-US" sz="2000" dirty="0">
                <a:latin typeface="Consolas" panose="020B0609020204030204" pitchFamily="49" charset="0"/>
                <a:cs typeface="Consolas" panose="020B0609020204030204" pitchFamily="49" charset="0"/>
              </a:rPr>
              <a:t>%3. Take action, get feedback, and update Q-value/state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&lt;- [2, 2]; </a:t>
            </a:r>
          </a:p>
          <a:p>
            <a:r>
              <a:rPr lang="en-US" sz="2000" dirty="0">
                <a:latin typeface="Consolas" panose="020B0609020204030204" pitchFamily="49" charset="0"/>
                <a:cs typeface="Consolas" panose="020B0609020204030204" pitchFamily="49" charset="0"/>
              </a:rPr>
              <a:t>	% Max Q-value of states next to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0</a:t>
            </a:r>
          </a:p>
          <a:p>
            <a:r>
              <a:rPr lang="en-US" sz="2000" dirty="0">
                <a:latin typeface="Consolas" panose="020B0609020204030204" pitchFamily="49" charset="0"/>
                <a:cs typeface="Consolas" panose="020B0609020204030204" pitchFamily="49" charset="0"/>
              </a:rPr>
              <a:t>	% Feedback  [-10] (in Garden)</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 </a:t>
            </a:r>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(fb + </a:t>
            </a:r>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a:t>
            </a:r>
            <a:r>
              <a:rPr lang="en-US" sz="2000" dirty="0" err="1">
                <a:latin typeface="Consolas" panose="020B0609020204030204" pitchFamily="49" charset="0"/>
                <a:cs typeface="Consolas" panose="020B0609020204030204" pitchFamily="49" charset="0"/>
              </a:rPr>
              <a:t>maxQNext</a:t>
            </a:r>
            <a:r>
              <a:rPr lang="en-US" sz="2000" dirty="0">
                <a:latin typeface="Consolas" panose="020B0609020204030204" pitchFamily="49" charset="0"/>
                <a:cs typeface="Consolas" panose="020B0609020204030204" pitchFamily="49" charset="0"/>
              </a:rPr>
              <a:t> 											–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 0 + .9*(-10 + .95*0-0) = -9</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X</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[1, 2];</a:t>
            </a:r>
          </a:p>
        </p:txBody>
      </p:sp>
      <p:cxnSp>
        <p:nvCxnSpPr>
          <p:cNvPr id="6" name="Straight Arrow Connector 5">
            <a:extLst>
              <a:ext uri="{FF2B5EF4-FFF2-40B4-BE49-F238E27FC236}">
                <a16:creationId xmlns:a16="http://schemas.microsoft.com/office/drawing/2014/main" id="{36083ADE-EDA3-A245-91A0-3C895B96F069}"/>
              </a:ext>
            </a:extLst>
          </p:cNvPr>
          <p:cNvCxnSpPr/>
          <p:nvPr/>
        </p:nvCxnSpPr>
        <p:spPr>
          <a:xfrm>
            <a:off x="5699051" y="2381693"/>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3EED043D-6D4F-354C-B5BE-1D0D0993DCA5}"/>
              </a:ext>
            </a:extLst>
          </p:cNvPr>
          <p:cNvCxnSpPr/>
          <p:nvPr/>
        </p:nvCxnSpPr>
        <p:spPr>
          <a:xfrm>
            <a:off x="7084830" y="238523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5CCB71C5-9633-084C-84C2-81064EFD8A56}"/>
              </a:ext>
            </a:extLst>
          </p:cNvPr>
          <p:cNvCxnSpPr>
            <a:cxnSpLocks/>
          </p:cNvCxnSpPr>
          <p:nvPr/>
        </p:nvCxnSpPr>
        <p:spPr>
          <a:xfrm rot="16200000">
            <a:off x="8109101" y="241004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CE350014-321B-FC41-A88C-D492656A16CE}"/>
              </a:ext>
            </a:extLst>
          </p:cNvPr>
          <p:cNvCxnSpPr>
            <a:cxnSpLocks/>
          </p:cNvCxnSpPr>
          <p:nvPr/>
        </p:nvCxnSpPr>
        <p:spPr>
          <a:xfrm flipH="1">
            <a:off x="7928347" y="158070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F8AA7ED3-4B31-0548-822B-EACBDFB98793}"/>
              </a:ext>
            </a:extLst>
          </p:cNvPr>
          <p:cNvCxnSpPr>
            <a:cxnSpLocks/>
          </p:cNvCxnSpPr>
          <p:nvPr/>
        </p:nvCxnSpPr>
        <p:spPr>
          <a:xfrm rot="5400000" flipV="1">
            <a:off x="6904077" y="1633872"/>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174D03A9-E40D-9E4C-B073-11804CBE87D9}"/>
              </a:ext>
            </a:extLst>
          </p:cNvPr>
          <p:cNvCxnSpPr>
            <a:cxnSpLocks/>
          </p:cNvCxnSpPr>
          <p:nvPr/>
        </p:nvCxnSpPr>
        <p:spPr>
          <a:xfrm rot="16200000">
            <a:off x="6645353" y="2381692"/>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47415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2604518"/>
            <a:ext cx="8623005" cy="4093428"/>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%1. What are the current actions</a:t>
            </a:r>
          </a:p>
          <a:p>
            <a:r>
              <a:rPr lang="en-US" sz="2000" dirty="0">
                <a:latin typeface="Consolas" panose="020B0609020204030204" pitchFamily="49" charset="0"/>
                <a:cs typeface="Consolas" panose="020B0609020204030204" pitchFamily="49" charset="0"/>
              </a:rPr>
              <a:t>%  and how good do we believe they are?</a:t>
            </a:r>
          </a:p>
          <a:p>
            <a:r>
              <a:rPr lang="en-US" sz="2000" dirty="0">
                <a:latin typeface="Consolas" panose="020B0609020204030204" pitchFamily="49" charset="0"/>
                <a:cs typeface="Consolas" panose="020B0609020204030204" pitchFamily="49" charset="0"/>
              </a:rPr>
              <a:t>    [U,D,L,R];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(U,D,L,R)]) = [0,-9,0,0];</a:t>
            </a:r>
          </a:p>
          <a:p>
            <a:r>
              <a:rPr lang="en-US" sz="2000" dirty="0">
                <a:latin typeface="Consolas" panose="020B0609020204030204" pitchFamily="49" charset="0"/>
                <a:cs typeface="Consolas" panose="020B0609020204030204" pitchFamily="49" charset="0"/>
              </a:rPr>
              <a:t>%2. What action do we take?</a:t>
            </a:r>
          </a:p>
          <a:p>
            <a:r>
              <a:rPr lang="en-US" sz="2000" dirty="0">
                <a:latin typeface="Consolas" panose="020B0609020204030204" pitchFamily="49" charset="0"/>
                <a:cs typeface="Consolas" panose="020B0609020204030204" pitchFamily="49" charset="0"/>
              </a:rPr>
              <a:t>	Random Uniform[0,1] -&gt; 0.82 &lt; 0.9 % OPTIMAL (U,L,R)</a:t>
            </a:r>
          </a:p>
          <a:p>
            <a:r>
              <a:rPr lang="en-US" sz="2000" dirty="0">
                <a:latin typeface="Consolas" panose="020B0609020204030204" pitchFamily="49" charset="0"/>
                <a:cs typeface="Consolas" panose="020B0609020204030204" pitchFamily="49" charset="0"/>
              </a:rPr>
              <a:t>   %Which one? ceiling(3*Uniform) = ceiling(0.79) = 1 %U</a:t>
            </a:r>
          </a:p>
          <a:p>
            <a:r>
              <a:rPr lang="en-US" sz="2000" dirty="0">
                <a:latin typeface="Consolas" panose="020B0609020204030204" pitchFamily="49" charset="0"/>
                <a:cs typeface="Consolas" panose="020B0609020204030204" pitchFamily="49" charset="0"/>
              </a:rPr>
              <a:t>%3. Take action, get feedback, and update Q-value/state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&lt;- [3, 2]; </a:t>
            </a:r>
          </a:p>
          <a:p>
            <a:r>
              <a:rPr lang="en-US" sz="2000" dirty="0">
                <a:latin typeface="Consolas" panose="020B0609020204030204" pitchFamily="49" charset="0"/>
                <a:cs typeface="Consolas" panose="020B0609020204030204" pitchFamily="49" charset="0"/>
              </a:rPr>
              <a:t>	% Max Q-value of states next to </a:t>
            </a:r>
            <a:r>
              <a:rPr lang="en-US" sz="2000" dirty="0" err="1">
                <a:latin typeface="Consolas" panose="020B0609020204030204" pitchFamily="49" charset="0"/>
                <a:cs typeface="Consolas" panose="020B0609020204030204" pitchFamily="49" charset="0"/>
              </a:rPr>
              <a:t>new_state</a:t>
            </a:r>
            <a:r>
              <a:rPr lang="en-US" sz="2000" dirty="0">
                <a:latin typeface="Consolas" panose="020B0609020204030204" pitchFamily="49" charset="0"/>
                <a:cs typeface="Consolas" panose="020B0609020204030204" pitchFamily="49" charset="0"/>
              </a:rPr>
              <a:t>?    0</a:t>
            </a:r>
          </a:p>
          <a:p>
            <a:r>
              <a:rPr lang="en-US" sz="2000" dirty="0">
                <a:latin typeface="Consolas" panose="020B0609020204030204" pitchFamily="49" charset="0"/>
                <a:cs typeface="Consolas" panose="020B0609020204030204" pitchFamily="49" charset="0"/>
              </a:rPr>
              <a:t>	% Feedback  [+10] (onto Path)</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 </a:t>
            </a:r>
            <a:r>
              <a:rPr lang="en-US" sz="2000" dirty="0" err="1">
                <a:latin typeface="Consolas" panose="020B0609020204030204" pitchFamily="49" charset="0"/>
                <a:cs typeface="Consolas" panose="020B0609020204030204" pitchFamily="49" charset="0"/>
              </a:rPr>
              <a:t>learnRate</a:t>
            </a:r>
            <a:r>
              <a:rPr lang="en-US" sz="2000" dirty="0">
                <a:latin typeface="Consolas" panose="020B0609020204030204" pitchFamily="49" charset="0"/>
                <a:cs typeface="Consolas" panose="020B0609020204030204" pitchFamily="49" charset="0"/>
              </a:rPr>
              <a:t> * (fb + </a:t>
            </a:r>
            <a:r>
              <a:rPr lang="en-US" sz="2000" dirty="0" err="1">
                <a:latin typeface="Consolas" panose="020B0609020204030204" pitchFamily="49" charset="0"/>
                <a:cs typeface="Consolas" panose="020B0609020204030204" pitchFamily="49" charset="0"/>
              </a:rPr>
              <a:t>discRate</a:t>
            </a:r>
            <a:r>
              <a:rPr lang="en-US" sz="2000" dirty="0">
                <a:latin typeface="Consolas" panose="020B0609020204030204" pitchFamily="49" charset="0"/>
                <a:cs typeface="Consolas" panose="020B0609020204030204" pitchFamily="49" charset="0"/>
              </a:rPr>
              <a:t> * </a:t>
            </a:r>
            <a:r>
              <a:rPr lang="en-US" sz="2000" dirty="0" err="1">
                <a:latin typeface="Consolas" panose="020B0609020204030204" pitchFamily="49" charset="0"/>
                <a:cs typeface="Consolas" panose="020B0609020204030204" pitchFamily="49" charset="0"/>
              </a:rPr>
              <a:t>maxQNext</a:t>
            </a:r>
            <a:r>
              <a:rPr lang="en-US" sz="2000" dirty="0">
                <a:latin typeface="Consolas" panose="020B0609020204030204" pitchFamily="49" charset="0"/>
                <a:cs typeface="Consolas" panose="020B0609020204030204" pitchFamily="49" charset="0"/>
              </a:rPr>
              <a:t> 											– 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a:t>
            </a:r>
          </a:p>
          <a:p>
            <a:r>
              <a:rPr lang="en-US" sz="2000" dirty="0">
                <a:latin typeface="Consolas" panose="020B0609020204030204" pitchFamily="49" charset="0"/>
                <a:cs typeface="Consolas" panose="020B0609020204030204" pitchFamily="49" charset="0"/>
              </a:rPr>
              <a:t>Q([</a:t>
            </a:r>
            <a:r>
              <a:rPr lang="en-US" sz="2000" dirty="0" err="1">
                <a:latin typeface="Consolas" panose="020B0609020204030204" pitchFamily="49" charset="0"/>
                <a:cs typeface="Consolas" panose="020B0609020204030204" pitchFamily="49" charset="0"/>
              </a:rPr>
              <a:t>cur_state</a:t>
            </a:r>
            <a:r>
              <a:rPr lang="en-US" sz="2000" dirty="0">
                <a:latin typeface="Consolas" panose="020B0609020204030204" pitchFamily="49" charset="0"/>
                <a:cs typeface="Consolas" panose="020B0609020204030204" pitchFamily="49" charset="0"/>
              </a:rPr>
              <a:t>, U) = 0 + .9*(-10 + .95*0-0) = 9</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X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[2, 2];</a:t>
            </a:r>
          </a:p>
        </p:txBody>
      </p:sp>
      <p:cxnSp>
        <p:nvCxnSpPr>
          <p:cNvPr id="6" name="Straight Arrow Connector 5">
            <a:extLst>
              <a:ext uri="{FF2B5EF4-FFF2-40B4-BE49-F238E27FC236}">
                <a16:creationId xmlns:a16="http://schemas.microsoft.com/office/drawing/2014/main" id="{36083ADE-EDA3-A245-91A0-3C895B96F069}"/>
              </a:ext>
            </a:extLst>
          </p:cNvPr>
          <p:cNvCxnSpPr/>
          <p:nvPr/>
        </p:nvCxnSpPr>
        <p:spPr>
          <a:xfrm>
            <a:off x="5699051" y="2381693"/>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3EED043D-6D4F-354C-B5BE-1D0D0993DCA5}"/>
              </a:ext>
            </a:extLst>
          </p:cNvPr>
          <p:cNvCxnSpPr/>
          <p:nvPr/>
        </p:nvCxnSpPr>
        <p:spPr>
          <a:xfrm>
            <a:off x="7084830" y="238523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5CCB71C5-9633-084C-84C2-81064EFD8A56}"/>
              </a:ext>
            </a:extLst>
          </p:cNvPr>
          <p:cNvCxnSpPr>
            <a:cxnSpLocks/>
          </p:cNvCxnSpPr>
          <p:nvPr/>
        </p:nvCxnSpPr>
        <p:spPr>
          <a:xfrm rot="16200000">
            <a:off x="8109101" y="241004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CE350014-321B-FC41-A88C-D492656A16CE}"/>
              </a:ext>
            </a:extLst>
          </p:cNvPr>
          <p:cNvCxnSpPr>
            <a:cxnSpLocks/>
          </p:cNvCxnSpPr>
          <p:nvPr/>
        </p:nvCxnSpPr>
        <p:spPr>
          <a:xfrm flipH="1">
            <a:off x="7928347" y="158070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F8AA7ED3-4B31-0548-822B-EACBDFB98793}"/>
              </a:ext>
            </a:extLst>
          </p:cNvPr>
          <p:cNvCxnSpPr>
            <a:cxnSpLocks/>
          </p:cNvCxnSpPr>
          <p:nvPr/>
        </p:nvCxnSpPr>
        <p:spPr>
          <a:xfrm rot="5400000" flipV="1">
            <a:off x="6904077" y="1633872"/>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174D03A9-E40D-9E4C-B073-11804CBE87D9}"/>
              </a:ext>
            </a:extLst>
          </p:cNvPr>
          <p:cNvCxnSpPr>
            <a:cxnSpLocks/>
          </p:cNvCxnSpPr>
          <p:nvPr/>
        </p:nvCxnSpPr>
        <p:spPr>
          <a:xfrm rot="16200000">
            <a:off x="6645353" y="2381692"/>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A1B6DF4A-B1D4-6F43-AE78-6AF275908FA5}"/>
              </a:ext>
            </a:extLst>
          </p:cNvPr>
          <p:cNvCxnSpPr>
            <a:cxnSpLocks/>
          </p:cNvCxnSpPr>
          <p:nvPr/>
        </p:nvCxnSpPr>
        <p:spPr>
          <a:xfrm rot="16200000">
            <a:off x="6457512" y="1453117"/>
            <a:ext cx="361507" cy="0"/>
          </a:xfrm>
          <a:prstGeom prst="straightConnector1">
            <a:avLst/>
          </a:prstGeom>
          <a:ln w="38100">
            <a:solidFill>
              <a:srgbClr val="0070C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2832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47F104-A833-7A48-BCEA-60721085D3BC}"/>
              </a:ext>
            </a:extLst>
          </p:cNvPr>
          <p:cNvSpPr txBox="1"/>
          <p:nvPr/>
        </p:nvSpPr>
        <p:spPr>
          <a:xfrm>
            <a:off x="0" y="3429000"/>
            <a:ext cx="8623005" cy="400110"/>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And so on...</a:t>
            </a:r>
          </a:p>
        </p:txBody>
      </p:sp>
      <p:graphicFrame>
        <p:nvGraphicFramePr>
          <p:cNvPr id="5" name="Table 4">
            <a:extLst>
              <a:ext uri="{FF2B5EF4-FFF2-40B4-BE49-F238E27FC236}">
                <a16:creationId xmlns:a16="http://schemas.microsoft.com/office/drawing/2014/main" id="{3AB232E5-5ACB-7A42-ABB3-797EF1ECE2F9}"/>
              </a:ext>
            </a:extLst>
          </p:cNvPr>
          <p:cNvGraphicFramePr>
            <a:graphicFrameLocks noGrp="1"/>
          </p:cNvGraphicFramePr>
          <p:nvPr/>
        </p:nvGraphicFramePr>
        <p:xfrm>
          <a:off x="5107171" y="78564"/>
          <a:ext cx="3834810" cy="2738604"/>
        </p:xfrm>
        <a:graphic>
          <a:graphicData uri="http://schemas.openxmlformats.org/drawingml/2006/table">
            <a:tbl>
              <a:tblPr firstRow="1" bandRow="1">
                <a:tableStyleId>{5940675A-B579-460E-94D1-54222C63F5DA}</a:tableStyleId>
              </a:tblPr>
              <a:tblGrid>
                <a:gridCol w="1278270">
                  <a:extLst>
                    <a:ext uri="{9D8B030D-6E8A-4147-A177-3AD203B41FA5}">
                      <a16:colId xmlns:a16="http://schemas.microsoft.com/office/drawing/2014/main" val="2086874292"/>
                    </a:ext>
                  </a:extLst>
                </a:gridCol>
                <a:gridCol w="1278270">
                  <a:extLst>
                    <a:ext uri="{9D8B030D-6E8A-4147-A177-3AD203B41FA5}">
                      <a16:colId xmlns:a16="http://schemas.microsoft.com/office/drawing/2014/main" val="2504115670"/>
                    </a:ext>
                  </a:extLst>
                </a:gridCol>
                <a:gridCol w="1278270">
                  <a:extLst>
                    <a:ext uri="{9D8B030D-6E8A-4147-A177-3AD203B41FA5}">
                      <a16:colId xmlns:a16="http://schemas.microsoft.com/office/drawing/2014/main" val="3733240366"/>
                    </a:ext>
                  </a:extLst>
                </a:gridCol>
              </a:tblGrid>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Path</a:t>
                      </a:r>
                    </a:p>
                    <a:p>
                      <a:pPr algn="ctr"/>
                      <a:r>
                        <a:rPr lang="en-US" dirty="0"/>
                        <a:t>X</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2000" b="1" dirty="0"/>
                        <a:t>Goal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080943"/>
                  </a:ext>
                </a:extLst>
              </a:tr>
              <a:tr h="912868">
                <a:tc>
                  <a:txBody>
                    <a:bodyPr/>
                    <a:lstStyle/>
                    <a:p>
                      <a:r>
                        <a:rPr lang="en-US" dirty="0"/>
                        <a:t>Path</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X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267462"/>
                  </a:ext>
                </a:extLst>
              </a:tr>
              <a:tr h="912868">
                <a:tc>
                  <a:txBody>
                    <a:bodyPr/>
                    <a:lstStyle/>
                    <a:p>
                      <a:r>
                        <a:rPr lang="en-US" dirty="0"/>
                        <a:t>    </a:t>
                      </a:r>
                      <a:r>
                        <a:rPr lang="en-US" sz="2000" b="1" dirty="0"/>
                        <a:t>Start</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dirty="0"/>
                        <a:t>Garden</a:t>
                      </a:r>
                    </a:p>
                    <a:p>
                      <a:r>
                        <a:rPr lang="en-US" dirty="0"/>
                        <a:t>        </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616"/>
                  </a:ext>
                </a:extLst>
              </a:tr>
            </a:tbl>
          </a:graphicData>
        </a:graphic>
      </p:graphicFrame>
      <p:sp>
        <p:nvSpPr>
          <p:cNvPr id="2" name="Rectangle 1">
            <a:extLst>
              <a:ext uri="{FF2B5EF4-FFF2-40B4-BE49-F238E27FC236}">
                <a16:creationId xmlns:a16="http://schemas.microsoft.com/office/drawing/2014/main" id="{06D0CDC4-DA5B-434B-849A-9FB694021E6B}"/>
              </a:ext>
            </a:extLst>
          </p:cNvPr>
          <p:cNvSpPr/>
          <p:nvPr/>
        </p:nvSpPr>
        <p:spPr>
          <a:xfrm>
            <a:off x="202019" y="794952"/>
            <a:ext cx="4572000" cy="1200329"/>
          </a:xfrm>
          <a:prstGeom prst="rect">
            <a:avLst/>
          </a:prstGeom>
        </p:spPr>
        <p:txBody>
          <a:bodyPr>
            <a:spAutoFit/>
          </a:bodyPr>
          <a:lstStyle/>
          <a:p>
            <a:r>
              <a:rPr lang="en-US" dirty="0" err="1">
                <a:latin typeface="Consolas" panose="020B0609020204030204" pitchFamily="49" charset="0"/>
                <a:cs typeface="Consolas" panose="020B0609020204030204" pitchFamily="49" charset="0"/>
              </a:rPr>
              <a:t>discRate</a:t>
            </a:r>
            <a:r>
              <a:rPr lang="en-US" dirty="0">
                <a:latin typeface="Consolas" panose="020B0609020204030204" pitchFamily="49" charset="0"/>
                <a:cs typeface="Consolas" panose="020B0609020204030204" pitchFamily="49" charset="0"/>
              </a:rPr>
              <a:t> = 0.95;  % (gamma)</a:t>
            </a:r>
          </a:p>
          <a:p>
            <a:r>
              <a:rPr lang="en-US" dirty="0" err="1">
                <a:latin typeface="Consolas" panose="020B0609020204030204" pitchFamily="49" charset="0"/>
                <a:cs typeface="Consolas" panose="020B0609020204030204" pitchFamily="49" charset="0"/>
              </a:rPr>
              <a:t>learnRate</a:t>
            </a:r>
            <a:r>
              <a:rPr lang="en-US" dirty="0">
                <a:latin typeface="Consolas" panose="020B0609020204030204" pitchFamily="49" charset="0"/>
                <a:cs typeface="Consolas" panose="020B0609020204030204" pitchFamily="49" charset="0"/>
              </a:rPr>
              <a:t> = 0.9;  % (alpha)</a:t>
            </a:r>
          </a:p>
          <a:p>
            <a:r>
              <a:rPr lang="en-US" dirty="0" err="1">
                <a:latin typeface="Consolas" panose="020B0609020204030204" pitchFamily="49" charset="0"/>
                <a:cs typeface="Consolas" panose="020B0609020204030204" pitchFamily="49" charset="0"/>
              </a:rPr>
              <a:t>randActProb</a:t>
            </a:r>
            <a:r>
              <a:rPr lang="en-US" dirty="0">
                <a:latin typeface="Consolas" panose="020B0609020204030204" pitchFamily="49" charset="0"/>
                <a:cs typeface="Consolas" panose="020B0609020204030204" pitchFamily="49" charset="0"/>
              </a:rPr>
              <a:t> = 0.1;  % epsilon</a:t>
            </a:r>
          </a:p>
          <a:p>
            <a:r>
              <a:rPr lang="en-US" dirty="0" err="1">
                <a:latin typeface="Consolas" panose="020B0609020204030204" pitchFamily="49" charset="0"/>
                <a:cs typeface="Consolas" panose="020B0609020204030204" pitchFamily="49" charset="0"/>
              </a:rPr>
              <a:t>cur_state</a:t>
            </a:r>
            <a:r>
              <a:rPr lang="en-US" dirty="0">
                <a:latin typeface="Consolas" panose="020B0609020204030204" pitchFamily="49" charset="0"/>
                <a:cs typeface="Consolas" panose="020B0609020204030204" pitchFamily="49" charset="0"/>
              </a:rPr>
              <a:t> = [3, 2];</a:t>
            </a:r>
          </a:p>
        </p:txBody>
      </p:sp>
      <p:cxnSp>
        <p:nvCxnSpPr>
          <p:cNvPr id="6" name="Straight Arrow Connector 5">
            <a:extLst>
              <a:ext uri="{FF2B5EF4-FFF2-40B4-BE49-F238E27FC236}">
                <a16:creationId xmlns:a16="http://schemas.microsoft.com/office/drawing/2014/main" id="{36083ADE-EDA3-A245-91A0-3C895B96F069}"/>
              </a:ext>
            </a:extLst>
          </p:cNvPr>
          <p:cNvCxnSpPr/>
          <p:nvPr/>
        </p:nvCxnSpPr>
        <p:spPr>
          <a:xfrm>
            <a:off x="5699051" y="2381693"/>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3EED043D-6D4F-354C-B5BE-1D0D0993DCA5}"/>
              </a:ext>
            </a:extLst>
          </p:cNvPr>
          <p:cNvCxnSpPr/>
          <p:nvPr/>
        </p:nvCxnSpPr>
        <p:spPr>
          <a:xfrm>
            <a:off x="7084830" y="238523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5CCB71C5-9633-084C-84C2-81064EFD8A56}"/>
              </a:ext>
            </a:extLst>
          </p:cNvPr>
          <p:cNvCxnSpPr>
            <a:cxnSpLocks/>
          </p:cNvCxnSpPr>
          <p:nvPr/>
        </p:nvCxnSpPr>
        <p:spPr>
          <a:xfrm rot="16200000">
            <a:off x="8109101" y="241004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CE350014-321B-FC41-A88C-D492656A16CE}"/>
              </a:ext>
            </a:extLst>
          </p:cNvPr>
          <p:cNvCxnSpPr>
            <a:cxnSpLocks/>
          </p:cNvCxnSpPr>
          <p:nvPr/>
        </p:nvCxnSpPr>
        <p:spPr>
          <a:xfrm flipH="1">
            <a:off x="7928347" y="1580708"/>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F8AA7ED3-4B31-0548-822B-EACBDFB98793}"/>
              </a:ext>
            </a:extLst>
          </p:cNvPr>
          <p:cNvCxnSpPr>
            <a:cxnSpLocks/>
          </p:cNvCxnSpPr>
          <p:nvPr/>
        </p:nvCxnSpPr>
        <p:spPr>
          <a:xfrm rot="5400000" flipV="1">
            <a:off x="6904077" y="1633872"/>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174D03A9-E40D-9E4C-B073-11804CBE87D9}"/>
              </a:ext>
            </a:extLst>
          </p:cNvPr>
          <p:cNvCxnSpPr>
            <a:cxnSpLocks/>
          </p:cNvCxnSpPr>
          <p:nvPr/>
        </p:nvCxnSpPr>
        <p:spPr>
          <a:xfrm rot="16200000">
            <a:off x="6645353" y="2381692"/>
            <a:ext cx="361507" cy="0"/>
          </a:xfrm>
          <a:prstGeom prst="straightConnector1">
            <a:avLst/>
          </a:prstGeom>
          <a:ln w="38100">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A1B6DF4A-B1D4-6F43-AE78-6AF275908FA5}"/>
              </a:ext>
            </a:extLst>
          </p:cNvPr>
          <p:cNvCxnSpPr>
            <a:cxnSpLocks/>
          </p:cNvCxnSpPr>
          <p:nvPr/>
        </p:nvCxnSpPr>
        <p:spPr>
          <a:xfrm rot="16200000">
            <a:off x="6457512" y="1453117"/>
            <a:ext cx="361507" cy="0"/>
          </a:xfrm>
          <a:prstGeom prst="straightConnector1">
            <a:avLst/>
          </a:prstGeom>
          <a:ln w="38100">
            <a:solidFill>
              <a:srgbClr val="0070C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700412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1"/>
          <p:cNvSpPr>
            <a:spLocks noGrp="1"/>
          </p:cNvSpPr>
          <p:nvPr>
            <p:ph type="title"/>
          </p:nvPr>
        </p:nvSpPr>
        <p:spPr>
          <a:xfrm>
            <a:off x="0" y="13373"/>
            <a:ext cx="9144000" cy="815470"/>
          </a:xfrm>
        </p:spPr>
        <p:txBody>
          <a:bodyPr>
            <a:normAutofit/>
          </a:bodyPr>
          <a:lstStyle/>
          <a:p>
            <a:pPr algn="l"/>
            <a:r>
              <a:rPr lang="en-US" b="1" dirty="0"/>
              <a:t>Reinforcement Learning</a:t>
            </a:r>
          </a:p>
        </p:txBody>
      </p:sp>
      <p:pic>
        <p:nvPicPr>
          <p:cNvPr id="47" name="Pictur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095" y="1007097"/>
            <a:ext cx="8204200" cy="647700"/>
          </a:xfrm>
          <a:prstGeom prst="rect">
            <a:avLst/>
          </a:prstGeom>
        </p:spPr>
      </p:pic>
      <p:sp>
        <p:nvSpPr>
          <p:cNvPr id="49" name="TextBox 48"/>
          <p:cNvSpPr txBox="1"/>
          <p:nvPr/>
        </p:nvSpPr>
        <p:spPr>
          <a:xfrm>
            <a:off x="153736" y="1785753"/>
            <a:ext cx="8836527" cy="4832092"/>
          </a:xfrm>
          <a:prstGeom prst="rect">
            <a:avLst/>
          </a:prstGeom>
          <a:noFill/>
        </p:spPr>
        <p:txBody>
          <a:bodyPr wrap="square" rtlCol="0">
            <a:spAutoFit/>
          </a:bodyPr>
          <a:lstStyle/>
          <a:p>
            <a:r>
              <a:rPr lang="en-US" sz="2800" dirty="0">
                <a:latin typeface="Calibri"/>
                <a:cs typeface="Calibri"/>
              </a:rPr>
              <a:t>Q-learning updates taking action that gives largest expected value according to current estimates. </a:t>
            </a:r>
          </a:p>
          <a:p>
            <a:r>
              <a:rPr lang="en-US" sz="2800" dirty="0">
                <a:latin typeface="Calibri"/>
                <a:cs typeface="Calibri"/>
              </a:rPr>
              <a:t>	Lots of variants -&gt; lots of similar, but slightly different RL 	methods (e.g., SARSA).</a:t>
            </a:r>
          </a:p>
          <a:p>
            <a:endParaRPr lang="en-US" sz="2800" dirty="0">
              <a:latin typeface="Calibri"/>
              <a:cs typeface="Calibri"/>
            </a:endParaRPr>
          </a:p>
          <a:p>
            <a:r>
              <a:rPr lang="en-US" sz="2800" dirty="0">
                <a:latin typeface="Calibri"/>
                <a:cs typeface="Calibri"/>
              </a:rPr>
              <a:t>“Model-free” because we do not propagate updates throughout the state space. </a:t>
            </a:r>
          </a:p>
          <a:p>
            <a:endParaRPr lang="en-US" sz="2800" dirty="0">
              <a:latin typeface="Calibri"/>
              <a:cs typeface="Calibri"/>
            </a:endParaRPr>
          </a:p>
          <a:p>
            <a:r>
              <a:rPr lang="en-US" sz="2800" dirty="0">
                <a:latin typeface="Calibri"/>
                <a:cs typeface="Calibri"/>
              </a:rPr>
              <a:t>“Model-based” methods propagates reward signals beyond the immediate state based on what states can get to the immediate state in one (two, three, etc.) step(s).</a:t>
            </a:r>
          </a:p>
        </p:txBody>
      </p:sp>
    </p:spTree>
    <p:extLst>
      <p:ext uri="{BB962C8B-B14F-4D97-AF65-F5344CB8AC3E}">
        <p14:creationId xmlns:p14="http://schemas.microsoft.com/office/powerpoint/2010/main" val="163778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1"/>
          <p:cNvSpPr>
            <a:spLocks noGrp="1"/>
          </p:cNvSpPr>
          <p:nvPr>
            <p:ph type="title"/>
          </p:nvPr>
        </p:nvSpPr>
        <p:spPr>
          <a:xfrm>
            <a:off x="0" y="13373"/>
            <a:ext cx="9144000" cy="815470"/>
          </a:xfrm>
        </p:spPr>
        <p:txBody>
          <a:bodyPr>
            <a:normAutofit/>
          </a:bodyPr>
          <a:lstStyle/>
          <a:p>
            <a:pPr algn="l"/>
            <a:r>
              <a:rPr lang="en-US" b="1" dirty="0"/>
              <a:t>Reinforcement Learning</a:t>
            </a:r>
          </a:p>
        </p:txBody>
      </p:sp>
      <p:sp>
        <p:nvSpPr>
          <p:cNvPr id="49" name="TextBox 48"/>
          <p:cNvSpPr txBox="1"/>
          <p:nvPr/>
        </p:nvSpPr>
        <p:spPr>
          <a:xfrm>
            <a:off x="153736" y="902883"/>
            <a:ext cx="8836527" cy="6124754"/>
          </a:xfrm>
          <a:prstGeom prst="rect">
            <a:avLst/>
          </a:prstGeom>
          <a:noFill/>
        </p:spPr>
        <p:txBody>
          <a:bodyPr wrap="square" rtlCol="0">
            <a:spAutoFit/>
          </a:bodyPr>
          <a:lstStyle/>
          <a:p>
            <a:r>
              <a:rPr lang="en-US" sz="2800" dirty="0">
                <a:latin typeface="Calibri"/>
                <a:cs typeface="Calibri"/>
              </a:rPr>
              <a:t>“Model-free” because we do not propagate updates throughout the state space. </a:t>
            </a:r>
          </a:p>
          <a:p>
            <a:endParaRPr lang="en-US" sz="2800" dirty="0">
              <a:latin typeface="Calibri"/>
              <a:cs typeface="Calibri"/>
            </a:endParaRPr>
          </a:p>
          <a:p>
            <a:r>
              <a:rPr lang="en-US" sz="2800" dirty="0">
                <a:latin typeface="Calibri"/>
                <a:cs typeface="Calibri"/>
              </a:rPr>
              <a:t>“Model-based” methods propagates reward signals beyond the immediate state based on what states can get to the immediate state in one (two, three, etc.) step(s).</a:t>
            </a:r>
          </a:p>
          <a:p>
            <a:endParaRPr lang="en-US" sz="1400" dirty="0">
              <a:latin typeface="Calibri"/>
              <a:cs typeface="Calibri"/>
            </a:endParaRPr>
          </a:p>
          <a:p>
            <a:r>
              <a:rPr lang="en-US" sz="2800" dirty="0">
                <a:latin typeface="Calibri"/>
                <a:cs typeface="Calibri"/>
              </a:rPr>
              <a:t>Why does this matter?</a:t>
            </a:r>
          </a:p>
          <a:p>
            <a:r>
              <a:rPr lang="en-US" sz="2800" dirty="0">
                <a:latin typeface="Calibri"/>
                <a:cs typeface="Calibri"/>
              </a:rPr>
              <a:t>	In real-world applications, we don’t know the transition 	and reward functions.</a:t>
            </a:r>
          </a:p>
          <a:p>
            <a:r>
              <a:rPr lang="en-US" sz="2800" dirty="0">
                <a:latin typeface="Calibri"/>
                <a:cs typeface="Calibri"/>
              </a:rPr>
              <a:t>	If we did, we could just sit and simulate to compute the 	optimal policy before acting! =&gt; no learning</a:t>
            </a:r>
          </a:p>
          <a:p>
            <a:r>
              <a:rPr lang="en-US" sz="2800" dirty="0">
                <a:latin typeface="Calibri"/>
                <a:cs typeface="Calibri"/>
              </a:rPr>
              <a:t>	We estimate those as we go. If we do, we get model-	based approaches...</a:t>
            </a:r>
          </a:p>
        </p:txBody>
      </p:sp>
    </p:spTree>
    <p:extLst>
      <p:ext uri="{BB962C8B-B14F-4D97-AF65-F5344CB8AC3E}">
        <p14:creationId xmlns:p14="http://schemas.microsoft.com/office/powerpoint/2010/main" val="85853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6283817"/>
          </a:xfrm>
        </p:spPr>
        <p:txBody>
          <a:bodyPr>
            <a:normAutofit/>
          </a:bodyPr>
          <a:lstStyle/>
          <a:p>
            <a:r>
              <a:rPr lang="en-US" dirty="0"/>
              <a:t>What if there are parts of the state (or rewards or transitions) that we do not observe?</a:t>
            </a:r>
            <a:br>
              <a:rPr lang="en-US" dirty="0"/>
            </a:br>
            <a:br>
              <a:rPr lang="en-US" dirty="0"/>
            </a:br>
            <a:br>
              <a:rPr lang="en-US" dirty="0"/>
            </a:br>
            <a:r>
              <a:rPr lang="en-US" b="1" dirty="0"/>
              <a:t>Enter</a:t>
            </a:r>
            <a:r>
              <a:rPr lang="en-US" dirty="0"/>
              <a:t>: Partially Observable Markov Decision Processes (POMDPs)</a:t>
            </a:r>
            <a:br>
              <a:rPr lang="en-US" dirty="0"/>
            </a:br>
            <a:endParaRPr lang="en-US" dirty="0"/>
          </a:p>
        </p:txBody>
      </p:sp>
    </p:spTree>
    <p:extLst>
      <p:ext uri="{BB962C8B-B14F-4D97-AF65-F5344CB8AC3E}">
        <p14:creationId xmlns:p14="http://schemas.microsoft.com/office/powerpoint/2010/main" val="22864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285209" y="304335"/>
            <a:ext cx="4056601" cy="3848773"/>
            <a:chOff x="285209" y="832285"/>
            <a:chExt cx="4056601" cy="3848773"/>
          </a:xfrm>
        </p:grpSpPr>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209" y="1355505"/>
              <a:ext cx="4056601" cy="3325553"/>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Box 5"/>
            <p:cNvSpPr txBox="1"/>
            <p:nvPr/>
          </p:nvSpPr>
          <p:spPr>
            <a:xfrm>
              <a:off x="1245660" y="832285"/>
              <a:ext cx="1831000" cy="523220"/>
            </a:xfrm>
            <a:prstGeom prst="rect">
              <a:avLst/>
            </a:prstGeom>
            <a:noFill/>
          </p:spPr>
          <p:txBody>
            <a:bodyPr wrap="none" rtlCol="0">
              <a:spAutoFit/>
            </a:bodyPr>
            <a:lstStyle/>
            <a:p>
              <a:r>
                <a:rPr lang="en-US" sz="2800" b="1" dirty="0"/>
                <a:t>MDP setup</a:t>
              </a:r>
            </a:p>
          </p:txBody>
        </p:sp>
      </p:grpSp>
      <p:sp>
        <p:nvSpPr>
          <p:cNvPr id="8" name="TextBox 7"/>
          <p:cNvSpPr txBox="1"/>
          <p:nvPr/>
        </p:nvSpPr>
        <p:spPr>
          <a:xfrm>
            <a:off x="2695897" y="6488668"/>
            <a:ext cx="6547999" cy="369332"/>
          </a:xfrm>
          <a:prstGeom prst="rect">
            <a:avLst/>
          </a:prstGeom>
          <a:noFill/>
        </p:spPr>
        <p:txBody>
          <a:bodyPr wrap="none" rtlCol="0">
            <a:spAutoFit/>
          </a:bodyPr>
          <a:lstStyle/>
          <a:p>
            <a:r>
              <a:rPr lang="en-US" dirty="0">
                <a:hlinkClick r:id="rId4"/>
              </a:rPr>
              <a:t>http://www.pomdp.org/</a:t>
            </a:r>
            <a:r>
              <a:rPr lang="en-US" dirty="0"/>
              <a:t> is a useful resource for code and tutorials...</a:t>
            </a:r>
          </a:p>
        </p:txBody>
      </p:sp>
      <p:grpSp>
        <p:nvGrpSpPr>
          <p:cNvPr id="12" name="Group 11"/>
          <p:cNvGrpSpPr/>
          <p:nvPr/>
        </p:nvGrpSpPr>
        <p:grpSpPr>
          <a:xfrm>
            <a:off x="4781125" y="304335"/>
            <a:ext cx="4085269" cy="3820104"/>
            <a:chOff x="4781125" y="304335"/>
            <a:chExt cx="4085269" cy="3820104"/>
          </a:xfrm>
        </p:grpSpPr>
        <p:pic>
          <p:nvPicPr>
            <p:cNvPr id="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1125" y="827555"/>
              <a:ext cx="4085269" cy="3296884"/>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6"/>
            <p:cNvSpPr txBox="1"/>
            <p:nvPr/>
          </p:nvSpPr>
          <p:spPr>
            <a:xfrm>
              <a:off x="5691290" y="304335"/>
              <a:ext cx="2264938" cy="523220"/>
            </a:xfrm>
            <a:prstGeom prst="rect">
              <a:avLst/>
            </a:prstGeom>
            <a:noFill/>
          </p:spPr>
          <p:txBody>
            <a:bodyPr wrap="none" rtlCol="0">
              <a:spAutoFit/>
            </a:bodyPr>
            <a:lstStyle/>
            <a:p>
              <a:r>
                <a:rPr lang="en-US" sz="2800" b="1" dirty="0"/>
                <a:t>POMDP setup</a:t>
              </a:r>
            </a:p>
          </p:txBody>
        </p:sp>
      </p:grpSp>
      <p:sp>
        <p:nvSpPr>
          <p:cNvPr id="9" name="TextBox 8"/>
          <p:cNvSpPr txBox="1"/>
          <p:nvPr/>
        </p:nvSpPr>
        <p:spPr>
          <a:xfrm>
            <a:off x="485207" y="4588800"/>
            <a:ext cx="8381187" cy="1754326"/>
          </a:xfrm>
          <a:prstGeom prst="rect">
            <a:avLst/>
          </a:prstGeom>
          <a:noFill/>
        </p:spPr>
        <p:txBody>
          <a:bodyPr wrap="square" rtlCol="0">
            <a:spAutoFit/>
          </a:bodyPr>
          <a:lstStyle/>
          <a:p>
            <a:r>
              <a:rPr lang="en-US" sz="2400" dirty="0"/>
              <a:t>Can we convert one into the other?</a:t>
            </a:r>
          </a:p>
          <a:p>
            <a:r>
              <a:rPr lang="en-US" sz="2400" dirty="0"/>
              <a:t>Yes! A POMDP can be turned into an MDP, where belief over states (in the POMDP) are the states of the equivalent MDP.  </a:t>
            </a:r>
          </a:p>
          <a:p>
            <a:endParaRPr lang="en-US" sz="1200" dirty="0"/>
          </a:p>
          <a:p>
            <a:r>
              <a:rPr lang="en-US" sz="2400" dirty="0"/>
              <a:t>This is one way to solve POMDPs, but in general, it is really hard...</a:t>
            </a:r>
          </a:p>
        </p:txBody>
      </p:sp>
    </p:spTree>
    <p:extLst>
      <p:ext uri="{BB962C8B-B14F-4D97-AF65-F5344CB8AC3E}">
        <p14:creationId xmlns:p14="http://schemas.microsoft.com/office/powerpoint/2010/main" val="160272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3718-E9F5-CA52-E4AC-21A444DC47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CF6BD-35B4-0E4E-B0AE-A7FEFAB585F3}"/>
              </a:ext>
            </a:extLst>
          </p:cNvPr>
          <p:cNvSpPr>
            <a:spLocks noGrp="1"/>
          </p:cNvSpPr>
          <p:nvPr>
            <p:ph idx="1"/>
          </p:nvPr>
        </p:nvSpPr>
        <p:spPr>
          <a:xfrm>
            <a:off x="465992" y="135082"/>
            <a:ext cx="8229600" cy="6751588"/>
          </a:xfrm>
        </p:spPr>
        <p:txBody>
          <a:bodyPr>
            <a:normAutofit/>
          </a:bodyPr>
          <a:lstStyle/>
          <a:p>
            <a:r>
              <a:rPr lang="en-US" dirty="0"/>
              <a:t>Admin Matters</a:t>
            </a:r>
          </a:p>
          <a:p>
            <a:pPr defTabSz="914400">
              <a:spcBef>
                <a:spcPts val="0"/>
              </a:spcBef>
              <a:defRPr/>
            </a:pPr>
            <a:r>
              <a:rPr lang="en-US" dirty="0"/>
              <a:t>Statistical Decision Theory</a:t>
            </a:r>
          </a:p>
          <a:p>
            <a:pPr defTabSz="914400">
              <a:spcBef>
                <a:spcPts val="0"/>
              </a:spcBef>
              <a:defRPr/>
            </a:pPr>
            <a:r>
              <a:rPr lang="en-US" dirty="0"/>
              <a:t>Markov Decision Processes</a:t>
            </a:r>
          </a:p>
          <a:p>
            <a:pPr defTabSz="914400">
              <a:spcBef>
                <a:spcPts val="0"/>
              </a:spcBef>
              <a:defRPr/>
            </a:pPr>
            <a:r>
              <a:rPr lang="en-US" b="1" dirty="0"/>
              <a:t>Short rest 1</a:t>
            </a:r>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Schulz et al 1997 by Ashwini</a:t>
            </a:r>
          </a:p>
          <a:p>
            <a:pPr marL="914400" lvl="1" indent="-514350" defTabSz="914400">
              <a:spcBef>
                <a:spcPts val="0"/>
              </a:spcBef>
              <a:buFont typeface="+mj-lt"/>
              <a:buAutoNum type="arabicPeriod"/>
              <a:defRPr/>
            </a:pPr>
            <a:r>
              <a:rPr lang="en-US" dirty="0"/>
              <a:t>Ho et al 2015 by </a:t>
            </a:r>
            <a:r>
              <a:rPr lang="en-US" dirty="0" err="1"/>
              <a:t>Khailanii</a:t>
            </a:r>
            <a:endParaRPr lang="en-US" dirty="0"/>
          </a:p>
          <a:p>
            <a:pPr marL="400050" lvl="1" indent="0" defTabSz="914400">
              <a:spcBef>
                <a:spcPts val="0"/>
              </a:spcBef>
              <a:buNone/>
              <a:defRPr/>
            </a:pPr>
            <a:r>
              <a:rPr lang="en-US" b="1" dirty="0"/>
              <a:t>Short rest 2</a:t>
            </a:r>
          </a:p>
          <a:p>
            <a:pPr marL="400050" lvl="1" indent="0" defTabSz="914400">
              <a:spcBef>
                <a:spcPts val="0"/>
              </a:spcBef>
              <a:buNone/>
              <a:defRPr/>
            </a:pPr>
            <a:r>
              <a:rPr lang="en-US" dirty="0"/>
              <a:t>3.   Ho et al 2017 by Anirudh</a:t>
            </a:r>
          </a:p>
        </p:txBody>
      </p:sp>
    </p:spTree>
    <p:extLst>
      <p:ext uri="{BB962C8B-B14F-4D97-AF65-F5344CB8AC3E}">
        <p14:creationId xmlns:p14="http://schemas.microsoft.com/office/powerpoint/2010/main" val="3660149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4" descr="Picture 4"/>
          <p:cNvPicPr>
            <a:picLocks noChangeAspect="1"/>
          </p:cNvPicPr>
          <p:nvPr/>
        </p:nvPicPr>
        <p:blipFill>
          <a:blip r:embed="rId2"/>
          <a:stretch>
            <a:fillRect/>
          </a:stretch>
        </p:blipFill>
        <p:spPr>
          <a:xfrm>
            <a:off x="2518531" y="1158981"/>
            <a:ext cx="4211348" cy="5615130"/>
          </a:xfrm>
          <a:prstGeom prst="rect">
            <a:avLst/>
          </a:prstGeom>
          <a:ln w="12700">
            <a:miter lim="400000"/>
          </a:ln>
        </p:spPr>
      </p:pic>
      <p:sp>
        <p:nvSpPr>
          <p:cNvPr id="1028" name="Title 1"/>
          <p:cNvSpPr txBox="1">
            <a:spLocks noGrp="1"/>
          </p:cNvSpPr>
          <p:nvPr>
            <p:ph type="title"/>
          </p:nvPr>
        </p:nvSpPr>
        <p:spPr>
          <a:prstGeom prst="rect">
            <a:avLst/>
          </a:prstGeom>
        </p:spPr>
        <p:txBody>
          <a:bodyPr/>
          <a:lstStyle/>
          <a:p>
            <a:r>
              <a:rPr dirty="0"/>
              <a:t>Short Rest </a:t>
            </a:r>
            <a:r>
              <a:rPr lang="en-US" dirty="0"/>
              <a:t>1</a:t>
            </a:r>
            <a:endParaRPr dirty="0"/>
          </a:p>
        </p:txBody>
      </p:sp>
      <p:pic>
        <p:nvPicPr>
          <p:cNvPr id="1029" name="AGV_vUdIYJFohD8FIF9SyLL9xkFFN-3DMNKPkXG2HXrH0uKn8qCfC2G4c72HRp0pzG1sU1wSQgSheuOysHXzbDEleFBcQv_dN4DjmcTDkwOyEJpNF5D107frmkm3-p7Qx9KDGFceKB_evGtjshkIgO_s5A=nw.gif" descr="AGV_vUdIYJFohD8FIF9SyLL9xkFFN-3DMNKPkXG2HXrH0uKn8qCfC2G4c72HRp0pzG1sU1wSQgSheuOysHXzbDEleFBcQv_dN4DjmcTDkwOyEJpNF5D107frmkm3-p7Qx9KDGFceKB_evGtjshkIgO_s5A=nw.gif"/>
          <p:cNvPicPr>
            <a:picLocks/>
          </p:cNvPicPr>
          <p:nvPr/>
        </p:nvPicPr>
        <p:blipFill>
          <a:blip r:embed="rId3"/>
          <a:stretch>
            <a:fillRect/>
          </a:stretch>
        </p:blipFill>
        <p:spPr>
          <a:xfrm>
            <a:off x="4352282" y="2484878"/>
            <a:ext cx="917644" cy="625909"/>
          </a:xfrm>
          <a:prstGeom prst="rect">
            <a:avLst/>
          </a:prstGeom>
          <a:ln w="12700">
            <a:miter lim="400000"/>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17EDB-9C3C-01D4-DCD8-C9320C4130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26C29D-B7AF-10C5-74AB-068FB2CB7712}"/>
              </a:ext>
            </a:extLst>
          </p:cNvPr>
          <p:cNvSpPr>
            <a:spLocks noGrp="1"/>
          </p:cNvSpPr>
          <p:nvPr>
            <p:ph idx="1"/>
          </p:nvPr>
        </p:nvSpPr>
        <p:spPr>
          <a:xfrm>
            <a:off x="465992" y="135082"/>
            <a:ext cx="8229600" cy="6751588"/>
          </a:xfrm>
        </p:spPr>
        <p:txBody>
          <a:bodyPr>
            <a:normAutofit/>
          </a:bodyPr>
          <a:lstStyle/>
          <a:p>
            <a:r>
              <a:rPr lang="en-US" dirty="0"/>
              <a:t>Admin Matters</a:t>
            </a:r>
          </a:p>
          <a:p>
            <a:pPr defTabSz="914400">
              <a:spcBef>
                <a:spcPts val="0"/>
              </a:spcBef>
              <a:defRPr/>
            </a:pPr>
            <a:r>
              <a:rPr lang="en-US" dirty="0"/>
              <a:t>Statistical Decision Theory</a:t>
            </a:r>
          </a:p>
          <a:p>
            <a:pPr defTabSz="914400">
              <a:spcBef>
                <a:spcPts val="0"/>
              </a:spcBef>
              <a:defRPr/>
            </a:pPr>
            <a:r>
              <a:rPr lang="en-US" dirty="0"/>
              <a:t>Markov Decision Processes</a:t>
            </a:r>
          </a:p>
          <a:p>
            <a:pPr defTabSz="914400">
              <a:spcBef>
                <a:spcPts val="0"/>
              </a:spcBef>
              <a:defRPr/>
            </a:pPr>
            <a:r>
              <a:rPr lang="en-US" b="1" dirty="0"/>
              <a:t>Short rest 1</a:t>
            </a:r>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Schulz et al 1997 by Ashwini</a:t>
            </a:r>
          </a:p>
          <a:p>
            <a:pPr marL="914400" lvl="1" indent="-514350" defTabSz="914400">
              <a:spcBef>
                <a:spcPts val="0"/>
              </a:spcBef>
              <a:buFont typeface="+mj-lt"/>
              <a:buAutoNum type="arabicPeriod"/>
              <a:defRPr/>
            </a:pPr>
            <a:r>
              <a:rPr lang="en-US" dirty="0"/>
              <a:t>Ho et al 2015 by </a:t>
            </a:r>
            <a:r>
              <a:rPr lang="en-US" dirty="0" err="1"/>
              <a:t>Khailanii</a:t>
            </a:r>
            <a:endParaRPr lang="en-US" dirty="0"/>
          </a:p>
          <a:p>
            <a:pPr marL="400050" lvl="1" indent="0" defTabSz="914400">
              <a:spcBef>
                <a:spcPts val="0"/>
              </a:spcBef>
              <a:buNone/>
              <a:defRPr/>
            </a:pPr>
            <a:r>
              <a:rPr lang="en-US" b="1" dirty="0"/>
              <a:t>Short rest 2</a:t>
            </a:r>
          </a:p>
          <a:p>
            <a:pPr marL="400050" lvl="1" indent="0" defTabSz="914400">
              <a:spcBef>
                <a:spcPts val="0"/>
              </a:spcBef>
              <a:buNone/>
              <a:defRPr/>
            </a:pPr>
            <a:r>
              <a:rPr lang="en-US" dirty="0"/>
              <a:t>3.   Ho et al 2017 by Anirudh</a:t>
            </a:r>
          </a:p>
        </p:txBody>
      </p:sp>
    </p:spTree>
    <p:extLst>
      <p:ext uri="{BB962C8B-B14F-4D97-AF65-F5344CB8AC3E}">
        <p14:creationId xmlns:p14="http://schemas.microsoft.com/office/powerpoint/2010/main" val="707446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9596</TotalTime>
  <Words>9371</Words>
  <Application>Microsoft Office PowerPoint</Application>
  <PresentationFormat>On-screen Show (4:3)</PresentationFormat>
  <Paragraphs>659</Paragraphs>
  <Slides>33</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Lucida Grande</vt:lpstr>
      <vt:lpstr>Arial</vt:lpstr>
      <vt:lpstr>Calibri</vt:lpstr>
      <vt:lpstr>Cambria Math</vt:lpstr>
      <vt:lpstr>Consolas</vt:lpstr>
      <vt:lpstr>Times New Roman</vt:lpstr>
      <vt:lpstr>Wingdings</vt:lpstr>
      <vt:lpstr>Office Theme</vt:lpstr>
      <vt:lpstr>Statistical Decision Theory, Markov Decision Processes,  and Reinforcement Learning</vt:lpstr>
      <vt:lpstr>PowerPoint Presentation</vt:lpstr>
      <vt:lpstr>Administrative Matters</vt:lpstr>
      <vt:lpstr>PowerPoint Presentation</vt:lpstr>
      <vt:lpstr>Decisions under uncertainty</vt:lpstr>
      <vt:lpstr>Statistical decision theory</vt:lpstr>
      <vt:lpstr>Statistical decision theory</vt:lpstr>
      <vt:lpstr>Statistical decision theory</vt:lpstr>
      <vt:lpstr>Statistical decision theory</vt:lpstr>
      <vt:lpstr>Statistical decision theory</vt:lpstr>
      <vt:lpstr>PowerPoint Presentation</vt:lpstr>
      <vt:lpstr>Multiple actions</vt:lpstr>
      <vt:lpstr>Markov Chains + Decisions + Rewards  =  Markov Decision Processes (MDPs)</vt:lpstr>
      <vt:lpstr>PowerPoint Presentation</vt:lpstr>
      <vt:lpstr>Policies, Values and Actions in MDPs</vt:lpstr>
      <vt:lpstr>Policies, Values and Actions in MDPs</vt:lpstr>
      <vt:lpstr>Reinforcement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Reinforcement Learning</vt:lpstr>
      <vt:lpstr>Reinforcement Learning</vt:lpstr>
      <vt:lpstr>What if there are parts of the state (or rewards or transitions) that we do not observe?   Enter: Partially Observable Markov Decision Processes (POMDPs) </vt:lpstr>
      <vt:lpstr>PowerPoint Presentation</vt:lpstr>
      <vt:lpstr>PowerPoint Presentation</vt:lpstr>
      <vt:lpstr>Short Rest 1</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Joseph Austerweil</dc:creator>
  <cp:lastModifiedBy>Joseph Austerweil</cp:lastModifiedBy>
  <cp:revision>381</cp:revision>
  <cp:lastPrinted>2017-09-13T02:18:10Z</cp:lastPrinted>
  <dcterms:created xsi:type="dcterms:W3CDTF">2015-09-05T16:34:09Z</dcterms:created>
  <dcterms:modified xsi:type="dcterms:W3CDTF">2025-03-19T19:56:12Z</dcterms:modified>
</cp:coreProperties>
</file>